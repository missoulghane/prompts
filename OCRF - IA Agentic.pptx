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7"/>
  </p:notesMasterIdLst>
  <p:sldIdLst>
    <p:sldId id="427" r:id="rId3"/>
    <p:sldId id="440" r:id="rId4"/>
    <p:sldId id="443" r:id="rId5"/>
    <p:sldId id="442"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BB6C"/>
    <a:srgbClr val="835C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3" autoAdjust="0"/>
  </p:normalViewPr>
  <p:slideViewPr>
    <p:cSldViewPr snapToGrid="0">
      <p:cViewPr varScale="1">
        <p:scale>
          <a:sx n="109" d="100"/>
          <a:sy n="109" d="100"/>
        </p:scale>
        <p:origin x="58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93C0A-8781-4756-BE9A-D1E8F6AA963E}" type="datetimeFigureOut">
              <a:rPr lang="fr-FR" smtClean="0"/>
              <a:t>01/06/2026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4863CA-B846-4F16-8314-EC2A3E06F4A8}" type="slidenum">
              <a:rPr lang="fr-FR" smtClean="0"/>
              <a:t>‹N°›</a:t>
            </a:fld>
            <a:endParaRPr lang="fr-FR"/>
          </a:p>
        </p:txBody>
      </p:sp>
    </p:spTree>
    <p:extLst>
      <p:ext uri="{BB962C8B-B14F-4D97-AF65-F5344CB8AC3E}">
        <p14:creationId xmlns:p14="http://schemas.microsoft.com/office/powerpoint/2010/main" val="3758333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À mesure que l'IA prend en charge les tâches de codage, le centre de gravité des compétences se déplace : de l'exécution vers l'orchestration, du code vers le jugement. Ce n'est pas une menace, c'est une montée en puissance. Mais attention au dogme. </a:t>
            </a:r>
            <a:r>
              <a:rPr lang="fr-FR" dirty="0" err="1"/>
              <a:t>Desbiolles</a:t>
            </a:r>
            <a:r>
              <a:rPr lang="fr-FR" dirty="0"/>
              <a:t> reconnaît avoir lui-même évolué : </a:t>
            </a:r>
            <a:r>
              <a:rPr lang="fr-FR" i="1" dirty="0"/>
              <a:t>« J'ai longtemps cru que la performance d'une activité était toujours supérieure lorsque l'humain plus l'IA travaillent ensemble. Ce </a:t>
            </a:r>
            <a:r>
              <a:rPr lang="fr-FR" i="1" dirty="0" err="1"/>
              <a:t>statement</a:t>
            </a:r>
            <a:r>
              <a:rPr lang="fr-FR" i="1" dirty="0"/>
              <a:t> est faux. »</a:t>
            </a:r>
            <a:r>
              <a:rPr lang="fr-FR" dirty="0"/>
              <a:t> La situation </a:t>
            </a:r>
            <a:r>
              <a:rPr lang="fr-FR" i="1" dirty="0"/>
              <a:t>« n'est pas du tout manichéenne »</a:t>
            </a:r>
            <a:r>
              <a:rPr lang="fr-FR" dirty="0"/>
              <a:t> : certaines tâches appelleront une IA seule, d'autres un humain seul, beaucoup une combinaison. Le rôle de chacun ne se définit donc plus par ce qu'il produit, mais par ce qu'il décide de déléguer, de superviser ou de garder.</a:t>
            </a:r>
          </a:p>
          <a:p>
            <a:endParaRPr lang="fr-FR" dirty="0"/>
          </a:p>
          <a:p>
            <a:r>
              <a:rPr lang="fr-FR" b="1" dirty="0"/>
              <a:t>Quatre principes qui redéfinissent chaque rôle :</a:t>
            </a:r>
            <a:endParaRPr lang="fr-FR" dirty="0"/>
          </a:p>
          <a:p>
            <a:r>
              <a:rPr lang="fr-FR" b="1" dirty="0"/>
              <a:t>1. Distinguer ce qui peut être délégué de ce qui doit rester humain.</a:t>
            </a:r>
            <a:r>
              <a:rPr lang="fr-FR" dirty="0"/>
              <a:t> Toute la grille de lecture des nouveaux rôles tient dans une question : quel niveau de supervision la tâche exige-t-elle ? Prud'hon oppose deux extrêmes : </a:t>
            </a:r>
            <a:r>
              <a:rPr lang="fr-FR" i="1" dirty="0"/>
              <a:t>« Un robot qui tond la pelouse, je m'en fiche de comment il a fait. Je ne vais pas aller le micro-manager. Un robot qui écrit un morceau de code critique dans mon système d'information, ce n'est peut-être pas pareil. J'ai besoin de comprendre ce qu'il a fait, comment il s'y est pris. J'ai besoin de le maîtriser à long terme. »</a:t>
            </a:r>
            <a:r>
              <a:rPr lang="fr-FR" dirty="0"/>
              <a:t> Le développeur de demain passe son temps précisément sur cet arbitrage — entre ce qu'on confie sans regarder et ce qu'on audite ligne à ligne.</a:t>
            </a:r>
          </a:p>
          <a:p>
            <a:r>
              <a:rPr lang="fr-FR" b="1" dirty="0"/>
              <a:t>2. Préserver le « modèle mental ».</a:t>
            </a:r>
            <a:r>
              <a:rPr lang="fr-FR" dirty="0"/>
              <a:t> Certaines tâches valent moins par leur résultat que parce qu'elles entretiennent la compétence. </a:t>
            </a:r>
            <a:r>
              <a:rPr lang="fr-FR" i="1" dirty="0"/>
              <a:t>« Il faut qu'on garde un modèle mental de ce qui a été fait »</a:t>
            </a:r>
            <a:r>
              <a:rPr lang="fr-FR" dirty="0"/>
              <a:t>, insiste Prud'hon. Déléguer ne signifie pas se désintéresser : un développeur qui ne comprend plus le système qu'il gouverne devient incapable d'évaluer un risque, de détecter une anomalie ou de reprendre la main. Le rôle évolue vers la gouvernance, mais à condition de continuer à comprendre ce que les agents font — sous peine d'une dépendance dangereuse.</a:t>
            </a:r>
          </a:p>
          <a:p>
            <a:r>
              <a:rPr lang="fr-FR" b="1" dirty="0"/>
              <a:t>3. Superviser une « relation à quatre », pas seulement piloter une équipe.</a:t>
            </a:r>
            <a:r>
              <a:rPr lang="fr-FR" dirty="0"/>
              <a:t> Le </a:t>
            </a:r>
            <a:r>
              <a:rPr lang="fr-FR" dirty="0" err="1"/>
              <a:t>delivery</a:t>
            </a:r>
            <a:r>
              <a:rPr lang="fr-FR" dirty="0"/>
              <a:t> manager et l'architecte ne coordonnent plus uniquement des humains. </a:t>
            </a:r>
            <a:r>
              <a:rPr lang="fr-FR" dirty="0" err="1"/>
              <a:t>Desbiolles</a:t>
            </a:r>
            <a:r>
              <a:rPr lang="fr-FR" dirty="0"/>
              <a:t> décrit un modèle relationnel où </a:t>
            </a:r>
            <a:r>
              <a:rPr lang="fr-FR" i="1" dirty="0"/>
              <a:t>« le client pourra disposer de ses propres agents »</a:t>
            </a:r>
            <a:r>
              <a:rPr lang="fr-FR" dirty="0"/>
              <a:t>, l'entreprise aura les siens, et où agents et humains échangent en synchrone comme en asynchrone. Le défi devient </a:t>
            </a:r>
            <a:r>
              <a:rPr lang="fr-FR" i="1" dirty="0"/>
              <a:t>« comment je m'assure d'avoir une supervision de l'ensemble de ce modèle relationnel, d'avoir un monitoring de ce qui se passe, pour être sûr que ce qui se passe aboutit bien à une finalité que j'ai envie qu'elle ait »</a:t>
            </a:r>
            <a:r>
              <a:rPr lang="fr-FR" dirty="0"/>
              <a:t>. Superviser, monitorer, garantir la finalité : voilà le nouveau cœur du métier de pilotage.</a:t>
            </a:r>
          </a:p>
          <a:p>
            <a:r>
              <a:rPr lang="fr-FR" b="1" dirty="0"/>
              <a:t>4. Devenir gardien du savoir-faire, pas seulement producteur de code.</a:t>
            </a:r>
            <a:r>
              <a:rPr lang="fr-FR" dirty="0"/>
              <a:t> À mesure qu'un agent observe et formalise les gestes métier, il peut capter une part de l'expertise. Prud'hon décrit la scène : un expert guide un agent pas à pas, comme un stagiaire, et </a:t>
            </a:r>
            <a:r>
              <a:rPr lang="fr-FR" i="1" dirty="0"/>
              <a:t>« l'IA a formalisé, a aspiré dans un document quasi exhaustif une partie de l'expertise sur une tâche de l'expert donné »</a:t>
            </a:r>
            <a:r>
              <a:rPr lang="fr-FR" dirty="0"/>
              <a:t>. Les rôles renforcés — Business </a:t>
            </a:r>
            <a:r>
              <a:rPr lang="fr-FR" dirty="0" err="1"/>
              <a:t>Analyst</a:t>
            </a:r>
            <a:r>
              <a:rPr lang="fr-FR" dirty="0"/>
              <a:t>, architecte, expert métier — deviennent les garants de ce savoir-faire : ils alimentent les agents, valident leurs outputs et veillent à ce que la compétence distinctive reste maîtrisée en interne plutôt qu'aspirée à l'extérieur.</a:t>
            </a:r>
          </a:p>
          <a:p>
            <a:r>
              <a:rPr lang="fr-FR" b="1" dirty="0"/>
              <a:t>L'évolution par profil :</a:t>
            </a:r>
            <a:endParaRPr lang="fr-FR" dirty="0"/>
          </a:p>
          <a:p>
            <a:pPr>
              <a:buFont typeface="Arial" panose="020B0604020202020204" pitchFamily="34" charset="0"/>
              <a:buChar char="•"/>
            </a:pPr>
            <a:r>
              <a:rPr lang="fr-FR" b="1" dirty="0"/>
              <a:t>Business </a:t>
            </a:r>
            <a:r>
              <a:rPr lang="fr-FR" b="1" dirty="0" err="1"/>
              <a:t>Analyst</a:t>
            </a:r>
            <a:r>
              <a:rPr lang="fr-FR" b="1" dirty="0"/>
              <a:t> / Product </a:t>
            </a:r>
            <a:r>
              <a:rPr lang="fr-FR" b="1" dirty="0" err="1"/>
              <a:t>Owner</a:t>
            </a:r>
            <a:r>
              <a:rPr lang="fr-FR" dirty="0"/>
              <a:t> — Rôle renforcé. Leur connaissance métier et leur empathie utilisateur deviennent le carburant du réseau de connaissances. Mais ce rôle suppose désormais de savoir </a:t>
            </a:r>
            <a:r>
              <a:rPr lang="fr-FR" i="1" dirty="0"/>
              <a:t>décrire le travail réel</a:t>
            </a:r>
            <a:r>
              <a:rPr lang="fr-FR" dirty="0"/>
              <a:t> : expliciter les arbitrages, les exceptions, les </a:t>
            </a:r>
            <a:r>
              <a:rPr lang="fr-FR" dirty="0" err="1"/>
              <a:t>micro-décisions</a:t>
            </a:r>
            <a:r>
              <a:rPr lang="fr-FR" dirty="0"/>
              <a:t> qu'un agent ne peut deviner. Ils alimentent les agents, évaluent leurs outputs, et restent garants de la valeur livrée.</a:t>
            </a:r>
          </a:p>
          <a:p>
            <a:pPr>
              <a:buFont typeface="Arial" panose="020B0604020202020204" pitchFamily="34" charset="0"/>
              <a:buChar char="•"/>
            </a:pPr>
            <a:r>
              <a:rPr lang="fr-FR" b="1" dirty="0"/>
              <a:t>Développeur</a:t>
            </a:r>
            <a:r>
              <a:rPr lang="fr-FR" dirty="0"/>
              <a:t> — De créateur à gouverneur. Il orchestre les agents, audite leur production, architecture les flux. Sa valeur ne se mesure plus au volume de code écrit mais à sa capacité à juger ce qui mérite supervision. Les juniors montent en compétence via le pair et le mob </a:t>
            </a:r>
            <a:r>
              <a:rPr lang="fr-FR" dirty="0" err="1"/>
              <a:t>programming</a:t>
            </a:r>
            <a:r>
              <a:rPr lang="fr-FR" dirty="0"/>
              <a:t> ; les seniors se spécialisent en architecture </a:t>
            </a:r>
            <a:r>
              <a:rPr lang="fr-FR" dirty="0" err="1"/>
              <a:t>agentic</a:t>
            </a:r>
            <a:r>
              <a:rPr lang="fr-FR" dirty="0"/>
              <a:t> ou en fiabilité des agents.</a:t>
            </a:r>
          </a:p>
          <a:p>
            <a:pPr>
              <a:buFont typeface="Arial" panose="020B0604020202020204" pitchFamily="34" charset="0"/>
              <a:buChar char="•"/>
            </a:pPr>
            <a:r>
              <a:rPr lang="fr-FR" b="1" dirty="0"/>
              <a:t>Architecte</a:t>
            </a:r>
            <a:r>
              <a:rPr lang="fr-FR" dirty="0"/>
              <a:t> — Architecte du système </a:t>
            </a:r>
            <a:r>
              <a:rPr lang="fr-FR" dirty="0" err="1"/>
              <a:t>agentic</a:t>
            </a:r>
            <a:r>
              <a:rPr lang="fr-FR" dirty="0"/>
              <a:t> : </a:t>
            </a:r>
            <a:r>
              <a:rPr lang="fr-FR" dirty="0" err="1"/>
              <a:t>guardrails</a:t>
            </a:r>
            <a:r>
              <a:rPr lang="fr-FR" dirty="0"/>
              <a:t>, gouvernance des </a:t>
            </a:r>
            <a:r>
              <a:rPr lang="fr-FR" dirty="0" err="1"/>
              <a:t>blueprints</a:t>
            </a:r>
            <a:r>
              <a:rPr lang="fr-FR" dirty="0"/>
              <a:t>, cohérence du multi-agents. Surtout, il porte une responsabilité nouvelle — éviter que chaque équipe ne connecte ses agents avec ses propres règles et fournisseurs, ce qui créerait une </a:t>
            </a:r>
            <a:r>
              <a:rPr lang="fr-FR" i="1" dirty="0"/>
              <a:t>« dette agentique »</a:t>
            </a:r>
            <a:r>
              <a:rPr lang="fr-FR" dirty="0"/>
              <a:t> d'autorisations mal gouvernées et de dépendances floues. L'architecture devient un asset stratégique majeur.</a:t>
            </a:r>
          </a:p>
          <a:p>
            <a:pPr>
              <a:buFont typeface="Arial" panose="020B0604020202020204" pitchFamily="34" charset="0"/>
              <a:buChar char="•"/>
            </a:pPr>
            <a:r>
              <a:rPr lang="fr-FR" b="1" dirty="0"/>
              <a:t>Chef de projet / Delivery Manager</a:t>
            </a:r>
            <a:r>
              <a:rPr lang="fr-FR" dirty="0"/>
              <a:t> — Pilotage des flux agentiques, supervision </a:t>
            </a:r>
            <a:r>
              <a:rPr lang="fr-FR" i="1" dirty="0"/>
              <a:t>« </a:t>
            </a:r>
            <a:r>
              <a:rPr lang="fr-FR" i="1" dirty="0" err="1"/>
              <a:t>human</a:t>
            </a:r>
            <a:r>
              <a:rPr lang="fr-FR" i="1" dirty="0"/>
              <a:t>-on-the-</a:t>
            </a:r>
            <a:r>
              <a:rPr lang="fr-FR" i="1" dirty="0" err="1"/>
              <a:t>loop</a:t>
            </a:r>
            <a:r>
              <a:rPr lang="fr-FR" i="1" dirty="0"/>
              <a:t> »</a:t>
            </a:r>
            <a:r>
              <a:rPr lang="fr-FR" dirty="0"/>
              <a:t>, gestion de la dérive comportementale, et AI </a:t>
            </a:r>
            <a:r>
              <a:rPr lang="fr-FR" dirty="0" err="1"/>
              <a:t>FinOps</a:t>
            </a:r>
            <a:r>
              <a:rPr lang="fr-FR" dirty="0"/>
              <a:t>. Car le coût complet devient un arbitrage de pilotage : </a:t>
            </a:r>
            <a:r>
              <a:rPr lang="fr-FR" i="1" dirty="0"/>
              <a:t>« Je ne peux pas rouler en Ferrari tous les jours »</a:t>
            </a:r>
            <a:r>
              <a:rPr lang="fr-FR" dirty="0"/>
              <a:t> — router la bonne requête vers le modèle le plus frugal qui fait le job, sous contrainte de performance, de conformité et d'énergie, devient une compétence centrale.</a:t>
            </a:r>
          </a:p>
          <a:p>
            <a:r>
              <a:rPr lang="fr-FR" b="1" dirty="0"/>
              <a:t>Message de clôture :</a:t>
            </a:r>
            <a:r>
              <a:rPr lang="fr-FR" dirty="0"/>
              <a:t> Le passage de « codeur » à « system </a:t>
            </a:r>
            <a:r>
              <a:rPr lang="fr-FR" dirty="0" err="1"/>
              <a:t>thinker</a:t>
            </a:r>
            <a:r>
              <a:rPr lang="fr-FR" dirty="0"/>
              <a:t> » est au cœur de la transformation. Mais il ne s'agit pas de tout déléguer : il s'agit de décider, rôle par rôle, ce qui doit rester humain pour préserver la compétence, la maîtrise et le sens du travail. Comme le résume l'article : toutes les tâches automatisables ne doivent pas être automatisées — </a:t>
            </a:r>
            <a:r>
              <a:rPr lang="fr-FR" i="1" dirty="0"/>
              <a:t>« si l'entreprise automatise ce que les collaborateurs apprécient et leur laisse ce qu'ils supportaient déjà difficilement »</a:t>
            </a:r>
            <a:r>
              <a:rPr lang="fr-FR" dirty="0"/>
              <a:t>, elle risque de vider le travail de ce qui lui donnait du sens.</a:t>
            </a:r>
          </a:p>
          <a:p>
            <a:endParaRPr lang="fr-FR" dirty="0"/>
          </a:p>
        </p:txBody>
      </p:sp>
      <p:sp>
        <p:nvSpPr>
          <p:cNvPr id="4" name="Espace réservé du numéro de diapositive 3"/>
          <p:cNvSpPr>
            <a:spLocks noGrp="1"/>
          </p:cNvSpPr>
          <p:nvPr>
            <p:ph type="sldNum" sz="quarter" idx="5"/>
          </p:nvPr>
        </p:nvSpPr>
        <p:spPr/>
        <p:txBody>
          <a:bodyPr/>
          <a:lstStyle/>
          <a:p>
            <a:fld id="{064863CA-B846-4F16-8314-EC2A3E06F4A8}" type="slidenum">
              <a:rPr lang="fr-FR" smtClean="0"/>
              <a:t>3</a:t>
            </a:fld>
            <a:endParaRPr lang="fr-FR"/>
          </a:p>
        </p:txBody>
      </p:sp>
    </p:spTree>
    <p:extLst>
      <p:ext uri="{BB962C8B-B14F-4D97-AF65-F5344CB8AC3E}">
        <p14:creationId xmlns:p14="http://schemas.microsoft.com/office/powerpoint/2010/main" val="4064424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43" indent="0" algn="ctr">
              <a:buNone/>
              <a:defRPr sz="2000"/>
            </a:lvl2pPr>
            <a:lvl3pPr marL="914286" indent="0" algn="ctr">
              <a:buNone/>
              <a:defRPr sz="1800"/>
            </a:lvl3pPr>
            <a:lvl4pPr marL="1371430" indent="0" algn="ctr">
              <a:buNone/>
              <a:defRPr sz="1600"/>
            </a:lvl4pPr>
            <a:lvl5pPr marL="1828573" indent="0" algn="ctr">
              <a:buNone/>
              <a:defRPr sz="1600"/>
            </a:lvl5pPr>
            <a:lvl6pPr marL="2285718" indent="0" algn="ctr">
              <a:buNone/>
              <a:defRPr sz="1600"/>
            </a:lvl6pPr>
            <a:lvl7pPr marL="2742858" indent="0" algn="ctr">
              <a:buNone/>
              <a:defRPr sz="1600"/>
            </a:lvl7pPr>
            <a:lvl8pPr marL="3200000" indent="0" algn="ctr">
              <a:buNone/>
              <a:defRPr sz="1600"/>
            </a:lvl8pPr>
            <a:lvl9pPr marL="3657143" indent="0" algn="ctr">
              <a:buNone/>
              <a:defRPr sz="1600"/>
            </a:lvl9pPr>
          </a:lstStyle>
          <a:p>
            <a:r>
              <a:rPr lang="fr-FR"/>
              <a:t>Modifiez le style des sous-titres du masque</a:t>
            </a:r>
            <a:endParaRPr lang="en-US"/>
          </a:p>
        </p:txBody>
      </p:sp>
      <p:sp>
        <p:nvSpPr>
          <p:cNvPr id="9" name="Rectangle 13"/>
          <p:cNvSpPr/>
          <p:nvPr/>
        </p:nvSpPr>
        <p:spPr>
          <a:xfrm>
            <a:off x="4880015" y="3858692"/>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51997" y="5805727"/>
            <a:ext cx="1018605" cy="941409"/>
          </a:xfrm>
          <a:prstGeom prst="rect">
            <a:avLst/>
          </a:prstGeom>
        </p:spPr>
      </p:pic>
      <p:pic>
        <p:nvPicPr>
          <p:cNvPr id="11" name="Image 10"/>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443110" y="6307279"/>
            <a:ext cx="531475" cy="274695"/>
          </a:xfrm>
          <a:prstGeom prst="rect">
            <a:avLst/>
          </a:prstGeom>
        </p:spPr>
      </p:pic>
    </p:spTree>
    <p:extLst>
      <p:ext uri="{BB962C8B-B14F-4D97-AF65-F5344CB8AC3E}">
        <p14:creationId xmlns:p14="http://schemas.microsoft.com/office/powerpoint/2010/main" val="575770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et conten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9"/>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numéro de diapositive 5"/>
          <p:cNvSpPr>
            <a:spLocks noGrp="1"/>
          </p:cNvSpPr>
          <p:nvPr>
            <p:ph type="sldNum" sz="quarter" idx="12"/>
          </p:nvPr>
        </p:nvSpPr>
        <p:spPr>
          <a:xfrm>
            <a:off x="896521" y="6443138"/>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8" name="Espace réservé du numéro de diapositive 5"/>
          <p:cNvSpPr txBox="1">
            <a:spLocks/>
          </p:cNvSpPr>
          <p:nvPr/>
        </p:nvSpPr>
        <p:spPr>
          <a:xfrm>
            <a:off x="76855" y="6128138"/>
            <a:ext cx="630000" cy="630000"/>
          </a:xfrm>
          <a:prstGeom prst="ellipse">
            <a:avLst/>
          </a:prstGeom>
          <a:solidFill>
            <a:schemeClr val="bg1"/>
          </a:solidFill>
          <a:ln w="127000">
            <a:solidFill>
              <a:srgbClr val="2D2A5C"/>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3942" y="6292065"/>
            <a:ext cx="392531" cy="356692"/>
          </a:xfrm>
          <a:prstGeom prst="rect">
            <a:avLst/>
          </a:prstGeom>
        </p:spPr>
      </p:pic>
      <p:sp>
        <p:nvSpPr>
          <p:cNvPr id="4" name="Espace réservé du texte 3"/>
          <p:cNvSpPr>
            <a:spLocks noGrp="1"/>
          </p:cNvSpPr>
          <p:nvPr>
            <p:ph type="body" sz="quarter" idx="13"/>
          </p:nvPr>
        </p:nvSpPr>
        <p:spPr>
          <a:xfrm>
            <a:off x="821539" y="1480882"/>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9"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340909411"/>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re et conten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a:t>Steering Committee – Octobre 2025 - Confidentiel</a:t>
            </a:r>
          </a:p>
        </p:txBody>
      </p:sp>
      <p:sp>
        <p:nvSpPr>
          <p:cNvPr id="22" name="Espace réservé du numéro de diapositive 5"/>
          <p:cNvSpPr>
            <a:spLocks noGrp="1"/>
          </p:cNvSpPr>
          <p:nvPr>
            <p:ph type="sldNum" sz="quarter" idx="12"/>
          </p:nvPr>
        </p:nvSpPr>
        <p:spPr>
          <a:xfrm>
            <a:off x="896521"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92590"/>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7885" y="6081248"/>
              <a:ext cx="392531" cy="356692"/>
            </a:xfrm>
            <a:prstGeom prst="rect">
              <a:avLst/>
            </a:prstGeom>
            <a:ln>
              <a:noFill/>
            </a:ln>
          </p:spPr>
        </p:pic>
      </p:grpSp>
      <p:sp>
        <p:nvSpPr>
          <p:cNvPr id="4" name="Espace réservé du texte 3"/>
          <p:cNvSpPr>
            <a:spLocks noGrp="1"/>
          </p:cNvSpPr>
          <p:nvPr>
            <p:ph type="body" sz="quarter" idx="13"/>
          </p:nvPr>
        </p:nvSpPr>
        <p:spPr>
          <a:xfrm>
            <a:off x="821538" y="1480880"/>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865518346"/>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4"/>
            <a:ext cx="12192000" cy="1422403"/>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1730170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_Titre et contenu">
    <p:bg>
      <p:bgPr>
        <a:solidFill>
          <a:srgbClr val="003A8D"/>
        </a:solidFill>
        <a:effectLst/>
      </p:bgPr>
    </p:bg>
    <p:spTree>
      <p:nvGrpSpPr>
        <p:cNvPr id="1" name=""/>
        <p:cNvGrpSpPr/>
        <p:nvPr/>
      </p:nvGrpSpPr>
      <p:grpSpPr>
        <a:xfrm>
          <a:off x="0" y="0"/>
          <a:ext cx="0" cy="0"/>
          <a:chOff x="0" y="0"/>
          <a:chExt cx="0" cy="0"/>
        </a:xfrm>
      </p:grpSpPr>
      <p:pic>
        <p:nvPicPr>
          <p:cNvPr id="10" name="Image 9" descr="Une image contenant graphique&#10;&#10;Description générée automatiquement">
            <a:extLst>
              <a:ext uri="{FF2B5EF4-FFF2-40B4-BE49-F238E27FC236}">
                <a16:creationId xmlns:a16="http://schemas.microsoft.com/office/drawing/2014/main" id="{85EA532F-AAE5-714F-5F11-9CD2929B154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325540" y="76200"/>
            <a:ext cx="3565019" cy="6858000"/>
          </a:xfrm>
          <a:prstGeom prst="rect">
            <a:avLst/>
          </a:prstGeom>
        </p:spPr>
      </p:pic>
      <p:sp>
        <p:nvSpPr>
          <p:cNvPr id="11" name="Rectangle 10">
            <a:extLst>
              <a:ext uri="{FF2B5EF4-FFF2-40B4-BE49-F238E27FC236}">
                <a16:creationId xmlns:a16="http://schemas.microsoft.com/office/drawing/2014/main" id="{D6999633-5CCF-FE79-CF70-32E8292B7E52}"/>
              </a:ext>
            </a:extLst>
          </p:cNvPr>
          <p:cNvSpPr/>
          <p:nvPr userDrawn="1"/>
        </p:nvSpPr>
        <p:spPr>
          <a:xfrm>
            <a:off x="1347216" y="76200"/>
            <a:ext cx="3547872" cy="6858000"/>
          </a:xfrm>
          <a:prstGeom prst="rect">
            <a:avLst/>
          </a:prstGeom>
          <a:solidFill>
            <a:srgbClr val="003A8D">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7DC1055E-F2A4-F254-D669-0A270C7ADD55}"/>
              </a:ext>
            </a:extLst>
          </p:cNvPr>
          <p:cNvSpPr/>
          <p:nvPr userDrawn="1"/>
        </p:nvSpPr>
        <p:spPr>
          <a:xfrm>
            <a:off x="1146048" y="1669200"/>
            <a:ext cx="3924000" cy="3672000"/>
          </a:xfrm>
          <a:prstGeom prst="rect">
            <a:avLst/>
          </a:prstGeom>
          <a:solidFill>
            <a:schemeClr val="tx2"/>
          </a:solidFill>
          <a:ln w="571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00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cxnSp>
        <p:nvCxnSpPr>
          <p:cNvPr id="13" name="Connecteur droit 12">
            <a:extLst>
              <a:ext uri="{FF2B5EF4-FFF2-40B4-BE49-F238E27FC236}">
                <a16:creationId xmlns:a16="http://schemas.microsoft.com/office/drawing/2014/main" id="{C7D46097-6B41-F68E-E0E7-AB34B08CAEFF}"/>
              </a:ext>
            </a:extLst>
          </p:cNvPr>
          <p:cNvCxnSpPr>
            <a:cxnSpLocks/>
          </p:cNvCxnSpPr>
          <p:nvPr userDrawn="1"/>
        </p:nvCxnSpPr>
        <p:spPr>
          <a:xfrm>
            <a:off x="5580888" y="571200"/>
            <a:ext cx="0" cy="5868000"/>
          </a:xfrm>
          <a:prstGeom prst="line">
            <a:avLst/>
          </a:prstGeom>
          <a:ln w="38100">
            <a:solidFill>
              <a:schemeClr val="bg2">
                <a:lumMod val="50000"/>
              </a:schemeClr>
            </a:solidFill>
          </a:ln>
        </p:spPr>
        <p:style>
          <a:lnRef idx="1">
            <a:schemeClr val="dk1"/>
          </a:lnRef>
          <a:fillRef idx="0">
            <a:schemeClr val="dk1"/>
          </a:fillRef>
          <a:effectRef idx="0">
            <a:schemeClr val="dk1"/>
          </a:effectRef>
          <a:fontRef idx="minor">
            <a:schemeClr val="tx1"/>
          </a:fontRef>
        </p:style>
      </p:cxnSp>
      <p:sp>
        <p:nvSpPr>
          <p:cNvPr id="14" name="Espace réservé du numéro de diapositive 3"/>
          <p:cNvSpPr txBox="1">
            <a:spLocks/>
          </p:cNvSpPr>
          <p:nvPr userDrawn="1"/>
        </p:nvSpPr>
        <p:spPr>
          <a:xfrm>
            <a:off x="972721" y="6519332"/>
            <a:ext cx="523765" cy="225425"/>
          </a:xfrm>
          <a:prstGeom prst="rect">
            <a:avLst/>
          </a:prstGeom>
        </p:spPr>
        <p:txBody>
          <a:bodyPr vert="horz" lIns="45720" tIns="22860" rIns="45720" bIns="22860" rtlCol="0" anchor="ctr"/>
          <a:lstStyle>
            <a:defPPr>
              <a:defRPr lang="fr-FR"/>
            </a:defPPr>
            <a:lvl1pPr marL="0" algn="l" defTabSz="1828800" rtl="0" eaLnBrk="1" latinLnBrk="0" hangingPunct="1">
              <a:defRPr lang="fr-FR" sz="1800" kern="1200" spc="300" smtClean="0">
                <a:solidFill>
                  <a:srgbClr val="003A8D"/>
                </a:solidFill>
                <a:latin typeface="Segoe UI" panose="020B0502040204020203" pitchFamily="34" charset="0"/>
                <a:ea typeface="+mn-ea"/>
                <a:cs typeface="Segoe UI" panose="020B0502040204020203" pitchFamily="34" charset="0"/>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fld id="{3EE1DE5A-27D4-4895-8E04-340D57AD09FB}" type="slidenum">
              <a:rPr lang="fr-FR" sz="900" smtClean="0"/>
              <a:pPr/>
              <a:t>‹N°›</a:t>
            </a:fld>
            <a:endParaRPr lang="fr-FR" sz="900" dirty="0"/>
          </a:p>
        </p:txBody>
      </p:sp>
      <p:sp>
        <p:nvSpPr>
          <p:cNvPr id="2" name="Titre 1"/>
          <p:cNvSpPr>
            <a:spLocks noGrp="1"/>
          </p:cNvSpPr>
          <p:nvPr>
            <p:ph type="title"/>
          </p:nvPr>
        </p:nvSpPr>
        <p:spPr>
          <a:xfrm>
            <a:off x="1468838" y="2325068"/>
            <a:ext cx="3278423" cy="2360264"/>
          </a:xfrm>
          <a:prstGeom prst="rect">
            <a:avLst/>
          </a:prstGeom>
        </p:spPr>
        <p:txBody>
          <a:bodyPr anchor="ctr">
            <a:normAutofit/>
          </a:bodyPr>
          <a:lstStyle>
            <a:lvl1pPr algn="ctr">
              <a:defRPr sz="3000" b="1" baseline="0">
                <a:solidFill>
                  <a:schemeClr val="bg1"/>
                </a:solidFill>
                <a:latin typeface="Segoe UI Black" panose="020B0A02040204020203" pitchFamily="34" charset="0"/>
                <a:ea typeface="Segoe UI Black" panose="020B0A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5732585" y="6439200"/>
            <a:ext cx="6120747" cy="229357"/>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en-US" dirty="0"/>
              <a:t>Steering Committee – </a:t>
            </a:r>
            <a:r>
              <a:rPr lang="en-US" dirty="0" err="1"/>
              <a:t>Octobre</a:t>
            </a:r>
            <a:r>
              <a:rPr lang="en-US" dirty="0"/>
              <a:t> 2025 - </a:t>
            </a:r>
            <a:r>
              <a:rPr lang="en-US" dirty="0" err="1"/>
              <a:t>Confidentiel</a:t>
            </a:r>
            <a:endParaRPr lang="fr-FR" dirty="0"/>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5732586" y="1480875"/>
            <a:ext cx="6120485" cy="4811183"/>
          </a:xfrm>
          <a:prstGeom prst="rect">
            <a:avLst/>
          </a:prstGeom>
        </p:spPr>
        <p:txBody>
          <a:bodyPr/>
          <a:lstStyle>
            <a:lvl1pPr marL="285750" indent="-285750">
              <a:spcAft>
                <a:spcPts val="600"/>
              </a:spcAft>
              <a:buFont typeface="Arial" panose="020B0604020202020204" pitchFamily="34" charset="0"/>
              <a:buChar char="•"/>
              <a:defRPr/>
            </a:lvl1pPr>
            <a:lvl2pPr>
              <a:spcAft>
                <a:spcPts val="600"/>
              </a:spcAft>
              <a:defRPr/>
            </a:lvl2pPr>
            <a:lvl3pPr>
              <a:spcAft>
                <a:spcPts val="600"/>
              </a:spcAft>
              <a:defRPr/>
            </a:lvl3pPr>
            <a:lvl4pPr>
              <a:spcAft>
                <a:spcPts val="600"/>
              </a:spcAft>
              <a:defRPr/>
            </a:lvl4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374045845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avec flèche dans carrré">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336"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en-US" dirty="0"/>
              <a:t>Steering Committee – </a:t>
            </a:r>
            <a:r>
              <a:rPr lang="en-US" dirty="0" err="1"/>
              <a:t>Octobre</a:t>
            </a:r>
            <a:r>
              <a:rPr lang="en-US" dirty="0"/>
              <a:t> 2025 - </a:t>
            </a:r>
            <a:r>
              <a:rPr lang="en-US" dirty="0" err="1"/>
              <a:t>Confidentiel</a:t>
            </a:r>
            <a:endParaRPr lang="en-US"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13368681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en-US" dirty="0"/>
              <a:t>Steering Committee - Avril 2025 - Confidentiel</a:t>
            </a:r>
            <a:endParaRPr lang="fr-FR" dirty="0"/>
          </a:p>
        </p:txBody>
      </p:sp>
      <p:sp>
        <p:nvSpPr>
          <p:cNvPr id="22" name="Espace réservé du numéro de diapositive 5"/>
          <p:cNvSpPr>
            <a:spLocks noGrp="1"/>
          </p:cNvSpPr>
          <p:nvPr>
            <p:ph type="sldNum" sz="quarter" idx="12"/>
          </p:nvPr>
        </p:nvSpPr>
        <p:spPr>
          <a:xfrm>
            <a:off x="896521" y="6443132"/>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p>
          </p:txBody>
        </p:sp>
        <p:pic>
          <p:nvPicPr>
            <p:cNvPr id="23" name="Image 2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5"/>
            <a:ext cx="11031538" cy="4811183"/>
          </a:xfrm>
          <a:prstGeom prst="rect">
            <a:avLst/>
          </a:prstGeo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82553099"/>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1108696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Diapositive de titr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831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D21C0FA-7CC4-4D2C-A11D-AC891C3072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62" t="11290" r="10267" b="11253"/>
          <a:stretch/>
        </p:blipFill>
        <p:spPr>
          <a:xfrm>
            <a:off x="10876248" y="5721532"/>
            <a:ext cx="1002241" cy="962297"/>
          </a:xfrm>
          <a:prstGeom prst="ellipse">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0397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416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 coins arrondis 8">
            <a:extLst>
              <a:ext uri="{FF2B5EF4-FFF2-40B4-BE49-F238E27FC236}">
                <a16:creationId xmlns:a16="http://schemas.microsoft.com/office/drawing/2014/main" id="{4D9B752F-5E0A-40F2-BD5F-CD6F85FA4D0F}"/>
              </a:ext>
            </a:extLst>
          </p:cNvPr>
          <p:cNvSpPr/>
          <p:nvPr userDrawn="1"/>
        </p:nvSpPr>
        <p:spPr>
          <a:xfrm>
            <a:off x="175528" y="136525"/>
            <a:ext cx="11840944" cy="6584950"/>
          </a:xfrm>
          <a:prstGeom prst="roundRect">
            <a:avLst>
              <a:gd name="adj" fmla="val 785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3F255B07-A1A6-455A-AE06-97917C539DC1}"/>
              </a:ext>
            </a:extLst>
          </p:cNvPr>
          <p:cNvSpPr/>
          <p:nvPr userDrawn="1"/>
        </p:nvSpPr>
        <p:spPr>
          <a:xfrm>
            <a:off x="9907135" y="5423354"/>
            <a:ext cx="2109337" cy="1298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TextBox 4">
            <a:extLst>
              <a:ext uri="{FF2B5EF4-FFF2-40B4-BE49-F238E27FC236}">
                <a16:creationId xmlns:a16="http://schemas.microsoft.com/office/drawing/2014/main" id="{1E0BB00A-292B-432F-958B-D982AD0DF2E5}"/>
              </a:ext>
            </a:extLst>
          </p:cNvPr>
          <p:cNvSpPr txBox="1"/>
          <p:nvPr/>
        </p:nvSpPr>
        <p:spPr>
          <a:xfrm>
            <a:off x="175528" y="52152"/>
            <a:ext cx="11840944" cy="6669323"/>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sp>
        <p:nvSpPr>
          <p:cNvPr id="3" name="Espace réservé de la date 2">
            <a:extLst>
              <a:ext uri="{FF2B5EF4-FFF2-40B4-BE49-F238E27FC236}">
                <a16:creationId xmlns:a16="http://schemas.microsoft.com/office/drawing/2014/main" id="{8D2491A7-7C9D-4DBA-A707-A42616EE587B}"/>
              </a:ext>
            </a:extLst>
          </p:cNvPr>
          <p:cNvSpPr>
            <a:spLocks noGrp="1"/>
          </p:cNvSpPr>
          <p:nvPr>
            <p:ph type="dt" sz="half" idx="10"/>
          </p:nvPr>
        </p:nvSpPr>
        <p:spPr/>
        <p:txBody>
          <a:bodyPr/>
          <a:lstStyle/>
          <a:p>
            <a:fld id="{C116E4B4-7B12-48A9-B720-4BCD9ED653E4}" type="datetimeFigureOut">
              <a:rPr lang="fr-FR" smtClean="0"/>
              <a:t>01/06/2026</a:t>
            </a:fld>
            <a:endParaRPr lang="fr-FR"/>
          </a:p>
        </p:txBody>
      </p:sp>
      <p:sp>
        <p:nvSpPr>
          <p:cNvPr id="4" name="Espace réservé du pied de page 3">
            <a:extLst>
              <a:ext uri="{FF2B5EF4-FFF2-40B4-BE49-F238E27FC236}">
                <a16:creationId xmlns:a16="http://schemas.microsoft.com/office/drawing/2014/main" id="{B60466B6-0673-409B-BC69-CF1A1245A873}"/>
              </a:ext>
            </a:extLst>
          </p:cNvPr>
          <p:cNvSpPr>
            <a:spLocks noGrp="1"/>
          </p:cNvSpPr>
          <p:nvPr>
            <p:ph type="ftr" sz="quarter" idx="11"/>
          </p:nvPr>
        </p:nvSpPr>
        <p:spPr/>
        <p:txBody>
          <a:bodyPr/>
          <a:lstStyle/>
          <a:p>
            <a:endParaRPr lang="fr-FR"/>
          </a:p>
        </p:txBody>
      </p:sp>
      <p:sp>
        <p:nvSpPr>
          <p:cNvPr id="5" name="Rectangle 4">
            <a:extLst>
              <a:ext uri="{FF2B5EF4-FFF2-40B4-BE49-F238E27FC236}">
                <a16:creationId xmlns:a16="http://schemas.microsoft.com/office/drawing/2014/main" id="{768AD89F-AD82-4B62-BC8C-616E1C706561}"/>
              </a:ext>
            </a:extLst>
          </p:cNvPr>
          <p:cNvSpPr/>
          <p:nvPr userDrawn="1"/>
        </p:nvSpPr>
        <p:spPr>
          <a:xfrm>
            <a:off x="10552798" y="5602554"/>
            <a:ext cx="1440000" cy="1113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Logo séminaire</a:t>
            </a:r>
          </a:p>
        </p:txBody>
      </p:sp>
      <p:sp>
        <p:nvSpPr>
          <p:cNvPr id="10" name="Titre 1">
            <a:extLst>
              <a:ext uri="{FF2B5EF4-FFF2-40B4-BE49-F238E27FC236}">
                <a16:creationId xmlns:a16="http://schemas.microsoft.com/office/drawing/2014/main" id="{666FA6FD-D0DB-4BC0-8E1C-C0BD3F7825DC}"/>
              </a:ext>
            </a:extLst>
          </p:cNvPr>
          <p:cNvSpPr>
            <a:spLocks noGrp="1"/>
          </p:cNvSpPr>
          <p:nvPr>
            <p:ph type="title"/>
          </p:nvPr>
        </p:nvSpPr>
        <p:spPr>
          <a:xfrm>
            <a:off x="487680" y="365126"/>
            <a:ext cx="10866120" cy="688612"/>
          </a:xfrm>
        </p:spPr>
        <p:txBody>
          <a:bodyPr/>
          <a:lstStyle>
            <a:lvl1pPr>
              <a:defRPr>
                <a:solidFill>
                  <a:srgbClr val="034AAE"/>
                </a:solidFill>
                <a:latin typeface="Impact" panose="020B0806030902050204" pitchFamily="34" charset="0"/>
              </a:defRPr>
            </a:lvl1pPr>
          </a:lstStyle>
          <a:p>
            <a:r>
              <a:rPr lang="fr-FR" dirty="0"/>
              <a:t>Modifiez le style du titre</a:t>
            </a:r>
          </a:p>
        </p:txBody>
      </p:sp>
    </p:spTree>
    <p:extLst>
      <p:ext uri="{BB962C8B-B14F-4D97-AF65-F5344CB8AC3E}">
        <p14:creationId xmlns:p14="http://schemas.microsoft.com/office/powerpoint/2010/main" val="2304204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sp>
        <p:nvSpPr>
          <p:cNvPr id="9" name="Rectangle : coins arrondis 8">
            <a:extLst>
              <a:ext uri="{FF2B5EF4-FFF2-40B4-BE49-F238E27FC236}">
                <a16:creationId xmlns:a16="http://schemas.microsoft.com/office/drawing/2014/main" id="{4D9B752F-5E0A-40F2-BD5F-CD6F85FA4D0F}"/>
              </a:ext>
            </a:extLst>
          </p:cNvPr>
          <p:cNvSpPr/>
          <p:nvPr userDrawn="1"/>
        </p:nvSpPr>
        <p:spPr>
          <a:xfrm>
            <a:off x="175528" y="136525"/>
            <a:ext cx="11840944" cy="6584950"/>
          </a:xfrm>
          <a:prstGeom prst="roundRect">
            <a:avLst>
              <a:gd name="adj" fmla="val 785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3F255B07-A1A6-455A-AE06-97917C539DC1}"/>
              </a:ext>
            </a:extLst>
          </p:cNvPr>
          <p:cNvSpPr/>
          <p:nvPr userDrawn="1"/>
        </p:nvSpPr>
        <p:spPr>
          <a:xfrm>
            <a:off x="9907135" y="5423354"/>
            <a:ext cx="2109337" cy="1298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TextBox 4">
            <a:extLst>
              <a:ext uri="{FF2B5EF4-FFF2-40B4-BE49-F238E27FC236}">
                <a16:creationId xmlns:a16="http://schemas.microsoft.com/office/drawing/2014/main" id="{1E0BB00A-292B-432F-958B-D982AD0DF2E5}"/>
              </a:ext>
            </a:extLst>
          </p:cNvPr>
          <p:cNvSpPr txBox="1"/>
          <p:nvPr/>
        </p:nvSpPr>
        <p:spPr>
          <a:xfrm>
            <a:off x="175528" y="52152"/>
            <a:ext cx="11840944" cy="6669323"/>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sp>
        <p:nvSpPr>
          <p:cNvPr id="3" name="Espace réservé de la date 2">
            <a:extLst>
              <a:ext uri="{FF2B5EF4-FFF2-40B4-BE49-F238E27FC236}">
                <a16:creationId xmlns:a16="http://schemas.microsoft.com/office/drawing/2014/main" id="{8D2491A7-7C9D-4DBA-A707-A42616EE587B}"/>
              </a:ext>
            </a:extLst>
          </p:cNvPr>
          <p:cNvSpPr>
            <a:spLocks noGrp="1"/>
          </p:cNvSpPr>
          <p:nvPr>
            <p:ph type="dt" sz="half" idx="10"/>
          </p:nvPr>
        </p:nvSpPr>
        <p:spPr/>
        <p:txBody>
          <a:bodyPr/>
          <a:lstStyle/>
          <a:p>
            <a:fld id="{C116E4B4-7B12-48A9-B720-4BCD9ED653E4}" type="datetimeFigureOut">
              <a:rPr lang="fr-FR" smtClean="0"/>
              <a:t>01/06/2026</a:t>
            </a:fld>
            <a:endParaRPr lang="fr-FR"/>
          </a:p>
        </p:txBody>
      </p:sp>
      <p:sp>
        <p:nvSpPr>
          <p:cNvPr id="4" name="Espace réservé du pied de page 3">
            <a:extLst>
              <a:ext uri="{FF2B5EF4-FFF2-40B4-BE49-F238E27FC236}">
                <a16:creationId xmlns:a16="http://schemas.microsoft.com/office/drawing/2014/main" id="{B60466B6-0673-409B-BC69-CF1A1245A873}"/>
              </a:ext>
            </a:extLst>
          </p:cNvPr>
          <p:cNvSpPr>
            <a:spLocks noGrp="1"/>
          </p:cNvSpPr>
          <p:nvPr>
            <p:ph type="ftr" sz="quarter" idx="11"/>
          </p:nvPr>
        </p:nvSpPr>
        <p:spPr/>
        <p:txBody>
          <a:bodyPr/>
          <a:lstStyle/>
          <a:p>
            <a:endParaRPr lang="fr-FR"/>
          </a:p>
        </p:txBody>
      </p:sp>
      <p:sp>
        <p:nvSpPr>
          <p:cNvPr id="10" name="Titre 1">
            <a:extLst>
              <a:ext uri="{FF2B5EF4-FFF2-40B4-BE49-F238E27FC236}">
                <a16:creationId xmlns:a16="http://schemas.microsoft.com/office/drawing/2014/main" id="{666FA6FD-D0DB-4BC0-8E1C-C0BD3F7825DC}"/>
              </a:ext>
            </a:extLst>
          </p:cNvPr>
          <p:cNvSpPr>
            <a:spLocks noGrp="1"/>
          </p:cNvSpPr>
          <p:nvPr>
            <p:ph type="title"/>
          </p:nvPr>
        </p:nvSpPr>
        <p:spPr>
          <a:xfrm>
            <a:off x="487680" y="365126"/>
            <a:ext cx="10866120" cy="688612"/>
          </a:xfrm>
        </p:spPr>
        <p:txBody>
          <a:bodyPr/>
          <a:lstStyle>
            <a:lvl1pPr>
              <a:defRPr>
                <a:solidFill>
                  <a:srgbClr val="034AAE"/>
                </a:solidFill>
                <a:latin typeface="Impact" panose="020B0806030902050204" pitchFamily="34" charset="0"/>
              </a:defRPr>
            </a:lvl1pPr>
          </a:lstStyle>
          <a:p>
            <a:r>
              <a:rPr lang="fr-FR" dirty="0"/>
              <a:t>Modifiez le style du titre</a:t>
            </a:r>
          </a:p>
        </p:txBody>
      </p:sp>
      <p:pic>
        <p:nvPicPr>
          <p:cNvPr id="11" name="Image 10">
            <a:extLst>
              <a:ext uri="{FF2B5EF4-FFF2-40B4-BE49-F238E27FC236}">
                <a16:creationId xmlns:a16="http://schemas.microsoft.com/office/drawing/2014/main" id="{D3EABE6D-986A-413B-9649-816993FD03A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778" t="11532" r="9746" b="10476"/>
          <a:stretch/>
        </p:blipFill>
        <p:spPr>
          <a:xfrm>
            <a:off x="10981211" y="5721531"/>
            <a:ext cx="860045" cy="854754"/>
          </a:xfrm>
          <a:prstGeom prst="ellipse">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3522997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DA784348-BE46-4FB0-A56A-B48447D51CBD}"/>
              </a:ext>
            </a:extLst>
          </p:cNvPr>
          <p:cNvSpPr/>
          <p:nvPr userDrawn="1"/>
        </p:nvSpPr>
        <p:spPr>
          <a:xfrm>
            <a:off x="175528" y="1010193"/>
            <a:ext cx="11840944" cy="5711281"/>
          </a:xfrm>
          <a:prstGeom prst="roundRect">
            <a:avLst>
              <a:gd name="adj" fmla="val 91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F0919BCE-6179-49C1-9E22-3FC5E94B5356}"/>
              </a:ext>
            </a:extLst>
          </p:cNvPr>
          <p:cNvSpPr>
            <a:spLocks noGrp="1"/>
          </p:cNvSpPr>
          <p:nvPr>
            <p:ph type="title"/>
          </p:nvPr>
        </p:nvSpPr>
        <p:spPr>
          <a:xfrm>
            <a:off x="289560" y="276311"/>
            <a:ext cx="10515600" cy="514441"/>
          </a:xfrm>
        </p:spPr>
        <p:txBody>
          <a:bodyPr/>
          <a:lstStyle>
            <a:lvl1pPr>
              <a:defRPr>
                <a:solidFill>
                  <a:schemeClr val="bg1"/>
                </a:solidFill>
                <a:latin typeface="Impact" panose="020B0806030902050204" pitchFamily="34" charset="0"/>
              </a:defRPr>
            </a:lvl1pPr>
          </a:lstStyle>
          <a:p>
            <a:r>
              <a:rPr lang="fr-FR" dirty="0"/>
              <a:t>Modifiez le style du titre</a:t>
            </a:r>
          </a:p>
        </p:txBody>
      </p:sp>
      <p:sp>
        <p:nvSpPr>
          <p:cNvPr id="12" name="Rectangle 11">
            <a:extLst>
              <a:ext uri="{FF2B5EF4-FFF2-40B4-BE49-F238E27FC236}">
                <a16:creationId xmlns:a16="http://schemas.microsoft.com/office/drawing/2014/main" id="{3F255B07-A1A6-455A-AE06-97917C539DC1}"/>
              </a:ext>
            </a:extLst>
          </p:cNvPr>
          <p:cNvSpPr/>
          <p:nvPr userDrawn="1"/>
        </p:nvSpPr>
        <p:spPr>
          <a:xfrm>
            <a:off x="9907135" y="5423354"/>
            <a:ext cx="2109337" cy="1298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Espace réservé de la date 2">
            <a:extLst>
              <a:ext uri="{FF2B5EF4-FFF2-40B4-BE49-F238E27FC236}">
                <a16:creationId xmlns:a16="http://schemas.microsoft.com/office/drawing/2014/main" id="{8D2491A7-7C9D-4DBA-A707-A42616EE587B}"/>
              </a:ext>
            </a:extLst>
          </p:cNvPr>
          <p:cNvSpPr>
            <a:spLocks noGrp="1"/>
          </p:cNvSpPr>
          <p:nvPr>
            <p:ph type="dt" sz="half" idx="10"/>
          </p:nvPr>
        </p:nvSpPr>
        <p:spPr/>
        <p:txBody>
          <a:bodyPr/>
          <a:lstStyle/>
          <a:p>
            <a:fld id="{C116E4B4-7B12-48A9-B720-4BCD9ED653E4}" type="datetimeFigureOut">
              <a:rPr lang="fr-FR" smtClean="0"/>
              <a:t>01/06/2026</a:t>
            </a:fld>
            <a:endParaRPr lang="fr-FR"/>
          </a:p>
        </p:txBody>
      </p:sp>
      <p:sp>
        <p:nvSpPr>
          <p:cNvPr id="4" name="Espace réservé du pied de page 3">
            <a:extLst>
              <a:ext uri="{FF2B5EF4-FFF2-40B4-BE49-F238E27FC236}">
                <a16:creationId xmlns:a16="http://schemas.microsoft.com/office/drawing/2014/main" id="{B60466B6-0673-409B-BC69-CF1A1245A873}"/>
              </a:ext>
            </a:extLst>
          </p:cNvPr>
          <p:cNvSpPr>
            <a:spLocks noGrp="1"/>
          </p:cNvSpPr>
          <p:nvPr>
            <p:ph type="ftr" sz="quarter" idx="11"/>
          </p:nvPr>
        </p:nvSpPr>
        <p:spPr/>
        <p:txBody>
          <a:bodyPr/>
          <a:lstStyle/>
          <a:p>
            <a:endParaRPr lang="fr-FR"/>
          </a:p>
        </p:txBody>
      </p:sp>
      <p:sp>
        <p:nvSpPr>
          <p:cNvPr id="5" name="Rectangle 4">
            <a:extLst>
              <a:ext uri="{FF2B5EF4-FFF2-40B4-BE49-F238E27FC236}">
                <a16:creationId xmlns:a16="http://schemas.microsoft.com/office/drawing/2014/main" id="{768AD89F-AD82-4B62-BC8C-616E1C706561}"/>
              </a:ext>
            </a:extLst>
          </p:cNvPr>
          <p:cNvSpPr/>
          <p:nvPr userDrawn="1"/>
        </p:nvSpPr>
        <p:spPr>
          <a:xfrm>
            <a:off x="10552798" y="5602554"/>
            <a:ext cx="1440000" cy="1113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Logo séminaire</a:t>
            </a:r>
          </a:p>
        </p:txBody>
      </p:sp>
      <p:sp>
        <p:nvSpPr>
          <p:cNvPr id="13" name="Rectangle : coins arrondis 12">
            <a:extLst>
              <a:ext uri="{FF2B5EF4-FFF2-40B4-BE49-F238E27FC236}">
                <a16:creationId xmlns:a16="http://schemas.microsoft.com/office/drawing/2014/main" id="{A74E30E1-8E91-4B44-A087-E6B3CE2E5686}"/>
              </a:ext>
            </a:extLst>
          </p:cNvPr>
          <p:cNvSpPr/>
          <p:nvPr userDrawn="1"/>
        </p:nvSpPr>
        <p:spPr>
          <a:xfrm>
            <a:off x="175528" y="1010192"/>
            <a:ext cx="11840944" cy="1558837"/>
          </a:xfrm>
          <a:prstGeom prst="roundRect">
            <a:avLst>
              <a:gd name="adj" fmla="val 55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4368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DA784348-BE46-4FB0-A56A-B48447D51CBD}"/>
              </a:ext>
            </a:extLst>
          </p:cNvPr>
          <p:cNvSpPr/>
          <p:nvPr userDrawn="1"/>
        </p:nvSpPr>
        <p:spPr>
          <a:xfrm>
            <a:off x="175528" y="1010193"/>
            <a:ext cx="11840944" cy="5711281"/>
          </a:xfrm>
          <a:prstGeom prst="roundRect">
            <a:avLst>
              <a:gd name="adj" fmla="val 91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1">
            <a:extLst>
              <a:ext uri="{FF2B5EF4-FFF2-40B4-BE49-F238E27FC236}">
                <a16:creationId xmlns:a16="http://schemas.microsoft.com/office/drawing/2014/main" id="{F0919BCE-6179-49C1-9E22-3FC5E94B5356}"/>
              </a:ext>
            </a:extLst>
          </p:cNvPr>
          <p:cNvSpPr>
            <a:spLocks noGrp="1"/>
          </p:cNvSpPr>
          <p:nvPr>
            <p:ph type="title"/>
          </p:nvPr>
        </p:nvSpPr>
        <p:spPr>
          <a:xfrm>
            <a:off x="289560" y="276311"/>
            <a:ext cx="10515600" cy="514441"/>
          </a:xfrm>
        </p:spPr>
        <p:txBody>
          <a:bodyPr/>
          <a:lstStyle>
            <a:lvl1pPr>
              <a:defRPr>
                <a:solidFill>
                  <a:schemeClr val="bg1"/>
                </a:solidFill>
                <a:latin typeface="Impact" panose="020B0806030902050204" pitchFamily="34" charset="0"/>
              </a:defRPr>
            </a:lvl1pPr>
          </a:lstStyle>
          <a:p>
            <a:r>
              <a:rPr lang="fr-FR" dirty="0"/>
              <a:t>Modifiez le style du titre</a:t>
            </a:r>
          </a:p>
        </p:txBody>
      </p:sp>
      <p:sp>
        <p:nvSpPr>
          <p:cNvPr id="12" name="Rectangle 11">
            <a:extLst>
              <a:ext uri="{FF2B5EF4-FFF2-40B4-BE49-F238E27FC236}">
                <a16:creationId xmlns:a16="http://schemas.microsoft.com/office/drawing/2014/main" id="{3F255B07-A1A6-455A-AE06-97917C539DC1}"/>
              </a:ext>
            </a:extLst>
          </p:cNvPr>
          <p:cNvSpPr/>
          <p:nvPr userDrawn="1"/>
        </p:nvSpPr>
        <p:spPr>
          <a:xfrm>
            <a:off x="9907135" y="5423354"/>
            <a:ext cx="2109337" cy="1298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Espace réservé de la date 2">
            <a:extLst>
              <a:ext uri="{FF2B5EF4-FFF2-40B4-BE49-F238E27FC236}">
                <a16:creationId xmlns:a16="http://schemas.microsoft.com/office/drawing/2014/main" id="{8D2491A7-7C9D-4DBA-A707-A42616EE587B}"/>
              </a:ext>
            </a:extLst>
          </p:cNvPr>
          <p:cNvSpPr>
            <a:spLocks noGrp="1"/>
          </p:cNvSpPr>
          <p:nvPr>
            <p:ph type="dt" sz="half" idx="10"/>
          </p:nvPr>
        </p:nvSpPr>
        <p:spPr/>
        <p:txBody>
          <a:bodyPr/>
          <a:lstStyle/>
          <a:p>
            <a:fld id="{C116E4B4-7B12-48A9-B720-4BCD9ED653E4}" type="datetimeFigureOut">
              <a:rPr lang="fr-FR" smtClean="0"/>
              <a:t>01/06/2026</a:t>
            </a:fld>
            <a:endParaRPr lang="fr-FR"/>
          </a:p>
        </p:txBody>
      </p:sp>
      <p:sp>
        <p:nvSpPr>
          <p:cNvPr id="4" name="Espace réservé du pied de page 3">
            <a:extLst>
              <a:ext uri="{FF2B5EF4-FFF2-40B4-BE49-F238E27FC236}">
                <a16:creationId xmlns:a16="http://schemas.microsoft.com/office/drawing/2014/main" id="{B60466B6-0673-409B-BC69-CF1A1245A873}"/>
              </a:ext>
            </a:extLst>
          </p:cNvPr>
          <p:cNvSpPr>
            <a:spLocks noGrp="1"/>
          </p:cNvSpPr>
          <p:nvPr>
            <p:ph type="ftr" sz="quarter" idx="11"/>
          </p:nvPr>
        </p:nvSpPr>
        <p:spPr/>
        <p:txBody>
          <a:bodyPr/>
          <a:lstStyle/>
          <a:p>
            <a:endParaRPr lang="fr-FR"/>
          </a:p>
        </p:txBody>
      </p:sp>
      <p:sp>
        <p:nvSpPr>
          <p:cNvPr id="13" name="Rectangle : coins arrondis 12">
            <a:extLst>
              <a:ext uri="{FF2B5EF4-FFF2-40B4-BE49-F238E27FC236}">
                <a16:creationId xmlns:a16="http://schemas.microsoft.com/office/drawing/2014/main" id="{A74E30E1-8E91-4B44-A087-E6B3CE2E5686}"/>
              </a:ext>
            </a:extLst>
          </p:cNvPr>
          <p:cNvSpPr/>
          <p:nvPr userDrawn="1"/>
        </p:nvSpPr>
        <p:spPr>
          <a:xfrm>
            <a:off x="175528" y="1010192"/>
            <a:ext cx="11840944" cy="1558837"/>
          </a:xfrm>
          <a:prstGeom prst="roundRect">
            <a:avLst>
              <a:gd name="adj" fmla="val 55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D10ECDE3-476C-46B5-96F2-9223CFB42E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778" t="11532" r="9746" b="10476"/>
          <a:stretch/>
        </p:blipFill>
        <p:spPr>
          <a:xfrm>
            <a:off x="10981211" y="5721531"/>
            <a:ext cx="860045" cy="854754"/>
          </a:xfrm>
          <a:prstGeom prst="ellipse">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2913398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D21C0FA-7CC4-4D2C-A11D-AC891C3072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62" t="11290" r="10267" b="11253"/>
          <a:stretch/>
        </p:blipFill>
        <p:spPr>
          <a:xfrm>
            <a:off x="10876248" y="5721532"/>
            <a:ext cx="1002241" cy="962297"/>
          </a:xfrm>
          <a:prstGeom prst="ellipse">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975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à coins arrondis 5"/>
          <p:cNvSpPr/>
          <p:nvPr/>
        </p:nvSpPr>
        <p:spPr>
          <a:xfrm>
            <a:off x="127002" y="101606"/>
            <a:ext cx="11946467" cy="6639481"/>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a:t>Steering Committee – Octobre 2025 - Confidentiel</a:t>
            </a:r>
            <a:endParaRPr lang="en-US" dirty="0"/>
          </a:p>
        </p:txBody>
      </p:sp>
      <p:sp>
        <p:nvSpPr>
          <p:cNvPr id="5" name="Espace réservé du numéro de diapositive 5"/>
          <p:cNvSpPr>
            <a:spLocks noGrp="1"/>
          </p:cNvSpPr>
          <p:nvPr>
            <p:ph type="sldNum" sz="quarter" idx="4"/>
          </p:nvPr>
        </p:nvSpPr>
        <p:spPr>
          <a:xfrm>
            <a:off x="896521"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2" name="Group 1">
            <a:extLst>
              <a:ext uri="{FF2B5EF4-FFF2-40B4-BE49-F238E27FC236}">
                <a16:creationId xmlns:a16="http://schemas.microsoft.com/office/drawing/2014/main" id="{08602E2B-ACAE-F214-77F8-530BA794AD06}"/>
              </a:ext>
            </a:extLst>
          </p:cNvPr>
          <p:cNvGrpSpPr/>
          <p:nvPr userDrawn="1"/>
        </p:nvGrpSpPr>
        <p:grpSpPr>
          <a:xfrm>
            <a:off x="5852160" y="-212034"/>
            <a:ext cx="470008" cy="210260"/>
            <a:chOff x="4389120" y="-159026"/>
            <a:chExt cx="352506" cy="157695"/>
          </a:xfrm>
        </p:grpSpPr>
        <p:cxnSp>
          <p:nvCxnSpPr>
            <p:cNvPr id="3" name="Straight Connector 2">
              <a:extLst>
                <a:ext uri="{FF2B5EF4-FFF2-40B4-BE49-F238E27FC236}">
                  <a16:creationId xmlns:a16="http://schemas.microsoft.com/office/drawing/2014/main" id="{D968870E-E915-F42F-1294-51253169D874}"/>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293D63-7FB8-ED97-9AD4-E457EE97A462}"/>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C56F22-EA76-6C47-CB26-F750F188D57D}"/>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0BF1332-0A05-D424-DF87-FEE60E11B61A}"/>
              </a:ext>
            </a:extLst>
          </p:cNvPr>
          <p:cNvGrpSpPr/>
          <p:nvPr userDrawn="1"/>
        </p:nvGrpSpPr>
        <p:grpSpPr>
          <a:xfrm>
            <a:off x="8737597" y="-222634"/>
            <a:ext cx="470008" cy="210260"/>
            <a:chOff x="4389120" y="-159026"/>
            <a:chExt cx="352506" cy="157695"/>
          </a:xfrm>
        </p:grpSpPr>
        <p:cxnSp>
          <p:nvCxnSpPr>
            <p:cNvPr id="10" name="Straight Connector 9">
              <a:extLst>
                <a:ext uri="{FF2B5EF4-FFF2-40B4-BE49-F238E27FC236}">
                  <a16:creationId xmlns:a16="http://schemas.microsoft.com/office/drawing/2014/main" id="{9FF1DA4B-0E13-0798-191C-ED7FB5FFD6B9}"/>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5E55582-D785-31E4-DD29-95F55C7D13B9}"/>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C00F8B-B0C9-01D8-7580-21B536FF3828}"/>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74DC492-E93E-CBEB-93E9-1D613A4CD839}"/>
              </a:ext>
            </a:extLst>
          </p:cNvPr>
          <p:cNvGrpSpPr/>
          <p:nvPr userDrawn="1"/>
        </p:nvGrpSpPr>
        <p:grpSpPr>
          <a:xfrm>
            <a:off x="2972128" y="-231461"/>
            <a:ext cx="470008" cy="210260"/>
            <a:chOff x="4389120" y="-159026"/>
            <a:chExt cx="352506" cy="157695"/>
          </a:xfrm>
        </p:grpSpPr>
        <p:cxnSp>
          <p:nvCxnSpPr>
            <p:cNvPr id="14" name="Straight Connector 13">
              <a:extLst>
                <a:ext uri="{FF2B5EF4-FFF2-40B4-BE49-F238E27FC236}">
                  <a16:creationId xmlns:a16="http://schemas.microsoft.com/office/drawing/2014/main" id="{3940EB56-ACC7-1CE0-1A2F-8F71EC0D8216}"/>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553000-51CE-B254-1CBD-21B8A1DAA5AA}"/>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8B25738-87FA-7320-DA44-F118F9FD1D21}"/>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0188FCAB-10C9-0643-8FAA-8370C9D56443}"/>
              </a:ext>
            </a:extLst>
          </p:cNvPr>
          <p:cNvGrpSpPr/>
          <p:nvPr userDrawn="1"/>
        </p:nvGrpSpPr>
        <p:grpSpPr>
          <a:xfrm rot="16200000">
            <a:off x="-347329" y="3273593"/>
            <a:ext cx="470008" cy="210260"/>
            <a:chOff x="4389120" y="-159026"/>
            <a:chExt cx="352506" cy="157695"/>
          </a:xfrm>
        </p:grpSpPr>
        <p:cxnSp>
          <p:nvCxnSpPr>
            <p:cNvPr id="18" name="Straight Connector 17">
              <a:extLst>
                <a:ext uri="{FF2B5EF4-FFF2-40B4-BE49-F238E27FC236}">
                  <a16:creationId xmlns:a16="http://schemas.microsoft.com/office/drawing/2014/main" id="{3AC8E3A1-096A-8836-5560-0077A1C9F3AB}"/>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9D3A70-D242-7D60-8A72-6C907CA70608}"/>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57E085D-56D9-4F48-1EF5-3777AEE77457}"/>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A016345D-1506-FA3D-01BA-53CF6F210494}"/>
              </a:ext>
            </a:extLst>
          </p:cNvPr>
          <p:cNvCxnSpPr/>
          <p:nvPr userDrawn="1"/>
        </p:nvCxnSpPr>
        <p:spPr>
          <a:xfrm>
            <a:off x="11925300" y="-215582"/>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4A93FF-0A2F-03DF-CEC8-59CC91716623}"/>
              </a:ext>
            </a:extLst>
          </p:cNvPr>
          <p:cNvCxnSpPr/>
          <p:nvPr userDrawn="1"/>
        </p:nvCxnSpPr>
        <p:spPr>
          <a:xfrm>
            <a:off x="277412" y="-249145"/>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6B5CB0-3AF5-9F3B-7459-FD659519CA5D}"/>
              </a:ext>
            </a:extLst>
          </p:cNvPr>
          <p:cNvCxnSpPr>
            <a:cxnSpLocks/>
          </p:cNvCxnSpPr>
          <p:nvPr userDrawn="1"/>
        </p:nvCxnSpPr>
        <p:spPr>
          <a:xfrm>
            <a:off x="-182440" y="190503"/>
            <a:ext cx="1644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A5658D-09DC-CE8A-EBCC-2F1CE3FB7487}"/>
              </a:ext>
            </a:extLst>
          </p:cNvPr>
          <p:cNvCxnSpPr>
            <a:cxnSpLocks/>
          </p:cNvCxnSpPr>
          <p:nvPr userDrawn="1"/>
        </p:nvCxnSpPr>
        <p:spPr>
          <a:xfrm>
            <a:off x="-208799" y="6441671"/>
            <a:ext cx="164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83708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309"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309"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578" indent="-228578" algn="l" defTabSz="914309"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23" indent="-228578" algn="l" defTabSz="914309"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1925" indent="-270643" algn="l" defTabSz="914309"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195"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16E4B4-7B12-48A9-B720-4BCD9ED653E4}" type="datetimeFigureOut">
              <a:rPr lang="fr-FR" smtClean="0"/>
              <a:t>01/06/2026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3C8139-566B-45AB-B774-B9AAE4F9BD67}" type="slidenum">
              <a:rPr lang="fr-FR" smtClean="0"/>
              <a:t>‹N°›</a:t>
            </a:fld>
            <a:endParaRPr lang="fr-FR"/>
          </a:p>
        </p:txBody>
      </p:sp>
    </p:spTree>
    <p:extLst>
      <p:ext uri="{BB962C8B-B14F-4D97-AF65-F5344CB8AC3E}">
        <p14:creationId xmlns:p14="http://schemas.microsoft.com/office/powerpoint/2010/main" val="37428318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microsoft.com/office/2007/relationships/hdphoto" Target="../media/hdphoto2.wdp"/><Relationship Id="rId5" Type="http://schemas.openxmlformats.org/officeDocument/2006/relationships/image" Target="../media/image14.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5.png"/><Relationship Id="rId5" Type="http://schemas.microsoft.com/office/2007/relationships/hdphoto" Target="../media/hdphoto2.wdp"/><Relationship Id="rId4" Type="http://schemas.openxmlformats.org/officeDocument/2006/relationships/image" Target="../media/image14.png"/><Relationship Id="rId9" Type="http://schemas.microsoft.com/office/2007/relationships/hdphoto" Target="../media/hdphoto4.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ABDB890A-D2C7-4410-B94D-76E4F9157698}"/>
              </a:ext>
            </a:extLst>
          </p:cNvPr>
          <p:cNvSpPr/>
          <p:nvPr/>
        </p:nvSpPr>
        <p:spPr>
          <a:xfrm>
            <a:off x="1480457" y="832393"/>
            <a:ext cx="9231086" cy="2220296"/>
          </a:xfrm>
          <a:prstGeom prst="roundRect">
            <a:avLst>
              <a:gd name="adj" fmla="val 3813"/>
            </a:avLst>
          </a:prstGeom>
          <a:solidFill>
            <a:srgbClr val="FFFFFF">
              <a:alpha val="30196"/>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80000"/>
              </a:lnSpc>
              <a:spcBef>
                <a:spcPts val="0"/>
              </a:spcBef>
              <a:spcAft>
                <a:spcPts val="0"/>
              </a:spcAft>
              <a:buClrTx/>
              <a:buSzTx/>
              <a:buFontTx/>
              <a:buNone/>
              <a:tabLst/>
              <a:defRPr/>
            </a:pPr>
            <a:r>
              <a:rPr lang="fr-FR" sz="6000" dirty="0">
                <a:solidFill>
                  <a:prstClr val="white"/>
                </a:solidFill>
                <a:latin typeface="Segoe UI" panose="020B0502040204020203" pitchFamily="34" charset="0"/>
                <a:cs typeface="Segoe UI" panose="020B0502040204020203" pitchFamily="34" charset="0"/>
              </a:rPr>
              <a:t>L’OCRF – </a:t>
            </a:r>
            <a:r>
              <a:rPr lang="fr-FR" sz="6000" dirty="0" err="1">
                <a:solidFill>
                  <a:prstClr val="white"/>
                </a:solidFill>
                <a:latin typeface="Segoe UI" panose="020B0502040204020203" pitchFamily="34" charset="0"/>
                <a:cs typeface="Segoe UI" panose="020B0502040204020203" pitchFamily="34" charset="0"/>
              </a:rPr>
              <a:t>Agentic</a:t>
            </a:r>
            <a:r>
              <a:rPr lang="fr-FR" sz="6000" dirty="0">
                <a:solidFill>
                  <a:prstClr val="white"/>
                </a:solidFill>
                <a:latin typeface="Segoe UI" panose="020B0502040204020203" pitchFamily="34" charset="0"/>
                <a:cs typeface="Segoe UI" panose="020B0502040204020203" pitchFamily="34" charset="0"/>
              </a:rPr>
              <a:t> AI</a:t>
            </a:r>
            <a:endParaRPr kumimoji="0" lang="fr-FR" sz="60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3" name="Rectangle : coins arrondis 2">
            <a:extLst>
              <a:ext uri="{FF2B5EF4-FFF2-40B4-BE49-F238E27FC236}">
                <a16:creationId xmlns:a16="http://schemas.microsoft.com/office/drawing/2014/main" id="{B8273833-4A0C-493E-9351-8DA4CB9D7BD3}"/>
              </a:ext>
            </a:extLst>
          </p:cNvPr>
          <p:cNvSpPr/>
          <p:nvPr/>
        </p:nvSpPr>
        <p:spPr>
          <a:xfrm>
            <a:off x="6727706" y="4346916"/>
            <a:ext cx="3983838" cy="1029231"/>
          </a:xfrm>
          <a:prstGeom prst="roundRect">
            <a:avLst>
              <a:gd name="adj" fmla="val 3813"/>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lnSpc>
                <a:spcPct val="80000"/>
              </a:lnSpc>
              <a:defRPr/>
            </a:pPr>
            <a:r>
              <a:rPr kumimoji="0" lang="fr-FR" sz="20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Ayoub E.</a:t>
            </a:r>
          </a:p>
          <a:p>
            <a:pPr marL="0" marR="0" lvl="0" indent="0" algn="r" defTabSz="914400" rtl="0" eaLnBrk="1" fontAlgn="auto" latinLnBrk="0" hangingPunct="1">
              <a:lnSpc>
                <a:spcPct val="80000"/>
              </a:lnSpc>
              <a:spcBef>
                <a:spcPts val="0"/>
              </a:spcBef>
              <a:spcAft>
                <a:spcPts val="0"/>
              </a:spcAft>
              <a:buClrTx/>
              <a:buSzTx/>
              <a:buFontTx/>
              <a:buNone/>
              <a:tabLst/>
              <a:defRPr/>
            </a:pPr>
            <a:r>
              <a:rPr lang="fr-FR" sz="2000" dirty="0" err="1">
                <a:solidFill>
                  <a:prstClr val="white"/>
                </a:solidFill>
                <a:latin typeface="Segoe UI" panose="020B0502040204020203" pitchFamily="34" charset="0"/>
                <a:cs typeface="Segoe UI" panose="020B0502040204020203" pitchFamily="34" charset="0"/>
              </a:rPr>
              <a:t>Moad</a:t>
            </a:r>
            <a:r>
              <a:rPr lang="fr-FR" sz="2000" dirty="0">
                <a:solidFill>
                  <a:prstClr val="white"/>
                </a:solidFill>
                <a:latin typeface="Segoe UI" panose="020B0502040204020203" pitchFamily="34" charset="0"/>
                <a:cs typeface="Segoe UI" panose="020B0502040204020203" pitchFamily="34" charset="0"/>
              </a:rPr>
              <a:t> I.</a:t>
            </a:r>
          </a:p>
        </p:txBody>
      </p:sp>
    </p:spTree>
    <p:extLst>
      <p:ext uri="{BB962C8B-B14F-4D97-AF65-F5344CB8AC3E}">
        <p14:creationId xmlns:p14="http://schemas.microsoft.com/office/powerpoint/2010/main" val="342682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fontScale="90000"/>
          </a:bodyPr>
          <a:lstStyle/>
          <a:p>
            <a:r>
              <a:rPr lang="fr-FR" dirty="0">
                <a:solidFill>
                  <a:schemeClr val="accent2"/>
                </a:solidFill>
                <a:latin typeface="Segoe UI" panose="020B0502040204020203" pitchFamily="34" charset="0"/>
                <a:cs typeface="Segoe UI" panose="020B0502040204020203" pitchFamily="34" charset="0"/>
              </a:rPr>
              <a:t>De l’outil d’assistance à un acteur de </a:t>
            </a:r>
            <a:r>
              <a:rPr lang="fr-FR" dirty="0" err="1">
                <a:solidFill>
                  <a:schemeClr val="accent2"/>
                </a:solidFill>
                <a:latin typeface="Segoe UI" panose="020B0502040204020203" pitchFamily="34" charset="0"/>
                <a:cs typeface="Segoe UI" panose="020B0502040204020203" pitchFamily="34" charset="0"/>
              </a:rPr>
              <a:t>delivery</a:t>
            </a:r>
            <a:endParaRPr lang="fr-FR" dirty="0">
              <a:solidFill>
                <a:schemeClr val="accent2"/>
              </a:solidFill>
              <a:latin typeface="Segoe UI" panose="020B0502040204020203" pitchFamily="34" charset="0"/>
              <a:cs typeface="Segoe UI" panose="020B0502040204020203" pitchFamily="34" charset="0"/>
            </a:endParaRP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en-US" sz="2100" i="1" dirty="0">
                <a:solidFill>
                  <a:srgbClr val="835CF5"/>
                </a:solidFill>
                <a:latin typeface="Segoe UI" panose="020B0502040204020203" pitchFamily="34" charset="0"/>
                <a:ea typeface="IBM Plex Sans" pitchFamily="34" charset="-122"/>
                <a:cs typeface="Segoe UI" panose="020B0502040204020203" pitchFamily="34" charset="0"/>
              </a:rPr>
              <a:t>De l'outil d'assistance à l'acteur du delivery</a:t>
            </a:r>
            <a:endParaRPr lang="en-US" sz="2100" dirty="0">
              <a:solidFill>
                <a:srgbClr val="835CF5"/>
              </a:solidFill>
              <a:latin typeface="Segoe UI" panose="020B0502040204020203" pitchFamily="34" charset="0"/>
              <a:cs typeface="Segoe UI" panose="020B0502040204020203" pitchFamily="34" charset="0"/>
            </a:endParaRPr>
          </a:p>
        </p:txBody>
      </p:sp>
      <p:sp>
        <p:nvSpPr>
          <p:cNvPr id="14" name="Text 16">
            <a:extLst>
              <a:ext uri="{FF2B5EF4-FFF2-40B4-BE49-F238E27FC236}">
                <a16:creationId xmlns:a16="http://schemas.microsoft.com/office/drawing/2014/main" id="{F6AFE356-4A7E-42AF-91F4-9AF0D6E8F87C}"/>
              </a:ext>
            </a:extLst>
          </p:cNvPr>
          <p:cNvSpPr/>
          <p:nvPr/>
        </p:nvSpPr>
        <p:spPr>
          <a:xfrm>
            <a:off x="548640" y="1818465"/>
            <a:ext cx="10600006" cy="1280160"/>
          </a:xfrm>
          <a:prstGeom prst="rect">
            <a:avLst/>
          </a:prstGeom>
          <a:noFill/>
          <a:ln/>
        </p:spPr>
        <p:txBody>
          <a:bodyPr wrap="square" rtlCol="0" anchor="ctr"/>
          <a:lstStyle/>
          <a:p>
            <a:pPr marL="0" indent="0">
              <a:lnSpc>
                <a:spcPct val="125000"/>
              </a:lnSpc>
              <a:buNone/>
            </a:pPr>
            <a:r>
              <a:rPr lang="fr-FR" sz="1500" dirty="0">
                <a:latin typeface="Segoe UI" panose="020B0502040204020203" pitchFamily="34" charset="0"/>
                <a:ea typeface="IBM Plex Sans" pitchFamily="34" charset="-122"/>
                <a:cs typeface="Segoe UI" panose="020B0502040204020203" pitchFamily="34" charset="0"/>
              </a:rPr>
              <a:t>L'IA générative améliore déjà la productivité des équipes, mais ce n'est que la première étape. Le vrai changement est plus profond : l’IA </a:t>
            </a:r>
            <a:r>
              <a:rPr lang="fr-FR" sz="1500" dirty="0" err="1">
                <a:latin typeface="Segoe UI" panose="020B0502040204020203" pitchFamily="34" charset="0"/>
                <a:ea typeface="IBM Plex Sans" pitchFamily="34" charset="-122"/>
                <a:cs typeface="Segoe UI" panose="020B0502040204020203" pitchFamily="34" charset="0"/>
              </a:rPr>
              <a:t>Agentic</a:t>
            </a:r>
            <a:r>
              <a:rPr lang="fr-FR" sz="1500" dirty="0">
                <a:latin typeface="Segoe UI" panose="020B0502040204020203" pitchFamily="34" charset="0"/>
                <a:ea typeface="IBM Plex Sans" pitchFamily="34" charset="-122"/>
                <a:cs typeface="Segoe UI" panose="020B0502040204020203" pitchFamily="34" charset="0"/>
              </a:rPr>
              <a:t> ne se contente plus d'assister — elle devient un contributeur actif du cycle de développement logiciel, aux côtés des équipes humaines.</a:t>
            </a:r>
            <a:endParaRPr lang="fr-FR" sz="1500" dirty="0">
              <a:latin typeface="Segoe UI" panose="020B0502040204020203" pitchFamily="34" charset="0"/>
              <a:cs typeface="Segoe UI" panose="020B0502040204020203" pitchFamily="34" charset="0"/>
            </a:endParaRPr>
          </a:p>
        </p:txBody>
      </p:sp>
      <p:sp>
        <p:nvSpPr>
          <p:cNvPr id="15" name="Shape 17">
            <a:extLst>
              <a:ext uri="{FF2B5EF4-FFF2-40B4-BE49-F238E27FC236}">
                <a16:creationId xmlns:a16="http://schemas.microsoft.com/office/drawing/2014/main" id="{3DDA08B5-0B69-40A1-B84B-7E977223D3E3}"/>
              </a:ext>
            </a:extLst>
          </p:cNvPr>
          <p:cNvSpPr/>
          <p:nvPr/>
        </p:nvSpPr>
        <p:spPr>
          <a:xfrm>
            <a:off x="612648" y="3236760"/>
            <a:ext cx="2514600" cy="502920"/>
          </a:xfrm>
          <a:prstGeom prst="rect">
            <a:avLst/>
          </a:prstGeom>
          <a:noFill/>
          <a:ln w="9525">
            <a:solidFill>
              <a:srgbClr val="835CF5"/>
            </a:solidFill>
            <a:prstDash val="solid"/>
          </a:ln>
        </p:spPr>
      </p:sp>
      <p:sp>
        <p:nvSpPr>
          <p:cNvPr id="16" name="Shape 18">
            <a:extLst>
              <a:ext uri="{FF2B5EF4-FFF2-40B4-BE49-F238E27FC236}">
                <a16:creationId xmlns:a16="http://schemas.microsoft.com/office/drawing/2014/main" id="{05EA8BAE-1539-4502-9ECF-F4A452A43646}"/>
              </a:ext>
            </a:extLst>
          </p:cNvPr>
          <p:cNvSpPr/>
          <p:nvPr/>
        </p:nvSpPr>
        <p:spPr>
          <a:xfrm>
            <a:off x="612648" y="3236760"/>
            <a:ext cx="54864" cy="502920"/>
          </a:xfrm>
          <a:prstGeom prst="rect">
            <a:avLst/>
          </a:prstGeom>
          <a:solidFill>
            <a:srgbClr val="835CF5"/>
          </a:solidFill>
          <a:ln>
            <a:solidFill>
              <a:srgbClr val="835CF5"/>
            </a:solidFill>
          </a:ln>
        </p:spPr>
      </p:sp>
      <p:sp>
        <p:nvSpPr>
          <p:cNvPr id="17" name="Text 19">
            <a:extLst>
              <a:ext uri="{FF2B5EF4-FFF2-40B4-BE49-F238E27FC236}">
                <a16:creationId xmlns:a16="http://schemas.microsoft.com/office/drawing/2014/main" id="{6B49F9E0-4B80-4832-870E-A67F237AE538}"/>
              </a:ext>
            </a:extLst>
          </p:cNvPr>
          <p:cNvSpPr/>
          <p:nvPr/>
        </p:nvSpPr>
        <p:spPr>
          <a:xfrm>
            <a:off x="749808" y="3236760"/>
            <a:ext cx="2331720"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Membres d'équipe</a:t>
            </a:r>
            <a:endParaRPr lang="en-US" sz="1100" b="1" dirty="0">
              <a:latin typeface="Segoe UI" panose="020B0502040204020203" pitchFamily="34" charset="0"/>
              <a:cs typeface="Segoe UI" panose="020B0502040204020203" pitchFamily="34" charset="0"/>
            </a:endParaRPr>
          </a:p>
        </p:txBody>
      </p:sp>
      <p:sp>
        <p:nvSpPr>
          <p:cNvPr id="18" name="Shape 20">
            <a:extLst>
              <a:ext uri="{FF2B5EF4-FFF2-40B4-BE49-F238E27FC236}">
                <a16:creationId xmlns:a16="http://schemas.microsoft.com/office/drawing/2014/main" id="{E7854CBD-EB6A-448A-900B-D8B34B973D00}"/>
              </a:ext>
            </a:extLst>
          </p:cNvPr>
          <p:cNvSpPr/>
          <p:nvPr/>
        </p:nvSpPr>
        <p:spPr>
          <a:xfrm>
            <a:off x="3310128" y="3236760"/>
            <a:ext cx="2514600" cy="502920"/>
          </a:xfrm>
          <a:prstGeom prst="rect">
            <a:avLst/>
          </a:prstGeom>
          <a:noFill/>
          <a:ln w="9525">
            <a:solidFill>
              <a:srgbClr val="835CF5"/>
            </a:solidFill>
            <a:prstDash val="solid"/>
          </a:ln>
        </p:spPr>
      </p:sp>
      <p:sp>
        <p:nvSpPr>
          <p:cNvPr id="19" name="Shape 21">
            <a:extLst>
              <a:ext uri="{FF2B5EF4-FFF2-40B4-BE49-F238E27FC236}">
                <a16:creationId xmlns:a16="http://schemas.microsoft.com/office/drawing/2014/main" id="{D12EFD22-D137-48DF-BFAF-C0E4562E43CF}"/>
              </a:ext>
            </a:extLst>
          </p:cNvPr>
          <p:cNvSpPr/>
          <p:nvPr/>
        </p:nvSpPr>
        <p:spPr>
          <a:xfrm>
            <a:off x="3310128" y="3236760"/>
            <a:ext cx="54864" cy="502920"/>
          </a:xfrm>
          <a:prstGeom prst="rect">
            <a:avLst/>
          </a:prstGeom>
          <a:solidFill>
            <a:srgbClr val="835CF5"/>
          </a:solidFill>
          <a:ln>
            <a:solidFill>
              <a:srgbClr val="835CF5"/>
            </a:solidFill>
          </a:ln>
        </p:spPr>
      </p:sp>
      <p:sp>
        <p:nvSpPr>
          <p:cNvPr id="20" name="Text 22">
            <a:extLst>
              <a:ext uri="{FF2B5EF4-FFF2-40B4-BE49-F238E27FC236}">
                <a16:creationId xmlns:a16="http://schemas.microsoft.com/office/drawing/2014/main" id="{1171D117-195E-431B-8211-B0D426AF3D56}"/>
              </a:ext>
            </a:extLst>
          </p:cNvPr>
          <p:cNvSpPr/>
          <p:nvPr/>
        </p:nvSpPr>
        <p:spPr>
          <a:xfrm>
            <a:off x="3447288" y="3236760"/>
            <a:ext cx="2331720"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Delivery élargi</a:t>
            </a:r>
            <a:endParaRPr lang="en-US" sz="1100" b="1" dirty="0">
              <a:latin typeface="Segoe UI" panose="020B0502040204020203" pitchFamily="34" charset="0"/>
              <a:cs typeface="Segoe UI" panose="020B0502040204020203" pitchFamily="34" charset="0"/>
            </a:endParaRPr>
          </a:p>
        </p:txBody>
      </p:sp>
      <p:sp>
        <p:nvSpPr>
          <p:cNvPr id="21" name="Shape 23">
            <a:extLst>
              <a:ext uri="{FF2B5EF4-FFF2-40B4-BE49-F238E27FC236}">
                <a16:creationId xmlns:a16="http://schemas.microsoft.com/office/drawing/2014/main" id="{9470DAF3-764A-4AE4-A0EF-BD2E8C52E9E5}"/>
              </a:ext>
            </a:extLst>
          </p:cNvPr>
          <p:cNvSpPr/>
          <p:nvPr/>
        </p:nvSpPr>
        <p:spPr>
          <a:xfrm>
            <a:off x="6007608" y="3236760"/>
            <a:ext cx="2514600" cy="502920"/>
          </a:xfrm>
          <a:prstGeom prst="rect">
            <a:avLst/>
          </a:prstGeom>
          <a:noFill/>
          <a:ln w="9525">
            <a:solidFill>
              <a:srgbClr val="835CF5"/>
            </a:solidFill>
            <a:prstDash val="solid"/>
          </a:ln>
        </p:spPr>
      </p:sp>
      <p:sp>
        <p:nvSpPr>
          <p:cNvPr id="22" name="Shape 24">
            <a:extLst>
              <a:ext uri="{FF2B5EF4-FFF2-40B4-BE49-F238E27FC236}">
                <a16:creationId xmlns:a16="http://schemas.microsoft.com/office/drawing/2014/main" id="{1739FA26-E733-4002-A60C-983BFD7DBE5B}"/>
              </a:ext>
            </a:extLst>
          </p:cNvPr>
          <p:cNvSpPr/>
          <p:nvPr/>
        </p:nvSpPr>
        <p:spPr>
          <a:xfrm>
            <a:off x="6007608" y="3236760"/>
            <a:ext cx="54864" cy="502920"/>
          </a:xfrm>
          <a:prstGeom prst="rect">
            <a:avLst/>
          </a:prstGeom>
          <a:solidFill>
            <a:srgbClr val="835CF5"/>
          </a:solidFill>
          <a:ln>
            <a:solidFill>
              <a:srgbClr val="835CF5"/>
            </a:solidFill>
          </a:ln>
        </p:spPr>
      </p:sp>
      <p:sp>
        <p:nvSpPr>
          <p:cNvPr id="23" name="Text 25">
            <a:extLst>
              <a:ext uri="{FF2B5EF4-FFF2-40B4-BE49-F238E27FC236}">
                <a16:creationId xmlns:a16="http://schemas.microsoft.com/office/drawing/2014/main" id="{2278381C-33EF-4499-8F38-78A1BDA6CC31}"/>
              </a:ext>
            </a:extLst>
          </p:cNvPr>
          <p:cNvSpPr/>
          <p:nvPr/>
        </p:nvSpPr>
        <p:spPr>
          <a:xfrm>
            <a:off x="6144768" y="3236760"/>
            <a:ext cx="2331720"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Mémoire partagée</a:t>
            </a:r>
            <a:endParaRPr lang="en-US" sz="1100" b="1" dirty="0">
              <a:latin typeface="Segoe UI" panose="020B0502040204020203" pitchFamily="34" charset="0"/>
              <a:cs typeface="Segoe UI" panose="020B0502040204020203" pitchFamily="34" charset="0"/>
            </a:endParaRPr>
          </a:p>
        </p:txBody>
      </p:sp>
      <p:sp>
        <p:nvSpPr>
          <p:cNvPr id="24" name="Shape 26">
            <a:extLst>
              <a:ext uri="{FF2B5EF4-FFF2-40B4-BE49-F238E27FC236}">
                <a16:creationId xmlns:a16="http://schemas.microsoft.com/office/drawing/2014/main" id="{A1E69107-EDCD-4C50-BE26-095BB6D5C563}"/>
              </a:ext>
            </a:extLst>
          </p:cNvPr>
          <p:cNvSpPr/>
          <p:nvPr/>
        </p:nvSpPr>
        <p:spPr>
          <a:xfrm>
            <a:off x="8705088" y="3236760"/>
            <a:ext cx="2514600" cy="502920"/>
          </a:xfrm>
          <a:prstGeom prst="rect">
            <a:avLst/>
          </a:prstGeom>
          <a:noFill/>
          <a:ln w="9525">
            <a:solidFill>
              <a:srgbClr val="835CF5"/>
            </a:solidFill>
            <a:prstDash val="solid"/>
          </a:ln>
        </p:spPr>
      </p:sp>
      <p:sp>
        <p:nvSpPr>
          <p:cNvPr id="25" name="Shape 27">
            <a:extLst>
              <a:ext uri="{FF2B5EF4-FFF2-40B4-BE49-F238E27FC236}">
                <a16:creationId xmlns:a16="http://schemas.microsoft.com/office/drawing/2014/main" id="{540540E1-AE9A-4CC5-91D6-95CE9F7B56D7}"/>
              </a:ext>
            </a:extLst>
          </p:cNvPr>
          <p:cNvSpPr/>
          <p:nvPr/>
        </p:nvSpPr>
        <p:spPr>
          <a:xfrm>
            <a:off x="8705088" y="3236760"/>
            <a:ext cx="54864" cy="502920"/>
          </a:xfrm>
          <a:prstGeom prst="rect">
            <a:avLst/>
          </a:prstGeom>
          <a:solidFill>
            <a:srgbClr val="835CF5"/>
          </a:solidFill>
          <a:ln>
            <a:solidFill>
              <a:srgbClr val="835CF5"/>
            </a:solidFill>
          </a:ln>
        </p:spPr>
      </p:sp>
      <p:sp>
        <p:nvSpPr>
          <p:cNvPr id="26" name="Text 28">
            <a:extLst>
              <a:ext uri="{FF2B5EF4-FFF2-40B4-BE49-F238E27FC236}">
                <a16:creationId xmlns:a16="http://schemas.microsoft.com/office/drawing/2014/main" id="{3B769C5C-6C38-4A21-9953-CBD872338442}"/>
              </a:ext>
            </a:extLst>
          </p:cNvPr>
          <p:cNvSpPr/>
          <p:nvPr/>
        </p:nvSpPr>
        <p:spPr>
          <a:xfrm>
            <a:off x="8842248" y="3236760"/>
            <a:ext cx="2331720"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Modèle réinventé</a:t>
            </a:r>
            <a:endParaRPr lang="en-US" sz="1100" b="1" dirty="0">
              <a:latin typeface="Segoe UI" panose="020B0502040204020203" pitchFamily="34" charset="0"/>
              <a:cs typeface="Segoe UI" panose="020B0502040204020203" pitchFamily="34" charset="0"/>
            </a:endParaRPr>
          </a:p>
        </p:txBody>
      </p:sp>
      <p:sp>
        <p:nvSpPr>
          <p:cNvPr id="27" name="Text 19">
            <a:extLst>
              <a:ext uri="{FF2B5EF4-FFF2-40B4-BE49-F238E27FC236}">
                <a16:creationId xmlns:a16="http://schemas.microsoft.com/office/drawing/2014/main" id="{DFBB19D0-7709-4759-A43A-806E22C5EB9B}"/>
              </a:ext>
            </a:extLst>
          </p:cNvPr>
          <p:cNvSpPr/>
          <p:nvPr/>
        </p:nvSpPr>
        <p:spPr>
          <a:xfrm>
            <a:off x="612648" y="3863351"/>
            <a:ext cx="2514600" cy="1605463"/>
          </a:xfrm>
          <a:prstGeom prst="rect">
            <a:avLst/>
          </a:prstGeom>
          <a:noFill/>
          <a:ln/>
        </p:spPr>
        <p:txBody>
          <a:bodyPr wrap="square" rtlCol="0" anchor="t"/>
          <a:lstStyle/>
          <a:p>
            <a:pPr marL="0" indent="0">
              <a:lnSpc>
                <a:spcPct val="118000"/>
              </a:lnSpc>
              <a:buNone/>
            </a:pPr>
            <a:r>
              <a:rPr lang="fr-FR" sz="1000" dirty="0">
                <a:solidFill>
                  <a:srgbClr val="525252"/>
                </a:solidFill>
                <a:latin typeface="IBM Plex Sans" pitchFamily="34" charset="0"/>
                <a:ea typeface="IBM Plex Sans" pitchFamily="34" charset="-122"/>
                <a:cs typeface="IBM Plex Sans" pitchFamily="34" charset="-120"/>
              </a:rPr>
              <a:t>Les agents ne sont plus des outils passifs : </a:t>
            </a:r>
          </a:p>
          <a:p>
            <a:pPr marL="171450" indent="-171450">
              <a:lnSpc>
                <a:spcPct val="118000"/>
              </a:lnSpc>
              <a:buFont typeface="Arial" panose="020B0604020202020204" pitchFamily="34" charset="0"/>
              <a:buChar char="•"/>
            </a:pPr>
            <a:r>
              <a:rPr lang="fr-FR" sz="1000" dirty="0">
                <a:solidFill>
                  <a:srgbClr val="525252"/>
                </a:solidFill>
                <a:latin typeface="IBM Plex Sans" pitchFamily="34" charset="0"/>
                <a:ea typeface="IBM Plex Sans" pitchFamily="34" charset="-122"/>
                <a:cs typeface="IBM Plex Sans" pitchFamily="34" charset="-120"/>
              </a:rPr>
              <a:t>ils participent aux échanges, donnent du feedback, </a:t>
            </a:r>
          </a:p>
          <a:p>
            <a:pPr marL="171450" indent="-171450">
              <a:lnSpc>
                <a:spcPct val="118000"/>
              </a:lnSpc>
              <a:buFont typeface="Arial" panose="020B0604020202020204" pitchFamily="34" charset="0"/>
              <a:buChar char="•"/>
            </a:pPr>
            <a:r>
              <a:rPr lang="fr-FR" sz="1000" dirty="0">
                <a:solidFill>
                  <a:srgbClr val="525252"/>
                </a:solidFill>
                <a:latin typeface="IBM Plex Sans" pitchFamily="34" charset="0"/>
                <a:ea typeface="IBM Plex Sans" pitchFamily="34" charset="-122"/>
                <a:cs typeface="IBM Plex Sans" pitchFamily="34" charset="-120"/>
              </a:rPr>
              <a:t>couvrent des expertises et déchargent la charge cognitive répétitive.</a:t>
            </a:r>
            <a:endParaRPr lang="fr-FR" sz="1000" dirty="0"/>
          </a:p>
        </p:txBody>
      </p:sp>
      <p:sp>
        <p:nvSpPr>
          <p:cNvPr id="28" name="Text 19">
            <a:extLst>
              <a:ext uri="{FF2B5EF4-FFF2-40B4-BE49-F238E27FC236}">
                <a16:creationId xmlns:a16="http://schemas.microsoft.com/office/drawing/2014/main" id="{81A5BD2A-9DBE-4CEA-BAE5-77F128630955}"/>
              </a:ext>
            </a:extLst>
          </p:cNvPr>
          <p:cNvSpPr/>
          <p:nvPr/>
        </p:nvSpPr>
        <p:spPr>
          <a:xfrm>
            <a:off x="3310128" y="3877815"/>
            <a:ext cx="2514600" cy="1605463"/>
          </a:xfrm>
          <a:prstGeom prst="rect">
            <a:avLst/>
          </a:prstGeom>
          <a:noFill/>
          <a:ln/>
        </p:spPr>
        <p:txBody>
          <a:bodyPr wrap="square" rtlCol="0" anchor="t"/>
          <a:lstStyle/>
          <a:p>
            <a:pPr marL="0" indent="0">
              <a:lnSpc>
                <a:spcPct val="118000"/>
              </a:lnSpc>
              <a:buNone/>
            </a:pPr>
            <a:r>
              <a:rPr lang="fr-FR" sz="1000" dirty="0">
                <a:solidFill>
                  <a:srgbClr val="525252"/>
                </a:solidFill>
                <a:latin typeface="IBM Plex Sans" pitchFamily="34" charset="0"/>
                <a:ea typeface="IBM Plex Sans" pitchFamily="34" charset="-122"/>
                <a:cs typeface="IBM Plex Sans" pitchFamily="34" charset="-120"/>
              </a:rPr>
              <a:t>Les agents ne sont plus des outils passifs : ils participent aux échanges, donnent du feedback, couvrent des expertises et déchargent la charge cognitive répétitive.</a:t>
            </a:r>
            <a:endParaRPr lang="fr-FR" sz="1000" dirty="0"/>
          </a:p>
        </p:txBody>
      </p:sp>
    </p:spTree>
    <p:extLst>
      <p:ext uri="{BB962C8B-B14F-4D97-AF65-F5344CB8AC3E}">
        <p14:creationId xmlns:p14="http://schemas.microsoft.com/office/powerpoint/2010/main" val="2585573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fontScale="90000"/>
          </a:bodyPr>
          <a:lstStyle/>
          <a:p>
            <a:r>
              <a:rPr lang="fr-FR" dirty="0">
                <a:solidFill>
                  <a:schemeClr val="accent2"/>
                </a:solidFill>
                <a:latin typeface="Segoe UI" panose="020B0502040204020203" pitchFamily="34" charset="0"/>
                <a:cs typeface="Segoe UI" panose="020B0502040204020203" pitchFamily="34" charset="0"/>
              </a:rPr>
              <a:t>Une évolution des rôles</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De l’</a:t>
            </a:r>
            <a:r>
              <a:rPr lang="fr-FR" sz="2100" i="1" dirty="0" err="1">
                <a:solidFill>
                  <a:srgbClr val="835CF5"/>
                </a:solidFill>
                <a:latin typeface="Segoe UI" panose="020B0502040204020203" pitchFamily="34" charset="0"/>
                <a:ea typeface="IBM Plex Sans" pitchFamily="34" charset="-122"/>
                <a:cs typeface="Segoe UI" panose="020B0502040204020203" pitchFamily="34" charset="0"/>
              </a:rPr>
              <a:t>éxécution</a:t>
            </a: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 à la supervision</a:t>
            </a:r>
            <a:endParaRPr lang="fr-FR" sz="2100" dirty="0">
              <a:solidFill>
                <a:srgbClr val="835CF5"/>
              </a:solidFill>
              <a:latin typeface="Segoe UI" panose="020B0502040204020203" pitchFamily="34" charset="0"/>
              <a:cs typeface="Segoe UI" panose="020B0502040204020203" pitchFamily="34" charset="0"/>
            </a:endParaRPr>
          </a:p>
        </p:txBody>
      </p:sp>
      <p:sp>
        <p:nvSpPr>
          <p:cNvPr id="16" name="Shape 18">
            <a:extLst>
              <a:ext uri="{FF2B5EF4-FFF2-40B4-BE49-F238E27FC236}">
                <a16:creationId xmlns:a16="http://schemas.microsoft.com/office/drawing/2014/main" id="{05EA8BAE-1539-4502-9ECF-F4A452A43646}"/>
              </a:ext>
            </a:extLst>
          </p:cNvPr>
          <p:cNvSpPr/>
          <p:nvPr/>
        </p:nvSpPr>
        <p:spPr>
          <a:xfrm rot="5400000">
            <a:off x="2031725" y="2219074"/>
            <a:ext cx="45719" cy="2514599"/>
          </a:xfrm>
          <a:prstGeom prst="rect">
            <a:avLst/>
          </a:prstGeom>
          <a:solidFill>
            <a:srgbClr val="835CF5"/>
          </a:solidFill>
          <a:ln>
            <a:solidFill>
              <a:srgbClr val="835CF5"/>
            </a:solidFill>
          </a:ln>
        </p:spPr>
      </p:sp>
      <p:sp>
        <p:nvSpPr>
          <p:cNvPr id="17" name="Text 19">
            <a:extLst>
              <a:ext uri="{FF2B5EF4-FFF2-40B4-BE49-F238E27FC236}">
                <a16:creationId xmlns:a16="http://schemas.microsoft.com/office/drawing/2014/main" id="{6B49F9E0-4B80-4832-870E-A67F237AE538}"/>
              </a:ext>
            </a:extLst>
          </p:cNvPr>
          <p:cNvSpPr/>
          <p:nvPr/>
        </p:nvSpPr>
        <p:spPr>
          <a:xfrm>
            <a:off x="1382501" y="3613429"/>
            <a:ext cx="1929383"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Chef de </a:t>
            </a:r>
            <a:r>
              <a:rPr lang="en-US" sz="1100" b="1" dirty="0" err="1">
                <a:latin typeface="Segoe UI" panose="020B0502040204020203" pitchFamily="34" charset="0"/>
                <a:ea typeface="IBM Plex Mono" pitchFamily="34" charset="-122"/>
                <a:cs typeface="Segoe UI" panose="020B0502040204020203" pitchFamily="34" charset="0"/>
              </a:rPr>
              <a:t>projet</a:t>
            </a:r>
            <a:endParaRPr lang="en-US" sz="1100" b="1" dirty="0">
              <a:latin typeface="Segoe UI" panose="020B0502040204020203" pitchFamily="34" charset="0"/>
              <a:cs typeface="Segoe UI" panose="020B0502040204020203" pitchFamily="34" charset="0"/>
            </a:endParaRPr>
          </a:p>
        </p:txBody>
      </p:sp>
      <p:sp>
        <p:nvSpPr>
          <p:cNvPr id="29" name="Shape 17">
            <a:extLst>
              <a:ext uri="{FF2B5EF4-FFF2-40B4-BE49-F238E27FC236}">
                <a16:creationId xmlns:a16="http://schemas.microsoft.com/office/drawing/2014/main" id="{C8FCAC26-FB1D-4E8A-A963-310855E1DC06}"/>
              </a:ext>
            </a:extLst>
          </p:cNvPr>
          <p:cNvSpPr/>
          <p:nvPr/>
        </p:nvSpPr>
        <p:spPr>
          <a:xfrm>
            <a:off x="797285" y="3563184"/>
            <a:ext cx="2514600" cy="2176433"/>
          </a:xfrm>
          <a:prstGeom prst="rect">
            <a:avLst/>
          </a:prstGeom>
          <a:noFill/>
          <a:ln w="9525">
            <a:solidFill>
              <a:srgbClr val="835CF5"/>
            </a:solidFill>
            <a:prstDash val="solid"/>
          </a:ln>
        </p:spPr>
      </p:sp>
      <p:sp>
        <p:nvSpPr>
          <p:cNvPr id="31" name="Text 19">
            <a:extLst>
              <a:ext uri="{FF2B5EF4-FFF2-40B4-BE49-F238E27FC236}">
                <a16:creationId xmlns:a16="http://schemas.microsoft.com/office/drawing/2014/main" id="{7413938A-2544-4B11-B0F4-FE658E224C31}"/>
              </a:ext>
            </a:extLst>
          </p:cNvPr>
          <p:cNvSpPr/>
          <p:nvPr/>
        </p:nvSpPr>
        <p:spPr>
          <a:xfrm>
            <a:off x="916157" y="4217667"/>
            <a:ext cx="2310619" cy="537737"/>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Aujourd’hui</a:t>
            </a:r>
            <a:r>
              <a:rPr lang="en-US" sz="900" b="1" dirty="0">
                <a:latin typeface="Segoe UI" panose="020B0502040204020203" pitchFamily="34" charset="0"/>
                <a:ea typeface="IBM Plex Mono" pitchFamily="34" charset="-122"/>
                <a:cs typeface="Segoe UI" panose="020B0502040204020203" pitchFamily="34" charset="0"/>
              </a:rPr>
              <a:t> </a:t>
            </a:r>
          </a:p>
          <a:p>
            <a:pPr marL="176213" lvl="1"/>
            <a:r>
              <a:rPr lang="en-US" sz="900" dirty="0">
                <a:latin typeface="Segoe UI" panose="020B0502040204020203" pitchFamily="34" charset="0"/>
                <a:ea typeface="IBM Plex Sans" pitchFamily="34" charset="-122"/>
                <a:cs typeface="Segoe UI" panose="020B0502040204020203" pitchFamily="34" charset="0"/>
              </a:rPr>
              <a:t>Planning, </a:t>
            </a:r>
            <a:r>
              <a:rPr lang="en-US" sz="900" dirty="0" err="1">
                <a:latin typeface="Segoe UI" panose="020B0502040204020203" pitchFamily="34" charset="0"/>
                <a:ea typeface="IBM Plex Sans" pitchFamily="34" charset="-122"/>
                <a:cs typeface="Segoe UI" panose="020B0502040204020203" pitchFamily="34" charset="0"/>
              </a:rPr>
              <a:t>suivi</a:t>
            </a:r>
            <a:r>
              <a:rPr lang="en-US" sz="900" dirty="0">
                <a:latin typeface="Segoe UI" panose="020B0502040204020203" pitchFamily="34" charset="0"/>
                <a:ea typeface="IBM Plex Sans" pitchFamily="34" charset="-122"/>
                <a:cs typeface="Segoe UI" panose="020B0502040204020203" pitchFamily="34" charset="0"/>
              </a:rPr>
              <a:t>, coordination, reporting.</a:t>
            </a:r>
            <a:endParaRPr lang="en-US" sz="900" dirty="0">
              <a:latin typeface="Segoe UI" panose="020B0502040204020203" pitchFamily="34" charset="0"/>
              <a:cs typeface="Segoe UI" panose="020B0502040204020203" pitchFamily="34" charset="0"/>
            </a:endParaRPr>
          </a:p>
          <a:p>
            <a:pPr marL="0" indent="0">
              <a:buNone/>
            </a:pPr>
            <a:endParaRPr lang="en-US" sz="900" dirty="0">
              <a:latin typeface="Segoe UI" panose="020B0502040204020203" pitchFamily="34" charset="0"/>
              <a:cs typeface="Segoe UI" panose="020B0502040204020203" pitchFamily="34" charset="0"/>
            </a:endParaRPr>
          </a:p>
        </p:txBody>
      </p:sp>
      <p:sp>
        <p:nvSpPr>
          <p:cNvPr id="32" name="Text 19">
            <a:extLst>
              <a:ext uri="{FF2B5EF4-FFF2-40B4-BE49-F238E27FC236}">
                <a16:creationId xmlns:a16="http://schemas.microsoft.com/office/drawing/2014/main" id="{1123210A-9C67-445F-BB16-4D5DA987BB47}"/>
              </a:ext>
            </a:extLst>
          </p:cNvPr>
          <p:cNvSpPr/>
          <p:nvPr/>
        </p:nvSpPr>
        <p:spPr>
          <a:xfrm>
            <a:off x="916156" y="4819355"/>
            <a:ext cx="2310619" cy="920262"/>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Demain</a:t>
            </a:r>
            <a:r>
              <a:rPr lang="en-US" sz="900" b="1" dirty="0">
                <a:latin typeface="Segoe UI" panose="020B0502040204020203" pitchFamily="34" charset="0"/>
                <a:ea typeface="IBM Plex Mono" pitchFamily="34" charset="-122"/>
                <a:cs typeface="Segoe UI" panose="020B0502040204020203" pitchFamily="34" charset="0"/>
              </a:rPr>
              <a:t> </a:t>
            </a:r>
          </a:p>
          <a:p>
            <a:pPr marL="176213">
              <a:buNone/>
            </a:pPr>
            <a:r>
              <a:rPr lang="fr-FR" sz="900" dirty="0">
                <a:latin typeface="Segoe UI" panose="020B0502040204020203" pitchFamily="34" charset="0"/>
                <a:ea typeface="IBM Plex Mono" pitchFamily="34" charset="-122"/>
                <a:cs typeface="Segoe UI" panose="020B0502040204020203" pitchFamily="34" charset="0"/>
              </a:rPr>
              <a:t>Pilotage des flux agentiques, supervision, gestion de la dérive, AI </a:t>
            </a:r>
            <a:r>
              <a:rPr lang="fr-FR" sz="900" dirty="0" err="1">
                <a:latin typeface="Segoe UI" panose="020B0502040204020203" pitchFamily="34" charset="0"/>
                <a:ea typeface="IBM Plex Mono" pitchFamily="34" charset="-122"/>
                <a:cs typeface="Segoe UI" panose="020B0502040204020203" pitchFamily="34" charset="0"/>
              </a:rPr>
              <a:t>FinOps</a:t>
            </a:r>
            <a:r>
              <a:rPr lang="fr-FR" sz="900" dirty="0">
                <a:latin typeface="Segoe UI" panose="020B0502040204020203" pitchFamily="34" charset="0"/>
                <a:ea typeface="IBM Plex Mono" pitchFamily="34" charset="-122"/>
                <a:cs typeface="Segoe UI" panose="020B0502040204020203" pitchFamily="34" charset="0"/>
              </a:rPr>
              <a:t> (coût LLM, ROI des agents)</a:t>
            </a:r>
          </a:p>
          <a:p>
            <a:pPr marL="0" indent="0">
              <a:buNone/>
            </a:pPr>
            <a:endParaRPr lang="en-US" sz="900" dirty="0">
              <a:latin typeface="Segoe UI" panose="020B0502040204020203" pitchFamily="34" charset="0"/>
              <a:cs typeface="Segoe UI" panose="020B0502040204020203" pitchFamily="34" charset="0"/>
            </a:endParaRPr>
          </a:p>
        </p:txBody>
      </p:sp>
      <p:sp>
        <p:nvSpPr>
          <p:cNvPr id="33" name="Shape 18">
            <a:extLst>
              <a:ext uri="{FF2B5EF4-FFF2-40B4-BE49-F238E27FC236}">
                <a16:creationId xmlns:a16="http://schemas.microsoft.com/office/drawing/2014/main" id="{E9FA8D1A-B811-4ABB-ABA6-0693FEED4CD7}"/>
              </a:ext>
            </a:extLst>
          </p:cNvPr>
          <p:cNvSpPr/>
          <p:nvPr/>
        </p:nvSpPr>
        <p:spPr>
          <a:xfrm rot="5400000">
            <a:off x="4665195" y="2219074"/>
            <a:ext cx="45719" cy="2514599"/>
          </a:xfrm>
          <a:prstGeom prst="rect">
            <a:avLst/>
          </a:prstGeom>
          <a:solidFill>
            <a:srgbClr val="835CF5"/>
          </a:solidFill>
          <a:ln>
            <a:solidFill>
              <a:srgbClr val="835CF5"/>
            </a:solidFill>
          </a:ln>
        </p:spPr>
      </p:sp>
      <p:sp>
        <p:nvSpPr>
          <p:cNvPr id="34" name="Text 19">
            <a:extLst>
              <a:ext uri="{FF2B5EF4-FFF2-40B4-BE49-F238E27FC236}">
                <a16:creationId xmlns:a16="http://schemas.microsoft.com/office/drawing/2014/main" id="{D302E7D8-7174-49E1-B87F-966499A4F20D}"/>
              </a:ext>
            </a:extLst>
          </p:cNvPr>
          <p:cNvSpPr/>
          <p:nvPr/>
        </p:nvSpPr>
        <p:spPr>
          <a:xfrm>
            <a:off x="4015971" y="3613429"/>
            <a:ext cx="1929383"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Business </a:t>
            </a:r>
            <a:r>
              <a:rPr lang="en-US" sz="1100" b="1" dirty="0" err="1">
                <a:latin typeface="Segoe UI" panose="020B0502040204020203" pitchFamily="34" charset="0"/>
                <a:ea typeface="IBM Plex Mono" pitchFamily="34" charset="-122"/>
                <a:cs typeface="Segoe UI" panose="020B0502040204020203" pitchFamily="34" charset="0"/>
              </a:rPr>
              <a:t>Analyste</a:t>
            </a:r>
            <a:endParaRPr lang="en-US" sz="1100" b="1" dirty="0">
              <a:latin typeface="Segoe UI" panose="020B0502040204020203" pitchFamily="34" charset="0"/>
              <a:cs typeface="Segoe UI" panose="020B0502040204020203" pitchFamily="34" charset="0"/>
            </a:endParaRPr>
          </a:p>
        </p:txBody>
      </p:sp>
      <p:sp>
        <p:nvSpPr>
          <p:cNvPr id="35" name="Shape 17">
            <a:extLst>
              <a:ext uri="{FF2B5EF4-FFF2-40B4-BE49-F238E27FC236}">
                <a16:creationId xmlns:a16="http://schemas.microsoft.com/office/drawing/2014/main" id="{B0B68AF9-41CF-4098-89AA-2545C8DDA750}"/>
              </a:ext>
            </a:extLst>
          </p:cNvPr>
          <p:cNvSpPr/>
          <p:nvPr/>
        </p:nvSpPr>
        <p:spPr>
          <a:xfrm>
            <a:off x="3430755" y="3563184"/>
            <a:ext cx="2514600" cy="2176433"/>
          </a:xfrm>
          <a:prstGeom prst="rect">
            <a:avLst/>
          </a:prstGeom>
          <a:noFill/>
          <a:ln w="9525">
            <a:solidFill>
              <a:srgbClr val="835CF5"/>
            </a:solidFill>
            <a:prstDash val="solid"/>
          </a:ln>
        </p:spPr>
      </p:sp>
      <p:sp>
        <p:nvSpPr>
          <p:cNvPr id="39" name="Shape 18">
            <a:extLst>
              <a:ext uri="{FF2B5EF4-FFF2-40B4-BE49-F238E27FC236}">
                <a16:creationId xmlns:a16="http://schemas.microsoft.com/office/drawing/2014/main" id="{66B233C8-4482-45BB-B4AE-DBD331FEEEDF}"/>
              </a:ext>
            </a:extLst>
          </p:cNvPr>
          <p:cNvSpPr/>
          <p:nvPr/>
        </p:nvSpPr>
        <p:spPr>
          <a:xfrm rot="5400000">
            <a:off x="7265145" y="2219074"/>
            <a:ext cx="45719" cy="2514599"/>
          </a:xfrm>
          <a:prstGeom prst="rect">
            <a:avLst/>
          </a:prstGeom>
          <a:solidFill>
            <a:srgbClr val="835CF5"/>
          </a:solidFill>
          <a:ln>
            <a:solidFill>
              <a:srgbClr val="835CF5"/>
            </a:solidFill>
          </a:ln>
        </p:spPr>
      </p:sp>
      <p:sp>
        <p:nvSpPr>
          <p:cNvPr id="40" name="Text 19">
            <a:extLst>
              <a:ext uri="{FF2B5EF4-FFF2-40B4-BE49-F238E27FC236}">
                <a16:creationId xmlns:a16="http://schemas.microsoft.com/office/drawing/2014/main" id="{39113CA5-1755-4DE7-888E-BBE5118FB9B2}"/>
              </a:ext>
            </a:extLst>
          </p:cNvPr>
          <p:cNvSpPr/>
          <p:nvPr/>
        </p:nvSpPr>
        <p:spPr>
          <a:xfrm>
            <a:off x="6615921" y="3613429"/>
            <a:ext cx="1929383" cy="502920"/>
          </a:xfrm>
          <a:prstGeom prst="rect">
            <a:avLst/>
          </a:prstGeom>
          <a:noFill/>
          <a:ln/>
        </p:spPr>
        <p:txBody>
          <a:bodyPr wrap="square" rtlCol="0" anchor="ctr"/>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Architecte</a:t>
            </a:r>
            <a:endParaRPr lang="en-US" sz="1100" b="1" dirty="0">
              <a:latin typeface="Segoe UI" panose="020B0502040204020203" pitchFamily="34" charset="0"/>
              <a:cs typeface="Segoe UI" panose="020B0502040204020203" pitchFamily="34" charset="0"/>
            </a:endParaRPr>
          </a:p>
        </p:txBody>
      </p:sp>
      <p:sp>
        <p:nvSpPr>
          <p:cNvPr id="41" name="Shape 17">
            <a:extLst>
              <a:ext uri="{FF2B5EF4-FFF2-40B4-BE49-F238E27FC236}">
                <a16:creationId xmlns:a16="http://schemas.microsoft.com/office/drawing/2014/main" id="{3EA776AD-4826-44C9-BBDC-97371F379599}"/>
              </a:ext>
            </a:extLst>
          </p:cNvPr>
          <p:cNvSpPr/>
          <p:nvPr/>
        </p:nvSpPr>
        <p:spPr>
          <a:xfrm>
            <a:off x="6030705" y="3563184"/>
            <a:ext cx="2514600" cy="2176433"/>
          </a:xfrm>
          <a:prstGeom prst="rect">
            <a:avLst/>
          </a:prstGeom>
          <a:noFill/>
          <a:ln w="9525">
            <a:solidFill>
              <a:srgbClr val="835CF5"/>
            </a:solidFill>
            <a:prstDash val="solid"/>
          </a:ln>
        </p:spPr>
      </p:sp>
      <p:sp>
        <p:nvSpPr>
          <p:cNvPr id="45" name="Shape 18">
            <a:extLst>
              <a:ext uri="{FF2B5EF4-FFF2-40B4-BE49-F238E27FC236}">
                <a16:creationId xmlns:a16="http://schemas.microsoft.com/office/drawing/2014/main" id="{A7BA9EC8-D26B-4893-88AA-4B26CA3B0603}"/>
              </a:ext>
            </a:extLst>
          </p:cNvPr>
          <p:cNvSpPr/>
          <p:nvPr/>
        </p:nvSpPr>
        <p:spPr>
          <a:xfrm rot="5400000">
            <a:off x="9898615" y="2219074"/>
            <a:ext cx="45719" cy="2514599"/>
          </a:xfrm>
          <a:prstGeom prst="rect">
            <a:avLst/>
          </a:prstGeom>
          <a:solidFill>
            <a:srgbClr val="835CF5"/>
          </a:solidFill>
          <a:ln>
            <a:solidFill>
              <a:srgbClr val="835CF5"/>
            </a:solidFill>
          </a:ln>
        </p:spPr>
      </p:sp>
      <p:sp>
        <p:nvSpPr>
          <p:cNvPr id="46" name="Text 19">
            <a:extLst>
              <a:ext uri="{FF2B5EF4-FFF2-40B4-BE49-F238E27FC236}">
                <a16:creationId xmlns:a16="http://schemas.microsoft.com/office/drawing/2014/main" id="{4DBC26A3-2F5A-485E-A658-DE8EFCDA123D}"/>
              </a:ext>
            </a:extLst>
          </p:cNvPr>
          <p:cNvSpPr/>
          <p:nvPr/>
        </p:nvSpPr>
        <p:spPr>
          <a:xfrm>
            <a:off x="9249391" y="3613429"/>
            <a:ext cx="1929383" cy="502920"/>
          </a:xfrm>
          <a:prstGeom prst="rect">
            <a:avLst/>
          </a:prstGeom>
          <a:noFill/>
          <a:ln/>
        </p:spPr>
        <p:txBody>
          <a:bodyPr wrap="square" rtlCol="0" anchor="ctr"/>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Développeur</a:t>
            </a:r>
            <a:endParaRPr lang="en-US" sz="1100" b="1" dirty="0">
              <a:latin typeface="Segoe UI" panose="020B0502040204020203" pitchFamily="34" charset="0"/>
              <a:cs typeface="Segoe UI" panose="020B0502040204020203" pitchFamily="34" charset="0"/>
            </a:endParaRPr>
          </a:p>
        </p:txBody>
      </p:sp>
      <p:sp>
        <p:nvSpPr>
          <p:cNvPr id="47" name="Shape 17">
            <a:extLst>
              <a:ext uri="{FF2B5EF4-FFF2-40B4-BE49-F238E27FC236}">
                <a16:creationId xmlns:a16="http://schemas.microsoft.com/office/drawing/2014/main" id="{927D713E-0E16-4EB8-8667-A319119ABD6F}"/>
              </a:ext>
            </a:extLst>
          </p:cNvPr>
          <p:cNvSpPr/>
          <p:nvPr/>
        </p:nvSpPr>
        <p:spPr>
          <a:xfrm>
            <a:off x="8664175" y="3563184"/>
            <a:ext cx="2514600" cy="2176433"/>
          </a:xfrm>
          <a:prstGeom prst="rect">
            <a:avLst/>
          </a:prstGeom>
          <a:noFill/>
          <a:ln w="9525">
            <a:solidFill>
              <a:srgbClr val="835CF5"/>
            </a:solidFill>
            <a:prstDash val="solid"/>
          </a:ln>
        </p:spPr>
      </p:sp>
      <p:pic>
        <p:nvPicPr>
          <p:cNvPr id="48" name="Image 0" descr="preencoded.png">
            <a:extLst>
              <a:ext uri="{FF2B5EF4-FFF2-40B4-BE49-F238E27FC236}">
                <a16:creationId xmlns:a16="http://schemas.microsoft.com/office/drawing/2014/main" id="{30B70152-E3CE-4040-A1AA-9D2D1BD95656}"/>
              </a:ext>
            </a:extLst>
          </p:cNvPr>
          <p:cNvPicPr>
            <a:picLocks noChangeAspect="1"/>
          </p:cNvPicPr>
          <p:nvPr/>
        </p:nvPicPr>
        <p:blipFill>
          <a:blip r:embed="rId3">
            <a:duotone>
              <a:prstClr val="black"/>
              <a:srgbClr val="835CF5">
                <a:tint val="45000"/>
                <a:satMod val="400000"/>
              </a:srgbClr>
            </a:duotone>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tretch>
            <a:fillRect/>
          </a:stretch>
        </p:blipFill>
        <p:spPr>
          <a:xfrm>
            <a:off x="3583149" y="3688091"/>
            <a:ext cx="347472" cy="347472"/>
          </a:xfrm>
          <a:prstGeom prst="rect">
            <a:avLst/>
          </a:prstGeom>
        </p:spPr>
      </p:pic>
      <p:pic>
        <p:nvPicPr>
          <p:cNvPr id="51" name="Image 1" descr="preencoded.png">
            <a:extLst>
              <a:ext uri="{FF2B5EF4-FFF2-40B4-BE49-F238E27FC236}">
                <a16:creationId xmlns:a16="http://schemas.microsoft.com/office/drawing/2014/main" id="{3C1D8E61-3983-49C6-94F1-7DD22FBD0F91}"/>
              </a:ext>
            </a:extLst>
          </p:cNvPr>
          <p:cNvPicPr>
            <a:picLocks noChangeAspect="1"/>
          </p:cNvPicPr>
          <p:nvPr/>
        </p:nvPicPr>
        <p:blipFill>
          <a:blip r:embed="rId5">
            <a:duotone>
              <a:prstClr val="black"/>
              <a:srgbClr val="835CF5">
                <a:tint val="45000"/>
                <a:satMod val="400000"/>
              </a:srgbClr>
            </a:duotone>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p:blipFill>
        <p:spPr>
          <a:xfrm>
            <a:off x="8783048" y="3696661"/>
            <a:ext cx="347472" cy="347472"/>
          </a:xfrm>
          <a:prstGeom prst="rect">
            <a:avLst/>
          </a:prstGeom>
        </p:spPr>
      </p:pic>
      <p:pic>
        <p:nvPicPr>
          <p:cNvPr id="52" name="Image 2" descr="preencoded.png">
            <a:extLst>
              <a:ext uri="{FF2B5EF4-FFF2-40B4-BE49-F238E27FC236}">
                <a16:creationId xmlns:a16="http://schemas.microsoft.com/office/drawing/2014/main" id="{E0029D35-F8BF-41D5-81CF-6897B0A8E937}"/>
              </a:ext>
            </a:extLst>
          </p:cNvPr>
          <p:cNvPicPr>
            <a:picLocks noChangeAspect="1"/>
          </p:cNvPicPr>
          <p:nvPr/>
        </p:nvPicPr>
        <p:blipFill>
          <a:blip r:embed="rId7">
            <a:duotone>
              <a:prstClr val="black"/>
              <a:srgbClr val="835CF5">
                <a:tint val="45000"/>
                <a:satMod val="400000"/>
              </a:srgbClr>
            </a:duotone>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6149577" y="3688091"/>
            <a:ext cx="347472" cy="347472"/>
          </a:xfrm>
          <a:prstGeom prst="rect">
            <a:avLst/>
          </a:prstGeom>
        </p:spPr>
      </p:pic>
      <p:pic>
        <p:nvPicPr>
          <p:cNvPr id="53" name="Image 3" descr="preencoded.png">
            <a:extLst>
              <a:ext uri="{FF2B5EF4-FFF2-40B4-BE49-F238E27FC236}">
                <a16:creationId xmlns:a16="http://schemas.microsoft.com/office/drawing/2014/main" id="{99C5E1C7-9DC6-4C9F-95EC-80521C9FFC86}"/>
              </a:ext>
            </a:extLst>
          </p:cNvPr>
          <p:cNvPicPr>
            <a:picLocks noChangeAspect="1"/>
          </p:cNvPicPr>
          <p:nvPr/>
        </p:nvPicPr>
        <p:blipFill>
          <a:blip r:embed="rId9">
            <a:duotone>
              <a:prstClr val="black"/>
              <a:srgbClr val="835CF5">
                <a:tint val="45000"/>
                <a:satMod val="400000"/>
              </a:srgbClr>
            </a:duotone>
            <a:extLst>
              <a:ext uri="{BEBA8EAE-BF5A-486C-A8C5-ECC9F3942E4B}">
                <a14:imgProps xmlns:a14="http://schemas.microsoft.com/office/drawing/2010/main">
                  <a14:imgLayer r:embed="rId10">
                    <a14:imgEffect>
                      <a14:brightnessContrast bright="40000" contrast="-40000"/>
                    </a14:imgEffect>
                  </a14:imgLayer>
                </a14:imgProps>
              </a:ext>
            </a:extLst>
          </a:blip>
          <a:stretch>
            <a:fillRect/>
          </a:stretch>
        </p:blipFill>
        <p:spPr>
          <a:xfrm>
            <a:off x="916157" y="3696661"/>
            <a:ext cx="347472" cy="347472"/>
          </a:xfrm>
          <a:prstGeom prst="rect">
            <a:avLst/>
          </a:prstGeom>
        </p:spPr>
      </p:pic>
      <p:sp>
        <p:nvSpPr>
          <p:cNvPr id="55" name="Text 19">
            <a:extLst>
              <a:ext uri="{FF2B5EF4-FFF2-40B4-BE49-F238E27FC236}">
                <a16:creationId xmlns:a16="http://schemas.microsoft.com/office/drawing/2014/main" id="{DF70322E-6EEF-4542-8740-B6C5B9433C4C}"/>
              </a:ext>
            </a:extLst>
          </p:cNvPr>
          <p:cNvSpPr/>
          <p:nvPr/>
        </p:nvSpPr>
        <p:spPr>
          <a:xfrm>
            <a:off x="3556536" y="4217667"/>
            <a:ext cx="2310619" cy="537737"/>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Aujourd’hui</a:t>
            </a:r>
            <a:r>
              <a:rPr lang="en-US" sz="900" b="1" dirty="0">
                <a:latin typeface="Segoe UI" panose="020B0502040204020203" pitchFamily="34" charset="0"/>
                <a:ea typeface="IBM Plex Mono" pitchFamily="34" charset="-122"/>
                <a:cs typeface="Segoe UI" panose="020B0502040204020203" pitchFamily="34" charset="0"/>
              </a:rPr>
              <a:t> </a:t>
            </a:r>
          </a:p>
          <a:p>
            <a:pPr marL="176213" lvl="1"/>
            <a:r>
              <a:rPr lang="en-US" sz="900" dirty="0" err="1">
                <a:latin typeface="Segoe UI" panose="020B0502040204020203" pitchFamily="34" charset="0"/>
                <a:ea typeface="IBM Plex Sans" pitchFamily="34" charset="-122"/>
                <a:cs typeface="Segoe UI" panose="020B0502040204020203" pitchFamily="34" charset="0"/>
              </a:rPr>
              <a:t>Spécification</a:t>
            </a:r>
            <a:r>
              <a:rPr lang="en-US" sz="900" dirty="0">
                <a:latin typeface="Segoe UI" panose="020B0502040204020203" pitchFamily="34" charset="0"/>
                <a:ea typeface="IBM Plex Sans" pitchFamily="34" charset="-122"/>
                <a:cs typeface="Segoe UI" panose="020B0502040204020203" pitchFamily="34" charset="0"/>
              </a:rPr>
              <a:t>, </a:t>
            </a:r>
            <a:r>
              <a:rPr lang="en-US" sz="900" dirty="0" err="1">
                <a:latin typeface="Segoe UI" panose="020B0502040204020203" pitchFamily="34" charset="0"/>
                <a:ea typeface="IBM Plex Sans" pitchFamily="34" charset="-122"/>
                <a:cs typeface="Segoe UI" panose="020B0502040204020203" pitchFamily="34" charset="0"/>
              </a:rPr>
              <a:t>recette</a:t>
            </a:r>
            <a:r>
              <a:rPr lang="en-US" sz="900" dirty="0">
                <a:latin typeface="Segoe UI" panose="020B0502040204020203" pitchFamily="34" charset="0"/>
                <a:ea typeface="IBM Plex Sans" pitchFamily="34" charset="-122"/>
                <a:cs typeface="Segoe UI" panose="020B0502040204020203" pitchFamily="34" charset="0"/>
              </a:rPr>
              <a:t>, coordination technique.</a:t>
            </a:r>
          </a:p>
          <a:p>
            <a:pPr marL="0" indent="0">
              <a:buNone/>
            </a:pPr>
            <a:endParaRPr lang="en-US" sz="900" dirty="0">
              <a:latin typeface="Segoe UI" panose="020B0502040204020203" pitchFamily="34" charset="0"/>
              <a:cs typeface="Segoe UI" panose="020B0502040204020203" pitchFamily="34" charset="0"/>
            </a:endParaRPr>
          </a:p>
        </p:txBody>
      </p:sp>
      <p:sp>
        <p:nvSpPr>
          <p:cNvPr id="56" name="Text 19">
            <a:extLst>
              <a:ext uri="{FF2B5EF4-FFF2-40B4-BE49-F238E27FC236}">
                <a16:creationId xmlns:a16="http://schemas.microsoft.com/office/drawing/2014/main" id="{50AD8A78-9EEC-4A31-A5B2-23BB790EF77B}"/>
              </a:ext>
            </a:extLst>
          </p:cNvPr>
          <p:cNvSpPr/>
          <p:nvPr/>
        </p:nvSpPr>
        <p:spPr>
          <a:xfrm>
            <a:off x="3556535" y="4819355"/>
            <a:ext cx="2310619" cy="920262"/>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Demain</a:t>
            </a:r>
            <a:r>
              <a:rPr lang="en-US" sz="900" b="1" dirty="0">
                <a:latin typeface="Segoe UI" panose="020B0502040204020203" pitchFamily="34" charset="0"/>
                <a:ea typeface="IBM Plex Mono" pitchFamily="34" charset="-122"/>
                <a:cs typeface="Segoe UI" panose="020B0502040204020203" pitchFamily="34" charset="0"/>
              </a:rPr>
              <a:t> </a:t>
            </a:r>
          </a:p>
          <a:p>
            <a:pPr marL="176213">
              <a:buNone/>
            </a:pPr>
            <a:r>
              <a:rPr lang="fr-FR" sz="900" dirty="0">
                <a:latin typeface="Segoe UI" panose="020B0502040204020203" pitchFamily="34" charset="0"/>
                <a:ea typeface="IBM Plex Mono" pitchFamily="34" charset="-122"/>
                <a:cs typeface="Segoe UI" panose="020B0502040204020203" pitchFamily="34" charset="0"/>
              </a:rPr>
              <a:t>Garant de la valeur : alimente les agents, évalue leurs outputs. Son empathie utilisateur devient le carburant du réseau de connaissances.</a:t>
            </a:r>
          </a:p>
          <a:p>
            <a:pPr marL="0" indent="0">
              <a:buNone/>
            </a:pPr>
            <a:endParaRPr lang="en-US" sz="900" dirty="0">
              <a:latin typeface="Segoe UI" panose="020B0502040204020203" pitchFamily="34" charset="0"/>
              <a:cs typeface="Segoe UI" panose="020B0502040204020203" pitchFamily="34" charset="0"/>
            </a:endParaRPr>
          </a:p>
        </p:txBody>
      </p:sp>
      <p:sp>
        <p:nvSpPr>
          <p:cNvPr id="57" name="Text 19">
            <a:extLst>
              <a:ext uri="{FF2B5EF4-FFF2-40B4-BE49-F238E27FC236}">
                <a16:creationId xmlns:a16="http://schemas.microsoft.com/office/drawing/2014/main" id="{EB43662F-DD2A-47FD-A620-8E2B4453DD96}"/>
              </a:ext>
            </a:extLst>
          </p:cNvPr>
          <p:cNvSpPr/>
          <p:nvPr/>
        </p:nvSpPr>
        <p:spPr>
          <a:xfrm>
            <a:off x="6183817" y="4217667"/>
            <a:ext cx="2310619" cy="537737"/>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Aujourd’hui</a:t>
            </a:r>
            <a:r>
              <a:rPr lang="en-US" sz="900" b="1" dirty="0">
                <a:latin typeface="Segoe UI" panose="020B0502040204020203" pitchFamily="34" charset="0"/>
                <a:ea typeface="IBM Plex Mono" pitchFamily="34" charset="-122"/>
                <a:cs typeface="Segoe UI" panose="020B0502040204020203" pitchFamily="34" charset="0"/>
              </a:rPr>
              <a:t> </a:t>
            </a:r>
          </a:p>
          <a:p>
            <a:pPr marL="176213" lvl="1"/>
            <a:r>
              <a:rPr lang="en-US" sz="900" dirty="0">
                <a:latin typeface="Segoe UI" panose="020B0502040204020203" pitchFamily="34" charset="0"/>
                <a:ea typeface="IBM Plex Sans" pitchFamily="34" charset="-122"/>
                <a:cs typeface="Segoe UI" panose="020B0502040204020203" pitchFamily="34" charset="0"/>
              </a:rPr>
              <a:t>Patterns techniques, arbitrages, doc.</a:t>
            </a:r>
          </a:p>
          <a:p>
            <a:pPr marL="0" indent="0">
              <a:buNone/>
            </a:pPr>
            <a:endParaRPr lang="en-US" sz="900" dirty="0">
              <a:latin typeface="Segoe UI" panose="020B0502040204020203" pitchFamily="34" charset="0"/>
              <a:cs typeface="Segoe UI" panose="020B0502040204020203" pitchFamily="34" charset="0"/>
            </a:endParaRPr>
          </a:p>
        </p:txBody>
      </p:sp>
      <p:sp>
        <p:nvSpPr>
          <p:cNvPr id="58" name="Text 19">
            <a:extLst>
              <a:ext uri="{FF2B5EF4-FFF2-40B4-BE49-F238E27FC236}">
                <a16:creationId xmlns:a16="http://schemas.microsoft.com/office/drawing/2014/main" id="{6BC8802C-5FF3-41EC-BD64-D75D250CAAD3}"/>
              </a:ext>
            </a:extLst>
          </p:cNvPr>
          <p:cNvSpPr/>
          <p:nvPr/>
        </p:nvSpPr>
        <p:spPr>
          <a:xfrm>
            <a:off x="6183816" y="4819355"/>
            <a:ext cx="2310619" cy="920262"/>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Demain</a:t>
            </a:r>
            <a:r>
              <a:rPr lang="en-US" sz="900" b="1" dirty="0">
                <a:latin typeface="Segoe UI" panose="020B0502040204020203" pitchFamily="34" charset="0"/>
                <a:ea typeface="IBM Plex Mono" pitchFamily="34" charset="-122"/>
                <a:cs typeface="Segoe UI" panose="020B0502040204020203" pitchFamily="34" charset="0"/>
              </a:rPr>
              <a:t> </a:t>
            </a:r>
          </a:p>
          <a:p>
            <a:pPr marL="176213">
              <a:buNone/>
            </a:pPr>
            <a:r>
              <a:rPr lang="fr-FR" sz="900" dirty="0">
                <a:latin typeface="Segoe UI" panose="020B0502040204020203" pitchFamily="34" charset="0"/>
                <a:ea typeface="IBM Plex Mono" pitchFamily="34" charset="-122"/>
                <a:cs typeface="Segoe UI" panose="020B0502040204020203" pitchFamily="34" charset="0"/>
              </a:rPr>
              <a:t>Architecte du système </a:t>
            </a:r>
            <a:r>
              <a:rPr lang="fr-FR" sz="900" dirty="0" err="1">
                <a:latin typeface="Segoe UI" panose="020B0502040204020203" pitchFamily="34" charset="0"/>
                <a:ea typeface="IBM Plex Mono" pitchFamily="34" charset="-122"/>
                <a:cs typeface="Segoe UI" panose="020B0502040204020203" pitchFamily="34" charset="0"/>
              </a:rPr>
              <a:t>agentic</a:t>
            </a:r>
            <a:r>
              <a:rPr lang="fr-FR" sz="900" dirty="0">
                <a:latin typeface="Segoe UI" panose="020B0502040204020203" pitchFamily="34" charset="0"/>
                <a:ea typeface="IBM Plex Mono" pitchFamily="34" charset="-122"/>
                <a:cs typeface="Segoe UI" panose="020B0502040204020203" pitchFamily="34" charset="0"/>
              </a:rPr>
              <a:t> : </a:t>
            </a:r>
            <a:r>
              <a:rPr lang="fr-FR" sz="900" dirty="0" err="1">
                <a:latin typeface="Segoe UI" panose="020B0502040204020203" pitchFamily="34" charset="0"/>
                <a:ea typeface="IBM Plex Mono" pitchFamily="34" charset="-122"/>
                <a:cs typeface="Segoe UI" panose="020B0502040204020203" pitchFamily="34" charset="0"/>
              </a:rPr>
              <a:t>guardrails</a:t>
            </a:r>
            <a:r>
              <a:rPr lang="fr-FR" sz="900" dirty="0">
                <a:latin typeface="Segoe UI" panose="020B0502040204020203" pitchFamily="34" charset="0"/>
                <a:ea typeface="IBM Plex Mono" pitchFamily="34" charset="-122"/>
                <a:cs typeface="Segoe UI" panose="020B0502040204020203" pitchFamily="34" charset="0"/>
              </a:rPr>
              <a:t>, gouvernance des </a:t>
            </a:r>
            <a:r>
              <a:rPr lang="fr-FR" sz="900" dirty="0" err="1">
                <a:latin typeface="Segoe UI" panose="020B0502040204020203" pitchFamily="34" charset="0"/>
                <a:ea typeface="IBM Plex Mono" pitchFamily="34" charset="-122"/>
                <a:cs typeface="Segoe UI" panose="020B0502040204020203" pitchFamily="34" charset="0"/>
              </a:rPr>
              <a:t>blueprints</a:t>
            </a:r>
            <a:r>
              <a:rPr lang="fr-FR" sz="900" dirty="0">
                <a:latin typeface="Segoe UI" panose="020B0502040204020203" pitchFamily="34" charset="0"/>
                <a:ea typeface="IBM Plex Mono" pitchFamily="34" charset="-122"/>
                <a:cs typeface="Segoe UI" panose="020B0502040204020203" pitchFamily="34" charset="0"/>
              </a:rPr>
              <a:t>, cohérence multi-agents. L'architecture devient un asset majeur.</a:t>
            </a:r>
          </a:p>
          <a:p>
            <a:pPr marL="0" indent="0">
              <a:buNone/>
            </a:pPr>
            <a:endParaRPr lang="en-US" sz="900" dirty="0">
              <a:latin typeface="Segoe UI" panose="020B0502040204020203" pitchFamily="34" charset="0"/>
              <a:cs typeface="Segoe UI" panose="020B0502040204020203" pitchFamily="34" charset="0"/>
            </a:endParaRPr>
          </a:p>
        </p:txBody>
      </p:sp>
      <p:sp>
        <p:nvSpPr>
          <p:cNvPr id="59" name="Text 19">
            <a:extLst>
              <a:ext uri="{FF2B5EF4-FFF2-40B4-BE49-F238E27FC236}">
                <a16:creationId xmlns:a16="http://schemas.microsoft.com/office/drawing/2014/main" id="{8B751FAC-4A72-4A7A-875E-17B43551497D}"/>
              </a:ext>
            </a:extLst>
          </p:cNvPr>
          <p:cNvSpPr/>
          <p:nvPr/>
        </p:nvSpPr>
        <p:spPr>
          <a:xfrm>
            <a:off x="8824196" y="4217667"/>
            <a:ext cx="2310619" cy="537737"/>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Aujourd’hui</a:t>
            </a:r>
            <a:r>
              <a:rPr lang="en-US" sz="900" b="1" dirty="0">
                <a:latin typeface="Segoe UI" panose="020B0502040204020203" pitchFamily="34" charset="0"/>
                <a:ea typeface="IBM Plex Mono" pitchFamily="34" charset="-122"/>
                <a:cs typeface="Segoe UI" panose="020B0502040204020203" pitchFamily="34" charset="0"/>
              </a:rPr>
              <a:t> </a:t>
            </a:r>
          </a:p>
          <a:p>
            <a:pPr marL="176213" lvl="1"/>
            <a:r>
              <a:rPr lang="fr-FR" sz="900" dirty="0">
                <a:latin typeface="Segoe UI" panose="020B0502040204020203" pitchFamily="34" charset="0"/>
                <a:ea typeface="IBM Plex Sans" pitchFamily="34" charset="-122"/>
                <a:cs typeface="Segoe UI" panose="020B0502040204020203" pitchFamily="34" charset="0"/>
              </a:rPr>
              <a:t>Auteur du code, </a:t>
            </a:r>
            <a:r>
              <a:rPr lang="fr-FR" sz="900" dirty="0" err="1">
                <a:latin typeface="Segoe UI" panose="020B0502040204020203" pitchFamily="34" charset="0"/>
                <a:ea typeface="IBM Plex Sans" pitchFamily="34" charset="-122"/>
                <a:cs typeface="Segoe UI" panose="020B0502040204020203" pitchFamily="34" charset="0"/>
              </a:rPr>
              <a:t>debug</a:t>
            </a:r>
            <a:r>
              <a:rPr lang="fr-FR" sz="900" dirty="0">
                <a:latin typeface="Segoe UI" panose="020B0502040204020203" pitchFamily="34" charset="0"/>
                <a:ea typeface="IBM Plex Sans" pitchFamily="34" charset="-122"/>
                <a:cs typeface="Segoe UI" panose="020B0502040204020203" pitchFamily="34" charset="0"/>
              </a:rPr>
              <a:t>, revue manuelle.</a:t>
            </a:r>
          </a:p>
          <a:p>
            <a:pPr marL="0" indent="0">
              <a:buNone/>
            </a:pPr>
            <a:endParaRPr lang="en-US" sz="900" dirty="0">
              <a:latin typeface="Segoe UI" panose="020B0502040204020203" pitchFamily="34" charset="0"/>
              <a:cs typeface="Segoe UI" panose="020B0502040204020203" pitchFamily="34" charset="0"/>
            </a:endParaRPr>
          </a:p>
        </p:txBody>
      </p:sp>
      <p:sp>
        <p:nvSpPr>
          <p:cNvPr id="60" name="Text 19">
            <a:extLst>
              <a:ext uri="{FF2B5EF4-FFF2-40B4-BE49-F238E27FC236}">
                <a16:creationId xmlns:a16="http://schemas.microsoft.com/office/drawing/2014/main" id="{991A3EB1-D22A-4F68-9A64-FFB2403BA810}"/>
              </a:ext>
            </a:extLst>
          </p:cNvPr>
          <p:cNvSpPr/>
          <p:nvPr/>
        </p:nvSpPr>
        <p:spPr>
          <a:xfrm>
            <a:off x="8824195" y="4819355"/>
            <a:ext cx="2310619" cy="920262"/>
          </a:xfrm>
          <a:prstGeom prst="rect">
            <a:avLst/>
          </a:prstGeom>
          <a:noFill/>
          <a:ln/>
        </p:spPr>
        <p:txBody>
          <a:bodyPr wrap="square" rtlCol="0" anchor="t"/>
          <a:lstStyle/>
          <a:p>
            <a:pPr marL="0" indent="0">
              <a:buNone/>
            </a:pPr>
            <a:r>
              <a:rPr lang="en-US" sz="900" b="1" dirty="0" err="1">
                <a:latin typeface="Segoe UI" panose="020B0502040204020203" pitchFamily="34" charset="0"/>
                <a:ea typeface="IBM Plex Mono" pitchFamily="34" charset="-122"/>
                <a:cs typeface="Segoe UI" panose="020B0502040204020203" pitchFamily="34" charset="0"/>
              </a:rPr>
              <a:t>Demain</a:t>
            </a:r>
            <a:r>
              <a:rPr lang="en-US" sz="900" b="1" dirty="0">
                <a:latin typeface="Segoe UI" panose="020B0502040204020203" pitchFamily="34" charset="0"/>
                <a:ea typeface="IBM Plex Mono" pitchFamily="34" charset="-122"/>
                <a:cs typeface="Segoe UI" panose="020B0502040204020203" pitchFamily="34" charset="0"/>
              </a:rPr>
              <a:t> </a:t>
            </a:r>
          </a:p>
          <a:p>
            <a:pPr marL="176213">
              <a:buNone/>
            </a:pPr>
            <a:r>
              <a:rPr lang="fr-FR" sz="900" dirty="0">
                <a:latin typeface="Segoe UI" panose="020B0502040204020203" pitchFamily="34" charset="0"/>
                <a:ea typeface="IBM Plex Mono" pitchFamily="34" charset="-122"/>
                <a:cs typeface="Segoe UI" panose="020B0502040204020203" pitchFamily="34" charset="0"/>
              </a:rPr>
              <a:t>De créateur à gouverneur : orchestre et audite les agents, architecture les flux. Juniors via mob </a:t>
            </a:r>
            <a:r>
              <a:rPr lang="fr-FR" sz="900" dirty="0" err="1">
                <a:latin typeface="Segoe UI" panose="020B0502040204020203" pitchFamily="34" charset="0"/>
                <a:ea typeface="IBM Plex Mono" pitchFamily="34" charset="-122"/>
                <a:cs typeface="Segoe UI" panose="020B0502040204020203" pitchFamily="34" charset="0"/>
              </a:rPr>
              <a:t>programming</a:t>
            </a:r>
            <a:r>
              <a:rPr lang="fr-FR" sz="900" dirty="0">
                <a:latin typeface="Segoe UI" panose="020B0502040204020203" pitchFamily="34" charset="0"/>
                <a:ea typeface="IBM Plex Mono" pitchFamily="34" charset="-122"/>
                <a:cs typeface="Segoe UI" panose="020B0502040204020203" pitchFamily="34" charset="0"/>
              </a:rPr>
              <a:t>, seniors en Agent </a:t>
            </a:r>
            <a:r>
              <a:rPr lang="fr-FR" sz="900" dirty="0" err="1">
                <a:latin typeface="Segoe UI" panose="020B0502040204020203" pitchFamily="34" charset="0"/>
                <a:ea typeface="IBM Plex Mono" pitchFamily="34" charset="-122"/>
                <a:cs typeface="Segoe UI" panose="020B0502040204020203" pitchFamily="34" charset="0"/>
              </a:rPr>
              <a:t>Reliability</a:t>
            </a:r>
            <a:r>
              <a:rPr lang="fr-FR" sz="900" dirty="0">
                <a:latin typeface="Segoe UI" panose="020B0502040204020203" pitchFamily="34" charset="0"/>
                <a:ea typeface="IBM Plex Mono" pitchFamily="34" charset="-122"/>
                <a:cs typeface="Segoe UI" panose="020B0502040204020203" pitchFamily="34" charset="0"/>
              </a:rPr>
              <a:t>.</a:t>
            </a:r>
          </a:p>
          <a:p>
            <a:pPr marL="0" indent="0">
              <a:buNone/>
            </a:pPr>
            <a:endParaRPr lang="en-US" sz="900" dirty="0">
              <a:latin typeface="Segoe UI" panose="020B0502040204020203" pitchFamily="34" charset="0"/>
              <a:cs typeface="Segoe UI" panose="020B0502040204020203" pitchFamily="34" charset="0"/>
            </a:endParaRPr>
          </a:p>
        </p:txBody>
      </p:sp>
      <p:sp>
        <p:nvSpPr>
          <p:cNvPr id="30" name="Shape 17">
            <a:extLst>
              <a:ext uri="{FF2B5EF4-FFF2-40B4-BE49-F238E27FC236}">
                <a16:creationId xmlns:a16="http://schemas.microsoft.com/office/drawing/2014/main" id="{5F29F4B1-2D1A-40F2-87A9-FF97F941D36C}"/>
              </a:ext>
            </a:extLst>
          </p:cNvPr>
          <p:cNvSpPr/>
          <p:nvPr/>
        </p:nvSpPr>
        <p:spPr>
          <a:xfrm>
            <a:off x="797284" y="1783028"/>
            <a:ext cx="10381489" cy="344710"/>
          </a:xfrm>
          <a:prstGeom prst="rect">
            <a:avLst/>
          </a:prstGeom>
          <a:noFill/>
          <a:ln w="9525">
            <a:solidFill>
              <a:srgbClr val="08BB6C"/>
            </a:solidFill>
            <a:prstDash val="solid"/>
          </a:ln>
        </p:spPr>
      </p:sp>
      <p:sp>
        <p:nvSpPr>
          <p:cNvPr id="36" name="Shape 18">
            <a:extLst>
              <a:ext uri="{FF2B5EF4-FFF2-40B4-BE49-F238E27FC236}">
                <a16:creationId xmlns:a16="http://schemas.microsoft.com/office/drawing/2014/main" id="{8364C4EB-4BC4-420B-A89D-E21DAFCD8825}"/>
              </a:ext>
            </a:extLst>
          </p:cNvPr>
          <p:cNvSpPr/>
          <p:nvPr/>
        </p:nvSpPr>
        <p:spPr>
          <a:xfrm>
            <a:off x="797285" y="1783028"/>
            <a:ext cx="54864" cy="344710"/>
          </a:xfrm>
          <a:prstGeom prst="rect">
            <a:avLst/>
          </a:prstGeom>
          <a:solidFill>
            <a:srgbClr val="08BB6C"/>
          </a:solidFill>
          <a:ln>
            <a:solidFill>
              <a:srgbClr val="08BB6C"/>
            </a:solidFill>
          </a:ln>
        </p:spPr>
      </p:sp>
      <p:sp>
        <p:nvSpPr>
          <p:cNvPr id="37" name="Text 19">
            <a:extLst>
              <a:ext uri="{FF2B5EF4-FFF2-40B4-BE49-F238E27FC236}">
                <a16:creationId xmlns:a16="http://schemas.microsoft.com/office/drawing/2014/main" id="{3261D3D8-9ECD-4D32-B245-4CB58DC4C5ED}"/>
              </a:ext>
            </a:extLst>
          </p:cNvPr>
          <p:cNvSpPr/>
          <p:nvPr/>
        </p:nvSpPr>
        <p:spPr>
          <a:xfrm>
            <a:off x="934445" y="1783028"/>
            <a:ext cx="7330324" cy="344710"/>
          </a:xfrm>
          <a:prstGeom prst="rect">
            <a:avLst/>
          </a:prstGeom>
          <a:noFill/>
          <a:ln/>
        </p:spPr>
        <p:txBody>
          <a:bodyPr wrap="square" rtlCol="0" anchor="ctr"/>
          <a:lstStyle/>
          <a:p>
            <a:pPr marL="0" indent="0">
              <a:buNone/>
            </a:pPr>
            <a:r>
              <a:rPr lang="fr-FR" sz="1100" dirty="0">
                <a:latin typeface="Segoe UI" panose="020B0502040204020203" pitchFamily="34" charset="0"/>
                <a:cs typeface="Segoe UI" panose="020B0502040204020203" pitchFamily="34" charset="0"/>
              </a:rPr>
              <a:t>Distinguer ce qui peut être délégué de ce qui doit rester humain.</a:t>
            </a:r>
            <a:endParaRPr lang="en-US" sz="1100" b="1" dirty="0">
              <a:latin typeface="Segoe UI" panose="020B0502040204020203" pitchFamily="34" charset="0"/>
              <a:cs typeface="Segoe UI" panose="020B0502040204020203" pitchFamily="34" charset="0"/>
            </a:endParaRPr>
          </a:p>
        </p:txBody>
      </p:sp>
      <p:sp>
        <p:nvSpPr>
          <p:cNvPr id="38" name="Shape 17">
            <a:extLst>
              <a:ext uri="{FF2B5EF4-FFF2-40B4-BE49-F238E27FC236}">
                <a16:creationId xmlns:a16="http://schemas.microsoft.com/office/drawing/2014/main" id="{FA6BE6AA-DB6F-40BD-BF63-9D3076711B6D}"/>
              </a:ext>
            </a:extLst>
          </p:cNvPr>
          <p:cNvSpPr/>
          <p:nvPr/>
        </p:nvSpPr>
        <p:spPr>
          <a:xfrm>
            <a:off x="796579" y="2163924"/>
            <a:ext cx="10381489" cy="344710"/>
          </a:xfrm>
          <a:prstGeom prst="rect">
            <a:avLst/>
          </a:prstGeom>
          <a:noFill/>
          <a:ln w="9525">
            <a:solidFill>
              <a:srgbClr val="08BB6C"/>
            </a:solidFill>
            <a:prstDash val="solid"/>
          </a:ln>
        </p:spPr>
      </p:sp>
      <p:sp>
        <p:nvSpPr>
          <p:cNvPr id="42" name="Shape 18">
            <a:extLst>
              <a:ext uri="{FF2B5EF4-FFF2-40B4-BE49-F238E27FC236}">
                <a16:creationId xmlns:a16="http://schemas.microsoft.com/office/drawing/2014/main" id="{95FFBADF-D7D2-4476-B993-25829E5D8089}"/>
              </a:ext>
            </a:extLst>
          </p:cNvPr>
          <p:cNvSpPr/>
          <p:nvPr/>
        </p:nvSpPr>
        <p:spPr>
          <a:xfrm>
            <a:off x="796580" y="2163924"/>
            <a:ext cx="54864" cy="344710"/>
          </a:xfrm>
          <a:prstGeom prst="rect">
            <a:avLst/>
          </a:prstGeom>
          <a:solidFill>
            <a:srgbClr val="08BB6C"/>
          </a:solidFill>
          <a:ln>
            <a:solidFill>
              <a:srgbClr val="08BB6C"/>
            </a:solidFill>
          </a:ln>
        </p:spPr>
      </p:sp>
      <p:sp>
        <p:nvSpPr>
          <p:cNvPr id="43" name="Text 19">
            <a:extLst>
              <a:ext uri="{FF2B5EF4-FFF2-40B4-BE49-F238E27FC236}">
                <a16:creationId xmlns:a16="http://schemas.microsoft.com/office/drawing/2014/main" id="{50FC8AEF-DD98-40DA-A8CE-94A6579480A7}"/>
              </a:ext>
            </a:extLst>
          </p:cNvPr>
          <p:cNvSpPr/>
          <p:nvPr/>
        </p:nvSpPr>
        <p:spPr>
          <a:xfrm>
            <a:off x="933740" y="2163924"/>
            <a:ext cx="7330324" cy="344710"/>
          </a:xfrm>
          <a:prstGeom prst="rect">
            <a:avLst/>
          </a:prstGeom>
          <a:noFill/>
          <a:ln/>
        </p:spPr>
        <p:txBody>
          <a:bodyPr wrap="square" rtlCol="0" anchor="ctr"/>
          <a:lstStyle/>
          <a:p>
            <a:pPr marL="0" indent="0">
              <a:buNone/>
            </a:pPr>
            <a:r>
              <a:rPr lang="fr-FR" sz="1100" dirty="0">
                <a:latin typeface="Segoe UI" panose="020B0502040204020203" pitchFamily="34" charset="0"/>
                <a:cs typeface="Segoe UI" panose="020B0502040204020203" pitchFamily="34" charset="0"/>
              </a:rPr>
              <a:t>Préserver le « modèle mental »</a:t>
            </a:r>
            <a:endParaRPr lang="en-US" sz="1100" b="1" dirty="0">
              <a:latin typeface="Segoe UI" panose="020B0502040204020203" pitchFamily="34" charset="0"/>
              <a:cs typeface="Segoe UI" panose="020B0502040204020203" pitchFamily="34" charset="0"/>
            </a:endParaRPr>
          </a:p>
        </p:txBody>
      </p:sp>
      <p:sp>
        <p:nvSpPr>
          <p:cNvPr id="44" name="Shape 17">
            <a:extLst>
              <a:ext uri="{FF2B5EF4-FFF2-40B4-BE49-F238E27FC236}">
                <a16:creationId xmlns:a16="http://schemas.microsoft.com/office/drawing/2014/main" id="{DACB12E2-0093-4555-9BA5-3E68E553E96F}"/>
              </a:ext>
            </a:extLst>
          </p:cNvPr>
          <p:cNvSpPr/>
          <p:nvPr/>
        </p:nvSpPr>
        <p:spPr>
          <a:xfrm>
            <a:off x="796579" y="2543087"/>
            <a:ext cx="10381489" cy="344710"/>
          </a:xfrm>
          <a:prstGeom prst="rect">
            <a:avLst/>
          </a:prstGeom>
          <a:noFill/>
          <a:ln w="9525">
            <a:solidFill>
              <a:srgbClr val="08BB6C"/>
            </a:solidFill>
            <a:prstDash val="solid"/>
          </a:ln>
        </p:spPr>
      </p:sp>
      <p:sp>
        <p:nvSpPr>
          <p:cNvPr id="49" name="Shape 18">
            <a:extLst>
              <a:ext uri="{FF2B5EF4-FFF2-40B4-BE49-F238E27FC236}">
                <a16:creationId xmlns:a16="http://schemas.microsoft.com/office/drawing/2014/main" id="{7C3DF24E-62AC-4F5E-A048-2C8E4A3E1C87}"/>
              </a:ext>
            </a:extLst>
          </p:cNvPr>
          <p:cNvSpPr/>
          <p:nvPr/>
        </p:nvSpPr>
        <p:spPr>
          <a:xfrm>
            <a:off x="796580" y="2543087"/>
            <a:ext cx="54864" cy="344710"/>
          </a:xfrm>
          <a:prstGeom prst="rect">
            <a:avLst/>
          </a:prstGeom>
          <a:solidFill>
            <a:srgbClr val="08BB6C"/>
          </a:solidFill>
          <a:ln>
            <a:solidFill>
              <a:srgbClr val="08BB6C"/>
            </a:solidFill>
          </a:ln>
        </p:spPr>
      </p:sp>
      <p:sp>
        <p:nvSpPr>
          <p:cNvPr id="50" name="Text 19">
            <a:extLst>
              <a:ext uri="{FF2B5EF4-FFF2-40B4-BE49-F238E27FC236}">
                <a16:creationId xmlns:a16="http://schemas.microsoft.com/office/drawing/2014/main" id="{D07706A7-9685-409A-B7BE-5AB602E5480F}"/>
              </a:ext>
            </a:extLst>
          </p:cNvPr>
          <p:cNvSpPr/>
          <p:nvPr/>
        </p:nvSpPr>
        <p:spPr>
          <a:xfrm>
            <a:off x="933740" y="2543087"/>
            <a:ext cx="7330324" cy="344710"/>
          </a:xfrm>
          <a:prstGeom prst="rect">
            <a:avLst/>
          </a:prstGeom>
          <a:noFill/>
          <a:ln/>
        </p:spPr>
        <p:txBody>
          <a:bodyPr wrap="square" rtlCol="0" anchor="ctr"/>
          <a:lstStyle/>
          <a:p>
            <a:pPr marL="0" indent="0">
              <a:buNone/>
            </a:pPr>
            <a:r>
              <a:rPr lang="fr-FR" sz="1100" dirty="0">
                <a:latin typeface="Segoe UI" panose="020B0502040204020203" pitchFamily="34" charset="0"/>
                <a:cs typeface="Segoe UI" panose="020B0502040204020203" pitchFamily="34" charset="0"/>
              </a:rPr>
              <a:t>Superviser une « relation à quatre », pas seulement piloter une équipe</a:t>
            </a:r>
            <a:endParaRPr lang="en-US" sz="1100" b="1" dirty="0">
              <a:latin typeface="Segoe UI" panose="020B0502040204020203" pitchFamily="34" charset="0"/>
              <a:cs typeface="Segoe UI" panose="020B0502040204020203" pitchFamily="34" charset="0"/>
            </a:endParaRPr>
          </a:p>
        </p:txBody>
      </p:sp>
      <p:sp>
        <p:nvSpPr>
          <p:cNvPr id="54" name="Shape 17">
            <a:extLst>
              <a:ext uri="{FF2B5EF4-FFF2-40B4-BE49-F238E27FC236}">
                <a16:creationId xmlns:a16="http://schemas.microsoft.com/office/drawing/2014/main" id="{F29A87AB-E05E-4908-A203-77578A39CA4C}"/>
              </a:ext>
            </a:extLst>
          </p:cNvPr>
          <p:cNvSpPr/>
          <p:nvPr/>
        </p:nvSpPr>
        <p:spPr>
          <a:xfrm>
            <a:off x="795874" y="2923983"/>
            <a:ext cx="10381489" cy="344710"/>
          </a:xfrm>
          <a:prstGeom prst="rect">
            <a:avLst/>
          </a:prstGeom>
          <a:noFill/>
          <a:ln w="9525">
            <a:solidFill>
              <a:srgbClr val="08BB6C"/>
            </a:solidFill>
            <a:prstDash val="solid"/>
          </a:ln>
        </p:spPr>
      </p:sp>
      <p:sp>
        <p:nvSpPr>
          <p:cNvPr id="61" name="Shape 18">
            <a:extLst>
              <a:ext uri="{FF2B5EF4-FFF2-40B4-BE49-F238E27FC236}">
                <a16:creationId xmlns:a16="http://schemas.microsoft.com/office/drawing/2014/main" id="{5650956C-A705-4AC5-98BC-6711ECB55D8A}"/>
              </a:ext>
            </a:extLst>
          </p:cNvPr>
          <p:cNvSpPr/>
          <p:nvPr/>
        </p:nvSpPr>
        <p:spPr>
          <a:xfrm>
            <a:off x="795875" y="2923983"/>
            <a:ext cx="54864" cy="344710"/>
          </a:xfrm>
          <a:prstGeom prst="rect">
            <a:avLst/>
          </a:prstGeom>
          <a:solidFill>
            <a:srgbClr val="08BB6C"/>
          </a:solidFill>
          <a:ln>
            <a:solidFill>
              <a:srgbClr val="08BB6C"/>
            </a:solidFill>
          </a:ln>
        </p:spPr>
      </p:sp>
      <p:sp>
        <p:nvSpPr>
          <p:cNvPr id="62" name="Text 19">
            <a:extLst>
              <a:ext uri="{FF2B5EF4-FFF2-40B4-BE49-F238E27FC236}">
                <a16:creationId xmlns:a16="http://schemas.microsoft.com/office/drawing/2014/main" id="{B229AEAF-0440-41DF-9CA7-CEB38D3A1515}"/>
              </a:ext>
            </a:extLst>
          </p:cNvPr>
          <p:cNvSpPr/>
          <p:nvPr/>
        </p:nvSpPr>
        <p:spPr>
          <a:xfrm>
            <a:off x="933035" y="2923983"/>
            <a:ext cx="7330324" cy="344710"/>
          </a:xfrm>
          <a:prstGeom prst="rect">
            <a:avLst/>
          </a:prstGeom>
          <a:noFill/>
          <a:ln/>
        </p:spPr>
        <p:txBody>
          <a:bodyPr wrap="square" rtlCol="0" anchor="ctr"/>
          <a:lstStyle/>
          <a:p>
            <a:pPr marL="0" indent="0">
              <a:buNone/>
            </a:pPr>
            <a:r>
              <a:rPr lang="fr-FR" sz="1100" dirty="0">
                <a:latin typeface="Segoe UI" panose="020B0502040204020203" pitchFamily="34" charset="0"/>
                <a:cs typeface="Segoe UI" panose="020B0502040204020203" pitchFamily="34" charset="0"/>
              </a:rPr>
              <a:t>Devenir gardien du savoir-faire, pas seulement producteur de code</a:t>
            </a:r>
            <a:endParaRPr lang="en-US" sz="11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84380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fontScale="90000"/>
          </a:bodyPr>
          <a:lstStyle/>
          <a:p>
            <a:r>
              <a:rPr lang="fr-FR" dirty="0">
                <a:solidFill>
                  <a:schemeClr val="accent2"/>
                </a:solidFill>
                <a:latin typeface="Segoe UI" panose="020B0502040204020203" pitchFamily="34" charset="0"/>
                <a:cs typeface="Segoe UI" panose="020B0502040204020203" pitchFamily="34" charset="0"/>
              </a:rPr>
              <a:t>Une évolution des rôles</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De </a:t>
            </a:r>
            <a:r>
              <a:rPr lang="fr-FR" sz="2100" i="1" dirty="0" err="1">
                <a:solidFill>
                  <a:srgbClr val="835CF5"/>
                </a:solidFill>
                <a:latin typeface="Segoe UI" panose="020B0502040204020203" pitchFamily="34" charset="0"/>
                <a:ea typeface="IBM Plex Sans" pitchFamily="34" charset="-122"/>
                <a:cs typeface="Segoe UI" panose="020B0502040204020203" pitchFamily="34" charset="0"/>
              </a:rPr>
              <a:t>execution</a:t>
            </a: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 à la gouvernance</a:t>
            </a:r>
            <a:endParaRPr lang="fr-FR" sz="2100" dirty="0">
              <a:solidFill>
                <a:srgbClr val="835CF5"/>
              </a:solidFill>
              <a:latin typeface="Segoe UI" panose="020B0502040204020203" pitchFamily="34" charset="0"/>
              <a:cs typeface="Segoe UI" panose="020B0502040204020203" pitchFamily="34" charset="0"/>
            </a:endParaRPr>
          </a:p>
        </p:txBody>
      </p:sp>
      <p:sp>
        <p:nvSpPr>
          <p:cNvPr id="16" name="Shape 18">
            <a:extLst>
              <a:ext uri="{FF2B5EF4-FFF2-40B4-BE49-F238E27FC236}">
                <a16:creationId xmlns:a16="http://schemas.microsoft.com/office/drawing/2014/main" id="{05EA8BAE-1539-4502-9ECF-F4A452A43646}"/>
              </a:ext>
            </a:extLst>
          </p:cNvPr>
          <p:cNvSpPr/>
          <p:nvPr/>
        </p:nvSpPr>
        <p:spPr>
          <a:xfrm rot="5400000">
            <a:off x="1847087" y="822857"/>
            <a:ext cx="45719" cy="2514599"/>
          </a:xfrm>
          <a:prstGeom prst="rect">
            <a:avLst/>
          </a:prstGeom>
          <a:solidFill>
            <a:srgbClr val="835CF5"/>
          </a:solidFill>
          <a:ln>
            <a:solidFill>
              <a:srgbClr val="835CF5"/>
            </a:solidFill>
          </a:ln>
        </p:spPr>
      </p:sp>
      <p:sp>
        <p:nvSpPr>
          <p:cNvPr id="17" name="Text 19">
            <a:extLst>
              <a:ext uri="{FF2B5EF4-FFF2-40B4-BE49-F238E27FC236}">
                <a16:creationId xmlns:a16="http://schemas.microsoft.com/office/drawing/2014/main" id="{6B49F9E0-4B80-4832-870E-A67F237AE538}"/>
              </a:ext>
            </a:extLst>
          </p:cNvPr>
          <p:cNvSpPr/>
          <p:nvPr/>
        </p:nvSpPr>
        <p:spPr>
          <a:xfrm>
            <a:off x="1197863" y="2217212"/>
            <a:ext cx="1929383"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Chef de </a:t>
            </a:r>
            <a:r>
              <a:rPr lang="en-US" sz="1100" b="1" dirty="0" err="1">
                <a:latin typeface="Segoe UI" panose="020B0502040204020203" pitchFamily="34" charset="0"/>
                <a:ea typeface="IBM Plex Mono" pitchFamily="34" charset="-122"/>
                <a:cs typeface="Segoe UI" panose="020B0502040204020203" pitchFamily="34" charset="0"/>
              </a:rPr>
              <a:t>projet</a:t>
            </a:r>
            <a:endParaRPr lang="en-US" sz="1100" b="1" dirty="0">
              <a:latin typeface="Segoe UI" panose="020B0502040204020203" pitchFamily="34" charset="0"/>
              <a:cs typeface="Segoe UI" panose="020B0502040204020203" pitchFamily="34" charset="0"/>
            </a:endParaRPr>
          </a:p>
        </p:txBody>
      </p:sp>
      <p:sp>
        <p:nvSpPr>
          <p:cNvPr id="29" name="Shape 17">
            <a:extLst>
              <a:ext uri="{FF2B5EF4-FFF2-40B4-BE49-F238E27FC236}">
                <a16:creationId xmlns:a16="http://schemas.microsoft.com/office/drawing/2014/main" id="{C8FCAC26-FB1D-4E8A-A963-310855E1DC06}"/>
              </a:ext>
            </a:extLst>
          </p:cNvPr>
          <p:cNvSpPr/>
          <p:nvPr/>
        </p:nvSpPr>
        <p:spPr>
          <a:xfrm>
            <a:off x="612647" y="2166967"/>
            <a:ext cx="2514600" cy="2492955"/>
          </a:xfrm>
          <a:prstGeom prst="rect">
            <a:avLst/>
          </a:prstGeom>
          <a:noFill/>
          <a:ln w="9525">
            <a:solidFill>
              <a:srgbClr val="835CF5"/>
            </a:solidFill>
            <a:prstDash val="solid"/>
          </a:ln>
        </p:spPr>
      </p:sp>
      <p:sp>
        <p:nvSpPr>
          <p:cNvPr id="31" name="Text 19">
            <a:extLst>
              <a:ext uri="{FF2B5EF4-FFF2-40B4-BE49-F238E27FC236}">
                <a16:creationId xmlns:a16="http://schemas.microsoft.com/office/drawing/2014/main" id="{7413938A-2544-4B11-B0F4-FE658E224C31}"/>
              </a:ext>
            </a:extLst>
          </p:cNvPr>
          <p:cNvSpPr/>
          <p:nvPr/>
        </p:nvSpPr>
        <p:spPr>
          <a:xfrm>
            <a:off x="731519" y="2821450"/>
            <a:ext cx="2310619" cy="537737"/>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Aujourd’hui</a:t>
            </a:r>
            <a:r>
              <a:rPr lang="en-US" sz="1100" b="1" dirty="0">
                <a:latin typeface="Segoe UI" panose="020B0502040204020203" pitchFamily="34" charset="0"/>
                <a:ea typeface="IBM Plex Mono" pitchFamily="34" charset="-122"/>
                <a:cs typeface="Segoe UI" panose="020B0502040204020203" pitchFamily="34" charset="0"/>
              </a:rPr>
              <a:t> </a:t>
            </a:r>
          </a:p>
          <a:p>
            <a:pPr marL="176213" lvl="1"/>
            <a:r>
              <a:rPr lang="en-US" sz="1000" dirty="0">
                <a:latin typeface="Segoe UI" panose="020B0502040204020203" pitchFamily="34" charset="0"/>
                <a:ea typeface="IBM Plex Sans" pitchFamily="34" charset="-122"/>
                <a:cs typeface="Segoe UI" panose="020B0502040204020203" pitchFamily="34" charset="0"/>
              </a:rPr>
              <a:t>Planning, </a:t>
            </a:r>
            <a:r>
              <a:rPr lang="en-US" sz="1000" dirty="0" err="1">
                <a:latin typeface="Segoe UI" panose="020B0502040204020203" pitchFamily="34" charset="0"/>
                <a:ea typeface="IBM Plex Sans" pitchFamily="34" charset="-122"/>
                <a:cs typeface="Segoe UI" panose="020B0502040204020203" pitchFamily="34" charset="0"/>
              </a:rPr>
              <a:t>suivi</a:t>
            </a:r>
            <a:r>
              <a:rPr lang="en-US" sz="1000" dirty="0">
                <a:latin typeface="Segoe UI" panose="020B0502040204020203" pitchFamily="34" charset="0"/>
                <a:ea typeface="IBM Plex Sans" pitchFamily="34" charset="-122"/>
                <a:cs typeface="Segoe UI" panose="020B0502040204020203" pitchFamily="34" charset="0"/>
              </a:rPr>
              <a:t>, coordination, reporting.</a:t>
            </a:r>
            <a:endParaRPr lang="en-US" sz="1000" dirty="0">
              <a:latin typeface="Segoe UI" panose="020B0502040204020203" pitchFamily="34" charset="0"/>
              <a:cs typeface="Segoe UI" panose="020B0502040204020203" pitchFamily="34" charset="0"/>
            </a:endParaRPr>
          </a:p>
          <a:p>
            <a:pPr marL="0" indent="0">
              <a:buNone/>
            </a:pPr>
            <a:endParaRPr lang="en-US" sz="1100" dirty="0">
              <a:latin typeface="Segoe UI" panose="020B0502040204020203" pitchFamily="34" charset="0"/>
              <a:cs typeface="Segoe UI" panose="020B0502040204020203" pitchFamily="34" charset="0"/>
            </a:endParaRPr>
          </a:p>
        </p:txBody>
      </p:sp>
      <p:sp>
        <p:nvSpPr>
          <p:cNvPr id="32" name="Text 19">
            <a:extLst>
              <a:ext uri="{FF2B5EF4-FFF2-40B4-BE49-F238E27FC236}">
                <a16:creationId xmlns:a16="http://schemas.microsoft.com/office/drawing/2014/main" id="{1123210A-9C67-445F-BB16-4D5DA987BB47}"/>
              </a:ext>
            </a:extLst>
          </p:cNvPr>
          <p:cNvSpPr/>
          <p:nvPr/>
        </p:nvSpPr>
        <p:spPr>
          <a:xfrm>
            <a:off x="731518" y="3423138"/>
            <a:ext cx="2310619" cy="920262"/>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Demain</a:t>
            </a:r>
            <a:r>
              <a:rPr lang="en-US" sz="1100" b="1" dirty="0">
                <a:latin typeface="Segoe UI" panose="020B0502040204020203" pitchFamily="34" charset="0"/>
                <a:ea typeface="IBM Plex Mono" pitchFamily="34" charset="-122"/>
                <a:cs typeface="Segoe UI" panose="020B0502040204020203" pitchFamily="34" charset="0"/>
              </a:rPr>
              <a:t> </a:t>
            </a:r>
          </a:p>
          <a:p>
            <a:pPr marL="176213">
              <a:buNone/>
            </a:pPr>
            <a:r>
              <a:rPr lang="fr-FR" sz="1000" dirty="0">
                <a:latin typeface="Segoe UI" panose="020B0502040204020203" pitchFamily="34" charset="0"/>
                <a:ea typeface="IBM Plex Mono" pitchFamily="34" charset="-122"/>
                <a:cs typeface="Segoe UI" panose="020B0502040204020203" pitchFamily="34" charset="0"/>
              </a:rPr>
              <a:t>Pilotage des flux agentiques, supervision, gestion de la dérive, AI </a:t>
            </a:r>
            <a:r>
              <a:rPr lang="fr-FR" sz="1000" dirty="0" err="1">
                <a:latin typeface="Segoe UI" panose="020B0502040204020203" pitchFamily="34" charset="0"/>
                <a:ea typeface="IBM Plex Mono" pitchFamily="34" charset="-122"/>
                <a:cs typeface="Segoe UI" panose="020B0502040204020203" pitchFamily="34" charset="0"/>
              </a:rPr>
              <a:t>FinOps</a:t>
            </a:r>
            <a:r>
              <a:rPr lang="fr-FR" sz="1000" dirty="0">
                <a:latin typeface="Segoe UI" panose="020B0502040204020203" pitchFamily="34" charset="0"/>
                <a:ea typeface="IBM Plex Mono" pitchFamily="34" charset="-122"/>
                <a:cs typeface="Segoe UI" panose="020B0502040204020203" pitchFamily="34" charset="0"/>
              </a:rPr>
              <a:t> (coût LLM, ROI des agents)</a:t>
            </a:r>
          </a:p>
          <a:p>
            <a:pPr marL="0" indent="0">
              <a:buNone/>
            </a:pPr>
            <a:endParaRPr lang="en-US" sz="1100" dirty="0">
              <a:latin typeface="Segoe UI" panose="020B0502040204020203" pitchFamily="34" charset="0"/>
              <a:cs typeface="Segoe UI" panose="020B0502040204020203" pitchFamily="34" charset="0"/>
            </a:endParaRPr>
          </a:p>
        </p:txBody>
      </p:sp>
      <p:sp>
        <p:nvSpPr>
          <p:cNvPr id="33" name="Shape 18">
            <a:extLst>
              <a:ext uri="{FF2B5EF4-FFF2-40B4-BE49-F238E27FC236}">
                <a16:creationId xmlns:a16="http://schemas.microsoft.com/office/drawing/2014/main" id="{E9FA8D1A-B811-4ABB-ABA6-0693FEED4CD7}"/>
              </a:ext>
            </a:extLst>
          </p:cNvPr>
          <p:cNvSpPr/>
          <p:nvPr/>
        </p:nvSpPr>
        <p:spPr>
          <a:xfrm rot="5400000">
            <a:off x="4480557" y="822857"/>
            <a:ext cx="45719" cy="2514599"/>
          </a:xfrm>
          <a:prstGeom prst="rect">
            <a:avLst/>
          </a:prstGeom>
          <a:solidFill>
            <a:srgbClr val="835CF5"/>
          </a:solidFill>
          <a:ln>
            <a:solidFill>
              <a:srgbClr val="835CF5"/>
            </a:solidFill>
          </a:ln>
        </p:spPr>
      </p:sp>
      <p:sp>
        <p:nvSpPr>
          <p:cNvPr id="34" name="Text 19">
            <a:extLst>
              <a:ext uri="{FF2B5EF4-FFF2-40B4-BE49-F238E27FC236}">
                <a16:creationId xmlns:a16="http://schemas.microsoft.com/office/drawing/2014/main" id="{D302E7D8-7174-49E1-B87F-966499A4F20D}"/>
              </a:ext>
            </a:extLst>
          </p:cNvPr>
          <p:cNvSpPr/>
          <p:nvPr/>
        </p:nvSpPr>
        <p:spPr>
          <a:xfrm>
            <a:off x="3831333" y="2217212"/>
            <a:ext cx="1929383" cy="502920"/>
          </a:xfrm>
          <a:prstGeom prst="rect">
            <a:avLst/>
          </a:prstGeom>
          <a:noFill/>
          <a:ln/>
        </p:spPr>
        <p:txBody>
          <a:bodyPr wrap="square" rtlCol="0" anchor="ctr"/>
          <a:lstStyle/>
          <a:p>
            <a:pPr marL="0" indent="0">
              <a:buNone/>
            </a:pPr>
            <a:r>
              <a:rPr lang="en-US" sz="1100" b="1" dirty="0">
                <a:latin typeface="Segoe UI" panose="020B0502040204020203" pitchFamily="34" charset="0"/>
                <a:ea typeface="IBM Plex Mono" pitchFamily="34" charset="-122"/>
                <a:cs typeface="Segoe UI" panose="020B0502040204020203" pitchFamily="34" charset="0"/>
              </a:rPr>
              <a:t>Business </a:t>
            </a:r>
            <a:r>
              <a:rPr lang="en-US" sz="1100" b="1" dirty="0" err="1">
                <a:latin typeface="Segoe UI" panose="020B0502040204020203" pitchFamily="34" charset="0"/>
                <a:ea typeface="IBM Plex Mono" pitchFamily="34" charset="-122"/>
                <a:cs typeface="Segoe UI" panose="020B0502040204020203" pitchFamily="34" charset="0"/>
              </a:rPr>
              <a:t>Analyste</a:t>
            </a:r>
            <a:endParaRPr lang="en-US" sz="1100" b="1" dirty="0">
              <a:latin typeface="Segoe UI" panose="020B0502040204020203" pitchFamily="34" charset="0"/>
              <a:cs typeface="Segoe UI" panose="020B0502040204020203" pitchFamily="34" charset="0"/>
            </a:endParaRPr>
          </a:p>
        </p:txBody>
      </p:sp>
      <p:sp>
        <p:nvSpPr>
          <p:cNvPr id="35" name="Shape 17">
            <a:extLst>
              <a:ext uri="{FF2B5EF4-FFF2-40B4-BE49-F238E27FC236}">
                <a16:creationId xmlns:a16="http://schemas.microsoft.com/office/drawing/2014/main" id="{B0B68AF9-41CF-4098-89AA-2545C8DDA750}"/>
              </a:ext>
            </a:extLst>
          </p:cNvPr>
          <p:cNvSpPr/>
          <p:nvPr/>
        </p:nvSpPr>
        <p:spPr>
          <a:xfrm>
            <a:off x="3246117" y="2166967"/>
            <a:ext cx="2514600" cy="2492955"/>
          </a:xfrm>
          <a:prstGeom prst="rect">
            <a:avLst/>
          </a:prstGeom>
          <a:noFill/>
          <a:ln w="9525">
            <a:solidFill>
              <a:srgbClr val="835CF5"/>
            </a:solidFill>
            <a:prstDash val="solid"/>
          </a:ln>
        </p:spPr>
      </p:sp>
      <p:sp>
        <p:nvSpPr>
          <p:cNvPr id="39" name="Shape 18">
            <a:extLst>
              <a:ext uri="{FF2B5EF4-FFF2-40B4-BE49-F238E27FC236}">
                <a16:creationId xmlns:a16="http://schemas.microsoft.com/office/drawing/2014/main" id="{66B233C8-4482-45BB-B4AE-DBD331FEEEDF}"/>
              </a:ext>
            </a:extLst>
          </p:cNvPr>
          <p:cNvSpPr/>
          <p:nvPr/>
        </p:nvSpPr>
        <p:spPr>
          <a:xfrm rot="5400000">
            <a:off x="7080507" y="822857"/>
            <a:ext cx="45719" cy="2514599"/>
          </a:xfrm>
          <a:prstGeom prst="rect">
            <a:avLst/>
          </a:prstGeom>
          <a:solidFill>
            <a:srgbClr val="835CF5"/>
          </a:solidFill>
          <a:ln>
            <a:solidFill>
              <a:srgbClr val="835CF5"/>
            </a:solidFill>
          </a:ln>
        </p:spPr>
      </p:sp>
      <p:sp>
        <p:nvSpPr>
          <p:cNvPr id="40" name="Text 19">
            <a:extLst>
              <a:ext uri="{FF2B5EF4-FFF2-40B4-BE49-F238E27FC236}">
                <a16:creationId xmlns:a16="http://schemas.microsoft.com/office/drawing/2014/main" id="{39113CA5-1755-4DE7-888E-BBE5118FB9B2}"/>
              </a:ext>
            </a:extLst>
          </p:cNvPr>
          <p:cNvSpPr/>
          <p:nvPr/>
        </p:nvSpPr>
        <p:spPr>
          <a:xfrm>
            <a:off x="6431283" y="2217212"/>
            <a:ext cx="1929383" cy="502920"/>
          </a:xfrm>
          <a:prstGeom prst="rect">
            <a:avLst/>
          </a:prstGeom>
          <a:noFill/>
          <a:ln/>
        </p:spPr>
        <p:txBody>
          <a:bodyPr wrap="square" rtlCol="0" anchor="ctr"/>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Architecte</a:t>
            </a:r>
            <a:endParaRPr lang="en-US" sz="1100" b="1" dirty="0">
              <a:latin typeface="Segoe UI" panose="020B0502040204020203" pitchFamily="34" charset="0"/>
              <a:cs typeface="Segoe UI" panose="020B0502040204020203" pitchFamily="34" charset="0"/>
            </a:endParaRPr>
          </a:p>
        </p:txBody>
      </p:sp>
      <p:sp>
        <p:nvSpPr>
          <p:cNvPr id="41" name="Shape 17">
            <a:extLst>
              <a:ext uri="{FF2B5EF4-FFF2-40B4-BE49-F238E27FC236}">
                <a16:creationId xmlns:a16="http://schemas.microsoft.com/office/drawing/2014/main" id="{3EA776AD-4826-44C9-BBDC-97371F379599}"/>
              </a:ext>
            </a:extLst>
          </p:cNvPr>
          <p:cNvSpPr/>
          <p:nvPr/>
        </p:nvSpPr>
        <p:spPr>
          <a:xfrm>
            <a:off x="5846067" y="2166967"/>
            <a:ext cx="2514600" cy="2492955"/>
          </a:xfrm>
          <a:prstGeom prst="rect">
            <a:avLst/>
          </a:prstGeom>
          <a:noFill/>
          <a:ln w="9525">
            <a:solidFill>
              <a:srgbClr val="835CF5"/>
            </a:solidFill>
            <a:prstDash val="solid"/>
          </a:ln>
        </p:spPr>
      </p:sp>
      <p:sp>
        <p:nvSpPr>
          <p:cNvPr id="45" name="Shape 18">
            <a:extLst>
              <a:ext uri="{FF2B5EF4-FFF2-40B4-BE49-F238E27FC236}">
                <a16:creationId xmlns:a16="http://schemas.microsoft.com/office/drawing/2014/main" id="{A7BA9EC8-D26B-4893-88AA-4B26CA3B0603}"/>
              </a:ext>
            </a:extLst>
          </p:cNvPr>
          <p:cNvSpPr/>
          <p:nvPr/>
        </p:nvSpPr>
        <p:spPr>
          <a:xfrm rot="5400000">
            <a:off x="9713977" y="822857"/>
            <a:ext cx="45719" cy="2514599"/>
          </a:xfrm>
          <a:prstGeom prst="rect">
            <a:avLst/>
          </a:prstGeom>
          <a:solidFill>
            <a:srgbClr val="835CF5"/>
          </a:solidFill>
          <a:ln>
            <a:solidFill>
              <a:srgbClr val="835CF5"/>
            </a:solidFill>
          </a:ln>
        </p:spPr>
      </p:sp>
      <p:sp>
        <p:nvSpPr>
          <p:cNvPr id="46" name="Text 19">
            <a:extLst>
              <a:ext uri="{FF2B5EF4-FFF2-40B4-BE49-F238E27FC236}">
                <a16:creationId xmlns:a16="http://schemas.microsoft.com/office/drawing/2014/main" id="{4DBC26A3-2F5A-485E-A658-DE8EFCDA123D}"/>
              </a:ext>
            </a:extLst>
          </p:cNvPr>
          <p:cNvSpPr/>
          <p:nvPr/>
        </p:nvSpPr>
        <p:spPr>
          <a:xfrm>
            <a:off x="9064753" y="2217212"/>
            <a:ext cx="1929383" cy="502920"/>
          </a:xfrm>
          <a:prstGeom prst="rect">
            <a:avLst/>
          </a:prstGeom>
          <a:noFill/>
          <a:ln/>
        </p:spPr>
        <p:txBody>
          <a:bodyPr wrap="square" rtlCol="0" anchor="ctr"/>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Développeur</a:t>
            </a:r>
            <a:endParaRPr lang="en-US" sz="1100" b="1" dirty="0">
              <a:latin typeface="Segoe UI" panose="020B0502040204020203" pitchFamily="34" charset="0"/>
              <a:cs typeface="Segoe UI" panose="020B0502040204020203" pitchFamily="34" charset="0"/>
            </a:endParaRPr>
          </a:p>
        </p:txBody>
      </p:sp>
      <p:sp>
        <p:nvSpPr>
          <p:cNvPr id="47" name="Shape 17">
            <a:extLst>
              <a:ext uri="{FF2B5EF4-FFF2-40B4-BE49-F238E27FC236}">
                <a16:creationId xmlns:a16="http://schemas.microsoft.com/office/drawing/2014/main" id="{927D713E-0E16-4EB8-8667-A319119ABD6F}"/>
              </a:ext>
            </a:extLst>
          </p:cNvPr>
          <p:cNvSpPr/>
          <p:nvPr/>
        </p:nvSpPr>
        <p:spPr>
          <a:xfrm>
            <a:off x="8479537" y="2166967"/>
            <a:ext cx="2514600" cy="2492955"/>
          </a:xfrm>
          <a:prstGeom prst="rect">
            <a:avLst/>
          </a:prstGeom>
          <a:noFill/>
          <a:ln w="9525">
            <a:solidFill>
              <a:srgbClr val="835CF5"/>
            </a:solidFill>
            <a:prstDash val="solid"/>
          </a:ln>
        </p:spPr>
      </p:sp>
      <p:pic>
        <p:nvPicPr>
          <p:cNvPr id="48" name="Image 0" descr="preencoded.png">
            <a:extLst>
              <a:ext uri="{FF2B5EF4-FFF2-40B4-BE49-F238E27FC236}">
                <a16:creationId xmlns:a16="http://schemas.microsoft.com/office/drawing/2014/main" id="{30B70152-E3CE-4040-A1AA-9D2D1BD95656}"/>
              </a:ext>
            </a:extLst>
          </p:cNvPr>
          <p:cNvPicPr>
            <a:picLocks noChangeAspect="1"/>
          </p:cNvPicPr>
          <p:nvPr/>
        </p:nvPicPr>
        <p:blipFill>
          <a:blip r:embed="rId2">
            <a:duotone>
              <a:prstClr val="black"/>
              <a:srgbClr val="835CF5">
                <a:tint val="45000"/>
                <a:satMod val="400000"/>
              </a:srgbClr>
            </a:duotone>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Lst>
          </a:blip>
          <a:stretch>
            <a:fillRect/>
          </a:stretch>
        </p:blipFill>
        <p:spPr>
          <a:xfrm>
            <a:off x="3398511" y="2291874"/>
            <a:ext cx="347472" cy="347472"/>
          </a:xfrm>
          <a:prstGeom prst="rect">
            <a:avLst/>
          </a:prstGeom>
        </p:spPr>
      </p:pic>
      <p:pic>
        <p:nvPicPr>
          <p:cNvPr id="51" name="Image 1" descr="preencoded.png">
            <a:extLst>
              <a:ext uri="{FF2B5EF4-FFF2-40B4-BE49-F238E27FC236}">
                <a16:creationId xmlns:a16="http://schemas.microsoft.com/office/drawing/2014/main" id="{3C1D8E61-3983-49C6-94F1-7DD22FBD0F91}"/>
              </a:ext>
            </a:extLst>
          </p:cNvPr>
          <p:cNvPicPr>
            <a:picLocks noChangeAspect="1"/>
          </p:cNvPicPr>
          <p:nvPr/>
        </p:nvPicPr>
        <p:blipFill>
          <a:blip r:embed="rId4">
            <a:duotone>
              <a:prstClr val="black"/>
              <a:srgbClr val="835CF5">
                <a:tint val="45000"/>
                <a:satMod val="400000"/>
              </a:srgbClr>
            </a:duotone>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8598410" y="2300444"/>
            <a:ext cx="347472" cy="347472"/>
          </a:xfrm>
          <a:prstGeom prst="rect">
            <a:avLst/>
          </a:prstGeom>
        </p:spPr>
      </p:pic>
      <p:pic>
        <p:nvPicPr>
          <p:cNvPr id="52" name="Image 2" descr="preencoded.png">
            <a:extLst>
              <a:ext uri="{FF2B5EF4-FFF2-40B4-BE49-F238E27FC236}">
                <a16:creationId xmlns:a16="http://schemas.microsoft.com/office/drawing/2014/main" id="{E0029D35-F8BF-41D5-81CF-6897B0A8E937}"/>
              </a:ext>
            </a:extLst>
          </p:cNvPr>
          <p:cNvPicPr>
            <a:picLocks noChangeAspect="1"/>
          </p:cNvPicPr>
          <p:nvPr/>
        </p:nvPicPr>
        <p:blipFill>
          <a:blip r:embed="rId6">
            <a:duotone>
              <a:prstClr val="black"/>
              <a:srgbClr val="835CF5">
                <a:tint val="45000"/>
                <a:satMod val="400000"/>
              </a:srgbClr>
            </a:duotone>
            <a:extLst>
              <a:ext uri="{BEBA8EAE-BF5A-486C-A8C5-ECC9F3942E4B}">
                <a14:imgProps xmlns:a14="http://schemas.microsoft.com/office/drawing/2010/main">
                  <a14:imgLayer r:embed="rId7">
                    <a14:imgEffect>
                      <a14:brightnessContrast bright="40000" contrast="-40000"/>
                    </a14:imgEffect>
                  </a14:imgLayer>
                </a14:imgProps>
              </a:ext>
            </a:extLst>
          </a:blip>
          <a:stretch>
            <a:fillRect/>
          </a:stretch>
        </p:blipFill>
        <p:spPr>
          <a:xfrm>
            <a:off x="5964939" y="2291874"/>
            <a:ext cx="347472" cy="347472"/>
          </a:xfrm>
          <a:prstGeom prst="rect">
            <a:avLst/>
          </a:prstGeom>
        </p:spPr>
      </p:pic>
      <p:pic>
        <p:nvPicPr>
          <p:cNvPr id="53" name="Image 3" descr="preencoded.png">
            <a:extLst>
              <a:ext uri="{FF2B5EF4-FFF2-40B4-BE49-F238E27FC236}">
                <a16:creationId xmlns:a16="http://schemas.microsoft.com/office/drawing/2014/main" id="{99C5E1C7-9DC6-4C9F-95EC-80521C9FFC86}"/>
              </a:ext>
            </a:extLst>
          </p:cNvPr>
          <p:cNvPicPr>
            <a:picLocks noChangeAspect="1"/>
          </p:cNvPicPr>
          <p:nvPr/>
        </p:nvPicPr>
        <p:blipFill>
          <a:blip r:embed="rId8">
            <a:duotone>
              <a:prstClr val="black"/>
              <a:srgbClr val="835CF5">
                <a:tint val="45000"/>
                <a:satMod val="400000"/>
              </a:srgbClr>
            </a:duotone>
            <a:extLst>
              <a:ext uri="{BEBA8EAE-BF5A-486C-A8C5-ECC9F3942E4B}">
                <a14:imgProps xmlns:a14="http://schemas.microsoft.com/office/drawing/2010/main">
                  <a14:imgLayer r:embed="rId9">
                    <a14:imgEffect>
                      <a14:brightnessContrast bright="40000" contrast="-40000"/>
                    </a14:imgEffect>
                  </a14:imgLayer>
                </a14:imgProps>
              </a:ext>
            </a:extLst>
          </a:blip>
          <a:stretch>
            <a:fillRect/>
          </a:stretch>
        </p:blipFill>
        <p:spPr>
          <a:xfrm>
            <a:off x="731519" y="2300444"/>
            <a:ext cx="347472" cy="347472"/>
          </a:xfrm>
          <a:prstGeom prst="rect">
            <a:avLst/>
          </a:prstGeom>
        </p:spPr>
      </p:pic>
      <p:sp>
        <p:nvSpPr>
          <p:cNvPr id="55" name="Text 19">
            <a:extLst>
              <a:ext uri="{FF2B5EF4-FFF2-40B4-BE49-F238E27FC236}">
                <a16:creationId xmlns:a16="http://schemas.microsoft.com/office/drawing/2014/main" id="{DF70322E-6EEF-4542-8740-B6C5B9433C4C}"/>
              </a:ext>
            </a:extLst>
          </p:cNvPr>
          <p:cNvSpPr/>
          <p:nvPr/>
        </p:nvSpPr>
        <p:spPr>
          <a:xfrm>
            <a:off x="3371898" y="2821450"/>
            <a:ext cx="2310619" cy="537737"/>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Aujourd’hui</a:t>
            </a:r>
            <a:r>
              <a:rPr lang="en-US" sz="1100" b="1" dirty="0">
                <a:latin typeface="Segoe UI" panose="020B0502040204020203" pitchFamily="34" charset="0"/>
                <a:ea typeface="IBM Plex Mono" pitchFamily="34" charset="-122"/>
                <a:cs typeface="Segoe UI" panose="020B0502040204020203" pitchFamily="34" charset="0"/>
              </a:rPr>
              <a:t> </a:t>
            </a:r>
          </a:p>
          <a:p>
            <a:pPr marL="176213" lvl="1"/>
            <a:r>
              <a:rPr lang="en-US" sz="1000" dirty="0" err="1">
                <a:latin typeface="Segoe UI" panose="020B0502040204020203" pitchFamily="34" charset="0"/>
                <a:ea typeface="IBM Plex Sans" pitchFamily="34" charset="-122"/>
                <a:cs typeface="Segoe UI" panose="020B0502040204020203" pitchFamily="34" charset="0"/>
              </a:rPr>
              <a:t>Spécification</a:t>
            </a:r>
            <a:r>
              <a:rPr lang="en-US" sz="1000" dirty="0">
                <a:latin typeface="Segoe UI" panose="020B0502040204020203" pitchFamily="34" charset="0"/>
                <a:ea typeface="IBM Plex Sans" pitchFamily="34" charset="-122"/>
                <a:cs typeface="Segoe UI" panose="020B0502040204020203" pitchFamily="34" charset="0"/>
              </a:rPr>
              <a:t>, </a:t>
            </a:r>
            <a:r>
              <a:rPr lang="en-US" sz="1000" dirty="0" err="1">
                <a:latin typeface="Segoe UI" panose="020B0502040204020203" pitchFamily="34" charset="0"/>
                <a:ea typeface="IBM Plex Sans" pitchFamily="34" charset="-122"/>
                <a:cs typeface="Segoe UI" panose="020B0502040204020203" pitchFamily="34" charset="0"/>
              </a:rPr>
              <a:t>recette</a:t>
            </a:r>
            <a:r>
              <a:rPr lang="en-US" sz="1000" dirty="0">
                <a:latin typeface="Segoe UI" panose="020B0502040204020203" pitchFamily="34" charset="0"/>
                <a:ea typeface="IBM Plex Sans" pitchFamily="34" charset="-122"/>
                <a:cs typeface="Segoe UI" panose="020B0502040204020203" pitchFamily="34" charset="0"/>
              </a:rPr>
              <a:t>, coordination technique.</a:t>
            </a:r>
          </a:p>
          <a:p>
            <a:pPr marL="0" indent="0">
              <a:buNone/>
            </a:pPr>
            <a:endParaRPr lang="en-US" sz="1100" dirty="0">
              <a:latin typeface="Segoe UI" panose="020B0502040204020203" pitchFamily="34" charset="0"/>
              <a:cs typeface="Segoe UI" panose="020B0502040204020203" pitchFamily="34" charset="0"/>
            </a:endParaRPr>
          </a:p>
        </p:txBody>
      </p:sp>
      <p:sp>
        <p:nvSpPr>
          <p:cNvPr id="56" name="Text 19">
            <a:extLst>
              <a:ext uri="{FF2B5EF4-FFF2-40B4-BE49-F238E27FC236}">
                <a16:creationId xmlns:a16="http://schemas.microsoft.com/office/drawing/2014/main" id="{50AD8A78-9EEC-4A31-A5B2-23BB790EF77B}"/>
              </a:ext>
            </a:extLst>
          </p:cNvPr>
          <p:cNvSpPr/>
          <p:nvPr/>
        </p:nvSpPr>
        <p:spPr>
          <a:xfrm>
            <a:off x="3371897" y="3423138"/>
            <a:ext cx="2310619" cy="920262"/>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Demain</a:t>
            </a:r>
            <a:r>
              <a:rPr lang="en-US" sz="1100" b="1" dirty="0">
                <a:latin typeface="Segoe UI" panose="020B0502040204020203" pitchFamily="34" charset="0"/>
                <a:ea typeface="IBM Plex Mono" pitchFamily="34" charset="-122"/>
                <a:cs typeface="Segoe UI" panose="020B0502040204020203" pitchFamily="34" charset="0"/>
              </a:rPr>
              <a:t> </a:t>
            </a:r>
          </a:p>
          <a:p>
            <a:pPr marL="176213">
              <a:buNone/>
            </a:pPr>
            <a:r>
              <a:rPr lang="fr-FR" sz="1000" dirty="0">
                <a:latin typeface="Segoe UI" panose="020B0502040204020203" pitchFamily="34" charset="0"/>
                <a:ea typeface="IBM Plex Mono" pitchFamily="34" charset="-122"/>
                <a:cs typeface="Segoe UI" panose="020B0502040204020203" pitchFamily="34" charset="0"/>
              </a:rPr>
              <a:t>Garant de la valeur : alimente les agents, évalue leurs outputs. Son empathie utilisateur devient le carburant du réseau de connaissances.</a:t>
            </a:r>
          </a:p>
          <a:p>
            <a:pPr marL="0" indent="0">
              <a:buNone/>
            </a:pPr>
            <a:endParaRPr lang="en-US" sz="1100" dirty="0">
              <a:latin typeface="Segoe UI" panose="020B0502040204020203" pitchFamily="34" charset="0"/>
              <a:cs typeface="Segoe UI" panose="020B0502040204020203" pitchFamily="34" charset="0"/>
            </a:endParaRPr>
          </a:p>
        </p:txBody>
      </p:sp>
      <p:sp>
        <p:nvSpPr>
          <p:cNvPr id="57" name="Text 19">
            <a:extLst>
              <a:ext uri="{FF2B5EF4-FFF2-40B4-BE49-F238E27FC236}">
                <a16:creationId xmlns:a16="http://schemas.microsoft.com/office/drawing/2014/main" id="{EB43662F-DD2A-47FD-A620-8E2B4453DD96}"/>
              </a:ext>
            </a:extLst>
          </p:cNvPr>
          <p:cNvSpPr/>
          <p:nvPr/>
        </p:nvSpPr>
        <p:spPr>
          <a:xfrm>
            <a:off x="5999179" y="2821450"/>
            <a:ext cx="2310619" cy="537737"/>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Aujourd’hui</a:t>
            </a:r>
            <a:r>
              <a:rPr lang="en-US" sz="1100" b="1" dirty="0">
                <a:latin typeface="Segoe UI" panose="020B0502040204020203" pitchFamily="34" charset="0"/>
                <a:ea typeface="IBM Plex Mono" pitchFamily="34" charset="-122"/>
                <a:cs typeface="Segoe UI" panose="020B0502040204020203" pitchFamily="34" charset="0"/>
              </a:rPr>
              <a:t> </a:t>
            </a:r>
          </a:p>
          <a:p>
            <a:pPr marL="176213" lvl="1"/>
            <a:r>
              <a:rPr lang="en-US" sz="1000" dirty="0">
                <a:latin typeface="Segoe UI" panose="020B0502040204020203" pitchFamily="34" charset="0"/>
                <a:ea typeface="IBM Plex Sans" pitchFamily="34" charset="-122"/>
                <a:cs typeface="Segoe UI" panose="020B0502040204020203" pitchFamily="34" charset="0"/>
              </a:rPr>
              <a:t>Patterns techniques, arbitrages, doc.</a:t>
            </a:r>
          </a:p>
          <a:p>
            <a:pPr marL="0" indent="0">
              <a:buNone/>
            </a:pPr>
            <a:endParaRPr lang="en-US" sz="1100" dirty="0">
              <a:latin typeface="Segoe UI" panose="020B0502040204020203" pitchFamily="34" charset="0"/>
              <a:cs typeface="Segoe UI" panose="020B0502040204020203" pitchFamily="34" charset="0"/>
            </a:endParaRPr>
          </a:p>
        </p:txBody>
      </p:sp>
      <p:sp>
        <p:nvSpPr>
          <p:cNvPr id="58" name="Text 19">
            <a:extLst>
              <a:ext uri="{FF2B5EF4-FFF2-40B4-BE49-F238E27FC236}">
                <a16:creationId xmlns:a16="http://schemas.microsoft.com/office/drawing/2014/main" id="{6BC8802C-5FF3-41EC-BD64-D75D250CAAD3}"/>
              </a:ext>
            </a:extLst>
          </p:cNvPr>
          <p:cNvSpPr/>
          <p:nvPr/>
        </p:nvSpPr>
        <p:spPr>
          <a:xfrm>
            <a:off x="5999178" y="3423138"/>
            <a:ext cx="2310619" cy="920262"/>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Demain</a:t>
            </a:r>
            <a:r>
              <a:rPr lang="en-US" sz="1100" b="1" dirty="0">
                <a:latin typeface="Segoe UI" panose="020B0502040204020203" pitchFamily="34" charset="0"/>
                <a:ea typeface="IBM Plex Mono" pitchFamily="34" charset="-122"/>
                <a:cs typeface="Segoe UI" panose="020B0502040204020203" pitchFamily="34" charset="0"/>
              </a:rPr>
              <a:t> </a:t>
            </a:r>
          </a:p>
          <a:p>
            <a:pPr marL="176213">
              <a:buNone/>
            </a:pPr>
            <a:r>
              <a:rPr lang="fr-FR" sz="1000" dirty="0">
                <a:latin typeface="Segoe UI" panose="020B0502040204020203" pitchFamily="34" charset="0"/>
                <a:ea typeface="IBM Plex Mono" pitchFamily="34" charset="-122"/>
                <a:cs typeface="Segoe UI" panose="020B0502040204020203" pitchFamily="34" charset="0"/>
              </a:rPr>
              <a:t>Architecte du système </a:t>
            </a:r>
            <a:r>
              <a:rPr lang="fr-FR" sz="1000" dirty="0" err="1">
                <a:latin typeface="Segoe UI" panose="020B0502040204020203" pitchFamily="34" charset="0"/>
                <a:ea typeface="IBM Plex Mono" pitchFamily="34" charset="-122"/>
                <a:cs typeface="Segoe UI" panose="020B0502040204020203" pitchFamily="34" charset="0"/>
              </a:rPr>
              <a:t>agentic</a:t>
            </a:r>
            <a:r>
              <a:rPr lang="fr-FR" sz="1000" dirty="0">
                <a:latin typeface="Segoe UI" panose="020B0502040204020203" pitchFamily="34" charset="0"/>
                <a:ea typeface="IBM Plex Mono" pitchFamily="34" charset="-122"/>
                <a:cs typeface="Segoe UI" panose="020B0502040204020203" pitchFamily="34" charset="0"/>
              </a:rPr>
              <a:t> : </a:t>
            </a:r>
            <a:r>
              <a:rPr lang="fr-FR" sz="1000" dirty="0" err="1">
                <a:latin typeface="Segoe UI" panose="020B0502040204020203" pitchFamily="34" charset="0"/>
                <a:ea typeface="IBM Plex Mono" pitchFamily="34" charset="-122"/>
                <a:cs typeface="Segoe UI" panose="020B0502040204020203" pitchFamily="34" charset="0"/>
              </a:rPr>
              <a:t>guardrails</a:t>
            </a:r>
            <a:r>
              <a:rPr lang="fr-FR" sz="1000" dirty="0">
                <a:latin typeface="Segoe UI" panose="020B0502040204020203" pitchFamily="34" charset="0"/>
                <a:ea typeface="IBM Plex Mono" pitchFamily="34" charset="-122"/>
                <a:cs typeface="Segoe UI" panose="020B0502040204020203" pitchFamily="34" charset="0"/>
              </a:rPr>
              <a:t>, gouvernance des </a:t>
            </a:r>
            <a:r>
              <a:rPr lang="fr-FR" sz="1000" dirty="0" err="1">
                <a:latin typeface="Segoe UI" panose="020B0502040204020203" pitchFamily="34" charset="0"/>
                <a:ea typeface="IBM Plex Mono" pitchFamily="34" charset="-122"/>
                <a:cs typeface="Segoe UI" panose="020B0502040204020203" pitchFamily="34" charset="0"/>
              </a:rPr>
              <a:t>blueprints</a:t>
            </a:r>
            <a:r>
              <a:rPr lang="fr-FR" sz="1000" dirty="0">
                <a:latin typeface="Segoe UI" panose="020B0502040204020203" pitchFamily="34" charset="0"/>
                <a:ea typeface="IBM Plex Mono" pitchFamily="34" charset="-122"/>
                <a:cs typeface="Segoe UI" panose="020B0502040204020203" pitchFamily="34" charset="0"/>
              </a:rPr>
              <a:t>, cohérence multi-agents. L'architecture devient un asset majeur.</a:t>
            </a:r>
          </a:p>
          <a:p>
            <a:pPr marL="0" indent="0">
              <a:buNone/>
            </a:pPr>
            <a:endParaRPr lang="en-US" sz="1100" dirty="0">
              <a:latin typeface="Segoe UI" panose="020B0502040204020203" pitchFamily="34" charset="0"/>
              <a:cs typeface="Segoe UI" panose="020B0502040204020203" pitchFamily="34" charset="0"/>
            </a:endParaRPr>
          </a:p>
        </p:txBody>
      </p:sp>
      <p:sp>
        <p:nvSpPr>
          <p:cNvPr id="59" name="Text 19">
            <a:extLst>
              <a:ext uri="{FF2B5EF4-FFF2-40B4-BE49-F238E27FC236}">
                <a16:creationId xmlns:a16="http://schemas.microsoft.com/office/drawing/2014/main" id="{8B751FAC-4A72-4A7A-875E-17B43551497D}"/>
              </a:ext>
            </a:extLst>
          </p:cNvPr>
          <p:cNvSpPr/>
          <p:nvPr/>
        </p:nvSpPr>
        <p:spPr>
          <a:xfrm>
            <a:off x="8639558" y="2821450"/>
            <a:ext cx="2310619" cy="537737"/>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Aujourd’hui</a:t>
            </a:r>
            <a:r>
              <a:rPr lang="en-US" sz="1100" b="1" dirty="0">
                <a:latin typeface="Segoe UI" panose="020B0502040204020203" pitchFamily="34" charset="0"/>
                <a:ea typeface="IBM Plex Mono" pitchFamily="34" charset="-122"/>
                <a:cs typeface="Segoe UI" panose="020B0502040204020203" pitchFamily="34" charset="0"/>
              </a:rPr>
              <a:t> </a:t>
            </a:r>
          </a:p>
          <a:p>
            <a:pPr marL="176213" lvl="1"/>
            <a:r>
              <a:rPr lang="fr-FR" sz="1000" dirty="0">
                <a:latin typeface="Segoe UI" panose="020B0502040204020203" pitchFamily="34" charset="0"/>
                <a:ea typeface="IBM Plex Sans" pitchFamily="34" charset="-122"/>
                <a:cs typeface="Segoe UI" panose="020B0502040204020203" pitchFamily="34" charset="0"/>
              </a:rPr>
              <a:t>Auteur du code, </a:t>
            </a:r>
            <a:r>
              <a:rPr lang="fr-FR" sz="1000" dirty="0" err="1">
                <a:latin typeface="Segoe UI" panose="020B0502040204020203" pitchFamily="34" charset="0"/>
                <a:ea typeface="IBM Plex Sans" pitchFamily="34" charset="-122"/>
                <a:cs typeface="Segoe UI" panose="020B0502040204020203" pitchFamily="34" charset="0"/>
              </a:rPr>
              <a:t>debug</a:t>
            </a:r>
            <a:r>
              <a:rPr lang="fr-FR" sz="1000" dirty="0">
                <a:latin typeface="Segoe UI" panose="020B0502040204020203" pitchFamily="34" charset="0"/>
                <a:ea typeface="IBM Plex Sans" pitchFamily="34" charset="-122"/>
                <a:cs typeface="Segoe UI" panose="020B0502040204020203" pitchFamily="34" charset="0"/>
              </a:rPr>
              <a:t>, revue manuelle.</a:t>
            </a:r>
          </a:p>
          <a:p>
            <a:pPr marL="0" indent="0">
              <a:buNone/>
            </a:pPr>
            <a:endParaRPr lang="en-US" sz="1100" dirty="0">
              <a:latin typeface="Segoe UI" panose="020B0502040204020203" pitchFamily="34" charset="0"/>
              <a:cs typeface="Segoe UI" panose="020B0502040204020203" pitchFamily="34" charset="0"/>
            </a:endParaRPr>
          </a:p>
        </p:txBody>
      </p:sp>
      <p:sp>
        <p:nvSpPr>
          <p:cNvPr id="60" name="Text 19">
            <a:extLst>
              <a:ext uri="{FF2B5EF4-FFF2-40B4-BE49-F238E27FC236}">
                <a16:creationId xmlns:a16="http://schemas.microsoft.com/office/drawing/2014/main" id="{991A3EB1-D22A-4F68-9A64-FFB2403BA810}"/>
              </a:ext>
            </a:extLst>
          </p:cNvPr>
          <p:cNvSpPr/>
          <p:nvPr/>
        </p:nvSpPr>
        <p:spPr>
          <a:xfrm>
            <a:off x="8639557" y="3423138"/>
            <a:ext cx="2310619" cy="920262"/>
          </a:xfrm>
          <a:prstGeom prst="rect">
            <a:avLst/>
          </a:prstGeom>
          <a:noFill/>
          <a:ln/>
        </p:spPr>
        <p:txBody>
          <a:bodyPr wrap="square" rtlCol="0" anchor="t"/>
          <a:lstStyle/>
          <a:p>
            <a:pPr marL="0" indent="0">
              <a:buNone/>
            </a:pPr>
            <a:r>
              <a:rPr lang="en-US" sz="1100" b="1" dirty="0" err="1">
                <a:latin typeface="Segoe UI" panose="020B0502040204020203" pitchFamily="34" charset="0"/>
                <a:ea typeface="IBM Plex Mono" pitchFamily="34" charset="-122"/>
                <a:cs typeface="Segoe UI" panose="020B0502040204020203" pitchFamily="34" charset="0"/>
              </a:rPr>
              <a:t>Demain</a:t>
            </a:r>
            <a:r>
              <a:rPr lang="en-US" sz="1100" b="1" dirty="0">
                <a:latin typeface="Segoe UI" panose="020B0502040204020203" pitchFamily="34" charset="0"/>
                <a:ea typeface="IBM Plex Mono" pitchFamily="34" charset="-122"/>
                <a:cs typeface="Segoe UI" panose="020B0502040204020203" pitchFamily="34" charset="0"/>
              </a:rPr>
              <a:t> </a:t>
            </a:r>
          </a:p>
          <a:p>
            <a:pPr marL="176213">
              <a:buNone/>
            </a:pPr>
            <a:r>
              <a:rPr lang="fr-FR" sz="1000" dirty="0">
                <a:latin typeface="Segoe UI" panose="020B0502040204020203" pitchFamily="34" charset="0"/>
                <a:ea typeface="IBM Plex Mono" pitchFamily="34" charset="-122"/>
                <a:cs typeface="Segoe UI" panose="020B0502040204020203" pitchFamily="34" charset="0"/>
              </a:rPr>
              <a:t>De créateur à gouverneur : orchestre et audite les agents, architecture les flux. Juniors via mob </a:t>
            </a:r>
            <a:r>
              <a:rPr lang="fr-FR" sz="1000" dirty="0" err="1">
                <a:latin typeface="Segoe UI" panose="020B0502040204020203" pitchFamily="34" charset="0"/>
                <a:ea typeface="IBM Plex Mono" pitchFamily="34" charset="-122"/>
                <a:cs typeface="Segoe UI" panose="020B0502040204020203" pitchFamily="34" charset="0"/>
              </a:rPr>
              <a:t>programming</a:t>
            </a:r>
            <a:r>
              <a:rPr lang="fr-FR" sz="1000" dirty="0">
                <a:latin typeface="Segoe UI" panose="020B0502040204020203" pitchFamily="34" charset="0"/>
                <a:ea typeface="IBM Plex Mono" pitchFamily="34" charset="-122"/>
                <a:cs typeface="Segoe UI" panose="020B0502040204020203" pitchFamily="34" charset="0"/>
              </a:rPr>
              <a:t>, seniors en Agent </a:t>
            </a:r>
            <a:r>
              <a:rPr lang="fr-FR" sz="1000" dirty="0" err="1">
                <a:latin typeface="Segoe UI" panose="020B0502040204020203" pitchFamily="34" charset="0"/>
                <a:ea typeface="IBM Plex Mono" pitchFamily="34" charset="-122"/>
                <a:cs typeface="Segoe UI" panose="020B0502040204020203" pitchFamily="34" charset="0"/>
              </a:rPr>
              <a:t>Reliability</a:t>
            </a:r>
            <a:r>
              <a:rPr lang="fr-FR" sz="1000" dirty="0">
                <a:latin typeface="Segoe UI" panose="020B0502040204020203" pitchFamily="34" charset="0"/>
                <a:ea typeface="IBM Plex Mono" pitchFamily="34" charset="-122"/>
                <a:cs typeface="Segoe UI" panose="020B0502040204020203" pitchFamily="34" charset="0"/>
              </a:rPr>
              <a:t>.</a:t>
            </a:r>
          </a:p>
          <a:p>
            <a:pPr marL="0" indent="0">
              <a:buNone/>
            </a:pPr>
            <a:endParaRPr lang="en-US"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9059893"/>
      </p:ext>
    </p:extLst>
  </p:cSld>
  <p:clrMapOvr>
    <a:masterClrMapping/>
  </p:clrMapOvr>
</p:sld>
</file>

<file path=ppt/theme/theme1.xml><?xml version="1.0" encoding="utf-8"?>
<a:theme xmlns:a="http://schemas.openxmlformats.org/drawingml/2006/main" name="9_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Quantum_Business Case_Approach &amp; Timeline V.3.1" id="{5EECDFF5-D0BA-C945-BD95-8BA53C6B4E52}" vid="{789D138D-4F33-B548-9A05-51F0AC8B2FB7}"/>
    </a:ext>
  </a:extLst>
</a:theme>
</file>

<file path=ppt/theme/theme2.xml><?xml version="1.0" encoding="utf-8"?>
<a:theme xmlns:a="http://schemas.openxmlformats.org/drawingml/2006/main" name="Thème2">
  <a:themeElements>
    <a:clrScheme name="Personnalisé 10">
      <a:dk1>
        <a:sysClr val="windowText" lastClr="000000"/>
      </a:dk1>
      <a:lt1>
        <a:sysClr val="window" lastClr="FFFFFF"/>
      </a:lt1>
      <a:dk2>
        <a:srgbClr val="01004C"/>
      </a:dk2>
      <a:lt2>
        <a:srgbClr val="E7E6E6"/>
      </a:lt2>
      <a:accent1>
        <a:srgbClr val="014AAD"/>
      </a:accent1>
      <a:accent2>
        <a:srgbClr val="6D5CCB"/>
      </a:accent2>
      <a:accent3>
        <a:srgbClr val="CB6CE6"/>
      </a:accent3>
      <a:accent4>
        <a:srgbClr val="5271FF"/>
      </a:accent4>
      <a:accent5>
        <a:srgbClr val="FFFFFF"/>
      </a:accent5>
      <a:accent6>
        <a:srgbClr val="FFFFFF"/>
      </a:accent6>
      <a:hlink>
        <a:srgbClr val="86CCFF"/>
      </a:hlink>
      <a:folHlink>
        <a:srgbClr val="CB6CE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ème2" id="{C05F8A3A-8B0F-48DE-8A14-217F90D0F434}" vid="{56A42540-D5EC-4819-AB89-580F9DEE24F3}"/>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TotalTime>
  <Words>1476</Words>
  <Application>Microsoft Office PowerPoint</Application>
  <PresentationFormat>Grand écran</PresentationFormat>
  <Paragraphs>76</Paragraphs>
  <Slides>4</Slides>
  <Notes>1</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4</vt:i4>
      </vt:variant>
    </vt:vector>
  </HeadingPairs>
  <TitlesOfParts>
    <vt:vector size="15" baseType="lpstr">
      <vt:lpstr>Arial</vt:lpstr>
      <vt:lpstr>Calibri</vt:lpstr>
      <vt:lpstr>Calibri Light</vt:lpstr>
      <vt:lpstr>IBM Plex Sans</vt:lpstr>
      <vt:lpstr>Impact</vt:lpstr>
      <vt:lpstr>Segoe UI</vt:lpstr>
      <vt:lpstr>Segoe UI Black</vt:lpstr>
      <vt:lpstr>Segoe UI Light</vt:lpstr>
      <vt:lpstr>Wingdings 3</vt:lpstr>
      <vt:lpstr>9_Thème1</vt:lpstr>
      <vt:lpstr>Thème2</vt:lpstr>
      <vt:lpstr>Présentation PowerPoint</vt:lpstr>
      <vt:lpstr>De l’outil d’assistance à un acteur de delivery</vt:lpstr>
      <vt:lpstr>Une évolution des rôles</vt:lpstr>
      <vt:lpstr>Une évolution des rôles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ALBOSTAN Mélissa (PRESTA EXT)</dc:creator>
  <cp:lastModifiedBy>ISSOULGHANE Morad (PRESTA EXT)</cp:lastModifiedBy>
  <cp:revision>10</cp:revision>
  <dcterms:created xsi:type="dcterms:W3CDTF">2026-05-21T09:29:35Z</dcterms:created>
  <dcterms:modified xsi:type="dcterms:W3CDTF">2026-06-01T15:52:56Z</dcterms:modified>
</cp:coreProperties>
</file>