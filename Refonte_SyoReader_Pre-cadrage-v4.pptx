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700" r:id="rId6"/>
  </p:sldMasterIdLst>
  <p:notesMasterIdLst>
    <p:notesMasterId r:id="rId12"/>
  </p:notesMasterIdLst>
  <p:sldIdLst>
    <p:sldId id="349" r:id="rId7"/>
    <p:sldId id="1547" r:id="rId8"/>
    <p:sldId id="1557" r:id="rId9"/>
    <p:sldId id="1551" r:id="rId10"/>
    <p:sldId id="1554"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C04B401-AB5B-4CC3-BCD4-0907565926F3}">
          <p14:sldIdLst>
            <p14:sldId id="349"/>
            <p14:sldId id="1547"/>
            <p14:sldId id="1557"/>
            <p14:sldId id="1551"/>
            <p14:sldId id="1554"/>
          </p14:sldIdLst>
        </p14:section>
        <p14:section name="WIP" id="{D241315A-8BB6-4F33-AC00-638400520F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8D"/>
    <a:srgbClr val="548235"/>
    <a:srgbClr val="ED7D31"/>
    <a:srgbClr val="525252"/>
    <a:srgbClr val="A0C1F6"/>
    <a:srgbClr val="DEEBF7"/>
    <a:srgbClr val="43C5F3"/>
    <a:srgbClr val="BFEBFB"/>
    <a:srgbClr val="FFE080"/>
    <a:srgbClr val="80D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31" autoAdjust="0"/>
    <p:restoredTop sz="90106" autoAdjust="0"/>
  </p:normalViewPr>
  <p:slideViewPr>
    <p:cSldViewPr snapToGrid="0">
      <p:cViewPr>
        <p:scale>
          <a:sx n="60" d="100"/>
          <a:sy n="60" d="100"/>
        </p:scale>
        <p:origin x="1164" y="2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4.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B5261-C031-49F8-943A-CD006FB30A1D}" type="datetimeFigureOut">
              <a:rPr lang="fr-FR" smtClean="0"/>
              <a:t>30/06/2026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6AEA5-3059-4396-9AD5-377EBC490947}" type="slidenum">
              <a:rPr lang="fr-FR" smtClean="0"/>
              <a:t>‹N°›</a:t>
            </a:fld>
            <a:endParaRPr lang="fr-FR"/>
          </a:p>
        </p:txBody>
      </p:sp>
    </p:spTree>
    <p:extLst>
      <p:ext uri="{BB962C8B-B14F-4D97-AF65-F5344CB8AC3E}">
        <p14:creationId xmlns:p14="http://schemas.microsoft.com/office/powerpoint/2010/main" val="414317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t>Amélioration : ajouter le détail à destination des architectes.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2</a:t>
            </a:fld>
            <a:endParaRPr lang="fr-FR"/>
          </a:p>
        </p:txBody>
      </p:sp>
    </p:spTree>
    <p:extLst>
      <p:ext uri="{BB962C8B-B14F-4D97-AF65-F5344CB8AC3E}">
        <p14:creationId xmlns:p14="http://schemas.microsoft.com/office/powerpoint/2010/main" val="2939898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t>Amélioration : ajouter le détail à destination des architectes.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3</a:t>
            </a:fld>
            <a:endParaRPr lang="fr-FR"/>
          </a:p>
        </p:txBody>
      </p:sp>
    </p:spTree>
    <p:extLst>
      <p:ext uri="{BB962C8B-B14F-4D97-AF65-F5344CB8AC3E}">
        <p14:creationId xmlns:p14="http://schemas.microsoft.com/office/powerpoint/2010/main" val="3301520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t>Amélioration : ajouter le détail à destination des architectes.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4</a:t>
            </a:fld>
            <a:endParaRPr lang="fr-FR"/>
          </a:p>
        </p:txBody>
      </p:sp>
    </p:spTree>
    <p:extLst>
      <p:ext uri="{BB962C8B-B14F-4D97-AF65-F5344CB8AC3E}">
        <p14:creationId xmlns:p14="http://schemas.microsoft.com/office/powerpoint/2010/main" val="1902491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t>Amélioration : ajouter le détail à destination des architectes. </a:t>
            </a:r>
          </a:p>
          <a:p>
            <a:r>
              <a:rPr lang="fr-FR" dirty="0"/>
              <a:t>Sc 1 : Approche stat pour créer le score de confiance (calculer le score la base de </a:t>
            </a:r>
            <a:r>
              <a:rPr lang="fr-FR" dirty="0" err="1"/>
              <a:t>kla</a:t>
            </a:r>
            <a:r>
              <a:rPr lang="fr-FR" dirty="0"/>
              <a:t> V)</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5</a:t>
            </a:fld>
            <a:endParaRPr lang="fr-FR"/>
          </a:p>
        </p:txBody>
      </p:sp>
    </p:spTree>
    <p:extLst>
      <p:ext uri="{BB962C8B-B14F-4D97-AF65-F5344CB8AC3E}">
        <p14:creationId xmlns:p14="http://schemas.microsoft.com/office/powerpoint/2010/main" val="1901014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gif"/><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tif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image" Target="../media/image23.gif"/><Relationship Id="rId1" Type="http://schemas.openxmlformats.org/officeDocument/2006/relationships/slideMaster" Target="../slideMasters/slideMaster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tif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808682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61680098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15" name="Rectangle 14"/>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89686895"/>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139469002"/>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67058799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82226556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403478319"/>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140141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sp>
        <p:nvSpPr>
          <p:cNvPr id="19" name="Rectangle 1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56" name="Espace réservé du pied de page 4"/>
          <p:cNvSpPr>
            <a:spLocks noGrp="1"/>
          </p:cNvSpPr>
          <p:nvPr>
            <p:ph type="ftr" sz="quarter" idx="11"/>
          </p:nvPr>
        </p:nvSpPr>
        <p:spPr>
          <a:xfrm>
            <a:off x="4648200"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6"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48552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39971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sp>
        <p:nvSpPr>
          <p:cNvPr id="9" name="Rectangle 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1"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124156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3447514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112879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re image 2">
    <p:bg>
      <p:bgPr>
        <a:solidFill>
          <a:srgbClr val="003A8D"/>
        </a:solidFill>
        <a:effectLst/>
      </p:bgPr>
    </p:bg>
    <p:spTree>
      <p:nvGrpSpPr>
        <p:cNvPr id="1" name=""/>
        <p:cNvGrpSpPr/>
        <p:nvPr/>
      </p:nvGrpSpPr>
      <p:grpSpPr>
        <a:xfrm>
          <a:off x="0" y="0"/>
          <a:ext cx="0" cy="0"/>
          <a:chOff x="0" y="0"/>
          <a:chExt cx="0" cy="0"/>
        </a:xfrm>
      </p:grpSpPr>
      <p:pic>
        <p:nvPicPr>
          <p:cNvPr id="15" name="Image 14"/>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2508" y="1854000"/>
            <a:ext cx="6652800" cy="5004000"/>
          </a:xfrm>
          <a:prstGeom prst="rect">
            <a:avLst/>
          </a:prstGeom>
        </p:spPr>
      </p:pic>
      <p:sp>
        <p:nvSpPr>
          <p:cNvPr id="3" name="Décision 2"/>
          <p:cNvSpPr/>
          <p:nvPr/>
        </p:nvSpPr>
        <p:spPr>
          <a:xfrm>
            <a:off x="-8382" y="0"/>
            <a:ext cx="3328907" cy="68691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Parallélogramme 1"/>
          <p:cNvSpPr/>
          <p:nvPr/>
        </p:nvSpPr>
        <p:spPr>
          <a:xfrm flipV="1">
            <a:off x="4217879" y="5680001"/>
            <a:ext cx="4704608" cy="779982"/>
          </a:xfrm>
          <a:prstGeom prst="parallelogram">
            <a:avLst>
              <a:gd name="adj" fmla="val 66928"/>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55" name="Shape 55"/>
          <p:cNvSpPr>
            <a:spLocks noGrp="1"/>
          </p:cNvSpPr>
          <p:nvPr>
            <p:ph type="title"/>
          </p:nvPr>
        </p:nvSpPr>
        <p:spPr>
          <a:xfrm>
            <a:off x="4069709" y="288713"/>
            <a:ext cx="7859251" cy="2874104"/>
          </a:xfrm>
          <a:prstGeom prst="rect">
            <a:avLst/>
          </a:prstGeom>
        </p:spPr>
        <p:txBody>
          <a:bodyPr/>
          <a:lstStyle>
            <a:lvl1pPr>
              <a:defRPr sz="3225" b="0">
                <a:solidFill>
                  <a:srgbClr val="FFFFFF"/>
                </a:solidFill>
              </a:defRPr>
            </a:lvl1pPr>
          </a:lstStyle>
          <a:p>
            <a:r>
              <a:rPr lang="fr-FR"/>
              <a:t>Modifiez le style du titre</a:t>
            </a:r>
            <a:endParaRPr dirty="0"/>
          </a:p>
        </p:txBody>
      </p:sp>
      <p:sp>
        <p:nvSpPr>
          <p:cNvPr id="56" name="Shape 56"/>
          <p:cNvSpPr>
            <a:spLocks noGrp="1"/>
          </p:cNvSpPr>
          <p:nvPr>
            <p:ph type="body" sz="quarter" idx="1"/>
          </p:nvPr>
        </p:nvSpPr>
        <p:spPr>
          <a:xfrm>
            <a:off x="6766275" y="2692852"/>
            <a:ext cx="3880640" cy="4021755"/>
          </a:xfrm>
          <a:prstGeom prst="rect">
            <a:avLst/>
          </a:prstGeom>
        </p:spPr>
        <p:txBody>
          <a:bodyPr anchor="ctr"/>
          <a:lstStyle>
            <a:lvl1pPr algn="r">
              <a:lnSpc>
                <a:spcPct val="100000"/>
              </a:lnSpc>
              <a:spcBef>
                <a:spcPts val="0"/>
              </a:spcBef>
              <a:defRPr sz="1350">
                <a:solidFill>
                  <a:srgbClr val="FFFFFF"/>
                </a:solidFill>
                <a:latin typeface="+mn-lt"/>
              </a:defRPr>
            </a:lvl1pPr>
            <a:lvl2pPr marL="0" indent="85725" algn="r">
              <a:lnSpc>
                <a:spcPct val="100000"/>
              </a:lnSpc>
              <a:spcBef>
                <a:spcPts val="0"/>
              </a:spcBef>
              <a:buClrTx/>
              <a:buSzTx/>
              <a:buNone/>
              <a:defRPr sz="1350">
                <a:solidFill>
                  <a:srgbClr val="DCDEE0"/>
                </a:solidFill>
                <a:latin typeface="Swis721 Lt BT"/>
                <a:ea typeface="Swis721 Lt BT"/>
                <a:cs typeface="Swis721 Lt BT"/>
                <a:sym typeface="Swis721 Lt BT"/>
              </a:defRPr>
            </a:lvl2pPr>
            <a:lvl3pPr marL="0" indent="171450"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75" algn="r">
              <a:lnSpc>
                <a:spcPct val="100000"/>
              </a:lnSpc>
              <a:spcBef>
                <a:spcPts val="0"/>
              </a:spcBef>
              <a:buClrTx/>
              <a:buSzTx/>
              <a:buNone/>
              <a:defRPr sz="1050">
                <a:solidFill>
                  <a:srgbClr val="DCDEE0"/>
                </a:solidFill>
                <a:latin typeface="Swis721 Lt BT"/>
                <a:ea typeface="Swis721 Lt BT"/>
                <a:cs typeface="Swis721 Lt BT"/>
                <a:sym typeface="Swis721 Lt BT"/>
              </a:defRPr>
            </a:lvl4pPr>
            <a:lvl5pPr marL="0" indent="342900" algn="r">
              <a:lnSpc>
                <a:spcPct val="100000"/>
              </a:lnSpc>
              <a:spcBef>
                <a:spcPts val="0"/>
              </a:spcBef>
              <a:buClrTx/>
              <a:buSzTx/>
              <a:buNone/>
              <a:defRPr sz="900">
                <a:solidFill>
                  <a:srgbClr val="DCDEE0"/>
                </a:solidFill>
                <a:latin typeface="Swis721 Lt BT"/>
                <a:ea typeface="Swis721 Lt BT"/>
                <a:cs typeface="Swis721 Lt BT"/>
                <a:sym typeface="Swis721 Lt BT"/>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dirty="0"/>
          </a:p>
        </p:txBody>
      </p:sp>
      <p:sp>
        <p:nvSpPr>
          <p:cNvPr id="16" name="Shape 224"/>
          <p:cNvSpPr/>
          <p:nvPr/>
        </p:nvSpPr>
        <p:spPr>
          <a:xfrm flipH="1">
            <a:off x="4217879" y="5678753"/>
            <a:ext cx="4704608" cy="78123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19" y="0"/>
                </a:lnTo>
                <a:lnTo>
                  <a:pt x="21600" y="0"/>
                </a:lnTo>
                <a:lnTo>
                  <a:pt x="19192" y="21567"/>
                </a:lnTo>
                <a:lnTo>
                  <a:pt x="0" y="21600"/>
                </a:lnTo>
                <a:close/>
              </a:path>
            </a:pathLst>
          </a:custGeom>
          <a:solidFill>
            <a:srgbClr val="FFFFFF"/>
          </a:solidFill>
          <a:ln w="12700">
            <a:miter lim="400000"/>
          </a:ln>
        </p:spPr>
        <p:txBody>
          <a:bodyPr lIns="26789" tIns="26789" rIns="26789" bIns="26789" anchor="ctr"/>
          <a:lstStyle/>
          <a:p>
            <a:pPr>
              <a:defRPr sz="3200"/>
            </a:pPr>
            <a:endParaRPr sz="1200"/>
          </a:p>
        </p:txBody>
      </p:sp>
      <p:pic>
        <p:nvPicPr>
          <p:cNvPr id="17"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771840" y="5919154"/>
            <a:ext cx="2108455" cy="292967"/>
          </a:xfrm>
          <a:prstGeom prst="rect">
            <a:avLst/>
          </a:prstGeom>
          <a:ln w="12700">
            <a:miter lim="400000"/>
          </a:ln>
        </p:spPr>
      </p:pic>
      <p:pic>
        <p:nvPicPr>
          <p:cNvPr id="18"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280773" y="5852367"/>
            <a:ext cx="872531" cy="394256"/>
          </a:xfrm>
          <a:prstGeom prst="rect">
            <a:avLst/>
          </a:prstGeom>
          <a:ln w="12700">
            <a:miter lim="400000"/>
          </a:ln>
        </p:spPr>
      </p:pic>
      <p:pic>
        <p:nvPicPr>
          <p:cNvPr id="11" name="pasted-image.pdf"/>
          <p:cNvPicPr>
            <a:picLocks noChangeAspect="1"/>
          </p:cNvPicPr>
          <p:nvPr/>
        </p:nvPicPr>
        <p:blipFill>
          <a:blip r:embed="rId5"/>
          <a:stretch>
            <a:fillRect/>
          </a:stretch>
        </p:blipFill>
        <p:spPr>
          <a:xfrm>
            <a:off x="183461" y="198890"/>
            <a:ext cx="1584368" cy="1464101"/>
          </a:xfrm>
          <a:prstGeom prst="rect">
            <a:avLst/>
          </a:prstGeom>
          <a:ln w="12700">
            <a:miter lim="400000"/>
          </a:ln>
        </p:spPr>
      </p:pic>
      <p:sp>
        <p:nvSpPr>
          <p:cNvPr id="14" name="Décision 2"/>
          <p:cNvSpPr/>
          <p:nvPr/>
        </p:nvSpPr>
        <p:spPr>
          <a:xfrm flipH="1">
            <a:off x="10756747" y="2559242"/>
            <a:ext cx="1427356" cy="4288970"/>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3" name="Shape 27"/>
          <p:cNvSpPr/>
          <p:nvPr/>
        </p:nvSpPr>
        <p:spPr>
          <a:xfrm>
            <a:off x="5900959" y="5339312"/>
            <a:ext cx="2524791" cy="261850"/>
          </a:xfrm>
          <a:prstGeom prst="rect">
            <a:avLst/>
          </a:prstGeom>
          <a:ln w="12700">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lgn="l">
              <a:defRPr sz="3600">
                <a:solidFill>
                  <a:srgbClr val="CBCDCF"/>
                </a:solidFill>
                <a:latin typeface="Swis721 BT"/>
                <a:ea typeface="Swis721 BT"/>
                <a:cs typeface="Swis721 BT"/>
                <a:sym typeface="Swis721 BT"/>
              </a:defRPr>
            </a:lvl1pPr>
          </a:lstStyle>
          <a:p>
            <a:r>
              <a:rPr sz="1350" dirty="0">
                <a:latin typeface="+mn-lt"/>
                <a:ea typeface="Segoe UI Black" panose="020B0A02040204020203" pitchFamily="34" charset="0"/>
                <a:cs typeface="Segoe UI Semilight" panose="020B0402040204020203" pitchFamily="34" charset="0"/>
              </a:rPr>
              <a:t>Informatique</a:t>
            </a:r>
          </a:p>
        </p:txBody>
      </p:sp>
    </p:spTree>
    <p:extLst>
      <p:ext uri="{BB962C8B-B14F-4D97-AF65-F5344CB8AC3E}">
        <p14:creationId xmlns:p14="http://schemas.microsoft.com/office/powerpoint/2010/main" val="15440306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35980628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7187181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3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82890307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35996090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5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6911406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49323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43" indent="0" algn="ctr">
              <a:buNone/>
              <a:defRPr sz="2000"/>
            </a:lvl2pPr>
            <a:lvl3pPr marL="914286" indent="0" algn="ctr">
              <a:buNone/>
              <a:defRPr sz="1800"/>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fr-FR"/>
              <a:t>Modifiez le style des sous-titres du masque</a:t>
            </a:r>
            <a:endParaRPr lang="en-US"/>
          </a:p>
        </p:txBody>
      </p:sp>
      <p:sp>
        <p:nvSpPr>
          <p:cNvPr id="9" name="Rectangle 13"/>
          <p:cNvSpPr/>
          <p:nvPr/>
        </p:nvSpPr>
        <p:spPr>
          <a:xfrm>
            <a:off x="4880015" y="3858691"/>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6"/>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8"/>
            <a:ext cx="531475" cy="274695"/>
          </a:xfrm>
          <a:prstGeom prst="rect">
            <a:avLst/>
          </a:prstGeom>
        </p:spPr>
      </p:pic>
    </p:spTree>
    <p:extLst>
      <p:ext uri="{BB962C8B-B14F-4D97-AF65-F5344CB8AC3E}">
        <p14:creationId xmlns:p14="http://schemas.microsoft.com/office/powerpoint/2010/main" val="1254357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537860620"/>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re et contenu (PIP)">
    <p:spTree>
      <p:nvGrpSpPr>
        <p:cNvPr id="1" name=""/>
        <p:cNvGrpSpPr/>
        <p:nvPr/>
      </p:nvGrpSpPr>
      <p:grpSpPr>
        <a:xfrm>
          <a:off x="0" y="0"/>
          <a:ext cx="0" cy="0"/>
          <a:chOff x="0" y="0"/>
          <a:chExt cx="0" cy="0"/>
        </a:xfrm>
      </p:grpSpPr>
      <p:sp>
        <p:nvSpPr>
          <p:cNvPr id="15" name="Rectangle 14"/>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585588527"/>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941367861"/>
      </p:ext>
    </p:extLst>
  </p:cSld>
  <p:clrMapOvr>
    <a:masterClrMapping/>
  </p:clrMapOvr>
  <p:extLst>
    <p:ext uri="{DCECCB84-F9BA-43D5-87BE-67443E8EF086}">
      <p15:sldGuideLst xmlns:p15="http://schemas.microsoft.com/office/powerpoint/2012/main">
        <p15:guide id="1" orient="horz" pos="794">
          <p15:clr>
            <a:srgbClr val="FBAE40"/>
          </p15:clr>
        </p15:guide>
        <p15:guide id="2" pos="136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re, contenu 2 colonnes (PIP)">
    <p:spTree>
      <p:nvGrpSpPr>
        <p:cNvPr id="1" name=""/>
        <p:cNvGrpSpPr/>
        <p:nvPr/>
      </p:nvGrpSpPr>
      <p:grpSpPr>
        <a:xfrm>
          <a:off x="0" y="0"/>
          <a:ext cx="0" cy="0"/>
          <a:chOff x="0" y="0"/>
          <a:chExt cx="0" cy="0"/>
        </a:xfrm>
      </p:grpSpPr>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4113989712"/>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5"/>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483810017"/>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5"/>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40826296"/>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8"/>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3749633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contenu et image à gauche (PIP)">
    <p:spTree>
      <p:nvGrpSpPr>
        <p:cNvPr id="1" name=""/>
        <p:cNvGrpSpPr/>
        <p:nvPr/>
      </p:nvGrpSpPr>
      <p:grpSpPr>
        <a:xfrm>
          <a:off x="0" y="0"/>
          <a:ext cx="0" cy="0"/>
          <a:chOff x="0" y="0"/>
          <a:chExt cx="0" cy="0"/>
        </a:xfrm>
      </p:grpSpPr>
      <p:sp>
        <p:nvSpPr>
          <p:cNvPr id="19" name="Rectangle 18"/>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8"/>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20840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et vide (PIP)">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 name="Ellipse 1">
            <a:extLst>
              <a:ext uri="{FF2B5EF4-FFF2-40B4-BE49-F238E27FC236}">
                <a16:creationId xmlns:a16="http://schemas.microsoft.com/office/drawing/2014/main" id="{FEFAB52E-6F3B-3115-F9F8-8E5A06D4765F}"/>
              </a:ext>
            </a:extLst>
          </p:cNvPr>
          <p:cNvSpPr/>
          <p:nvPr userDrawn="1"/>
        </p:nvSpPr>
        <p:spPr>
          <a:xfrm>
            <a:off x="663117" y="1653979"/>
            <a:ext cx="901832" cy="901832"/>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3" name="Ellipse 2">
            <a:extLst>
              <a:ext uri="{FF2B5EF4-FFF2-40B4-BE49-F238E27FC236}">
                <a16:creationId xmlns:a16="http://schemas.microsoft.com/office/drawing/2014/main" id="{89C0302C-CDA5-1959-B928-B6A664A07477}"/>
              </a:ext>
            </a:extLst>
          </p:cNvPr>
          <p:cNvSpPr/>
          <p:nvPr userDrawn="1"/>
        </p:nvSpPr>
        <p:spPr>
          <a:xfrm>
            <a:off x="2596044" y="1646341"/>
            <a:ext cx="901832" cy="90183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4" name="Ellipse 3">
            <a:extLst>
              <a:ext uri="{FF2B5EF4-FFF2-40B4-BE49-F238E27FC236}">
                <a16:creationId xmlns:a16="http://schemas.microsoft.com/office/drawing/2014/main" id="{4858BC39-4E29-12B5-9DBD-22986CD631BF}"/>
              </a:ext>
            </a:extLst>
          </p:cNvPr>
          <p:cNvSpPr/>
          <p:nvPr userDrawn="1"/>
        </p:nvSpPr>
        <p:spPr>
          <a:xfrm>
            <a:off x="4910961" y="1661859"/>
            <a:ext cx="901832" cy="90183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pic>
        <p:nvPicPr>
          <p:cNvPr id="5" name="Graphique 4" descr="Mille avec un remplissage uni">
            <a:extLst>
              <a:ext uri="{FF2B5EF4-FFF2-40B4-BE49-F238E27FC236}">
                <a16:creationId xmlns:a16="http://schemas.microsoft.com/office/drawing/2014/main" id="{F75CC333-2BB8-77CA-ACB9-F3ECC353BBF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23366" y="1765942"/>
            <a:ext cx="677025" cy="677025"/>
          </a:xfrm>
          <a:prstGeom prst="rect">
            <a:avLst/>
          </a:prstGeom>
        </p:spPr>
      </p:pic>
      <p:pic>
        <p:nvPicPr>
          <p:cNvPr id="6" name="Graphique 5" descr="Groupe d’hommes avec un remplissage uni">
            <a:extLst>
              <a:ext uri="{FF2B5EF4-FFF2-40B4-BE49-F238E27FC236}">
                <a16:creationId xmlns:a16="http://schemas.microsoft.com/office/drawing/2014/main" id="{A1F1D8E0-811C-EEFE-86FE-C73F2BAD75F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15701" y="1744621"/>
            <a:ext cx="677025" cy="677025"/>
          </a:xfrm>
          <a:prstGeom prst="rect">
            <a:avLst/>
          </a:prstGeom>
        </p:spPr>
      </p:pic>
      <p:pic>
        <p:nvPicPr>
          <p:cNvPr id="7" name="Graphique 6" descr="Sablier 60% avec un remplissage uni">
            <a:extLst>
              <a:ext uri="{FF2B5EF4-FFF2-40B4-BE49-F238E27FC236}">
                <a16:creationId xmlns:a16="http://schemas.microsoft.com/office/drawing/2014/main" id="{BF761236-DA53-F1D8-54C7-6F9A9BAA0A90}"/>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78594" y="1756910"/>
            <a:ext cx="677025" cy="677025"/>
          </a:xfrm>
          <a:prstGeom prst="rect">
            <a:avLst/>
          </a:prstGeom>
        </p:spPr>
      </p:pic>
      <p:sp>
        <p:nvSpPr>
          <p:cNvPr id="8" name="ZoneTexte 7">
            <a:extLst>
              <a:ext uri="{FF2B5EF4-FFF2-40B4-BE49-F238E27FC236}">
                <a16:creationId xmlns:a16="http://schemas.microsoft.com/office/drawing/2014/main" id="{7B9A3405-E62E-00E3-B6A1-3E99A3859A2D}"/>
              </a:ext>
            </a:extLst>
          </p:cNvPr>
          <p:cNvSpPr txBox="1"/>
          <p:nvPr userDrawn="1"/>
        </p:nvSpPr>
        <p:spPr>
          <a:xfrm flipH="1">
            <a:off x="492211" y="2708817"/>
            <a:ext cx="1236991" cy="205121"/>
          </a:xfrm>
          <a:prstGeom prst="rect">
            <a:avLst/>
          </a:prstGeom>
          <a:noFill/>
        </p:spPr>
        <p:txBody>
          <a:bodyPr wrap="square" lIns="0" tIns="0" rIns="0" bIns="0" rtlCol="0" anchor="ctr">
            <a:spAutoFit/>
          </a:bodyPr>
          <a:lstStyle/>
          <a:p>
            <a:pPr algn="ctr"/>
            <a:r>
              <a:rPr lang="fr-FR" sz="1333" b="1">
                <a:solidFill>
                  <a:schemeClr val="accent4"/>
                </a:solidFill>
                <a:latin typeface="Segoe UI" panose="020B0502040204020203" pitchFamily="34" charset="0"/>
                <a:cs typeface="Segoe UI" panose="020B0502040204020203" pitchFamily="34" charset="0"/>
              </a:rPr>
              <a:t>Durée</a:t>
            </a:r>
          </a:p>
        </p:txBody>
      </p:sp>
      <p:sp>
        <p:nvSpPr>
          <p:cNvPr id="10" name="ZoneTexte 9">
            <a:extLst>
              <a:ext uri="{FF2B5EF4-FFF2-40B4-BE49-F238E27FC236}">
                <a16:creationId xmlns:a16="http://schemas.microsoft.com/office/drawing/2014/main" id="{050BF24A-086E-CC9E-2749-4DE36A166859}"/>
              </a:ext>
            </a:extLst>
          </p:cNvPr>
          <p:cNvSpPr txBox="1"/>
          <p:nvPr userDrawn="1"/>
        </p:nvSpPr>
        <p:spPr>
          <a:xfrm flipH="1">
            <a:off x="2431803" y="2701180"/>
            <a:ext cx="1236991" cy="205121"/>
          </a:xfrm>
          <a:prstGeom prst="rect">
            <a:avLst/>
          </a:prstGeom>
          <a:noFill/>
        </p:spPr>
        <p:txBody>
          <a:bodyPr wrap="square" lIns="0" tIns="0" rIns="0" bIns="0" rtlCol="0" anchor="ctr">
            <a:spAutoFit/>
          </a:bodyPr>
          <a:lstStyle/>
          <a:p>
            <a:pPr algn="ctr"/>
            <a:r>
              <a:rPr lang="fr-FR" sz="1333" b="1">
                <a:solidFill>
                  <a:schemeClr val="accent6"/>
                </a:solidFill>
                <a:latin typeface="Segoe UI" panose="020B0502040204020203" pitchFamily="34" charset="0"/>
                <a:cs typeface="Segoe UI" panose="020B0502040204020203" pitchFamily="34" charset="0"/>
              </a:rPr>
              <a:t>Format</a:t>
            </a:r>
          </a:p>
        </p:txBody>
      </p:sp>
      <p:sp>
        <p:nvSpPr>
          <p:cNvPr id="11" name="ZoneTexte 10">
            <a:extLst>
              <a:ext uri="{FF2B5EF4-FFF2-40B4-BE49-F238E27FC236}">
                <a16:creationId xmlns:a16="http://schemas.microsoft.com/office/drawing/2014/main" id="{4FCF8939-22FA-F500-A735-6BF934C1DB98}"/>
              </a:ext>
            </a:extLst>
          </p:cNvPr>
          <p:cNvSpPr txBox="1"/>
          <p:nvPr userDrawn="1"/>
        </p:nvSpPr>
        <p:spPr>
          <a:xfrm flipH="1">
            <a:off x="4746721" y="2722502"/>
            <a:ext cx="1236991" cy="205121"/>
          </a:xfrm>
          <a:prstGeom prst="rect">
            <a:avLst/>
          </a:prstGeom>
          <a:noFill/>
        </p:spPr>
        <p:txBody>
          <a:bodyPr wrap="square" lIns="0" tIns="0" rIns="0" bIns="0" rtlCol="0" anchor="ctr">
            <a:spAutoFit/>
          </a:bodyPr>
          <a:lstStyle/>
          <a:p>
            <a:pPr algn="ctr"/>
            <a:r>
              <a:rPr lang="fr-FR" sz="1333" b="1">
                <a:solidFill>
                  <a:schemeClr val="accent5"/>
                </a:solidFill>
                <a:latin typeface="Segoe UI" panose="020B0502040204020203" pitchFamily="34" charset="0"/>
                <a:cs typeface="Segoe UI" panose="020B0502040204020203" pitchFamily="34" charset="0"/>
              </a:rPr>
              <a:t>Objectif</a:t>
            </a:r>
          </a:p>
        </p:txBody>
      </p:sp>
      <p:sp>
        <p:nvSpPr>
          <p:cNvPr id="12" name="ZoneTexte 11">
            <a:extLst>
              <a:ext uri="{FF2B5EF4-FFF2-40B4-BE49-F238E27FC236}">
                <a16:creationId xmlns:a16="http://schemas.microsoft.com/office/drawing/2014/main" id="{3C831EE1-EB91-A3DF-E80B-1FD08C72C5DA}"/>
              </a:ext>
            </a:extLst>
          </p:cNvPr>
          <p:cNvSpPr txBox="1"/>
          <p:nvPr userDrawn="1"/>
        </p:nvSpPr>
        <p:spPr>
          <a:xfrm>
            <a:off x="512379" y="3812800"/>
            <a:ext cx="4823053" cy="205121"/>
          </a:xfrm>
          <a:prstGeom prst="rect">
            <a:avLst/>
          </a:prstGeom>
          <a:noFill/>
        </p:spPr>
        <p:txBody>
          <a:bodyPr wrap="square" lIns="0" tIns="0" rIns="0" bIns="0" rtlCol="0" anchor="ctr">
            <a:spAutoFit/>
          </a:bodyPr>
          <a:lstStyle/>
          <a:p>
            <a:r>
              <a:rPr lang="fr-FR" sz="1333" b="1">
                <a:latin typeface="Segoe UI" panose="020B0502040204020203" pitchFamily="34" charset="0"/>
                <a:cs typeface="Segoe UI" panose="020B0502040204020203" pitchFamily="34" charset="0"/>
              </a:rPr>
              <a:t>Consignes de l’atelier</a:t>
            </a:r>
          </a:p>
        </p:txBody>
      </p:sp>
      <p:sp>
        <p:nvSpPr>
          <p:cNvPr id="16" name="Espace réservé du texte 29">
            <a:extLst>
              <a:ext uri="{FF2B5EF4-FFF2-40B4-BE49-F238E27FC236}">
                <a16:creationId xmlns:a16="http://schemas.microsoft.com/office/drawing/2014/main" id="{49FA598D-C862-D3B5-7BB4-8902CF4F6FEE}"/>
              </a:ext>
            </a:extLst>
          </p:cNvPr>
          <p:cNvSpPr>
            <a:spLocks noGrp="1"/>
          </p:cNvSpPr>
          <p:nvPr>
            <p:ph type="body" sz="quarter" idx="15"/>
          </p:nvPr>
        </p:nvSpPr>
        <p:spPr>
          <a:xfrm>
            <a:off x="492209" y="4190031"/>
            <a:ext cx="6003952" cy="1799068"/>
          </a:xfrm>
          <a:prstGeom prst="rect">
            <a:avLst/>
          </a:prstGeom>
        </p:spPr>
        <p:txBody>
          <a:bodyPr/>
          <a:lstStyle>
            <a:lvl1pPr marL="0" indent="0">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endParaRPr lang="fr-FR"/>
          </a:p>
        </p:txBody>
      </p:sp>
      <p:sp>
        <p:nvSpPr>
          <p:cNvPr id="19" name="Espace réservé du texte 29">
            <a:extLst>
              <a:ext uri="{FF2B5EF4-FFF2-40B4-BE49-F238E27FC236}">
                <a16:creationId xmlns:a16="http://schemas.microsoft.com/office/drawing/2014/main" id="{2333FD7E-52FC-6C26-C5BC-55CE8B1EAEEA}"/>
              </a:ext>
            </a:extLst>
          </p:cNvPr>
          <p:cNvSpPr>
            <a:spLocks noGrp="1"/>
          </p:cNvSpPr>
          <p:nvPr>
            <p:ph type="body" sz="quarter" idx="13" hasCustomPrompt="1"/>
          </p:nvPr>
        </p:nvSpPr>
        <p:spPr>
          <a:xfrm>
            <a:off x="499124" y="3026620"/>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XX minutes</a:t>
            </a:r>
          </a:p>
        </p:txBody>
      </p:sp>
      <p:sp>
        <p:nvSpPr>
          <p:cNvPr id="22" name="Espace réservé du texte 29">
            <a:extLst>
              <a:ext uri="{FF2B5EF4-FFF2-40B4-BE49-F238E27FC236}">
                <a16:creationId xmlns:a16="http://schemas.microsoft.com/office/drawing/2014/main" id="{B6F4EBEF-9F35-B3E8-CED2-23B0974294D0}"/>
              </a:ext>
            </a:extLst>
          </p:cNvPr>
          <p:cNvSpPr>
            <a:spLocks noGrp="1"/>
          </p:cNvSpPr>
          <p:nvPr>
            <p:ph type="body" sz="quarter" idx="16" hasCustomPrompt="1"/>
          </p:nvPr>
        </p:nvSpPr>
        <p:spPr>
          <a:xfrm>
            <a:off x="2447413" y="3019504"/>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En plénière</a:t>
            </a:r>
          </a:p>
        </p:txBody>
      </p:sp>
      <p:sp>
        <p:nvSpPr>
          <p:cNvPr id="23" name="Espace réservé du texte 29">
            <a:extLst>
              <a:ext uri="{FF2B5EF4-FFF2-40B4-BE49-F238E27FC236}">
                <a16:creationId xmlns:a16="http://schemas.microsoft.com/office/drawing/2014/main" id="{9FB56F7E-DFF1-F1B9-FDA3-86949DC431D2}"/>
              </a:ext>
            </a:extLst>
          </p:cNvPr>
          <p:cNvSpPr>
            <a:spLocks noGrp="1"/>
          </p:cNvSpPr>
          <p:nvPr>
            <p:ph type="body" sz="quarter" idx="17" hasCustomPrompt="1"/>
          </p:nvPr>
        </p:nvSpPr>
        <p:spPr>
          <a:xfrm>
            <a:off x="4371395" y="3033191"/>
            <a:ext cx="1987639"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Détailler l’objectif</a:t>
            </a:r>
          </a:p>
        </p:txBody>
      </p:sp>
    </p:spTree>
    <p:extLst>
      <p:ext uri="{BB962C8B-B14F-4D97-AF65-F5344CB8AC3E}">
        <p14:creationId xmlns:p14="http://schemas.microsoft.com/office/powerpoint/2010/main" val="4151045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922433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1_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fr-FR"/>
              <a:t>Modifiez le style des sous-titres du masque</a:t>
            </a:r>
            <a:endParaRPr lang="en-US"/>
          </a:p>
        </p:txBody>
      </p:sp>
      <p:sp>
        <p:nvSpPr>
          <p:cNvPr id="9" name="Rectangle 13"/>
          <p:cNvSpPr/>
          <p:nvPr/>
        </p:nvSpPr>
        <p:spPr>
          <a:xfrm>
            <a:off x="4880014" y="3858690"/>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5"/>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7"/>
            <a:ext cx="531475" cy="274695"/>
          </a:xfrm>
          <a:prstGeom prst="rect">
            <a:avLst/>
          </a:prstGeom>
        </p:spPr>
      </p:pic>
    </p:spTree>
    <p:extLst>
      <p:ext uri="{BB962C8B-B14F-4D97-AF65-F5344CB8AC3E}">
        <p14:creationId xmlns:p14="http://schemas.microsoft.com/office/powerpoint/2010/main" val="25487682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306420901"/>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re et contenu (PIP)">
    <p:spTree>
      <p:nvGrpSpPr>
        <p:cNvPr id="1" name=""/>
        <p:cNvGrpSpPr/>
        <p:nvPr/>
      </p:nvGrpSpPr>
      <p:grpSpPr>
        <a:xfrm>
          <a:off x="0" y="0"/>
          <a:ext cx="0" cy="0"/>
          <a:chOff x="0" y="0"/>
          <a:chExt cx="0" cy="0"/>
        </a:xfrm>
      </p:grpSpPr>
      <p:sp>
        <p:nvSpPr>
          <p:cNvPr id="15" name="Rectangle 14"/>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999760806"/>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458150501"/>
      </p:ext>
    </p:extLst>
  </p:cSld>
  <p:clrMapOvr>
    <a:masterClrMapping/>
  </p:clrMapOvr>
  <p:extLst>
    <p:ext uri="{DCECCB84-F9BA-43D5-87BE-67443E8EF086}">
      <p15:sldGuideLst xmlns:p15="http://schemas.microsoft.com/office/powerpoint/2012/main">
        <p15:guide id="1" orient="horz" pos="1058">
          <p15:clr>
            <a:srgbClr val="FBAE40"/>
          </p15:clr>
        </p15:guide>
        <p15:guide id="2" pos="182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re, contenu 2 colonnes (PIP)">
    <p:spTree>
      <p:nvGrpSpPr>
        <p:cNvPr id="1" name=""/>
        <p:cNvGrpSpPr/>
        <p:nvPr/>
      </p:nvGrpSpPr>
      <p:grpSpPr>
        <a:xfrm>
          <a:off x="0" y="0"/>
          <a:ext cx="0" cy="0"/>
          <a:chOff x="0" y="0"/>
          <a:chExt cx="0" cy="0"/>
        </a:xfrm>
      </p:grpSpPr>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791428978"/>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3"/>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070059160"/>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3"/>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430431386"/>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7"/>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10640991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itre, contenu et image à gauche (PIP)">
    <p:spTree>
      <p:nvGrpSpPr>
        <p:cNvPr id="1" name=""/>
        <p:cNvGrpSpPr/>
        <p:nvPr/>
      </p:nvGrpSpPr>
      <p:grpSpPr>
        <a:xfrm>
          <a:off x="0" y="0"/>
          <a:ext cx="0" cy="0"/>
          <a:chOff x="0" y="0"/>
          <a:chExt cx="0" cy="0"/>
        </a:xfrm>
      </p:grpSpPr>
      <p:sp>
        <p:nvSpPr>
          <p:cNvPr id="19" name="Rectangle 1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7"/>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228202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6794180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itre et vide (PIP)">
    <p:spTree>
      <p:nvGrpSpPr>
        <p:cNvPr id="1" name=""/>
        <p:cNvGrpSpPr/>
        <p:nvPr/>
      </p:nvGrpSpPr>
      <p:grpSpPr>
        <a:xfrm>
          <a:off x="0" y="0"/>
          <a:ext cx="0" cy="0"/>
          <a:chOff x="0" y="0"/>
          <a:chExt cx="0" cy="0"/>
        </a:xfrm>
      </p:grpSpPr>
      <p:sp>
        <p:nvSpPr>
          <p:cNvPr id="9" name="Rectangle 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852393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pitre fond bleu">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3"/>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2873988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hapitre fond blanc">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3"/>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p>
        </p:txBody>
      </p:sp>
    </p:spTree>
    <p:extLst>
      <p:ext uri="{BB962C8B-B14F-4D97-AF65-F5344CB8AC3E}">
        <p14:creationId xmlns:p14="http://schemas.microsoft.com/office/powerpoint/2010/main" val="28530553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53355282"/>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445124011"/>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a:xfrm>
            <a:off x="609599" y="1379660"/>
            <a:ext cx="10972800" cy="4526280"/>
          </a:xfrm>
        </p:spPr>
        <p:txBody>
          <a:bodyPr lIns="0" tIns="0" rIns="0" bIns="0"/>
          <a:lstStyle>
            <a:lvl1pPr>
              <a:defRPr/>
            </a:lvl1pPr>
          </a:lstStyle>
          <a:p>
            <a:endParaRPr/>
          </a:p>
        </p:txBody>
      </p:sp>
      <p:sp>
        <p:nvSpPr>
          <p:cNvPr id="6" name="Holder 6"/>
          <p:cNvSpPr>
            <a:spLocks noGrp="1"/>
          </p:cNvSpPr>
          <p:nvPr>
            <p:ph type="sldNum" sz="quarter" idx="7"/>
          </p:nvPr>
        </p:nvSpPr>
        <p:spPr/>
        <p:txBody>
          <a:bodyPr lIns="0" tIns="0" rIns="0" bIns="0"/>
          <a:lstStyle>
            <a:lvl1pPr>
              <a:defRPr sz="1200" b="0" i="0">
                <a:solidFill>
                  <a:srgbClr val="6C6D6F"/>
                </a:solidFill>
                <a:latin typeface="Arial"/>
                <a:cs typeface="Arial"/>
              </a:defRPr>
            </a:lvl1pPr>
          </a:lstStyle>
          <a:p>
            <a:pPr marL="33866">
              <a:spcBef>
                <a:spcPts val="20"/>
              </a:spcBef>
            </a:pPr>
            <a:fld id="{81D60167-4931-47E6-BA6A-407CBD079E47}" type="slidenum">
              <a:rPr lang="en-FR" spc="-7" smtClean="0"/>
              <a:pPr marL="33866">
                <a:spcBef>
                  <a:spcPts val="20"/>
                </a:spcBef>
              </a:pPr>
              <a:t>‹N°›</a:t>
            </a:fld>
            <a:endParaRPr lang="en-FR" spc="-7"/>
          </a:p>
        </p:txBody>
      </p:sp>
      <p:sp>
        <p:nvSpPr>
          <p:cNvPr id="5" name="ZoneTexte 4">
            <a:extLst>
              <a:ext uri="{FF2B5EF4-FFF2-40B4-BE49-F238E27FC236}">
                <a16:creationId xmlns:a16="http://schemas.microsoft.com/office/drawing/2014/main" id="{3196482B-8B3F-0F4C-B316-9FAC51EA4D3A}"/>
              </a:ext>
            </a:extLst>
          </p:cNvPr>
          <p:cNvSpPr txBox="1"/>
          <p:nvPr userDrawn="1"/>
        </p:nvSpPr>
        <p:spPr>
          <a:xfrm>
            <a:off x="5168184" y="6231798"/>
            <a:ext cx="1855637" cy="461665"/>
          </a:xfrm>
          <a:prstGeom prst="rect">
            <a:avLst/>
          </a:prstGeom>
          <a:noFill/>
        </p:spPr>
        <p:txBody>
          <a:bodyPr wrap="square" rtlCol="0">
            <a:spAutoFit/>
          </a:bodyPr>
          <a:lstStyle/>
          <a:p>
            <a:pPr algn="ctr"/>
            <a:r>
              <a:rPr lang="en-GB" sz="1200">
                <a:solidFill>
                  <a:schemeClr val="bg1">
                    <a:lumMod val="50000"/>
                  </a:schemeClr>
                </a:solidFill>
              </a:rPr>
              <a:t>Mars 2022</a:t>
            </a:r>
          </a:p>
          <a:p>
            <a:pPr algn="ctr"/>
            <a:r>
              <a:rPr lang="en-GB" sz="1200">
                <a:solidFill>
                  <a:schemeClr val="bg1">
                    <a:lumMod val="50000"/>
                  </a:schemeClr>
                </a:solidFill>
              </a:rPr>
              <a:t>IBM &amp; </a:t>
            </a:r>
            <a:r>
              <a:rPr lang="en-GB" sz="1200" err="1">
                <a:solidFill>
                  <a:schemeClr val="bg1">
                    <a:lumMod val="50000"/>
                  </a:schemeClr>
                </a:solidFill>
              </a:rPr>
              <a:t>CLIENTconfidentiel</a:t>
            </a:r>
            <a:endParaRPr lang="en-GB" sz="1200">
              <a:solidFill>
                <a:schemeClr val="bg1">
                  <a:lumMod val="50000"/>
                </a:schemeClr>
              </a:solidFill>
            </a:endParaRPr>
          </a:p>
        </p:txBody>
      </p:sp>
      <p:sp>
        <p:nvSpPr>
          <p:cNvPr id="11" name="object 10">
            <a:extLst>
              <a:ext uri="{FF2B5EF4-FFF2-40B4-BE49-F238E27FC236}">
                <a16:creationId xmlns:a16="http://schemas.microsoft.com/office/drawing/2014/main" id="{0EC37999-ECD1-DE46-8F48-93DD12E30265}"/>
              </a:ext>
            </a:extLst>
          </p:cNvPr>
          <p:cNvSpPr/>
          <p:nvPr userDrawn="1"/>
        </p:nvSpPr>
        <p:spPr>
          <a:xfrm>
            <a:off x="432819" y="6339839"/>
            <a:ext cx="688847" cy="276352"/>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sz="2400"/>
          </a:p>
        </p:txBody>
      </p:sp>
      <p:sp>
        <p:nvSpPr>
          <p:cNvPr id="12" name="Titre 11">
            <a:extLst>
              <a:ext uri="{FF2B5EF4-FFF2-40B4-BE49-F238E27FC236}">
                <a16:creationId xmlns:a16="http://schemas.microsoft.com/office/drawing/2014/main" id="{04109B8E-C0CA-CF4A-A1DA-37DAFFC1382C}"/>
              </a:ext>
            </a:extLst>
          </p:cNvPr>
          <p:cNvSpPr>
            <a:spLocks noGrp="1"/>
          </p:cNvSpPr>
          <p:nvPr>
            <p:ph type="title"/>
          </p:nvPr>
        </p:nvSpPr>
        <p:spPr>
          <a:xfrm>
            <a:off x="101600" y="156899"/>
            <a:ext cx="10383024" cy="523624"/>
          </a:xfrm>
          <a:prstGeom prst="rect">
            <a:avLst/>
          </a:prstGeom>
        </p:spPr>
        <p:txBody>
          <a:bodyPr/>
          <a:lstStyle>
            <a:lvl1pPr>
              <a:defRPr b="1">
                <a:latin typeface="Arial" panose="020B0604020202020204" pitchFamily="34" charset="0"/>
                <a:cs typeface="Arial" panose="020B0604020202020204" pitchFamily="34" charset="0"/>
              </a:defRPr>
            </a:lvl1pPr>
          </a:lstStyle>
          <a:p>
            <a:r>
              <a:rPr lang="fr-FR"/>
              <a:t>Modifiez le style du titre</a:t>
            </a:r>
            <a:endParaRPr lang="en-GB"/>
          </a:p>
        </p:txBody>
      </p:sp>
      <p:cxnSp>
        <p:nvCxnSpPr>
          <p:cNvPr id="13" name="Connecteur droit 28">
            <a:extLst>
              <a:ext uri="{FF2B5EF4-FFF2-40B4-BE49-F238E27FC236}">
                <a16:creationId xmlns:a16="http://schemas.microsoft.com/office/drawing/2014/main" id="{EFAF0010-ADA1-7748-A509-B96B2DC55E23}"/>
              </a:ext>
            </a:extLst>
          </p:cNvPr>
          <p:cNvCxnSpPr/>
          <p:nvPr userDrawn="1"/>
        </p:nvCxnSpPr>
        <p:spPr>
          <a:xfrm>
            <a:off x="0" y="779407"/>
            <a:ext cx="121920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Immagine 13">
            <a:extLst>
              <a:ext uri="{FF2B5EF4-FFF2-40B4-BE49-F238E27FC236}">
                <a16:creationId xmlns:a16="http://schemas.microsoft.com/office/drawing/2014/main" id="{E4C47D91-C9E2-7449-8FEE-B36157A746D4}"/>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320800" y="6242072"/>
            <a:ext cx="1968000" cy="471885"/>
          </a:xfrm>
          <a:prstGeom prst="rect">
            <a:avLst/>
          </a:prstGeom>
          <a:solidFill>
            <a:srgbClr val="30302F"/>
          </a:solidFill>
          <a:ln>
            <a:noFill/>
          </a:ln>
        </p:spPr>
      </p:pic>
    </p:spTree>
    <p:extLst>
      <p:ext uri="{BB962C8B-B14F-4D97-AF65-F5344CB8AC3E}">
        <p14:creationId xmlns:p14="http://schemas.microsoft.com/office/powerpoint/2010/main" val="27095453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30932" y="3083850"/>
            <a:ext cx="1730141" cy="690308"/>
          </a:xfrm>
          <a:prstGeom prst="rect">
            <a:avLst/>
          </a:prstGeom>
        </p:spPr>
      </p:pic>
    </p:spTree>
    <p:extLst>
      <p:ext uri="{BB962C8B-B14F-4D97-AF65-F5344CB8AC3E}">
        <p14:creationId xmlns:p14="http://schemas.microsoft.com/office/powerpoint/2010/main" val="13443724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re image">
    <p:spTree>
      <p:nvGrpSpPr>
        <p:cNvPr id="1" name=""/>
        <p:cNvGrpSpPr/>
        <p:nvPr/>
      </p:nvGrpSpPr>
      <p:grpSpPr>
        <a:xfrm>
          <a:off x="0" y="0"/>
          <a:ext cx="0" cy="0"/>
          <a:chOff x="0" y="0"/>
          <a:chExt cx="0" cy="0"/>
        </a:xfrm>
      </p:grpSpPr>
      <p:pic>
        <p:nvPicPr>
          <p:cNvPr id="16" name="Image 1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1972" y="3065822"/>
            <a:ext cx="5029200" cy="3803333"/>
          </a:xfrm>
          <a:prstGeom prst="rect">
            <a:avLst/>
          </a:prstGeom>
        </p:spPr>
      </p:pic>
      <p:sp>
        <p:nvSpPr>
          <p:cNvPr id="15" name="Décision 2"/>
          <p:cNvSpPr/>
          <p:nvPr userDrawn="1"/>
        </p:nvSpPr>
        <p:spPr>
          <a:xfrm flipH="1">
            <a:off x="10763817" y="2559241"/>
            <a:ext cx="1427356" cy="428897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14" name="Décision 2"/>
          <p:cNvSpPr/>
          <p:nvPr userDrawn="1"/>
        </p:nvSpPr>
        <p:spPr>
          <a:xfrm>
            <a:off x="-8382" y="1"/>
            <a:ext cx="3328908" cy="68691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36" name="Shape 36"/>
          <p:cNvSpPr>
            <a:spLocks noGrp="1"/>
          </p:cNvSpPr>
          <p:nvPr>
            <p:ph type="title"/>
          </p:nvPr>
        </p:nvSpPr>
        <p:spPr>
          <a:xfrm>
            <a:off x="3625149" y="288715"/>
            <a:ext cx="8303812" cy="2874104"/>
          </a:xfrm>
          <a:prstGeom prst="rect">
            <a:avLst/>
          </a:prstGeom>
        </p:spPr>
        <p:txBody>
          <a:bodyPr/>
          <a:lstStyle>
            <a:lvl1pPr>
              <a:defRPr sz="3225" b="0">
                <a:solidFill>
                  <a:srgbClr val="FFFFFF"/>
                </a:solidFill>
              </a:defRPr>
            </a:lvl1pPr>
          </a:lstStyle>
          <a:p>
            <a:r>
              <a:rPr lang="en-US"/>
              <a:t>Click to edit Master title style</a:t>
            </a:r>
            <a:endParaRPr/>
          </a:p>
        </p:txBody>
      </p:sp>
      <p:sp>
        <p:nvSpPr>
          <p:cNvPr id="37" name="Shape 37"/>
          <p:cNvSpPr>
            <a:spLocks noGrp="1"/>
          </p:cNvSpPr>
          <p:nvPr>
            <p:ph type="body" sz="half" idx="1"/>
          </p:nvPr>
        </p:nvSpPr>
        <p:spPr>
          <a:xfrm>
            <a:off x="3361309" y="2360054"/>
            <a:ext cx="4508528" cy="4021755"/>
          </a:xfrm>
          <a:prstGeom prst="rect">
            <a:avLst/>
          </a:prstGeom>
        </p:spPr>
        <p:txBody>
          <a:bodyPr anchor="ctr"/>
          <a:lstStyle>
            <a:lvl1pPr algn="r">
              <a:lnSpc>
                <a:spcPct val="100000"/>
              </a:lnSpc>
              <a:spcBef>
                <a:spcPts val="0"/>
              </a:spcBef>
              <a:defRPr sz="1351">
                <a:solidFill>
                  <a:srgbClr val="FFFFFF"/>
                </a:solidFill>
                <a:latin typeface="+mn-lt"/>
              </a:defRPr>
            </a:lvl1pPr>
            <a:lvl2pPr marL="0" indent="85721" algn="r">
              <a:lnSpc>
                <a:spcPct val="100000"/>
              </a:lnSpc>
              <a:spcBef>
                <a:spcPts val="0"/>
              </a:spcBef>
              <a:buClrTx/>
              <a:buSzTx/>
              <a:buNone/>
              <a:defRPr sz="1200">
                <a:solidFill>
                  <a:srgbClr val="DCDEE0"/>
                </a:solidFill>
                <a:latin typeface="Swis721 Lt BT"/>
                <a:ea typeface="Swis721 Lt BT"/>
                <a:cs typeface="Swis721 Lt BT"/>
                <a:sym typeface="Swis721 Lt BT"/>
              </a:defRPr>
            </a:lvl2pPr>
            <a:lvl3pPr marL="0" indent="171442"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63" algn="r">
              <a:lnSpc>
                <a:spcPct val="100000"/>
              </a:lnSpc>
              <a:spcBef>
                <a:spcPts val="0"/>
              </a:spcBef>
              <a:buClrTx/>
              <a:buSzTx/>
              <a:buNone/>
              <a:defRPr sz="1200">
                <a:solidFill>
                  <a:srgbClr val="DCDEE0"/>
                </a:solidFill>
                <a:latin typeface="Swis721 Lt BT"/>
                <a:ea typeface="Swis721 Lt BT"/>
                <a:cs typeface="Swis721 Lt BT"/>
                <a:sym typeface="Swis721 Lt BT"/>
              </a:defRPr>
            </a:lvl4pPr>
            <a:lvl5pPr marL="0" indent="342883" algn="r">
              <a:lnSpc>
                <a:spcPct val="100000"/>
              </a:lnSpc>
              <a:spcBef>
                <a:spcPts val="0"/>
              </a:spcBef>
              <a:buClrTx/>
              <a:buSzTx/>
              <a:buNone/>
              <a:defRPr sz="1200">
                <a:solidFill>
                  <a:srgbClr val="DCDEE0"/>
                </a:solidFill>
                <a:latin typeface="Swis721 Lt BT"/>
                <a:ea typeface="Swis721 Lt BT"/>
                <a:cs typeface="Swis721 Lt BT"/>
                <a:sym typeface="Swis721 Lt B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4" name="Shape 44"/>
          <p:cNvSpPr/>
          <p:nvPr/>
        </p:nvSpPr>
        <p:spPr>
          <a:xfrm>
            <a:off x="423328" y="5670333"/>
            <a:ext cx="4710959" cy="786391"/>
          </a:xfrm>
          <a:custGeom>
            <a:avLst/>
            <a:gdLst/>
            <a:ahLst/>
            <a:cxnLst>
              <a:cxn ang="0">
                <a:pos x="wd2" y="hd2"/>
              </a:cxn>
              <a:cxn ang="5400000">
                <a:pos x="wd2" y="hd2"/>
              </a:cxn>
              <a:cxn ang="10800000">
                <a:pos x="wd2" y="hd2"/>
              </a:cxn>
              <a:cxn ang="16200000">
                <a:pos x="wd2" y="hd2"/>
              </a:cxn>
            </a:cxnLst>
            <a:rect l="0" t="0" r="r" b="b"/>
            <a:pathLst>
              <a:path w="21600" h="21600" extrusionOk="0">
                <a:moveTo>
                  <a:pt x="0" y="21458"/>
                </a:moveTo>
                <a:lnTo>
                  <a:pt x="2445" y="0"/>
                </a:lnTo>
                <a:lnTo>
                  <a:pt x="21600" y="174"/>
                </a:lnTo>
                <a:lnTo>
                  <a:pt x="19166" y="21600"/>
                </a:lnTo>
                <a:lnTo>
                  <a:pt x="0" y="21458"/>
                </a:lnTo>
                <a:close/>
              </a:path>
            </a:pathLst>
          </a:custGeom>
          <a:solidFill>
            <a:srgbClr val="FFFFFF"/>
          </a:solidFill>
          <a:ln w="12700">
            <a:miter lim="400000"/>
          </a:ln>
        </p:spPr>
        <p:txBody>
          <a:bodyPr lIns="26789" tIns="26789" rIns="26789" bIns="26789" anchor="ctr"/>
          <a:lstStyle/>
          <a:p>
            <a:pPr>
              <a:defRPr sz="3200"/>
            </a:pPr>
            <a:endParaRPr sz="1200"/>
          </a:p>
        </p:txBody>
      </p:sp>
      <p:pic>
        <p:nvPicPr>
          <p:cNvPr id="45"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83639" y="5917081"/>
            <a:ext cx="2108455" cy="292967"/>
          </a:xfrm>
          <a:prstGeom prst="rect">
            <a:avLst/>
          </a:prstGeom>
          <a:ln w="12700">
            <a:miter lim="400000"/>
          </a:ln>
        </p:spPr>
      </p:pic>
      <p:pic>
        <p:nvPicPr>
          <p:cNvPr id="46"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492571" y="5850295"/>
            <a:ext cx="872531" cy="394256"/>
          </a:xfrm>
          <a:prstGeom prst="rect">
            <a:avLst/>
          </a:prstGeom>
          <a:ln w="12700">
            <a:miter lim="400000"/>
          </a:ln>
        </p:spPr>
      </p:pic>
      <p:pic>
        <p:nvPicPr>
          <p:cNvPr id="12" name="pasted-image.pdf"/>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83463" y="198888"/>
            <a:ext cx="1584368" cy="1464101"/>
          </a:xfrm>
          <a:prstGeom prst="rect">
            <a:avLst/>
          </a:prstGeom>
          <a:ln w="12700">
            <a:miter lim="400000"/>
          </a:ln>
        </p:spPr>
      </p:pic>
      <p:pic>
        <p:nvPicPr>
          <p:cNvPr id="17" name="Picture 5" descr="IBM_black_logo">
            <a:extLst>
              <a:ext uri="{FF2B5EF4-FFF2-40B4-BE49-F238E27FC236}">
                <a16:creationId xmlns:a16="http://schemas.microsoft.com/office/drawing/2014/main" id="{0C94F7B7-96FE-0C45-862B-158C4940792E}"/>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669005" y="1861875"/>
            <a:ext cx="987068" cy="37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869717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12" name="Espace réservé du pied de page 1">
            <a:extLst>
              <a:ext uri="{FF2B5EF4-FFF2-40B4-BE49-F238E27FC236}">
                <a16:creationId xmlns:a16="http://schemas.microsoft.com/office/drawing/2014/main" id="{F20C0310-E344-43F6-9D43-6DDF494E2184}"/>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13" name="Espace réservé du numéro de diapositive 2">
            <a:extLst>
              <a:ext uri="{FF2B5EF4-FFF2-40B4-BE49-F238E27FC236}">
                <a16:creationId xmlns:a16="http://schemas.microsoft.com/office/drawing/2014/main" id="{48532099-53A3-423B-A837-EC630AC2AE32}"/>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6" name="Title 1">
            <a:extLst>
              <a:ext uri="{FF2B5EF4-FFF2-40B4-BE49-F238E27FC236}">
                <a16:creationId xmlns:a16="http://schemas.microsoft.com/office/drawing/2014/main" id="{7FE159C4-170F-4DE7-9DA3-221316A5214C}"/>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3513593960"/>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et texte">
    <p:spTree>
      <p:nvGrpSpPr>
        <p:cNvPr id="1" name=""/>
        <p:cNvGrpSpPr/>
        <p:nvPr/>
      </p:nvGrpSpPr>
      <p:grpSpPr>
        <a:xfrm>
          <a:off x="0" y="0"/>
          <a:ext cx="0" cy="0"/>
          <a:chOff x="0" y="0"/>
          <a:chExt cx="0" cy="0"/>
        </a:xfrm>
      </p:grpSpPr>
      <p:sp>
        <p:nvSpPr>
          <p:cNvPr id="12" name="Décision 2"/>
          <p:cNvSpPr/>
          <p:nvPr userDrawn="1"/>
        </p:nvSpPr>
        <p:spPr>
          <a:xfrm>
            <a:off x="974" y="-120"/>
            <a:ext cx="700631" cy="15978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8" name="Espace réservé du texte 7"/>
          <p:cNvSpPr>
            <a:spLocks noGrp="1"/>
          </p:cNvSpPr>
          <p:nvPr>
            <p:ph type="body" sz="quarter" idx="15"/>
          </p:nvPr>
        </p:nvSpPr>
        <p:spPr>
          <a:xfrm>
            <a:off x="838200" y="1178669"/>
            <a:ext cx="10515600" cy="5112000"/>
          </a:xfrm>
          <a:prstGeom prst="rect">
            <a:avLst/>
          </a:prstGeom>
        </p:spPr>
        <p:txBody>
          <a:bodyPr/>
          <a:lstStyle>
            <a:lvl1pPr>
              <a:defRPr lang="en-US" sz="1800" b="1" dirty="0">
                <a:solidFill>
                  <a:schemeClr val="tx1"/>
                </a:solidFill>
                <a:latin typeface="Calibri" panose="020F0502020204030204" pitchFamily="34" charset="0"/>
                <a:cs typeface="Calibri" panose="020F0502020204030204" pitchFamily="34" charset="0"/>
              </a:defRPr>
            </a:lvl1pPr>
            <a:lvl2pPr marL="220657" indent="-220657">
              <a:defRPr lang="en-US" sz="1600" dirty="0">
                <a:solidFill>
                  <a:schemeClr val="tx1"/>
                </a:solidFill>
                <a:latin typeface="Calibri" panose="020F0502020204030204" pitchFamily="34" charset="0"/>
                <a:cs typeface="Calibri" panose="020F0502020204030204" pitchFamily="34" charset="0"/>
              </a:defRPr>
            </a:lvl2pPr>
            <a:lvl3pPr marL="357179" indent="-201608">
              <a:defRPr lang="en-US" sz="1400" dirty="0">
                <a:solidFill>
                  <a:schemeClr val="tx1"/>
                </a:solidFill>
                <a:latin typeface="Calibri" panose="020F0502020204030204" pitchFamily="34" charset="0"/>
                <a:cs typeface="Calibri" panose="020F0502020204030204" pitchFamily="34" charset="0"/>
              </a:defRPr>
            </a:lvl3pPr>
            <a:lvl4pPr marL="534975" indent="-220657">
              <a:defRPr lang="en-US" sz="1200" dirty="0">
                <a:solidFill>
                  <a:schemeClr val="tx1"/>
                </a:solidFill>
                <a:latin typeface="Calibri" panose="020F0502020204030204" pitchFamily="34" charset="0"/>
                <a:cs typeface="Calibri" panose="020F0502020204030204" pitchFamily="34" charset="0"/>
              </a:defRPr>
            </a:lvl4pPr>
            <a:lvl5pPr marL="714357" indent="-220657">
              <a:defRPr lang="fr-FR" sz="1100" dirty="0">
                <a:solidFill>
                  <a:schemeClr val="tx1"/>
                </a:solidFill>
                <a:latin typeface="Calibri" panose="020F0502020204030204" pitchFamily="34" charset="0"/>
                <a:cs typeface="Calibri" panose="020F0502020204030204" pitchFamily="34" charset="0"/>
              </a:defRPr>
            </a:lvl5pPr>
          </a:lstStyle>
          <a:p>
            <a:pPr lvl="0">
              <a:spcBef>
                <a:spcPts val="0"/>
              </a:spcBef>
              <a:spcAft>
                <a:spcPts val="300"/>
              </a:spcAft>
            </a:pPr>
            <a:r>
              <a:rPr lang="en-US"/>
              <a:t>Click to edit Master text styles</a:t>
            </a:r>
          </a:p>
          <a:p>
            <a:pPr lvl="1">
              <a:spcBef>
                <a:spcPts val="0"/>
              </a:spcBef>
              <a:spcAft>
                <a:spcPts val="300"/>
              </a:spcAft>
            </a:pPr>
            <a:r>
              <a:rPr lang="en-US"/>
              <a:t>Second level</a:t>
            </a:r>
          </a:p>
          <a:p>
            <a:pPr lvl="2">
              <a:spcBef>
                <a:spcPts val="0"/>
              </a:spcBef>
              <a:spcAft>
                <a:spcPts val="300"/>
              </a:spcAft>
            </a:pPr>
            <a:r>
              <a:rPr lang="en-US"/>
              <a:t>Third level</a:t>
            </a:r>
          </a:p>
          <a:p>
            <a:pPr lvl="3">
              <a:spcBef>
                <a:spcPts val="0"/>
              </a:spcBef>
              <a:spcAft>
                <a:spcPts val="300"/>
              </a:spcAft>
            </a:pPr>
            <a:r>
              <a:rPr lang="en-US"/>
              <a:t>Fourth level</a:t>
            </a:r>
          </a:p>
          <a:p>
            <a:pPr lvl="4">
              <a:spcBef>
                <a:spcPts val="0"/>
              </a:spcBef>
              <a:spcAft>
                <a:spcPts val="300"/>
              </a:spcAft>
            </a:pPr>
            <a:r>
              <a:rPr lang="en-US"/>
              <a:t>Fifth level</a:t>
            </a:r>
            <a:endParaRPr lang="fr-FR"/>
          </a:p>
        </p:txBody>
      </p:sp>
      <p:pic>
        <p:nvPicPr>
          <p:cNvPr id="15" name="pasted-image.pdf">
            <a:extLst>
              <a:ext uri="{FF2B5EF4-FFF2-40B4-BE49-F238E27FC236}">
                <a16:creationId xmlns:a16="http://schemas.microsoft.com/office/drawing/2014/main" id="{74B1F0E4-2D93-4F44-9DB9-63C7D7768BA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46303" y="6322374"/>
            <a:ext cx="513999" cy="474981"/>
          </a:xfrm>
          <a:prstGeom prst="rect">
            <a:avLst/>
          </a:prstGeom>
          <a:ln w="12700">
            <a:miter lim="400000"/>
          </a:ln>
        </p:spPr>
      </p:pic>
      <p:sp>
        <p:nvSpPr>
          <p:cNvPr id="16" name="Décision 2">
            <a:extLst>
              <a:ext uri="{FF2B5EF4-FFF2-40B4-BE49-F238E27FC236}">
                <a16:creationId xmlns:a16="http://schemas.microsoft.com/office/drawing/2014/main" id="{71527B2B-558F-4983-B807-9201141CE944}"/>
              </a:ext>
            </a:extLst>
          </p:cNvPr>
          <p:cNvSpPr/>
          <p:nvPr userDrawn="1"/>
        </p:nvSpPr>
        <p:spPr>
          <a:xfrm>
            <a:off x="973" y="6533871"/>
            <a:ext cx="120668" cy="333463"/>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pic>
        <p:nvPicPr>
          <p:cNvPr id="19" name="Picture 5" descr="IBM_black_logo">
            <a:extLst>
              <a:ext uri="{FF2B5EF4-FFF2-40B4-BE49-F238E27FC236}">
                <a16:creationId xmlns:a16="http://schemas.microsoft.com/office/drawing/2014/main" id="{BCFE4F7F-2089-4901-8719-9ED2C21A4672}"/>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875133" y="6499914"/>
            <a:ext cx="609971" cy="2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Espace réservé du pied de page 1">
            <a:extLst>
              <a:ext uri="{FF2B5EF4-FFF2-40B4-BE49-F238E27FC236}">
                <a16:creationId xmlns:a16="http://schemas.microsoft.com/office/drawing/2014/main" id="{C301514A-6F2D-4410-A99E-7694FFBECBD2}"/>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23" name="Espace réservé du numéro de diapositive 2">
            <a:extLst>
              <a:ext uri="{FF2B5EF4-FFF2-40B4-BE49-F238E27FC236}">
                <a16:creationId xmlns:a16="http://schemas.microsoft.com/office/drawing/2014/main" id="{4894F215-B394-4F54-8173-B4F7A64A3E66}"/>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11" name="Title 1">
            <a:extLst>
              <a:ext uri="{FF2B5EF4-FFF2-40B4-BE49-F238E27FC236}">
                <a16:creationId xmlns:a16="http://schemas.microsoft.com/office/drawing/2014/main" id="{BACEF26F-B0A9-4591-BDE0-50FB33CF3EF3}"/>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1191784119"/>
      </p:ext>
    </p:extLst>
  </p:cSld>
  <p:clrMapOvr>
    <a:masterClrMapping/>
  </p:clrMapOvr>
  <p:transition spd="med"/>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slideLayout" Target="../slideLayouts/slideLayout49.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theme" Target="../theme/theme2.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slideLayout" Target="../slideLayouts/slideLayout51.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8153470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 id="2147483680" r:id="rId19"/>
    <p:sldLayoutId id="2147483681" r:id="rId20"/>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7000">
              <a:schemeClr val="bg1"/>
            </a:gs>
            <a:gs pos="100000">
              <a:srgbClr val="003A8D"/>
            </a:gs>
          </a:gsLst>
          <a:lin ang="8100000" scaled="1"/>
          <a:tileRect/>
        </a:gradFill>
        <a:effectLst/>
      </p:bgPr>
    </p:bg>
    <p:spTree>
      <p:nvGrpSpPr>
        <p:cNvPr id="1" name=""/>
        <p:cNvGrpSpPr/>
        <p:nvPr/>
      </p:nvGrpSpPr>
      <p:grpSpPr>
        <a:xfrm>
          <a:off x="0" y="0"/>
          <a:ext cx="0" cy="0"/>
          <a:chOff x="0" y="0"/>
          <a:chExt cx="0" cy="0"/>
        </a:xfrm>
      </p:grpSpPr>
      <p:sp>
        <p:nvSpPr>
          <p:cNvPr id="6" name="Rectangle à coins arrondis 5"/>
          <p:cNvSpPr/>
          <p:nvPr/>
        </p:nvSpPr>
        <p:spPr>
          <a:xfrm>
            <a:off x="127001" y="101605"/>
            <a:ext cx="11946467" cy="6639481"/>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Janvier 2024</a:t>
            </a:r>
            <a:endParaRPr lang="en-US" dirty="0"/>
          </a:p>
        </p:txBody>
      </p:sp>
      <p:sp>
        <p:nvSpPr>
          <p:cNvPr id="5" name="Espace réservé du numéro de diapositive 5"/>
          <p:cNvSpPr>
            <a:spLocks noGrp="1"/>
          </p:cNvSpPr>
          <p:nvPr>
            <p:ph type="sldNum" sz="quarter" idx="4"/>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2" name="Group 1">
            <a:extLst>
              <a:ext uri="{FF2B5EF4-FFF2-40B4-BE49-F238E27FC236}">
                <a16:creationId xmlns:a16="http://schemas.microsoft.com/office/drawing/2014/main" id="{08602E2B-ACAE-F214-77F8-530BA794AD06}"/>
              </a:ext>
            </a:extLst>
          </p:cNvPr>
          <p:cNvGrpSpPr/>
          <p:nvPr userDrawn="1"/>
        </p:nvGrpSpPr>
        <p:grpSpPr>
          <a:xfrm>
            <a:off x="5852160" y="-212034"/>
            <a:ext cx="470008" cy="210260"/>
            <a:chOff x="4389120" y="-159026"/>
            <a:chExt cx="352506" cy="157695"/>
          </a:xfrm>
        </p:grpSpPr>
        <p:cxnSp>
          <p:nvCxnSpPr>
            <p:cNvPr id="3" name="Straight Connector 2">
              <a:extLst>
                <a:ext uri="{FF2B5EF4-FFF2-40B4-BE49-F238E27FC236}">
                  <a16:creationId xmlns:a16="http://schemas.microsoft.com/office/drawing/2014/main" id="{D968870E-E915-F42F-1294-51253169D874}"/>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293D63-7FB8-ED97-9AD4-E457EE97A462}"/>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C56F22-EA76-6C47-CB26-F750F188D57D}"/>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0BF1332-0A05-D424-DF87-FEE60E11B61A}"/>
              </a:ext>
            </a:extLst>
          </p:cNvPr>
          <p:cNvGrpSpPr/>
          <p:nvPr userDrawn="1"/>
        </p:nvGrpSpPr>
        <p:grpSpPr>
          <a:xfrm>
            <a:off x="8737597" y="-222634"/>
            <a:ext cx="470008" cy="210260"/>
            <a:chOff x="4389120" y="-159026"/>
            <a:chExt cx="352506" cy="157695"/>
          </a:xfrm>
        </p:grpSpPr>
        <p:cxnSp>
          <p:nvCxnSpPr>
            <p:cNvPr id="10" name="Straight Connector 9">
              <a:extLst>
                <a:ext uri="{FF2B5EF4-FFF2-40B4-BE49-F238E27FC236}">
                  <a16:creationId xmlns:a16="http://schemas.microsoft.com/office/drawing/2014/main" id="{9FF1DA4B-0E13-0798-191C-ED7FB5FFD6B9}"/>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E55582-D785-31E4-DD29-95F55C7D13B9}"/>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C00F8B-B0C9-01D8-7580-21B536FF3828}"/>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74DC492-E93E-CBEB-93E9-1D613A4CD839}"/>
              </a:ext>
            </a:extLst>
          </p:cNvPr>
          <p:cNvGrpSpPr/>
          <p:nvPr userDrawn="1"/>
        </p:nvGrpSpPr>
        <p:grpSpPr>
          <a:xfrm>
            <a:off x="2972128" y="-231461"/>
            <a:ext cx="470008" cy="210260"/>
            <a:chOff x="4389120" y="-159026"/>
            <a:chExt cx="352506" cy="157695"/>
          </a:xfrm>
        </p:grpSpPr>
        <p:cxnSp>
          <p:nvCxnSpPr>
            <p:cNvPr id="14" name="Straight Connector 13">
              <a:extLst>
                <a:ext uri="{FF2B5EF4-FFF2-40B4-BE49-F238E27FC236}">
                  <a16:creationId xmlns:a16="http://schemas.microsoft.com/office/drawing/2014/main" id="{3940EB56-ACC7-1CE0-1A2F-8F71EC0D8216}"/>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553000-51CE-B254-1CBD-21B8A1DAA5AA}"/>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B25738-87FA-7320-DA44-F118F9FD1D21}"/>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0188FCAB-10C9-0643-8FAA-8370C9D56443}"/>
              </a:ext>
            </a:extLst>
          </p:cNvPr>
          <p:cNvGrpSpPr/>
          <p:nvPr userDrawn="1"/>
        </p:nvGrpSpPr>
        <p:grpSpPr>
          <a:xfrm rot="16200000">
            <a:off x="-347329" y="3273593"/>
            <a:ext cx="470008" cy="210260"/>
            <a:chOff x="4389120" y="-159026"/>
            <a:chExt cx="352506" cy="157695"/>
          </a:xfrm>
        </p:grpSpPr>
        <p:cxnSp>
          <p:nvCxnSpPr>
            <p:cNvPr id="18" name="Straight Connector 17">
              <a:extLst>
                <a:ext uri="{FF2B5EF4-FFF2-40B4-BE49-F238E27FC236}">
                  <a16:creationId xmlns:a16="http://schemas.microsoft.com/office/drawing/2014/main" id="{3AC8E3A1-096A-8836-5560-0077A1C9F3AB}"/>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9D3A70-D242-7D60-8A72-6C907CA70608}"/>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7E085D-56D9-4F48-1EF5-3777AEE77457}"/>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A016345D-1506-FA3D-01BA-53CF6F210494}"/>
              </a:ext>
            </a:extLst>
          </p:cNvPr>
          <p:cNvCxnSpPr/>
          <p:nvPr userDrawn="1"/>
        </p:nvCxnSpPr>
        <p:spPr>
          <a:xfrm>
            <a:off x="11925300" y="-215582"/>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A93FF-0A2F-03DF-CEC8-59CC91716623}"/>
              </a:ext>
            </a:extLst>
          </p:cNvPr>
          <p:cNvCxnSpPr/>
          <p:nvPr userDrawn="1"/>
        </p:nvCxnSpPr>
        <p:spPr>
          <a:xfrm>
            <a:off x="277412" y="-249145"/>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6B5CB0-3AF5-9F3B-7459-FD659519CA5D}"/>
              </a:ext>
            </a:extLst>
          </p:cNvPr>
          <p:cNvCxnSpPr>
            <a:cxnSpLocks/>
          </p:cNvCxnSpPr>
          <p:nvPr userDrawn="1"/>
        </p:nvCxnSpPr>
        <p:spPr>
          <a:xfrm>
            <a:off x="-182440" y="190503"/>
            <a:ext cx="164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A5658D-09DC-CE8A-EBCC-2F1CE3FB7487}"/>
              </a:ext>
            </a:extLst>
          </p:cNvPr>
          <p:cNvCxnSpPr>
            <a:cxnSpLocks/>
          </p:cNvCxnSpPr>
          <p:nvPr userDrawn="1"/>
        </p:nvCxnSpPr>
        <p:spPr>
          <a:xfrm>
            <a:off x="-208799" y="6441671"/>
            <a:ext cx="164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92864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Lst>
  <p:hf hdr="0" dt="0"/>
  <p:txStyles>
    <p:titleStyle>
      <a:lvl1pPr algn="l" defTabSz="914309"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309"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578" indent="-228578" algn="l" defTabSz="914309"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23" indent="-228578" algn="l" defTabSz="914309"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1925" indent="-270643" algn="l" defTabSz="914309"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4880008" y="1652564"/>
            <a:ext cx="6413805" cy="2145456"/>
          </a:xfrm>
        </p:spPr>
        <p:txBody>
          <a:bodyPr anchor="ctr"/>
          <a:lstStyle/>
          <a:p>
            <a:r>
              <a:rPr lang="fr-FR" sz="4800" b="1" cap="small" dirty="0">
                <a:latin typeface="Segoe UI" panose="020B0502040204020203" pitchFamily="34" charset="0"/>
                <a:cs typeface="Segoe UI" panose="020B0502040204020203" pitchFamily="34" charset="0"/>
              </a:rPr>
              <a:t>[Refonte </a:t>
            </a:r>
            <a:r>
              <a:rPr lang="fr-FR" sz="4800" b="1" cap="small" dirty="0" err="1">
                <a:latin typeface="Segoe UI" panose="020B0502040204020203" pitchFamily="34" charset="0"/>
                <a:cs typeface="Segoe UI" panose="020B0502040204020203" pitchFamily="34" charset="0"/>
              </a:rPr>
              <a:t>SyoReader</a:t>
            </a:r>
            <a:r>
              <a:rPr lang="fr-FR" sz="4800" b="1" cap="small" dirty="0">
                <a:latin typeface="Segoe UI" panose="020B0502040204020203" pitchFamily="34" charset="0"/>
                <a:cs typeface="Segoe UI" panose="020B0502040204020203" pitchFamily="34" charset="0"/>
              </a:rPr>
              <a:t>] </a:t>
            </a:r>
            <a:br>
              <a:rPr lang="fr-FR" sz="7200" b="1" cap="small" dirty="0">
                <a:latin typeface="Segoe UI" panose="020B0502040204020203" pitchFamily="34" charset="0"/>
                <a:cs typeface="Segoe UI" panose="020B0502040204020203" pitchFamily="34" charset="0"/>
              </a:rPr>
            </a:br>
            <a:r>
              <a:rPr lang="fr-FR" sz="4000" b="1" cap="small" dirty="0">
                <a:latin typeface="Segoe UI" panose="020B0502040204020203" pitchFamily="34" charset="0"/>
                <a:cs typeface="Segoe UI" panose="020B0502040204020203" pitchFamily="34" charset="0"/>
              </a:rPr>
              <a:t>Pré-cadrage</a:t>
            </a:r>
            <a:endParaRPr lang="fr-FR" sz="7200" b="1" i="1" cap="small" dirty="0">
              <a:latin typeface="Segoe UI" panose="020B0502040204020203" pitchFamily="34" charset="0"/>
              <a:cs typeface="Segoe UI" panose="020B0502040204020203" pitchFamily="34" charset="0"/>
            </a:endParaRPr>
          </a:p>
        </p:txBody>
      </p:sp>
      <p:sp>
        <p:nvSpPr>
          <p:cNvPr id="5" name="Espace réservé du texte 4"/>
          <p:cNvSpPr>
            <a:spLocks noGrp="1"/>
          </p:cNvSpPr>
          <p:nvPr>
            <p:ph type="subTitle" idx="1"/>
          </p:nvPr>
        </p:nvSpPr>
        <p:spPr/>
        <p:txBody>
          <a:bodyPr/>
          <a:lstStyle/>
          <a:p>
            <a:r>
              <a:rPr lang="fr-FR" i="1" dirty="0">
                <a:solidFill>
                  <a:schemeClr val="bg1">
                    <a:lumMod val="75000"/>
                  </a:schemeClr>
                </a:solidFill>
              </a:rPr>
              <a:t>Etude : 2026-04</a:t>
            </a:r>
          </a:p>
        </p:txBody>
      </p:sp>
    </p:spTree>
    <p:extLst>
      <p:ext uri="{BB962C8B-B14F-4D97-AF65-F5344CB8AC3E}">
        <p14:creationId xmlns:p14="http://schemas.microsoft.com/office/powerpoint/2010/main" val="336881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 Contexte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cap="small" dirty="0" err="1">
                <a:solidFill>
                  <a:srgbClr val="003A8D"/>
                </a:solidFill>
                <a:ea typeface="+mj-ea"/>
              </a:rPr>
              <a:t>Périmètre</a:t>
            </a:r>
            <a:r>
              <a:rPr lang="en-US" b="1" cap="small" dirty="0">
                <a:solidFill>
                  <a:srgbClr val="003A8D"/>
                </a:solidFill>
                <a:ea typeface="+mj-ea"/>
              </a:rPr>
              <a:t> du </a:t>
            </a:r>
            <a:r>
              <a:rPr lang="en-US" b="1" cap="small" dirty="0" err="1">
                <a:solidFill>
                  <a:srgbClr val="003A8D"/>
                </a:solidFill>
                <a:ea typeface="+mj-ea"/>
              </a:rPr>
              <a:t>pré-cadrage</a:t>
            </a:r>
            <a:r>
              <a:rPr lang="en-US" b="1" cap="small" dirty="0">
                <a:solidFill>
                  <a:srgbClr val="003A8D"/>
                </a:solidFill>
                <a:ea typeface="+mj-ea"/>
              </a:rPr>
              <a:t> NADIA</a:t>
            </a:r>
            <a:endParaRPr lang="en-US" dirty="0"/>
          </a:p>
        </p:txBody>
      </p:sp>
      <p:sp>
        <p:nvSpPr>
          <p:cNvPr id="20" name="Rectangle 19">
            <a:extLst>
              <a:ext uri="{FF2B5EF4-FFF2-40B4-BE49-F238E27FC236}">
                <a16:creationId xmlns:a16="http://schemas.microsoft.com/office/drawing/2014/main" id="{B443CEEE-CAB0-4391-9E6C-B34533D0E18B}"/>
              </a:ext>
            </a:extLst>
          </p:cNvPr>
          <p:cNvSpPr/>
          <p:nvPr/>
        </p:nvSpPr>
        <p:spPr>
          <a:xfrm>
            <a:off x="1537853" y="2435119"/>
            <a:ext cx="2691669"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latin typeface="Segoe UI" panose="020B0502040204020203" pitchFamily="34" charset="0"/>
                <a:cs typeface="Segoe UI" panose="020B0502040204020203" pitchFamily="34" charset="0"/>
              </a:rPr>
              <a:t>01. </a:t>
            </a:r>
            <a:r>
              <a:rPr lang="fr-FR" sz="900" b="1" dirty="0" err="1">
                <a:latin typeface="Segoe UI" panose="020B0502040204020203" pitchFamily="34" charset="0"/>
                <a:cs typeface="Segoe UI" panose="020B0502040204020203" pitchFamily="34" charset="0"/>
              </a:rPr>
              <a:t>Interop</a:t>
            </a:r>
            <a:r>
              <a:rPr lang="fr-FR" sz="900" b="1" dirty="0">
                <a:latin typeface="Segoe UI" panose="020B0502040204020203" pitchFamily="34" charset="0"/>
                <a:cs typeface="Segoe UI" panose="020B0502040204020203" pitchFamily="34" charset="0"/>
              </a:rPr>
              <a:t> CADI – SYO pour la classification / Extraction</a:t>
            </a:r>
            <a:endParaRPr lang="fr-FR" sz="900" b="1" dirty="0">
              <a:solidFill>
                <a:schemeClr val="bg1"/>
              </a:solidFill>
              <a:latin typeface="Segoe UI" panose="020B0502040204020203" pitchFamily="34" charset="0"/>
              <a:cs typeface="Segoe UI" panose="020B0502040204020203" pitchFamily="34" charset="0"/>
            </a:endParaRPr>
          </a:p>
        </p:txBody>
      </p:sp>
      <p:sp>
        <p:nvSpPr>
          <p:cNvPr id="21" name="Rectangle 20">
            <a:extLst>
              <a:ext uri="{FF2B5EF4-FFF2-40B4-BE49-F238E27FC236}">
                <a16:creationId xmlns:a16="http://schemas.microsoft.com/office/drawing/2014/main" id="{A3035E3E-6843-4E90-9128-AD2E9446F600}"/>
              </a:ext>
            </a:extLst>
          </p:cNvPr>
          <p:cNvSpPr/>
          <p:nvPr/>
        </p:nvSpPr>
        <p:spPr>
          <a:xfrm>
            <a:off x="1008153" y="2850934"/>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Exposition des services </a:t>
            </a:r>
            <a:r>
              <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CADI aux composants SYO (</a:t>
            </a:r>
            <a:r>
              <a:rPr kumimoji="0" lang="fr-FR" altLang="fr-FR" sz="1000" b="1"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CWs</a:t>
            </a:r>
            <a:r>
              <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Ouverture de l'accès à un catalogue élargi de services de classification et d'extraction. </a:t>
            </a:r>
          </a:p>
        </p:txBody>
      </p:sp>
      <p:sp>
        <p:nvSpPr>
          <p:cNvPr id="24" name="Rectangle 23">
            <a:extLst>
              <a:ext uri="{FF2B5EF4-FFF2-40B4-BE49-F238E27FC236}">
                <a16:creationId xmlns:a16="http://schemas.microsoft.com/office/drawing/2014/main" id="{F5DACA01-FF41-4D3B-8A41-336930F811D4}"/>
              </a:ext>
            </a:extLst>
          </p:cNvPr>
          <p:cNvSpPr/>
          <p:nvPr/>
        </p:nvSpPr>
        <p:spPr>
          <a:xfrm>
            <a:off x="5212905" y="2441983"/>
            <a:ext cx="2691669"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latin typeface="Segoe UI" panose="020B0502040204020203" pitchFamily="34" charset="0"/>
                <a:cs typeface="Segoe UI" panose="020B0502040204020203" pitchFamily="34" charset="0"/>
              </a:rPr>
              <a:t>02. </a:t>
            </a:r>
            <a:r>
              <a:rPr lang="fr-FR" sz="900" b="1" dirty="0" err="1">
                <a:latin typeface="Segoe UI" panose="020B0502040204020203" pitchFamily="34" charset="0"/>
                <a:cs typeface="Segoe UI" panose="020B0502040204020203" pitchFamily="34" charset="0"/>
              </a:rPr>
              <a:t>Interop</a:t>
            </a:r>
            <a:r>
              <a:rPr lang="fr-FR" sz="900" b="1" dirty="0">
                <a:latin typeface="Segoe UI" panose="020B0502040204020203" pitchFamily="34" charset="0"/>
                <a:cs typeface="Segoe UI" panose="020B0502040204020203" pitchFamily="34" charset="0"/>
              </a:rPr>
              <a:t> CADI – SYO pour la classification / Extraction (Focus </a:t>
            </a:r>
            <a:r>
              <a:rPr lang="fr-FR" sz="900" b="1" dirty="0" err="1">
                <a:latin typeface="Segoe UI" panose="020B0502040204020203" pitchFamily="34" charset="0"/>
                <a:cs typeface="Segoe UI" panose="020B0502040204020203" pitchFamily="34" charset="0"/>
              </a:rPr>
              <a:t>GenAI</a:t>
            </a:r>
            <a:r>
              <a:rPr lang="fr-FR" sz="900" b="1" dirty="0">
                <a:latin typeface="Segoe UI" panose="020B0502040204020203" pitchFamily="34" charset="0"/>
                <a:cs typeface="Segoe UI" panose="020B0502040204020203" pitchFamily="34" charset="0"/>
              </a:rPr>
              <a:t> / OCR Studio)</a:t>
            </a:r>
            <a:endParaRPr lang="fr-FR" sz="900" b="1" dirty="0">
              <a:solidFill>
                <a:schemeClr val="bg1"/>
              </a:solidFill>
              <a:latin typeface="Segoe UI" panose="020B0502040204020203" pitchFamily="34" charset="0"/>
              <a:cs typeface="Segoe UI" panose="020B0502040204020203" pitchFamily="34" charset="0"/>
            </a:endParaRPr>
          </a:p>
        </p:txBody>
      </p:sp>
      <p:sp>
        <p:nvSpPr>
          <p:cNvPr id="25" name="Rectangle 24">
            <a:extLst>
              <a:ext uri="{FF2B5EF4-FFF2-40B4-BE49-F238E27FC236}">
                <a16:creationId xmlns:a16="http://schemas.microsoft.com/office/drawing/2014/main" id="{0D26D8F4-AB15-4EE6-B926-825FFDA8F838}"/>
              </a:ext>
            </a:extLst>
          </p:cNvPr>
          <p:cNvSpPr/>
          <p:nvPr/>
        </p:nvSpPr>
        <p:spPr>
          <a:xfrm>
            <a:off x="4683205" y="2850934"/>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Exposition des services basés sur </a:t>
            </a:r>
            <a:r>
              <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les LLM</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via OCR Studio pour les traitements documentaires SYO.</a:t>
            </a:r>
            <a:endParaRPr lang="fr-FR" sz="1000" dirty="0">
              <a:solidFill>
                <a:schemeClr val="tx1"/>
              </a:solidFill>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8B9DF0F6-715D-47EA-9BCA-A88A783B4C97}"/>
              </a:ext>
            </a:extLst>
          </p:cNvPr>
          <p:cNvSpPr/>
          <p:nvPr/>
        </p:nvSpPr>
        <p:spPr>
          <a:xfrm>
            <a:off x="8358257" y="2850934"/>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Ex : Exposition de services IA dédiés à l'identification de la structure documentaire (début/fin de document, segmentation multipages).</a:t>
            </a:r>
          </a:p>
        </p:txBody>
      </p:sp>
      <p:grpSp>
        <p:nvGrpSpPr>
          <p:cNvPr id="3" name="Groupe 2">
            <a:extLst>
              <a:ext uri="{FF2B5EF4-FFF2-40B4-BE49-F238E27FC236}">
                <a16:creationId xmlns:a16="http://schemas.microsoft.com/office/drawing/2014/main" id="{7F89CFAF-F1A6-4B32-8523-B2EEC9D4B2C4}"/>
              </a:ext>
            </a:extLst>
          </p:cNvPr>
          <p:cNvGrpSpPr/>
          <p:nvPr/>
        </p:nvGrpSpPr>
        <p:grpSpPr>
          <a:xfrm>
            <a:off x="1075161" y="2430500"/>
            <a:ext cx="395044" cy="363313"/>
            <a:chOff x="8358258" y="1517835"/>
            <a:chExt cx="475488" cy="475488"/>
          </a:xfrm>
        </p:grpSpPr>
        <p:sp>
          <p:nvSpPr>
            <p:cNvPr id="30" name="Shape 7">
              <a:extLst>
                <a:ext uri="{FF2B5EF4-FFF2-40B4-BE49-F238E27FC236}">
                  <a16:creationId xmlns:a16="http://schemas.microsoft.com/office/drawing/2014/main" id="{F2060612-04EB-4DBB-A7B8-5B8800D10D49}"/>
                </a:ext>
              </a:extLst>
            </p:cNvPr>
            <p:cNvSpPr/>
            <p:nvPr/>
          </p:nvSpPr>
          <p:spPr>
            <a:xfrm>
              <a:off x="8358258" y="1517835"/>
              <a:ext cx="475488" cy="475488"/>
            </a:xfrm>
            <a:prstGeom prst="ellipse">
              <a:avLst/>
            </a:prstGeom>
            <a:solidFill>
              <a:srgbClr val="FFFFFF"/>
            </a:solidFill>
            <a:ln w="12700">
              <a:solidFill>
                <a:srgbClr val="002060"/>
              </a:solidFill>
              <a:prstDash val="solid"/>
            </a:ln>
          </p:spPr>
        </p:sp>
        <p:pic>
          <p:nvPicPr>
            <p:cNvPr id="31" name="Image 0" descr="preencoded.png">
              <a:extLst>
                <a:ext uri="{FF2B5EF4-FFF2-40B4-BE49-F238E27FC236}">
                  <a16:creationId xmlns:a16="http://schemas.microsoft.com/office/drawing/2014/main" id="{CDAC7F73-E8BD-4304-8367-471DD6322202}"/>
                </a:ext>
              </a:extLst>
            </p:cNvPr>
            <p:cNvPicPr>
              <a:picLocks noChangeAspect="1"/>
            </p:cNvPicPr>
            <p:nvPr/>
          </p:nvPicPr>
          <p:blipFill>
            <a:blip r:embed="rId3"/>
            <a:stretch>
              <a:fillRect/>
            </a:stretch>
          </p:blipFill>
          <p:spPr>
            <a:xfrm>
              <a:off x="8422266" y="1581843"/>
              <a:ext cx="347472" cy="347472"/>
            </a:xfrm>
            <a:prstGeom prst="rect">
              <a:avLst/>
            </a:prstGeom>
          </p:spPr>
        </p:pic>
      </p:grpSp>
      <p:sp>
        <p:nvSpPr>
          <p:cNvPr id="19" name="Rectangle 18">
            <a:extLst>
              <a:ext uri="{FF2B5EF4-FFF2-40B4-BE49-F238E27FC236}">
                <a16:creationId xmlns:a16="http://schemas.microsoft.com/office/drawing/2014/main" id="{C8D404D6-45F9-4058-9B6B-DC2B13D426C7}"/>
              </a:ext>
            </a:extLst>
          </p:cNvPr>
          <p:cNvSpPr/>
          <p:nvPr/>
        </p:nvSpPr>
        <p:spPr>
          <a:xfrm>
            <a:off x="8887957" y="2426321"/>
            <a:ext cx="2691671"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latin typeface="Segoe UI" panose="020B0502040204020203" pitchFamily="34" charset="0"/>
                <a:cs typeface="Segoe UI" panose="020B0502040204020203" pitchFamily="34" charset="0"/>
              </a:rPr>
              <a:t>03. </a:t>
            </a:r>
            <a:r>
              <a:rPr lang="fr-FR" sz="900" b="1" dirty="0" err="1">
                <a:latin typeface="Segoe UI" panose="020B0502040204020203" pitchFamily="34" charset="0"/>
                <a:cs typeface="Segoe UI" panose="020B0502040204020203" pitchFamily="34" charset="0"/>
              </a:rPr>
              <a:t>Interop</a:t>
            </a:r>
            <a:r>
              <a:rPr lang="fr-FR" sz="900" b="1" dirty="0">
                <a:latin typeface="Segoe UI" panose="020B0502040204020203" pitchFamily="34" charset="0"/>
                <a:cs typeface="Segoe UI" panose="020B0502040204020203" pitchFamily="34" charset="0"/>
              </a:rPr>
              <a:t> CADI – SYO pour des nouveaux services</a:t>
            </a:r>
            <a:endParaRPr lang="fr-FR" sz="900" b="1" dirty="0">
              <a:solidFill>
                <a:schemeClr val="bg1"/>
              </a:solidFill>
              <a:latin typeface="Segoe UI" panose="020B0502040204020203" pitchFamily="34" charset="0"/>
              <a:cs typeface="Segoe UI" panose="020B0502040204020203" pitchFamily="34" charset="0"/>
            </a:endParaRPr>
          </a:p>
        </p:txBody>
      </p:sp>
      <p:grpSp>
        <p:nvGrpSpPr>
          <p:cNvPr id="32" name="Groupe 31">
            <a:extLst>
              <a:ext uri="{FF2B5EF4-FFF2-40B4-BE49-F238E27FC236}">
                <a16:creationId xmlns:a16="http://schemas.microsoft.com/office/drawing/2014/main" id="{1993EE5C-A5D1-49C6-8CD5-2DC438C0C88B}"/>
              </a:ext>
            </a:extLst>
          </p:cNvPr>
          <p:cNvGrpSpPr/>
          <p:nvPr/>
        </p:nvGrpSpPr>
        <p:grpSpPr>
          <a:xfrm>
            <a:off x="4683687" y="2435118"/>
            <a:ext cx="395044" cy="363313"/>
            <a:chOff x="8358258" y="1517835"/>
            <a:chExt cx="475488" cy="475488"/>
          </a:xfrm>
        </p:grpSpPr>
        <p:sp>
          <p:nvSpPr>
            <p:cNvPr id="33" name="Shape 7">
              <a:extLst>
                <a:ext uri="{FF2B5EF4-FFF2-40B4-BE49-F238E27FC236}">
                  <a16:creationId xmlns:a16="http://schemas.microsoft.com/office/drawing/2014/main" id="{CAECEAFC-5B45-45E0-B789-CB60E293F374}"/>
                </a:ext>
              </a:extLst>
            </p:cNvPr>
            <p:cNvSpPr/>
            <p:nvPr/>
          </p:nvSpPr>
          <p:spPr>
            <a:xfrm>
              <a:off x="8358258" y="1517835"/>
              <a:ext cx="475488" cy="475488"/>
            </a:xfrm>
            <a:prstGeom prst="ellipse">
              <a:avLst/>
            </a:prstGeom>
            <a:solidFill>
              <a:srgbClr val="FFFFFF"/>
            </a:solidFill>
            <a:ln w="12700">
              <a:solidFill>
                <a:srgbClr val="002060"/>
              </a:solidFill>
              <a:prstDash val="solid"/>
            </a:ln>
          </p:spPr>
        </p:sp>
        <p:pic>
          <p:nvPicPr>
            <p:cNvPr id="34" name="Image 0" descr="preencoded.png">
              <a:extLst>
                <a:ext uri="{FF2B5EF4-FFF2-40B4-BE49-F238E27FC236}">
                  <a16:creationId xmlns:a16="http://schemas.microsoft.com/office/drawing/2014/main" id="{BE79247B-D415-4E88-9486-6B9908D1E84B}"/>
                </a:ext>
              </a:extLst>
            </p:cNvPr>
            <p:cNvPicPr>
              <a:picLocks noChangeAspect="1"/>
            </p:cNvPicPr>
            <p:nvPr/>
          </p:nvPicPr>
          <p:blipFill>
            <a:blip r:embed="rId3"/>
            <a:stretch>
              <a:fillRect/>
            </a:stretch>
          </p:blipFill>
          <p:spPr>
            <a:xfrm>
              <a:off x="8422266" y="1581843"/>
              <a:ext cx="347472" cy="347472"/>
            </a:xfrm>
            <a:prstGeom prst="rect">
              <a:avLst/>
            </a:prstGeom>
          </p:spPr>
        </p:pic>
      </p:grpSp>
      <p:grpSp>
        <p:nvGrpSpPr>
          <p:cNvPr id="35" name="Groupe 34">
            <a:extLst>
              <a:ext uri="{FF2B5EF4-FFF2-40B4-BE49-F238E27FC236}">
                <a16:creationId xmlns:a16="http://schemas.microsoft.com/office/drawing/2014/main" id="{A4A4025D-0711-4F91-B6BA-4BF479DC4C8F}"/>
              </a:ext>
            </a:extLst>
          </p:cNvPr>
          <p:cNvGrpSpPr/>
          <p:nvPr/>
        </p:nvGrpSpPr>
        <p:grpSpPr>
          <a:xfrm>
            <a:off x="8354610" y="2432161"/>
            <a:ext cx="395044" cy="363313"/>
            <a:chOff x="8358258" y="1517835"/>
            <a:chExt cx="475488" cy="475488"/>
          </a:xfrm>
        </p:grpSpPr>
        <p:sp>
          <p:nvSpPr>
            <p:cNvPr id="39" name="Shape 7">
              <a:extLst>
                <a:ext uri="{FF2B5EF4-FFF2-40B4-BE49-F238E27FC236}">
                  <a16:creationId xmlns:a16="http://schemas.microsoft.com/office/drawing/2014/main" id="{C6938022-AD8C-497A-88E7-696B4D5F2EF8}"/>
                </a:ext>
              </a:extLst>
            </p:cNvPr>
            <p:cNvSpPr/>
            <p:nvPr/>
          </p:nvSpPr>
          <p:spPr>
            <a:xfrm>
              <a:off x="8358258" y="1517835"/>
              <a:ext cx="475488" cy="475488"/>
            </a:xfrm>
            <a:prstGeom prst="ellipse">
              <a:avLst/>
            </a:prstGeom>
            <a:solidFill>
              <a:srgbClr val="FFFFFF"/>
            </a:solidFill>
            <a:ln w="12700">
              <a:solidFill>
                <a:srgbClr val="002060"/>
              </a:solidFill>
              <a:prstDash val="solid"/>
            </a:ln>
          </p:spPr>
        </p:sp>
        <p:pic>
          <p:nvPicPr>
            <p:cNvPr id="40" name="Image 0" descr="preencoded.png">
              <a:extLst>
                <a:ext uri="{FF2B5EF4-FFF2-40B4-BE49-F238E27FC236}">
                  <a16:creationId xmlns:a16="http://schemas.microsoft.com/office/drawing/2014/main" id="{3452917D-957F-408D-868C-FB4627E52E2D}"/>
                </a:ext>
              </a:extLst>
            </p:cNvPr>
            <p:cNvPicPr>
              <a:picLocks noChangeAspect="1"/>
            </p:cNvPicPr>
            <p:nvPr/>
          </p:nvPicPr>
          <p:blipFill>
            <a:blip r:embed="rId3"/>
            <a:stretch>
              <a:fillRect/>
            </a:stretch>
          </p:blipFill>
          <p:spPr>
            <a:xfrm>
              <a:off x="8422266" y="1581843"/>
              <a:ext cx="347472" cy="347472"/>
            </a:xfrm>
            <a:prstGeom prst="rect">
              <a:avLst/>
            </a:prstGeom>
          </p:spPr>
        </p:pic>
      </p:grpSp>
      <p:sp>
        <p:nvSpPr>
          <p:cNvPr id="41" name="Rectangle 40">
            <a:extLst>
              <a:ext uri="{FF2B5EF4-FFF2-40B4-BE49-F238E27FC236}">
                <a16:creationId xmlns:a16="http://schemas.microsoft.com/office/drawing/2014/main" id="{12152EC1-BEE6-40C2-BAC9-9261143AF85E}"/>
              </a:ext>
            </a:extLst>
          </p:cNvPr>
          <p:cNvSpPr/>
          <p:nvPr/>
        </p:nvSpPr>
        <p:spPr>
          <a:xfrm>
            <a:off x="1008151" y="4055224"/>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Réutilisation des composants de classification et d'extraction en dehors de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SyoReader</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Exploitation de classifieurs spécialisés (ex. classifieurs binaires) au sein des flux SYO.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sz="1000" dirty="0">
              <a:solidFill>
                <a:schemeClr val="tx1"/>
              </a:solidFill>
              <a:latin typeface="Segoe UI" panose="020B0502040204020203" pitchFamily="34" charset="0"/>
              <a:cs typeface="Segoe UI" panose="020B0502040204020203" pitchFamily="34" charset="0"/>
            </a:endParaRPr>
          </a:p>
        </p:txBody>
      </p:sp>
      <p:sp>
        <p:nvSpPr>
          <p:cNvPr id="42" name="Rectangle 41">
            <a:extLst>
              <a:ext uri="{FF2B5EF4-FFF2-40B4-BE49-F238E27FC236}">
                <a16:creationId xmlns:a16="http://schemas.microsoft.com/office/drawing/2014/main" id="{9FEDEDE6-DBAD-48C1-AF97-A81E934E57C9}"/>
              </a:ext>
            </a:extLst>
          </p:cNvPr>
          <p:cNvSpPr/>
          <p:nvPr/>
        </p:nvSpPr>
        <p:spPr>
          <a:xfrm>
            <a:off x="4683203" y="4055224"/>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Réduction significative des délais de mise en œuvre des projets de classification et d'extraction.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Diminution des coûts de développement et de maintenance par rapport à la création de modèles IA spécifiques.</a:t>
            </a:r>
          </a:p>
        </p:txBody>
      </p:sp>
      <p:sp>
        <p:nvSpPr>
          <p:cNvPr id="43" name="Rectangle 42">
            <a:extLst>
              <a:ext uri="{FF2B5EF4-FFF2-40B4-BE49-F238E27FC236}">
                <a16:creationId xmlns:a16="http://schemas.microsoft.com/office/drawing/2014/main" id="{C8AB640B-F900-402E-A966-39DA8A6C8649}"/>
              </a:ext>
            </a:extLst>
          </p:cNvPr>
          <p:cNvSpPr/>
          <p:nvPr/>
        </p:nvSpPr>
        <p:spPr>
          <a:xfrm>
            <a:off x="8358255" y="4055224"/>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Amélioration de la qualité du traitement des documents complexes.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Standardisation des capacités de segmentation documentaire au sein des flux SYO.</a:t>
            </a:r>
          </a:p>
        </p:txBody>
      </p:sp>
      <p:sp>
        <p:nvSpPr>
          <p:cNvPr id="63" name="Rectangle 62">
            <a:extLst>
              <a:ext uri="{FF2B5EF4-FFF2-40B4-BE49-F238E27FC236}">
                <a16:creationId xmlns:a16="http://schemas.microsoft.com/office/drawing/2014/main" id="{622C58F2-EF73-4F28-B596-20CBEA65A6A8}"/>
              </a:ext>
            </a:extLst>
          </p:cNvPr>
          <p:cNvSpPr/>
          <p:nvPr/>
        </p:nvSpPr>
        <p:spPr>
          <a:xfrm>
            <a:off x="1008151" y="1716128"/>
            <a:ext cx="10571476" cy="461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Dans un contexte d'évolution de nos capacités de traitement documentaire, ce pré-cadrage vise à définir les modalités d'interopérabilité entre les plateformes CADI et SYO, afin de capitaliser sur les services d'IA documentaire du Groupe et d'accélérer le déploiement de nouveaux cas d'usage.</a:t>
            </a:r>
          </a:p>
        </p:txBody>
      </p:sp>
      <p:sp>
        <p:nvSpPr>
          <p:cNvPr id="65" name="Rectangle 64">
            <a:extLst>
              <a:ext uri="{FF2B5EF4-FFF2-40B4-BE49-F238E27FC236}">
                <a16:creationId xmlns:a16="http://schemas.microsoft.com/office/drawing/2014/main" id="{2ED4C427-E157-469C-99A4-DC461394BE11}"/>
              </a:ext>
            </a:extLst>
          </p:cNvPr>
          <p:cNvSpPr/>
          <p:nvPr/>
        </p:nvSpPr>
        <p:spPr>
          <a:xfrm>
            <a:off x="1008150" y="5558871"/>
            <a:ext cx="10571476" cy="461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Objectif : définir une architecture et un périmètre d'interopérabilité cible — interfaces de services, principes d'intégration et feuille de route — permettant de mutualiser les capacités IA de CADI et SYO tout en accélérant le déploiement des futurs cas d'usage documentaires.</a:t>
            </a:r>
          </a:p>
        </p:txBody>
      </p:sp>
      <p:sp>
        <p:nvSpPr>
          <p:cNvPr id="4" name="ZoneTexte 3">
            <a:extLst>
              <a:ext uri="{FF2B5EF4-FFF2-40B4-BE49-F238E27FC236}">
                <a16:creationId xmlns:a16="http://schemas.microsoft.com/office/drawing/2014/main" id="{E16A25B5-7D02-495E-978D-CF5B6CB3750F}"/>
              </a:ext>
            </a:extLst>
          </p:cNvPr>
          <p:cNvSpPr txBox="1"/>
          <p:nvPr/>
        </p:nvSpPr>
        <p:spPr>
          <a:xfrm>
            <a:off x="8972550" y="5099509"/>
            <a:ext cx="2099890" cy="461665"/>
          </a:xfrm>
          <a:prstGeom prst="rect">
            <a:avLst/>
          </a:prstGeom>
          <a:noFill/>
        </p:spPr>
        <p:txBody>
          <a:bodyPr wrap="square" rtlCol="0">
            <a:spAutoFit/>
          </a:bodyPr>
          <a:lstStyle/>
          <a:p>
            <a:r>
              <a:rPr lang="fr-FR" sz="1200" b="1" dirty="0">
                <a:solidFill>
                  <a:srgbClr val="0C4392"/>
                </a:solidFill>
                <a:latin typeface="Segoe UI" panose="020B0502040204020203" pitchFamily="34" charset="0"/>
                <a:cs typeface="Segoe UI" panose="020B0502040204020203" pitchFamily="34" charset="0"/>
              </a:rPr>
              <a:t>Traité dans une note de </a:t>
            </a:r>
            <a:r>
              <a:rPr lang="fr-FR" sz="1200" b="1" dirty="0" err="1">
                <a:solidFill>
                  <a:srgbClr val="0C4392"/>
                </a:solidFill>
                <a:latin typeface="Segoe UI" panose="020B0502040204020203" pitchFamily="34" charset="0"/>
                <a:cs typeface="Segoe UI" panose="020B0502040204020203" pitchFamily="34" charset="0"/>
              </a:rPr>
              <a:t>précadrage</a:t>
            </a:r>
            <a:r>
              <a:rPr lang="fr-FR" sz="1200" b="1" dirty="0">
                <a:solidFill>
                  <a:srgbClr val="0C4392"/>
                </a:solidFill>
                <a:latin typeface="Segoe UI" panose="020B0502040204020203" pitchFamily="34" charset="0"/>
                <a:cs typeface="Segoe UI" panose="020B0502040204020203" pitchFamily="34" charset="0"/>
              </a:rPr>
              <a:t> suivante </a:t>
            </a:r>
          </a:p>
        </p:txBody>
      </p:sp>
    </p:spTree>
    <p:extLst>
      <p:ext uri="{BB962C8B-B14F-4D97-AF65-F5344CB8AC3E}">
        <p14:creationId xmlns:p14="http://schemas.microsoft.com/office/powerpoint/2010/main" val="558519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a:xfrm>
            <a:off x="836113" y="339278"/>
            <a:ext cx="11016956" cy="526254"/>
          </a:xfrm>
        </p:spPr>
        <p:txBody>
          <a:bodyPr>
            <a:normAutofit fontScale="90000"/>
          </a:bodyPr>
          <a:lstStyle/>
          <a:p>
            <a:r>
              <a:rPr lang="fr-FR" sz="3200" b="1" cap="small" dirty="0">
                <a:latin typeface="Segoe UI" panose="020B0502040204020203" pitchFamily="34" charset="0"/>
                <a:cs typeface="Segoe UI" panose="020B0502040204020203" pitchFamily="34" charset="0"/>
              </a:rPr>
              <a:t>[Refonte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 Contexte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cap="small" dirty="0">
                <a:solidFill>
                  <a:srgbClr val="003A8D"/>
                </a:solidFill>
                <a:ea typeface="+mj-ea"/>
              </a:rPr>
              <a:t>01. </a:t>
            </a:r>
            <a:r>
              <a:rPr lang="fr-FR" sz="1800" b="1" cap="small" dirty="0" err="1">
                <a:solidFill>
                  <a:srgbClr val="003A8D"/>
                </a:solidFill>
                <a:ea typeface="+mj-ea"/>
              </a:rPr>
              <a:t>Interop</a:t>
            </a:r>
            <a:r>
              <a:rPr lang="fr-FR" sz="1800" b="1" cap="small" dirty="0">
                <a:solidFill>
                  <a:srgbClr val="003A8D"/>
                </a:solidFill>
                <a:ea typeface="+mj-ea"/>
              </a:rPr>
              <a:t> CADI – SYO pour la classification / Extraction - </a:t>
            </a:r>
            <a:r>
              <a:rPr lang="fr-FR" sz="1600" b="1" cap="small" dirty="0">
                <a:solidFill>
                  <a:srgbClr val="003A8D"/>
                </a:solidFill>
                <a:ea typeface="+mj-ea"/>
              </a:rPr>
              <a:t>Mise en place d’un Moteur OCR sur OCRUS</a:t>
            </a:r>
            <a:endParaRPr lang="en-US" dirty="0"/>
          </a:p>
        </p:txBody>
      </p:sp>
      <p:sp>
        <p:nvSpPr>
          <p:cNvPr id="24" name="Rectangle 23">
            <a:extLst>
              <a:ext uri="{FF2B5EF4-FFF2-40B4-BE49-F238E27FC236}">
                <a16:creationId xmlns:a16="http://schemas.microsoft.com/office/drawing/2014/main" id="{C6047DDA-6D67-4DFD-8F9B-32FBE2C30B35}"/>
              </a:ext>
            </a:extLst>
          </p:cNvPr>
          <p:cNvSpPr/>
          <p:nvPr/>
        </p:nvSpPr>
        <p:spPr>
          <a:xfrm>
            <a:off x="6195484" y="2540668"/>
            <a:ext cx="2334684"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ImageClassifyAndExtract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25" name="Rectangle 24">
            <a:extLst>
              <a:ext uri="{FF2B5EF4-FFF2-40B4-BE49-F238E27FC236}">
                <a16:creationId xmlns:a16="http://schemas.microsoft.com/office/drawing/2014/main" id="{EE738B65-B8FD-4275-A860-91B188797E35}"/>
              </a:ext>
            </a:extLst>
          </p:cNvPr>
          <p:cNvSpPr/>
          <p:nvPr/>
        </p:nvSpPr>
        <p:spPr>
          <a:xfrm>
            <a:off x="6096000" y="2540668"/>
            <a:ext cx="2334684"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ImageClassifyAndExtract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26" name="Rectangle 25">
            <a:extLst>
              <a:ext uri="{FF2B5EF4-FFF2-40B4-BE49-F238E27FC236}">
                <a16:creationId xmlns:a16="http://schemas.microsoft.com/office/drawing/2014/main" id="{DB3B8D8D-8587-418E-8435-B4C950EE95B1}"/>
              </a:ext>
            </a:extLst>
          </p:cNvPr>
          <p:cNvSpPr/>
          <p:nvPr/>
        </p:nvSpPr>
        <p:spPr>
          <a:xfrm>
            <a:off x="9001125" y="2540668"/>
            <a:ext cx="2334684"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CadiClassifyAndExtract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28" name="Rectangle 27">
            <a:extLst>
              <a:ext uri="{FF2B5EF4-FFF2-40B4-BE49-F238E27FC236}">
                <a16:creationId xmlns:a16="http://schemas.microsoft.com/office/drawing/2014/main" id="{733D175F-35CC-4E88-A65A-B4985A6045DF}"/>
              </a:ext>
            </a:extLst>
          </p:cNvPr>
          <p:cNvSpPr/>
          <p:nvPr/>
        </p:nvSpPr>
        <p:spPr>
          <a:xfrm>
            <a:off x="6423481" y="3049350"/>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Adapter </a:t>
            </a:r>
            <a:r>
              <a:rPr lang="fr-FR" sz="800" dirty="0" err="1">
                <a:solidFill>
                  <a:schemeClr val="tx1"/>
                </a:solidFill>
                <a:latin typeface="Segoe UI" panose="020B0502040204020203" pitchFamily="34" charset="0"/>
                <a:cs typeface="Segoe UI" panose="020B0502040204020203" pitchFamily="34" charset="0"/>
              </a:rPr>
              <a:t>SyoReader</a:t>
            </a:r>
            <a:r>
              <a:rPr lang="fr-FR" sz="800" dirty="0">
                <a:solidFill>
                  <a:schemeClr val="tx1"/>
                </a:solidFill>
                <a:latin typeface="Segoe UI" panose="020B0502040204020203" pitchFamily="34" charset="0"/>
                <a:cs typeface="Segoe UI" panose="020B0502040204020203" pitchFamily="34" charset="0"/>
              </a:rPr>
              <a:t> existant</a:t>
            </a:r>
          </a:p>
        </p:txBody>
      </p:sp>
      <p:sp>
        <p:nvSpPr>
          <p:cNvPr id="29" name="Rectangle 28">
            <a:extLst>
              <a:ext uri="{FF2B5EF4-FFF2-40B4-BE49-F238E27FC236}">
                <a16:creationId xmlns:a16="http://schemas.microsoft.com/office/drawing/2014/main" id="{7887F24D-70EE-4E59-AA53-18ADBA49F23C}"/>
              </a:ext>
            </a:extLst>
          </p:cNvPr>
          <p:cNvSpPr/>
          <p:nvPr/>
        </p:nvSpPr>
        <p:spPr>
          <a:xfrm>
            <a:off x="9328607" y="3049350"/>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CADI adapter de OCR</a:t>
            </a:r>
          </a:p>
        </p:txBody>
      </p:sp>
      <p:sp>
        <p:nvSpPr>
          <p:cNvPr id="30" name="Rectangle 29">
            <a:extLst>
              <a:ext uri="{FF2B5EF4-FFF2-40B4-BE49-F238E27FC236}">
                <a16:creationId xmlns:a16="http://schemas.microsoft.com/office/drawing/2014/main" id="{AC14AF4C-D85E-4CC5-8CE5-EA8B340E57EA}"/>
              </a:ext>
            </a:extLst>
          </p:cNvPr>
          <p:cNvSpPr/>
          <p:nvPr/>
        </p:nvSpPr>
        <p:spPr>
          <a:xfrm>
            <a:off x="7362826" y="1714100"/>
            <a:ext cx="2805643"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IClassifyAndExtract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31" name="Rectangle 30">
            <a:extLst>
              <a:ext uri="{FF2B5EF4-FFF2-40B4-BE49-F238E27FC236}">
                <a16:creationId xmlns:a16="http://schemas.microsoft.com/office/drawing/2014/main" id="{C5543F99-E594-4932-9B3D-7E6D1D466DE4}"/>
              </a:ext>
            </a:extLst>
          </p:cNvPr>
          <p:cNvSpPr/>
          <p:nvPr/>
        </p:nvSpPr>
        <p:spPr>
          <a:xfrm>
            <a:off x="7925786" y="1487246"/>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i="1" dirty="0">
                <a:solidFill>
                  <a:schemeClr val="tx1"/>
                </a:solidFill>
                <a:latin typeface="Segoe UI" panose="020B0502040204020203" pitchFamily="34" charset="0"/>
                <a:cs typeface="Segoe UI" panose="020B0502040204020203" pitchFamily="34" charset="0"/>
              </a:rPr>
              <a:t>&lt;&lt;Interface&gt;&gt;</a:t>
            </a:r>
          </a:p>
        </p:txBody>
      </p:sp>
      <p:cxnSp>
        <p:nvCxnSpPr>
          <p:cNvPr id="9" name="Connecteur droit avec flèche 8">
            <a:extLst>
              <a:ext uri="{FF2B5EF4-FFF2-40B4-BE49-F238E27FC236}">
                <a16:creationId xmlns:a16="http://schemas.microsoft.com/office/drawing/2014/main" id="{CE048936-1C55-4746-9748-91872FECD453}"/>
              </a:ext>
            </a:extLst>
          </p:cNvPr>
          <p:cNvCxnSpPr>
            <a:stCxn id="25" idx="0"/>
            <a:endCxn id="30" idx="2"/>
          </p:cNvCxnSpPr>
          <p:nvPr/>
        </p:nvCxnSpPr>
        <p:spPr>
          <a:xfrm flipV="1">
            <a:off x="7263342" y="2128966"/>
            <a:ext cx="1502306" cy="411702"/>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0A8C4836-4377-49E5-AA38-A9E28E4BC489}"/>
              </a:ext>
            </a:extLst>
          </p:cNvPr>
          <p:cNvSpPr/>
          <p:nvPr/>
        </p:nvSpPr>
        <p:spPr>
          <a:xfrm>
            <a:off x="6522965" y="2219808"/>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i="1" dirty="0">
                <a:solidFill>
                  <a:schemeClr val="tx1"/>
                </a:solidFill>
                <a:latin typeface="Segoe UI" panose="020B0502040204020203" pitchFamily="34" charset="0"/>
                <a:cs typeface="Segoe UI" panose="020B0502040204020203" pitchFamily="34" charset="0"/>
              </a:rPr>
              <a:t>&lt;&lt;</a:t>
            </a:r>
            <a:r>
              <a:rPr lang="fr-FR" sz="800" i="1" dirty="0" err="1">
                <a:solidFill>
                  <a:schemeClr val="tx1"/>
                </a:solidFill>
                <a:latin typeface="Segoe UI" panose="020B0502040204020203" pitchFamily="34" charset="0"/>
                <a:cs typeface="Segoe UI" panose="020B0502040204020203" pitchFamily="34" charset="0"/>
              </a:rPr>
              <a:t>implements</a:t>
            </a:r>
            <a:r>
              <a:rPr lang="fr-FR" sz="800" i="1" dirty="0">
                <a:solidFill>
                  <a:schemeClr val="tx1"/>
                </a:solidFill>
                <a:latin typeface="Segoe UI" panose="020B0502040204020203" pitchFamily="34" charset="0"/>
                <a:cs typeface="Segoe UI" panose="020B0502040204020203" pitchFamily="34" charset="0"/>
              </a:rPr>
              <a:t>&gt;&gt;</a:t>
            </a:r>
          </a:p>
        </p:txBody>
      </p:sp>
      <p:cxnSp>
        <p:nvCxnSpPr>
          <p:cNvPr id="11" name="Connecteur droit avec flèche 10">
            <a:extLst>
              <a:ext uri="{FF2B5EF4-FFF2-40B4-BE49-F238E27FC236}">
                <a16:creationId xmlns:a16="http://schemas.microsoft.com/office/drawing/2014/main" id="{F314EF02-192A-4FAA-9F7A-9C2300621C5C}"/>
              </a:ext>
            </a:extLst>
          </p:cNvPr>
          <p:cNvCxnSpPr>
            <a:stCxn id="26" idx="0"/>
            <a:endCxn id="30" idx="2"/>
          </p:cNvCxnSpPr>
          <p:nvPr/>
        </p:nvCxnSpPr>
        <p:spPr>
          <a:xfrm flipH="1" flipV="1">
            <a:off x="8765648" y="2128966"/>
            <a:ext cx="1402819" cy="411702"/>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BF76F76E-20AC-4A0B-BBDC-7DAC0A48D641}"/>
              </a:ext>
            </a:extLst>
          </p:cNvPr>
          <p:cNvSpPr/>
          <p:nvPr/>
        </p:nvSpPr>
        <p:spPr>
          <a:xfrm>
            <a:off x="9287183" y="2219808"/>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i="1" dirty="0">
                <a:solidFill>
                  <a:schemeClr val="tx1"/>
                </a:solidFill>
                <a:latin typeface="Segoe UI" panose="020B0502040204020203" pitchFamily="34" charset="0"/>
                <a:cs typeface="Segoe UI" panose="020B0502040204020203" pitchFamily="34" charset="0"/>
              </a:rPr>
              <a:t>&lt;&lt;</a:t>
            </a:r>
            <a:r>
              <a:rPr lang="fr-FR" sz="800" i="1" dirty="0" err="1">
                <a:solidFill>
                  <a:schemeClr val="tx1"/>
                </a:solidFill>
                <a:latin typeface="Segoe UI" panose="020B0502040204020203" pitchFamily="34" charset="0"/>
                <a:cs typeface="Segoe UI" panose="020B0502040204020203" pitchFamily="34" charset="0"/>
              </a:rPr>
              <a:t>implements</a:t>
            </a:r>
            <a:r>
              <a:rPr lang="fr-FR" sz="800" i="1" dirty="0">
                <a:solidFill>
                  <a:schemeClr val="tx1"/>
                </a:solidFill>
                <a:latin typeface="Segoe UI" panose="020B0502040204020203" pitchFamily="34" charset="0"/>
                <a:cs typeface="Segoe UI" panose="020B0502040204020203" pitchFamily="34" charset="0"/>
              </a:rPr>
              <a:t>&gt;&gt;</a:t>
            </a:r>
          </a:p>
        </p:txBody>
      </p:sp>
      <p:sp>
        <p:nvSpPr>
          <p:cNvPr id="46" name="Rectangle 45">
            <a:extLst>
              <a:ext uri="{FF2B5EF4-FFF2-40B4-BE49-F238E27FC236}">
                <a16:creationId xmlns:a16="http://schemas.microsoft.com/office/drawing/2014/main" id="{B1FCFAD1-858B-4168-BD44-1C4019B5E539}"/>
              </a:ext>
            </a:extLst>
          </p:cNvPr>
          <p:cNvSpPr/>
          <p:nvPr/>
        </p:nvSpPr>
        <p:spPr>
          <a:xfrm>
            <a:off x="6028956" y="4020823"/>
            <a:ext cx="5239809" cy="507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 code métier du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customer</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workflow passe toujours par une utilisation de l’interface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Ocrus</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t>
            </a:r>
            <a:r>
              <a:rPr kumimoji="0" lang="fr-FR" altLang="fr-FR" sz="1000" b="0" i="1"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IClassifyAndExtract</a:t>
            </a:r>
            <a:r>
              <a:rPr kumimoji="0" lang="fr-FR" altLang="fr-FR" sz="1000" b="0"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(aucun dépendance avec le fournisseur / adapter)</a:t>
            </a:r>
            <a:endParaRPr lang="fr-FR" sz="1000" i="1" dirty="0">
              <a:solidFill>
                <a:schemeClr val="tx1"/>
              </a:solidFill>
              <a:latin typeface="Segoe UI" panose="020B0502040204020203" pitchFamily="34" charset="0"/>
              <a:cs typeface="Segoe UI" panose="020B0502040204020203" pitchFamily="34" charset="0"/>
            </a:endParaRPr>
          </a:p>
        </p:txBody>
      </p:sp>
      <p:sp>
        <p:nvSpPr>
          <p:cNvPr id="48" name="Rectangle 47">
            <a:extLst>
              <a:ext uri="{FF2B5EF4-FFF2-40B4-BE49-F238E27FC236}">
                <a16:creationId xmlns:a16="http://schemas.microsoft.com/office/drawing/2014/main" id="{F6725751-DF89-421B-8F89-8FE63F04627B}"/>
              </a:ext>
            </a:extLst>
          </p:cNvPr>
          <p:cNvSpPr/>
          <p:nvPr/>
        </p:nvSpPr>
        <p:spPr>
          <a:xfrm>
            <a:off x="6000116" y="4429030"/>
            <a:ext cx="5297488" cy="8963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defTabSz="914400" rtl="0" eaLnBrk="0" fontAlgn="base" latinLnBrk="0" hangingPunct="0">
              <a:lnSpc>
                <a:spcPct val="100000"/>
              </a:lnSpc>
              <a:spcBef>
                <a:spcPct val="0"/>
              </a:spcBef>
              <a:spcAft>
                <a:spcPct val="0"/>
              </a:spcAft>
              <a:buClrTx/>
              <a:buSzTx/>
              <a:tabLst/>
            </a:pPr>
            <a:r>
              <a:rPr kumimoji="0" lang="fr-FR" altLang="fr-FR" sz="1000" b="1"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Complexité : </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Faible (La mise en place du connecteur doit avoir un charge faible, c’est la charge du test de montée en charge qu’il faut valider + l’impact sur les performances CADI)</a:t>
            </a:r>
          </a:p>
          <a:p>
            <a:pPr marR="0" lvl="0" defTabSz="914400" rtl="0" eaLnBrk="0" fontAlgn="base" latinLnBrk="0" hangingPunct="0">
              <a:lnSpc>
                <a:spcPct val="100000"/>
              </a:lnSpc>
              <a:spcBef>
                <a:spcPct val="0"/>
              </a:spcBef>
              <a:spcAft>
                <a:spcPct val="0"/>
              </a:spcAft>
              <a:buClrTx/>
              <a:buSzTx/>
              <a:tabLst/>
            </a:pPr>
            <a:r>
              <a:rPr lang="fr-FR" altLang="fr-FR" sz="1000" b="1" i="1" dirty="0">
                <a:solidFill>
                  <a:schemeClr val="tx1"/>
                </a:solidFill>
                <a:latin typeface="Segoe UI" panose="020B0502040204020203" pitchFamily="34" charset="0"/>
                <a:cs typeface="Segoe UI" panose="020B0502040204020203" pitchFamily="34" charset="0"/>
              </a:rPr>
              <a:t>Retro comptabilité : </a:t>
            </a:r>
            <a:r>
              <a:rPr lang="fr-FR" altLang="fr-FR" sz="1000" dirty="0">
                <a:solidFill>
                  <a:schemeClr val="tx1"/>
                </a:solidFill>
                <a:latin typeface="Segoe UI" panose="020B0502040204020203" pitchFamily="34" charset="0"/>
                <a:cs typeface="Segoe UI" panose="020B0502040204020203" pitchFamily="34" charset="0"/>
              </a:rPr>
              <a:t>oui</a:t>
            </a:r>
            <a:endPar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R="0" lvl="0" defTabSz="914400" rtl="0" eaLnBrk="0" fontAlgn="base" latinLnBrk="0" hangingPunct="0">
              <a:lnSpc>
                <a:spcPct val="100000"/>
              </a:lnSpc>
              <a:spcBef>
                <a:spcPct val="0"/>
              </a:spcBef>
              <a:spcAft>
                <a:spcPct val="0"/>
              </a:spcAft>
              <a:buClrTx/>
              <a:buSzTx/>
              <a:tabLst/>
            </a:pPr>
            <a:endParaRPr lang="fr-FR" sz="1000" i="1" dirty="0">
              <a:solidFill>
                <a:schemeClr val="tx1"/>
              </a:solidFill>
              <a:latin typeface="Segoe UI" panose="020B0502040204020203" pitchFamily="34" charset="0"/>
              <a:cs typeface="Segoe UI" panose="020B0502040204020203" pitchFamily="34" charset="0"/>
            </a:endParaRPr>
          </a:p>
        </p:txBody>
      </p:sp>
      <p:sp>
        <p:nvSpPr>
          <p:cNvPr id="22" name="Rectangle 21">
            <a:extLst>
              <a:ext uri="{FF2B5EF4-FFF2-40B4-BE49-F238E27FC236}">
                <a16:creationId xmlns:a16="http://schemas.microsoft.com/office/drawing/2014/main" id="{4607801F-CA11-4899-AF50-3CB15301F6E6}"/>
              </a:ext>
            </a:extLst>
          </p:cNvPr>
          <p:cNvSpPr/>
          <p:nvPr/>
        </p:nvSpPr>
        <p:spPr>
          <a:xfrm>
            <a:off x="6028957" y="3444611"/>
            <a:ext cx="5239809"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ctr" defTabSz="914400" rtl="0" eaLnBrk="0" fontAlgn="base" latinLnBrk="0" hangingPunct="0">
              <a:lnSpc>
                <a:spcPct val="100000"/>
              </a:lnSpc>
              <a:spcBef>
                <a:spcPct val="0"/>
              </a:spcBef>
              <a:spcAft>
                <a:spcPct val="0"/>
              </a:spcAft>
              <a:buClrTx/>
              <a:buSzTx/>
              <a:tabLst/>
            </a:pPr>
            <a:r>
              <a:rPr kumimoji="0" lang="fr-FR" altLang="fr-FR" sz="1000" b="0"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Pattern de mise en place d’un composant OCR sur OCRUS</a:t>
            </a:r>
            <a:endParaRPr lang="fr-FR" sz="1000" i="1" dirty="0">
              <a:solidFill>
                <a:schemeClr val="tx1"/>
              </a:solidFill>
              <a:latin typeface="Segoe UI" panose="020B0502040204020203" pitchFamily="34" charset="0"/>
              <a:cs typeface="Segoe UI" panose="020B0502040204020203" pitchFamily="34" charset="0"/>
            </a:endParaRPr>
          </a:p>
        </p:txBody>
      </p:sp>
      <p:pic>
        <p:nvPicPr>
          <p:cNvPr id="7" name="Image 6">
            <a:extLst>
              <a:ext uri="{FF2B5EF4-FFF2-40B4-BE49-F238E27FC236}">
                <a16:creationId xmlns:a16="http://schemas.microsoft.com/office/drawing/2014/main" id="{D2ADA24B-D43B-46CE-AE2E-F50DE93C6B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489" y="1545315"/>
            <a:ext cx="4203588" cy="3461778"/>
          </a:xfrm>
          <a:prstGeom prst="rect">
            <a:avLst/>
          </a:prstGeom>
        </p:spPr>
      </p:pic>
      <p:sp>
        <p:nvSpPr>
          <p:cNvPr id="19" name="Rectangle 18">
            <a:extLst>
              <a:ext uri="{FF2B5EF4-FFF2-40B4-BE49-F238E27FC236}">
                <a16:creationId xmlns:a16="http://schemas.microsoft.com/office/drawing/2014/main" id="{B4C8C4E0-E889-481B-99BB-684C7771E4F8}"/>
              </a:ext>
            </a:extLst>
          </p:cNvPr>
          <p:cNvSpPr/>
          <p:nvPr/>
        </p:nvSpPr>
        <p:spPr>
          <a:xfrm>
            <a:off x="1111259" y="1179597"/>
            <a:ext cx="4047851" cy="12670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tx1"/>
                </a:solidFill>
                <a:latin typeface="Segoe UI" panose="020B0502040204020203" pitchFamily="34" charset="0"/>
                <a:cs typeface="Segoe UI" panose="020B0502040204020203" pitchFamily="34" charset="0"/>
              </a:rPr>
              <a:t>OCRUS crée l’abstraction</a:t>
            </a:r>
          </a:p>
          <a:p>
            <a:pPr algn="ctr"/>
            <a:r>
              <a:rPr lang="fr-FR" sz="1000" dirty="0">
                <a:solidFill>
                  <a:schemeClr val="tx1"/>
                </a:solidFill>
                <a:latin typeface="Segoe UI" panose="020B0502040204020203" pitchFamily="34" charset="0"/>
                <a:cs typeface="Segoe UI" panose="020B0502040204020203" pitchFamily="34" charset="0"/>
              </a:rPr>
              <a:t>OCRUS expose une interface unique qui masque le moteur OCR sous-jacent : intégrer un nouveau moteur revient à ajouter un adapter, sans impact sur le métier.</a:t>
            </a:r>
          </a:p>
        </p:txBody>
      </p:sp>
      <p:sp>
        <p:nvSpPr>
          <p:cNvPr id="70" name="Rectangle Migration Gains"/>
          <p:cNvSpPr/>
          <p:nvPr/>
        </p:nvSpPr>
        <p:spPr>
          <a:xfrm>
            <a:off x="994489" y="5210000"/>
            <a:ext cx="4203588" cy="1170000"/>
          </a:xfrm>
          <a:prstGeom prst="rect">
            <a:avLst/>
          </a:prstGeom>
          <a:noFill/>
          <a:ln>
            <a:solidFill>
              <a:srgbClr val="003A8D"/>
            </a:solidFill>
          </a:ln>
        </p:spPr>
        <p:txBody>
          <a:bodyPr rtlCol="0" anchor="ctr">
            <a:normAutofit/>
          </a:bodyPr>
          <a:lstStyle/>
          <a:p>
            <a:pPr marL="0" indent="0" algn="l"/>
            <a:r>
              <a:rPr lang="fr-FR" sz="1000" b="1" dirty="0">
                <a:solidFill>
                  <a:srgbClr val="003A8D"/>
                </a:solidFill>
                <a:latin typeface="Segoe UI" panose="020B0502040204020203" pitchFamily="34" charset="0"/>
                <a:cs typeface="Segoe UI" panose="020B0502040204020203" pitchFamily="34" charset="0"/>
              </a:rPr>
              <a:t>Migration et gains</a:t>
            </a:r>
          </a:p>
          <a:p>
            <a:pPr marL="171450" indent="-171450" algn="l">
              <a:buFont typeface="Arial" panose="020B0604020202020204" pitchFamily="34" charset="0"/>
              <a:buChar char="•"/>
            </a:pPr>
            <a:r>
              <a:rPr lang="fr-FR" sz="1000" dirty="0">
                <a:solidFill>
                  <a:schemeClr val="tx1"/>
                </a:solidFill>
                <a:latin typeface="Segoe UI" panose="020B0502040204020203" pitchFamily="34" charset="0"/>
                <a:cs typeface="Segoe UI" panose="020B0502040204020203" pitchFamily="34" charset="0"/>
              </a:rPr>
              <a:t>Mise en place rapide : le métier dépend du port, jamais du moteur OCR sous-jacent.</a:t>
            </a:r>
          </a:p>
          <a:p>
            <a:pPr marL="171450" indent="-171450" algn="l">
              <a:buFont typeface="Arial" panose="020B0604020202020204" pitchFamily="34" charset="0"/>
              <a:buChar char="•"/>
            </a:pPr>
            <a:r>
              <a:rPr lang="fr-FR" sz="1000" dirty="0">
                <a:solidFill>
                  <a:schemeClr val="tx1"/>
                </a:solidFill>
                <a:latin typeface="Segoe UI" panose="020B0502040204020203" pitchFamily="34" charset="0"/>
                <a:cs typeface="Segoe UI" panose="020B0502040204020203" pitchFamily="34" charset="0"/>
              </a:rPr>
              <a:t>Changer d’adapter sans impact métier : moteurs interchangeables, code SYO inchangé.</a:t>
            </a:r>
          </a:p>
          <a:p>
            <a:pPr marL="171450" indent="-171450" algn="l">
              <a:buFont typeface="Arial" panose="020B0604020202020204" pitchFamily="34" charset="0"/>
              <a:buChar char="•"/>
            </a:pPr>
            <a:r>
              <a:rPr lang="fr-FR" sz="1000" b="1" dirty="0">
                <a:latin typeface="Segoe UI" panose="020B0502040204020203" pitchFamily="34" charset="0"/>
                <a:cs typeface="Segoe UI" panose="020B0502040204020203" pitchFamily="34" charset="0"/>
              </a:rPr>
              <a:t>La migration d’un flux OCRUS vers CADI est techniquement simple </a:t>
            </a:r>
            <a:r>
              <a:rPr lang="fr-FR" sz="1000" dirty="0">
                <a:latin typeface="Segoe UI" panose="020B0502040204020203" pitchFamily="34" charset="0"/>
                <a:cs typeface="Segoe UI" panose="020B0502040204020203" pitchFamily="34" charset="0"/>
              </a:rPr>
              <a:t>(un changement d’ADAPTER au lancement)</a:t>
            </a:r>
            <a:endParaRPr lang="fr-FR" sz="1000" dirty="0">
              <a:solidFill>
                <a:schemeClr val="tx1"/>
              </a:solidFill>
              <a:latin typeface="Segoe UI" panose="020B0502040204020203" pitchFamily="34" charset="0"/>
              <a:cs typeface="Segoe UI" panose="020B0502040204020203" pitchFamily="34" charset="0"/>
            </a:endParaRPr>
          </a:p>
        </p:txBody>
      </p:sp>
      <p:sp>
        <p:nvSpPr>
          <p:cNvPr id="21" name="ZoneTexte 20">
            <a:extLst>
              <a:ext uri="{FF2B5EF4-FFF2-40B4-BE49-F238E27FC236}">
                <a16:creationId xmlns:a16="http://schemas.microsoft.com/office/drawing/2014/main" id="{70D2BB81-7405-4BB6-88CC-6F139DA16188}"/>
              </a:ext>
            </a:extLst>
          </p:cNvPr>
          <p:cNvSpPr txBox="1"/>
          <p:nvPr/>
        </p:nvSpPr>
        <p:spPr>
          <a:xfrm>
            <a:off x="6028956" y="5170942"/>
            <a:ext cx="5539740" cy="1446550"/>
          </a:xfrm>
          <a:prstGeom prst="rect">
            <a:avLst/>
          </a:prstGeom>
          <a:noFill/>
        </p:spPr>
        <p:txBody>
          <a:bodyPr wrap="square" rtlCol="0">
            <a:spAutoFit/>
          </a:bodyPr>
          <a:lstStyle/>
          <a:p>
            <a:r>
              <a:rPr lang="fr-FR" sz="1600" u="sng" dirty="0">
                <a:solidFill>
                  <a:srgbClr val="0C4392"/>
                </a:solidFill>
                <a:latin typeface="Segoe UI" panose="020B0502040204020203" pitchFamily="34" charset="0"/>
                <a:cs typeface="Segoe UI" panose="020B0502040204020203" pitchFamily="34" charset="0"/>
              </a:rPr>
              <a:t>Préconisations</a:t>
            </a:r>
            <a:r>
              <a:rPr lang="fr-FR" sz="1600" dirty="0">
                <a:solidFill>
                  <a:srgbClr val="0C4392"/>
                </a:solidFill>
                <a:latin typeface="Segoe UI" panose="020B0502040204020203" pitchFamily="34" charset="0"/>
                <a:cs typeface="Segoe UI" panose="020B0502040204020203" pitchFamily="34" charset="0"/>
              </a:rPr>
              <a:t> : </a:t>
            </a:r>
          </a:p>
          <a:p>
            <a:pPr marL="285750" indent="-285750">
              <a:buFont typeface="Arial" panose="020B0604020202020204" pitchFamily="34" charset="0"/>
              <a:buChar char="•"/>
            </a:pPr>
            <a:r>
              <a:rPr lang="fr-FR" sz="1200" b="1" dirty="0">
                <a:solidFill>
                  <a:srgbClr val="0C4392"/>
                </a:solidFill>
                <a:latin typeface="Segoe UI" panose="020B0502040204020203" pitchFamily="34" charset="0"/>
                <a:cs typeface="Segoe UI" panose="020B0502040204020203" pitchFamily="34" charset="0"/>
              </a:rPr>
              <a:t>Travaux sur OCRUS dans un 1</a:t>
            </a:r>
            <a:r>
              <a:rPr lang="fr-FR" sz="1200" b="1" baseline="30000" dirty="0">
                <a:solidFill>
                  <a:srgbClr val="0C4392"/>
                </a:solidFill>
                <a:latin typeface="Segoe UI" panose="020B0502040204020203" pitchFamily="34" charset="0"/>
                <a:cs typeface="Segoe UI" panose="020B0502040204020203" pitchFamily="34" charset="0"/>
              </a:rPr>
              <a:t>er</a:t>
            </a:r>
            <a:r>
              <a:rPr lang="fr-FR" sz="1200" b="1" dirty="0">
                <a:solidFill>
                  <a:srgbClr val="0C4392"/>
                </a:solidFill>
                <a:latin typeface="Segoe UI" panose="020B0502040204020203" pitchFamily="34" charset="0"/>
                <a:cs typeface="Segoe UI" panose="020B0502040204020203" pitchFamily="34" charset="0"/>
              </a:rPr>
              <a:t> temps </a:t>
            </a:r>
            <a:r>
              <a:rPr lang="fr-FR" sz="1200" dirty="0">
                <a:solidFill>
                  <a:srgbClr val="0C4392"/>
                </a:solidFill>
                <a:latin typeface="Segoe UI" panose="020B0502040204020203" pitchFamily="34" charset="0"/>
                <a:cs typeface="Segoe UI" panose="020B0502040204020203" pitchFamily="34" charset="0"/>
              </a:rPr>
              <a:t>: tous nouveaux flux + anciens flux OCRUS (si besoin), </a:t>
            </a:r>
          </a:p>
          <a:p>
            <a:pPr marL="285750" indent="-285750">
              <a:buFont typeface="Arial" panose="020B0604020202020204" pitchFamily="34" charset="0"/>
              <a:buChar char="•"/>
            </a:pPr>
            <a:r>
              <a:rPr lang="fr-FR" sz="1200" b="1" dirty="0">
                <a:solidFill>
                  <a:srgbClr val="0C4392"/>
                </a:solidFill>
                <a:highlight>
                  <a:srgbClr val="FFFF00"/>
                </a:highlight>
                <a:latin typeface="Segoe UI" panose="020B0502040204020203" pitchFamily="34" charset="0"/>
                <a:cs typeface="Segoe UI" panose="020B0502040204020203" pitchFamily="34" charset="0"/>
              </a:rPr>
              <a:t>Sur les flux non OCRUS, étude dédiée doit être réalisée</a:t>
            </a:r>
            <a:r>
              <a:rPr lang="fr-FR" sz="1200" dirty="0">
                <a:solidFill>
                  <a:srgbClr val="0C4392"/>
                </a:solidFill>
                <a:highlight>
                  <a:srgbClr val="FFFF00"/>
                </a:highlight>
                <a:latin typeface="Segoe UI" panose="020B0502040204020203" pitchFamily="34" charset="0"/>
                <a:cs typeface="Segoe UI" panose="020B0502040204020203" pitchFamily="34" charset="0"/>
              </a:rPr>
              <a:t> (lot suivant). Besoin fort (</a:t>
            </a:r>
            <a:r>
              <a:rPr lang="fr-FR" sz="1200" b="1" dirty="0" err="1">
                <a:solidFill>
                  <a:srgbClr val="0C4392"/>
                </a:solidFill>
                <a:highlight>
                  <a:srgbClr val="FFFF00"/>
                </a:highlight>
                <a:latin typeface="Segoe UI" panose="020B0502040204020203" pitchFamily="34" charset="0"/>
                <a:cs typeface="Segoe UI" panose="020B0502040204020203" pitchFamily="34" charset="0"/>
              </a:rPr>
              <a:t>cf</a:t>
            </a:r>
            <a:r>
              <a:rPr lang="fr-FR" sz="1200" b="1" dirty="0">
                <a:solidFill>
                  <a:srgbClr val="0C4392"/>
                </a:solidFill>
                <a:highlight>
                  <a:srgbClr val="FFFF00"/>
                </a:highlight>
                <a:latin typeface="Segoe UI" panose="020B0502040204020203" pitchFamily="34" charset="0"/>
                <a:cs typeface="Segoe UI" panose="020B0502040204020203" pitchFamily="34" charset="0"/>
              </a:rPr>
              <a:t> </a:t>
            </a:r>
            <a:r>
              <a:rPr lang="fr-FR" sz="1200" b="1" dirty="0" err="1">
                <a:solidFill>
                  <a:srgbClr val="0C4392"/>
                </a:solidFill>
                <a:highlight>
                  <a:srgbClr val="FFFF00"/>
                </a:highlight>
                <a:latin typeface="Segoe UI" panose="020B0502040204020203" pitchFamily="34" charset="0"/>
                <a:cs typeface="Segoe UI" panose="020B0502040204020203" pitchFamily="34" charset="0"/>
              </a:rPr>
              <a:t>Stephane</a:t>
            </a:r>
            <a:r>
              <a:rPr lang="fr-FR" sz="1200" b="1" dirty="0">
                <a:solidFill>
                  <a:srgbClr val="0C4392"/>
                </a:solidFill>
                <a:highlight>
                  <a:srgbClr val="FFFF00"/>
                </a:highlight>
                <a:latin typeface="Segoe UI" panose="020B0502040204020203" pitchFamily="34" charset="0"/>
                <a:cs typeface="Segoe UI" panose="020B0502040204020203" pitchFamily="34" charset="0"/>
              </a:rPr>
              <a:t> : xxx liste</a:t>
            </a:r>
            <a:r>
              <a:rPr lang="fr-FR" sz="1200" dirty="0">
                <a:solidFill>
                  <a:srgbClr val="0C4392"/>
                </a:solidFill>
                <a:highlight>
                  <a:srgbClr val="FFFF00"/>
                </a:highlight>
                <a:latin typeface="Segoe UI" panose="020B0502040204020203" pitchFamily="34" charset="0"/>
                <a:cs typeface="Segoe UI" panose="020B0502040204020203" pitchFamily="34" charset="0"/>
              </a:rPr>
              <a:t>). Si un flux ne fonctionne « pas bien », préconisation de passer sur OCRUS, et de faire en sorte qu’il hérite du lien avec CADI</a:t>
            </a:r>
          </a:p>
        </p:txBody>
      </p:sp>
      <p:sp>
        <p:nvSpPr>
          <p:cNvPr id="23" name="ZoneTexte 22">
            <a:extLst>
              <a:ext uri="{FF2B5EF4-FFF2-40B4-BE49-F238E27FC236}">
                <a16:creationId xmlns:a16="http://schemas.microsoft.com/office/drawing/2014/main" id="{6187AC30-5454-4CFE-B0AB-EF7B989D0386}"/>
              </a:ext>
            </a:extLst>
          </p:cNvPr>
          <p:cNvSpPr txBox="1"/>
          <p:nvPr/>
        </p:nvSpPr>
        <p:spPr>
          <a:xfrm>
            <a:off x="12433301" y="4646387"/>
            <a:ext cx="2377852" cy="1569660"/>
          </a:xfrm>
          <a:prstGeom prst="rect">
            <a:avLst/>
          </a:prstGeom>
          <a:noFill/>
        </p:spPr>
        <p:txBody>
          <a:bodyPr wrap="square" rtlCol="0">
            <a:spAutoFit/>
          </a:bodyPr>
          <a:lstStyle/>
          <a:p>
            <a:r>
              <a:rPr lang="fr-FR" sz="1200" b="1" dirty="0" err="1">
                <a:solidFill>
                  <a:srgbClr val="0C4392"/>
                </a:solidFill>
                <a:latin typeface="Segoe UI" panose="020B0502040204020203" pitchFamily="34" charset="0"/>
                <a:cs typeface="Segoe UI" panose="020B0502040204020203" pitchFamily="34" charset="0"/>
              </a:rPr>
              <a:t>Modif</a:t>
            </a:r>
            <a:r>
              <a:rPr lang="fr-FR" sz="1200" b="1" dirty="0">
                <a:solidFill>
                  <a:srgbClr val="0C4392"/>
                </a:solidFill>
                <a:latin typeface="Segoe UI" panose="020B0502040204020203" pitchFamily="34" charset="0"/>
                <a:cs typeface="Segoe UI" panose="020B0502040204020203" pitchFamily="34" charset="0"/>
              </a:rPr>
              <a:t>. </a:t>
            </a:r>
            <a:r>
              <a:rPr lang="fr-FR" sz="1200" b="1" dirty="0" err="1">
                <a:solidFill>
                  <a:srgbClr val="0C4392"/>
                </a:solidFill>
                <a:latin typeface="Segoe UI" panose="020B0502040204020203" pitchFamily="34" charset="0"/>
                <a:cs typeface="Segoe UI" panose="020B0502040204020203" pitchFamily="34" charset="0"/>
              </a:rPr>
              <a:t>SYOReader</a:t>
            </a:r>
            <a:r>
              <a:rPr lang="fr-FR" sz="1200" b="1" dirty="0">
                <a:solidFill>
                  <a:srgbClr val="0C4392"/>
                </a:solidFill>
                <a:latin typeface="Segoe UI" panose="020B0502040204020203" pitchFamily="34" charset="0"/>
                <a:cs typeface="Segoe UI" panose="020B0502040204020203" pitchFamily="34" charset="0"/>
              </a:rPr>
              <a:t> nécessiterait de modifier SYO / les </a:t>
            </a:r>
            <a:r>
              <a:rPr lang="fr-FR" sz="1200" b="1" dirty="0" err="1">
                <a:solidFill>
                  <a:srgbClr val="0C4392"/>
                </a:solidFill>
                <a:latin typeface="Segoe UI" panose="020B0502040204020203" pitchFamily="34" charset="0"/>
                <a:cs typeface="Segoe UI" panose="020B0502040204020203" pitchFamily="34" charset="0"/>
              </a:rPr>
              <a:t>CWs</a:t>
            </a:r>
            <a:r>
              <a:rPr lang="fr-FR" sz="1200" b="1" dirty="0">
                <a:solidFill>
                  <a:srgbClr val="0C4392"/>
                </a:solidFill>
                <a:latin typeface="Segoe UI" panose="020B0502040204020203" pitchFamily="34" charset="0"/>
                <a:cs typeface="Segoe UI" panose="020B0502040204020203" pitchFamily="34" charset="0"/>
              </a:rPr>
              <a:t>. Le CW doit être agnostique du moteur</a:t>
            </a:r>
          </a:p>
          <a:p>
            <a:pPr marL="171450" indent="-171450">
              <a:buFont typeface="Wingdings" panose="05000000000000000000" pitchFamily="2" charset="2"/>
              <a:buChar char="Ø"/>
            </a:pPr>
            <a:r>
              <a:rPr lang="fr-FR" sz="1200" b="1" dirty="0">
                <a:solidFill>
                  <a:srgbClr val="0C4392"/>
                </a:solidFill>
                <a:latin typeface="Segoe UI" panose="020B0502040204020203" pitchFamily="34" charset="0"/>
                <a:cs typeface="Segoe UI" panose="020B0502040204020203" pitchFamily="34" charset="0"/>
              </a:rPr>
              <a:t>Slide dédiée à rajouter. A travailler avec Morad / Omar / Samuel </a:t>
            </a:r>
            <a:r>
              <a:rPr lang="fr-FR" sz="1200" b="1" dirty="0">
                <a:solidFill>
                  <a:schemeClr val="accent6">
                    <a:lumMod val="75000"/>
                  </a:schemeClr>
                </a:solidFill>
                <a:latin typeface="Segoe UI" panose="020B0502040204020203" pitchFamily="34" charset="0"/>
                <a:cs typeface="Segoe UI" panose="020B0502040204020203" pitchFamily="34" charset="0"/>
              </a:rPr>
              <a:t>/ H550 </a:t>
            </a:r>
            <a:r>
              <a:rPr lang="fr-FR" sz="1200" b="1" dirty="0">
                <a:solidFill>
                  <a:srgbClr val="0C4392"/>
                </a:solidFill>
                <a:latin typeface="Segoe UI" panose="020B0502040204020203" pitchFamily="34" charset="0"/>
                <a:cs typeface="Segoe UI" panose="020B0502040204020203" pitchFamily="34" charset="0"/>
              </a:rPr>
              <a:t>le 07/07 (mettre SROM en cc)</a:t>
            </a:r>
          </a:p>
        </p:txBody>
      </p:sp>
    </p:spTree>
    <p:extLst>
      <p:ext uri="{BB962C8B-B14F-4D97-AF65-F5344CB8AC3E}">
        <p14:creationId xmlns:p14="http://schemas.microsoft.com/office/powerpoint/2010/main" val="1431928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 Contexte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cap="small" dirty="0">
                <a:solidFill>
                  <a:srgbClr val="003A8D"/>
                </a:solidFill>
                <a:ea typeface="+mj-ea"/>
              </a:rPr>
              <a:t>02. interop GenAI / OCR Studio – la spécificité SYO : un score de confiance</a:t>
            </a:r>
          </a:p>
        </p:txBody>
      </p:sp>
      <p:sp>
        <p:nvSpPr>
          <p:cNvPr id="6" name="Rectangle 5">
            <a:extLst>
              <a:ext uri="{FF2B5EF4-FFF2-40B4-BE49-F238E27FC236}">
                <a16:creationId xmlns:a16="http://schemas.microsoft.com/office/drawing/2014/main" id="{CCAC1443-A06A-451B-816E-DA8CBBC8D9DB}"/>
              </a:ext>
            </a:extLst>
          </p:cNvPr>
          <p:cNvSpPr/>
          <p:nvPr/>
        </p:nvSpPr>
        <p:spPr>
          <a:xfrm>
            <a:off x="836377" y="1851557"/>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Appel à </a:t>
            </a:r>
            <a:r>
              <a:rPr lang="fr-FR" sz="1000" dirty="0" err="1">
                <a:solidFill>
                  <a:schemeClr val="tx1"/>
                </a:solidFill>
                <a:latin typeface="Segoe UI" panose="020B0502040204020203" pitchFamily="34" charset="0"/>
                <a:cs typeface="Segoe UI" panose="020B0502040204020203" pitchFamily="34" charset="0"/>
              </a:rPr>
              <a:t>SyoReader</a:t>
            </a:r>
            <a:r>
              <a:rPr lang="fr-FR" sz="1000" dirty="0">
                <a:solidFill>
                  <a:schemeClr val="tx1"/>
                </a:solidFill>
                <a:latin typeface="Segoe UI" panose="020B0502040204020203" pitchFamily="34" charset="0"/>
                <a:cs typeface="Segoe UI" panose="020B0502040204020203" pitchFamily="34" charset="0"/>
              </a:rPr>
              <a:t> pour extraction</a:t>
            </a:r>
          </a:p>
        </p:txBody>
      </p:sp>
      <p:sp>
        <p:nvSpPr>
          <p:cNvPr id="3" name="Losange 2">
            <a:extLst>
              <a:ext uri="{FF2B5EF4-FFF2-40B4-BE49-F238E27FC236}">
                <a16:creationId xmlns:a16="http://schemas.microsoft.com/office/drawing/2014/main" id="{A3B7F7C0-F73F-45B4-9C42-0C55244117DB}"/>
              </a:ext>
            </a:extLst>
          </p:cNvPr>
          <p:cNvSpPr/>
          <p:nvPr/>
        </p:nvSpPr>
        <p:spPr>
          <a:xfrm>
            <a:off x="4080934" y="1851557"/>
            <a:ext cx="338666" cy="352957"/>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cxnSp>
        <p:nvCxnSpPr>
          <p:cNvPr id="8" name="Connecteur droit avec flèche 7">
            <a:extLst>
              <a:ext uri="{FF2B5EF4-FFF2-40B4-BE49-F238E27FC236}">
                <a16:creationId xmlns:a16="http://schemas.microsoft.com/office/drawing/2014/main" id="{09961653-F3FE-4543-9BEC-72913E419BF0}"/>
              </a:ext>
            </a:extLst>
          </p:cNvPr>
          <p:cNvCxnSpPr>
            <a:stCxn id="6" idx="3"/>
            <a:endCxn id="3" idx="1"/>
          </p:cNvCxnSpPr>
          <p:nvPr/>
        </p:nvCxnSpPr>
        <p:spPr>
          <a:xfrm>
            <a:off x="3471333" y="2028036"/>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7015B72-4FA1-4ED0-A29C-037F405E0A43}"/>
              </a:ext>
            </a:extLst>
          </p:cNvPr>
          <p:cNvSpPr/>
          <p:nvPr/>
        </p:nvSpPr>
        <p:spPr>
          <a:xfrm>
            <a:off x="3471333" y="2235477"/>
            <a:ext cx="1557869" cy="639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Si le score d’extraction &gt; seuil min de score</a:t>
            </a:r>
          </a:p>
          <a:p>
            <a:pPr marR="0" lvl="0" algn="ctr" defTabSz="914400" rtl="0" eaLnBrk="0" fontAlgn="base" latinLnBrk="0" hangingPunct="0">
              <a:lnSpc>
                <a:spcPct val="100000"/>
              </a:lnSpc>
              <a:spcBef>
                <a:spcPct val="0"/>
              </a:spcBef>
              <a:spcAft>
                <a:spcPct val="0"/>
              </a:spcAft>
              <a:buClrTx/>
              <a:buSzTx/>
              <a:tabLst/>
            </a:pPr>
            <a:r>
              <a:rPr lang="fr-FR" sz="700" i="1" dirty="0">
                <a:solidFill>
                  <a:schemeClr val="tx1"/>
                </a:solidFill>
                <a:latin typeface="Segoe UI" panose="020B0502040204020203" pitchFamily="34" charset="0"/>
                <a:cs typeface="Segoe UI" panose="020B0502040204020203" pitchFamily="34" charset="0"/>
              </a:rPr>
              <a:t>Ce score est positionné selon la criticité du champ &amp; performance du modèle</a:t>
            </a:r>
          </a:p>
        </p:txBody>
      </p:sp>
      <p:sp>
        <p:nvSpPr>
          <p:cNvPr id="12" name="Rectangle 11">
            <a:extLst>
              <a:ext uri="{FF2B5EF4-FFF2-40B4-BE49-F238E27FC236}">
                <a16:creationId xmlns:a16="http://schemas.microsoft.com/office/drawing/2014/main" id="{E3EB0778-DAAB-4A21-97F2-791D0CD28AC8}"/>
              </a:ext>
            </a:extLst>
          </p:cNvPr>
          <p:cNvSpPr/>
          <p:nvPr/>
        </p:nvSpPr>
        <p:spPr>
          <a:xfrm>
            <a:off x="5029201" y="1851556"/>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Alimentation du champ métier + exécution des règles de validations</a:t>
            </a:r>
          </a:p>
        </p:txBody>
      </p:sp>
      <p:cxnSp>
        <p:nvCxnSpPr>
          <p:cNvPr id="10" name="Connecteur droit avec flèche 9">
            <a:extLst>
              <a:ext uri="{FF2B5EF4-FFF2-40B4-BE49-F238E27FC236}">
                <a16:creationId xmlns:a16="http://schemas.microsoft.com/office/drawing/2014/main" id="{7445CDB3-334C-475F-A7E2-2B1EE769908B}"/>
              </a:ext>
            </a:extLst>
          </p:cNvPr>
          <p:cNvCxnSpPr>
            <a:stCxn id="3" idx="3"/>
            <a:endCxn id="12" idx="1"/>
          </p:cNvCxnSpPr>
          <p:nvPr/>
        </p:nvCxnSpPr>
        <p:spPr>
          <a:xfrm flipV="1">
            <a:off x="4419600" y="2028035"/>
            <a:ext cx="6096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Losange 14">
            <a:extLst>
              <a:ext uri="{FF2B5EF4-FFF2-40B4-BE49-F238E27FC236}">
                <a16:creationId xmlns:a16="http://schemas.microsoft.com/office/drawing/2014/main" id="{E288A529-0A3B-4D1C-8FC4-C5A2FF189999}"/>
              </a:ext>
            </a:extLst>
          </p:cNvPr>
          <p:cNvSpPr/>
          <p:nvPr/>
        </p:nvSpPr>
        <p:spPr>
          <a:xfrm>
            <a:off x="8273757" y="1820593"/>
            <a:ext cx="338666" cy="352957"/>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cxnSp>
        <p:nvCxnSpPr>
          <p:cNvPr id="16" name="Connecteur droit avec flèche 15">
            <a:extLst>
              <a:ext uri="{FF2B5EF4-FFF2-40B4-BE49-F238E27FC236}">
                <a16:creationId xmlns:a16="http://schemas.microsoft.com/office/drawing/2014/main" id="{16A1341E-ECF3-4512-92DB-B9CAEF0D0775}"/>
              </a:ext>
            </a:extLst>
          </p:cNvPr>
          <p:cNvCxnSpPr>
            <a:endCxn id="15" idx="1"/>
          </p:cNvCxnSpPr>
          <p:nvPr/>
        </p:nvCxnSpPr>
        <p:spPr>
          <a:xfrm>
            <a:off x="7664156" y="1997072"/>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85FE360-5029-4933-891C-9445128B7BF2}"/>
              </a:ext>
            </a:extLst>
          </p:cNvPr>
          <p:cNvSpPr/>
          <p:nvPr/>
        </p:nvSpPr>
        <p:spPr>
          <a:xfrm>
            <a:off x="8632678" y="1770216"/>
            <a:ext cx="501358"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Ok</a:t>
            </a:r>
          </a:p>
        </p:txBody>
      </p:sp>
      <p:cxnSp>
        <p:nvCxnSpPr>
          <p:cNvPr id="18" name="Connecteur droit avec flèche 17">
            <a:extLst>
              <a:ext uri="{FF2B5EF4-FFF2-40B4-BE49-F238E27FC236}">
                <a16:creationId xmlns:a16="http://schemas.microsoft.com/office/drawing/2014/main" id="{5101B162-B21C-478A-94FE-D78AF55C0DD7}"/>
              </a:ext>
            </a:extLst>
          </p:cNvPr>
          <p:cNvCxnSpPr>
            <a:stCxn id="15" idx="3"/>
          </p:cNvCxnSpPr>
          <p:nvPr/>
        </p:nvCxnSpPr>
        <p:spPr>
          <a:xfrm flipV="1">
            <a:off x="8612423" y="1997071"/>
            <a:ext cx="6096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16B42B8-8630-4F72-AA6C-2D9C5A8694CC}"/>
              </a:ext>
            </a:extLst>
          </p:cNvPr>
          <p:cNvSpPr/>
          <p:nvPr/>
        </p:nvSpPr>
        <p:spPr>
          <a:xfrm>
            <a:off x="9222023" y="1836074"/>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Champ validé et non présenté pour saisie à un opérateur</a:t>
            </a:r>
          </a:p>
        </p:txBody>
      </p:sp>
      <p:sp>
        <p:nvSpPr>
          <p:cNvPr id="20" name="Rectangle 19">
            <a:extLst>
              <a:ext uri="{FF2B5EF4-FFF2-40B4-BE49-F238E27FC236}">
                <a16:creationId xmlns:a16="http://schemas.microsoft.com/office/drawing/2014/main" id="{07048E3C-F524-4A2D-AA3B-0318CAF6CE72}"/>
              </a:ext>
            </a:extLst>
          </p:cNvPr>
          <p:cNvSpPr/>
          <p:nvPr/>
        </p:nvSpPr>
        <p:spPr>
          <a:xfrm>
            <a:off x="9222023" y="2964243"/>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Présentation du champ à un opérateur pour saisi</a:t>
            </a:r>
          </a:p>
        </p:txBody>
      </p:sp>
      <p:cxnSp>
        <p:nvCxnSpPr>
          <p:cNvPr id="14" name="Connecteur : en angle 13">
            <a:extLst>
              <a:ext uri="{FF2B5EF4-FFF2-40B4-BE49-F238E27FC236}">
                <a16:creationId xmlns:a16="http://schemas.microsoft.com/office/drawing/2014/main" id="{5A9D431E-0571-424D-8FA5-539369CB0D6F}"/>
              </a:ext>
            </a:extLst>
          </p:cNvPr>
          <p:cNvCxnSpPr>
            <a:cxnSpLocks/>
            <a:stCxn id="15" idx="2"/>
            <a:endCxn id="20" idx="1"/>
          </p:cNvCxnSpPr>
          <p:nvPr/>
        </p:nvCxnSpPr>
        <p:spPr>
          <a:xfrm rot="16200000" flipH="1">
            <a:off x="8348970" y="2267669"/>
            <a:ext cx="967172" cy="77893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3B0962E-5B80-4654-8C45-776F68CD6DC9}"/>
              </a:ext>
            </a:extLst>
          </p:cNvPr>
          <p:cNvSpPr/>
          <p:nvPr/>
        </p:nvSpPr>
        <p:spPr>
          <a:xfrm>
            <a:off x="8581877" y="2948762"/>
            <a:ext cx="501358"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Ko</a:t>
            </a:r>
          </a:p>
        </p:txBody>
      </p:sp>
      <p:sp>
        <p:nvSpPr>
          <p:cNvPr id="24" name="Rectangle 23">
            <a:extLst>
              <a:ext uri="{FF2B5EF4-FFF2-40B4-BE49-F238E27FC236}">
                <a16:creationId xmlns:a16="http://schemas.microsoft.com/office/drawing/2014/main" id="{CB49C847-318F-42E7-B551-5C9990440C03}"/>
              </a:ext>
            </a:extLst>
          </p:cNvPr>
          <p:cNvSpPr/>
          <p:nvPr/>
        </p:nvSpPr>
        <p:spPr>
          <a:xfrm>
            <a:off x="836377" y="3140721"/>
            <a:ext cx="6827779"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pPr>
            <a:r>
              <a:rPr lang="fr-FR" sz="800" b="1" dirty="0">
                <a:solidFill>
                  <a:schemeClr val="tx1"/>
                </a:solidFill>
                <a:latin typeface="Segoe UI" panose="020B0502040204020203" pitchFamily="34" charset="0"/>
                <a:cs typeface="Segoe UI" panose="020B0502040204020203" pitchFamily="34" charset="0"/>
              </a:rPr>
              <a:t>NB : </a:t>
            </a:r>
            <a:r>
              <a:rPr lang="fr-FR" sz="800" dirty="0">
                <a:solidFill>
                  <a:schemeClr val="tx1"/>
                </a:solidFill>
                <a:latin typeface="Segoe UI" panose="020B0502040204020203" pitchFamily="34" charset="0"/>
                <a:cs typeface="Segoe UI" panose="020B0502040204020203" pitchFamily="34" charset="0"/>
              </a:rPr>
              <a:t>Selon la criticité du champ, on peut parfois combiner saisi humaine et extraction OCR (Contrôle à 4 yeux)</a:t>
            </a:r>
          </a:p>
        </p:txBody>
      </p:sp>
      <p:sp>
        <p:nvSpPr>
          <p:cNvPr id="27" name="Organigramme : Opération manuelle 26">
            <a:extLst>
              <a:ext uri="{FF2B5EF4-FFF2-40B4-BE49-F238E27FC236}">
                <a16:creationId xmlns:a16="http://schemas.microsoft.com/office/drawing/2014/main" id="{E217E03C-0798-42C5-A446-CD68D1731CA5}"/>
              </a:ext>
            </a:extLst>
          </p:cNvPr>
          <p:cNvSpPr/>
          <p:nvPr/>
        </p:nvSpPr>
        <p:spPr>
          <a:xfrm rot="16200000">
            <a:off x="4494892" y="4010407"/>
            <a:ext cx="1447800" cy="652169"/>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latin typeface="Segoe UI" panose="020B0502040204020203" pitchFamily="34" charset="0"/>
                <a:cs typeface="Segoe UI" panose="020B0502040204020203" pitchFamily="34" charset="0"/>
              </a:rPr>
              <a:t>OCR</a:t>
            </a:r>
          </a:p>
        </p:txBody>
      </p:sp>
      <p:sp>
        <p:nvSpPr>
          <p:cNvPr id="29" name="Organigramme : Opération manuelle 28">
            <a:extLst>
              <a:ext uri="{FF2B5EF4-FFF2-40B4-BE49-F238E27FC236}">
                <a16:creationId xmlns:a16="http://schemas.microsoft.com/office/drawing/2014/main" id="{17F4186C-1689-446B-83EF-A45D976C3312}"/>
              </a:ext>
            </a:extLst>
          </p:cNvPr>
          <p:cNvSpPr/>
          <p:nvPr/>
        </p:nvSpPr>
        <p:spPr>
          <a:xfrm rot="16200000">
            <a:off x="5536294" y="4010406"/>
            <a:ext cx="838197" cy="652169"/>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bg1"/>
              </a:solidFill>
              <a:latin typeface="Segoe UI" panose="020B0502040204020203" pitchFamily="34" charset="0"/>
              <a:cs typeface="Segoe UI" panose="020B0502040204020203" pitchFamily="34" charset="0"/>
            </a:endParaRPr>
          </a:p>
        </p:txBody>
      </p:sp>
      <p:sp>
        <p:nvSpPr>
          <p:cNvPr id="30" name="Rectangle 29">
            <a:extLst>
              <a:ext uri="{FF2B5EF4-FFF2-40B4-BE49-F238E27FC236}">
                <a16:creationId xmlns:a16="http://schemas.microsoft.com/office/drawing/2014/main" id="{9DC8EDF0-121E-4606-B070-381A87D7F788}"/>
              </a:ext>
            </a:extLst>
          </p:cNvPr>
          <p:cNvSpPr/>
          <p:nvPr/>
        </p:nvSpPr>
        <p:spPr>
          <a:xfrm rot="16200000">
            <a:off x="5525919" y="4224097"/>
            <a:ext cx="842012"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b="1" dirty="0">
                <a:solidFill>
                  <a:schemeClr val="bg1"/>
                </a:solidFill>
                <a:latin typeface="Segoe UI" panose="020B0502040204020203" pitchFamily="34" charset="0"/>
                <a:cs typeface="Segoe UI" panose="020B0502040204020203" pitchFamily="34" charset="0"/>
              </a:rPr>
              <a:t>Opérateurs</a:t>
            </a:r>
            <a:endParaRPr lang="fr-FR" sz="800" dirty="0">
              <a:solidFill>
                <a:schemeClr val="bg1"/>
              </a:solidFill>
              <a:latin typeface="Segoe UI" panose="020B0502040204020203" pitchFamily="34" charset="0"/>
              <a:cs typeface="Segoe UI" panose="020B0502040204020203" pitchFamily="34" charset="0"/>
            </a:endParaRPr>
          </a:p>
        </p:txBody>
      </p:sp>
      <p:sp>
        <p:nvSpPr>
          <p:cNvPr id="31" name="Rectangle 30">
            <a:extLst>
              <a:ext uri="{FF2B5EF4-FFF2-40B4-BE49-F238E27FC236}">
                <a16:creationId xmlns:a16="http://schemas.microsoft.com/office/drawing/2014/main" id="{BB4422A9-3B93-41CB-9656-C232F134D5B6}"/>
              </a:ext>
            </a:extLst>
          </p:cNvPr>
          <p:cNvSpPr/>
          <p:nvPr/>
        </p:nvSpPr>
        <p:spPr>
          <a:xfrm>
            <a:off x="821531" y="4018889"/>
            <a:ext cx="3783428" cy="736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On peut associer cette logique à un entonnoir ou l’OCR + RDG de validation métier permettent de réduire le nombre d’activité manuelle à remonter aux opérateurs</a:t>
            </a:r>
          </a:p>
        </p:txBody>
      </p:sp>
      <p:sp>
        <p:nvSpPr>
          <p:cNvPr id="32" name="Rectangle 31">
            <a:extLst>
              <a:ext uri="{FF2B5EF4-FFF2-40B4-BE49-F238E27FC236}">
                <a16:creationId xmlns:a16="http://schemas.microsoft.com/office/drawing/2014/main" id="{A37BA3F8-8535-41C9-818B-5AD36147BAE1}"/>
              </a:ext>
            </a:extLst>
          </p:cNvPr>
          <p:cNvSpPr/>
          <p:nvPr/>
        </p:nvSpPr>
        <p:spPr>
          <a:xfrm>
            <a:off x="765708" y="5357003"/>
            <a:ext cx="11031538" cy="352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pPr>
            <a:r>
              <a:rPr lang="fr-FR" sz="1200" b="1" dirty="0">
                <a:solidFill>
                  <a:schemeClr val="tx1"/>
                </a:solidFill>
                <a:latin typeface="Segoe UI" panose="020B0502040204020203" pitchFamily="34" charset="0"/>
                <a:cs typeface="Segoe UI" panose="020B0502040204020203" pitchFamily="34" charset="0"/>
              </a:rPr>
              <a:t>Spécificité SYO : pour exploiter LLMAAS / OCR Studio sur des traitements de type SYO, les services de classification et d’extraction doivent fournir un score de confiance, support de l’aiguillage automatique entre validation directe et reprise opérateur.</a:t>
            </a:r>
          </a:p>
        </p:txBody>
      </p:sp>
      <p:sp>
        <p:nvSpPr>
          <p:cNvPr id="80" name="Rectangle Specificite SYO"/>
          <p:cNvSpPr/>
          <p:nvPr/>
        </p:nvSpPr>
        <p:spPr>
          <a:xfrm>
            <a:off x="6320000" y="3680000"/>
            <a:ext cx="5476000" cy="1430000"/>
          </a:xfrm>
          <a:prstGeom prst="rect">
            <a:avLst/>
          </a:prstGeom>
          <a:solidFill>
            <a:srgbClr val="003A8D"/>
          </a:solidFill>
          <a:ln>
            <a:noFill/>
          </a:ln>
        </p:spPr>
        <p:txBody>
          <a:bodyPr rtlCol="0" anchor="ctr">
            <a:normAutofit/>
          </a:bodyPr>
          <a:lstStyle/>
          <a:p>
            <a:pPr marL="0" indent="0" algn="l"/>
            <a:r>
              <a:rPr lang="fr-FR" sz="1100" b="1" dirty="0">
                <a:solidFill>
                  <a:schemeClr val="bg1"/>
                </a:solidFill>
                <a:latin typeface="Segoe UI" panose="020B0502040204020203" pitchFamily="34" charset="0"/>
                <a:cs typeface="Segoe UI" panose="020B0502040204020203" pitchFamily="34" charset="0"/>
              </a:rPr>
              <a:t>Pourquoi un score de confiance ?</a:t>
            </a:r>
          </a:p>
          <a:p>
            <a:pPr marL="171450" indent="-171450" algn="l">
              <a:buFont typeface="Arial" panose="020B0604020202020204" pitchFamily="34" charset="0"/>
              <a:buChar char="•"/>
            </a:pPr>
            <a:r>
              <a:rPr lang="fr-FR" sz="1000" dirty="0">
                <a:solidFill>
                  <a:schemeClr val="bg1"/>
                </a:solidFill>
                <a:latin typeface="Segoe UI" panose="020B0502040204020203" pitchFamily="34" charset="0"/>
                <a:cs typeface="Segoe UI" panose="020B0502040204020203" pitchFamily="34" charset="0"/>
              </a:rPr>
              <a:t>Il conditionne l’automatisation : au-delà d’un seuil, le champ est alimenté et validé sans intervention humaine.</a:t>
            </a:r>
          </a:p>
          <a:p>
            <a:pPr marL="171450" indent="-171450" algn="l">
              <a:buFont typeface="Arial" panose="020B0604020202020204" pitchFamily="34" charset="0"/>
              <a:buChar char="•"/>
            </a:pPr>
            <a:r>
              <a:rPr lang="fr-FR" sz="1000" dirty="0">
                <a:solidFill>
                  <a:schemeClr val="bg1"/>
                </a:solidFill>
                <a:latin typeface="Segoe UI" panose="020B0502040204020203" pitchFamily="34" charset="0"/>
                <a:cs typeface="Segoe UI" panose="020B0502040204020203" pitchFamily="34" charset="0"/>
              </a:rPr>
              <a:t>Le seuil est calibré selon la criticité du champ et la performance du modèle : effet entonnoir réduisant la charge opérateur.</a:t>
            </a:r>
          </a:p>
          <a:p>
            <a:pPr marL="171450" indent="-171450" algn="l">
              <a:buFont typeface="Arial" panose="020B0604020202020204" pitchFamily="34" charset="0"/>
              <a:buChar char="•"/>
            </a:pPr>
            <a:r>
              <a:rPr lang="fr-FR" sz="1000" dirty="0">
                <a:solidFill>
                  <a:schemeClr val="bg1"/>
                </a:solidFill>
                <a:latin typeface="Segoe UI" panose="020B0502040204020203" pitchFamily="34" charset="0"/>
                <a:cs typeface="Segoe UI" panose="020B0502040204020203" pitchFamily="34" charset="0"/>
              </a:rPr>
              <a:t>Les services CADI / OCR Studio doivent donc exposer ce même mécanisme pour s’intégrer aux flux SYO.</a:t>
            </a:r>
          </a:p>
        </p:txBody>
      </p:sp>
    </p:spTree>
    <p:extLst>
      <p:ext uri="{BB962C8B-B14F-4D97-AF65-F5344CB8AC3E}">
        <p14:creationId xmlns:p14="http://schemas.microsoft.com/office/powerpoint/2010/main" val="42970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 Contexte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cap="small" dirty="0">
                <a:solidFill>
                  <a:srgbClr val="003A8D"/>
                </a:solidFill>
                <a:ea typeface="+mj-ea"/>
              </a:rPr>
              <a:t>02. Impact LLMAAS / OCR Studio – </a:t>
            </a:r>
            <a:r>
              <a:rPr lang="en-US" b="1" cap="small" dirty="0" err="1">
                <a:solidFill>
                  <a:srgbClr val="003A8D"/>
                </a:solidFill>
                <a:ea typeface="+mj-ea"/>
              </a:rPr>
              <a:t>périmètre</a:t>
            </a:r>
            <a:r>
              <a:rPr lang="en-US" b="1" cap="small" dirty="0">
                <a:solidFill>
                  <a:srgbClr val="003A8D"/>
                </a:solidFill>
                <a:ea typeface="+mj-ea"/>
              </a:rPr>
              <a:t> du </a:t>
            </a:r>
            <a:r>
              <a:rPr lang="en-US" b="1" cap="small" dirty="0" err="1">
                <a:solidFill>
                  <a:srgbClr val="003A8D"/>
                </a:solidFill>
                <a:ea typeface="+mj-ea"/>
              </a:rPr>
              <a:t>pré-cadrage</a:t>
            </a:r>
            <a:r>
              <a:rPr lang="en-US" b="1" cap="small" dirty="0">
                <a:solidFill>
                  <a:srgbClr val="003A8D"/>
                </a:solidFill>
                <a:ea typeface="+mj-ea"/>
              </a:rPr>
              <a:t> NADIA</a:t>
            </a:r>
          </a:p>
        </p:txBody>
      </p:sp>
      <p:sp>
        <p:nvSpPr>
          <p:cNvPr id="15" name="Rectangle 14">
            <a:extLst>
              <a:ext uri="{FF2B5EF4-FFF2-40B4-BE49-F238E27FC236}">
                <a16:creationId xmlns:a16="http://schemas.microsoft.com/office/drawing/2014/main" id="{80F53872-054B-40C4-8E7A-930DE94798B6}"/>
              </a:ext>
            </a:extLst>
          </p:cNvPr>
          <p:cNvSpPr/>
          <p:nvPr/>
        </p:nvSpPr>
        <p:spPr>
          <a:xfrm>
            <a:off x="3626113" y="1658064"/>
            <a:ext cx="2550000" cy="56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tx1"/>
                </a:solidFill>
                <a:latin typeface="Segoe UI" panose="020B0502040204020203" pitchFamily="34" charset="0"/>
                <a:cs typeface="Segoe UI" panose="020B0502040204020203" pitchFamily="34" charset="0"/>
              </a:rPr>
              <a:t>Scénario 1 : Exploiter le score natif de l’OCR</a:t>
            </a:r>
          </a:p>
        </p:txBody>
      </p:sp>
      <p:sp>
        <p:nvSpPr>
          <p:cNvPr id="16" name="Rectangle 15">
            <a:extLst>
              <a:ext uri="{FF2B5EF4-FFF2-40B4-BE49-F238E27FC236}">
                <a16:creationId xmlns:a16="http://schemas.microsoft.com/office/drawing/2014/main" id="{974DB1CC-3504-4319-86F5-DA72C61A44A2}"/>
              </a:ext>
            </a:extLst>
          </p:cNvPr>
          <p:cNvSpPr/>
          <p:nvPr/>
        </p:nvSpPr>
        <p:spPr>
          <a:xfrm>
            <a:off x="3626113" y="2300000"/>
            <a:ext cx="2550000"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Le FULLTEXT fournit déjà : un score par mot et par ligne ou bloc</a:t>
            </a:r>
          </a:p>
          <a:p>
            <a:pPr marR="0" lvl="0" defTabSz="914400" rtl="0" eaLnBrk="0" fontAlgn="base" latinLnBrk="0" hangingPunct="0">
              <a:lnSpc>
                <a:spcPct val="100000"/>
              </a:lnSpc>
              <a:spcBef>
                <a:spcPct val="0"/>
              </a:spcBef>
              <a:spcAft>
                <a:spcPct val="0"/>
              </a:spcAft>
              <a:buClrTx/>
              <a:buSzTx/>
              <a:tabLst/>
            </a:pPr>
            <a:endParaRPr lang="fr-FR" sz="1000" dirty="0">
              <a:solidFill>
                <a:schemeClr val="tx1"/>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sz="1000" b="1" dirty="0">
                <a:solidFill>
                  <a:schemeClr val="tx1"/>
                </a:solidFill>
                <a:latin typeface="Segoe UI" panose="020B0502040204020203" pitchFamily="34" charset="0"/>
                <a:cs typeface="Segoe UI" panose="020B0502040204020203" pitchFamily="34" charset="0"/>
              </a:rPr>
              <a:t>Solutions : </a:t>
            </a:r>
            <a:endPar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000" dirty="0">
                <a:solidFill>
                  <a:schemeClr val="tx1"/>
                </a:solidFill>
                <a:latin typeface="Segoe UI" panose="020B0502040204020203" pitchFamily="34" charset="0"/>
                <a:cs typeface="Segoe UI" panose="020B0502040204020203" pitchFamily="34" charset="0"/>
              </a:rPr>
              <a:t> Propagation </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des scores </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000" dirty="0">
                <a:solidFill>
                  <a:schemeClr val="tx1"/>
                </a:solidFill>
                <a:latin typeface="Segoe UI" panose="020B0502040204020203" pitchFamily="34" charset="0"/>
                <a:cs typeface="Segoe UI" panose="020B0502040204020203" pitchFamily="34" charset="0"/>
              </a:rPr>
              <a:t> Agrégation </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(moyenne, min, pondération) pour chaque champ extrait </a:t>
            </a:r>
          </a:p>
          <a:p>
            <a:pPr marR="0" lvl="0" algn="ctr" defTabSz="914400" rtl="0" eaLnBrk="0" fontAlgn="base" latinLnBrk="0" hangingPunct="0">
              <a:lnSpc>
                <a:spcPct val="100000"/>
              </a:lnSpc>
              <a:spcBef>
                <a:spcPct val="0"/>
              </a:spcBef>
              <a:spcAft>
                <a:spcPct val="0"/>
              </a:spcAft>
              <a:buClrTx/>
              <a:buSzTx/>
              <a:tabLst/>
            </a:pPr>
            <a:endParaRPr lang="fr-FR" sz="1000" dirty="0">
              <a:solidFill>
                <a:schemeClr val="tx1"/>
              </a:solidFill>
              <a:latin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7BE21893-9154-4C3E-92D9-07F64284A2E6}"/>
              </a:ext>
            </a:extLst>
          </p:cNvPr>
          <p:cNvSpPr/>
          <p:nvPr/>
        </p:nvSpPr>
        <p:spPr>
          <a:xfrm>
            <a:off x="3626113" y="3989040"/>
            <a:ext cx="2550000" cy="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000" dirty="0">
                <a:solidFill>
                  <a:schemeClr val="tx1"/>
                </a:solidFill>
                <a:latin typeface="Segoe UI" panose="020B0502040204020203" pitchFamily="34" charset="0"/>
                <a:cs typeface="Segoe UI" panose="020B0502040204020203" pitchFamily="34" charset="0"/>
              </a:rPr>
              <a:t>ce score reflète la </a:t>
            </a:r>
            <a:r>
              <a:rPr lang="fr-FR" sz="1000" b="1" dirty="0">
                <a:solidFill>
                  <a:schemeClr val="tx1"/>
                </a:solidFill>
                <a:latin typeface="Segoe UI" panose="020B0502040204020203" pitchFamily="34" charset="0"/>
                <a:cs typeface="Segoe UI" panose="020B0502040204020203" pitchFamily="34" charset="0"/>
              </a:rPr>
              <a:t>reconnaissance visuelle, pas la validité métier</a:t>
            </a:r>
          </a:p>
        </p:txBody>
      </p:sp>
      <p:sp>
        <p:nvSpPr>
          <p:cNvPr id="19" name="Rectangle 18">
            <a:extLst>
              <a:ext uri="{FF2B5EF4-FFF2-40B4-BE49-F238E27FC236}">
                <a16:creationId xmlns:a16="http://schemas.microsoft.com/office/drawing/2014/main" id="{B9C58828-B084-4518-9756-D9D64310DFDC}"/>
              </a:ext>
            </a:extLst>
          </p:cNvPr>
          <p:cNvSpPr/>
          <p:nvPr/>
        </p:nvSpPr>
        <p:spPr>
          <a:xfrm>
            <a:off x="6416113" y="1658064"/>
            <a:ext cx="2550000" cy="56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tx1"/>
                </a:solidFill>
                <a:latin typeface="Segoe UI" panose="020B0502040204020203" pitchFamily="34" charset="0"/>
                <a:cs typeface="Segoe UI" panose="020B0502040204020203" pitchFamily="34" charset="0"/>
              </a:rPr>
              <a:t>Scénario 2 : LLM as a </a:t>
            </a:r>
            <a:r>
              <a:rPr lang="fr-FR" sz="900" b="1" dirty="0" err="1">
                <a:solidFill>
                  <a:schemeClr val="tx1"/>
                </a:solidFill>
                <a:latin typeface="Segoe UI" panose="020B0502040204020203" pitchFamily="34" charset="0"/>
                <a:cs typeface="Segoe UI" panose="020B0502040204020203" pitchFamily="34" charset="0"/>
              </a:rPr>
              <a:t>judge</a:t>
            </a:r>
            <a:endParaRPr lang="fr-FR" sz="900" b="1" dirty="0">
              <a:solidFill>
                <a:schemeClr val="tx1"/>
              </a:solidFill>
              <a:latin typeface="Segoe UI" panose="020B0502040204020203" pitchFamily="34" charset="0"/>
              <a:cs typeface="Segoe UI" panose="020B0502040204020203" pitchFamily="34" charset="0"/>
            </a:endParaRPr>
          </a:p>
        </p:txBody>
      </p:sp>
      <p:sp>
        <p:nvSpPr>
          <p:cNvPr id="20" name="Rectangle 19">
            <a:extLst>
              <a:ext uri="{FF2B5EF4-FFF2-40B4-BE49-F238E27FC236}">
                <a16:creationId xmlns:a16="http://schemas.microsoft.com/office/drawing/2014/main" id="{C7177E89-01A5-441C-B34D-206C5BF2CA15}"/>
              </a:ext>
            </a:extLst>
          </p:cNvPr>
          <p:cNvSpPr/>
          <p:nvPr/>
        </p:nvSpPr>
        <p:spPr>
          <a:xfrm>
            <a:off x="6416113" y="2300000"/>
            <a:ext cx="2550000"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Utilisation d’un modèle LLM pour évaluer :</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cohérence globale</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Plausibilité</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Complétude</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sz="1000" dirty="0">
              <a:solidFill>
                <a:schemeClr val="tx1"/>
              </a:solidFill>
              <a:latin typeface="Segoe UI" panose="020B0502040204020203" pitchFamily="34" charset="0"/>
              <a:cs typeface="Segoe UI" panose="020B0502040204020203" pitchFamily="34" charset="0"/>
            </a:endParaRPr>
          </a:p>
          <a:p>
            <a:pPr marR="0" lvl="0"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OCR → Extraction → LLM </a:t>
            </a:r>
            <a:r>
              <a:rPr lang="fr-FR" sz="1000" dirty="0" err="1">
                <a:solidFill>
                  <a:schemeClr val="tx1"/>
                </a:solidFill>
                <a:latin typeface="Segoe UI" panose="020B0502040204020203" pitchFamily="34" charset="0"/>
                <a:cs typeface="Segoe UI" panose="020B0502040204020203" pitchFamily="34" charset="0"/>
              </a:rPr>
              <a:t>evaluator</a:t>
            </a:r>
            <a:r>
              <a:rPr lang="fr-FR" sz="1000" dirty="0">
                <a:solidFill>
                  <a:schemeClr val="tx1"/>
                </a:solidFill>
                <a:latin typeface="Segoe UI" panose="020B0502040204020203" pitchFamily="34" charset="0"/>
                <a:cs typeface="Segoe UI" panose="020B0502040204020203" pitchFamily="34" charset="0"/>
              </a:rPr>
              <a:t> → Confidence score + </a:t>
            </a:r>
            <a:r>
              <a:rPr lang="fr-FR" sz="1000" dirty="0" err="1">
                <a:solidFill>
                  <a:schemeClr val="tx1"/>
                </a:solidFill>
                <a:latin typeface="Segoe UI" panose="020B0502040204020203" pitchFamily="34" charset="0"/>
                <a:cs typeface="Segoe UI" panose="020B0502040204020203" pitchFamily="34" charset="0"/>
              </a:rPr>
              <a:t>rationale</a:t>
            </a:r>
            <a:endParaRPr lang="fr-FR" sz="1000" dirty="0">
              <a:solidFill>
                <a:schemeClr val="tx1"/>
              </a:solidFill>
              <a:latin typeface="Segoe UI" panose="020B0502040204020203" pitchFamily="34" charset="0"/>
              <a:cs typeface="Segoe UI" panose="020B0502040204020203" pitchFamily="34" charset="0"/>
            </a:endParaRPr>
          </a:p>
          <a:p>
            <a:pPr marR="0" lvl="0" defTabSz="914400" rtl="0" eaLnBrk="0" fontAlgn="base" latinLnBrk="0" hangingPunct="0">
              <a:lnSpc>
                <a:spcPct val="100000"/>
              </a:lnSpc>
              <a:spcBef>
                <a:spcPct val="0"/>
              </a:spcBef>
              <a:spcAft>
                <a:spcPct val="0"/>
              </a:spcAft>
              <a:buClrTx/>
              <a:buSzTx/>
              <a:tabLst/>
            </a:pPr>
            <a:endParaRPr lang="fr-FR" sz="1000" dirty="0">
              <a:solidFill>
                <a:schemeClr val="tx1"/>
              </a:solidFill>
              <a:latin typeface="Segoe UI" panose="020B0502040204020203" pitchFamily="34" charset="0"/>
              <a:cs typeface="Segoe UI" panose="020B0502040204020203" pitchFamily="34" charset="0"/>
            </a:endParaRPr>
          </a:p>
        </p:txBody>
      </p:sp>
      <p:sp>
        <p:nvSpPr>
          <p:cNvPr id="21" name="Rectangle 20">
            <a:extLst>
              <a:ext uri="{FF2B5EF4-FFF2-40B4-BE49-F238E27FC236}">
                <a16:creationId xmlns:a16="http://schemas.microsoft.com/office/drawing/2014/main" id="{3924C2BA-3941-41EA-A6D8-1A30B924FF3F}"/>
              </a:ext>
            </a:extLst>
          </p:cNvPr>
          <p:cNvSpPr/>
          <p:nvPr/>
        </p:nvSpPr>
        <p:spPr>
          <a:xfrm>
            <a:off x="6416113" y="3989040"/>
            <a:ext cx="2550000" cy="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000" dirty="0">
                <a:solidFill>
                  <a:schemeClr val="tx1"/>
                </a:solidFill>
                <a:latin typeface="Segoe UI" panose="020B0502040204020203" pitchFamily="34" charset="0"/>
                <a:cs typeface="Segoe UI" panose="020B0502040204020203" pitchFamily="34" charset="0"/>
              </a:rPr>
              <a:t>Très flexible, avec coûts/durées d’inférence supérieurs, mais avec des </a:t>
            </a:r>
            <a:r>
              <a:rPr lang="fr-FR" sz="1000" b="1" dirty="0">
                <a:solidFill>
                  <a:schemeClr val="tx1"/>
                </a:solidFill>
                <a:latin typeface="Segoe UI" panose="020B0502040204020203" pitchFamily="34" charset="0"/>
                <a:cs typeface="Segoe UI" panose="020B0502040204020203" pitchFamily="34" charset="0"/>
              </a:rPr>
              <a:t>risques d’hallucination</a:t>
            </a:r>
          </a:p>
        </p:txBody>
      </p:sp>
      <p:sp>
        <p:nvSpPr>
          <p:cNvPr id="22" name="Rectangle 21">
            <a:extLst>
              <a:ext uri="{FF2B5EF4-FFF2-40B4-BE49-F238E27FC236}">
                <a16:creationId xmlns:a16="http://schemas.microsoft.com/office/drawing/2014/main" id="{6E9E59B4-267E-4DC0-8278-AC5F10DEDC5C}"/>
              </a:ext>
            </a:extLst>
          </p:cNvPr>
          <p:cNvSpPr/>
          <p:nvPr/>
        </p:nvSpPr>
        <p:spPr>
          <a:xfrm>
            <a:off x="836113" y="1658064"/>
            <a:ext cx="2550000" cy="56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tx1"/>
                </a:solidFill>
                <a:latin typeface="Segoe UI" panose="020B0502040204020203" pitchFamily="34" charset="0"/>
                <a:cs typeface="Segoe UI" panose="020B0502040204020203" pitchFamily="34" charset="0"/>
              </a:rPr>
              <a:t>Scénario 0 : Exploiter sur les saisies cluster qui demandent une opération humaine systématique</a:t>
            </a:r>
          </a:p>
        </p:txBody>
      </p:sp>
      <p:sp>
        <p:nvSpPr>
          <p:cNvPr id="23" name="Rectangle 22">
            <a:extLst>
              <a:ext uri="{FF2B5EF4-FFF2-40B4-BE49-F238E27FC236}">
                <a16:creationId xmlns:a16="http://schemas.microsoft.com/office/drawing/2014/main" id="{6D407F68-74B1-49D0-BEA9-2F318B209EF0}"/>
              </a:ext>
            </a:extLst>
          </p:cNvPr>
          <p:cNvSpPr/>
          <p:nvPr/>
        </p:nvSpPr>
        <p:spPr>
          <a:xfrm>
            <a:off x="836113" y="2300000"/>
            <a:ext cx="2550000"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Sur certaine saisie, il est parfois demandé d’effectuer un contrôle humain </a:t>
            </a:r>
            <a:r>
              <a:rPr lang="fr-FR" sz="1000" b="1" dirty="0">
                <a:solidFill>
                  <a:schemeClr val="tx1"/>
                </a:solidFill>
                <a:latin typeface="Segoe UI" panose="020B0502040204020203" pitchFamily="34" charset="0"/>
                <a:cs typeface="Segoe UI" panose="020B0502040204020203" pitchFamily="34" charset="0"/>
              </a:rPr>
              <a:t>indépendamment du score d’extraction </a:t>
            </a:r>
            <a:r>
              <a:rPr lang="fr-FR" sz="1000" dirty="0">
                <a:solidFill>
                  <a:schemeClr val="tx1"/>
                </a:solidFill>
                <a:latin typeface="Segoe UI" panose="020B0502040204020203" pitchFamily="34" charset="0"/>
                <a:cs typeface="Segoe UI" panose="020B0502040204020203" pitchFamily="34" charset="0"/>
              </a:rPr>
              <a:t>(ex : saisie cluster sur les bilans)</a:t>
            </a:r>
          </a:p>
        </p:txBody>
      </p:sp>
      <p:sp>
        <p:nvSpPr>
          <p:cNvPr id="24" name="Rectangle 23">
            <a:extLst>
              <a:ext uri="{FF2B5EF4-FFF2-40B4-BE49-F238E27FC236}">
                <a16:creationId xmlns:a16="http://schemas.microsoft.com/office/drawing/2014/main" id="{ACE7BA14-375A-4DB6-A1C9-E49C2DAEB299}"/>
              </a:ext>
            </a:extLst>
          </p:cNvPr>
          <p:cNvSpPr/>
          <p:nvPr/>
        </p:nvSpPr>
        <p:spPr>
          <a:xfrm>
            <a:off x="836113" y="3989040"/>
            <a:ext cx="2550000" cy="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000" dirty="0">
                <a:solidFill>
                  <a:schemeClr val="tx1"/>
                </a:solidFill>
                <a:latin typeface="Segoe UI" panose="020B0502040204020203" pitchFamily="34" charset="0"/>
                <a:cs typeface="Segoe UI" panose="020B0502040204020203" pitchFamily="34" charset="0"/>
              </a:rPr>
              <a:t>Rapide à mettre en œuvre et le ROI peut être évalué rapidement</a:t>
            </a:r>
          </a:p>
          <a:p>
            <a:pPr algn="ctr" eaLnBrk="0" fontAlgn="base" hangingPunct="0">
              <a:spcBef>
                <a:spcPct val="0"/>
              </a:spcBef>
              <a:spcAft>
                <a:spcPct val="0"/>
              </a:spcAft>
            </a:pPr>
            <a:r>
              <a:rPr lang="fr-FR" sz="1000" b="1" dirty="0">
                <a:solidFill>
                  <a:schemeClr val="tx1"/>
                </a:solidFill>
                <a:latin typeface="Segoe UI" panose="020B0502040204020203" pitchFamily="34" charset="0"/>
                <a:cs typeface="Segoe UI" panose="020B0502040204020203" pitchFamily="34" charset="0"/>
              </a:rPr>
              <a:t>Ne couvre pas tous les cas</a:t>
            </a:r>
          </a:p>
        </p:txBody>
      </p:sp>
      <p:sp>
        <p:nvSpPr>
          <p:cNvPr id="50" name="Rectangle S3 Header"/>
          <p:cNvSpPr/>
          <p:nvPr/>
        </p:nvSpPr>
        <p:spPr>
          <a:xfrm>
            <a:off x="9206113" y="1658064"/>
            <a:ext cx="2550000" cy="56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tx1"/>
                </a:solidFill>
                <a:latin typeface="Segoe UI" panose="020B0502040204020203" pitchFamily="34" charset="0"/>
                <a:cs typeface="Segoe UI" panose="020B0502040204020203" pitchFamily="34" charset="0"/>
              </a:rPr>
              <a:t>Scénario 3 : Score de </a:t>
            </a:r>
            <a:r>
              <a:rPr lang="fr-FR" sz="900" b="1">
                <a:solidFill>
                  <a:schemeClr val="tx1"/>
                </a:solidFill>
                <a:latin typeface="Segoe UI" panose="020B0502040204020203" pitchFamily="34" charset="0"/>
                <a:cs typeface="Segoe UI" panose="020B0502040204020203" pitchFamily="34" charset="0"/>
              </a:rPr>
              <a:t>confiance statistique</a:t>
            </a:r>
            <a:endParaRPr lang="fr-FR" sz="900" b="1" dirty="0">
              <a:solidFill>
                <a:schemeClr val="tx1"/>
              </a:solidFill>
              <a:latin typeface="Segoe UI" panose="020B0502040204020203" pitchFamily="34" charset="0"/>
              <a:cs typeface="Segoe UI" panose="020B0502040204020203" pitchFamily="34" charset="0"/>
            </a:endParaRPr>
          </a:p>
        </p:txBody>
      </p:sp>
      <p:sp>
        <p:nvSpPr>
          <p:cNvPr id="51" name="Rectangle S3 Body"/>
          <p:cNvSpPr/>
          <p:nvPr/>
        </p:nvSpPr>
        <p:spPr>
          <a:xfrm>
            <a:off x="9206113" y="2300000"/>
            <a:ext cx="2550000"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pPr>
            <a:r>
              <a:rPr lang="fr-FR" sz="900" dirty="0">
                <a:solidFill>
                  <a:schemeClr val="tx1"/>
                </a:solidFill>
                <a:latin typeface="Segoe UI" panose="020B0502040204020203" pitchFamily="34" charset="0"/>
                <a:cs typeface="Segoe UI" panose="020B0502040204020203" pitchFamily="34" charset="0"/>
              </a:rPr>
              <a:t>Saisie par les opérateurs sans score, puis comparaison a posteriori des résultats.</a:t>
            </a:r>
          </a:p>
          <a:p>
            <a:pPr marL="0" marR="0" lvl="0" indent="0" algn="l" defTabSz="914400" rtl="0" eaLnBrk="0" fontAlgn="base" latinLnBrk="0" hangingPunct="0">
              <a:lnSpc>
                <a:spcPct val="100000"/>
              </a:lnSpc>
              <a:spcBef>
                <a:spcPts val="400"/>
              </a:spcBef>
              <a:spcAft>
                <a:spcPct val="0"/>
              </a:spcAft>
              <a:buNone/>
            </a:pPr>
            <a:r>
              <a:rPr lang="fr-FR" sz="900" b="1" dirty="0">
                <a:solidFill>
                  <a:schemeClr val="tx1"/>
                </a:solidFill>
                <a:latin typeface="Segoe UI" panose="020B0502040204020203" pitchFamily="34" charset="0"/>
                <a:cs typeface="Segoe UI" panose="020B0502040204020203" pitchFamily="34" charset="0"/>
              </a:rPr>
              <a:t>Principe : </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Comparer la valeur extraite à la valeur corrigée (modifié vs vrai).</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En déduire un taux de fiabilité par champ = score de confiance.</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Outillage VT / TAGTIC déjà disponible.</a:t>
            </a:r>
          </a:p>
        </p:txBody>
      </p:sp>
      <p:sp>
        <p:nvSpPr>
          <p:cNvPr id="52" name="Rectangle S3 Footer"/>
          <p:cNvSpPr/>
          <p:nvPr/>
        </p:nvSpPr>
        <p:spPr>
          <a:xfrm>
            <a:off x="9206113" y="3989040"/>
            <a:ext cx="2550000" cy="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dirty="0">
                <a:solidFill>
                  <a:schemeClr val="tx1"/>
                </a:solidFill>
                <a:latin typeface="Segoe UI" panose="020B0502040204020203" pitchFamily="34" charset="0"/>
                <a:cs typeface="Segoe UI" panose="020B0502040204020203" pitchFamily="34" charset="0"/>
              </a:rPr>
              <a:t>Score ancré sur la </a:t>
            </a:r>
            <a:r>
              <a:rPr lang="fr-FR" sz="900" b="1" dirty="0">
                <a:solidFill>
                  <a:schemeClr val="tx1"/>
                </a:solidFill>
                <a:latin typeface="Segoe UI" panose="020B0502040204020203" pitchFamily="34" charset="0"/>
                <a:cs typeface="Segoe UI" panose="020B0502040204020203" pitchFamily="34" charset="0"/>
              </a:rPr>
              <a:t>réalité métier, mais a posteriori</a:t>
            </a:r>
          </a:p>
        </p:txBody>
      </p:sp>
      <p:sp>
        <p:nvSpPr>
          <p:cNvPr id="3" name="ZoneTexte 2">
            <a:extLst>
              <a:ext uri="{FF2B5EF4-FFF2-40B4-BE49-F238E27FC236}">
                <a16:creationId xmlns:a16="http://schemas.microsoft.com/office/drawing/2014/main" id="{0FBF50AB-07E5-4E00-A6AE-95F94304ECCA}"/>
              </a:ext>
            </a:extLst>
          </p:cNvPr>
          <p:cNvSpPr txBox="1"/>
          <p:nvPr/>
        </p:nvSpPr>
        <p:spPr>
          <a:xfrm>
            <a:off x="836113" y="5520690"/>
            <a:ext cx="8650787" cy="830997"/>
          </a:xfrm>
          <a:prstGeom prst="rect">
            <a:avLst/>
          </a:prstGeom>
          <a:noFill/>
        </p:spPr>
        <p:txBody>
          <a:bodyPr wrap="square" rtlCol="0">
            <a:spAutoFit/>
          </a:bodyPr>
          <a:lstStyle/>
          <a:p>
            <a:r>
              <a:rPr lang="fr-FR" sz="1600" u="sng" dirty="0">
                <a:solidFill>
                  <a:srgbClr val="0C4392"/>
                </a:solidFill>
                <a:latin typeface="Segoe UI" panose="020B0502040204020203" pitchFamily="34" charset="0"/>
                <a:cs typeface="Segoe UI" panose="020B0502040204020203" pitchFamily="34" charset="0"/>
              </a:rPr>
              <a:t>Préconisation</a:t>
            </a:r>
            <a:r>
              <a:rPr lang="fr-FR" sz="1600" dirty="0">
                <a:solidFill>
                  <a:srgbClr val="0C4392"/>
                </a:solidFill>
                <a:latin typeface="Segoe UI" panose="020B0502040204020203" pitchFamily="34" charset="0"/>
                <a:cs typeface="Segoe UI" panose="020B0502040204020203" pitchFamily="34" charset="0"/>
              </a:rPr>
              <a:t> : Scénario 0 + POC sur scénario X</a:t>
            </a:r>
          </a:p>
          <a:p>
            <a:pPr marL="285750" indent="-285750">
              <a:buFont typeface="Arial" panose="020B0604020202020204" pitchFamily="34" charset="0"/>
              <a:buChar char="•"/>
            </a:pPr>
            <a:r>
              <a:rPr lang="fr-FR" sz="1600" dirty="0">
                <a:solidFill>
                  <a:srgbClr val="0C4392"/>
                </a:solidFill>
                <a:latin typeface="Segoe UI" panose="020B0502040204020203" pitchFamily="34" charset="0"/>
                <a:cs typeface="Segoe UI" panose="020B0502040204020203" pitchFamily="34" charset="0"/>
              </a:rPr>
              <a:t>Pour tous les besoins sans score de confiance : scénario 0,</a:t>
            </a:r>
          </a:p>
          <a:p>
            <a:pPr marL="285750" indent="-285750">
              <a:buFont typeface="Arial" panose="020B0604020202020204" pitchFamily="34" charset="0"/>
              <a:buChar char="•"/>
            </a:pPr>
            <a:r>
              <a:rPr lang="fr-FR" sz="1600" dirty="0">
                <a:solidFill>
                  <a:srgbClr val="0C4392"/>
                </a:solidFill>
                <a:latin typeface="Segoe UI" panose="020B0502040204020203" pitchFamily="34" charset="0"/>
                <a:cs typeface="Segoe UI" panose="020B0502040204020203" pitchFamily="34" charset="0"/>
              </a:rPr>
              <a:t>Quand pas besoin de score de confiance, xxx, </a:t>
            </a:r>
          </a:p>
        </p:txBody>
      </p:sp>
      <p:sp>
        <p:nvSpPr>
          <p:cNvPr id="17" name="ZoneTexte 16">
            <a:extLst>
              <a:ext uri="{FF2B5EF4-FFF2-40B4-BE49-F238E27FC236}">
                <a16:creationId xmlns:a16="http://schemas.microsoft.com/office/drawing/2014/main" id="{FD33C62B-42F1-4A19-A82C-EBEA5E16139F}"/>
              </a:ext>
            </a:extLst>
          </p:cNvPr>
          <p:cNvSpPr txBox="1"/>
          <p:nvPr/>
        </p:nvSpPr>
        <p:spPr>
          <a:xfrm>
            <a:off x="12192000" y="2413337"/>
            <a:ext cx="2377852" cy="1015663"/>
          </a:xfrm>
          <a:prstGeom prst="rect">
            <a:avLst/>
          </a:prstGeom>
          <a:noFill/>
        </p:spPr>
        <p:txBody>
          <a:bodyPr wrap="square" rtlCol="0">
            <a:spAutoFit/>
          </a:bodyPr>
          <a:lstStyle/>
          <a:p>
            <a:r>
              <a:rPr lang="fr-FR" sz="1200" b="1" dirty="0">
                <a:solidFill>
                  <a:srgbClr val="0C4392"/>
                </a:solidFill>
                <a:latin typeface="Segoe UI" panose="020B0502040204020203" pitchFamily="34" charset="0"/>
                <a:cs typeface="Segoe UI" panose="020B0502040204020203" pitchFamily="34" charset="0"/>
              </a:rPr>
              <a:t>Voir si besoin du score de confiance</a:t>
            </a:r>
          </a:p>
          <a:p>
            <a:pPr marL="171450" indent="-171450">
              <a:buFont typeface="Wingdings" panose="05000000000000000000" pitchFamily="2" charset="2"/>
              <a:buChar char="Ø"/>
            </a:pPr>
            <a:r>
              <a:rPr lang="fr-FR" sz="1200" b="1" dirty="0">
                <a:solidFill>
                  <a:srgbClr val="0C4392"/>
                </a:solidFill>
                <a:latin typeface="Segoe UI" panose="020B0502040204020203" pitchFamily="34" charset="0"/>
                <a:cs typeface="Segoe UI" panose="020B0502040204020203" pitchFamily="34" charset="0"/>
              </a:rPr>
              <a:t>Quels cas d’usage on aurait besoin du score de confiance ?</a:t>
            </a:r>
          </a:p>
        </p:txBody>
      </p:sp>
    </p:spTree>
    <p:extLst>
      <p:ext uri="{BB962C8B-B14F-4D97-AF65-F5344CB8AC3E}">
        <p14:creationId xmlns:p14="http://schemas.microsoft.com/office/powerpoint/2010/main" val="4201606615"/>
      </p:ext>
    </p:extLst>
  </p:cSld>
  <p:clrMapOvr>
    <a:masterClrMapping/>
  </p:clrMapOvr>
</p:sld>
</file>

<file path=ppt/theme/theme1.xml><?xml version="1.0" encoding="utf-8"?>
<a:theme xmlns:a="http://schemas.openxmlformats.org/drawingml/2006/main" name="1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support_formation.pptx" id="{FC8938AE-3DEC-44F8-93B0-AA7B42287810}" vid="{67FF885F-2E36-427C-A700-E19870749266}"/>
    </a:ext>
  </a:extLst>
</a:theme>
</file>

<file path=ppt/theme/theme2.xml><?xml version="1.0" encoding="utf-8"?>
<a:theme xmlns:a="http://schemas.openxmlformats.org/drawingml/2006/main" name="Thème1">
  <a:themeElements>
    <a:clrScheme name="Custom 3">
      <a:dk1>
        <a:srgbClr val="000000"/>
      </a:dk1>
      <a:lt1>
        <a:srgbClr val="FFFFFF"/>
      </a:lt1>
      <a:dk2>
        <a:srgbClr val="44546A"/>
      </a:dk2>
      <a:lt2>
        <a:srgbClr val="E7E6E6"/>
      </a:lt2>
      <a:accent1>
        <a:srgbClr val="0E4194"/>
      </a:accent1>
      <a:accent2>
        <a:srgbClr val="E40613"/>
      </a:accent2>
      <a:accent3>
        <a:srgbClr val="A5A5A5"/>
      </a:accent3>
      <a:accent4>
        <a:srgbClr val="007B81"/>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marL="171450" indent="-171450" algn="l">
          <a:buFont typeface="Arial" panose="020B0604020202020204" pitchFamily="34" charset="0"/>
          <a:buChar char="•"/>
          <a:defRPr sz="12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Quantum_Business Case_Approach &amp; Timeline V.3.1" id="{5EECDFF5-D0BA-C945-BD95-8BA53C6B4E52}" vid="{789D138D-4F33-B548-9A05-51F0AC8B2FB7}"/>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PJQFUVHKSAJQ-1373287592-264195</_dlc_DocId>
    <_dlc_DocIdUrl xmlns="9da6f561-6c40-462f-af3e-6833fe74929f">
      <Url>https://moss-si.cm-cic.fr/Sites/D00116/Documentation/_layouts/15/DocIdRedir.aspx?ID=PJQFUVHKSAJQ-1373287592-264195</Url>
      <Description>PJQFUVHKSAJQ-1373287592-264195</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EC20321C-A03F-4F49-A9C2-F14EF749603B}">
  <ds:schemaRefs>
    <ds:schemaRef ds:uri="http://schemas.microsoft.com/sharepoint/v3/contenttype/forms"/>
  </ds:schemaRefs>
</ds:datastoreItem>
</file>

<file path=customXml/itemProps2.xml><?xml version="1.0" encoding="utf-8"?>
<ds:datastoreItem xmlns:ds="http://schemas.openxmlformats.org/officeDocument/2006/customXml" ds:itemID="{8ADBD462-6937-403A-AAB3-D84BA26E5F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075BA0-91C9-459B-92C2-AA1AE2F039CC}">
  <ds:schemaRefs>
    <ds:schemaRef ds:uri="http://schemas.microsoft.com/office/2006/metadata/properties"/>
    <ds:schemaRef ds:uri="http://purl.org/dc/elements/1.1/"/>
    <ds:schemaRef ds:uri="http://schemas.microsoft.com/office/2006/documentManagement/types"/>
    <ds:schemaRef ds:uri="99cee9d7-070e-44dd-ab97-3503062ab504"/>
    <ds:schemaRef ds:uri="8ff6ca53-9990-4cf6-aa9b-81190a5c5371"/>
    <ds:schemaRef ds:uri="http://schemas.microsoft.com/sharepoint/v3"/>
    <ds:schemaRef ds:uri="http://schemas.microsoft.com/office/infopath/2007/PartnerControls"/>
    <ds:schemaRef ds:uri="http://schemas.openxmlformats.org/package/2006/metadata/core-properties"/>
    <ds:schemaRef ds:uri="http://purl.org/dc/dcmitype/"/>
    <ds:schemaRef ds:uri="http://schemas.microsoft.com/sharepoint/v4"/>
    <ds:schemaRef ds:uri="9da6f561-6c40-462f-af3e-6833fe74929f"/>
    <ds:schemaRef ds:uri="http://www.w3.org/XML/1998/namespace"/>
    <ds:schemaRef ds:uri="http://purl.org/dc/terms/"/>
  </ds:schemaRefs>
</ds:datastoreItem>
</file>

<file path=customXml/itemProps4.xml><?xml version="1.0" encoding="utf-8"?>
<ds:datastoreItem xmlns:ds="http://schemas.openxmlformats.org/officeDocument/2006/customXml" ds:itemID="{00FD0BBD-EDEB-4CD6-9CC8-875E3D02A543}">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16128</TotalTime>
  <Words>1197</Words>
  <Application>Microsoft Office PowerPoint</Application>
  <PresentationFormat>Grand écran</PresentationFormat>
  <Paragraphs>111</Paragraphs>
  <Slides>5</Slides>
  <Notes>4</Notes>
  <HiddenSlides>0</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5</vt:i4>
      </vt:variant>
    </vt:vector>
  </HeadingPairs>
  <TitlesOfParts>
    <vt:vector size="15" baseType="lpstr">
      <vt:lpstr>Arial</vt:lpstr>
      <vt:lpstr>Calibri</vt:lpstr>
      <vt:lpstr>Segoe UI</vt:lpstr>
      <vt:lpstr>Segoe UI Light</vt:lpstr>
      <vt:lpstr>Swis721 BT Roman</vt:lpstr>
      <vt:lpstr>Swis721 Lt BT</vt:lpstr>
      <vt:lpstr>Wingdings</vt:lpstr>
      <vt:lpstr>Wingdings 3</vt:lpstr>
      <vt:lpstr>1_Thème Office</vt:lpstr>
      <vt:lpstr>Thème1</vt:lpstr>
      <vt:lpstr>[Refonte SyoReader]  Pré-cadrage</vt:lpstr>
      <vt:lpstr>[Refonte SyoReader] - Contexte</vt:lpstr>
      <vt:lpstr>[Refonte SyoReader] - Contexte</vt:lpstr>
      <vt:lpstr>[Refonte SyoReader] - Contexte</vt:lpstr>
      <vt:lpstr>[Refonte SyoReader] - Contexte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de Confiance (IAC)</dc:title>
  <dc:creator>BELIN Valentin (PRESTA EXT)</dc:creator>
  <cp:lastModifiedBy>PAGE Bastien (PRESTA EXT)</cp:lastModifiedBy>
  <cp:revision>286</cp:revision>
  <dcterms:created xsi:type="dcterms:W3CDTF">2025-10-06T09:05:57Z</dcterms:created>
  <dcterms:modified xsi:type="dcterms:W3CDTF">2026-06-30T17:01:58Z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ROBIN">
    <vt:lpwstr/>
  </property>
  <property fmtid="{D5CDD505-2E9C-101B-9397-08002B2CF9AE}" pid="5" name="Nature du document">
    <vt:lpwstr>1;#Document|f926a2be-6740-4577-ba49-e4b230c74a1c</vt:lpwstr>
  </property>
  <property fmtid="{D5CDD505-2E9C-101B-9397-08002B2CF9AE}" pid="6" name="Classification">
    <vt:lpwstr>2;#10 - Interne|88571201-3d77-41d7-bf2a-abb247897d97</vt:lpwstr>
  </property>
  <property fmtid="{D5CDD505-2E9C-101B-9397-08002B2CF9AE}" pid="7" name="_dlc_DocIdItemGuid">
    <vt:lpwstr>b4689213-5034-4e88-afd9-6251ba529d6d</vt:lpwstr>
  </property>
</Properties>
</file>