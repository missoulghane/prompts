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5"/>
  </p:sldMasterIdLst>
  <p:notesMasterIdLst>
    <p:notesMasterId r:id="rId21"/>
  </p:notesMasterIdLst>
  <p:handoutMasterIdLst>
    <p:handoutMasterId r:id="rId22"/>
  </p:handoutMasterIdLst>
  <p:sldIdLst>
    <p:sldId id="256" r:id="rId12"/>
  </p:sldIdLst>
  <p:sldSz cx="24384000" cy="13716000"/>
  <p:notesSz cx="6858000" cy="9144000"/>
  <p:defaultTextStyle>
    <a:defPPr>
      <a:defRPr lang="fr-F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447"/>
    <a:srgbClr val="F3F4F4"/>
    <a:srgbClr val="E06206"/>
    <a:srgbClr val="173456"/>
    <a:srgbClr val="E4E5E6"/>
    <a:srgbClr val="F1F1F2"/>
    <a:srgbClr val="E7473D"/>
    <a:srgbClr val="003A8D"/>
    <a:srgbClr val="0C4392"/>
    <a:srgbClr val="F252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86219" autoAdjust="0"/>
  </p:normalViewPr>
  <p:slideViewPr>
    <p:cSldViewPr snapToGrid="0">
      <p:cViewPr varScale="1">
        <p:scale>
          <a:sx n="50" d="100"/>
          <a:sy n="50" d="100"/>
        </p:scale>
        <p:origin x="1050" y="7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7" d="100"/>
          <a:sy n="87" d="100"/>
        </p:scale>
        <p:origin x="3764" y="4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12" Type="http://schemas.openxmlformats.org/officeDocument/2006/relationships/slide" Target="slides/slide1.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7FAA41-04A4-4F23-9A5A-315CEFE51309}" type="datetimeFigureOut">
              <a:rPr lang="fr-FR" smtClean="0"/>
              <a:t>03/09/2026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93FF8F-81A3-4133-BC52-824576C0FAB7}" type="slidenum">
              <a:rPr lang="fr-FR" smtClean="0"/>
              <a:t>‹N°›</a:t>
            </a:fld>
            <a:endParaRPr lang="fr-FR"/>
          </a:p>
        </p:txBody>
      </p:sp>
    </p:spTree>
    <p:extLst>
      <p:ext uri="{BB962C8B-B14F-4D97-AF65-F5344CB8AC3E}">
        <p14:creationId xmlns:p14="http://schemas.microsoft.com/office/powerpoint/2010/main" val="2429991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es commentaires 4"/>
          <p:cNvSpPr>
            <a:spLocks noGrp="1"/>
          </p:cNvSpPr>
          <p:nvPr>
            <p:ph type="body" sz="quarter" idx="3"/>
          </p:nvPr>
        </p:nvSpPr>
        <p:spPr>
          <a:xfrm>
            <a:off x="228600" y="2883984"/>
            <a:ext cx="6428678" cy="5970084"/>
          </a:xfrm>
          <a:prstGeom prst="rect">
            <a:avLst/>
          </a:prstGeom>
        </p:spPr>
        <p:txBody>
          <a:bodyPr vert="horz" lIns="91440" tIns="45720" rIns="91440" bIns="45720" rtlCol="0"/>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u numéro de diapositive 6"/>
          <p:cNvSpPr>
            <a:spLocks noGrp="1"/>
          </p:cNvSpPr>
          <p:nvPr>
            <p:ph type="sldNum" sz="quarter" idx="5"/>
          </p:nvPr>
        </p:nvSpPr>
        <p:spPr>
          <a:xfrm>
            <a:off x="3884613" y="8854068"/>
            <a:ext cx="2971800" cy="289932"/>
          </a:xfrm>
          <a:prstGeom prst="rect">
            <a:avLst/>
          </a:prstGeom>
        </p:spPr>
        <p:txBody>
          <a:bodyPr vert="horz" lIns="91440" tIns="45720" rIns="91440" bIns="45720" rtlCol="0" anchor="b"/>
          <a:lstStyle>
            <a:lvl1pPr algn="r">
              <a:defRPr sz="1100"/>
            </a:lvl1pPr>
          </a:lstStyle>
          <a:p>
            <a:fld id="{B69D4CE5-1A0E-49ED-AA3E-F82EEF3E7B76}" type="slidenum">
              <a:rPr lang="fr-FR" smtClean="0"/>
              <a:pPr/>
              <a:t>‹N°›</a:t>
            </a:fld>
            <a:endParaRPr lang="fr-FR" dirty="0"/>
          </a:p>
        </p:txBody>
      </p:sp>
      <p:sp>
        <p:nvSpPr>
          <p:cNvPr id="8" name="Espace réservé de l'image des diapositives 7"/>
          <p:cNvSpPr>
            <a:spLocks noGrp="1" noRot="1" noChangeAspect="1"/>
          </p:cNvSpPr>
          <p:nvPr>
            <p:ph type="sldImg" idx="2"/>
          </p:nvPr>
        </p:nvSpPr>
        <p:spPr>
          <a:xfrm>
            <a:off x="1076093" y="250902"/>
            <a:ext cx="4510668" cy="2537251"/>
          </a:xfrm>
          <a:prstGeom prst="rect">
            <a:avLst/>
          </a:prstGeom>
          <a:noFill/>
          <a:ln w="12700">
            <a:solidFill>
              <a:prstClr val="black"/>
            </a:solidFill>
          </a:ln>
        </p:spPr>
        <p:txBody>
          <a:bodyPr vert="horz" lIns="91440" tIns="45720" rIns="91440" bIns="45720" rtlCol="0" anchor="ctr"/>
          <a:lstStyle/>
          <a:p>
            <a:endParaRPr lang="fr-FR"/>
          </a:p>
        </p:txBody>
      </p:sp>
    </p:spTree>
    <p:extLst>
      <p:ext uri="{BB962C8B-B14F-4D97-AF65-F5344CB8AC3E}">
        <p14:creationId xmlns:p14="http://schemas.microsoft.com/office/powerpoint/2010/main" val="3817531586"/>
      </p:ext>
    </p:extLst>
  </p:cSld>
  <p:clrMap bg1="lt1" tx1="dk1" bg2="lt2" tx2="dk2" accent1="accent1" accent2="accent2" accent3="accent3" accent4="accent4" accent5="accent5" accent6="accent6" hlink="hlink" folHlink="folHlink"/>
  <p:hf hdr="0" ftr="0" dt="0"/>
  <p:notesStyle>
    <a:lvl1pPr marL="0" algn="l" defTabSz="1828800" rtl="0" eaLnBrk="1" latinLnBrk="0" hangingPunct="1">
      <a:defRPr sz="1100" kern="1200">
        <a:solidFill>
          <a:schemeClr val="tx1"/>
        </a:solidFill>
        <a:latin typeface="+mn-lt"/>
        <a:ea typeface="+mn-ea"/>
        <a:cs typeface="Arial" panose="020B0604020202020204" pitchFamily="34" charset="0"/>
      </a:defRPr>
    </a:lvl1pPr>
    <a:lvl2pPr marL="177800" indent="0" algn="l" defTabSz="1828800" rtl="0" eaLnBrk="1" latinLnBrk="0" hangingPunct="1">
      <a:defRPr sz="1100" kern="1200">
        <a:solidFill>
          <a:schemeClr val="tx1"/>
        </a:solidFill>
        <a:latin typeface="+mn-lt"/>
        <a:ea typeface="+mn-ea"/>
        <a:cs typeface="Arial" panose="020B0604020202020204" pitchFamily="34" charset="0"/>
      </a:defRPr>
    </a:lvl2pPr>
    <a:lvl3pPr marL="357188" indent="0" algn="l" defTabSz="1828800" rtl="0" eaLnBrk="1" latinLnBrk="0" hangingPunct="1">
      <a:defRPr sz="1100" kern="1200">
        <a:solidFill>
          <a:schemeClr val="tx1"/>
        </a:solidFill>
        <a:latin typeface="+mn-lt"/>
        <a:ea typeface="+mn-ea"/>
        <a:cs typeface="Arial" panose="020B0604020202020204" pitchFamily="34" charset="0"/>
      </a:defRPr>
    </a:lvl3pPr>
    <a:lvl4pPr marL="534988" indent="0" algn="l" defTabSz="1828800" rtl="0" eaLnBrk="1" latinLnBrk="0" hangingPunct="1">
      <a:defRPr sz="1100" kern="1200">
        <a:solidFill>
          <a:schemeClr val="tx1"/>
        </a:solidFill>
        <a:latin typeface="+mn-lt"/>
        <a:ea typeface="+mn-ea"/>
        <a:cs typeface="Arial" panose="020B0604020202020204" pitchFamily="34" charset="0"/>
      </a:defRPr>
    </a:lvl4pPr>
    <a:lvl5pPr marL="714375" indent="0" algn="l" defTabSz="1828800" rtl="0" eaLnBrk="1" latinLnBrk="0" hangingPunct="1">
      <a:defRPr sz="1100" kern="1200">
        <a:solidFill>
          <a:schemeClr val="tx1"/>
        </a:solidFill>
        <a:latin typeface="+mn-lt"/>
        <a:ea typeface="+mn-ea"/>
        <a:cs typeface="Arial" panose="020B060402020202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6.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8" name="Rectangle à coins arrondis 7"/>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le 1"/>
          <p:cNvSpPr>
            <a:spLocks noGrp="1"/>
          </p:cNvSpPr>
          <p:nvPr>
            <p:ph type="ctrTitle"/>
          </p:nvPr>
        </p:nvSpPr>
        <p:spPr>
          <a:xfrm>
            <a:off x="9760016" y="3305128"/>
            <a:ext cx="11575983" cy="4290912"/>
          </a:xfrm>
          <a:prstGeom prst="rect">
            <a:avLst/>
          </a:prstGeom>
        </p:spPr>
        <p:txBody>
          <a:bodyPr anchor="b"/>
          <a:lstStyle>
            <a:lvl1pPr algn="l">
              <a:defRPr sz="12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9760016" y="7939448"/>
            <a:ext cx="11575983" cy="2576152"/>
          </a:xfrm>
          <a:prstGeom prst="rect">
            <a:avLst/>
          </a:prstGeom>
        </p:spPr>
        <p:txBody>
          <a:bodyPr/>
          <a:lstStyle>
            <a:lvl1pPr marL="0" indent="0" algn="l">
              <a:buNone/>
              <a:defRPr sz="4800">
                <a:solidFill>
                  <a:schemeClr val="bg1">
                    <a:lumMod val="95000"/>
                  </a:schemeClr>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fr-FR" dirty="0"/>
              <a:t>Modifiez le style des sous-titres du masque</a:t>
            </a:r>
            <a:endParaRPr lang="en-US" dirty="0"/>
          </a:p>
        </p:txBody>
      </p:sp>
      <p:sp>
        <p:nvSpPr>
          <p:cNvPr id="9" name="Rectangle 13"/>
          <p:cNvSpPr/>
          <p:nvPr userDrawn="1"/>
        </p:nvSpPr>
        <p:spPr>
          <a:xfrm>
            <a:off x="9760017" y="7717371"/>
            <a:ext cx="10750718" cy="91438"/>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7292" y="12699754"/>
            <a:ext cx="3019608" cy="378968"/>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886213" y="12614543"/>
            <a:ext cx="1062950" cy="549390"/>
          </a:xfrm>
          <a:prstGeom prst="rect">
            <a:avLst/>
          </a:prstGeom>
        </p:spPr>
      </p:pic>
    </p:spTree>
    <p:extLst>
      <p:ext uri="{BB962C8B-B14F-4D97-AF65-F5344CB8AC3E}">
        <p14:creationId xmlns:p14="http://schemas.microsoft.com/office/powerpoint/2010/main" val="286287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124305" y="12306828"/>
            <a:ext cx="1260000" cy="126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1643063" y="2961748"/>
            <a:ext cx="22063075"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1643063" y="1737805"/>
            <a:ext cx="22063075" cy="705913"/>
          </a:xfrm>
          <a:prstGeom prst="rect">
            <a:avLst/>
          </a:prstGeom>
        </p:spPr>
        <p:txBody>
          <a:bodyPr/>
          <a:lstStyle>
            <a:lvl1pPr>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768023860"/>
      </p:ext>
    </p:extLst>
  </p:cSld>
  <p:clrMapOvr>
    <a:masterClrMapping/>
  </p:clrMapOvr>
  <p:extLst>
    <p:ext uri="{DCECCB84-F9BA-43D5-87BE-67443E8EF086}">
      <p15:sldGuideLst xmlns:p15="http://schemas.microsoft.com/office/powerpoint/2012/main">
        <p15:guide id="1" orient="horz" pos="102" userDrawn="1">
          <p15:clr>
            <a:srgbClr val="FBAE40"/>
          </p15:clr>
        </p15:guide>
        <p15:guide id="2" pos="103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7" y="12886262"/>
            <a:ext cx="21031200"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1643064"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12954002"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64910231"/>
      </p:ext>
    </p:extLst>
  </p:cSld>
  <p:clrMapOvr>
    <a:masterClrMapping/>
  </p:clrMapOvr>
  <p:extLst>
    <p:ext uri="{DCECCB84-F9BA-43D5-87BE-67443E8EF086}">
      <p15:sldGuideLst xmlns:p15="http://schemas.microsoft.com/office/powerpoint/2012/main">
        <p15:guide id="1" orient="horz" pos="4456"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254000" y="2478828"/>
            <a:ext cx="23892934" cy="4336838"/>
          </a:xfrm>
          <a:prstGeom prst="rect">
            <a:avLst/>
          </a:prstGeom>
        </p:spPr>
        <p:txBody>
          <a:bodyPr/>
          <a:lstStyle/>
          <a:p>
            <a:r>
              <a:rPr lang="fr-FR"/>
              <a:t>Cliquez sur l'icône pour ajouter une image</a:t>
            </a:r>
          </a:p>
        </p:txBody>
      </p:sp>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6" y="12886262"/>
            <a:ext cx="21014265"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1822450" y="7031036"/>
            <a:ext cx="21867281" cy="5376862"/>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038710184"/>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124305" y="12306828"/>
            <a:ext cx="1260000" cy="126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254000" y="222249"/>
            <a:ext cx="8513763" cy="13259913"/>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9296399" y="12886262"/>
            <a:ext cx="14393333" cy="450851"/>
          </a:xfrm>
          <a:prstGeom prst="rect">
            <a:avLst/>
          </a:prstGeom>
        </p:spPr>
        <p:txBody>
          <a:bodyPr anchor="ctr"/>
          <a:lstStyle>
            <a:lvl1pPr algn="l">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9296399" y="3118849"/>
            <a:ext cx="14393333" cy="8892814"/>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9276798" y="1737805"/>
            <a:ext cx="14429340"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9296399" y="590025"/>
            <a:ext cx="14410267"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1394916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124305" y="12306828"/>
            <a:ext cx="1260000" cy="126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2675465" y="12886262"/>
            <a:ext cx="21031201"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316614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8720665"/>
            <a:ext cx="24384000" cy="2844804"/>
          </a:xfrm>
          <a:prstGeom prst="rect">
            <a:avLst/>
          </a:prstGeom>
          <a:solidFill>
            <a:srgbClr val="0C4392"/>
          </a:solidFill>
        </p:spPr>
        <p:txBody>
          <a:bodyPr anchor="ctr"/>
          <a:lstStyle>
            <a:lvl1pPr algn="ctr">
              <a:defRPr sz="12000">
                <a:solidFill>
                  <a:schemeClr val="bg1"/>
                </a:solidFill>
              </a:defRPr>
            </a:lvl1pPr>
          </a:lstStyle>
          <a:p>
            <a:r>
              <a:rPr lang="fr-FR" dirty="0"/>
              <a:t>Modifiez le style du titre</a:t>
            </a:r>
          </a:p>
        </p:txBody>
      </p:sp>
    </p:spTree>
    <p:extLst>
      <p:ext uri="{BB962C8B-B14F-4D97-AF65-F5344CB8AC3E}">
        <p14:creationId xmlns:p14="http://schemas.microsoft.com/office/powerpoint/2010/main" val="43497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8720665"/>
            <a:ext cx="24384000" cy="2844804"/>
          </a:xfrm>
          <a:prstGeom prst="rect">
            <a:avLst/>
          </a:prstGeom>
          <a:solidFill>
            <a:schemeClr val="bg1">
              <a:alpha val="95000"/>
            </a:schemeClr>
          </a:solidFill>
        </p:spPr>
        <p:txBody>
          <a:bodyPr anchor="ctr"/>
          <a:lstStyle>
            <a:lvl1pPr algn="ctr">
              <a:defRPr sz="12000">
                <a:solidFill>
                  <a:srgbClr val="003A8D"/>
                </a:solidFill>
              </a:defRPr>
            </a:lvl1pPr>
          </a:lstStyle>
          <a:p>
            <a:r>
              <a:rPr lang="fr-FR" dirty="0"/>
              <a:t>Modifiez le style du titre</a:t>
            </a:r>
          </a:p>
        </p:txBody>
      </p:sp>
    </p:spTree>
    <p:extLst>
      <p:ext uri="{BB962C8B-B14F-4D97-AF65-F5344CB8AC3E}">
        <p14:creationId xmlns:p14="http://schemas.microsoft.com/office/powerpoint/2010/main" val="383905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11" name="Rectangle à coins arrondis 10"/>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re 1"/>
          <p:cNvSpPr>
            <a:spLocks noGrp="1"/>
          </p:cNvSpPr>
          <p:nvPr>
            <p:ph type="ctrTitle" hasCustomPrompt="1"/>
          </p:nvPr>
        </p:nvSpPr>
        <p:spPr>
          <a:xfrm>
            <a:off x="9601200" y="2942170"/>
            <a:ext cx="12801600" cy="4775200"/>
          </a:xfrm>
          <a:prstGeom prst="rect">
            <a:avLst/>
          </a:prstGeom>
        </p:spPr>
        <p:txBody>
          <a:bodyPr anchor="b"/>
          <a:lstStyle>
            <a:lvl1pPr algn="l">
              <a:defRPr sz="12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89539" y="12305416"/>
            <a:ext cx="3938794" cy="494328"/>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598482" y="12252211"/>
            <a:ext cx="1386516" cy="716626"/>
          </a:xfrm>
          <a:prstGeom prst="rect">
            <a:avLst/>
          </a:prstGeom>
        </p:spPr>
      </p:pic>
    </p:spTree>
    <p:extLst>
      <p:ext uri="{BB962C8B-B14F-4D97-AF65-F5344CB8AC3E}">
        <p14:creationId xmlns:p14="http://schemas.microsoft.com/office/powerpoint/2010/main" val="36464020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254000" y="203200"/>
            <a:ext cx="23892934" cy="13278963"/>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4" name="Espace réservé du pied de page 4"/>
          <p:cNvSpPr>
            <a:spLocks noGrp="1"/>
          </p:cNvSpPr>
          <p:nvPr>
            <p:ph type="ftr" sz="quarter" idx="3"/>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5497144"/>
      </p:ext>
    </p:extLst>
  </p:cSld>
  <p:clrMap bg1="lt1" tx1="dk1" bg2="lt2" tx2="dk2" accent1="accent1" accent2="accent2" accent3="accent3" accent4="accent4" accent5="accent5" accent6="accent6" hlink="hlink" folHlink="folHlink"/>
  <p:sldLayoutIdLst>
    <p:sldLayoutId id="2147483695" r:id="rId1"/>
    <p:sldLayoutId id="2147483742" r:id="rId2"/>
    <p:sldLayoutId id="2147483745" r:id="rId3"/>
    <p:sldLayoutId id="2147483748" r:id="rId4"/>
    <p:sldLayoutId id="2147483734" r:id="rId5"/>
    <p:sldLayoutId id="2147483736" r:id="rId6"/>
    <p:sldLayoutId id="2147483739" r:id="rId7"/>
    <p:sldLayoutId id="2147483746" r:id="rId8"/>
    <p:sldLayoutId id="2147483718" r:id="rId9"/>
  </p:sldLayoutIdLst>
  <p:hf hdr="0" dt="0"/>
  <p:txStyles>
    <p:titleStyle>
      <a:lvl1pPr algn="l" defTabSz="1828800" rtl="0" eaLnBrk="1" latinLnBrk="0" hangingPunct="1">
        <a:lnSpc>
          <a:spcPct val="90000"/>
        </a:lnSpc>
        <a:spcBef>
          <a:spcPct val="0"/>
        </a:spcBef>
        <a:buNone/>
        <a:defRPr sz="66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1828800" rtl="0" eaLnBrk="1" latinLnBrk="0" hangingPunct="1">
        <a:lnSpc>
          <a:spcPct val="100000"/>
        </a:lnSpc>
        <a:spcBef>
          <a:spcPts val="0"/>
        </a:spcBef>
        <a:buFont typeface="Arial" panose="020B0604020202020204" pitchFamily="34" charset="0"/>
        <a:buNone/>
        <a:defRPr lang="fr-FR" sz="4000" kern="1200" dirty="0" smtClean="0">
          <a:solidFill>
            <a:srgbClr val="003A8D"/>
          </a:solidFill>
          <a:latin typeface="Segoe UI" panose="020B0502040204020203" pitchFamily="34" charset="0"/>
          <a:ea typeface="+mn-ea"/>
          <a:cs typeface="Segoe UI" panose="020B0502040204020203" pitchFamily="34" charset="0"/>
        </a:defRPr>
      </a:lvl1pPr>
      <a:lvl2pPr marL="457200" indent="-457200" algn="l" defTabSz="1828800" rtl="0" eaLnBrk="1" latinLnBrk="0" hangingPunct="1">
        <a:lnSpc>
          <a:spcPct val="100000"/>
        </a:lnSpc>
        <a:spcBef>
          <a:spcPts val="0"/>
        </a:spcBef>
        <a:buClr>
          <a:srgbClr val="E7473D"/>
        </a:buClr>
        <a:buFont typeface="Wingdings 3" panose="05040102010807070707" pitchFamily="18" charset="2"/>
        <a:buChar char=""/>
        <a:defRPr lang="fr-FR" sz="3200" kern="1200" dirty="0" smtClean="0">
          <a:solidFill>
            <a:srgbClr val="285C99"/>
          </a:solidFill>
          <a:latin typeface="Segoe UI" panose="020B0502040204020203" pitchFamily="34" charset="0"/>
          <a:ea typeface="+mn-ea"/>
          <a:cs typeface="Segoe UI" panose="020B0502040204020203" pitchFamily="34" charset="0"/>
        </a:defRPr>
      </a:lvl2pPr>
      <a:lvl3pPr marL="896938" indent="-457200" algn="l" defTabSz="1828800" rtl="0" eaLnBrk="1" latinLnBrk="0" hangingPunct="1">
        <a:lnSpc>
          <a:spcPct val="100000"/>
        </a:lnSpc>
        <a:spcBef>
          <a:spcPts val="0"/>
        </a:spcBef>
        <a:buClr>
          <a:srgbClr val="003A8D"/>
        </a:buClr>
        <a:buFont typeface="Wingdings 3" panose="05040102010807070707" pitchFamily="18" charset="2"/>
        <a:buChar char="}"/>
        <a:defRPr lang="fr-FR" sz="24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1524000" indent="-541338" algn="l" defTabSz="1828800" rtl="0" eaLnBrk="1" latinLnBrk="0" hangingPunct="1">
        <a:lnSpc>
          <a:spcPct val="100000"/>
        </a:lnSpc>
        <a:spcBef>
          <a:spcPts val="0"/>
        </a:spcBef>
        <a:buClr>
          <a:srgbClr val="E7473D"/>
        </a:buClr>
        <a:buFont typeface="Wingdings 3" panose="05040102010807070707" pitchFamily="18" charset="2"/>
        <a:buChar char="}"/>
        <a:defRPr lang="fr-FR" sz="2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Pourquoi structurer par couches ?</a:t>
            </a:r>
          </a:p>
        </p:txBody>
      </p:sp>
      <p:sp>
        <p:nvSpPr>
          <p:cNvPr id="4" name="Text Placeholder 3"/>
          <p:cNvSpPr>
            <a:spLocks noGrp="1"/>
          </p:cNvSpPr>
          <p:nvPr>
            <p:ph type="body" idx="14" sz="quarter"/>
          </p:nvPr>
        </p:nvSpPr>
        <p:spPr/>
        <p:txBody>
          <a:bodyPr/>
          <a:lstStyle/>
          <a:p>
            <a:r>
              <a:t>Quatre regards complémentaires sur un même patrimoine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22037040" cy="1874519"/>
          </a:xfrm>
          <a:prstGeom prst="roundRect">
            <a:avLst>
              <a:gd name="adj" fmla="val 8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6" name="Picture 45" descr="s6_Image_10.png"/>
          <p:cNvPicPr>
            <a:picLocks noChangeAspect="1"/>
          </p:cNvPicPr>
          <p:nvPr/>
        </p:nvPicPr>
        <p:blipFill>
          <a:blip r:embed="rId2"/>
          <a:stretch>
            <a:fillRect/>
          </a:stretch>
        </p:blipFill>
        <p:spPr>
          <a:xfrm>
            <a:off x="2057400" y="3063240"/>
            <a:ext cx="1234440" cy="1234440"/>
          </a:xfrm>
          <a:prstGeom prst="rect">
            <a:avLst/>
          </a:prstGeom>
        </p:spPr>
      </p:pic>
      <p:sp>
        <p:nvSpPr>
          <p:cNvPr id="47" name="TextBox 46"/>
          <p:cNvSpPr txBox="1"/>
          <p:nvPr/>
        </p:nvSpPr>
        <p:spPr>
          <a:xfrm>
            <a:off x="3566160" y="2788920"/>
            <a:ext cx="19842480" cy="1783080"/>
          </a:xfrm>
          <a:prstGeom prst="rect">
            <a:avLst/>
          </a:prstGeom>
          <a:noFill/>
        </p:spPr>
        <p:txBody>
          <a:bodyPr wrap="square" lIns="45720" rIns="45720" anchor="ctr">
            <a:noAutofit/>
          </a:bodyPr>
          <a:lstStyle/>
          <a:p>
            <a:pPr algn="l">
              <a:spcAft>
                <a:spcPts val="400"/>
              </a:spcAft>
              <a:buNone/>
            </a:pPr>
            <a:r>
              <a:rPr sz="2300" b="0" i="0">
                <a:solidFill>
                  <a:srgbClr val="FFFFFF"/>
                </a:solidFill>
                <a:latin typeface="Segoe UI"/>
              </a:rPr>
              <a:t>Sans cadre commun, chaque équipe documente ce qu’elle juge utile, à son niveau : </a:t>
            </a:r>
            <a:r>
              <a:rPr sz="2300" b="0" i="0">
                <a:solidFill>
                  <a:srgbClr val="FFFFFF"/>
                </a:solidFill>
                <a:latin typeface="Segoe UI"/>
              </a:rPr>
              <a:t>les documents ne se répondent pas, se recouvrent en partie et vieillissent séparément. </a:t>
            </a:r>
            <a:r>
              <a:rPr sz="2300" b="1" i="0">
                <a:solidFill>
                  <a:srgbClr val="F4B183"/>
                </a:solidFill>
                <a:latin typeface="Segoe UI"/>
              </a:rPr>
              <a:t>Structurer par couches permet de voir ce qui existe, ce qui manque et qui en est responsable, sans tout documenter partout.</a:t>
            </a:r>
          </a:p>
        </p:txBody>
      </p:sp>
      <p:sp>
        <p:nvSpPr>
          <p:cNvPr id="48" name="Rounded Rectangle 47"/>
          <p:cNvSpPr/>
          <p:nvPr/>
        </p:nvSpPr>
        <p:spPr>
          <a:xfrm>
            <a:off x="1673352" y="4983480"/>
            <a:ext cx="5234940" cy="54406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9" name="Round Same Side Corner Rectangle 48"/>
          <p:cNvSpPr/>
          <p:nvPr/>
        </p:nvSpPr>
        <p:spPr>
          <a:xfrm>
            <a:off x="1673352" y="4983480"/>
            <a:ext cx="5234940" cy="1463040"/>
          </a:xfrm>
          <a:prstGeom prst="round2SameRect">
            <a:avLst>
              <a:gd name="adj1" fmla="val 14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0" name="Oval 49"/>
          <p:cNvSpPr/>
          <p:nvPr/>
        </p:nvSpPr>
        <p:spPr>
          <a:xfrm>
            <a:off x="1947672" y="5349240"/>
            <a:ext cx="731520" cy="7315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51" name="TextBox 50"/>
          <p:cNvSpPr txBox="1"/>
          <p:nvPr/>
        </p:nvSpPr>
        <p:spPr>
          <a:xfrm>
            <a:off x="2862072" y="5029200"/>
            <a:ext cx="3863340" cy="1371600"/>
          </a:xfrm>
          <a:prstGeom prst="rect">
            <a:avLst/>
          </a:prstGeom>
          <a:noFill/>
        </p:spPr>
        <p:txBody>
          <a:bodyPr wrap="square" lIns="45720" rIns="45720" anchor="ctr">
            <a:noAutofit/>
          </a:bodyPr>
          <a:lstStyle/>
          <a:p>
            <a:pPr algn="l">
              <a:spcAft>
                <a:spcPts val="0"/>
              </a:spcAft>
              <a:buNone/>
            </a:pPr>
            <a:r>
              <a:rPr sz="2400" b="1" i="0">
                <a:solidFill>
                  <a:srgbClr val="FFFFFF"/>
                </a:solidFill>
                <a:latin typeface="Segoe UI"/>
              </a:rPr>
              <a:t>Métier</a:t>
            </a:r>
          </a:p>
          <a:p>
            <a:pPr algn="l">
              <a:spcAft>
                <a:spcPts val="400"/>
              </a:spcAft>
              <a:buNone/>
            </a:pPr>
            <a:r>
              <a:rPr sz="1900" b="0" i="1">
                <a:solidFill>
                  <a:srgbClr val="F4B183"/>
                </a:solidFill>
                <a:latin typeface="Segoe UI"/>
              </a:rPr>
              <a:t>Pourquoi ?</a:t>
            </a:r>
          </a:p>
        </p:txBody>
      </p:sp>
      <p:pic>
        <p:nvPicPr>
          <p:cNvPr id="52" name="Picture 51" descr="s4_Image_28.png"/>
          <p:cNvPicPr>
            <a:picLocks noChangeAspect="1"/>
          </p:cNvPicPr>
          <p:nvPr/>
        </p:nvPicPr>
        <p:blipFill>
          <a:blip r:embed="rId3"/>
          <a:stretch>
            <a:fillRect/>
          </a:stretch>
        </p:blipFill>
        <p:spPr>
          <a:xfrm>
            <a:off x="3702504" y="6583680"/>
            <a:ext cx="1176635" cy="1051560"/>
          </a:xfrm>
          <a:prstGeom prst="rect">
            <a:avLst/>
          </a:prstGeom>
        </p:spPr>
      </p:pic>
      <p:sp>
        <p:nvSpPr>
          <p:cNvPr id="53" name="TextBox 52"/>
          <p:cNvSpPr txBox="1"/>
          <p:nvPr/>
        </p:nvSpPr>
        <p:spPr>
          <a:xfrm>
            <a:off x="1993392" y="7772400"/>
            <a:ext cx="4594860" cy="1234440"/>
          </a:xfrm>
          <a:prstGeom prst="rect">
            <a:avLst/>
          </a:prstGeom>
          <a:noFill/>
        </p:spPr>
        <p:txBody>
          <a:bodyPr wrap="square" lIns="45720" rIns="45720" anchor="t">
            <a:noAutofit/>
          </a:bodyPr>
          <a:lstStyle/>
          <a:p>
            <a:pPr algn="l">
              <a:spcAft>
                <a:spcPts val="400"/>
              </a:spcAft>
              <a:buNone/>
            </a:pPr>
            <a:r>
              <a:rPr sz="1900" b="0" i="0">
                <a:solidFill>
                  <a:srgbClr val="404040"/>
                </a:solidFill>
                <a:latin typeface="Segoe UI"/>
              </a:rPr>
              <a:t>Situer les applications dans le processus et la chaîne de valeur : à quoi elles servent et pour quels clients.</a:t>
            </a:r>
          </a:p>
        </p:txBody>
      </p:sp>
      <p:sp>
        <p:nvSpPr>
          <p:cNvPr id="54" name="Rounded Rectangle 53"/>
          <p:cNvSpPr/>
          <p:nvPr/>
        </p:nvSpPr>
        <p:spPr>
          <a:xfrm>
            <a:off x="1947672" y="9006840"/>
            <a:ext cx="4686300" cy="1280160"/>
          </a:xfrm>
          <a:prstGeom prst="roundRect">
            <a:avLst>
              <a:gd name="adj" fmla="val 10000"/>
            </a:avLst>
          </a:prstGeom>
          <a:solidFill>
            <a:srgbClr val="FFFFFF"/>
          </a:solidFill>
          <a:ln w="19050">
            <a:solidFill>
              <a:srgbClr val="E7473D"/>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5" name="TextBox 54"/>
          <p:cNvSpPr txBox="1"/>
          <p:nvPr/>
        </p:nvSpPr>
        <p:spPr>
          <a:xfrm>
            <a:off x="2130552" y="9006840"/>
            <a:ext cx="4320540" cy="1280160"/>
          </a:xfrm>
          <a:prstGeom prst="rect">
            <a:avLst/>
          </a:prstGeom>
          <a:noFill/>
        </p:spPr>
        <p:txBody>
          <a:bodyPr wrap="square" lIns="45720" rIns="45720" anchor="ctr">
            <a:noAutofit/>
          </a:bodyPr>
          <a:lstStyle/>
          <a:p>
            <a:pPr algn="l">
              <a:spcAft>
                <a:spcPts val="200"/>
              </a:spcAft>
              <a:buNone/>
            </a:pPr>
            <a:r>
              <a:rPr sz="1600" b="1" i="0">
                <a:solidFill>
                  <a:srgbClr val="E7473D"/>
                </a:solidFill>
                <a:latin typeface="Segoe UI"/>
              </a:rPr>
              <a:t>Sans cette couche</a:t>
            </a:r>
          </a:p>
          <a:p>
            <a:pPr algn="l">
              <a:spcAft>
                <a:spcPts val="400"/>
              </a:spcAft>
              <a:buNone/>
            </a:pPr>
            <a:r>
              <a:rPr sz="1700" b="0" i="0">
                <a:solidFill>
                  <a:srgbClr val="002060"/>
                </a:solidFill>
                <a:latin typeface="Segoe UI"/>
              </a:rPr>
              <a:t>Impossible d’expliquer à une MOA où commence un appel et où il se termine.</a:t>
            </a:r>
          </a:p>
        </p:txBody>
      </p:sp>
      <p:sp>
        <p:nvSpPr>
          <p:cNvPr id="56" name="Rounded Rectangle 55"/>
          <p:cNvSpPr/>
          <p:nvPr/>
        </p:nvSpPr>
        <p:spPr>
          <a:xfrm>
            <a:off x="7274052" y="4983480"/>
            <a:ext cx="5234940" cy="54406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7" name="Round Same Side Corner Rectangle 56"/>
          <p:cNvSpPr/>
          <p:nvPr/>
        </p:nvSpPr>
        <p:spPr>
          <a:xfrm>
            <a:off x="7274052" y="4983480"/>
            <a:ext cx="5234940" cy="1463040"/>
          </a:xfrm>
          <a:prstGeom prst="round2SameRect">
            <a:avLst>
              <a:gd name="adj1" fmla="val 14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8" name="Oval 57"/>
          <p:cNvSpPr/>
          <p:nvPr/>
        </p:nvSpPr>
        <p:spPr>
          <a:xfrm>
            <a:off x="7548372" y="5349240"/>
            <a:ext cx="731520" cy="7315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59" name="TextBox 58"/>
          <p:cNvSpPr txBox="1"/>
          <p:nvPr/>
        </p:nvSpPr>
        <p:spPr>
          <a:xfrm>
            <a:off x="8462772" y="5029200"/>
            <a:ext cx="3863340" cy="1371600"/>
          </a:xfrm>
          <a:prstGeom prst="rect">
            <a:avLst/>
          </a:prstGeom>
          <a:noFill/>
        </p:spPr>
        <p:txBody>
          <a:bodyPr wrap="square" lIns="45720" rIns="45720" anchor="ctr">
            <a:noAutofit/>
          </a:bodyPr>
          <a:lstStyle/>
          <a:p>
            <a:pPr algn="l">
              <a:spcAft>
                <a:spcPts val="0"/>
              </a:spcAft>
              <a:buNone/>
            </a:pPr>
            <a:r>
              <a:rPr sz="2400" b="1" i="0">
                <a:solidFill>
                  <a:srgbClr val="FFFFFF"/>
                </a:solidFill>
                <a:latin typeface="Segoe UI"/>
              </a:rPr>
              <a:t>Fonctionnel</a:t>
            </a:r>
          </a:p>
          <a:p>
            <a:pPr algn="l">
              <a:spcAft>
                <a:spcPts val="400"/>
              </a:spcAft>
              <a:buNone/>
            </a:pPr>
            <a:r>
              <a:rPr sz="1900" b="0" i="1">
                <a:solidFill>
                  <a:srgbClr val="F4B183"/>
                </a:solidFill>
                <a:latin typeface="Segoe UI"/>
              </a:rPr>
              <a:t>Quelles capacités ?</a:t>
            </a:r>
          </a:p>
        </p:txBody>
      </p:sp>
      <p:pic>
        <p:nvPicPr>
          <p:cNvPr id="60" name="Picture 59" descr="s6_Image_4.png"/>
          <p:cNvPicPr>
            <a:picLocks noChangeAspect="1"/>
          </p:cNvPicPr>
          <p:nvPr/>
        </p:nvPicPr>
        <p:blipFill>
          <a:blip r:embed="rId4"/>
          <a:stretch>
            <a:fillRect/>
          </a:stretch>
        </p:blipFill>
        <p:spPr>
          <a:xfrm>
            <a:off x="9125131" y="6583680"/>
            <a:ext cx="1532782" cy="1051560"/>
          </a:xfrm>
          <a:prstGeom prst="rect">
            <a:avLst/>
          </a:prstGeom>
        </p:spPr>
      </p:pic>
      <p:sp>
        <p:nvSpPr>
          <p:cNvPr id="61" name="TextBox 60"/>
          <p:cNvSpPr txBox="1"/>
          <p:nvPr/>
        </p:nvSpPr>
        <p:spPr>
          <a:xfrm>
            <a:off x="7594092" y="7772400"/>
            <a:ext cx="4594860" cy="1234440"/>
          </a:xfrm>
          <a:prstGeom prst="rect">
            <a:avLst/>
          </a:prstGeom>
          <a:noFill/>
        </p:spPr>
        <p:txBody>
          <a:bodyPr wrap="square" lIns="45720" rIns="45720" anchor="t">
            <a:noAutofit/>
          </a:bodyPr>
          <a:lstStyle/>
          <a:p>
            <a:pPr algn="l">
              <a:spcAft>
                <a:spcPts val="400"/>
              </a:spcAft>
              <a:buNone/>
            </a:pPr>
            <a:r>
              <a:rPr sz="1900" b="0" i="0">
                <a:solidFill>
                  <a:srgbClr val="404040"/>
                </a:solidFill>
                <a:latin typeface="Segoe UI"/>
              </a:rPr>
              <a:t>Décrire ce que le patrimoine sait faire, indépendamment des outils qui le portent. C’est la couche la plus stable dans le temps.</a:t>
            </a:r>
          </a:p>
        </p:txBody>
      </p:sp>
      <p:sp>
        <p:nvSpPr>
          <p:cNvPr id="62" name="Rounded Rectangle 61"/>
          <p:cNvSpPr/>
          <p:nvPr/>
        </p:nvSpPr>
        <p:spPr>
          <a:xfrm>
            <a:off x="7548372" y="9006840"/>
            <a:ext cx="4686300" cy="1280160"/>
          </a:xfrm>
          <a:prstGeom prst="roundRect">
            <a:avLst>
              <a:gd name="adj" fmla="val 10000"/>
            </a:avLst>
          </a:prstGeom>
          <a:solidFill>
            <a:srgbClr val="FFFFFF"/>
          </a:solidFill>
          <a:ln w="19050">
            <a:solidFill>
              <a:srgbClr val="E7473D"/>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3" name="TextBox 62"/>
          <p:cNvSpPr txBox="1"/>
          <p:nvPr/>
        </p:nvSpPr>
        <p:spPr>
          <a:xfrm>
            <a:off x="7731252" y="9006840"/>
            <a:ext cx="4320540" cy="1280160"/>
          </a:xfrm>
          <a:prstGeom prst="rect">
            <a:avLst/>
          </a:prstGeom>
          <a:noFill/>
        </p:spPr>
        <p:txBody>
          <a:bodyPr wrap="square" lIns="45720" rIns="45720" anchor="ctr">
            <a:noAutofit/>
          </a:bodyPr>
          <a:lstStyle/>
          <a:p>
            <a:pPr algn="l">
              <a:spcAft>
                <a:spcPts val="200"/>
              </a:spcAft>
              <a:buNone/>
            </a:pPr>
            <a:r>
              <a:rPr sz="1600" b="1" i="0">
                <a:solidFill>
                  <a:srgbClr val="E7473D"/>
                </a:solidFill>
                <a:latin typeface="Segoe UI"/>
              </a:rPr>
              <a:t>Sans cette couche</a:t>
            </a:r>
          </a:p>
          <a:p>
            <a:pPr algn="l">
              <a:spcAft>
                <a:spcPts val="400"/>
              </a:spcAft>
              <a:buNone/>
            </a:pPr>
            <a:r>
              <a:rPr sz="1700" b="0" i="0">
                <a:solidFill>
                  <a:srgbClr val="002060"/>
                </a:solidFill>
                <a:latin typeface="Segoe UI"/>
              </a:rPr>
              <a:t>Les redondances restent invisibles : plusieurs outils pour l’annotation ou l’acquisition.</a:t>
            </a:r>
          </a:p>
        </p:txBody>
      </p:sp>
      <p:sp>
        <p:nvSpPr>
          <p:cNvPr id="64" name="Rounded Rectangle 63"/>
          <p:cNvSpPr/>
          <p:nvPr/>
        </p:nvSpPr>
        <p:spPr>
          <a:xfrm>
            <a:off x="12874752" y="4983480"/>
            <a:ext cx="5234940" cy="54406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Round Same Side Corner Rectangle 64"/>
          <p:cNvSpPr/>
          <p:nvPr/>
        </p:nvSpPr>
        <p:spPr>
          <a:xfrm>
            <a:off x="12874752" y="4983480"/>
            <a:ext cx="5234940" cy="1463040"/>
          </a:xfrm>
          <a:prstGeom prst="round2SameRect">
            <a:avLst>
              <a:gd name="adj1" fmla="val 14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6" name="Oval 65"/>
          <p:cNvSpPr/>
          <p:nvPr/>
        </p:nvSpPr>
        <p:spPr>
          <a:xfrm>
            <a:off x="13149072" y="5349240"/>
            <a:ext cx="731520" cy="7315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67" name="TextBox 66"/>
          <p:cNvSpPr txBox="1"/>
          <p:nvPr/>
        </p:nvSpPr>
        <p:spPr>
          <a:xfrm>
            <a:off x="14063472" y="5029200"/>
            <a:ext cx="3863340" cy="1371600"/>
          </a:xfrm>
          <a:prstGeom prst="rect">
            <a:avLst/>
          </a:prstGeom>
          <a:noFill/>
        </p:spPr>
        <p:txBody>
          <a:bodyPr wrap="square" lIns="45720" rIns="45720" anchor="ctr">
            <a:noAutofit/>
          </a:bodyPr>
          <a:lstStyle/>
          <a:p>
            <a:pPr algn="l">
              <a:spcAft>
                <a:spcPts val="0"/>
              </a:spcAft>
              <a:buNone/>
            </a:pPr>
            <a:r>
              <a:rPr sz="2400" b="1" i="0">
                <a:solidFill>
                  <a:srgbClr val="FFFFFF"/>
                </a:solidFill>
                <a:latin typeface="Segoe UI"/>
              </a:rPr>
              <a:t>Applicatif et données</a:t>
            </a:r>
          </a:p>
          <a:p>
            <a:pPr algn="l">
              <a:spcAft>
                <a:spcPts val="400"/>
              </a:spcAft>
              <a:buNone/>
            </a:pPr>
            <a:r>
              <a:rPr sz="1900" b="0" i="1">
                <a:solidFill>
                  <a:srgbClr val="F4B183"/>
                </a:solidFill>
                <a:latin typeface="Segoe UI"/>
              </a:rPr>
              <a:t>Avec quoi ?</a:t>
            </a:r>
          </a:p>
        </p:txBody>
      </p:sp>
      <p:pic>
        <p:nvPicPr>
          <p:cNvPr id="68" name="Picture 67" descr="s6_Image_18.png"/>
          <p:cNvPicPr>
            <a:picLocks noChangeAspect="1"/>
          </p:cNvPicPr>
          <p:nvPr/>
        </p:nvPicPr>
        <p:blipFill>
          <a:blip r:embed="rId5"/>
          <a:stretch>
            <a:fillRect/>
          </a:stretch>
        </p:blipFill>
        <p:spPr>
          <a:xfrm>
            <a:off x="14928886" y="6583680"/>
            <a:ext cx="1126671" cy="1051560"/>
          </a:xfrm>
          <a:prstGeom prst="rect">
            <a:avLst/>
          </a:prstGeom>
        </p:spPr>
      </p:pic>
      <p:sp>
        <p:nvSpPr>
          <p:cNvPr id="69" name="TextBox 68"/>
          <p:cNvSpPr txBox="1"/>
          <p:nvPr/>
        </p:nvSpPr>
        <p:spPr>
          <a:xfrm>
            <a:off x="13194792" y="7772400"/>
            <a:ext cx="4594860" cy="1234440"/>
          </a:xfrm>
          <a:prstGeom prst="rect">
            <a:avLst/>
          </a:prstGeom>
          <a:noFill/>
        </p:spPr>
        <p:txBody>
          <a:bodyPr wrap="square" lIns="45720" rIns="45720" anchor="t">
            <a:noAutofit/>
          </a:bodyPr>
          <a:lstStyle/>
          <a:p>
            <a:pPr algn="l">
              <a:spcAft>
                <a:spcPts val="400"/>
              </a:spcAft>
              <a:buNone/>
            </a:pPr>
            <a:r>
              <a:rPr sz="1900" b="0" i="0">
                <a:solidFill>
                  <a:srgbClr val="404040"/>
                </a:solidFill>
                <a:latin typeface="Segoe UI"/>
              </a:rPr>
              <a:t>Nommer les applications, leurs services, les données qu’elles manipulent et leurs dépendances, rattachés aux codes ROBIN.</a:t>
            </a:r>
          </a:p>
        </p:txBody>
      </p:sp>
      <p:sp>
        <p:nvSpPr>
          <p:cNvPr id="70" name="Rounded Rectangle 69"/>
          <p:cNvSpPr/>
          <p:nvPr/>
        </p:nvSpPr>
        <p:spPr>
          <a:xfrm>
            <a:off x="13149072" y="9006840"/>
            <a:ext cx="4686300" cy="1280160"/>
          </a:xfrm>
          <a:prstGeom prst="roundRect">
            <a:avLst>
              <a:gd name="adj" fmla="val 10000"/>
            </a:avLst>
          </a:prstGeom>
          <a:solidFill>
            <a:srgbClr val="FFFFFF"/>
          </a:solidFill>
          <a:ln w="19050">
            <a:solidFill>
              <a:srgbClr val="E7473D"/>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1" name="TextBox 70"/>
          <p:cNvSpPr txBox="1"/>
          <p:nvPr/>
        </p:nvSpPr>
        <p:spPr>
          <a:xfrm>
            <a:off x="13331952" y="9006840"/>
            <a:ext cx="4320540" cy="1280160"/>
          </a:xfrm>
          <a:prstGeom prst="rect">
            <a:avLst/>
          </a:prstGeom>
          <a:noFill/>
        </p:spPr>
        <p:txBody>
          <a:bodyPr wrap="square" lIns="45720" rIns="45720" anchor="ctr">
            <a:noAutofit/>
          </a:bodyPr>
          <a:lstStyle/>
          <a:p>
            <a:pPr algn="l">
              <a:spcAft>
                <a:spcPts val="200"/>
              </a:spcAft>
              <a:buNone/>
            </a:pPr>
            <a:r>
              <a:rPr sz="1600" b="1" i="0">
                <a:solidFill>
                  <a:srgbClr val="E7473D"/>
                </a:solidFill>
                <a:latin typeface="Segoe UI"/>
              </a:rPr>
              <a:t>Sans cette couche</a:t>
            </a:r>
          </a:p>
          <a:p>
            <a:pPr algn="l">
              <a:spcAft>
                <a:spcPts val="400"/>
              </a:spcAft>
              <a:buNone/>
            </a:pPr>
            <a:r>
              <a:rPr sz="1700" b="0" i="0">
                <a:solidFill>
                  <a:srgbClr val="002060"/>
                </a:solidFill>
                <a:latin typeface="Segoe UI"/>
              </a:rPr>
              <a:t>Pas d’analyse d’impact fiable en Run : on découvre les dépendances pendant l’incident.</a:t>
            </a:r>
          </a:p>
        </p:txBody>
      </p:sp>
      <p:sp>
        <p:nvSpPr>
          <p:cNvPr id="72" name="Rounded Rectangle 71"/>
          <p:cNvSpPr/>
          <p:nvPr/>
        </p:nvSpPr>
        <p:spPr>
          <a:xfrm>
            <a:off x="18475452" y="4983480"/>
            <a:ext cx="5234940" cy="54406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3" name="Round Same Side Corner Rectangle 72"/>
          <p:cNvSpPr/>
          <p:nvPr/>
        </p:nvSpPr>
        <p:spPr>
          <a:xfrm>
            <a:off x="18475452" y="4983480"/>
            <a:ext cx="5234940" cy="1463040"/>
          </a:xfrm>
          <a:prstGeom prst="round2SameRect">
            <a:avLst>
              <a:gd name="adj1" fmla="val 14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4" name="Oval 73"/>
          <p:cNvSpPr/>
          <p:nvPr/>
        </p:nvSpPr>
        <p:spPr>
          <a:xfrm>
            <a:off x="18749772" y="5349240"/>
            <a:ext cx="731520" cy="7315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75" name="TextBox 74"/>
          <p:cNvSpPr txBox="1"/>
          <p:nvPr/>
        </p:nvSpPr>
        <p:spPr>
          <a:xfrm>
            <a:off x="19664172" y="5029200"/>
            <a:ext cx="3863340" cy="1371600"/>
          </a:xfrm>
          <a:prstGeom prst="rect">
            <a:avLst/>
          </a:prstGeom>
          <a:noFill/>
        </p:spPr>
        <p:txBody>
          <a:bodyPr wrap="square" lIns="45720" rIns="45720" anchor="ctr">
            <a:noAutofit/>
          </a:bodyPr>
          <a:lstStyle/>
          <a:p>
            <a:pPr algn="l">
              <a:spcAft>
                <a:spcPts val="0"/>
              </a:spcAft>
              <a:buNone/>
            </a:pPr>
            <a:r>
              <a:rPr sz="2400" b="1" i="0">
                <a:solidFill>
                  <a:srgbClr val="FFFFFF"/>
                </a:solidFill>
                <a:latin typeface="Segoe UI"/>
              </a:rPr>
              <a:t>Technique</a:t>
            </a:r>
          </a:p>
          <a:p>
            <a:pPr algn="l">
              <a:spcAft>
                <a:spcPts val="400"/>
              </a:spcAft>
              <a:buNone/>
            </a:pPr>
            <a:r>
              <a:rPr sz="1900" b="0" i="1">
                <a:solidFill>
                  <a:srgbClr val="F4B183"/>
                </a:solidFill>
                <a:latin typeface="Segoe UI"/>
              </a:rPr>
              <a:t>Sur quoi ça tourne ?</a:t>
            </a:r>
          </a:p>
        </p:txBody>
      </p:sp>
      <p:pic>
        <p:nvPicPr>
          <p:cNvPr id="76" name="Picture 75" descr="s6_Image_54.png"/>
          <p:cNvPicPr>
            <a:picLocks noChangeAspect="1"/>
          </p:cNvPicPr>
          <p:nvPr/>
        </p:nvPicPr>
        <p:blipFill>
          <a:blip r:embed="rId6"/>
          <a:stretch>
            <a:fillRect/>
          </a:stretch>
        </p:blipFill>
        <p:spPr>
          <a:xfrm>
            <a:off x="20567142" y="6583680"/>
            <a:ext cx="1051560" cy="1051560"/>
          </a:xfrm>
          <a:prstGeom prst="rect">
            <a:avLst/>
          </a:prstGeom>
        </p:spPr>
      </p:pic>
      <p:sp>
        <p:nvSpPr>
          <p:cNvPr id="77" name="TextBox 76"/>
          <p:cNvSpPr txBox="1"/>
          <p:nvPr/>
        </p:nvSpPr>
        <p:spPr>
          <a:xfrm>
            <a:off x="18795492" y="7772400"/>
            <a:ext cx="4594860" cy="1234440"/>
          </a:xfrm>
          <a:prstGeom prst="rect">
            <a:avLst/>
          </a:prstGeom>
          <a:noFill/>
        </p:spPr>
        <p:txBody>
          <a:bodyPr wrap="square" lIns="45720" rIns="45720" anchor="t">
            <a:noAutofit/>
          </a:bodyPr>
          <a:lstStyle/>
          <a:p>
            <a:pPr algn="l">
              <a:spcAft>
                <a:spcPts val="400"/>
              </a:spcAft>
              <a:buNone/>
            </a:pPr>
            <a:r>
              <a:rPr sz="1900" b="0" i="0">
                <a:solidFill>
                  <a:srgbClr val="404040"/>
                </a:solidFill>
                <a:latin typeface="Segoe UI"/>
              </a:rPr>
              <a:t>Préciser l’hébergement, l’intégration des composants et les échanges avec l’extérieur de l’OCR F.</a:t>
            </a:r>
          </a:p>
        </p:txBody>
      </p:sp>
      <p:sp>
        <p:nvSpPr>
          <p:cNvPr id="78" name="Rounded Rectangle 77"/>
          <p:cNvSpPr/>
          <p:nvPr/>
        </p:nvSpPr>
        <p:spPr>
          <a:xfrm>
            <a:off x="18749772" y="9006840"/>
            <a:ext cx="4686300" cy="1280160"/>
          </a:xfrm>
          <a:prstGeom prst="roundRect">
            <a:avLst>
              <a:gd name="adj" fmla="val 10000"/>
            </a:avLst>
          </a:prstGeom>
          <a:solidFill>
            <a:srgbClr val="FFFFFF"/>
          </a:solidFill>
          <a:ln w="19050">
            <a:solidFill>
              <a:srgbClr val="E7473D"/>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9" name="TextBox 78"/>
          <p:cNvSpPr txBox="1"/>
          <p:nvPr/>
        </p:nvSpPr>
        <p:spPr>
          <a:xfrm>
            <a:off x="18932652" y="9006840"/>
            <a:ext cx="4320540" cy="1280160"/>
          </a:xfrm>
          <a:prstGeom prst="rect">
            <a:avLst/>
          </a:prstGeom>
          <a:noFill/>
        </p:spPr>
        <p:txBody>
          <a:bodyPr wrap="square" lIns="45720" rIns="45720" anchor="ctr">
            <a:noAutofit/>
          </a:bodyPr>
          <a:lstStyle/>
          <a:p>
            <a:pPr algn="l">
              <a:spcAft>
                <a:spcPts val="200"/>
              </a:spcAft>
              <a:buNone/>
            </a:pPr>
            <a:r>
              <a:rPr sz="1600" b="1" i="0">
                <a:solidFill>
                  <a:srgbClr val="E7473D"/>
                </a:solidFill>
                <a:latin typeface="Segoe UI"/>
              </a:rPr>
              <a:t>Sans cette couche</a:t>
            </a:r>
          </a:p>
          <a:p>
            <a:pPr algn="l">
              <a:spcAft>
                <a:spcPts val="400"/>
              </a:spcAft>
              <a:buNone/>
            </a:pPr>
            <a:r>
              <a:rPr sz="1700" b="0" i="0">
                <a:solidFill>
                  <a:srgbClr val="002060"/>
                </a:solidFill>
                <a:latin typeface="Segoe UI"/>
              </a:rPr>
              <a:t>Des liens réels restent hors radar, comme OSGE connecté à IDOC et 3D20.</a:t>
            </a:r>
          </a:p>
        </p:txBody>
      </p:sp>
      <p:sp>
        <p:nvSpPr>
          <p:cNvPr id="80" name="Rounded Rectangle 79"/>
          <p:cNvSpPr/>
          <p:nvPr/>
        </p:nvSpPr>
        <p:spPr>
          <a:xfrm>
            <a:off x="1673352" y="11338560"/>
            <a:ext cx="22037040" cy="114300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1" name="TextBox 80"/>
          <p:cNvSpPr txBox="1"/>
          <p:nvPr/>
        </p:nvSpPr>
        <p:spPr>
          <a:xfrm>
            <a:off x="2103120" y="11338560"/>
            <a:ext cx="21214080" cy="1143000"/>
          </a:xfrm>
          <a:prstGeom prst="rect">
            <a:avLst/>
          </a:prstGeom>
          <a:noFill/>
        </p:spPr>
        <p:txBody>
          <a:bodyPr wrap="square" lIns="45720" rIns="45720" anchor="ctr">
            <a:noAutofit/>
          </a:bodyPr>
          <a:lstStyle/>
          <a:p>
            <a:pPr algn="l">
              <a:spcAft>
                <a:spcPts val="400"/>
              </a:spcAft>
              <a:buNone/>
            </a:pPr>
            <a:r>
              <a:rPr sz="2200" b="0" i="0">
                <a:solidFill>
                  <a:srgbClr val="002060"/>
                </a:solidFill>
                <a:latin typeface="Segoe UI"/>
              </a:rPr>
              <a:t>Croisées avec les niveaux de zoom N0 à N3, ces quatre couches donnent une grille de lecture unique : </a:t>
            </a:r>
            <a:r>
              <a:rPr sz="2200" b="1" i="0">
                <a:solidFill>
                  <a:srgbClr val="002060"/>
                </a:solidFill>
                <a:latin typeface="Segoe UI"/>
              </a:rPr>
              <a:t>chaque livrable a une place, un propriétaire et un rythme de mise à jour, et les cases vides se voient immédiatement.</a:t>
            </a:r>
          </a:p>
        </p:txBody>
      </p:sp>
    </p:spTree>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TermInfo xmlns="http://schemas.microsoft.com/office/infopath/2007/PartnerControls">
          <TermName xmlns="http://schemas.microsoft.com/office/infopath/2007/PartnerControls">OCDM</TermName>
          <TermId xmlns="http://schemas.microsoft.com/office/infopath/2007/PartnerControls">8955f7f1-8453-404e-bfde-7215dda84843</TermId>
        </TermInfo>
      </Terms>
    </a9e56aaece9b46e58482a8eb4a8cc6ab>
    <PublishingExpirationDate xmlns="http://schemas.microsoft.com/sharepoint/v3" xsi:nil="true"/>
    <PublishingStartDate xmlns="http://schemas.microsoft.com/sharepoint/v3" xsi:nil="true"/>
    <TaxCatchAll xmlns="9da6f561-6c40-462f-af3e-6833fe74929f">
      <Value>548</Value>
      <Value>1</Value>
      <Value>2</Value>
    </TaxCatchAll>
    <_dlc_DocId xmlns="9da6f561-6c40-462f-af3e-6833fe74929f">PJQFUVHKSAJQ-1373287592-275981</_dlc_DocId>
    <_dlc_DocIdUrl xmlns="9da6f561-6c40-462f-af3e-6833fe74929f">
      <Url>https://moss-si.cm-cic.fr/Sites/D00116/Documentation/_layouts/15/DocIdRedir.aspx?ID=PJQFUVHKSAJQ-1373287592-275981</Url>
      <Description>PJQFUVHKSAJQ-1373287592-275981</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4B5CEC-C8C8-40AA-B6AE-607E208A68A9}">
  <ds:schemaRef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schemas.microsoft.com/sharepoint/v4"/>
    <ds:schemaRef ds:uri="http://purl.org/dc/terms/"/>
    <ds:schemaRef ds:uri="http://schemas.microsoft.com/sharepoint/v3"/>
    <ds:schemaRef ds:uri="http://schemas.openxmlformats.org/package/2006/metadata/core-properties"/>
    <ds:schemaRef ds:uri="99cee9d7-070e-44dd-ab97-3503062ab504"/>
    <ds:schemaRef ds:uri="http://purl.org/dc/elements/1.1/"/>
    <ds:schemaRef ds:uri="8ff6ca53-9990-4cf6-aa9b-81190a5c5371"/>
    <ds:schemaRef ds:uri="9da6f561-6c40-462f-af3e-6833fe74929f"/>
    <ds:schemaRef ds:uri="http://purl.org/dc/dcmitype/"/>
  </ds:schemaRefs>
</ds:datastoreItem>
</file>

<file path=customXml/itemProps2.xml><?xml version="1.0" encoding="utf-8"?>
<ds:datastoreItem xmlns:ds="http://schemas.openxmlformats.org/officeDocument/2006/customXml" ds:itemID="{E9422C3B-75B6-40EA-8BF9-01829C59B6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2BAA03-A600-4FE3-BD99-E53EBA2268B5}">
  <ds:schemaRefs>
    <ds:schemaRef ds:uri="http://schemas.microsoft.com/sharepoint/events"/>
  </ds:schemaRefs>
</ds:datastoreItem>
</file>

<file path=customXml/itemProps4.xml><?xml version="1.0" encoding="utf-8"?>
<ds:datastoreItem xmlns:ds="http://schemas.openxmlformats.org/officeDocument/2006/customXml" ds:itemID="{F1825C63-B403-4BB5-BF30-E1D3CA074A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4418</TotalTime>
  <Words>2116</Words>
  <Application>Microsoft Office PowerPoint</Application>
  <PresentationFormat>Personnalisé</PresentationFormat>
  <Paragraphs>352</Paragraphs>
  <Slides>15</Slides>
  <Notes>9</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Calibri</vt:lpstr>
      <vt:lpstr>Segoe UI</vt:lpstr>
      <vt:lpstr>Segoe UI Light</vt:lpstr>
      <vt:lpstr>Wingdings</vt:lpstr>
      <vt:lpstr>Wingdings 3</vt:lpstr>
      <vt:lpstr>Thème Office</vt:lpstr>
      <vt:lpstr>Architecture fonctionnelle de l’OCR F Cadrage des besoins niv 2 et 3 Synthèse des entretiens REs</vt:lpstr>
      <vt:lpstr>Une architecture applicative et fonctionnelle de l’OCR F à 4 niveaux</vt:lpstr>
      <vt:lpstr>Entretiens avec les REs pendant l’été pour cadrer les besoins des niveaux 2 et 3 </vt:lpstr>
      <vt:lpstr>A quels cas d’usage cette documentation répond ?</vt:lpstr>
      <vt:lpstr>Qu’est ce qu’on a besoin de rendre visible dans la documentation ?</vt:lpstr>
      <vt:lpstr>Quelle solution envisager ?</vt:lpstr>
      <vt:lpstr>[nom de l’application]</vt:lpstr>
      <vt:lpstr>Présentation PowerPoint</vt:lpstr>
      <vt:lpstr>Qui met en œuvre et quand ?</vt:lpstr>
      <vt:lpstr>Exemples</vt:lpstr>
      <vt:lpstr>Briques fonctionnelles CADI</vt:lpstr>
      <vt:lpstr>Ecosystème CADI</vt:lpstr>
      <vt:lpstr>Ecosystème CADI</vt:lpstr>
      <vt:lpstr>[nom de l’application]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DUPIN Hermione</dc:creator>
  <cp:lastModifiedBy>ISSOULGHANE Morad (PRESTA EXT)</cp:lastModifiedBy>
  <cp:revision>235</cp:revision>
  <dcterms:created xsi:type="dcterms:W3CDTF">2021-02-02T09:58:04Z</dcterms:created>
  <dcterms:modified xsi:type="dcterms:W3CDTF">2026-09-03T09:42:44Z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LastKnownPath">
    <vt:lpwstr>\\uf11-a01\ei_communication\00_STRATEGIE COMMUNICATION\Refonte Charte graphique\Modèle charte E-I 2021.pptx</vt:lpwstr>
  </property>
  <property fmtid="{D5CDD505-2E9C-101B-9397-08002B2CF9AE}" pid="3" name="ContentTypeId">
    <vt:lpwstr>0x010100BE2B8597FEB5E34494D505DA208C5F79</vt:lpwstr>
  </property>
  <property fmtid="{D5CDD505-2E9C-101B-9397-08002B2CF9AE}" pid="4" name="TaxKeyword">
    <vt:lpwstr/>
  </property>
  <property fmtid="{D5CDD505-2E9C-101B-9397-08002B2CF9AE}" pid="5" name="ROBIN">
    <vt:lpwstr>548;#OCDM|8955f7f1-8453-404e-bfde-7215dda84843</vt:lpwstr>
  </property>
  <property fmtid="{D5CDD505-2E9C-101B-9397-08002B2CF9AE}" pid="6" name="Classification">
    <vt:lpwstr>2;#10 - Interne|88571201-3d77-41d7-bf2a-abb247897d97</vt:lpwstr>
  </property>
  <property fmtid="{D5CDD505-2E9C-101B-9397-08002B2CF9AE}" pid="7" name="Nature du document">
    <vt:lpwstr>1;#Document|f926a2be-6740-4577-ba49-e4b230c74a1c</vt:lpwstr>
  </property>
  <property fmtid="{D5CDD505-2E9C-101B-9397-08002B2CF9AE}" pid="8" name="_dlc_DocIdItemGuid">
    <vt:lpwstr>f689b65a-ebd1-4509-8772-2d51387722aa</vt:lpwstr>
  </property>
</Properties>
</file>