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10"/>
  </p:notesMasterIdLst>
  <p:sldIdLst>
    <p:sldId id="276" r:id="rId6"/>
    <p:sldId id="285" r:id="rId7"/>
    <p:sldId id="286" r:id="rId8"/>
    <p:sldId id="280" r:id="rId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F68DCDE7-8DE5-4817-BDE0-19994DBFD137}">
          <p14:sldIdLst>
            <p14:sldId id="276"/>
            <p14:sldId id="285"/>
            <p14:sldId id="286"/>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9000"/>
    <a:srgbClr val="C55A11"/>
    <a:srgbClr val="7F7F7F"/>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036" autoAdjust="0"/>
  </p:normalViewPr>
  <p:slideViewPr>
    <p:cSldViewPr snapToGrid="0">
      <p:cViewPr varScale="1">
        <p:scale>
          <a:sx n="98" d="100"/>
          <a:sy n="98" d="100"/>
        </p:scale>
        <p:origin x="93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100DA-EF6E-43A6-BE42-0328AC92E799}" type="datetimeFigureOut">
              <a:rPr lang="fr-FR" smtClean="0"/>
              <a:t>01/06/2026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E3A16-A2CC-405A-BF79-D9EF9861C593}" type="slidenum">
              <a:rPr lang="fr-FR" smtClean="0"/>
              <a:t>‹N°›</a:t>
            </a:fld>
            <a:endParaRPr lang="fr-FR"/>
          </a:p>
        </p:txBody>
      </p:sp>
    </p:spTree>
    <p:extLst>
      <p:ext uri="{BB962C8B-B14F-4D97-AF65-F5344CB8AC3E}">
        <p14:creationId xmlns:p14="http://schemas.microsoft.com/office/powerpoint/2010/main" val="3472101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US" dirty="0"/>
          </a:p>
        </p:txBody>
      </p:sp>
      <p:sp>
        <p:nvSpPr>
          <p:cNvPr id="9" name="Rectangle 13"/>
          <p:cNvSpPr/>
          <p:nvPr userDrawn="1"/>
        </p:nvSpPr>
        <p:spPr>
          <a:xfrm>
            <a:off x="4880008" y="3858688"/>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10" y="6307275"/>
            <a:ext cx="531475" cy="274695"/>
          </a:xfrm>
          <a:prstGeom prst="rect">
            <a:avLst/>
          </a:prstGeom>
        </p:spPr>
      </p:pic>
    </p:spTree>
    <p:extLst>
      <p:ext uri="{BB962C8B-B14F-4D97-AF65-F5344CB8AC3E}">
        <p14:creationId xmlns:p14="http://schemas.microsoft.com/office/powerpoint/2010/main" val="352362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43365310"/>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00463036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119570270"/>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3" name="Espace réservé du texte 3"/>
          <p:cNvSpPr>
            <a:spLocks noGrp="1"/>
          </p:cNvSpPr>
          <p:nvPr>
            <p:ph type="body" sz="quarter" idx="16"/>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410802727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8" y="3515521"/>
            <a:ext cx="10933641"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814422790"/>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5" y="3515521"/>
            <a:ext cx="10941844"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35745239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24" name="Espace réservé du pied de page 4"/>
          <p:cNvSpPr>
            <a:spLocks noGrp="1"/>
          </p:cNvSpPr>
          <p:nvPr>
            <p:ph type="ftr" sz="quarter" idx="11"/>
          </p:nvPr>
        </p:nvSpPr>
        <p:spPr>
          <a:xfrm>
            <a:off x="4648201"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2"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744012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55"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56" name="Espace réservé du pied de page 4"/>
          <p:cNvSpPr>
            <a:spLocks noGrp="1"/>
          </p:cNvSpPr>
          <p:nvPr>
            <p:ph type="ftr" sz="quarter" idx="11"/>
          </p:nvPr>
        </p:nvSpPr>
        <p:spPr>
          <a:xfrm>
            <a:off x="4648203"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6"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577373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5"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0"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63095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r>
              <a:rPr lang="fr-FR"/>
              <a:t>Atterrissage Alexandrie - Gouvernance et Organisation</a:t>
            </a:r>
            <a:endParaRPr/>
          </a:p>
        </p:txBody>
      </p:sp>
      <p:sp>
        <p:nvSpPr>
          <p:cNvPr id="21"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988982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dirty="0"/>
              <a:t>Modifiez le style du titre</a:t>
            </a:r>
          </a:p>
        </p:txBody>
      </p:sp>
    </p:spTree>
    <p:extLst>
      <p:ext uri="{BB962C8B-B14F-4D97-AF65-F5344CB8AC3E}">
        <p14:creationId xmlns:p14="http://schemas.microsoft.com/office/powerpoint/2010/main" val="3058598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dirty="0"/>
              <a:t>Modifiez le style du titre</a:t>
            </a:r>
          </a:p>
        </p:txBody>
      </p:sp>
    </p:spTree>
    <p:extLst>
      <p:ext uri="{BB962C8B-B14F-4D97-AF65-F5344CB8AC3E}">
        <p14:creationId xmlns:p14="http://schemas.microsoft.com/office/powerpoint/2010/main" val="2322462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pitre image">
    <p:bg>
      <p:bgPr>
        <a:solidFill>
          <a:srgbClr val="003A8D"/>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7262446"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2" name="Titre 1"/>
          <p:cNvSpPr>
            <a:spLocks noGrp="1"/>
          </p:cNvSpPr>
          <p:nvPr>
            <p:ph type="title"/>
          </p:nvPr>
        </p:nvSpPr>
        <p:spPr>
          <a:xfrm>
            <a:off x="7603067" y="1384304"/>
            <a:ext cx="4485216" cy="2362199"/>
          </a:xfrm>
          <a:prstGeom prst="rect">
            <a:avLst/>
          </a:prstGeom>
        </p:spPr>
        <p:txBody>
          <a:bodyPr anchor="b">
            <a:normAutofit/>
          </a:bodyPr>
          <a:lstStyle>
            <a:lvl1pPr algn="l">
              <a:defRPr sz="5500">
                <a:solidFill>
                  <a:schemeClr val="bg1"/>
                </a:solidFill>
              </a:defRPr>
            </a:lvl1pPr>
          </a:lstStyle>
          <a:p>
            <a:r>
              <a:rPr lang="fr-FR" dirty="0"/>
              <a:t>Modifiez le style du titre</a:t>
            </a:r>
          </a:p>
        </p:txBody>
      </p:sp>
      <p:sp>
        <p:nvSpPr>
          <p:cNvPr id="5" name="Rectangle 4"/>
          <p:cNvSpPr/>
          <p:nvPr userDrawn="1"/>
        </p:nvSpPr>
        <p:spPr>
          <a:xfrm>
            <a:off x="9128846" y="3848103"/>
            <a:ext cx="2891704" cy="46893"/>
          </a:xfrm>
          <a:prstGeom prst="rect">
            <a:avLst/>
          </a:prstGeom>
          <a:solidFill>
            <a:schemeClr val="bg1">
              <a:alpha val="9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Tree>
    <p:extLst>
      <p:ext uri="{BB962C8B-B14F-4D97-AF65-F5344CB8AC3E}">
        <p14:creationId xmlns:p14="http://schemas.microsoft.com/office/powerpoint/2010/main" val="3956929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9" name="Rectangle à coins arrondis 8"/>
          <p:cNvSpPr/>
          <p:nvPr userDrawn="1"/>
        </p:nvSpPr>
        <p:spPr>
          <a:xfrm>
            <a:off x="266700" y="190501"/>
            <a:ext cx="11658600" cy="5549900"/>
          </a:xfrm>
          <a:prstGeom prst="roundRect">
            <a:avLst>
              <a:gd name="adj" fmla="val 3479"/>
            </a:avLst>
          </a:prstGeom>
          <a:solidFill>
            <a:srgbClr val="003A8D">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re 1"/>
          <p:cNvSpPr>
            <a:spLocks noGrp="1"/>
          </p:cNvSpPr>
          <p:nvPr>
            <p:ph type="ctrTitle" hasCustomPrompt="1"/>
          </p:nvPr>
        </p:nvSpPr>
        <p:spPr>
          <a:xfrm>
            <a:off x="4800600" y="1471085"/>
            <a:ext cx="6400800" cy="2387600"/>
          </a:xfrm>
          <a:prstGeom prst="rect">
            <a:avLst/>
          </a:prstGeom>
        </p:spPr>
        <p:txBody>
          <a:bodyPr anchor="b"/>
          <a:lstStyle>
            <a:lvl1pPr algn="l">
              <a:defRPr sz="6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4772" y="6152708"/>
            <a:ext cx="1969397" cy="247164"/>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99241" y="6126109"/>
            <a:ext cx="693258" cy="358313"/>
          </a:xfrm>
          <a:prstGeom prst="rect">
            <a:avLst/>
          </a:prstGeom>
        </p:spPr>
      </p:pic>
    </p:spTree>
    <p:extLst>
      <p:ext uri="{BB962C8B-B14F-4D97-AF65-F5344CB8AC3E}">
        <p14:creationId xmlns:p14="http://schemas.microsoft.com/office/powerpoint/2010/main" val="175636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3"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5" name="Espace réservé du numéro de diapositive 5"/>
          <p:cNvSpPr>
            <a:spLocks noGrp="1"/>
          </p:cNvSpPr>
          <p:nvPr>
            <p:ph type="sldNum" sz="quarter" idx="4"/>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7876364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960C5A-DFC9-4E6A-8597-36B478C8101C}"/>
              </a:ext>
            </a:extLst>
          </p:cNvPr>
          <p:cNvSpPr>
            <a:spLocks noGrp="1"/>
          </p:cNvSpPr>
          <p:nvPr>
            <p:ph type="ctrTitle"/>
          </p:nvPr>
        </p:nvSpPr>
        <p:spPr/>
        <p:txBody>
          <a:bodyPr/>
          <a:lstStyle/>
          <a:p>
            <a:r>
              <a:rPr lang="fr-FR" b="1" dirty="0"/>
              <a:t>xxx</a:t>
            </a:r>
            <a:endParaRPr lang="fr-FR" sz="4000" b="1" dirty="0"/>
          </a:p>
        </p:txBody>
      </p:sp>
      <p:sp>
        <p:nvSpPr>
          <p:cNvPr id="3" name="Sous-titre 2">
            <a:extLst>
              <a:ext uri="{FF2B5EF4-FFF2-40B4-BE49-F238E27FC236}">
                <a16:creationId xmlns:a16="http://schemas.microsoft.com/office/drawing/2014/main" id="{0CD9C4D3-A366-427C-BAF0-6C977F3D41D1}"/>
              </a:ext>
            </a:extLst>
          </p:cNvPr>
          <p:cNvSpPr>
            <a:spLocks noGrp="1"/>
          </p:cNvSpPr>
          <p:nvPr>
            <p:ph type="subTitle" idx="1"/>
          </p:nvPr>
        </p:nvSpPr>
        <p:spPr/>
        <p:txBody>
          <a:bodyPr/>
          <a:lstStyle/>
          <a:p>
            <a:r>
              <a:rPr lang="fr-FR" dirty="0"/>
              <a:t>06/02/2025</a:t>
            </a:r>
          </a:p>
        </p:txBody>
      </p:sp>
    </p:spTree>
    <p:extLst>
      <p:ext uri="{BB962C8B-B14F-4D97-AF65-F5344CB8AC3E}">
        <p14:creationId xmlns:p14="http://schemas.microsoft.com/office/powerpoint/2010/main" val="427677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3AA35C-5BEB-4267-8F04-3BA60015D922}"/>
              </a:ext>
            </a:extLst>
          </p:cNvPr>
          <p:cNvSpPr>
            <a:spLocks noGrp="1"/>
          </p:cNvSpPr>
          <p:nvPr>
            <p:ph type="title"/>
          </p:nvPr>
        </p:nvSpPr>
        <p:spPr/>
        <p:txBody>
          <a:bodyPr/>
          <a:lstStyle/>
          <a:p>
            <a:r>
              <a:rPr lang="fr-FR" dirty="0"/>
              <a:t>Services de détection de fraude</a:t>
            </a:r>
          </a:p>
        </p:txBody>
      </p:sp>
      <p:sp>
        <p:nvSpPr>
          <p:cNvPr id="3" name="Espace réservé du pied de page 2">
            <a:extLst>
              <a:ext uri="{FF2B5EF4-FFF2-40B4-BE49-F238E27FC236}">
                <a16:creationId xmlns:a16="http://schemas.microsoft.com/office/drawing/2014/main" id="{DB31951B-4E2D-44F3-8FF5-B139CCCDCC6C}"/>
              </a:ext>
            </a:extLst>
          </p:cNvPr>
          <p:cNvSpPr>
            <a:spLocks noGrp="1"/>
          </p:cNvSpPr>
          <p:nvPr>
            <p:ph type="ftr" sz="quarter" idx="11"/>
          </p:nvPr>
        </p:nvSpPr>
        <p:spPr/>
        <p:txBody>
          <a:bodyPr/>
          <a:lstStyle/>
          <a:p>
            <a:r>
              <a:rPr lang="fr-FR"/>
              <a:t>Atterrissage Alexandrie - Gouvernance et Organisation</a:t>
            </a:r>
          </a:p>
        </p:txBody>
      </p:sp>
      <p:sp>
        <p:nvSpPr>
          <p:cNvPr id="5" name="Espace réservé du texte 4">
            <a:extLst>
              <a:ext uri="{FF2B5EF4-FFF2-40B4-BE49-F238E27FC236}">
                <a16:creationId xmlns:a16="http://schemas.microsoft.com/office/drawing/2014/main" id="{CD27B5B3-2390-466C-B9DA-5A7D7791D281}"/>
              </a:ext>
            </a:extLst>
          </p:cNvPr>
          <p:cNvSpPr>
            <a:spLocks noGrp="1"/>
          </p:cNvSpPr>
          <p:nvPr>
            <p:ph type="body" sz="quarter" idx="14"/>
          </p:nvPr>
        </p:nvSpPr>
        <p:spPr/>
        <p:txBody>
          <a:bodyPr/>
          <a:lstStyle/>
          <a:p>
            <a:endParaRPr lang="fr-FR" dirty="0"/>
          </a:p>
        </p:txBody>
      </p:sp>
      <p:sp>
        <p:nvSpPr>
          <p:cNvPr id="6" name="Shape 2">
            <a:extLst>
              <a:ext uri="{FF2B5EF4-FFF2-40B4-BE49-F238E27FC236}">
                <a16:creationId xmlns:a16="http://schemas.microsoft.com/office/drawing/2014/main" id="{2761245F-D6C9-45CF-B656-7D7AE4EDC4E3}"/>
              </a:ext>
            </a:extLst>
          </p:cNvPr>
          <p:cNvSpPr/>
          <p:nvPr/>
        </p:nvSpPr>
        <p:spPr>
          <a:xfrm>
            <a:off x="821531" y="1599978"/>
            <a:ext cx="5212080" cy="2331720"/>
          </a:xfrm>
          <a:prstGeom prst="rect">
            <a:avLst/>
          </a:prstGeom>
          <a:solidFill>
            <a:srgbClr val="FFFFFF"/>
          </a:solidFill>
          <a:ln w="12700">
            <a:solidFill>
              <a:srgbClr val="E1E8F0"/>
            </a:solidFill>
            <a:prstDash val="solid"/>
          </a:ln>
          <a:effectLst>
            <a:outerShdw blurRad="88900" dist="38100" dir="8100000" algn="bl" rotWithShape="0">
              <a:srgbClr val="000000">
                <a:alpha val="16000"/>
              </a:srgbClr>
            </a:outerShdw>
          </a:effectLst>
        </p:spPr>
      </p:sp>
      <p:sp>
        <p:nvSpPr>
          <p:cNvPr id="7" name="Shape 3">
            <a:extLst>
              <a:ext uri="{FF2B5EF4-FFF2-40B4-BE49-F238E27FC236}">
                <a16:creationId xmlns:a16="http://schemas.microsoft.com/office/drawing/2014/main" id="{410E1440-C09E-413F-A5DC-D718B1B28F75}"/>
              </a:ext>
            </a:extLst>
          </p:cNvPr>
          <p:cNvSpPr/>
          <p:nvPr/>
        </p:nvSpPr>
        <p:spPr>
          <a:xfrm>
            <a:off x="821531" y="1599978"/>
            <a:ext cx="5212080" cy="82296"/>
          </a:xfrm>
          <a:prstGeom prst="rect">
            <a:avLst/>
          </a:prstGeom>
          <a:solidFill>
            <a:srgbClr val="0B5394"/>
          </a:solidFill>
          <a:ln/>
        </p:spPr>
      </p:sp>
      <p:sp>
        <p:nvSpPr>
          <p:cNvPr id="8" name="Shape 4">
            <a:extLst>
              <a:ext uri="{FF2B5EF4-FFF2-40B4-BE49-F238E27FC236}">
                <a16:creationId xmlns:a16="http://schemas.microsoft.com/office/drawing/2014/main" id="{F88C909F-A12D-4FDD-8871-E2C5EC73C2DA}"/>
              </a:ext>
            </a:extLst>
          </p:cNvPr>
          <p:cNvSpPr/>
          <p:nvPr/>
        </p:nvSpPr>
        <p:spPr>
          <a:xfrm>
            <a:off x="1141571" y="1965738"/>
            <a:ext cx="777240" cy="777240"/>
          </a:xfrm>
          <a:prstGeom prst="ellipse">
            <a:avLst/>
          </a:prstGeom>
          <a:solidFill>
            <a:srgbClr val="F4F7FB"/>
          </a:solidFill>
          <a:ln/>
        </p:spPr>
      </p:sp>
      <p:pic>
        <p:nvPicPr>
          <p:cNvPr id="9" name="Image 0" descr="preencoded.png">
            <a:extLst>
              <a:ext uri="{FF2B5EF4-FFF2-40B4-BE49-F238E27FC236}">
                <a16:creationId xmlns:a16="http://schemas.microsoft.com/office/drawing/2014/main" id="{5B11185C-A197-45B6-855B-7EEBD23EEAB5}"/>
              </a:ext>
            </a:extLst>
          </p:cNvPr>
          <p:cNvPicPr>
            <a:picLocks noChangeAspect="1"/>
          </p:cNvPicPr>
          <p:nvPr/>
        </p:nvPicPr>
        <p:blipFill>
          <a:blip r:embed="rId2"/>
          <a:stretch>
            <a:fillRect/>
          </a:stretch>
        </p:blipFill>
        <p:spPr>
          <a:xfrm>
            <a:off x="1297019" y="2121186"/>
            <a:ext cx="466344" cy="466344"/>
          </a:xfrm>
          <a:prstGeom prst="rect">
            <a:avLst/>
          </a:prstGeom>
        </p:spPr>
      </p:pic>
      <p:sp>
        <p:nvSpPr>
          <p:cNvPr id="10" name="Text 5">
            <a:extLst>
              <a:ext uri="{FF2B5EF4-FFF2-40B4-BE49-F238E27FC236}">
                <a16:creationId xmlns:a16="http://schemas.microsoft.com/office/drawing/2014/main" id="{691B3BF7-4858-480B-A082-444250B4C7DA}"/>
              </a:ext>
            </a:extLst>
          </p:cNvPr>
          <p:cNvSpPr/>
          <p:nvPr/>
        </p:nvSpPr>
        <p:spPr>
          <a:xfrm>
            <a:off x="2101691" y="2011458"/>
            <a:ext cx="3657600" cy="411480"/>
          </a:xfrm>
          <a:prstGeom prst="rect">
            <a:avLst/>
          </a:prstGeom>
          <a:noFill/>
          <a:ln/>
        </p:spPr>
        <p:txBody>
          <a:bodyPr wrap="square" rtlCol="0" anchor="ctr"/>
          <a:lstStyle/>
          <a:p>
            <a:pPr marL="0" indent="0">
              <a:buNone/>
            </a:pPr>
            <a:r>
              <a:rPr lang="en-US" sz="2400" b="1" dirty="0">
                <a:solidFill>
                  <a:srgbClr val="0B5394"/>
                </a:solidFill>
                <a:latin typeface="Segoe UI" panose="020B0502040204020203" pitchFamily="34" charset="0"/>
                <a:ea typeface="Georgia" pitchFamily="34" charset="-122"/>
                <a:cs typeface="Segoe UI" panose="020B0502040204020203" pitchFamily="34" charset="0"/>
              </a:rPr>
              <a:t>VADOR</a:t>
            </a:r>
            <a:endParaRPr lang="en-US" sz="2400" dirty="0">
              <a:latin typeface="Segoe UI" panose="020B0502040204020203" pitchFamily="34" charset="0"/>
              <a:cs typeface="Segoe UI" panose="020B0502040204020203" pitchFamily="34" charset="0"/>
            </a:endParaRPr>
          </a:p>
        </p:txBody>
      </p:sp>
      <p:sp>
        <p:nvSpPr>
          <p:cNvPr id="11" name="Text 6">
            <a:extLst>
              <a:ext uri="{FF2B5EF4-FFF2-40B4-BE49-F238E27FC236}">
                <a16:creationId xmlns:a16="http://schemas.microsoft.com/office/drawing/2014/main" id="{F8AE0391-6FCC-47F1-9DC6-3BEA7DDAED47}"/>
              </a:ext>
            </a:extLst>
          </p:cNvPr>
          <p:cNvSpPr/>
          <p:nvPr/>
        </p:nvSpPr>
        <p:spPr>
          <a:xfrm>
            <a:off x="2101691" y="2422938"/>
            <a:ext cx="3657600" cy="320040"/>
          </a:xfrm>
          <a:prstGeom prst="rect">
            <a:avLst/>
          </a:prstGeom>
          <a:noFill/>
          <a:ln/>
        </p:spPr>
        <p:txBody>
          <a:bodyPr wrap="square" rtlCol="0" anchor="ctr"/>
          <a:lstStyle/>
          <a:p>
            <a:pPr marL="0" indent="0">
              <a:buNone/>
            </a:pPr>
            <a:r>
              <a:rPr lang="en-US" sz="1200" b="1" kern="0" spc="100" dirty="0">
                <a:solidFill>
                  <a:srgbClr val="F2A516"/>
                </a:solidFill>
                <a:latin typeface="Segoe UI" panose="020B0502040204020203" pitchFamily="34" charset="0"/>
                <a:ea typeface="Calibri" pitchFamily="34" charset="-122"/>
                <a:cs typeface="Segoe UI" panose="020B0502040204020203" pitchFamily="34" charset="0"/>
              </a:rPr>
              <a:t>Analyse de l'altération</a:t>
            </a:r>
            <a:endParaRPr lang="en-US" sz="1200" dirty="0">
              <a:latin typeface="Segoe UI" panose="020B0502040204020203" pitchFamily="34" charset="0"/>
              <a:cs typeface="Segoe UI" panose="020B0502040204020203" pitchFamily="34" charset="0"/>
            </a:endParaRPr>
          </a:p>
        </p:txBody>
      </p:sp>
      <p:sp>
        <p:nvSpPr>
          <p:cNvPr id="12" name="Text 7">
            <a:extLst>
              <a:ext uri="{FF2B5EF4-FFF2-40B4-BE49-F238E27FC236}">
                <a16:creationId xmlns:a16="http://schemas.microsoft.com/office/drawing/2014/main" id="{B904C44E-CB27-4BBE-93D7-28FFE9360633}"/>
              </a:ext>
            </a:extLst>
          </p:cNvPr>
          <p:cNvSpPr/>
          <p:nvPr/>
        </p:nvSpPr>
        <p:spPr>
          <a:xfrm>
            <a:off x="1141571" y="2880138"/>
            <a:ext cx="4572000" cy="960120"/>
          </a:xfrm>
          <a:prstGeom prst="rect">
            <a:avLst/>
          </a:prstGeom>
          <a:noFill/>
          <a:ln/>
        </p:spPr>
        <p:txBody>
          <a:bodyPr wrap="square" rtlCol="0" anchor="t"/>
          <a:lstStyle/>
          <a:p>
            <a:pPr marL="0" indent="0">
              <a:buNone/>
            </a:pPr>
            <a:r>
              <a:rPr lang="en-US" sz="1300" dirty="0">
                <a:solidFill>
                  <a:srgbClr val="1B2433"/>
                </a:solidFill>
                <a:latin typeface="Segoe UI" panose="020B0502040204020203" pitchFamily="34" charset="0"/>
                <a:ea typeface="Calibri" pitchFamily="34" charset="-122"/>
                <a:cs typeface="Segoe UI" panose="020B0502040204020203" pitchFamily="34" charset="0"/>
              </a:rPr>
              <a:t>Détecte la suspicion de fraude sur les documents à partir des métadonnées, de l'altération d'image et des documents générés par IA.</a:t>
            </a:r>
            <a:endParaRPr lang="en-US" sz="1300" dirty="0">
              <a:latin typeface="Segoe UI" panose="020B0502040204020203" pitchFamily="34" charset="0"/>
              <a:cs typeface="Segoe UI" panose="020B0502040204020203" pitchFamily="34" charset="0"/>
            </a:endParaRPr>
          </a:p>
        </p:txBody>
      </p:sp>
      <p:sp>
        <p:nvSpPr>
          <p:cNvPr id="13" name="Shape 8">
            <a:extLst>
              <a:ext uri="{FF2B5EF4-FFF2-40B4-BE49-F238E27FC236}">
                <a16:creationId xmlns:a16="http://schemas.microsoft.com/office/drawing/2014/main" id="{DE92833B-A809-4C31-AB0C-9DE3E1EA6624}"/>
              </a:ext>
            </a:extLst>
          </p:cNvPr>
          <p:cNvSpPr/>
          <p:nvPr/>
        </p:nvSpPr>
        <p:spPr>
          <a:xfrm>
            <a:off x="6399371" y="1599978"/>
            <a:ext cx="5212080" cy="2331720"/>
          </a:xfrm>
          <a:prstGeom prst="rect">
            <a:avLst/>
          </a:prstGeom>
          <a:solidFill>
            <a:srgbClr val="FFFFFF"/>
          </a:solidFill>
          <a:ln w="12700">
            <a:solidFill>
              <a:srgbClr val="E1E8F0"/>
            </a:solidFill>
            <a:prstDash val="solid"/>
          </a:ln>
          <a:effectLst>
            <a:outerShdw blurRad="88900" dist="38100" dir="8100000" algn="bl" rotWithShape="0">
              <a:srgbClr val="000000">
                <a:alpha val="16000"/>
              </a:srgbClr>
            </a:outerShdw>
          </a:effectLst>
        </p:spPr>
      </p:sp>
      <p:sp>
        <p:nvSpPr>
          <p:cNvPr id="14" name="Shape 9">
            <a:extLst>
              <a:ext uri="{FF2B5EF4-FFF2-40B4-BE49-F238E27FC236}">
                <a16:creationId xmlns:a16="http://schemas.microsoft.com/office/drawing/2014/main" id="{38020FE7-DD76-4BC6-AFC5-E5460DA6CAAF}"/>
              </a:ext>
            </a:extLst>
          </p:cNvPr>
          <p:cNvSpPr/>
          <p:nvPr/>
        </p:nvSpPr>
        <p:spPr>
          <a:xfrm>
            <a:off x="6399371" y="1599978"/>
            <a:ext cx="5212080" cy="82296"/>
          </a:xfrm>
          <a:prstGeom prst="rect">
            <a:avLst/>
          </a:prstGeom>
          <a:solidFill>
            <a:srgbClr val="1C7293"/>
          </a:solidFill>
          <a:ln/>
        </p:spPr>
      </p:sp>
      <p:sp>
        <p:nvSpPr>
          <p:cNvPr id="15" name="Shape 10">
            <a:extLst>
              <a:ext uri="{FF2B5EF4-FFF2-40B4-BE49-F238E27FC236}">
                <a16:creationId xmlns:a16="http://schemas.microsoft.com/office/drawing/2014/main" id="{F5992BC5-6EF6-4F30-B256-96C63C45CE79}"/>
              </a:ext>
            </a:extLst>
          </p:cNvPr>
          <p:cNvSpPr/>
          <p:nvPr/>
        </p:nvSpPr>
        <p:spPr>
          <a:xfrm>
            <a:off x="6719411" y="1965738"/>
            <a:ext cx="777240" cy="777240"/>
          </a:xfrm>
          <a:prstGeom prst="ellipse">
            <a:avLst/>
          </a:prstGeom>
          <a:solidFill>
            <a:srgbClr val="F4F7FB"/>
          </a:solidFill>
          <a:ln/>
        </p:spPr>
      </p:sp>
      <p:pic>
        <p:nvPicPr>
          <p:cNvPr id="16" name="Image 1" descr="preencoded.png">
            <a:extLst>
              <a:ext uri="{FF2B5EF4-FFF2-40B4-BE49-F238E27FC236}">
                <a16:creationId xmlns:a16="http://schemas.microsoft.com/office/drawing/2014/main" id="{756FB445-2AF7-485F-AE16-DC040073B6EF}"/>
              </a:ext>
            </a:extLst>
          </p:cNvPr>
          <p:cNvPicPr>
            <a:picLocks noChangeAspect="1"/>
          </p:cNvPicPr>
          <p:nvPr/>
        </p:nvPicPr>
        <p:blipFill>
          <a:blip r:embed="rId3"/>
          <a:stretch>
            <a:fillRect/>
          </a:stretch>
        </p:blipFill>
        <p:spPr>
          <a:xfrm>
            <a:off x="6874859" y="2121186"/>
            <a:ext cx="466344" cy="466344"/>
          </a:xfrm>
          <a:prstGeom prst="rect">
            <a:avLst/>
          </a:prstGeom>
        </p:spPr>
      </p:pic>
      <p:sp>
        <p:nvSpPr>
          <p:cNvPr id="17" name="Text 11">
            <a:extLst>
              <a:ext uri="{FF2B5EF4-FFF2-40B4-BE49-F238E27FC236}">
                <a16:creationId xmlns:a16="http://schemas.microsoft.com/office/drawing/2014/main" id="{99D3AC9C-1230-45AD-BDFD-43096168F59E}"/>
              </a:ext>
            </a:extLst>
          </p:cNvPr>
          <p:cNvSpPr/>
          <p:nvPr/>
        </p:nvSpPr>
        <p:spPr>
          <a:xfrm>
            <a:off x="7679531" y="2011458"/>
            <a:ext cx="3657600" cy="411480"/>
          </a:xfrm>
          <a:prstGeom prst="rect">
            <a:avLst/>
          </a:prstGeom>
          <a:noFill/>
          <a:ln/>
        </p:spPr>
        <p:txBody>
          <a:bodyPr wrap="square" rtlCol="0" anchor="ctr"/>
          <a:lstStyle/>
          <a:p>
            <a:pPr marL="0" indent="0">
              <a:buNone/>
            </a:pPr>
            <a:r>
              <a:rPr lang="en-US" sz="2400" b="1" dirty="0">
                <a:solidFill>
                  <a:srgbClr val="1C7293"/>
                </a:solidFill>
                <a:latin typeface="Segoe UI" panose="020B0502040204020203" pitchFamily="34" charset="0"/>
                <a:ea typeface="Georgia" pitchFamily="34" charset="-122"/>
                <a:cs typeface="Segoe UI" panose="020B0502040204020203" pitchFamily="34" charset="0"/>
              </a:rPr>
              <a:t>R2DDOC</a:t>
            </a:r>
            <a:endParaRPr lang="en-US" sz="2400" dirty="0">
              <a:latin typeface="Segoe UI" panose="020B0502040204020203" pitchFamily="34" charset="0"/>
              <a:cs typeface="Segoe UI" panose="020B0502040204020203" pitchFamily="34" charset="0"/>
            </a:endParaRPr>
          </a:p>
        </p:txBody>
      </p:sp>
      <p:sp>
        <p:nvSpPr>
          <p:cNvPr id="18" name="Text 12">
            <a:extLst>
              <a:ext uri="{FF2B5EF4-FFF2-40B4-BE49-F238E27FC236}">
                <a16:creationId xmlns:a16="http://schemas.microsoft.com/office/drawing/2014/main" id="{7DD6A1AE-5F15-408F-AC40-016D511B272C}"/>
              </a:ext>
            </a:extLst>
          </p:cNvPr>
          <p:cNvSpPr/>
          <p:nvPr/>
        </p:nvSpPr>
        <p:spPr>
          <a:xfrm>
            <a:off x="7679531" y="2422938"/>
            <a:ext cx="3657600" cy="320040"/>
          </a:xfrm>
          <a:prstGeom prst="rect">
            <a:avLst/>
          </a:prstGeom>
          <a:noFill/>
          <a:ln/>
        </p:spPr>
        <p:txBody>
          <a:bodyPr wrap="square" rtlCol="0" anchor="ctr"/>
          <a:lstStyle/>
          <a:p>
            <a:pPr marL="0" indent="0">
              <a:buNone/>
            </a:pPr>
            <a:r>
              <a:rPr lang="en-US" sz="1200" b="1" kern="0" spc="100" dirty="0">
                <a:solidFill>
                  <a:srgbClr val="F2A516"/>
                </a:solidFill>
                <a:latin typeface="Segoe UI" panose="020B0502040204020203" pitchFamily="34" charset="0"/>
                <a:ea typeface="Calibri" pitchFamily="34" charset="-122"/>
                <a:cs typeface="Segoe UI" panose="020B0502040204020203" pitchFamily="34" charset="0"/>
              </a:rPr>
              <a:t>Contrôle 2D-Doc</a:t>
            </a:r>
            <a:endParaRPr lang="en-US" sz="1200" dirty="0">
              <a:latin typeface="Segoe UI" panose="020B0502040204020203" pitchFamily="34" charset="0"/>
              <a:cs typeface="Segoe UI" panose="020B0502040204020203" pitchFamily="34" charset="0"/>
            </a:endParaRPr>
          </a:p>
        </p:txBody>
      </p:sp>
      <p:sp>
        <p:nvSpPr>
          <p:cNvPr id="19" name="Text 13">
            <a:extLst>
              <a:ext uri="{FF2B5EF4-FFF2-40B4-BE49-F238E27FC236}">
                <a16:creationId xmlns:a16="http://schemas.microsoft.com/office/drawing/2014/main" id="{E29C2F5C-620A-4D68-9941-58B54A46BE54}"/>
              </a:ext>
            </a:extLst>
          </p:cNvPr>
          <p:cNvSpPr/>
          <p:nvPr/>
        </p:nvSpPr>
        <p:spPr>
          <a:xfrm>
            <a:off x="6719411" y="2880138"/>
            <a:ext cx="4572000" cy="960120"/>
          </a:xfrm>
          <a:prstGeom prst="rect">
            <a:avLst/>
          </a:prstGeom>
          <a:noFill/>
          <a:ln/>
        </p:spPr>
        <p:txBody>
          <a:bodyPr wrap="square" rtlCol="0" anchor="t"/>
          <a:lstStyle/>
          <a:p>
            <a:pPr marL="0" indent="0">
              <a:buNone/>
            </a:pPr>
            <a:r>
              <a:rPr lang="en-US" sz="1300" dirty="0">
                <a:solidFill>
                  <a:srgbClr val="1B2433"/>
                </a:solidFill>
                <a:latin typeface="Segoe UI" panose="020B0502040204020203" pitchFamily="34" charset="0"/>
                <a:ea typeface="Calibri" pitchFamily="34" charset="-122"/>
                <a:cs typeface="Segoe UI" panose="020B0502040204020203" pitchFamily="34" charset="0"/>
              </a:rPr>
              <a:t>Détecte la fraude sur les documents porteurs d'un 2D-Doc (Datamatrix) en comparant ses métadonnées aux extractions OCR.</a:t>
            </a:r>
            <a:endParaRPr lang="en-US" sz="1300" dirty="0">
              <a:latin typeface="Segoe UI" panose="020B0502040204020203" pitchFamily="34" charset="0"/>
              <a:cs typeface="Segoe UI" panose="020B0502040204020203" pitchFamily="34" charset="0"/>
            </a:endParaRPr>
          </a:p>
        </p:txBody>
      </p:sp>
      <p:sp>
        <p:nvSpPr>
          <p:cNvPr id="20" name="Text 14">
            <a:extLst>
              <a:ext uri="{FF2B5EF4-FFF2-40B4-BE49-F238E27FC236}">
                <a16:creationId xmlns:a16="http://schemas.microsoft.com/office/drawing/2014/main" id="{C0BF2D68-1010-48B3-99F8-FB3C1A3D3FA3}"/>
              </a:ext>
            </a:extLst>
          </p:cNvPr>
          <p:cNvSpPr/>
          <p:nvPr/>
        </p:nvSpPr>
        <p:spPr>
          <a:xfrm>
            <a:off x="821531" y="4160298"/>
            <a:ext cx="10972800" cy="365760"/>
          </a:xfrm>
          <a:prstGeom prst="rect">
            <a:avLst/>
          </a:prstGeom>
          <a:noFill/>
          <a:ln/>
        </p:spPr>
        <p:txBody>
          <a:bodyPr wrap="square" rtlCol="0" anchor="ctr"/>
          <a:lstStyle/>
          <a:p>
            <a:pPr marL="0" indent="0">
              <a:buNone/>
            </a:pPr>
            <a:r>
              <a:rPr lang="en-US" sz="1500" b="1" dirty="0">
                <a:solidFill>
                  <a:srgbClr val="1B2433"/>
                </a:solidFill>
                <a:latin typeface="Segoe UI" panose="020B0502040204020203" pitchFamily="34" charset="0"/>
                <a:ea typeface="Calibri" pitchFamily="34" charset="-122"/>
                <a:cs typeface="Segoe UI" panose="020B0502040204020203" pitchFamily="34" charset="0"/>
              </a:rPr>
              <a:t>Architecture commune aux deux solutions</a:t>
            </a:r>
            <a:endParaRPr lang="en-US" sz="1500" dirty="0">
              <a:latin typeface="Segoe UI" panose="020B0502040204020203" pitchFamily="34" charset="0"/>
              <a:cs typeface="Segoe UI" panose="020B0502040204020203" pitchFamily="34" charset="0"/>
            </a:endParaRPr>
          </a:p>
        </p:txBody>
      </p:sp>
      <p:sp>
        <p:nvSpPr>
          <p:cNvPr id="21" name="Shape 15">
            <a:extLst>
              <a:ext uri="{FF2B5EF4-FFF2-40B4-BE49-F238E27FC236}">
                <a16:creationId xmlns:a16="http://schemas.microsoft.com/office/drawing/2014/main" id="{8898425C-C0F5-4253-B28C-D01068A7AC33}"/>
              </a:ext>
            </a:extLst>
          </p:cNvPr>
          <p:cNvSpPr/>
          <p:nvPr/>
        </p:nvSpPr>
        <p:spPr>
          <a:xfrm>
            <a:off x="821531" y="4617498"/>
            <a:ext cx="3520440" cy="1371600"/>
          </a:xfrm>
          <a:prstGeom prst="rect">
            <a:avLst/>
          </a:prstGeom>
          <a:solidFill>
            <a:srgbClr val="21295C"/>
          </a:solidFill>
          <a:ln/>
          <a:effectLst>
            <a:outerShdw blurRad="88900" dist="38100" dir="8100000" algn="bl" rotWithShape="0">
              <a:srgbClr val="000000">
                <a:alpha val="16000"/>
              </a:srgbClr>
            </a:outerShdw>
          </a:effectLst>
        </p:spPr>
      </p:sp>
      <p:sp>
        <p:nvSpPr>
          <p:cNvPr id="22" name="Shape 16">
            <a:extLst>
              <a:ext uri="{FF2B5EF4-FFF2-40B4-BE49-F238E27FC236}">
                <a16:creationId xmlns:a16="http://schemas.microsoft.com/office/drawing/2014/main" id="{EA02C5E2-E852-40CE-B321-9EEBCC1839D6}"/>
              </a:ext>
            </a:extLst>
          </p:cNvPr>
          <p:cNvSpPr/>
          <p:nvPr/>
        </p:nvSpPr>
        <p:spPr>
          <a:xfrm>
            <a:off x="1077563" y="4846098"/>
            <a:ext cx="640080" cy="640080"/>
          </a:xfrm>
          <a:prstGeom prst="ellipse">
            <a:avLst/>
          </a:prstGeom>
          <a:solidFill>
            <a:srgbClr val="FFFFFF"/>
          </a:solidFill>
          <a:ln/>
        </p:spPr>
      </p:sp>
      <p:pic>
        <p:nvPicPr>
          <p:cNvPr id="23" name="Image 2" descr="preencoded.png">
            <a:extLst>
              <a:ext uri="{FF2B5EF4-FFF2-40B4-BE49-F238E27FC236}">
                <a16:creationId xmlns:a16="http://schemas.microsoft.com/office/drawing/2014/main" id="{396E5B33-F4DD-4D24-B0AF-BBBDB2A11A05}"/>
              </a:ext>
            </a:extLst>
          </p:cNvPr>
          <p:cNvPicPr>
            <a:picLocks noChangeAspect="1"/>
          </p:cNvPicPr>
          <p:nvPr/>
        </p:nvPicPr>
        <p:blipFill>
          <a:blip r:embed="rId4"/>
          <a:stretch>
            <a:fillRect/>
          </a:stretch>
        </p:blipFill>
        <p:spPr>
          <a:xfrm>
            <a:off x="1205579" y="4974114"/>
            <a:ext cx="384048" cy="384048"/>
          </a:xfrm>
          <a:prstGeom prst="rect">
            <a:avLst/>
          </a:prstGeom>
        </p:spPr>
      </p:pic>
      <p:sp>
        <p:nvSpPr>
          <p:cNvPr id="24" name="Text 17">
            <a:extLst>
              <a:ext uri="{FF2B5EF4-FFF2-40B4-BE49-F238E27FC236}">
                <a16:creationId xmlns:a16="http://schemas.microsoft.com/office/drawing/2014/main" id="{0039913A-CFD3-4268-AFAA-154755B4650F}"/>
              </a:ext>
            </a:extLst>
          </p:cNvPr>
          <p:cNvSpPr/>
          <p:nvPr/>
        </p:nvSpPr>
        <p:spPr>
          <a:xfrm>
            <a:off x="1873091" y="4846098"/>
            <a:ext cx="2331720" cy="457200"/>
          </a:xfrm>
          <a:prstGeom prst="rect">
            <a:avLst/>
          </a:prstGeom>
          <a:noFill/>
          <a:ln/>
        </p:spPr>
        <p:txBody>
          <a:bodyPr wrap="square" rtlCol="0" anchor="ctr"/>
          <a:lstStyle/>
          <a:p>
            <a:pPr marL="0" indent="0">
              <a:buNone/>
            </a:pPr>
            <a:r>
              <a:rPr lang="en-US" sz="1350" b="1" dirty="0">
                <a:solidFill>
                  <a:srgbClr val="FFFFFF"/>
                </a:solidFill>
                <a:latin typeface="Segoe UI" panose="020B0502040204020203" pitchFamily="34" charset="0"/>
                <a:ea typeface="Calibri" pitchFamily="34" charset="-122"/>
                <a:cs typeface="Segoe UI" panose="020B0502040204020203" pitchFamily="34" charset="0"/>
              </a:rPr>
              <a:t>Service de détection (API)</a:t>
            </a:r>
            <a:endParaRPr lang="en-US" sz="1350" dirty="0">
              <a:latin typeface="Segoe UI" panose="020B0502040204020203" pitchFamily="34" charset="0"/>
              <a:cs typeface="Segoe UI" panose="020B0502040204020203" pitchFamily="34" charset="0"/>
            </a:endParaRPr>
          </a:p>
        </p:txBody>
      </p:sp>
      <p:sp>
        <p:nvSpPr>
          <p:cNvPr id="25" name="Text 18">
            <a:extLst>
              <a:ext uri="{FF2B5EF4-FFF2-40B4-BE49-F238E27FC236}">
                <a16:creationId xmlns:a16="http://schemas.microsoft.com/office/drawing/2014/main" id="{C220C157-98E9-4BCB-B191-2F4CCB30CB6B}"/>
              </a:ext>
            </a:extLst>
          </p:cNvPr>
          <p:cNvSpPr/>
          <p:nvPr/>
        </p:nvSpPr>
        <p:spPr>
          <a:xfrm>
            <a:off x="1873091" y="5285010"/>
            <a:ext cx="2331720" cy="548640"/>
          </a:xfrm>
          <a:prstGeom prst="rect">
            <a:avLst/>
          </a:prstGeom>
          <a:noFill/>
          <a:ln/>
        </p:spPr>
        <p:txBody>
          <a:bodyPr wrap="square" rtlCol="0" anchor="ctr"/>
          <a:lstStyle/>
          <a:p>
            <a:pPr marL="0" indent="0">
              <a:buNone/>
            </a:pPr>
            <a:r>
              <a:rPr lang="en-US" sz="1100" dirty="0">
                <a:solidFill>
                  <a:srgbClr val="CFE3F2"/>
                </a:solidFill>
                <a:latin typeface="Segoe UI" panose="020B0502040204020203" pitchFamily="34" charset="0"/>
                <a:ea typeface="Calibri" pitchFamily="34" charset="-122"/>
                <a:cs typeface="Segoe UI" panose="020B0502040204020203" pitchFamily="34" charset="0"/>
              </a:rPr>
              <a:t>Calcul automatique de la suspicion de fraude</a:t>
            </a:r>
            <a:endParaRPr lang="en-US" sz="1100" dirty="0">
              <a:latin typeface="Segoe UI" panose="020B0502040204020203" pitchFamily="34" charset="0"/>
              <a:cs typeface="Segoe UI" panose="020B0502040204020203" pitchFamily="34" charset="0"/>
            </a:endParaRPr>
          </a:p>
        </p:txBody>
      </p:sp>
      <p:sp>
        <p:nvSpPr>
          <p:cNvPr id="26" name="Shape 19">
            <a:extLst>
              <a:ext uri="{FF2B5EF4-FFF2-40B4-BE49-F238E27FC236}">
                <a16:creationId xmlns:a16="http://schemas.microsoft.com/office/drawing/2014/main" id="{C365DF75-C264-42A9-B2E1-8DDABFD77C37}"/>
              </a:ext>
            </a:extLst>
          </p:cNvPr>
          <p:cNvSpPr/>
          <p:nvPr/>
        </p:nvSpPr>
        <p:spPr>
          <a:xfrm>
            <a:off x="4543139" y="4617498"/>
            <a:ext cx="3520440" cy="1371600"/>
          </a:xfrm>
          <a:prstGeom prst="rect">
            <a:avLst/>
          </a:prstGeom>
          <a:solidFill>
            <a:srgbClr val="21295C"/>
          </a:solidFill>
          <a:ln/>
          <a:effectLst>
            <a:outerShdw blurRad="88900" dist="38100" dir="8100000" algn="bl" rotWithShape="0">
              <a:srgbClr val="000000">
                <a:alpha val="16000"/>
              </a:srgbClr>
            </a:outerShdw>
          </a:effectLst>
        </p:spPr>
      </p:sp>
      <p:sp>
        <p:nvSpPr>
          <p:cNvPr id="27" name="Shape 20">
            <a:extLst>
              <a:ext uri="{FF2B5EF4-FFF2-40B4-BE49-F238E27FC236}">
                <a16:creationId xmlns:a16="http://schemas.microsoft.com/office/drawing/2014/main" id="{3FE0DEA0-EDAE-42FA-B415-18E1FD60EB39}"/>
              </a:ext>
            </a:extLst>
          </p:cNvPr>
          <p:cNvSpPr/>
          <p:nvPr/>
        </p:nvSpPr>
        <p:spPr>
          <a:xfrm>
            <a:off x="4799171" y="4846098"/>
            <a:ext cx="640080" cy="640080"/>
          </a:xfrm>
          <a:prstGeom prst="ellipse">
            <a:avLst/>
          </a:prstGeom>
          <a:solidFill>
            <a:srgbClr val="FFFFFF"/>
          </a:solidFill>
          <a:ln/>
        </p:spPr>
      </p:sp>
      <p:pic>
        <p:nvPicPr>
          <p:cNvPr id="28" name="Image 3" descr="preencoded.png">
            <a:extLst>
              <a:ext uri="{FF2B5EF4-FFF2-40B4-BE49-F238E27FC236}">
                <a16:creationId xmlns:a16="http://schemas.microsoft.com/office/drawing/2014/main" id="{1D36EDB6-E84E-4F35-A1AD-136CDFD77A28}"/>
              </a:ext>
            </a:extLst>
          </p:cNvPr>
          <p:cNvPicPr>
            <a:picLocks noChangeAspect="1"/>
          </p:cNvPicPr>
          <p:nvPr/>
        </p:nvPicPr>
        <p:blipFill>
          <a:blip r:embed="rId5"/>
          <a:stretch>
            <a:fillRect/>
          </a:stretch>
        </p:blipFill>
        <p:spPr>
          <a:xfrm>
            <a:off x="4927187" y="4974114"/>
            <a:ext cx="384048" cy="384048"/>
          </a:xfrm>
          <a:prstGeom prst="rect">
            <a:avLst/>
          </a:prstGeom>
        </p:spPr>
      </p:pic>
      <p:sp>
        <p:nvSpPr>
          <p:cNvPr id="29" name="Text 21">
            <a:extLst>
              <a:ext uri="{FF2B5EF4-FFF2-40B4-BE49-F238E27FC236}">
                <a16:creationId xmlns:a16="http://schemas.microsoft.com/office/drawing/2014/main" id="{DEEBD258-6BAF-4700-8EBE-478B481CB1CE}"/>
              </a:ext>
            </a:extLst>
          </p:cNvPr>
          <p:cNvSpPr/>
          <p:nvPr/>
        </p:nvSpPr>
        <p:spPr>
          <a:xfrm>
            <a:off x="5594699" y="4846098"/>
            <a:ext cx="2331720" cy="457200"/>
          </a:xfrm>
          <a:prstGeom prst="rect">
            <a:avLst/>
          </a:prstGeom>
          <a:noFill/>
          <a:ln/>
        </p:spPr>
        <p:txBody>
          <a:bodyPr wrap="square" rtlCol="0" anchor="ctr"/>
          <a:lstStyle/>
          <a:p>
            <a:pPr marL="0" indent="0">
              <a:buNone/>
            </a:pPr>
            <a:r>
              <a:rPr lang="en-US" sz="1350" b="1" dirty="0">
                <a:solidFill>
                  <a:srgbClr val="FFFFFF"/>
                </a:solidFill>
                <a:latin typeface="Segoe UI" panose="020B0502040204020203" pitchFamily="34" charset="0"/>
                <a:ea typeface="Calibri" pitchFamily="34" charset="-122"/>
                <a:cs typeface="Segoe UI" panose="020B0502040204020203" pitchFamily="34" charset="0"/>
              </a:rPr>
              <a:t>IHM de visualisation</a:t>
            </a:r>
            <a:endParaRPr lang="en-US" sz="1350" dirty="0">
              <a:latin typeface="Segoe UI" panose="020B0502040204020203" pitchFamily="34" charset="0"/>
              <a:cs typeface="Segoe UI" panose="020B0502040204020203" pitchFamily="34" charset="0"/>
            </a:endParaRPr>
          </a:p>
        </p:txBody>
      </p:sp>
      <p:sp>
        <p:nvSpPr>
          <p:cNvPr id="30" name="Text 22">
            <a:extLst>
              <a:ext uri="{FF2B5EF4-FFF2-40B4-BE49-F238E27FC236}">
                <a16:creationId xmlns:a16="http://schemas.microsoft.com/office/drawing/2014/main" id="{C03417FA-D9F1-45C4-A8BE-990F1D5B4F85}"/>
              </a:ext>
            </a:extLst>
          </p:cNvPr>
          <p:cNvSpPr/>
          <p:nvPr/>
        </p:nvSpPr>
        <p:spPr>
          <a:xfrm>
            <a:off x="5594699" y="5285010"/>
            <a:ext cx="2331720" cy="548640"/>
          </a:xfrm>
          <a:prstGeom prst="rect">
            <a:avLst/>
          </a:prstGeom>
          <a:noFill/>
          <a:ln/>
        </p:spPr>
        <p:txBody>
          <a:bodyPr wrap="square" rtlCol="0" anchor="ctr"/>
          <a:lstStyle/>
          <a:p>
            <a:pPr marL="0" indent="0">
              <a:buNone/>
            </a:pPr>
            <a:r>
              <a:rPr lang="en-US" sz="1100" dirty="0">
                <a:solidFill>
                  <a:srgbClr val="CFE3F2"/>
                </a:solidFill>
                <a:latin typeface="Segoe UI" panose="020B0502040204020203" pitchFamily="34" charset="0"/>
                <a:ea typeface="Calibri" pitchFamily="34" charset="-122"/>
                <a:cs typeface="Segoe UI" panose="020B0502040204020203" pitchFamily="34" charset="0"/>
              </a:rPr>
              <a:t>Restitution des signaux et indices détectés</a:t>
            </a:r>
            <a:endParaRPr lang="en-US" sz="1100" dirty="0">
              <a:latin typeface="Segoe UI" panose="020B0502040204020203" pitchFamily="34" charset="0"/>
              <a:cs typeface="Segoe UI" panose="020B0502040204020203" pitchFamily="34" charset="0"/>
            </a:endParaRPr>
          </a:p>
        </p:txBody>
      </p:sp>
      <p:sp>
        <p:nvSpPr>
          <p:cNvPr id="31" name="Shape 23">
            <a:extLst>
              <a:ext uri="{FF2B5EF4-FFF2-40B4-BE49-F238E27FC236}">
                <a16:creationId xmlns:a16="http://schemas.microsoft.com/office/drawing/2014/main" id="{184B0086-A0A2-4705-ADCE-1EEAE69166A6}"/>
              </a:ext>
            </a:extLst>
          </p:cNvPr>
          <p:cNvSpPr/>
          <p:nvPr/>
        </p:nvSpPr>
        <p:spPr>
          <a:xfrm>
            <a:off x="8264747" y="4617498"/>
            <a:ext cx="3520440" cy="1371600"/>
          </a:xfrm>
          <a:prstGeom prst="rect">
            <a:avLst/>
          </a:prstGeom>
          <a:solidFill>
            <a:srgbClr val="21295C"/>
          </a:solidFill>
          <a:ln/>
          <a:effectLst>
            <a:outerShdw blurRad="88900" dist="38100" dir="8100000" algn="bl" rotWithShape="0">
              <a:srgbClr val="000000">
                <a:alpha val="16000"/>
              </a:srgbClr>
            </a:outerShdw>
          </a:effectLst>
        </p:spPr>
      </p:sp>
      <p:sp>
        <p:nvSpPr>
          <p:cNvPr id="32" name="Shape 24">
            <a:extLst>
              <a:ext uri="{FF2B5EF4-FFF2-40B4-BE49-F238E27FC236}">
                <a16:creationId xmlns:a16="http://schemas.microsoft.com/office/drawing/2014/main" id="{0713AB8D-9DB7-4CED-A3A6-70C97BFDAA37}"/>
              </a:ext>
            </a:extLst>
          </p:cNvPr>
          <p:cNvSpPr/>
          <p:nvPr/>
        </p:nvSpPr>
        <p:spPr>
          <a:xfrm>
            <a:off x="8520779" y="4846098"/>
            <a:ext cx="640080" cy="640080"/>
          </a:xfrm>
          <a:prstGeom prst="ellipse">
            <a:avLst/>
          </a:prstGeom>
          <a:solidFill>
            <a:srgbClr val="FFFFFF"/>
          </a:solidFill>
          <a:ln/>
        </p:spPr>
      </p:sp>
      <p:pic>
        <p:nvPicPr>
          <p:cNvPr id="33" name="Image 4" descr="preencoded.png">
            <a:extLst>
              <a:ext uri="{FF2B5EF4-FFF2-40B4-BE49-F238E27FC236}">
                <a16:creationId xmlns:a16="http://schemas.microsoft.com/office/drawing/2014/main" id="{B4957B18-6778-4835-ACED-2479322FA249}"/>
              </a:ext>
            </a:extLst>
          </p:cNvPr>
          <p:cNvPicPr>
            <a:picLocks noChangeAspect="1"/>
          </p:cNvPicPr>
          <p:nvPr/>
        </p:nvPicPr>
        <p:blipFill>
          <a:blip r:embed="rId6"/>
          <a:stretch>
            <a:fillRect/>
          </a:stretch>
        </p:blipFill>
        <p:spPr>
          <a:xfrm>
            <a:off x="8648795" y="4974114"/>
            <a:ext cx="384048" cy="384048"/>
          </a:xfrm>
          <a:prstGeom prst="rect">
            <a:avLst/>
          </a:prstGeom>
        </p:spPr>
      </p:pic>
      <p:sp>
        <p:nvSpPr>
          <p:cNvPr id="34" name="Text 25">
            <a:extLst>
              <a:ext uri="{FF2B5EF4-FFF2-40B4-BE49-F238E27FC236}">
                <a16:creationId xmlns:a16="http://schemas.microsoft.com/office/drawing/2014/main" id="{62DA17F9-CBA3-4B49-9471-71E9F176AC22}"/>
              </a:ext>
            </a:extLst>
          </p:cNvPr>
          <p:cNvSpPr/>
          <p:nvPr/>
        </p:nvSpPr>
        <p:spPr>
          <a:xfrm>
            <a:off x="9316307" y="4846098"/>
            <a:ext cx="2331720" cy="457200"/>
          </a:xfrm>
          <a:prstGeom prst="rect">
            <a:avLst/>
          </a:prstGeom>
          <a:noFill/>
          <a:ln/>
        </p:spPr>
        <p:txBody>
          <a:bodyPr wrap="square" rtlCol="0" anchor="ctr"/>
          <a:lstStyle/>
          <a:p>
            <a:pPr marL="0" indent="0">
              <a:buNone/>
            </a:pPr>
            <a:r>
              <a:rPr lang="en-US" sz="1350" b="1" dirty="0">
                <a:solidFill>
                  <a:srgbClr val="FFFFFF"/>
                </a:solidFill>
                <a:latin typeface="Segoe UI" panose="020B0502040204020203" pitchFamily="34" charset="0"/>
                <a:ea typeface="Calibri" pitchFamily="34" charset="-122"/>
                <a:cs typeface="Segoe UI" panose="020B0502040204020203" pitchFamily="34" charset="0"/>
              </a:rPr>
              <a:t>Levée de doute manuelle</a:t>
            </a:r>
            <a:endParaRPr lang="en-US" sz="1350" dirty="0">
              <a:latin typeface="Segoe UI" panose="020B0502040204020203" pitchFamily="34" charset="0"/>
              <a:cs typeface="Segoe UI" panose="020B0502040204020203" pitchFamily="34" charset="0"/>
            </a:endParaRPr>
          </a:p>
        </p:txBody>
      </p:sp>
      <p:sp>
        <p:nvSpPr>
          <p:cNvPr id="35" name="Text 26">
            <a:extLst>
              <a:ext uri="{FF2B5EF4-FFF2-40B4-BE49-F238E27FC236}">
                <a16:creationId xmlns:a16="http://schemas.microsoft.com/office/drawing/2014/main" id="{FF41D359-EBAF-488C-9ED7-ADED0B1F7EB4}"/>
              </a:ext>
            </a:extLst>
          </p:cNvPr>
          <p:cNvSpPr/>
          <p:nvPr/>
        </p:nvSpPr>
        <p:spPr>
          <a:xfrm>
            <a:off x="9316307" y="5285010"/>
            <a:ext cx="2331720" cy="548640"/>
          </a:xfrm>
          <a:prstGeom prst="rect">
            <a:avLst/>
          </a:prstGeom>
          <a:noFill/>
          <a:ln/>
        </p:spPr>
        <p:txBody>
          <a:bodyPr wrap="square" rtlCol="0" anchor="ctr"/>
          <a:lstStyle/>
          <a:p>
            <a:pPr marL="0" indent="0">
              <a:buNone/>
            </a:pPr>
            <a:r>
              <a:rPr lang="en-US" sz="1100" dirty="0">
                <a:solidFill>
                  <a:srgbClr val="CFE3F2"/>
                </a:solidFill>
                <a:latin typeface="Segoe UI" panose="020B0502040204020203" pitchFamily="34" charset="0"/>
                <a:ea typeface="Calibri" pitchFamily="34" charset="-122"/>
                <a:cs typeface="Segoe UI" panose="020B0502040204020203" pitchFamily="34" charset="0"/>
              </a:rPr>
              <a:t>Confirmation / infirmation par un opérateur</a:t>
            </a:r>
            <a:endParaRPr lang="en-US"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43641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3AA35C-5BEB-4267-8F04-3BA60015D922}"/>
              </a:ext>
            </a:extLst>
          </p:cNvPr>
          <p:cNvSpPr>
            <a:spLocks noGrp="1"/>
          </p:cNvSpPr>
          <p:nvPr>
            <p:ph type="title"/>
          </p:nvPr>
        </p:nvSpPr>
        <p:spPr/>
        <p:txBody>
          <a:bodyPr/>
          <a:lstStyle/>
          <a:p>
            <a:r>
              <a:rPr lang="fr-FR" dirty="0"/>
              <a:t>Delivery Model</a:t>
            </a:r>
          </a:p>
        </p:txBody>
      </p:sp>
      <p:sp>
        <p:nvSpPr>
          <p:cNvPr id="3" name="Espace réservé du pied de page 2">
            <a:extLst>
              <a:ext uri="{FF2B5EF4-FFF2-40B4-BE49-F238E27FC236}">
                <a16:creationId xmlns:a16="http://schemas.microsoft.com/office/drawing/2014/main" id="{DB31951B-4E2D-44F3-8FF5-B139CCCDCC6C}"/>
              </a:ext>
            </a:extLst>
          </p:cNvPr>
          <p:cNvSpPr>
            <a:spLocks noGrp="1"/>
          </p:cNvSpPr>
          <p:nvPr>
            <p:ph type="ftr" sz="quarter" idx="11"/>
          </p:nvPr>
        </p:nvSpPr>
        <p:spPr/>
        <p:txBody>
          <a:bodyPr/>
          <a:lstStyle/>
          <a:p>
            <a:r>
              <a:rPr lang="fr-FR"/>
              <a:t>Atterrissage Alexandrie - Gouvernance et Organisation</a:t>
            </a:r>
          </a:p>
        </p:txBody>
      </p:sp>
      <p:sp>
        <p:nvSpPr>
          <p:cNvPr id="5" name="Espace réservé du texte 4">
            <a:extLst>
              <a:ext uri="{FF2B5EF4-FFF2-40B4-BE49-F238E27FC236}">
                <a16:creationId xmlns:a16="http://schemas.microsoft.com/office/drawing/2014/main" id="{CD27B5B3-2390-466C-B9DA-5A7D7791D281}"/>
              </a:ext>
            </a:extLst>
          </p:cNvPr>
          <p:cNvSpPr>
            <a:spLocks noGrp="1"/>
          </p:cNvSpPr>
          <p:nvPr>
            <p:ph type="body" sz="quarter" idx="14"/>
          </p:nvPr>
        </p:nvSpPr>
        <p:spPr/>
        <p:txBody>
          <a:bodyPr/>
          <a:lstStyle/>
          <a:p>
            <a:endParaRPr lang="fr-FR" dirty="0"/>
          </a:p>
        </p:txBody>
      </p:sp>
      <p:sp>
        <p:nvSpPr>
          <p:cNvPr id="38" name="Text 5">
            <a:extLst>
              <a:ext uri="{FF2B5EF4-FFF2-40B4-BE49-F238E27FC236}">
                <a16:creationId xmlns:a16="http://schemas.microsoft.com/office/drawing/2014/main" id="{4C3E9533-ED29-4628-8E3D-FF0DFD8D4784}"/>
              </a:ext>
            </a:extLst>
          </p:cNvPr>
          <p:cNvSpPr/>
          <p:nvPr/>
        </p:nvSpPr>
        <p:spPr>
          <a:xfrm>
            <a:off x="1004411" y="5179979"/>
            <a:ext cx="457200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H620  —  porte tout</a:t>
            </a:r>
            <a:endParaRPr lang="en-US" sz="1500" dirty="0"/>
          </a:p>
        </p:txBody>
      </p:sp>
      <p:sp>
        <p:nvSpPr>
          <p:cNvPr id="43" name="Text 8">
            <a:extLst>
              <a:ext uri="{FF2B5EF4-FFF2-40B4-BE49-F238E27FC236}">
                <a16:creationId xmlns:a16="http://schemas.microsoft.com/office/drawing/2014/main" id="{1150F483-CFCE-4F14-9317-AA3EE0936C2E}"/>
              </a:ext>
            </a:extLst>
          </p:cNvPr>
          <p:cNvSpPr/>
          <p:nvPr/>
        </p:nvSpPr>
        <p:spPr>
          <a:xfrm>
            <a:off x="1735931" y="6688739"/>
            <a:ext cx="3840480" cy="365760"/>
          </a:xfrm>
          <a:prstGeom prst="rect">
            <a:avLst/>
          </a:prstGeom>
          <a:noFill/>
          <a:ln/>
        </p:spPr>
        <p:txBody>
          <a:bodyPr wrap="square" rtlCol="0" anchor="ctr"/>
          <a:lstStyle/>
          <a:p>
            <a:pPr marL="0" indent="0">
              <a:buNone/>
            </a:pPr>
            <a:endParaRPr lang="en-US" sz="1400" dirty="0"/>
          </a:p>
        </p:txBody>
      </p:sp>
      <p:sp>
        <p:nvSpPr>
          <p:cNvPr id="44" name="Text 9">
            <a:extLst>
              <a:ext uri="{FF2B5EF4-FFF2-40B4-BE49-F238E27FC236}">
                <a16:creationId xmlns:a16="http://schemas.microsoft.com/office/drawing/2014/main" id="{F13BBBF4-690A-40C9-8DA6-064F77CBB597}"/>
              </a:ext>
            </a:extLst>
          </p:cNvPr>
          <p:cNvSpPr/>
          <p:nvPr/>
        </p:nvSpPr>
        <p:spPr>
          <a:xfrm>
            <a:off x="1735931" y="7017923"/>
            <a:ext cx="3840480" cy="320040"/>
          </a:xfrm>
          <a:prstGeom prst="rect">
            <a:avLst/>
          </a:prstGeom>
          <a:noFill/>
          <a:ln/>
        </p:spPr>
        <p:txBody>
          <a:bodyPr wrap="square" rtlCol="0" anchor="ctr"/>
          <a:lstStyle/>
          <a:p>
            <a:pPr marL="0" indent="0">
              <a:buNone/>
            </a:pPr>
            <a:endParaRPr lang="en-US" sz="1150" dirty="0"/>
          </a:p>
        </p:txBody>
      </p:sp>
      <p:sp>
        <p:nvSpPr>
          <p:cNvPr id="45" name="Text 11">
            <a:extLst>
              <a:ext uri="{FF2B5EF4-FFF2-40B4-BE49-F238E27FC236}">
                <a16:creationId xmlns:a16="http://schemas.microsoft.com/office/drawing/2014/main" id="{A34996CC-ADCF-4F30-AD60-BB717664B5F7}"/>
              </a:ext>
            </a:extLst>
          </p:cNvPr>
          <p:cNvSpPr/>
          <p:nvPr/>
        </p:nvSpPr>
        <p:spPr>
          <a:xfrm>
            <a:off x="6301577" y="1747923"/>
            <a:ext cx="5212080" cy="320040"/>
          </a:xfrm>
          <a:prstGeom prst="rect">
            <a:avLst/>
          </a:prstGeom>
          <a:noFill/>
          <a:ln/>
        </p:spPr>
        <p:txBody>
          <a:bodyPr wrap="square" rtlCol="0" anchor="ctr"/>
          <a:lstStyle/>
          <a:p>
            <a:pPr marL="0" indent="0">
              <a:buNone/>
            </a:pPr>
            <a:r>
              <a:rPr lang="en-US" sz="1200" b="1" kern="0" spc="200" dirty="0">
                <a:solidFill>
                  <a:srgbClr val="1E8E5A"/>
                </a:solidFill>
                <a:latin typeface="Calibri" pitchFamily="34" charset="0"/>
                <a:ea typeface="Calibri" pitchFamily="34" charset="-122"/>
                <a:cs typeface="Calibri" pitchFamily="34" charset="-120"/>
              </a:rPr>
              <a:t>CIBLE PROPOSÉE</a:t>
            </a:r>
            <a:endParaRPr lang="en-US" sz="1200" dirty="0"/>
          </a:p>
        </p:txBody>
      </p:sp>
      <p:sp>
        <p:nvSpPr>
          <p:cNvPr id="46" name="Shape 12">
            <a:extLst>
              <a:ext uri="{FF2B5EF4-FFF2-40B4-BE49-F238E27FC236}">
                <a16:creationId xmlns:a16="http://schemas.microsoft.com/office/drawing/2014/main" id="{1F0923DC-047F-4FA0-983A-CE95C645341F}"/>
              </a:ext>
            </a:extLst>
          </p:cNvPr>
          <p:cNvSpPr/>
          <p:nvPr/>
        </p:nvSpPr>
        <p:spPr>
          <a:xfrm>
            <a:off x="6301577" y="2113683"/>
            <a:ext cx="4937760" cy="1078992"/>
          </a:xfrm>
          <a:prstGeom prst="rect">
            <a:avLst/>
          </a:prstGeom>
          <a:solidFill>
            <a:srgbClr val="FFFFFF"/>
          </a:solidFill>
          <a:ln w="12700">
            <a:solidFill>
              <a:srgbClr val="E1E8F0"/>
            </a:solidFill>
            <a:prstDash val="solid"/>
          </a:ln>
          <a:effectLst>
            <a:outerShdw blurRad="88900" dist="38100" dir="8100000" algn="bl" rotWithShape="0">
              <a:srgbClr val="000000">
                <a:alpha val="16000"/>
              </a:srgbClr>
            </a:outerShdw>
          </a:effectLst>
        </p:spPr>
      </p:sp>
      <p:sp>
        <p:nvSpPr>
          <p:cNvPr id="47" name="Shape 13">
            <a:extLst>
              <a:ext uri="{FF2B5EF4-FFF2-40B4-BE49-F238E27FC236}">
                <a16:creationId xmlns:a16="http://schemas.microsoft.com/office/drawing/2014/main" id="{5E96CF65-5254-4584-8E02-1E95BFA1AF59}"/>
              </a:ext>
            </a:extLst>
          </p:cNvPr>
          <p:cNvSpPr/>
          <p:nvPr/>
        </p:nvSpPr>
        <p:spPr>
          <a:xfrm>
            <a:off x="6301577" y="2113683"/>
            <a:ext cx="100584" cy="1078992"/>
          </a:xfrm>
          <a:prstGeom prst="rect">
            <a:avLst/>
          </a:prstGeom>
          <a:solidFill>
            <a:srgbClr val="0B5394"/>
          </a:solidFill>
          <a:ln/>
        </p:spPr>
      </p:sp>
      <p:sp>
        <p:nvSpPr>
          <p:cNvPr id="48" name="Shape 14">
            <a:extLst>
              <a:ext uri="{FF2B5EF4-FFF2-40B4-BE49-F238E27FC236}">
                <a16:creationId xmlns:a16="http://schemas.microsoft.com/office/drawing/2014/main" id="{315580CE-F56B-4DD8-9A92-3C480801B570}"/>
              </a:ext>
            </a:extLst>
          </p:cNvPr>
          <p:cNvSpPr/>
          <p:nvPr/>
        </p:nvSpPr>
        <p:spPr>
          <a:xfrm>
            <a:off x="6575897" y="2388003"/>
            <a:ext cx="548640" cy="548640"/>
          </a:xfrm>
          <a:prstGeom prst="ellipse">
            <a:avLst/>
          </a:prstGeom>
          <a:solidFill>
            <a:srgbClr val="F4F7FB"/>
          </a:solidFill>
          <a:ln/>
        </p:spPr>
      </p:sp>
      <p:pic>
        <p:nvPicPr>
          <p:cNvPr id="49" name="Image 3" descr="preencoded.png">
            <a:extLst>
              <a:ext uri="{FF2B5EF4-FFF2-40B4-BE49-F238E27FC236}">
                <a16:creationId xmlns:a16="http://schemas.microsoft.com/office/drawing/2014/main" id="{76A6E230-AD1F-47D1-B440-6A977F440FD2}"/>
              </a:ext>
            </a:extLst>
          </p:cNvPr>
          <p:cNvPicPr>
            <a:picLocks noChangeAspect="1"/>
          </p:cNvPicPr>
          <p:nvPr/>
        </p:nvPicPr>
        <p:blipFill>
          <a:blip r:embed="rId2"/>
          <a:stretch>
            <a:fillRect/>
          </a:stretch>
        </p:blipFill>
        <p:spPr>
          <a:xfrm>
            <a:off x="6685625" y="2497731"/>
            <a:ext cx="329184" cy="329184"/>
          </a:xfrm>
          <a:prstGeom prst="rect">
            <a:avLst/>
          </a:prstGeom>
        </p:spPr>
      </p:pic>
      <p:sp>
        <p:nvSpPr>
          <p:cNvPr id="50" name="Text 15">
            <a:extLst>
              <a:ext uri="{FF2B5EF4-FFF2-40B4-BE49-F238E27FC236}">
                <a16:creationId xmlns:a16="http://schemas.microsoft.com/office/drawing/2014/main" id="{704C31BA-076B-44B2-99DB-3488A60E59C4}"/>
              </a:ext>
            </a:extLst>
          </p:cNvPr>
          <p:cNvSpPr/>
          <p:nvPr/>
        </p:nvSpPr>
        <p:spPr>
          <a:xfrm>
            <a:off x="7261697" y="2259987"/>
            <a:ext cx="3840480" cy="365760"/>
          </a:xfrm>
          <a:prstGeom prst="rect">
            <a:avLst/>
          </a:prstGeom>
          <a:noFill/>
          <a:ln/>
        </p:spPr>
        <p:txBody>
          <a:bodyPr wrap="square" rtlCol="0" anchor="ctr"/>
          <a:lstStyle/>
          <a:p>
            <a:pPr marL="0" indent="0">
              <a:buNone/>
            </a:pPr>
            <a:r>
              <a:rPr lang="en-US" sz="1500" b="1" dirty="0">
                <a:solidFill>
                  <a:srgbClr val="0B5394"/>
                </a:solidFill>
                <a:latin typeface="Calibri" pitchFamily="34" charset="0"/>
                <a:ea typeface="Calibri" pitchFamily="34" charset="-122"/>
                <a:cs typeface="Calibri" pitchFamily="34" charset="-120"/>
              </a:rPr>
              <a:t>H620  </a:t>
            </a:r>
            <a:r>
              <a:rPr lang="en-US" sz="1500" b="1" dirty="0">
                <a:solidFill>
                  <a:srgbClr val="1B2433"/>
                </a:solidFill>
                <a:latin typeface="Calibri" pitchFamily="34" charset="0"/>
                <a:ea typeface="Calibri" pitchFamily="34" charset="-122"/>
                <a:cs typeface="Calibri" pitchFamily="34" charset="-120"/>
              </a:rPr>
              <a:t>IA &amp; Détection</a:t>
            </a:r>
            <a:endParaRPr lang="en-US" sz="1500" dirty="0"/>
          </a:p>
        </p:txBody>
      </p:sp>
      <p:sp>
        <p:nvSpPr>
          <p:cNvPr id="51" name="Text 16">
            <a:extLst>
              <a:ext uri="{FF2B5EF4-FFF2-40B4-BE49-F238E27FC236}">
                <a16:creationId xmlns:a16="http://schemas.microsoft.com/office/drawing/2014/main" id="{91E0A846-8F14-467C-920D-AECDCEE93BD8}"/>
              </a:ext>
            </a:extLst>
          </p:cNvPr>
          <p:cNvSpPr/>
          <p:nvPr/>
        </p:nvSpPr>
        <p:spPr>
          <a:xfrm>
            <a:off x="7261697" y="2616603"/>
            <a:ext cx="3840480" cy="502920"/>
          </a:xfrm>
          <a:prstGeom prst="rect">
            <a:avLst/>
          </a:prstGeom>
          <a:noFill/>
          <a:ln/>
        </p:spPr>
        <p:txBody>
          <a:bodyPr wrap="square" rtlCol="0" anchor="ctr"/>
          <a:lstStyle/>
          <a:p>
            <a:pPr marL="0" indent="0">
              <a:buNone/>
            </a:pPr>
            <a:r>
              <a:rPr lang="en-US" sz="1150" dirty="0">
                <a:solidFill>
                  <a:srgbClr val="5A6B82"/>
                </a:solidFill>
                <a:latin typeface="Calibri" pitchFamily="34" charset="0"/>
                <a:ea typeface="Calibri" pitchFamily="34" charset="-122"/>
                <a:cs typeface="Calibri" pitchFamily="34" charset="-120"/>
              </a:rPr>
              <a:t>Reste sur sa valeur ajoutée : moteurs VADOR / R2DDOC et qualité des modèles.</a:t>
            </a:r>
            <a:endParaRPr lang="en-US" sz="1150" dirty="0"/>
          </a:p>
        </p:txBody>
      </p:sp>
      <p:sp>
        <p:nvSpPr>
          <p:cNvPr id="52" name="Shape 17">
            <a:extLst>
              <a:ext uri="{FF2B5EF4-FFF2-40B4-BE49-F238E27FC236}">
                <a16:creationId xmlns:a16="http://schemas.microsoft.com/office/drawing/2014/main" id="{7BA68015-4283-4915-BDAE-8D29184E657E}"/>
              </a:ext>
            </a:extLst>
          </p:cNvPr>
          <p:cNvSpPr/>
          <p:nvPr/>
        </p:nvSpPr>
        <p:spPr>
          <a:xfrm>
            <a:off x="6301577" y="3320691"/>
            <a:ext cx="4937760" cy="1078992"/>
          </a:xfrm>
          <a:prstGeom prst="rect">
            <a:avLst/>
          </a:prstGeom>
          <a:solidFill>
            <a:srgbClr val="FFFFFF"/>
          </a:solidFill>
          <a:ln w="12700">
            <a:solidFill>
              <a:srgbClr val="E1E8F0"/>
            </a:solidFill>
            <a:prstDash val="solid"/>
          </a:ln>
          <a:effectLst>
            <a:outerShdw blurRad="88900" dist="38100" dir="8100000" algn="bl" rotWithShape="0">
              <a:srgbClr val="000000">
                <a:alpha val="16000"/>
              </a:srgbClr>
            </a:outerShdw>
          </a:effectLst>
        </p:spPr>
      </p:sp>
      <p:sp>
        <p:nvSpPr>
          <p:cNvPr id="53" name="Shape 18">
            <a:extLst>
              <a:ext uri="{FF2B5EF4-FFF2-40B4-BE49-F238E27FC236}">
                <a16:creationId xmlns:a16="http://schemas.microsoft.com/office/drawing/2014/main" id="{E7A098EC-BCAA-48E2-8BD7-126F148740EC}"/>
              </a:ext>
            </a:extLst>
          </p:cNvPr>
          <p:cNvSpPr/>
          <p:nvPr/>
        </p:nvSpPr>
        <p:spPr>
          <a:xfrm>
            <a:off x="6301577" y="3320691"/>
            <a:ext cx="100584" cy="1078992"/>
          </a:xfrm>
          <a:prstGeom prst="rect">
            <a:avLst/>
          </a:prstGeom>
          <a:solidFill>
            <a:srgbClr val="1E8E5A"/>
          </a:solidFill>
          <a:ln/>
        </p:spPr>
      </p:sp>
      <p:sp>
        <p:nvSpPr>
          <p:cNvPr id="54" name="Shape 19">
            <a:extLst>
              <a:ext uri="{FF2B5EF4-FFF2-40B4-BE49-F238E27FC236}">
                <a16:creationId xmlns:a16="http://schemas.microsoft.com/office/drawing/2014/main" id="{E41B7F92-25DE-4F21-B6FB-659C852F8E4D}"/>
              </a:ext>
            </a:extLst>
          </p:cNvPr>
          <p:cNvSpPr/>
          <p:nvPr/>
        </p:nvSpPr>
        <p:spPr>
          <a:xfrm>
            <a:off x="6575897" y="3595011"/>
            <a:ext cx="548640" cy="548640"/>
          </a:xfrm>
          <a:prstGeom prst="ellipse">
            <a:avLst/>
          </a:prstGeom>
          <a:solidFill>
            <a:srgbClr val="F4F7FB"/>
          </a:solidFill>
          <a:ln/>
        </p:spPr>
      </p:sp>
      <p:pic>
        <p:nvPicPr>
          <p:cNvPr id="55" name="Image 4" descr="preencoded.png">
            <a:extLst>
              <a:ext uri="{FF2B5EF4-FFF2-40B4-BE49-F238E27FC236}">
                <a16:creationId xmlns:a16="http://schemas.microsoft.com/office/drawing/2014/main" id="{DB196432-4C0F-45D8-98DD-5E734D78C86C}"/>
              </a:ext>
            </a:extLst>
          </p:cNvPr>
          <p:cNvPicPr>
            <a:picLocks noChangeAspect="1"/>
          </p:cNvPicPr>
          <p:nvPr/>
        </p:nvPicPr>
        <p:blipFill>
          <a:blip r:embed="rId3"/>
          <a:stretch>
            <a:fillRect/>
          </a:stretch>
        </p:blipFill>
        <p:spPr>
          <a:xfrm>
            <a:off x="6685625" y="3704739"/>
            <a:ext cx="329184" cy="329184"/>
          </a:xfrm>
          <a:prstGeom prst="rect">
            <a:avLst/>
          </a:prstGeom>
        </p:spPr>
      </p:pic>
      <p:sp>
        <p:nvSpPr>
          <p:cNvPr id="56" name="Text 20">
            <a:extLst>
              <a:ext uri="{FF2B5EF4-FFF2-40B4-BE49-F238E27FC236}">
                <a16:creationId xmlns:a16="http://schemas.microsoft.com/office/drawing/2014/main" id="{E16FB248-AD81-4456-9EFB-42957E3456FB}"/>
              </a:ext>
            </a:extLst>
          </p:cNvPr>
          <p:cNvSpPr/>
          <p:nvPr/>
        </p:nvSpPr>
        <p:spPr>
          <a:xfrm>
            <a:off x="7261697" y="3466995"/>
            <a:ext cx="3840480" cy="365760"/>
          </a:xfrm>
          <a:prstGeom prst="rect">
            <a:avLst/>
          </a:prstGeom>
          <a:noFill/>
          <a:ln/>
        </p:spPr>
        <p:txBody>
          <a:bodyPr wrap="square" rtlCol="0" anchor="ctr"/>
          <a:lstStyle/>
          <a:p>
            <a:pPr marL="0" indent="0">
              <a:buNone/>
            </a:pPr>
            <a:r>
              <a:rPr lang="en-US" sz="1500" b="1" dirty="0">
                <a:solidFill>
                  <a:srgbClr val="1E8E5A"/>
                </a:solidFill>
                <a:latin typeface="Calibri" pitchFamily="34" charset="0"/>
                <a:ea typeface="Calibri" pitchFamily="34" charset="-122"/>
                <a:cs typeface="Calibri" pitchFamily="34" charset="-120"/>
              </a:rPr>
              <a:t>H580  </a:t>
            </a:r>
            <a:r>
              <a:rPr lang="en-US" sz="1500" b="1" dirty="0">
                <a:solidFill>
                  <a:srgbClr val="1B2433"/>
                </a:solidFill>
                <a:latin typeface="Calibri" pitchFamily="34" charset="0"/>
                <a:ea typeface="Calibri" pitchFamily="34" charset="-122"/>
                <a:cs typeface="Calibri" pitchFamily="34" charset="-120"/>
              </a:rPr>
              <a:t>Annotation &amp; levée de doute</a:t>
            </a:r>
            <a:endParaRPr lang="en-US" sz="1500" dirty="0"/>
          </a:p>
        </p:txBody>
      </p:sp>
      <p:sp>
        <p:nvSpPr>
          <p:cNvPr id="57" name="Text 21">
            <a:extLst>
              <a:ext uri="{FF2B5EF4-FFF2-40B4-BE49-F238E27FC236}">
                <a16:creationId xmlns:a16="http://schemas.microsoft.com/office/drawing/2014/main" id="{4AA2134A-7F47-48F6-B84D-2C85F875AE01}"/>
              </a:ext>
            </a:extLst>
          </p:cNvPr>
          <p:cNvSpPr/>
          <p:nvPr/>
        </p:nvSpPr>
        <p:spPr>
          <a:xfrm>
            <a:off x="7261697" y="3823611"/>
            <a:ext cx="3840480" cy="502920"/>
          </a:xfrm>
          <a:prstGeom prst="rect">
            <a:avLst/>
          </a:prstGeom>
          <a:noFill/>
          <a:ln/>
        </p:spPr>
        <p:txBody>
          <a:bodyPr wrap="square" rtlCol="0" anchor="ctr"/>
          <a:lstStyle/>
          <a:p>
            <a:pPr marL="0" indent="0">
              <a:buNone/>
            </a:pPr>
            <a:r>
              <a:rPr lang="en-US" sz="1150" dirty="0">
                <a:solidFill>
                  <a:srgbClr val="5A6B82"/>
                </a:solidFill>
                <a:latin typeface="Calibri" pitchFamily="34" charset="0"/>
                <a:ea typeface="Calibri" pitchFamily="34" charset="-122"/>
                <a:cs typeface="Calibri" pitchFamily="34" charset="-120"/>
              </a:rPr>
              <a:t>Reprend la levée de doute manuelle — c'est leur métier d'annotation.</a:t>
            </a:r>
            <a:endParaRPr lang="en-US" sz="1150" dirty="0"/>
          </a:p>
        </p:txBody>
      </p:sp>
      <p:sp>
        <p:nvSpPr>
          <p:cNvPr id="58" name="Text 11">
            <a:extLst>
              <a:ext uri="{FF2B5EF4-FFF2-40B4-BE49-F238E27FC236}">
                <a16:creationId xmlns:a16="http://schemas.microsoft.com/office/drawing/2014/main" id="{9F0FD42D-4BA5-46F3-817E-339CBB36C019}"/>
              </a:ext>
            </a:extLst>
          </p:cNvPr>
          <p:cNvSpPr/>
          <p:nvPr/>
        </p:nvSpPr>
        <p:spPr>
          <a:xfrm>
            <a:off x="898925" y="1747354"/>
            <a:ext cx="5212080" cy="320040"/>
          </a:xfrm>
          <a:prstGeom prst="rect">
            <a:avLst/>
          </a:prstGeom>
          <a:noFill/>
          <a:ln/>
        </p:spPr>
        <p:txBody>
          <a:bodyPr wrap="square" rtlCol="0" anchor="ctr"/>
          <a:lstStyle/>
          <a:p>
            <a:pPr marL="0" indent="0">
              <a:buNone/>
            </a:pPr>
            <a:r>
              <a:rPr lang="en-US" sz="1200" b="1" kern="0" spc="200" dirty="0">
                <a:solidFill>
                  <a:srgbClr val="1E8E5A"/>
                </a:solidFill>
                <a:latin typeface="Calibri" pitchFamily="34" charset="0"/>
                <a:ea typeface="Calibri" pitchFamily="34" charset="-122"/>
                <a:cs typeface="Calibri" pitchFamily="34" charset="-120"/>
              </a:rPr>
              <a:t>AJOURD’HUI</a:t>
            </a:r>
          </a:p>
        </p:txBody>
      </p:sp>
      <p:sp>
        <p:nvSpPr>
          <p:cNvPr id="59" name="Shape 12">
            <a:extLst>
              <a:ext uri="{FF2B5EF4-FFF2-40B4-BE49-F238E27FC236}">
                <a16:creationId xmlns:a16="http://schemas.microsoft.com/office/drawing/2014/main" id="{0FC6D650-B075-4C8A-9A3F-AE996F1A90EF}"/>
              </a:ext>
            </a:extLst>
          </p:cNvPr>
          <p:cNvSpPr/>
          <p:nvPr/>
        </p:nvSpPr>
        <p:spPr>
          <a:xfrm>
            <a:off x="898925" y="2113114"/>
            <a:ext cx="4937760" cy="1078992"/>
          </a:xfrm>
          <a:prstGeom prst="rect">
            <a:avLst/>
          </a:prstGeom>
          <a:solidFill>
            <a:srgbClr val="FFFFFF"/>
          </a:solidFill>
          <a:ln w="12700">
            <a:solidFill>
              <a:srgbClr val="E1E8F0"/>
            </a:solidFill>
            <a:prstDash val="solid"/>
          </a:ln>
          <a:effectLst>
            <a:outerShdw blurRad="88900" dist="38100" dir="8100000" algn="bl" rotWithShape="0">
              <a:srgbClr val="000000">
                <a:alpha val="16000"/>
              </a:srgbClr>
            </a:outerShdw>
          </a:effectLst>
        </p:spPr>
      </p:sp>
      <p:sp>
        <p:nvSpPr>
          <p:cNvPr id="60" name="Shape 13">
            <a:extLst>
              <a:ext uri="{FF2B5EF4-FFF2-40B4-BE49-F238E27FC236}">
                <a16:creationId xmlns:a16="http://schemas.microsoft.com/office/drawing/2014/main" id="{4F88C7DD-BF9A-426E-9A74-0A0CABB56FA0}"/>
              </a:ext>
            </a:extLst>
          </p:cNvPr>
          <p:cNvSpPr/>
          <p:nvPr/>
        </p:nvSpPr>
        <p:spPr>
          <a:xfrm>
            <a:off x="898925" y="2113114"/>
            <a:ext cx="100584" cy="1078992"/>
          </a:xfrm>
          <a:prstGeom prst="rect">
            <a:avLst/>
          </a:prstGeom>
          <a:solidFill>
            <a:srgbClr val="0B5394"/>
          </a:solidFill>
          <a:ln/>
        </p:spPr>
      </p:sp>
      <p:sp>
        <p:nvSpPr>
          <p:cNvPr id="61" name="Shape 14">
            <a:extLst>
              <a:ext uri="{FF2B5EF4-FFF2-40B4-BE49-F238E27FC236}">
                <a16:creationId xmlns:a16="http://schemas.microsoft.com/office/drawing/2014/main" id="{66FED9C4-818E-4B65-AE00-D8E22E1A3E87}"/>
              </a:ext>
            </a:extLst>
          </p:cNvPr>
          <p:cNvSpPr/>
          <p:nvPr/>
        </p:nvSpPr>
        <p:spPr>
          <a:xfrm>
            <a:off x="1173245" y="2387434"/>
            <a:ext cx="548640" cy="548640"/>
          </a:xfrm>
          <a:prstGeom prst="ellipse">
            <a:avLst/>
          </a:prstGeom>
          <a:solidFill>
            <a:srgbClr val="F4F7FB"/>
          </a:solidFill>
          <a:ln/>
        </p:spPr>
      </p:sp>
      <p:pic>
        <p:nvPicPr>
          <p:cNvPr id="62" name="Image 3" descr="preencoded.png">
            <a:extLst>
              <a:ext uri="{FF2B5EF4-FFF2-40B4-BE49-F238E27FC236}">
                <a16:creationId xmlns:a16="http://schemas.microsoft.com/office/drawing/2014/main" id="{AFC29D39-1D33-45D1-BC67-3B45E00B69CE}"/>
              </a:ext>
            </a:extLst>
          </p:cNvPr>
          <p:cNvPicPr>
            <a:picLocks noChangeAspect="1"/>
          </p:cNvPicPr>
          <p:nvPr/>
        </p:nvPicPr>
        <p:blipFill>
          <a:blip r:embed="rId2"/>
          <a:stretch>
            <a:fillRect/>
          </a:stretch>
        </p:blipFill>
        <p:spPr>
          <a:xfrm>
            <a:off x="1282973" y="2497162"/>
            <a:ext cx="329184" cy="329184"/>
          </a:xfrm>
          <a:prstGeom prst="rect">
            <a:avLst/>
          </a:prstGeom>
        </p:spPr>
      </p:pic>
      <p:sp>
        <p:nvSpPr>
          <p:cNvPr id="63" name="Text 15">
            <a:extLst>
              <a:ext uri="{FF2B5EF4-FFF2-40B4-BE49-F238E27FC236}">
                <a16:creationId xmlns:a16="http://schemas.microsoft.com/office/drawing/2014/main" id="{D3C1AA54-6948-4ED5-8E6E-1100BA19B67C}"/>
              </a:ext>
            </a:extLst>
          </p:cNvPr>
          <p:cNvSpPr/>
          <p:nvPr/>
        </p:nvSpPr>
        <p:spPr>
          <a:xfrm>
            <a:off x="1859045" y="2259418"/>
            <a:ext cx="3840480" cy="365760"/>
          </a:xfrm>
          <a:prstGeom prst="rect">
            <a:avLst/>
          </a:prstGeom>
          <a:noFill/>
          <a:ln/>
        </p:spPr>
        <p:txBody>
          <a:bodyPr wrap="square"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IA &amp; </a:t>
            </a:r>
            <a:r>
              <a:rPr lang="en-US" sz="1600" b="1" dirty="0" err="1">
                <a:solidFill>
                  <a:srgbClr val="1B2433"/>
                </a:solidFill>
                <a:latin typeface="Calibri" pitchFamily="34" charset="0"/>
                <a:ea typeface="Calibri" pitchFamily="34" charset="-122"/>
                <a:cs typeface="Calibri" pitchFamily="34" charset="-120"/>
              </a:rPr>
              <a:t>détection</a:t>
            </a:r>
            <a:r>
              <a:rPr lang="en-US" sz="1600" b="1" dirty="0">
                <a:solidFill>
                  <a:srgbClr val="1B2433"/>
                </a:solidFill>
                <a:latin typeface="Calibri" pitchFamily="34" charset="0"/>
                <a:ea typeface="Calibri" pitchFamily="34" charset="-122"/>
                <a:cs typeface="Calibri" pitchFamily="34" charset="-120"/>
              </a:rPr>
              <a:t> de </a:t>
            </a:r>
            <a:r>
              <a:rPr lang="en-US" sz="1600" b="1" dirty="0" err="1">
                <a:solidFill>
                  <a:srgbClr val="1B2433"/>
                </a:solidFill>
                <a:latin typeface="Calibri" pitchFamily="34" charset="0"/>
                <a:ea typeface="Calibri" pitchFamily="34" charset="-122"/>
                <a:cs typeface="Calibri" pitchFamily="34" charset="-120"/>
              </a:rPr>
              <a:t>fraude</a:t>
            </a:r>
            <a:endParaRPr lang="en-US" sz="1600" dirty="0"/>
          </a:p>
        </p:txBody>
      </p:sp>
      <p:sp>
        <p:nvSpPr>
          <p:cNvPr id="64" name="Text 16">
            <a:extLst>
              <a:ext uri="{FF2B5EF4-FFF2-40B4-BE49-F238E27FC236}">
                <a16:creationId xmlns:a16="http://schemas.microsoft.com/office/drawing/2014/main" id="{B67026EE-8B97-43E8-9868-A1726D0C98C8}"/>
              </a:ext>
            </a:extLst>
          </p:cNvPr>
          <p:cNvSpPr/>
          <p:nvPr/>
        </p:nvSpPr>
        <p:spPr>
          <a:xfrm>
            <a:off x="1859045" y="2616034"/>
            <a:ext cx="3840480" cy="502920"/>
          </a:xfrm>
          <a:prstGeom prst="rect">
            <a:avLst/>
          </a:prstGeom>
          <a:noFill/>
          <a:ln/>
        </p:spPr>
        <p:txBody>
          <a:bodyPr wrap="square" rtlCol="0" anchor="ctr"/>
          <a:lstStyle/>
          <a:p>
            <a:pPr marL="0" indent="0">
              <a:buNone/>
            </a:pPr>
            <a:r>
              <a:rPr lang="en-US" sz="1150" i="1" dirty="0" err="1">
                <a:solidFill>
                  <a:srgbClr val="0B5394"/>
                </a:solidFill>
                <a:latin typeface="Calibri" pitchFamily="34" charset="0"/>
                <a:ea typeface="Calibri" pitchFamily="34" charset="-122"/>
                <a:cs typeface="Calibri" pitchFamily="34" charset="-120"/>
              </a:rPr>
              <a:t>Cœur</a:t>
            </a:r>
            <a:r>
              <a:rPr lang="en-US" sz="1150" i="1" dirty="0">
                <a:solidFill>
                  <a:srgbClr val="0B5394"/>
                </a:solidFill>
                <a:latin typeface="Calibri" pitchFamily="34" charset="0"/>
                <a:ea typeface="Calibri" pitchFamily="34" charset="-122"/>
                <a:cs typeface="Calibri" pitchFamily="34" charset="-120"/>
              </a:rPr>
              <a:t> de métier de </a:t>
            </a:r>
            <a:r>
              <a:rPr lang="en-US" sz="1150" i="1" dirty="0" err="1">
                <a:solidFill>
                  <a:srgbClr val="0B5394"/>
                </a:solidFill>
                <a:latin typeface="Calibri" pitchFamily="34" charset="0"/>
                <a:ea typeface="Calibri" pitchFamily="34" charset="-122"/>
                <a:cs typeface="Calibri" pitchFamily="34" charset="-120"/>
              </a:rPr>
              <a:t>l'équipe</a:t>
            </a:r>
            <a:endParaRPr lang="en-US" sz="1150" dirty="0"/>
          </a:p>
        </p:txBody>
      </p:sp>
      <p:sp>
        <p:nvSpPr>
          <p:cNvPr id="65" name="Shape 17">
            <a:extLst>
              <a:ext uri="{FF2B5EF4-FFF2-40B4-BE49-F238E27FC236}">
                <a16:creationId xmlns:a16="http://schemas.microsoft.com/office/drawing/2014/main" id="{13B7B671-623A-44C9-AD24-B8A8DB58A87A}"/>
              </a:ext>
            </a:extLst>
          </p:cNvPr>
          <p:cNvSpPr/>
          <p:nvPr/>
        </p:nvSpPr>
        <p:spPr>
          <a:xfrm>
            <a:off x="898925" y="3320122"/>
            <a:ext cx="4937760" cy="1078992"/>
          </a:xfrm>
          <a:prstGeom prst="rect">
            <a:avLst/>
          </a:prstGeom>
          <a:solidFill>
            <a:srgbClr val="FFFFFF"/>
          </a:solidFill>
          <a:ln w="12700">
            <a:solidFill>
              <a:srgbClr val="E1E8F0"/>
            </a:solidFill>
            <a:prstDash val="solid"/>
          </a:ln>
          <a:effectLst>
            <a:outerShdw blurRad="88900" dist="38100" dir="8100000" algn="bl" rotWithShape="0">
              <a:srgbClr val="000000">
                <a:alpha val="16000"/>
              </a:srgbClr>
            </a:outerShdw>
          </a:effectLst>
        </p:spPr>
      </p:sp>
      <p:sp>
        <p:nvSpPr>
          <p:cNvPr id="66" name="Shape 18">
            <a:extLst>
              <a:ext uri="{FF2B5EF4-FFF2-40B4-BE49-F238E27FC236}">
                <a16:creationId xmlns:a16="http://schemas.microsoft.com/office/drawing/2014/main" id="{9C4EFE92-152F-4D21-8111-DD6D4A34D802}"/>
              </a:ext>
            </a:extLst>
          </p:cNvPr>
          <p:cNvSpPr/>
          <p:nvPr/>
        </p:nvSpPr>
        <p:spPr>
          <a:xfrm>
            <a:off x="898925" y="3320122"/>
            <a:ext cx="100584" cy="1078992"/>
          </a:xfrm>
          <a:prstGeom prst="rect">
            <a:avLst/>
          </a:prstGeom>
          <a:solidFill>
            <a:srgbClr val="1E8E5A"/>
          </a:solidFill>
          <a:ln/>
        </p:spPr>
      </p:sp>
      <p:sp>
        <p:nvSpPr>
          <p:cNvPr id="69" name="Text 20">
            <a:extLst>
              <a:ext uri="{FF2B5EF4-FFF2-40B4-BE49-F238E27FC236}">
                <a16:creationId xmlns:a16="http://schemas.microsoft.com/office/drawing/2014/main" id="{E3896319-CC72-40B2-A8CE-778EBB862A3F}"/>
              </a:ext>
            </a:extLst>
          </p:cNvPr>
          <p:cNvSpPr/>
          <p:nvPr/>
        </p:nvSpPr>
        <p:spPr>
          <a:xfrm>
            <a:off x="1859045" y="3466426"/>
            <a:ext cx="3840480" cy="365760"/>
          </a:xfrm>
          <a:prstGeom prst="rect">
            <a:avLst/>
          </a:prstGeom>
          <a:noFill/>
          <a:ln/>
        </p:spPr>
        <p:txBody>
          <a:bodyPr wrap="square"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Levée de doute / annotation</a:t>
            </a:r>
            <a:endParaRPr lang="en-US" sz="1600" dirty="0"/>
          </a:p>
        </p:txBody>
      </p:sp>
      <p:sp>
        <p:nvSpPr>
          <p:cNvPr id="70" name="Text 21">
            <a:extLst>
              <a:ext uri="{FF2B5EF4-FFF2-40B4-BE49-F238E27FC236}">
                <a16:creationId xmlns:a16="http://schemas.microsoft.com/office/drawing/2014/main" id="{A0E3CA4C-CA58-43F6-8976-0CE1FBDD1D61}"/>
              </a:ext>
            </a:extLst>
          </p:cNvPr>
          <p:cNvSpPr/>
          <p:nvPr/>
        </p:nvSpPr>
        <p:spPr>
          <a:xfrm>
            <a:off x="1859045" y="3823042"/>
            <a:ext cx="3840480" cy="502920"/>
          </a:xfrm>
          <a:prstGeom prst="rect">
            <a:avLst/>
          </a:prstGeom>
          <a:noFill/>
          <a:ln/>
        </p:spPr>
        <p:txBody>
          <a:bodyPr wrap="square" rtlCol="0" anchor="ctr"/>
          <a:lstStyle/>
          <a:p>
            <a:pPr marL="0" indent="0">
              <a:buNone/>
            </a:pPr>
            <a:r>
              <a:rPr lang="en-US" sz="1150" i="1" dirty="0">
                <a:solidFill>
                  <a:srgbClr val="C0392B"/>
                </a:solidFill>
                <a:latin typeface="Calibri" pitchFamily="34" charset="0"/>
                <a:ea typeface="Calibri" pitchFamily="34" charset="-122"/>
                <a:cs typeface="Calibri" pitchFamily="34" charset="-120"/>
              </a:rPr>
              <a:t>IHM de </a:t>
            </a:r>
            <a:r>
              <a:rPr lang="en-US" sz="1150" i="1" dirty="0" err="1">
                <a:solidFill>
                  <a:srgbClr val="C0392B"/>
                </a:solidFill>
                <a:latin typeface="Calibri" pitchFamily="34" charset="0"/>
                <a:ea typeface="Calibri" pitchFamily="34" charset="-122"/>
                <a:cs typeface="Calibri" pitchFamily="34" charset="-120"/>
              </a:rPr>
              <a:t>traitement</a:t>
            </a:r>
            <a:r>
              <a:rPr lang="en-US" sz="1150" i="1" dirty="0">
                <a:solidFill>
                  <a:srgbClr val="C0392B"/>
                </a:solidFill>
                <a:latin typeface="Calibri" pitchFamily="34" charset="0"/>
                <a:ea typeface="Calibri" pitchFamily="34" charset="-122"/>
                <a:cs typeface="Calibri" pitchFamily="34" charset="-120"/>
              </a:rPr>
              <a:t> </a:t>
            </a:r>
            <a:r>
              <a:rPr lang="en-US" sz="1150" i="1" dirty="0" err="1">
                <a:solidFill>
                  <a:srgbClr val="C0392B"/>
                </a:solidFill>
                <a:latin typeface="Calibri" pitchFamily="34" charset="0"/>
                <a:ea typeface="Calibri" pitchFamily="34" charset="-122"/>
                <a:cs typeface="Calibri" pitchFamily="34" charset="-120"/>
              </a:rPr>
              <a:t>manuel</a:t>
            </a:r>
            <a:endParaRPr lang="en-US" sz="1150" dirty="0"/>
          </a:p>
        </p:txBody>
      </p:sp>
      <p:pic>
        <p:nvPicPr>
          <p:cNvPr id="71" name="Image 1" descr="preencoded.png">
            <a:extLst>
              <a:ext uri="{FF2B5EF4-FFF2-40B4-BE49-F238E27FC236}">
                <a16:creationId xmlns:a16="http://schemas.microsoft.com/office/drawing/2014/main" id="{497BEB02-B5D2-48D4-8B4F-39293C2E7CB2}"/>
              </a:ext>
            </a:extLst>
          </p:cNvPr>
          <p:cNvPicPr>
            <a:picLocks noChangeAspect="1"/>
          </p:cNvPicPr>
          <p:nvPr/>
        </p:nvPicPr>
        <p:blipFill>
          <a:blip r:embed="rId4"/>
          <a:stretch>
            <a:fillRect/>
          </a:stretch>
        </p:blipFill>
        <p:spPr>
          <a:xfrm>
            <a:off x="1153917" y="3626900"/>
            <a:ext cx="457200" cy="457200"/>
          </a:xfrm>
          <a:prstGeom prst="rect">
            <a:avLst/>
          </a:prstGeom>
        </p:spPr>
      </p:pic>
    </p:spTree>
    <p:extLst>
      <p:ext uri="{BB962C8B-B14F-4D97-AF65-F5344CB8AC3E}">
        <p14:creationId xmlns:p14="http://schemas.microsoft.com/office/powerpoint/2010/main" val="2856742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960C5A-DFC9-4E6A-8597-36B478C8101C}"/>
              </a:ext>
            </a:extLst>
          </p:cNvPr>
          <p:cNvSpPr>
            <a:spLocks noGrp="1"/>
          </p:cNvSpPr>
          <p:nvPr>
            <p:ph type="ctrTitle"/>
          </p:nvPr>
        </p:nvSpPr>
        <p:spPr>
          <a:xfrm>
            <a:off x="3202004" y="1550015"/>
            <a:ext cx="5787992" cy="2145456"/>
          </a:xfrm>
        </p:spPr>
        <p:txBody>
          <a:bodyPr/>
          <a:lstStyle/>
          <a:p>
            <a:r>
              <a:rPr lang="fr-FR" b="1" dirty="0"/>
              <a:t>Fin du document</a:t>
            </a:r>
            <a:endParaRPr lang="fr-FR" sz="4000" b="1" dirty="0"/>
          </a:p>
        </p:txBody>
      </p:sp>
    </p:spTree>
    <p:extLst>
      <p:ext uri="{BB962C8B-B14F-4D97-AF65-F5344CB8AC3E}">
        <p14:creationId xmlns:p14="http://schemas.microsoft.com/office/powerpoint/2010/main" val="2527759971"/>
      </p:ext>
    </p:extLst>
  </p:cSld>
  <p:clrMapOvr>
    <a:masterClrMapping/>
  </p:clrMapOvr>
</p:sld>
</file>

<file path=ppt/theme/theme1.xml><?xml version="1.0" encoding="utf-8"?>
<a:theme xmlns:a="http://schemas.openxmlformats.org/drawingml/2006/main" name="9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PJQFUVHKSAJQ-1373287592-238444</_dlc_DocId>
    <_dlc_DocIdUrl xmlns="9da6f561-6c40-462f-af3e-6833fe74929f">
      <Url>https://moss-si.cm-cic.fr/Sites/D00116/Documentation/_layouts/15/DocIdRedir.aspx?ID=PJQFUVHKSAJQ-1373287592-238444</Url>
      <Description>PJQFUVHKSAJQ-1373287592-238444</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05F62B-875A-44DA-9C24-ECFA753B3086}">
  <ds:schemaRefs>
    <ds:schemaRef ds:uri="http://schemas.microsoft.com/sharepoint/events"/>
  </ds:schemaRefs>
</ds:datastoreItem>
</file>

<file path=customXml/itemProps2.xml><?xml version="1.0" encoding="utf-8"?>
<ds:datastoreItem xmlns:ds="http://schemas.openxmlformats.org/officeDocument/2006/customXml" ds:itemID="{14BDAD69-8D02-46F2-AAEF-AB5B9560E0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976B7B-DEE3-47D2-A92E-B47AF02955AC}">
  <ds:schemaRefs>
    <ds:schemaRef ds:uri="9da6f561-6c40-462f-af3e-6833fe74929f"/>
    <ds:schemaRef ds:uri="http://schemas.microsoft.com/sharepoint/v4"/>
    <ds:schemaRef ds:uri="http://schemas.microsoft.com/office/2006/documentManagement/types"/>
    <ds:schemaRef ds:uri="99cee9d7-070e-44dd-ab97-3503062ab504"/>
    <ds:schemaRef ds:uri="http://purl.org/dc/dcmitype/"/>
    <ds:schemaRef ds:uri="8ff6ca53-9990-4cf6-aa9b-81190a5c5371"/>
    <ds:schemaRef ds:uri="http://schemas.microsoft.com/office/infopath/2007/PartnerControls"/>
    <ds:schemaRef ds:uri="http://purl.org/dc/elements/1.1/"/>
    <ds:schemaRef ds:uri="http://schemas.microsoft.com/office/2006/metadata/properties"/>
    <ds:schemaRef ds:uri="http://schemas.microsoft.com/sharepoint/v3"/>
    <ds:schemaRef ds:uri="http://schemas.openxmlformats.org/package/2006/metadata/core-properties"/>
    <ds:schemaRef ds:uri="http://www.w3.org/XML/1998/namespace"/>
    <ds:schemaRef ds:uri="http://purl.org/dc/terms/"/>
  </ds:schemaRefs>
</ds:datastoreItem>
</file>

<file path=customXml/itemProps4.xml><?xml version="1.0" encoding="utf-8"?>
<ds:datastoreItem xmlns:ds="http://schemas.openxmlformats.org/officeDocument/2006/customXml" ds:itemID="{878C9C5E-DE36-419C-A811-BD5853BD94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10306</TotalTime>
  <Words>174</Words>
  <Application>Microsoft Office PowerPoint</Application>
  <PresentationFormat>Grand écran</PresentationFormat>
  <Paragraphs>31</Paragraphs>
  <Slides>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vt:i4>
      </vt:variant>
    </vt:vector>
  </HeadingPairs>
  <TitlesOfParts>
    <vt:vector size="10" baseType="lpstr">
      <vt:lpstr>Arial</vt:lpstr>
      <vt:lpstr>Calibri</vt:lpstr>
      <vt:lpstr>Segoe UI</vt:lpstr>
      <vt:lpstr>Segoe UI Light</vt:lpstr>
      <vt:lpstr>Wingdings 3</vt:lpstr>
      <vt:lpstr>9_Thème Office</vt:lpstr>
      <vt:lpstr>xxx</vt:lpstr>
      <vt:lpstr>Services de détection de fraude</vt:lpstr>
      <vt:lpstr>Delivery Model</vt:lpstr>
      <vt:lpstr>Fin du document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ISSOULGHANE Morad (PRESTA EXT)</dc:creator>
  <cp:lastModifiedBy>ISSOULGHANE Morad (PRESTA EXT)</cp:lastModifiedBy>
  <cp:revision>143</cp:revision>
  <dcterms:created xsi:type="dcterms:W3CDTF">2024-11-29T08:59:48Z</dcterms:created>
  <dcterms:modified xsi:type="dcterms:W3CDTF">2026-06-01T09:37:14Z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Nature du document">
    <vt:lpwstr>1;#Document|f926a2be-6740-4577-ba49-e4b230c74a1c</vt:lpwstr>
  </property>
  <property fmtid="{D5CDD505-2E9C-101B-9397-08002B2CF9AE}" pid="5" name="Classification">
    <vt:lpwstr>2;#10 - Interne|88571201-3d77-41d7-bf2a-abb247897d97</vt:lpwstr>
  </property>
  <property fmtid="{D5CDD505-2E9C-101B-9397-08002B2CF9AE}" pid="6" name="ROBIN">
    <vt:lpwstr/>
  </property>
  <property fmtid="{D5CDD505-2E9C-101B-9397-08002B2CF9AE}" pid="7" name="_dlc_DocIdItemGuid">
    <vt:lpwstr>1be08ce8-67fe-4f75-bd7c-554b797fc73b</vt:lpwstr>
  </property>
</Properties>
</file>