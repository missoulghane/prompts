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ROBIN sert la gestion du patrimoine, pas la compréhension du SI. Le chantier porte sur les deux couches médianes du cadre d'urbanisation : applicative &amp; données (socle) et fonctionnelle (vue la plus attendue par H630). L'architecture technique n'est pas prioritaire à date (MGU), même si une demande existe (JMA).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convergences suffisent à lancer le chantier ; les quatre arbitrages sont précisément l'ordre du jour de la réunion de synthèse de mi-septembre.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vue statique est produite par code ROBIN. La vue dynamique descend au niveau service. L'arbitrage de granularité se fait vue par vue, sur le critère effort /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« quand » n'a pas été tranché en atelier : la proposition ci-contre est un point de départ à valider avec les REs. Sans déclencheur formel, un schéma se périme en un trimestre.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H520 produit le cadre, les REs le valident, les équipes l'appliquent. Le pilote permet d'ajuster avant généralisation, plutôt que de figer des règles non éprouvées.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ROBIN référence le patrimoine, il ne le décrit pas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91440" cy="256032"/>
          </a:xfrm>
          <a:prstGeom prst="roundRect">
            <a:avLst>
              <a:gd name="adj" fmla="val 40000"/>
            </a:avLst>
          </a:prstGeom>
          <a:solidFill>
            <a:srgbClr val="9A6E28"/>
          </a:solidFill>
          <a:ln w="12700">
            <a:solidFill>
              <a:srgbClr val="9A6E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481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référentiel, pas une description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1828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recense les applications et leurs interactions, mais ne porte pas le découpage fonctionnel : un même code application y regroupe parfois plusieurs applications, pour faciliter la gestion du patrimoine.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91440" cy="256032"/>
          </a:xfrm>
          <a:prstGeom prst="roundRect">
            <a:avLst>
              <a:gd name="adj" fmla="val 40000"/>
            </a:avLst>
          </a:prstGeom>
          <a:solidFill>
            <a:srgbClr val="9A6E28"/>
          </a:solidFill>
          <a:ln w="12700">
            <a:solidFill>
              <a:srgbClr val="9A6E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dépendances partielles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36499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remontent les dépendances ATEL et les accès directs aux bases. Le Cloud, les flux fichiers et batchs et les dépendances hors norme groupe restent invisibles — et aucune dépendance ne peut être déclarée manuellement.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08576"/>
            <a:ext cx="91440" cy="256032"/>
          </a:xfrm>
          <a:prstGeom prst="roundRect">
            <a:avLst>
              <a:gd name="adj" fmla="val 40000"/>
            </a:avLst>
          </a:prstGeom>
          <a:solidFill>
            <a:srgbClr val="9A6E28"/>
          </a:solidFill>
          <a:ln w="12700">
            <a:solidFill>
              <a:srgbClr val="9A6E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553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i-archi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901184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de modélisation n'est préconisé au niveau groupe. Il revient donc à chaque équipe de maintenir son architecture applicative et de données pour gouverner son patrimoine.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d'urbanisation du système d'information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EF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0939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Processus Métier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3865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962656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383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attendue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959352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3680" y="4087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Applicative &amp; Données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379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du chantier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956048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EFF2F7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5084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376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prioritaire à date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ATELIERS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besoin partagé, quatre arbitrages à trancher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691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consensus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est réel et transverse : maintenir une architecture applicative et de données est nécessaire pour gouverner le patrimoine.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usages prioritaires : onboarding et formation, analyse d'impact en Run, communication inter-équipes et pédagogie MOA, capitalisation sur les pratiques.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vues attendues : statique (de quoi est fait le patrimoine) et dynamique (comment il s'enchaîne).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doit rester visuel et lisible : PowerPoint privilégié à Visio, malgré un effort de maintenance supérieur.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maintenance revient aux propriétaires d'applications, pilotée par pôle.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règles et canevas communs sont indispensables pour harmoniser le formalisme.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01968" y="1691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reste à arbitrer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121408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vue : H630 privilégie la vue fonctionnelle et juge la vue applicative peu structurante ; une vue technique est demandée (JMA) mais non prioritaire à date (MGU).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Outillage : PowerPoint, Visio, ROBIN ou Excalidraw — aucun standard groupe, plusieurs pratiques coexistent.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la vue dynamique : se satisfaire de l'information ROBIN ou produire une représentation graphique ?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: quel niveau de détail pour expliquer le « comment ça marche » sans rendre la mise à jour intenable 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468112"/>
            <a:ext cx="91440" cy="457200"/>
          </a:xfrm>
          <a:prstGeom prst="roundRect">
            <a:avLst>
              <a:gd name="adj" fmla="val 40000"/>
            </a:avLst>
          </a:prstGeom>
          <a:solidFill>
            <a:srgbClr val="9A6E28"/>
          </a:solidFill>
          <a:ln w="12700">
            <a:solidFill>
              <a:srgbClr val="9A6E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5440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quatre arbitrages constituent l'ordre du jour de la réunion de synthèse : ils conditionnent le contenu des canevas et le choix de l'outil, donc la capacité des équipes à produire.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CIBLE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vues à produire, une granularité maîtrisée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691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16916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statique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19568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quoi est fait le patrimoine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39572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fonctionnelle de chaque application par code ROBIN, sous forme de fiche d'identité (modèle CADI / one-pager).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haut niveau des interactions entre codes ROBIN, au sein de l'équipe et avec les autres équipes EI.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visibilité des applications redondantes sur un même usage (ex. annotation : SyoReaderReport et Tagtic).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Rattachement de chaque application à la chaîne de valeur, pour relier le patrimoine aux usages métier.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303520" cy="3063240"/>
          </a:xfrm>
          <a:prstGeom prst="roundRect">
            <a:avLst>
              <a:gd name="adj" fmla="val 1791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01968" y="1691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19568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patrimoine s'enchaîne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239572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des services et de leurs interactions, alimenté par la colonne « dépendances entre services » du catalogue.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strates de dépendances à couvrir : ATEL (physiques), hors ROBIN (bases et fichiers), hors ATEL (Cloud).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conditionné à la réponse de l'équipe ROBIN sur la déclaration manuelle de dépendances.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détail calibré sur l'analyse d'impact en Run : si un service tombe, quel périmètre est touché 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5010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983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granularité retenue est celle dont l'effort de mise à jour reste inférieur au gain d'usage : on ne documente que ce qui sera relu.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maintient, et à quel moment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 identifiés en atelier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008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5349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5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et maintenance des schémas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57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d'architecte dans l'équipe : appui transverse H510 / H520, ou architecte à nommer.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Responsables d'application aujourd'hui ; cible : un tech lead ou architecte transverse (Franck) pour harmoniser les pratiques.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Responsables de pôle : Louis (Fraude), Tairan (Moteur OCR), Omar (Moteur OCR externe), Jeremy (Points d'entrée externes).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axe : Axel (Outillage AC), Julien (Projet Client).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83480"/>
            <a:ext cx="6400800" cy="1143000"/>
          </a:xfrm>
          <a:prstGeom prst="roundRect">
            <a:avLst>
              <a:gd name="adj" fmla="val 4800"/>
            </a:avLst>
          </a:prstGeom>
          <a:solidFill>
            <a:srgbClr val="F7F1E6"/>
          </a:solidFill>
          <a:ln w="12700">
            <a:solidFill>
              <a:srgbClr val="F7F1E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1248" y="517550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principe constant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4681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maintenance incombe au propriétaire de l'application, pas à une cellule centrale. H520 fournit le cadre et les modèles ; il ne produit pas les schémas à la place des équipes.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23760" y="1417320"/>
            <a:ext cx="4389120" cy="4709160"/>
          </a:xfrm>
          <a:prstGeom prst="roundRect">
            <a:avLst>
              <a:gd name="adj" fmla="val 1250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98080" y="1691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mettre à jour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975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à valider avec les 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2496312"/>
            <a:ext cx="146304" cy="146304"/>
          </a:xfrm>
          <a:prstGeom prst="ellipse">
            <a:avLst/>
          </a:prstGeom>
          <a:solidFill>
            <a:srgbClr val="9A6E28"/>
          </a:solidFill>
          <a:ln w="12700">
            <a:solidFill>
              <a:srgbClr val="9A6E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2450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l'événement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54112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 ou décommissionnement d'une application, création ou modification d'une interface, d'une dépendance ou d'un flux, bascule Cloud.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98080" y="3794760"/>
            <a:ext cx="146304" cy="146304"/>
          </a:xfrm>
          <a:prstGeom prst="ellipse">
            <a:avLst/>
          </a:prstGeom>
          <a:solidFill>
            <a:srgbClr val="9A6E28"/>
          </a:solidFill>
          <a:ln w="12700">
            <a:solidFill>
              <a:srgbClr val="9A6E2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4112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jalon projet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54112" y="40416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à jour du schéma conditionne la clôture du projet : pas de livraison sans documentation à jour.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498080" y="5093208"/>
            <a:ext cx="146304" cy="146304"/>
          </a:xfrm>
          <a:prstGeom prst="ellipse">
            <a:avLst/>
          </a:prstGeom>
          <a:solidFill>
            <a:srgbClr val="9A6E28"/>
          </a:solidFill>
          <a:ln w="12700">
            <a:solidFill>
              <a:srgbClr val="9A6E2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54112" y="5047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revue périodique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54112" y="534009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semestrielle par pôle sur la cohérence des schémas, revue annuelle transverse pour l'alignement inter-équipes.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règles définies par H520, validées par les REs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642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682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cadre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H520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7744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fiche d'identité et de schéma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modélisation communes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graphiques : couleurs, pictogrammes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et granularité par vue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642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1682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avec les REs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H520 &amp; responsables d'équipes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37744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canevas et des règles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vue fonctionnelle / applicative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l'outil de modélisation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des producteurs par pôle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41732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6642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1682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Outiller et amorcer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796528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6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37744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disposition des modèles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production sur un périmètre pilote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 et ajustement du cadre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en suspens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626864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de l'équipe ROBIN sur la déclaration de dépendances — elle conditionne le choix ROBIN ou PowerPoint pour la vue dynamique.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du niveau de granularité fonctionnelle attendu : descriptions techniques fines ou liens vers l'existant ?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du fichier recensant les besoins de formation et les niveaux de granularité souhaités (Valérie).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3760" y="4279392"/>
            <a:ext cx="4389120" cy="1691640"/>
          </a:xfrm>
          <a:prstGeom prst="roundRect">
            <a:avLst>
              <a:gd name="adj" fmla="val 3243"/>
            </a:avLst>
          </a:prstGeom>
          <a:solidFill>
            <a:srgbClr val="2A4574"/>
          </a:solidFill>
          <a:ln w="12700">
            <a:solidFill>
              <a:srgbClr val="2A4574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98080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jalon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4809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Mi-septembre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52303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de synthèse : restitution des retours des REs et mise à disposition des outils de production.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Documentation de l'architecture applicative &amp; fonctionnelle</dc:title>
  <dc:subject>PptxGenJS Presentation</dc:subject>
  <dc:creator>H520 — Architecture SI</dc:creator>
  <cp:lastModifiedBy>H520 — Architecture SI</cp:lastModifiedBy>
  <cp:revision>1</cp:revision>
  <dcterms:created xsi:type="dcterms:W3CDTF">2026-09-03T07:10:43Z</dcterms:created>
  <dcterms:modified xsi:type="dcterms:W3CDTF">2026-09-03T07:10:43Z</dcterms:modified>
</cp:coreProperties>
</file>