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440" r:id="rId3"/>
    <p:sldId id="441" r:id="rId4"/>
    <p:sldId id="442" r:id="rId5"/>
    <p:sldId id="443" r:id="rId6"/>
    <p:sldId id="444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5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266700" y="190503"/>
            <a:ext cx="11658600" cy="5549900"/>
          </a:xfrm>
          <a:prstGeom prst="roundRect">
            <a:avLst>
              <a:gd name="adj" fmla="val 3479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sp>
        <p:nvSpPr>
          <p:cNvPr id="8" name="Rectangle à coins arrondis 7"/>
          <p:cNvSpPr/>
          <p:nvPr/>
        </p:nvSpPr>
        <p:spPr>
          <a:xfrm>
            <a:off x="266700" y="190503"/>
            <a:ext cx="11658600" cy="5549900"/>
          </a:xfrm>
          <a:prstGeom prst="roundRect">
            <a:avLst>
              <a:gd name="adj" fmla="val 3479"/>
            </a:avLst>
          </a:prstGeom>
          <a:solidFill>
            <a:srgbClr val="003A8D">
              <a:alpha val="43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0008" y="1652564"/>
            <a:ext cx="5787992" cy="2145456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0008" y="3969727"/>
            <a:ext cx="5787992" cy="1288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00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9" name="Rectangle 13"/>
          <p:cNvSpPr/>
          <p:nvPr/>
        </p:nvSpPr>
        <p:spPr>
          <a:xfrm>
            <a:off x="4880015" y="3858692"/>
            <a:ext cx="5375359" cy="45719"/>
          </a:xfrm>
          <a:custGeom>
            <a:avLst/>
            <a:gdLst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42863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42863 w 5342021"/>
              <a:gd name="connsiteY4" fmla="*/ 0 h 45719"/>
              <a:gd name="connsiteX0" fmla="*/ 42863 w 5375359"/>
              <a:gd name="connsiteY0" fmla="*/ 0 h 45719"/>
              <a:gd name="connsiteX1" fmla="*/ 5375359 w 5375359"/>
              <a:gd name="connsiteY1" fmla="*/ 4762 h 45719"/>
              <a:gd name="connsiteX2" fmla="*/ 5342021 w 5375359"/>
              <a:gd name="connsiteY2" fmla="*/ 45719 h 45719"/>
              <a:gd name="connsiteX3" fmla="*/ 0 w 5375359"/>
              <a:gd name="connsiteY3" fmla="*/ 45719 h 45719"/>
              <a:gd name="connsiteX4" fmla="*/ 42863 w 5375359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5359" h="45719">
                <a:moveTo>
                  <a:pt x="42863" y="0"/>
                </a:moveTo>
                <a:lnTo>
                  <a:pt x="5375359" y="4762"/>
                </a:lnTo>
                <a:lnTo>
                  <a:pt x="5342021" y="45719"/>
                </a:lnTo>
                <a:lnTo>
                  <a:pt x="0" y="45719"/>
                </a:lnTo>
                <a:lnTo>
                  <a:pt x="42863" y="0"/>
                </a:lnTo>
                <a:close/>
              </a:path>
            </a:pathLst>
          </a:custGeom>
          <a:gradFill flip="none" rotWithShape="1">
            <a:gsLst>
              <a:gs pos="0">
                <a:srgbClr val="285C99"/>
              </a:gs>
              <a:gs pos="78000">
                <a:srgbClr val="285C99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1997" y="5805727"/>
            <a:ext cx="1018605" cy="94140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47" y="6349879"/>
            <a:ext cx="1509804" cy="18948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3110" y="6307279"/>
            <a:ext cx="531475" cy="2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7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9" y="295019"/>
            <a:ext cx="11016956" cy="5262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1" y="6443138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1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F2F98F8-E13D-9142-855C-26998B9C179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8" name="Espace réservé du numéro de diapositive 5"/>
          <p:cNvSpPr txBox="1">
            <a:spLocks/>
          </p:cNvSpPr>
          <p:nvPr/>
        </p:nvSpPr>
        <p:spPr>
          <a:xfrm>
            <a:off x="76855" y="6128138"/>
            <a:ext cx="630000" cy="63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2D2A5C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051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42" y="6292065"/>
            <a:ext cx="392531" cy="356692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9" y="1480882"/>
            <a:ext cx="11031537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9" y="868903"/>
            <a:ext cx="11031537" cy="352956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286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40909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">
          <p15:clr>
            <a:srgbClr val="FBAE40"/>
          </p15:clr>
        </p15:guide>
        <p15:guide id="2" pos="1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9" y="295018"/>
            <a:ext cx="11016956" cy="52625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8"/>
            <a:ext cx="10515600" cy="225425"/>
          </a:xfrm>
          <a:prstGeom prst="rect">
            <a:avLst/>
          </a:prstGeom>
        </p:spPr>
        <p:txBody>
          <a:bodyPr anchor="ctr"/>
          <a:lstStyle>
            <a:lvl1pPr algn="ctr">
              <a:defRPr sz="900" spc="151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Steering Committee – Octobre 2025 - Confidentiel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1" y="6443137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1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F2F98F8-E13D-9142-855C-26998B9C1793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17" name="Groupe 16"/>
          <p:cNvGrpSpPr/>
          <p:nvPr/>
        </p:nvGrpSpPr>
        <p:grpSpPr>
          <a:xfrm>
            <a:off x="62152" y="6153415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92590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1051"/>
            </a:p>
          </p:txBody>
        </p:sp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8" y="1480880"/>
            <a:ext cx="11031537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8" y="868903"/>
            <a:ext cx="11031537" cy="352956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309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865518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">
          <p15:clr>
            <a:srgbClr val="FBAE40"/>
          </p15:clr>
        </p15:guide>
        <p15:guide id="2" pos="24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 fond ble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baseline="0"/>
            </a:lvl1pPr>
          </a:lstStyle>
          <a:p>
            <a:r>
              <a:rPr lang="fr-FR"/>
              <a:t>Cliquer sur l'icône pour insérer une image OU supprimer cette zone si non utilisée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360334"/>
            <a:ext cx="12192000" cy="1422403"/>
          </a:xfrm>
          <a:prstGeom prst="rect">
            <a:avLst/>
          </a:prstGeom>
          <a:solidFill>
            <a:srgbClr val="0C4392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3017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re et conten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graphique  Description générée automatiquement">
            <a:extLst>
              <a:ext uri="{FF2B5EF4-FFF2-40B4-BE49-F238E27FC236}">
                <a16:creationId xmlns:a16="http://schemas.microsoft.com/office/drawing/2014/main" id="{85EA532F-AAE5-714F-5F11-9CD2929B15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5540" y="76200"/>
            <a:ext cx="356501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6999633-5CCF-FE79-CF70-32E8292B7E52}"/>
              </a:ext>
            </a:extLst>
          </p:cNvPr>
          <p:cNvSpPr/>
          <p:nvPr userDrawn="1"/>
        </p:nvSpPr>
        <p:spPr>
          <a:xfrm>
            <a:off x="1347216" y="76200"/>
            <a:ext cx="3547872" cy="6858000"/>
          </a:xfrm>
          <a:prstGeom prst="rect">
            <a:avLst/>
          </a:prstGeom>
          <a:solidFill>
            <a:srgbClr val="003A8D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1055E-F2A4-F254-D669-0A270C7ADD55}"/>
              </a:ext>
            </a:extLst>
          </p:cNvPr>
          <p:cNvSpPr/>
          <p:nvPr userDrawn="1"/>
        </p:nvSpPr>
        <p:spPr>
          <a:xfrm>
            <a:off x="1146048" y="1669200"/>
            <a:ext cx="3924000" cy="3672000"/>
          </a:xfrm>
          <a:prstGeom prst="rect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0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C7D46097-6B41-F68E-E0E7-AB34B08CAEFF}"/>
              </a:ext>
            </a:extLst>
          </p:cNvPr>
          <p:cNvCxnSpPr>
            <a:cxnSpLocks/>
          </p:cNvCxnSpPr>
          <p:nvPr userDrawn="1"/>
        </p:nvCxnSpPr>
        <p:spPr>
          <a:xfrm>
            <a:off x="5580888" y="571200"/>
            <a:ext cx="0" cy="586800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space réservé du numéro de diapositive 3"/>
          <p:cNvSpPr txBox="1">
            <a:spLocks/>
          </p:cNvSpPr>
          <p:nvPr userDrawn="1"/>
        </p:nvSpPr>
        <p:spPr>
          <a:xfrm>
            <a:off x="972721" y="6519332"/>
            <a:ext cx="523765" cy="225425"/>
          </a:xfrm>
          <a:prstGeom prst="rect">
            <a:avLst/>
          </a:prstGeom>
        </p:spPr>
        <p:txBody>
          <a:bodyPr vert="horz" lIns="45720" tIns="22860" rIns="45720" bIns="22860" rtlCol="0" anchor="ctr"/>
          <a:lstStyle>
            <a:defPPr>
              <a:defRPr lang="fr-FR"/>
            </a:defPPr>
            <a:lvl1pPr marL="0" algn="l" defTabSz="1828800" rtl="0" eaLnBrk="1" latinLnBrk="0" hangingPunct="1">
              <a:defRPr lang="fr-FR" sz="1800" kern="1200" spc="300" smtClean="0">
                <a:solidFill>
                  <a:srgbClr val="003A8D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E1DE5A-27D4-4895-8E04-340D57AD09FB}" type="slidenum">
              <a:rPr lang="fr-FR" sz="900" smtClean="0"/>
              <a:pPr/>
              <a:t>‹N°›</a:t>
            </a:fld>
            <a:endParaRPr lang="fr-FR" sz="9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68838" y="2325068"/>
            <a:ext cx="3278423" cy="236026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000" b="1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5732585" y="6439200"/>
            <a:ext cx="6120747" cy="229357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Steering Committee – </a:t>
            </a:r>
            <a:r>
              <a:rPr lang="en-US" dirty="0" err="1"/>
              <a:t>Octobre</a:t>
            </a:r>
            <a:r>
              <a:rPr lang="en-US" dirty="0"/>
              <a:t> 2025 - </a:t>
            </a:r>
            <a:r>
              <a:rPr lang="en-US" dirty="0" err="1"/>
              <a:t>Confidentiel</a:t>
            </a:r>
            <a:endParaRPr lang="fr-FR"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1050" dirty="0"/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5732586" y="1480875"/>
            <a:ext cx="6120485" cy="4811183"/>
          </a:xfrm>
          <a:prstGeom prst="rect">
            <a:avLst/>
          </a:prstGeom>
        </p:spPr>
        <p:txBody>
          <a:bodyPr/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lvl1pPr>
            <a:lvl2pPr>
              <a:spcAft>
                <a:spcPts val="600"/>
              </a:spcAft>
              <a:defRPr/>
            </a:lvl2pPr>
            <a:lvl3pPr>
              <a:spcAft>
                <a:spcPts val="600"/>
              </a:spcAft>
              <a:defRPr/>
            </a:lvl3pPr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3740458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avec flèche dans carrré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336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Steering Committee – </a:t>
            </a:r>
            <a:r>
              <a:rPr lang="en-US" dirty="0" err="1"/>
              <a:t>Octobre</a:t>
            </a:r>
            <a:r>
              <a:rPr lang="en-US" dirty="0"/>
              <a:t> 2025 - </a:t>
            </a:r>
            <a:r>
              <a:rPr lang="en-US" dirty="0" err="1"/>
              <a:t>Confidentiel</a:t>
            </a:r>
            <a:endParaRPr lang="en-US" dirty="0"/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1050" dirty="0"/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133686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Steering Committee - Avril 2025 - Confidentiel</a:t>
            </a:r>
            <a:endParaRPr lang="fr-FR" dirty="0"/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1" y="6443132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2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sz="1050"/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5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8255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 fond ble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baseline="0"/>
            </a:lvl1pPr>
          </a:lstStyle>
          <a:p>
            <a:r>
              <a:rPr lang="fr-FR"/>
              <a:t>Cliquer sur l'icône pour insérer une image OU supprimer cette zone si non utilisée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rgbClr val="0C4392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0869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e de titr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831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position personnalisé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D21C0FA-7CC4-4D2C-A11D-AC891C3072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t="11290" r="10267" b="11253"/>
          <a:stretch/>
        </p:blipFill>
        <p:spPr>
          <a:xfrm>
            <a:off x="10876248" y="5721532"/>
            <a:ext cx="1002241" cy="962297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397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sposition personnalisé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416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D9B752F-5E0A-40F2-BD5F-CD6F85FA4D0F}"/>
              </a:ext>
            </a:extLst>
          </p:cNvPr>
          <p:cNvSpPr/>
          <p:nvPr userDrawn="1"/>
        </p:nvSpPr>
        <p:spPr>
          <a:xfrm>
            <a:off x="175528" y="136525"/>
            <a:ext cx="11840944" cy="6584950"/>
          </a:xfrm>
          <a:prstGeom prst="roundRect">
            <a:avLst>
              <a:gd name="adj" fmla="val 78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55B07-A1A6-455A-AE06-97917C539DC1}"/>
              </a:ext>
            </a:extLst>
          </p:cNvPr>
          <p:cNvSpPr/>
          <p:nvPr userDrawn="1"/>
        </p:nvSpPr>
        <p:spPr>
          <a:xfrm>
            <a:off x="9907135" y="5423354"/>
            <a:ext cx="2109337" cy="129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E0BB00A-292B-432F-958B-D982AD0DF2E5}"/>
              </a:ext>
            </a:extLst>
          </p:cNvPr>
          <p:cNvSpPr txBox="1"/>
          <p:nvPr/>
        </p:nvSpPr>
        <p:spPr>
          <a:xfrm>
            <a:off x="175528" y="52152"/>
            <a:ext cx="11840944" cy="6669323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2491A7-7C9D-4DBA-A707-A42616E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E4B4-7B12-48A9-B720-4BCD9ED653E4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466B6-0673-409B-BC69-CF1A1245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AD89F-AD82-4B62-BC8C-616E1C706561}"/>
              </a:ext>
            </a:extLst>
          </p:cNvPr>
          <p:cNvSpPr/>
          <p:nvPr userDrawn="1"/>
        </p:nvSpPr>
        <p:spPr>
          <a:xfrm>
            <a:off x="10552798" y="5602554"/>
            <a:ext cx="1440000" cy="1113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Logo séminaire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66FA6FD-D0DB-4BC0-8E1C-C0BD3F78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365126"/>
            <a:ext cx="10866120" cy="688612"/>
          </a:xfrm>
        </p:spPr>
        <p:txBody>
          <a:bodyPr/>
          <a:lstStyle>
            <a:lvl1pPr>
              <a:defRPr>
                <a:solidFill>
                  <a:srgbClr val="034AAE"/>
                </a:solidFill>
                <a:latin typeface="Impact" panose="020B080603090205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04204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D9B752F-5E0A-40F2-BD5F-CD6F85FA4D0F}"/>
              </a:ext>
            </a:extLst>
          </p:cNvPr>
          <p:cNvSpPr/>
          <p:nvPr userDrawn="1"/>
        </p:nvSpPr>
        <p:spPr>
          <a:xfrm>
            <a:off x="175528" y="136525"/>
            <a:ext cx="11840944" cy="6584950"/>
          </a:xfrm>
          <a:prstGeom prst="roundRect">
            <a:avLst>
              <a:gd name="adj" fmla="val 785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55B07-A1A6-455A-AE06-97917C539DC1}"/>
              </a:ext>
            </a:extLst>
          </p:cNvPr>
          <p:cNvSpPr/>
          <p:nvPr userDrawn="1"/>
        </p:nvSpPr>
        <p:spPr>
          <a:xfrm>
            <a:off x="9907135" y="5423354"/>
            <a:ext cx="2109337" cy="129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E0BB00A-292B-432F-958B-D982AD0DF2E5}"/>
              </a:ext>
            </a:extLst>
          </p:cNvPr>
          <p:cNvSpPr txBox="1"/>
          <p:nvPr/>
        </p:nvSpPr>
        <p:spPr>
          <a:xfrm>
            <a:off x="175528" y="52152"/>
            <a:ext cx="11840944" cy="6669323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2491A7-7C9D-4DBA-A707-A42616E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E4B4-7B12-48A9-B720-4BCD9ED653E4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466B6-0673-409B-BC69-CF1A1245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666FA6FD-D0DB-4BC0-8E1C-C0BD3F78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365126"/>
            <a:ext cx="10866120" cy="688612"/>
          </a:xfrm>
        </p:spPr>
        <p:txBody>
          <a:bodyPr/>
          <a:lstStyle>
            <a:lvl1pPr>
              <a:defRPr>
                <a:solidFill>
                  <a:srgbClr val="034AAE"/>
                </a:solidFill>
                <a:latin typeface="Impact" panose="020B080603090205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3EABE6D-986A-413B-9649-816993FD03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8" t="11532" r="9746" b="10476"/>
          <a:stretch/>
        </p:blipFill>
        <p:spPr>
          <a:xfrm>
            <a:off x="10981211" y="5721531"/>
            <a:ext cx="860045" cy="854754"/>
          </a:xfrm>
          <a:prstGeom prst="ellipse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997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A784348-BE46-4FB0-A56A-B48447D51CBD}"/>
              </a:ext>
            </a:extLst>
          </p:cNvPr>
          <p:cNvSpPr/>
          <p:nvPr userDrawn="1"/>
        </p:nvSpPr>
        <p:spPr>
          <a:xfrm>
            <a:off x="175528" y="1010193"/>
            <a:ext cx="11840944" cy="5711281"/>
          </a:xfrm>
          <a:prstGeom prst="roundRect">
            <a:avLst>
              <a:gd name="adj" fmla="val 91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0919BCE-6179-49C1-9E22-3FC5E94B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276311"/>
            <a:ext cx="10515600" cy="51444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55B07-A1A6-455A-AE06-97917C539DC1}"/>
              </a:ext>
            </a:extLst>
          </p:cNvPr>
          <p:cNvSpPr/>
          <p:nvPr userDrawn="1"/>
        </p:nvSpPr>
        <p:spPr>
          <a:xfrm>
            <a:off x="9907135" y="5423354"/>
            <a:ext cx="2109337" cy="129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2491A7-7C9D-4DBA-A707-A42616E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E4B4-7B12-48A9-B720-4BCD9ED653E4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466B6-0673-409B-BC69-CF1A1245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AD89F-AD82-4B62-BC8C-616E1C706561}"/>
              </a:ext>
            </a:extLst>
          </p:cNvPr>
          <p:cNvSpPr/>
          <p:nvPr userDrawn="1"/>
        </p:nvSpPr>
        <p:spPr>
          <a:xfrm>
            <a:off x="10552798" y="5602554"/>
            <a:ext cx="1440000" cy="1113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Logo séminaire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74E30E1-8E91-4B44-A087-E6B3CE2E5686}"/>
              </a:ext>
            </a:extLst>
          </p:cNvPr>
          <p:cNvSpPr/>
          <p:nvPr userDrawn="1"/>
        </p:nvSpPr>
        <p:spPr>
          <a:xfrm>
            <a:off x="175528" y="1010192"/>
            <a:ext cx="11840944" cy="1558837"/>
          </a:xfrm>
          <a:prstGeom prst="roundRect">
            <a:avLst>
              <a:gd name="adj" fmla="val 55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689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A784348-BE46-4FB0-A56A-B48447D51CBD}"/>
              </a:ext>
            </a:extLst>
          </p:cNvPr>
          <p:cNvSpPr/>
          <p:nvPr userDrawn="1"/>
        </p:nvSpPr>
        <p:spPr>
          <a:xfrm>
            <a:off x="175528" y="1010193"/>
            <a:ext cx="11840944" cy="5711281"/>
          </a:xfrm>
          <a:prstGeom prst="roundRect">
            <a:avLst>
              <a:gd name="adj" fmla="val 91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0919BCE-6179-49C1-9E22-3FC5E94B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276311"/>
            <a:ext cx="10515600" cy="51444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255B07-A1A6-455A-AE06-97917C539DC1}"/>
              </a:ext>
            </a:extLst>
          </p:cNvPr>
          <p:cNvSpPr/>
          <p:nvPr userDrawn="1"/>
        </p:nvSpPr>
        <p:spPr>
          <a:xfrm>
            <a:off x="9907135" y="5423354"/>
            <a:ext cx="2109337" cy="1298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2491A7-7C9D-4DBA-A707-A42616EE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6E4B4-7B12-48A9-B720-4BCD9ED653E4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60466B6-0673-409B-BC69-CF1A1245A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A74E30E1-8E91-4B44-A087-E6B3CE2E5686}"/>
              </a:ext>
            </a:extLst>
          </p:cNvPr>
          <p:cNvSpPr/>
          <p:nvPr userDrawn="1"/>
        </p:nvSpPr>
        <p:spPr>
          <a:xfrm>
            <a:off x="175528" y="1010192"/>
            <a:ext cx="11840944" cy="1558837"/>
          </a:xfrm>
          <a:prstGeom prst="roundRect">
            <a:avLst>
              <a:gd name="adj" fmla="val 55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0ECDE3-476C-46B5-96F2-9223CFB42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8" t="11532" r="9746" b="10476"/>
          <a:stretch/>
        </p:blipFill>
        <p:spPr>
          <a:xfrm>
            <a:off x="10981211" y="5721531"/>
            <a:ext cx="860045" cy="854754"/>
          </a:xfrm>
          <a:prstGeom prst="ellipse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3398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position personnalisée">
    <p:bg>
      <p:bgPr>
        <a:gradFill>
          <a:gsLst>
            <a:gs pos="0">
              <a:srgbClr val="8358F5"/>
            </a:gs>
            <a:gs pos="100000">
              <a:srgbClr val="05BB69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D21C0FA-7CC4-4D2C-A11D-AC891C3072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" t="11290" r="10267" b="11253"/>
          <a:stretch/>
        </p:blipFill>
        <p:spPr>
          <a:xfrm>
            <a:off x="10876248" y="5721532"/>
            <a:ext cx="1002241" cy="962297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7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127002" y="101606"/>
            <a:ext cx="11946467" cy="6639481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37733" y="6443138"/>
            <a:ext cx="10515600" cy="225425"/>
          </a:xfrm>
          <a:prstGeom prst="rect">
            <a:avLst/>
          </a:prstGeom>
        </p:spPr>
        <p:txBody>
          <a:bodyPr anchor="ctr"/>
          <a:lstStyle>
            <a:lvl1pPr algn="ctr">
              <a:defRPr sz="900" spc="151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Steering Committee – Octobre 2025 - Confidentiel</a:t>
            </a:r>
            <a:endParaRPr lang="en-US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6521" y="6443137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1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F2F98F8-E13D-9142-855C-26998B9C1793}" type="slidenum">
              <a:rPr lang="en-US" smtClean="0"/>
              <a:pPr/>
              <a:t>‹N°›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602E2B-ACAE-F214-77F8-530BA794AD06}"/>
              </a:ext>
            </a:extLst>
          </p:cNvPr>
          <p:cNvGrpSpPr/>
          <p:nvPr userDrawn="1"/>
        </p:nvGrpSpPr>
        <p:grpSpPr>
          <a:xfrm>
            <a:off x="5852160" y="-212034"/>
            <a:ext cx="470008" cy="210260"/>
            <a:chOff x="4389120" y="-159026"/>
            <a:chExt cx="352506" cy="157695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968870E-E915-F42F-1294-51253169D874}"/>
                </a:ext>
              </a:extLst>
            </p:cNvPr>
            <p:cNvCxnSpPr/>
            <p:nvPr userDrawn="1"/>
          </p:nvCxnSpPr>
          <p:spPr>
            <a:xfrm>
              <a:off x="4389120" y="-153737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F293D63-7FB8-ED97-9AD4-E457EE97A462}"/>
                </a:ext>
              </a:extLst>
            </p:cNvPr>
            <p:cNvCxnSpPr/>
            <p:nvPr userDrawn="1"/>
          </p:nvCxnSpPr>
          <p:spPr>
            <a:xfrm>
              <a:off x="4565373" y="-15240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C56F22-EA76-6C47-CB26-F750F188D57D}"/>
                </a:ext>
              </a:extLst>
            </p:cNvPr>
            <p:cNvCxnSpPr/>
            <p:nvPr userDrawn="1"/>
          </p:nvCxnSpPr>
          <p:spPr>
            <a:xfrm>
              <a:off x="4741626" y="-15902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0BF1332-0A05-D424-DF87-FEE60E11B61A}"/>
              </a:ext>
            </a:extLst>
          </p:cNvPr>
          <p:cNvGrpSpPr/>
          <p:nvPr userDrawn="1"/>
        </p:nvGrpSpPr>
        <p:grpSpPr>
          <a:xfrm>
            <a:off x="8737597" y="-222634"/>
            <a:ext cx="470008" cy="210260"/>
            <a:chOff x="4389120" y="-159026"/>
            <a:chExt cx="352506" cy="15769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FF1DA4B-0E13-0798-191C-ED7FB5FFD6B9}"/>
                </a:ext>
              </a:extLst>
            </p:cNvPr>
            <p:cNvCxnSpPr/>
            <p:nvPr userDrawn="1"/>
          </p:nvCxnSpPr>
          <p:spPr>
            <a:xfrm>
              <a:off x="4389120" y="-153737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E55582-D785-31E4-DD29-95F55C7D13B9}"/>
                </a:ext>
              </a:extLst>
            </p:cNvPr>
            <p:cNvCxnSpPr/>
            <p:nvPr userDrawn="1"/>
          </p:nvCxnSpPr>
          <p:spPr>
            <a:xfrm>
              <a:off x="4565373" y="-15240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C00F8B-B0C9-01D8-7580-21B536FF3828}"/>
                </a:ext>
              </a:extLst>
            </p:cNvPr>
            <p:cNvCxnSpPr/>
            <p:nvPr userDrawn="1"/>
          </p:nvCxnSpPr>
          <p:spPr>
            <a:xfrm>
              <a:off x="4741626" y="-15902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4DC492-E93E-CBEB-93E9-1D613A4CD839}"/>
              </a:ext>
            </a:extLst>
          </p:cNvPr>
          <p:cNvGrpSpPr/>
          <p:nvPr userDrawn="1"/>
        </p:nvGrpSpPr>
        <p:grpSpPr>
          <a:xfrm>
            <a:off x="2972128" y="-231461"/>
            <a:ext cx="470008" cy="210260"/>
            <a:chOff x="4389120" y="-159026"/>
            <a:chExt cx="352506" cy="157695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940EB56-ACC7-1CE0-1A2F-8F71EC0D8216}"/>
                </a:ext>
              </a:extLst>
            </p:cNvPr>
            <p:cNvCxnSpPr/>
            <p:nvPr userDrawn="1"/>
          </p:nvCxnSpPr>
          <p:spPr>
            <a:xfrm>
              <a:off x="4389120" y="-153737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0553000-51CE-B254-1CBD-21B8A1DAA5AA}"/>
                </a:ext>
              </a:extLst>
            </p:cNvPr>
            <p:cNvCxnSpPr/>
            <p:nvPr userDrawn="1"/>
          </p:nvCxnSpPr>
          <p:spPr>
            <a:xfrm>
              <a:off x="4565373" y="-15240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8B25738-87FA-7320-DA44-F118F9FD1D21}"/>
                </a:ext>
              </a:extLst>
            </p:cNvPr>
            <p:cNvCxnSpPr/>
            <p:nvPr userDrawn="1"/>
          </p:nvCxnSpPr>
          <p:spPr>
            <a:xfrm>
              <a:off x="4741626" y="-15902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88FCAB-10C9-0643-8FAA-8370C9D56443}"/>
              </a:ext>
            </a:extLst>
          </p:cNvPr>
          <p:cNvGrpSpPr/>
          <p:nvPr userDrawn="1"/>
        </p:nvGrpSpPr>
        <p:grpSpPr>
          <a:xfrm rot="16200000">
            <a:off x="-347329" y="3273593"/>
            <a:ext cx="470008" cy="210260"/>
            <a:chOff x="4389120" y="-159026"/>
            <a:chExt cx="352506" cy="15769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AC8E3A1-096A-8836-5560-0077A1C9F3AB}"/>
                </a:ext>
              </a:extLst>
            </p:cNvPr>
            <p:cNvCxnSpPr/>
            <p:nvPr userDrawn="1"/>
          </p:nvCxnSpPr>
          <p:spPr>
            <a:xfrm>
              <a:off x="4389120" y="-153737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F9D3A70-D242-7D60-8A72-6C907CA70608}"/>
                </a:ext>
              </a:extLst>
            </p:cNvPr>
            <p:cNvCxnSpPr/>
            <p:nvPr userDrawn="1"/>
          </p:nvCxnSpPr>
          <p:spPr>
            <a:xfrm>
              <a:off x="4565373" y="-15240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7E085D-56D9-4F48-1EF5-3777AEE77457}"/>
                </a:ext>
              </a:extLst>
            </p:cNvPr>
            <p:cNvCxnSpPr/>
            <p:nvPr userDrawn="1"/>
          </p:nvCxnSpPr>
          <p:spPr>
            <a:xfrm>
              <a:off x="4741626" y="-159026"/>
              <a:ext cx="0" cy="1510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16345D-1506-FA3D-01BA-53CF6F210494}"/>
              </a:ext>
            </a:extLst>
          </p:cNvPr>
          <p:cNvCxnSpPr/>
          <p:nvPr userDrawn="1"/>
        </p:nvCxnSpPr>
        <p:spPr>
          <a:xfrm>
            <a:off x="11925300" y="-215582"/>
            <a:ext cx="0" cy="201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4A93FF-0A2F-03DF-CEC8-59CC91716623}"/>
              </a:ext>
            </a:extLst>
          </p:cNvPr>
          <p:cNvCxnSpPr/>
          <p:nvPr userDrawn="1"/>
        </p:nvCxnSpPr>
        <p:spPr>
          <a:xfrm>
            <a:off x="277412" y="-249145"/>
            <a:ext cx="0" cy="2014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76B5CB0-3AF5-9F3B-7459-FD659519CA5D}"/>
              </a:ext>
            </a:extLst>
          </p:cNvPr>
          <p:cNvCxnSpPr>
            <a:cxnSpLocks/>
          </p:cNvCxnSpPr>
          <p:nvPr userDrawn="1"/>
        </p:nvCxnSpPr>
        <p:spPr>
          <a:xfrm>
            <a:off x="-182440" y="190503"/>
            <a:ext cx="164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A5658D-09DC-CE8A-EBCC-2F1CE3FB7487}"/>
              </a:ext>
            </a:extLst>
          </p:cNvPr>
          <p:cNvCxnSpPr>
            <a:cxnSpLocks/>
          </p:cNvCxnSpPr>
          <p:nvPr userDrawn="1"/>
        </p:nvCxnSpPr>
        <p:spPr>
          <a:xfrm>
            <a:off x="-208799" y="6441671"/>
            <a:ext cx="164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37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A8D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0" indent="0" algn="l" defTabSz="914309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fr-FR" sz="2000" kern="1200" dirty="0" smtClean="0">
          <a:solidFill>
            <a:srgbClr val="003A8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28578" indent="-228578" algn="l" defTabSz="914309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"/>
        <a:defRPr lang="fr-FR" sz="1600" kern="1200" dirty="0" smtClean="0">
          <a:solidFill>
            <a:srgbClr val="285C99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48423" indent="-228578" algn="l" defTabSz="914309" rtl="0" eaLnBrk="1" latinLnBrk="0" hangingPunct="1">
        <a:lnSpc>
          <a:spcPct val="100000"/>
        </a:lnSpc>
        <a:spcBef>
          <a:spcPts val="0"/>
        </a:spcBef>
        <a:buClr>
          <a:srgbClr val="003A8D"/>
        </a:buClr>
        <a:buFont typeface="Wingdings 3" panose="05040102010807070707" pitchFamily="18" charset="2"/>
        <a:buChar char="}"/>
        <a:defRPr lang="fr-FR" sz="12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1925" indent="-270643" algn="l" defTabSz="914309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}"/>
        <a:defRPr lang="fr-FR" sz="10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E4B4-7B12-48A9-B720-4BCD9ED653E4}" type="datetimeFigureOut">
              <a:rPr lang="fr-FR" smtClean="0"/>
              <a:t>01/06/2026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C8139-566B-45AB-B774-B9AAE4F9BD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831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7680" y="380000"/>
            <a:ext cx="10866120" cy="68861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l'assistant a l'acteur du delivery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487680" y="1180000"/>
            <a:ext cx="10866120" cy="3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spc="12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L'IA AGENTIC TRANSFORME LE SOFTWARE DELIVERY</a:t>
            </a:r>
          </a:p>
        </p:txBody>
      </p:sp>
      <p:sp>
        <p:nvSpPr>
          <p:cNvPr id="11" name="lead"/>
          <p:cNvSpPr txBox="1"/>
          <p:nvPr/>
        </p:nvSpPr>
        <p:spPr>
          <a:xfrm>
            <a:off x="487680" y="1560000"/>
            <a:ext cx="10866120" cy="56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5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L'IA ne se contente plus d'assister, elle devient un contributeur actif du cycle de developpement, aux côtés des équipes.</a:t>
            </a:r>
          </a:p>
        </p:txBody>
      </p:sp>
      <p:graphicFrame>
        <p:nvGraphicFramePr>
          <p:cNvPr id="12" name="comparo"/>
          <p:cNvGraphicFramePr/>
          <p:nvPr/>
        </p:nvGraphicFramePr>
        <p:xfrm>
          <a:off x="487680" y="2280000"/>
          <a:ext cx="10866120" cy="900000"/>
        </p:xfrm>
        <a:graphic>
          <a:graphicData uri="http://schemas.openxmlformats.org/drawingml/2006/table">
            <a:tbl>
              <a:tblPr firstRow="1"/>
              <a:tblGrid>
                <a:gridCol w="5433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3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rgbClr val="8358F5"/>
                          </a:solidFill>
                        </a:rPr>
                        <a:t>COPILOT - assistance</a:t>
                      </a:r>
                    </a:p>
                  </a:txBody>
                  <a:tcPr anchor="ctr"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b="1">
                          <a:solidFill>
                            <a:srgbClr val="05BB69"/>
                          </a:solidFill>
                        </a:rPr>
                        <a:t>AGENTIC - acteur</a:t>
                      </a:r>
                    </a:p>
                  </a:txBody>
                  <a:tcPr anchor="ctr">
                    <a:lnB w="12700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161616"/>
                          </a:solidFill>
                        </a:rPr>
                        <a:t>Generation de code contextuelle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 dirty="0" err="1">
                          <a:solidFill>
                            <a:srgbClr val="161616"/>
                          </a:solidFill>
                        </a:rPr>
                        <a:t>Resolution</a:t>
                      </a:r>
                      <a:r>
                        <a:rPr lang="fr-FR" sz="1300" dirty="0">
                          <a:solidFill>
                            <a:srgbClr val="161616"/>
                          </a:solidFill>
                        </a:rPr>
                        <a:t> de use-cases de bout en bout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c1"/>
          <p:cNvSpPr txBox="1"/>
          <p:nvPr/>
        </p:nvSpPr>
        <p:spPr>
          <a:xfrm>
            <a:off x="949568" y="3420000"/>
            <a:ext cx="4828112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dirty="0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  Membres de l’équipe</a:t>
            </a:r>
          </a:p>
          <a:p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 agents participent, donnent du feedback, déchargent la charge cognitive répétitive.</a:t>
            </a:r>
          </a:p>
        </p:txBody>
      </p:sp>
      <p:sp>
        <p:nvSpPr>
          <p:cNvPr id="21" name="c2"/>
          <p:cNvSpPr txBox="1"/>
          <p:nvPr/>
        </p:nvSpPr>
        <p:spPr>
          <a:xfrm>
            <a:off x="6268914" y="3420000"/>
            <a:ext cx="5084885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dirty="0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 Delivery plus large</a:t>
            </a:r>
          </a:p>
          <a:p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equipes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plus petites livrent plus vite, sur un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perimetre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fonctionnel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elargi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2" name="c3"/>
          <p:cNvSpPr txBox="1"/>
          <p:nvPr/>
        </p:nvSpPr>
        <p:spPr>
          <a:xfrm>
            <a:off x="949568" y="4440000"/>
            <a:ext cx="4828111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dirty="0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  Mémoire partagée</a:t>
            </a:r>
          </a:p>
          <a:p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Rappel instantané des connaissances de l'organisation. Le tissu connectif qui brise les silos.</a:t>
            </a:r>
          </a:p>
        </p:txBody>
      </p:sp>
      <p:sp>
        <p:nvSpPr>
          <p:cNvPr id="23" name="c4"/>
          <p:cNvSpPr txBox="1"/>
          <p:nvPr/>
        </p:nvSpPr>
        <p:spPr>
          <a:xfrm>
            <a:off x="6268914" y="4440000"/>
            <a:ext cx="5084886" cy="9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dirty="0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  </a:t>
            </a:r>
            <a:r>
              <a:rPr lang="fr-FR" sz="1300" b="1" dirty="0" err="1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Modele</a:t>
            </a:r>
            <a:r>
              <a:rPr lang="fr-FR" sz="1300" b="1" dirty="0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fr-FR" sz="1300" b="1" dirty="0" err="1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reinventer</a:t>
            </a:r>
            <a:endParaRPr lang="fr-FR" sz="1300" b="1" dirty="0">
              <a:solidFill>
                <a:srgbClr val="05BB69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Multi-agents orchestres,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reseau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 connaissances,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equipes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1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alignees</a:t>
            </a:r>
            <a:r>
              <a:rPr lang="fr-FR" sz="1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valeur, gouvernance.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E715B8E-513A-4AE0-987B-AD6EF6016E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7680" y="3420000"/>
            <a:ext cx="360000" cy="36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A07211A-D4B5-4D88-B93F-36D8A13D8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679" y="3418366"/>
            <a:ext cx="360000" cy="3600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A233F1A-9510-48D8-931A-4B780C8FE0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7680" y="4440000"/>
            <a:ext cx="360000" cy="3600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5192A26-0DC6-4DA2-A552-B016E51B9F6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77679" y="4438169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7680" y="380000"/>
            <a:ext cx="10866120" cy="68861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2"/>
                </a:solidFill>
              </a:rPr>
              <a:t>Du codeur au gouverneur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487680" y="1180000"/>
            <a:ext cx="10866120" cy="34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400" dirty="0">
                <a:solidFill>
                  <a:srgbClr val="161616"/>
                </a:solidFill>
              </a:rPr>
              <a:t>Une evolution, pas une disparition. Le centre de gravite se deplace du code vers le jugement.</a:t>
            </a:r>
          </a:p>
        </p:txBody>
      </p:sp>
      <p:graphicFrame>
        <p:nvGraphicFramePr>
          <p:cNvPr id="12" name="roles"/>
          <p:cNvGraphicFramePr/>
          <p:nvPr/>
        </p:nvGraphicFramePr>
        <p:xfrm>
          <a:off x="487680" y="1640000"/>
          <a:ext cx="10866120" cy="3180000"/>
        </p:xfrm>
        <a:graphic>
          <a:graphicData uri="http://schemas.openxmlformats.org/drawingml/2006/table">
            <a:tbl>
              <a:tblPr firstRow="1" firstCol="1"/>
              <a:tblGrid>
                <a:gridCol w="27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4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rgbClr val="FFFFFF"/>
                          </a:solidFill>
                        </a:rPr>
                        <a:t>PROFIL</a:t>
                      </a:r>
                    </a:p>
                  </a:txBody>
                  <a:tcPr marT="36000" marB="36000" anchor="ctr">
                    <a:solidFill>
                      <a:srgbClr val="161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rgbClr val="FFFFFF"/>
                          </a:solidFill>
                        </a:rPr>
                        <a:t>AUJOURD'HUI</a:t>
                      </a:r>
                    </a:p>
                  </a:txBody>
                  <a:tcPr marT="36000" marB="36000" anchor="ctr"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rgbClr val="FFFFFF"/>
                          </a:solidFill>
                        </a:rPr>
                        <a:t>DEMAIN</a:t>
                      </a:r>
                    </a:p>
                  </a:txBody>
                  <a:tcPr marT="36000" marB="36000" anchor="ctr">
                    <a:solidFill>
                      <a:srgbClr val="835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fr-FR" sz="1150" b="1">
                          <a:solidFill>
                            <a:srgbClr val="161616"/>
                          </a:solidFill>
                        </a:rPr>
                        <a:t>BA / Product Owner</a:t>
                      </a:r>
                    </a:p>
                  </a:txBody>
                  <a:tcPr marT="36000" marB="36000" anchor="ctr">
                    <a:lnB w="9525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525252"/>
                          </a:solidFill>
                        </a:rPr>
                        <a:t>Specs, recettage, coordination tech</a:t>
                      </a:r>
                    </a:p>
                  </a:txBody>
                  <a:tcPr marT="36000" marB="36000" anchor="ctr"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161616"/>
                          </a:solidFill>
                        </a:rPr>
                        <a:t>Carburant du reseau de connaissances ; garant de la valeur</a:t>
                      </a:r>
                    </a:p>
                  </a:txBody>
                  <a:tcPr marT="36000" marB="36000" anchor="ctr">
                    <a:lnB w="9525">
                      <a:solidFill>
                        <a:srgbClr val="E0E0E0"/>
                      </a:solidFill>
                    </a:lnB>
                    <a:solidFill>
                      <a:srgbClr val="F3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fr-FR" sz="1150" b="1">
                          <a:solidFill>
                            <a:srgbClr val="161616"/>
                          </a:solidFill>
                        </a:rPr>
                        <a:t>Developpeur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525252"/>
                          </a:solidFill>
                        </a:rPr>
                        <a:t>Auteur du code, debug, revue manuelle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161616"/>
                          </a:solidFill>
                        </a:rPr>
                        <a:t>Orchestre et audite les agents ; architecte les flux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3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fr-FR" sz="1150" b="1">
                          <a:solidFill>
                            <a:srgbClr val="161616"/>
                          </a:solidFill>
                        </a:rPr>
                        <a:t>Architecte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525252"/>
                          </a:solidFill>
                        </a:rPr>
                        <a:t>Patterns techniques, arbitrages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161616"/>
                          </a:solidFill>
                        </a:rPr>
                        <a:t>Architecte du systeme agentic : guardrails, blueprints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3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fr-FR" sz="1150" b="1">
                          <a:solidFill>
                            <a:srgbClr val="161616"/>
                          </a:solidFill>
                        </a:rPr>
                        <a:t>Delivery Manager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525252"/>
                          </a:solidFill>
                        </a:rPr>
                        <a:t>Planification, suivi, reporting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solidFill>
                            <a:srgbClr val="161616"/>
                          </a:solidFill>
                        </a:rPr>
                        <a:t>Supervision human-on-the-loop ; AI FinOps ; derive des agents</a:t>
                      </a:r>
                    </a:p>
                  </a:txBody>
                  <a:tcPr marT="36000" marB="36000" anchor="ctr"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E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7680" y="380000"/>
            <a:ext cx="10866120" cy="68861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2"/>
                </a:solidFill>
              </a:rPr>
              <a:t>Un nouveau modele de delivery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487680" y="1180000"/>
            <a:ext cx="10866120" cy="34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400" dirty="0">
                <a:solidFill>
                  <a:srgbClr val="161616"/>
                </a:solidFill>
              </a:rPr>
              <a:t>Une organisation hybride : agents IA et equipes humaines, pour livrer plus, mieux, ensemble.</a:t>
            </a:r>
          </a:p>
        </p:txBody>
      </p:sp>
      <p:sp>
        <p:nvSpPr>
          <p:cNvPr id="30" name="card0"/>
          <p:cNvSpPr/>
          <p:nvPr/>
        </p:nvSpPr>
        <p:spPr>
          <a:xfrm>
            <a:off x="487680" y="1680000"/>
            <a:ext cx="3417780" cy="33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80000" tIns="180000" rIns="180000" bIns="180000"/>
          <a:lstStyle/>
          <a:p>
            <a:pPr>
              <a:spcAft>
                <a:spcPts val="600"/>
              </a:spcAft>
            </a:pPr>
            <a:r>
              <a:rPr lang="fr-FR" sz="3200" b="1" dirty="0">
                <a:solidFill>
                  <a:srgbClr val="8358F5"/>
                </a:solidFill>
              </a:rPr>
              <a:t>01</a:t>
            </a:r>
          </a:p>
          <a:p>
            <a:pPr>
              <a:spcAft>
                <a:spcPts val="800"/>
              </a:spcAft>
            </a:pPr>
            <a:r>
              <a:rPr lang="fr-FR" sz="1600" b="1" dirty="0">
                <a:solidFill>
                  <a:srgbClr val="161616"/>
                </a:solidFill>
              </a:rPr>
              <a:t>Equipes plus petites</a:t>
            </a:r>
          </a:p>
          <a:p>
            <a:r>
              <a:rPr lang="fr-FR" sz="1150" dirty="0" err="1">
                <a:solidFill>
                  <a:srgbClr val="525252"/>
                </a:solidFill>
              </a:rPr>
              <a:t>Liberees</a:t>
            </a:r>
            <a:r>
              <a:rPr lang="fr-FR" sz="1150" dirty="0">
                <a:solidFill>
                  <a:srgbClr val="525252"/>
                </a:solidFill>
              </a:rPr>
              <a:t> du codage </a:t>
            </a:r>
            <a:r>
              <a:rPr lang="fr-FR" sz="1150" dirty="0" err="1">
                <a:solidFill>
                  <a:srgbClr val="525252"/>
                </a:solidFill>
              </a:rPr>
              <a:t>repetitif</a:t>
            </a:r>
            <a:r>
              <a:rPr lang="fr-FR" sz="1150" dirty="0">
                <a:solidFill>
                  <a:srgbClr val="525252"/>
                </a:solidFill>
              </a:rPr>
              <a:t>, des </a:t>
            </a:r>
            <a:r>
              <a:rPr lang="fr-FR" sz="1150" dirty="0" err="1">
                <a:solidFill>
                  <a:srgbClr val="525252"/>
                </a:solidFill>
              </a:rPr>
              <a:t>equipes</a:t>
            </a:r>
            <a:r>
              <a:rPr lang="fr-FR" sz="1150" dirty="0">
                <a:solidFill>
                  <a:srgbClr val="525252"/>
                </a:solidFill>
              </a:rPr>
              <a:t> </a:t>
            </a:r>
            <a:r>
              <a:rPr lang="fr-FR" sz="1150" dirty="0" err="1">
                <a:solidFill>
                  <a:srgbClr val="525252"/>
                </a:solidFill>
              </a:rPr>
              <a:t>reduites</a:t>
            </a:r>
            <a:r>
              <a:rPr lang="fr-FR" sz="1150" dirty="0">
                <a:solidFill>
                  <a:srgbClr val="525252"/>
                </a:solidFill>
              </a:rPr>
              <a:t> travaillent de bout en bout et </a:t>
            </a:r>
            <a:r>
              <a:rPr lang="fr-FR" sz="1150" dirty="0" err="1">
                <a:solidFill>
                  <a:srgbClr val="525252"/>
                </a:solidFill>
              </a:rPr>
              <a:t>resolvent</a:t>
            </a:r>
            <a:r>
              <a:rPr lang="fr-FR" sz="1150" dirty="0">
                <a:solidFill>
                  <a:srgbClr val="525252"/>
                </a:solidFill>
              </a:rPr>
              <a:t> leurs </a:t>
            </a:r>
            <a:r>
              <a:rPr lang="fr-FR" sz="1150" dirty="0" err="1">
                <a:solidFill>
                  <a:srgbClr val="525252"/>
                </a:solidFill>
              </a:rPr>
              <a:t>dependances</a:t>
            </a:r>
            <a:r>
              <a:rPr lang="fr-FR" sz="1150" dirty="0">
                <a:solidFill>
                  <a:srgbClr val="525252"/>
                </a:solidFill>
              </a:rPr>
              <a:t> via les agents self-service.</a:t>
            </a:r>
          </a:p>
        </p:txBody>
      </p:sp>
      <p:sp>
        <p:nvSpPr>
          <p:cNvPr id="31" name="card1"/>
          <p:cNvSpPr/>
          <p:nvPr/>
        </p:nvSpPr>
        <p:spPr>
          <a:xfrm>
            <a:off x="4147140" y="1680000"/>
            <a:ext cx="3417780" cy="33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80000" tIns="180000" rIns="180000" bIns="180000"/>
          <a:lstStyle/>
          <a:p>
            <a:pPr>
              <a:spcAft>
                <a:spcPts val="600"/>
              </a:spcAft>
            </a:pPr>
            <a:r>
              <a:rPr lang="fr-FR" sz="3200" b="1" dirty="0">
                <a:solidFill>
                  <a:srgbClr val="05BB69"/>
                </a:solidFill>
              </a:rPr>
              <a:t>02</a:t>
            </a:r>
          </a:p>
          <a:p>
            <a:pPr>
              <a:spcAft>
                <a:spcPts val="800"/>
              </a:spcAft>
            </a:pPr>
            <a:r>
              <a:rPr lang="fr-FR" sz="1600" b="1" dirty="0">
                <a:solidFill>
                  <a:srgbClr val="161616"/>
                </a:solidFill>
              </a:rPr>
              <a:t>Gouvernance = filet</a:t>
            </a:r>
          </a:p>
          <a:p>
            <a:r>
              <a:rPr lang="fr-FR" sz="1150" dirty="0" err="1">
                <a:solidFill>
                  <a:srgbClr val="525252"/>
                </a:solidFill>
              </a:rPr>
              <a:t>Guardrails</a:t>
            </a:r>
            <a:r>
              <a:rPr lang="fr-FR" sz="1150" dirty="0">
                <a:solidFill>
                  <a:srgbClr val="525252"/>
                </a:solidFill>
              </a:rPr>
              <a:t> </a:t>
            </a:r>
            <a:r>
              <a:rPr lang="fr-FR" sz="1150" dirty="0" err="1">
                <a:solidFill>
                  <a:srgbClr val="525252"/>
                </a:solidFill>
              </a:rPr>
              <a:t>policy</a:t>
            </a:r>
            <a:r>
              <a:rPr lang="fr-FR" sz="1150" dirty="0">
                <a:solidFill>
                  <a:srgbClr val="525252"/>
                </a:solidFill>
              </a:rPr>
              <a:t>-as-code, agents de validation, registre de confiance, </a:t>
            </a:r>
            <a:r>
              <a:rPr lang="fr-FR" sz="1150" dirty="0" err="1">
                <a:solidFill>
                  <a:srgbClr val="525252"/>
                </a:solidFill>
              </a:rPr>
              <a:t>metriques</a:t>
            </a:r>
            <a:r>
              <a:rPr lang="fr-FR" sz="1150" dirty="0">
                <a:solidFill>
                  <a:srgbClr val="525252"/>
                </a:solidFill>
              </a:rPr>
              <a:t> de </a:t>
            </a:r>
            <a:r>
              <a:rPr lang="fr-FR" sz="1150" dirty="0" err="1">
                <a:solidFill>
                  <a:srgbClr val="525252"/>
                </a:solidFill>
              </a:rPr>
              <a:t>fiabilite</a:t>
            </a:r>
            <a:r>
              <a:rPr lang="fr-FR" sz="1150" dirty="0">
                <a:solidFill>
                  <a:srgbClr val="525252"/>
                </a:solidFill>
              </a:rPr>
              <a:t>. Ce qui rend le </a:t>
            </a:r>
            <a:r>
              <a:rPr lang="fr-FR" sz="1150" dirty="0" err="1">
                <a:solidFill>
                  <a:srgbClr val="525252"/>
                </a:solidFill>
              </a:rPr>
              <a:t>modele</a:t>
            </a:r>
            <a:r>
              <a:rPr lang="fr-FR" sz="1150" dirty="0">
                <a:solidFill>
                  <a:srgbClr val="525252"/>
                </a:solidFill>
              </a:rPr>
              <a:t> viable a l'</a:t>
            </a:r>
            <a:r>
              <a:rPr lang="fr-FR" sz="1150" dirty="0" err="1">
                <a:solidFill>
                  <a:srgbClr val="525252"/>
                </a:solidFill>
              </a:rPr>
              <a:t>echelle</a:t>
            </a:r>
            <a:r>
              <a:rPr lang="fr-FR" sz="1150" dirty="0">
                <a:solidFill>
                  <a:srgbClr val="525252"/>
                </a:solidFill>
              </a:rPr>
              <a:t>.</a:t>
            </a:r>
          </a:p>
        </p:txBody>
      </p:sp>
      <p:sp>
        <p:nvSpPr>
          <p:cNvPr id="32" name="card2"/>
          <p:cNvSpPr/>
          <p:nvPr/>
        </p:nvSpPr>
        <p:spPr>
          <a:xfrm>
            <a:off x="7806600" y="1680000"/>
            <a:ext cx="3417780" cy="33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80000" tIns="180000" rIns="180000" bIns="180000"/>
          <a:lstStyle/>
          <a:p>
            <a:pPr>
              <a:spcAft>
                <a:spcPts val="600"/>
              </a:spcAft>
            </a:pPr>
            <a:r>
              <a:rPr lang="fr-FR" sz="3200" b="1">
                <a:solidFill>
                  <a:srgbClr val="8358F5"/>
                </a:solidFill>
              </a:rPr>
              <a:t>03</a:t>
            </a:r>
          </a:p>
          <a:p>
            <a:pPr>
              <a:spcAft>
                <a:spcPts val="800"/>
              </a:spcAft>
            </a:pPr>
            <a:r>
              <a:rPr lang="fr-FR" sz="1600" b="1">
                <a:solidFill>
                  <a:srgbClr val="161616"/>
                </a:solidFill>
              </a:rPr>
              <a:t>Changement culturel</a:t>
            </a:r>
          </a:p>
          <a:p>
            <a:r>
              <a:rPr lang="fr-FR" sz="1150">
                <a:solidFill>
                  <a:srgbClr val="525252"/>
                </a:solidFill>
              </a:rPr>
              <a:t>Le heros du code devient system thinker. Scepticisme sain, mob programming, droit a l'erreur comme apprentissage.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7680" y="380000"/>
            <a:ext cx="10866120" cy="688612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accent2"/>
                </a:solidFill>
              </a:rPr>
              <a:t>Transformation des talents : crise ou opportunite ?</a:t>
            </a:r>
          </a:p>
        </p:txBody>
      </p:sp>
      <p:sp>
        <p:nvSpPr>
          <p:cNvPr id="11" name="punch"/>
          <p:cNvSpPr/>
          <p:nvPr/>
        </p:nvSpPr>
        <p:spPr>
          <a:xfrm>
            <a:off x="487680" y="1180000"/>
            <a:ext cx="10866120" cy="1000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lIns="270000" tIns="160000" rIns="270000" bIns="160000" anchor="ctr"/>
          <a:lstStyle/>
          <a:p>
            <a:r>
              <a:rPr lang="fr-FR" sz="1700" i="1">
                <a:solidFill>
                  <a:srgbClr val="FFFFFF"/>
                </a:solidFill>
              </a:rPr>
              <a:t>Si les agents montent en puissance plus vite que les competences humaines, la valeur reste bloquee.</a:t>
            </a:r>
          </a:p>
        </p:txBody>
      </p:sp>
      <p:sp>
        <p:nvSpPr>
          <p:cNvPr id="30" name="ax0"/>
          <p:cNvSpPr/>
          <p:nvPr/>
        </p:nvSpPr>
        <p:spPr>
          <a:xfrm>
            <a:off x="487680" y="2440000"/>
            <a:ext cx="3417780" cy="25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lIns="170000" tIns="160000" rIns="170000" bIns="160000"/>
          <a:lstStyle/>
          <a:p>
            <a:pPr>
              <a:spcAft>
                <a:spcPts val="700"/>
              </a:spcAft>
            </a:pPr>
            <a:r>
              <a:rPr lang="fr-FR" sz="1500" b="1" dirty="0">
                <a:solidFill>
                  <a:srgbClr val="8358F5"/>
                </a:solidFill>
              </a:rPr>
              <a:t>Faire </a:t>
            </a:r>
            <a:r>
              <a:rPr lang="fr-FR" sz="1500" b="1" dirty="0" err="1">
                <a:solidFill>
                  <a:srgbClr val="8358F5"/>
                </a:solidFill>
              </a:rPr>
              <a:t>evoluer</a:t>
            </a:r>
            <a:r>
              <a:rPr lang="fr-FR" sz="1500" b="1" dirty="0">
                <a:solidFill>
                  <a:srgbClr val="8358F5"/>
                </a:solidFill>
              </a:rPr>
              <a:t>, pas remplacer</a:t>
            </a:r>
          </a:p>
          <a:p>
            <a:r>
              <a:rPr lang="fr-FR" sz="1150" dirty="0">
                <a:solidFill>
                  <a:srgbClr val="525252"/>
                </a:solidFill>
              </a:rPr>
              <a:t>Du code vers la revue, la priorisation et l'audit. Nouveaux </a:t>
            </a:r>
            <a:r>
              <a:rPr lang="fr-FR" sz="1150" dirty="0" err="1">
                <a:solidFill>
                  <a:srgbClr val="525252"/>
                </a:solidFill>
              </a:rPr>
              <a:t>roles</a:t>
            </a:r>
            <a:r>
              <a:rPr lang="fr-FR" sz="1150" dirty="0">
                <a:solidFill>
                  <a:srgbClr val="525252"/>
                </a:solidFill>
              </a:rPr>
              <a:t> : </a:t>
            </a:r>
            <a:r>
              <a:rPr lang="fr-FR" sz="1150" dirty="0" err="1">
                <a:solidFill>
                  <a:srgbClr val="525252"/>
                </a:solidFill>
              </a:rPr>
              <a:t>knowledge</a:t>
            </a:r>
            <a:r>
              <a:rPr lang="fr-FR" sz="1150" dirty="0">
                <a:solidFill>
                  <a:srgbClr val="525252"/>
                </a:solidFill>
              </a:rPr>
              <a:t> </a:t>
            </a:r>
            <a:r>
              <a:rPr lang="fr-FR" sz="1150" dirty="0" err="1">
                <a:solidFill>
                  <a:srgbClr val="525252"/>
                </a:solidFill>
              </a:rPr>
              <a:t>architect</a:t>
            </a:r>
            <a:r>
              <a:rPr lang="fr-FR" sz="1150" dirty="0">
                <a:solidFill>
                  <a:srgbClr val="525252"/>
                </a:solidFill>
              </a:rPr>
              <a:t>, </a:t>
            </a:r>
            <a:r>
              <a:rPr lang="fr-FR" sz="1150" dirty="0" err="1">
                <a:solidFill>
                  <a:srgbClr val="525252"/>
                </a:solidFill>
              </a:rPr>
              <a:t>agentic</a:t>
            </a:r>
            <a:r>
              <a:rPr lang="fr-FR" sz="1150" dirty="0">
                <a:solidFill>
                  <a:srgbClr val="525252"/>
                </a:solidFill>
              </a:rPr>
              <a:t> </a:t>
            </a:r>
            <a:r>
              <a:rPr lang="fr-FR" sz="1150" dirty="0" err="1">
                <a:solidFill>
                  <a:srgbClr val="525252"/>
                </a:solidFill>
              </a:rPr>
              <a:t>architect</a:t>
            </a:r>
            <a:r>
              <a:rPr lang="fr-FR" sz="1150" dirty="0">
                <a:solidFill>
                  <a:srgbClr val="525252"/>
                </a:solidFill>
              </a:rPr>
              <a:t>, agent </a:t>
            </a:r>
            <a:r>
              <a:rPr lang="fr-FR" sz="1150" dirty="0" err="1">
                <a:solidFill>
                  <a:srgbClr val="525252"/>
                </a:solidFill>
              </a:rPr>
              <a:t>reliability</a:t>
            </a:r>
            <a:r>
              <a:rPr lang="fr-FR" sz="1150" dirty="0">
                <a:solidFill>
                  <a:srgbClr val="525252"/>
                </a:solidFill>
              </a:rPr>
              <a:t> </a:t>
            </a:r>
            <a:r>
              <a:rPr lang="fr-FR" sz="1150" dirty="0" err="1">
                <a:solidFill>
                  <a:srgbClr val="525252"/>
                </a:solidFill>
              </a:rPr>
              <a:t>engineer</a:t>
            </a:r>
            <a:r>
              <a:rPr lang="fr-FR" sz="1150" dirty="0">
                <a:solidFill>
                  <a:srgbClr val="525252"/>
                </a:solidFill>
              </a:rPr>
              <a:t>.</a:t>
            </a:r>
          </a:p>
        </p:txBody>
      </p:sp>
      <p:sp>
        <p:nvSpPr>
          <p:cNvPr id="31" name="ax1"/>
          <p:cNvSpPr/>
          <p:nvPr/>
        </p:nvSpPr>
        <p:spPr>
          <a:xfrm>
            <a:off x="4147140" y="2440000"/>
            <a:ext cx="3417780" cy="25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lIns="170000" tIns="160000" rIns="170000" bIns="160000"/>
          <a:lstStyle/>
          <a:p>
            <a:pPr>
              <a:spcAft>
                <a:spcPts val="700"/>
              </a:spcAft>
            </a:pPr>
            <a:r>
              <a:rPr lang="fr-FR" sz="1500" b="1" dirty="0" err="1">
                <a:solidFill>
                  <a:srgbClr val="05BB69"/>
                </a:solidFill>
              </a:rPr>
              <a:t>Reinventer</a:t>
            </a:r>
            <a:r>
              <a:rPr lang="fr-FR" sz="1500" b="1" dirty="0">
                <a:solidFill>
                  <a:srgbClr val="05BB69"/>
                </a:solidFill>
              </a:rPr>
              <a:t> les juniors</a:t>
            </a:r>
          </a:p>
          <a:p>
            <a:r>
              <a:rPr lang="fr-FR" sz="1150" dirty="0">
                <a:solidFill>
                  <a:srgbClr val="525252"/>
                </a:solidFill>
              </a:rPr>
              <a:t>Le </a:t>
            </a:r>
            <a:r>
              <a:rPr lang="fr-FR" sz="1150" dirty="0" err="1">
                <a:solidFill>
                  <a:srgbClr val="525252"/>
                </a:solidFill>
              </a:rPr>
              <a:t>pairing</a:t>
            </a:r>
            <a:r>
              <a:rPr lang="fr-FR" sz="1150" dirty="0">
                <a:solidFill>
                  <a:srgbClr val="525252"/>
                </a:solidFill>
              </a:rPr>
              <a:t> devient obligatoire, le mob </a:t>
            </a:r>
            <a:r>
              <a:rPr lang="fr-FR" sz="1150" dirty="0" err="1">
                <a:solidFill>
                  <a:srgbClr val="525252"/>
                </a:solidFill>
              </a:rPr>
              <a:t>programming</a:t>
            </a:r>
            <a:r>
              <a:rPr lang="fr-FR" sz="1150" dirty="0">
                <a:solidFill>
                  <a:srgbClr val="525252"/>
                </a:solidFill>
              </a:rPr>
              <a:t> central. Les agents accompagnent en mode </a:t>
            </a:r>
            <a:r>
              <a:rPr lang="fr-FR" sz="1150" dirty="0" err="1">
                <a:solidFill>
                  <a:srgbClr val="525252"/>
                </a:solidFill>
              </a:rPr>
              <a:t>learner</a:t>
            </a:r>
            <a:r>
              <a:rPr lang="fr-FR" sz="1150" dirty="0">
                <a:solidFill>
                  <a:srgbClr val="525252"/>
                </a:solidFill>
              </a:rPr>
              <a:t>.</a:t>
            </a:r>
          </a:p>
        </p:txBody>
      </p:sp>
      <p:sp>
        <p:nvSpPr>
          <p:cNvPr id="32" name="ax2"/>
          <p:cNvSpPr/>
          <p:nvPr/>
        </p:nvSpPr>
        <p:spPr>
          <a:xfrm>
            <a:off x="7806600" y="2440000"/>
            <a:ext cx="3417780" cy="256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lIns="170000" tIns="160000" rIns="170000" bIns="160000"/>
          <a:lstStyle/>
          <a:p>
            <a:pPr>
              <a:spcAft>
                <a:spcPts val="700"/>
              </a:spcAft>
            </a:pPr>
            <a:r>
              <a:rPr lang="fr-FR" sz="1500" b="1">
                <a:solidFill>
                  <a:srgbClr val="8358F5"/>
                </a:solidFill>
              </a:rPr>
              <a:t>Doubles trajectoires</a:t>
            </a:r>
          </a:p>
          <a:p>
            <a:r>
              <a:rPr lang="fr-FR" sz="1150">
                <a:solidFill>
                  <a:srgbClr val="525252"/>
                </a:solidFill>
              </a:rPr>
              <a:t>Mid-level : soit gouvernance et architecture, soit developpeur expert d'agents. L'architecture devient un actif majeur.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7680" y="380000"/>
            <a:ext cx="10866120" cy="688612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transformation a piloter, pas a subir</a:t>
            </a:r>
          </a:p>
        </p:txBody>
      </p:sp>
      <p:sp>
        <p:nvSpPr>
          <p:cNvPr id="10" name="kicker"/>
          <p:cNvSpPr txBox="1"/>
          <p:nvPr/>
        </p:nvSpPr>
        <p:spPr>
          <a:xfrm>
            <a:off x="487680" y="1170000"/>
            <a:ext cx="10866120" cy="3000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fr-FR" sz="1300" b="1" spc="1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CINQ DIMENSIONS, UNE SEULE STRATEGIE INTEGREE</a:t>
            </a:r>
          </a:p>
        </p:txBody>
      </p:sp>
      <p:sp>
        <p:nvSpPr>
          <p:cNvPr id="40" name="lev0"/>
          <p:cNvSpPr/>
          <p:nvPr/>
        </p:nvSpPr>
        <p:spPr>
          <a:xfrm>
            <a:off x="487680" y="1540000"/>
            <a:ext cx="2030400" cy="11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20000" tIns="120000" rIns="120000" bIns="120000"/>
          <a:lstStyle/>
          <a:p>
            <a:pPr>
              <a:spcAft>
                <a:spcPts val="400"/>
              </a:spcAft>
            </a:pPr>
            <a:r>
              <a:rPr lang="fr-FR" sz="1300" b="1" dirty="0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</a:p>
          <a:p>
            <a:pPr>
              <a:spcAft>
                <a:spcPts val="300"/>
              </a:spcAft>
            </a:pPr>
            <a:r>
              <a:rPr lang="fr-FR" sz="1200" b="1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Technologie</a:t>
            </a:r>
          </a:p>
          <a:p>
            <a:r>
              <a:rPr lang="fr-FR" sz="10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Multi-agents orchestres</a:t>
            </a:r>
          </a:p>
        </p:txBody>
      </p:sp>
      <p:sp>
        <p:nvSpPr>
          <p:cNvPr id="41" name="lev1"/>
          <p:cNvSpPr/>
          <p:nvPr/>
        </p:nvSpPr>
        <p:spPr>
          <a:xfrm>
            <a:off x="2660904" y="1540000"/>
            <a:ext cx="2030400" cy="11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20000" tIns="120000" rIns="120000" bIns="120000"/>
          <a:lstStyle/>
          <a:p>
            <a:pPr>
              <a:spcAft>
                <a:spcPts val="400"/>
              </a:spcAft>
            </a:pPr>
            <a:r>
              <a:rPr lang="fr-FR" sz="1300" b="1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</a:p>
          <a:p>
            <a:pPr>
              <a:spcAft>
                <a:spcPts val="300"/>
              </a:spcAft>
            </a:pPr>
            <a:r>
              <a:rPr lang="fr-FR" sz="1200" b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Talents</a:t>
            </a:r>
          </a:p>
          <a:p>
            <a:r>
              <a:rPr lang="fr-FR" sz="100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Codeurs vers auditeurs</a:t>
            </a:r>
          </a:p>
        </p:txBody>
      </p:sp>
      <p:sp>
        <p:nvSpPr>
          <p:cNvPr id="42" name="lev2"/>
          <p:cNvSpPr/>
          <p:nvPr/>
        </p:nvSpPr>
        <p:spPr>
          <a:xfrm>
            <a:off x="4834128" y="1540000"/>
            <a:ext cx="2030400" cy="11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20000" tIns="120000" rIns="120000" bIns="120000"/>
          <a:lstStyle/>
          <a:p>
            <a:pPr>
              <a:spcAft>
                <a:spcPts val="400"/>
              </a:spcAft>
            </a:pPr>
            <a:r>
              <a:rPr lang="fr-FR" sz="1300" b="1" dirty="0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</a:p>
          <a:p>
            <a:pPr>
              <a:spcAft>
                <a:spcPts val="300"/>
              </a:spcAft>
            </a:pPr>
            <a:r>
              <a:rPr lang="fr-FR" sz="1200" b="1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Structure</a:t>
            </a:r>
          </a:p>
          <a:p>
            <a:r>
              <a:rPr lang="fr-FR" sz="10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Equipes </a:t>
            </a:r>
            <a:r>
              <a:rPr lang="fr-FR" sz="1000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alignees</a:t>
            </a:r>
            <a:r>
              <a:rPr lang="fr-FR" sz="10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valeur</a:t>
            </a:r>
          </a:p>
        </p:txBody>
      </p:sp>
      <p:sp>
        <p:nvSpPr>
          <p:cNvPr id="43" name="lev3"/>
          <p:cNvSpPr/>
          <p:nvPr/>
        </p:nvSpPr>
        <p:spPr>
          <a:xfrm>
            <a:off x="7007352" y="1540000"/>
            <a:ext cx="2030400" cy="11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20000" tIns="120000" rIns="120000" bIns="120000"/>
          <a:lstStyle/>
          <a:p>
            <a:pPr>
              <a:spcAft>
                <a:spcPts val="400"/>
              </a:spcAft>
            </a:pPr>
            <a:r>
              <a:rPr lang="fr-FR" sz="1300" b="1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</a:p>
          <a:p>
            <a:pPr>
              <a:spcAft>
                <a:spcPts val="300"/>
              </a:spcAft>
            </a:pPr>
            <a:r>
              <a:rPr lang="fr-FR" sz="1200" b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Gouvernance</a:t>
            </a:r>
          </a:p>
          <a:p>
            <a:r>
              <a:rPr lang="fr-FR" sz="100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Guardrails policy-as-code</a:t>
            </a:r>
          </a:p>
        </p:txBody>
      </p:sp>
      <p:sp>
        <p:nvSpPr>
          <p:cNvPr id="44" name="lev4"/>
          <p:cNvSpPr/>
          <p:nvPr/>
        </p:nvSpPr>
        <p:spPr>
          <a:xfrm>
            <a:off x="9180576" y="1540000"/>
            <a:ext cx="2030400" cy="11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lIns="120000" tIns="120000" rIns="120000" bIns="120000"/>
          <a:lstStyle/>
          <a:p>
            <a:pPr>
              <a:spcAft>
                <a:spcPts val="400"/>
              </a:spcAft>
            </a:pPr>
            <a:r>
              <a:rPr lang="fr-FR" sz="1300" b="1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05</a:t>
            </a:r>
          </a:p>
          <a:p>
            <a:pPr>
              <a:spcAft>
                <a:spcPts val="300"/>
              </a:spcAft>
            </a:pPr>
            <a:r>
              <a:rPr lang="fr-FR" sz="1200" b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Culture</a:t>
            </a:r>
          </a:p>
          <a:p>
            <a:r>
              <a:rPr lang="fr-FR" sz="100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Scepticisme, mob prog</a:t>
            </a:r>
          </a:p>
        </p:txBody>
      </p:sp>
      <p:sp>
        <p:nvSpPr>
          <p:cNvPr id="60" name="cv1"/>
          <p:cNvSpPr/>
          <p:nvPr/>
        </p:nvSpPr>
        <p:spPr>
          <a:xfrm>
            <a:off x="487680" y="3000000"/>
            <a:ext cx="5290000" cy="2050000"/>
          </a:xfrm>
          <a:prstGeom prst="rect">
            <a:avLst/>
          </a:prstGeom>
          <a:solidFill>
            <a:srgbClr val="F3EFFE"/>
          </a:solidFill>
          <a:ln>
            <a:noFill/>
          </a:ln>
        </p:spPr>
        <p:txBody>
          <a:bodyPr lIns="200000" tIns="180000" rIns="200000" bIns="180000"/>
          <a:lstStyle/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8358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Augmenter, pas remplacer</a:t>
            </a:r>
          </a:p>
          <a:p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L'IA </a:t>
            </a:r>
            <a:r>
              <a:rPr lang="fr-FR" sz="1300" dirty="0" err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Agentic</a:t>
            </a:r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ne remplace pas les équipes : elle les augmente. L'humain passe de l’</a:t>
            </a:r>
            <a:r>
              <a:rPr lang="fr-FR" sz="1300" dirty="0" err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éxecution</a:t>
            </a:r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 jugement et a l'orchestration.</a:t>
            </a:r>
          </a:p>
        </p:txBody>
      </p:sp>
      <p:sp>
        <p:nvSpPr>
          <p:cNvPr id="61" name="cv2"/>
          <p:cNvSpPr/>
          <p:nvPr/>
        </p:nvSpPr>
        <p:spPr>
          <a:xfrm>
            <a:off x="6063800" y="3000000"/>
            <a:ext cx="5290000" cy="2050000"/>
          </a:xfrm>
          <a:prstGeom prst="rect">
            <a:avLst/>
          </a:prstGeom>
          <a:solidFill>
            <a:srgbClr val="E9F9F0"/>
          </a:solidFill>
          <a:ln>
            <a:noFill/>
          </a:ln>
        </p:spPr>
        <p:txBody>
          <a:bodyPr lIns="200000" tIns="180000" rIns="200000" bIns="180000"/>
          <a:lstStyle/>
          <a:p>
            <a:pPr>
              <a:spcAft>
                <a:spcPts val="600"/>
              </a:spcAft>
            </a:pPr>
            <a:r>
              <a:rPr lang="fr-FR" sz="1500" b="1" dirty="0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l'</a:t>
            </a:r>
            <a:r>
              <a:rPr lang="fr-FR" sz="1500" b="1" dirty="0" err="1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echelle</a:t>
            </a:r>
            <a:r>
              <a:rPr lang="fr-FR" sz="1500" b="1" dirty="0">
                <a:solidFill>
                  <a:srgbClr val="05BB6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sinon rien</a:t>
            </a:r>
          </a:p>
          <a:p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adoption partielle </a:t>
            </a:r>
            <a:r>
              <a:rPr lang="fr-FR" sz="1300" dirty="0" err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deplace</a:t>
            </a:r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le blocage vers les </a:t>
            </a:r>
            <a:r>
              <a:rPr lang="fr-FR" sz="1300" dirty="0" err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metiers</a:t>
            </a:r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alourdit le change management. La valeur ne se capte qu'a l'</a:t>
            </a:r>
            <a:r>
              <a:rPr lang="fr-FR" sz="1300" dirty="0" err="1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echelle</a:t>
            </a:r>
            <a:r>
              <a:rPr lang="fr-FR" sz="1300" dirty="0">
                <a:solidFill>
                  <a:srgbClr val="16161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9_Thè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A8D"/>
        </a:solidFill>
        <a:ln>
          <a:noFill/>
        </a:ln>
      </a:spPr>
      <a:bodyPr rtlCol="0" anchor="ctr"/>
      <a:lstStyle>
        <a:defPPr algn="ctr">
          <a:defRPr sz="2000" dirty="0">
            <a:solidFill>
              <a:schemeClr val="bg1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>
            <a:solidFill>
              <a:srgbClr val="0C4392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Quantum_Business Case_Approach &amp; Timeline V.3.1" id="{5EECDFF5-D0BA-C945-BD95-8BA53C6B4E52}" vid="{789D138D-4F33-B548-9A05-51F0AC8B2FB7}"/>
    </a:ext>
  </a:extLst>
</a:theme>
</file>

<file path=ppt/theme/theme2.xml><?xml version="1.0" encoding="utf-8"?>
<a:theme xmlns:a="http://schemas.openxmlformats.org/drawingml/2006/main" name="Thème2">
  <a:themeElements>
    <a:clrScheme name="Personnalisé 10">
      <a:dk1>
        <a:sysClr val="windowText" lastClr="000000"/>
      </a:dk1>
      <a:lt1>
        <a:sysClr val="window" lastClr="FFFFFF"/>
      </a:lt1>
      <a:dk2>
        <a:srgbClr val="01004C"/>
      </a:dk2>
      <a:lt2>
        <a:srgbClr val="E7E6E6"/>
      </a:lt2>
      <a:accent1>
        <a:srgbClr val="014AAD"/>
      </a:accent1>
      <a:accent2>
        <a:srgbClr val="6D5CCB"/>
      </a:accent2>
      <a:accent3>
        <a:srgbClr val="CB6CE6"/>
      </a:accent3>
      <a:accent4>
        <a:srgbClr val="5271FF"/>
      </a:accent4>
      <a:accent5>
        <a:srgbClr val="FFFFFF"/>
      </a:accent5>
      <a:accent6>
        <a:srgbClr val="FFFFFF"/>
      </a:accent6>
      <a:hlink>
        <a:srgbClr val="86CCFF"/>
      </a:hlink>
      <a:folHlink>
        <a:srgbClr val="CB6CE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2" id="{C05F8A3A-8B0F-48DE-8A14-217F90D0F434}" vid="{56A42540-D5EC-4819-AB89-580F9DEE24F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503</Words>
  <Application>Microsoft Office PowerPoint</Application>
  <PresentationFormat>Grand écran</PresentationFormat>
  <Paragraphs>72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5" baseType="lpstr">
      <vt:lpstr>Arial</vt:lpstr>
      <vt:lpstr>Calibri</vt:lpstr>
      <vt:lpstr>Calibri Light</vt:lpstr>
      <vt:lpstr>Impact</vt:lpstr>
      <vt:lpstr>Segoe UI</vt:lpstr>
      <vt:lpstr>Segoe UI Black</vt:lpstr>
      <vt:lpstr>Segoe UI Light</vt:lpstr>
      <vt:lpstr>Wingdings 3</vt:lpstr>
      <vt:lpstr>9_Thème1</vt:lpstr>
      <vt:lpstr>Thème2</vt:lpstr>
      <vt:lpstr>De l'assistant a l'acteur du delivery</vt:lpstr>
      <vt:lpstr>Du codeur au gouverneur</vt:lpstr>
      <vt:lpstr>Un nouveau modele de delivery</vt:lpstr>
      <vt:lpstr>Transformation des talents : crise ou opportunite ?</vt:lpstr>
      <vt:lpstr>Une transformation a piloter, pas a subir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ALBOSTAN Mélissa (PRESTA EXT)</dc:creator>
  <cp:lastModifiedBy>ISSOULGHANE Morad (PRESTA EXT)</cp:lastModifiedBy>
  <cp:revision>5</cp:revision>
  <dcterms:created xsi:type="dcterms:W3CDTF">2026-05-21T09:29:35Z</dcterms:created>
  <dcterms:modified xsi:type="dcterms:W3CDTF">2026-06-01T08:50:10Z</dcterms:modified>
</cp:coreProperties>
</file>