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14"/>
  </p:notesMasterIdLst>
  <p:sldIdLst>
    <p:sldId id="427" r:id="rId6"/>
    <p:sldId id="449" r:id="rId7"/>
    <p:sldId id="451" r:id="rId8"/>
    <p:sldId id="442" r:id="rId9"/>
    <p:sldId id="446" r:id="rId10"/>
    <p:sldId id="447" r:id="rId11"/>
    <p:sldId id="452" r:id="rId12"/>
    <p:sldId id="445"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F1C21B"/>
    <a:srgbClr val="8A3FFC"/>
    <a:srgbClr val="835CF5"/>
    <a:srgbClr val="FF7EB6"/>
    <a:srgbClr val="78A9FF"/>
    <a:srgbClr val="42BE65"/>
    <a:srgbClr val="08BDBA"/>
    <a:srgbClr val="08BB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81613" autoAdjust="0"/>
  </p:normalViewPr>
  <p:slideViewPr>
    <p:cSldViewPr snapToGrid="0">
      <p:cViewPr varScale="1">
        <p:scale>
          <a:sx n="88" d="100"/>
          <a:sy n="88" d="100"/>
        </p:scale>
        <p:origin x="12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93C0A-8781-4756-BE9A-D1E8F6AA963E}" type="datetimeFigureOut">
              <a:rPr lang="fr-FR" smtClean="0"/>
              <a:t>03/06/2026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4863CA-B846-4F16-8314-EC2A3E06F4A8}" type="slidenum">
              <a:rPr lang="fr-FR" smtClean="0"/>
              <a:t>‹N°›</a:t>
            </a:fld>
            <a:endParaRPr lang="fr-FR"/>
          </a:p>
        </p:txBody>
      </p:sp>
    </p:spTree>
    <p:extLst>
      <p:ext uri="{BB962C8B-B14F-4D97-AF65-F5344CB8AC3E}">
        <p14:creationId xmlns:p14="http://schemas.microsoft.com/office/powerpoint/2010/main" val="3758333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sz="1200" dirty="0">
                <a:effectLst/>
                <a:latin typeface="Segoe UI" panose="020B0502040204020203" pitchFamily="34" charset="0"/>
                <a:ea typeface="Calibri" panose="020F0502020204030204" pitchFamily="34" charset="0"/>
              </a:rPr>
              <a:t>Pour commencer, clarifions la transition de l'intelligence artificielle générative à l'intelligence artificielle agentique. Les deux utilisent des grands modèles de langage, les LLM. L'IA agentique est une évolution de l'IA générative, passant d'un mode réactif, où l'utilisateur pose une question et reçoit une réponse, à un mode actif, où l'application raisonne et agit pour répondre à la demande. En termes simples, on passe du "dis-moi" ou "dis-moi comment faire" au "fais-le".</a:t>
            </a:r>
            <a:endParaRPr lang="fr-FR" sz="1200" dirty="0">
              <a:effectLst/>
              <a:latin typeface="Calibri" panose="020F0502020204030204" pitchFamily="34" charset="0"/>
              <a:ea typeface="Calibri" panose="020F0502020204030204" pitchFamily="34" charset="0"/>
            </a:endParaRPr>
          </a:p>
          <a:p>
            <a:pPr marL="171450" indent="-171450">
              <a:buFontTx/>
              <a:buChar char="-"/>
            </a:pPr>
            <a:endParaRPr lang="fr-FR" dirty="0"/>
          </a:p>
          <a:p>
            <a:endParaRPr lang="fr-FR" dirty="0"/>
          </a:p>
        </p:txBody>
      </p:sp>
      <p:sp>
        <p:nvSpPr>
          <p:cNvPr id="4" name="Espace réservé du numéro de diapositive 3"/>
          <p:cNvSpPr>
            <a:spLocks noGrp="1"/>
          </p:cNvSpPr>
          <p:nvPr>
            <p:ph type="sldNum" sz="quarter" idx="5"/>
          </p:nvPr>
        </p:nvSpPr>
        <p:spPr/>
        <p:txBody>
          <a:bodyPr/>
          <a:lstStyle/>
          <a:p>
            <a:fld id="{064863CA-B846-4F16-8314-EC2A3E06F4A8}" type="slidenum">
              <a:rPr lang="fr-FR" smtClean="0"/>
              <a:t>2</a:t>
            </a:fld>
            <a:endParaRPr lang="fr-FR"/>
          </a:p>
        </p:txBody>
      </p:sp>
    </p:spTree>
    <p:extLst>
      <p:ext uri="{BB962C8B-B14F-4D97-AF65-F5344CB8AC3E}">
        <p14:creationId xmlns:p14="http://schemas.microsoft.com/office/powerpoint/2010/main" val="734903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effectLst/>
                <a:latin typeface="Segoe UI" panose="020B0502040204020203" pitchFamily="34" charset="0"/>
                <a:ea typeface="Calibri" panose="020F0502020204030204" pitchFamily="34" charset="0"/>
              </a:rPr>
              <a:t>Examinons plus en détail ce qu'est un agent IA. Un agent IA est une application logicielle, c’est important de le rappeler. Il utilise un LLM comme moteur de raisonnement pour comprendre une intention exprimée en langage naturel, planifier les actions nécessaires, agir dans l'environnement et s'adapter aux résultats obtenus.</a:t>
            </a:r>
            <a:endParaRPr lang="fr-FR" sz="1200" dirty="0">
              <a:effectLst/>
              <a:latin typeface="Calibri" panose="020F0502020204030204" pitchFamily="34" charset="0"/>
              <a:ea typeface="Calibri" panose="020F0502020204030204" pitchFamily="34" charset="0"/>
            </a:endParaRPr>
          </a:p>
          <a:p>
            <a:r>
              <a:rPr lang="fr-FR" sz="1200" dirty="0">
                <a:effectLst/>
                <a:latin typeface="Segoe UI" panose="020B0502040204020203" pitchFamily="34" charset="0"/>
                <a:ea typeface="Calibri" panose="020F0502020204030204" pitchFamily="34" charset="0"/>
              </a:rPr>
              <a:t>Un agent IA se compose de quatre éléments clés : le LLM, qui est le cerveau de l'agent et permet de raisonner sur la manière d'accéder à la requête de l'utilisateur ; les instructions, qui définissent le rôle et la logique métier de l'agent ; la mémoire, car un LLM seul n'a pas de mémoire ; et les outils, qui permettent à l'agent d'interagir avec le monde réel, souvent via des fonctions de développement classique.</a:t>
            </a:r>
            <a:endParaRPr lang="fr-FR" sz="1200" dirty="0">
              <a:effectLst/>
              <a:latin typeface="Calibri" panose="020F0502020204030204" pitchFamily="34" charset="0"/>
              <a:ea typeface="Calibri" panose="020F050202020403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064863CA-B846-4F16-8314-EC2A3E06F4A8}" type="slidenum">
              <a:rPr lang="fr-FR" smtClean="0"/>
              <a:t>3</a:t>
            </a:fld>
            <a:endParaRPr lang="fr-FR"/>
          </a:p>
        </p:txBody>
      </p:sp>
    </p:spTree>
    <p:extLst>
      <p:ext uri="{BB962C8B-B14F-4D97-AF65-F5344CB8AC3E}">
        <p14:creationId xmlns:p14="http://schemas.microsoft.com/office/powerpoint/2010/main" val="621264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9A567-B355-F1E8-6682-0231BC86B0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18EB36-77C9-AD2E-AACD-A1AA2604F4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254A2A6-9A07-9356-49C9-353B7F19081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88A4A36-C1AA-9965-8AFD-44828B37892F}"/>
              </a:ext>
            </a:extLst>
          </p:cNvPr>
          <p:cNvSpPr>
            <a:spLocks noGrp="1"/>
          </p:cNvSpPr>
          <p:nvPr>
            <p:ph type="sldNum" sz="quarter" idx="5"/>
          </p:nvPr>
        </p:nvSpPr>
        <p:spPr/>
        <p:txBody>
          <a:bodyPr/>
          <a:lstStyle/>
          <a:p>
            <a:fld id="{064863CA-B846-4F16-8314-EC2A3E06F4A8}" type="slidenum">
              <a:rPr lang="fr-FR" smtClean="0"/>
              <a:t>8</a:t>
            </a:fld>
            <a:endParaRPr lang="fr-FR"/>
          </a:p>
        </p:txBody>
      </p:sp>
    </p:spTree>
    <p:extLst>
      <p:ext uri="{BB962C8B-B14F-4D97-AF65-F5344CB8AC3E}">
        <p14:creationId xmlns:p14="http://schemas.microsoft.com/office/powerpoint/2010/main" val="1459204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43" indent="0" algn="ctr">
              <a:buNone/>
              <a:defRPr sz="2000"/>
            </a:lvl2pPr>
            <a:lvl3pPr marL="914286" indent="0" algn="ctr">
              <a:buNone/>
              <a:defRPr sz="1800"/>
            </a:lvl3pPr>
            <a:lvl4pPr marL="1371430" indent="0" algn="ctr">
              <a:buNone/>
              <a:defRPr sz="1600"/>
            </a:lvl4pPr>
            <a:lvl5pPr marL="1828573" indent="0" algn="ctr">
              <a:buNone/>
              <a:defRPr sz="1600"/>
            </a:lvl5pPr>
            <a:lvl6pPr marL="2285718" indent="0" algn="ctr">
              <a:buNone/>
              <a:defRPr sz="1600"/>
            </a:lvl6pPr>
            <a:lvl7pPr marL="2742858" indent="0" algn="ctr">
              <a:buNone/>
              <a:defRPr sz="1600"/>
            </a:lvl7pPr>
            <a:lvl8pPr marL="3200000" indent="0" algn="ctr">
              <a:buNone/>
              <a:defRPr sz="1600"/>
            </a:lvl8pPr>
            <a:lvl9pPr marL="3657143" indent="0" algn="ctr">
              <a:buNone/>
              <a:defRPr sz="1600"/>
            </a:lvl9pPr>
          </a:lstStyle>
          <a:p>
            <a:r>
              <a:rPr lang="fr-FR"/>
              <a:t>Modifiez le style des sous-titres du masque</a:t>
            </a:r>
            <a:endParaRPr lang="en-US"/>
          </a:p>
        </p:txBody>
      </p:sp>
      <p:sp>
        <p:nvSpPr>
          <p:cNvPr id="9" name="Rectangle 13"/>
          <p:cNvSpPr/>
          <p:nvPr/>
        </p:nvSpPr>
        <p:spPr>
          <a:xfrm>
            <a:off x="4880015" y="3858692"/>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51997" y="5805727"/>
            <a:ext cx="1018605" cy="941409"/>
          </a:xfrm>
          <a:prstGeom prst="rect">
            <a:avLst/>
          </a:prstGeom>
        </p:spPr>
      </p:pic>
      <p:pic>
        <p:nvPicPr>
          <p:cNvPr id="11" name="Image 10"/>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443110" y="6307279"/>
            <a:ext cx="531475" cy="274695"/>
          </a:xfrm>
          <a:prstGeom prst="rect">
            <a:avLst/>
          </a:prstGeom>
        </p:spPr>
      </p:pic>
    </p:spTree>
    <p:extLst>
      <p:ext uri="{BB962C8B-B14F-4D97-AF65-F5344CB8AC3E}">
        <p14:creationId xmlns:p14="http://schemas.microsoft.com/office/powerpoint/2010/main" val="575770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et conten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9"/>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numéro de diapositive 5"/>
          <p:cNvSpPr>
            <a:spLocks noGrp="1"/>
          </p:cNvSpPr>
          <p:nvPr>
            <p:ph type="sldNum" sz="quarter" idx="12"/>
          </p:nvPr>
        </p:nvSpPr>
        <p:spPr>
          <a:xfrm>
            <a:off x="896521" y="6443138"/>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8" name="Espace réservé du numéro de diapositive 5"/>
          <p:cNvSpPr txBox="1">
            <a:spLocks/>
          </p:cNvSpPr>
          <p:nvPr/>
        </p:nvSpPr>
        <p:spPr>
          <a:xfrm>
            <a:off x="76855" y="6128138"/>
            <a:ext cx="630000" cy="630000"/>
          </a:xfrm>
          <a:prstGeom prst="ellipse">
            <a:avLst/>
          </a:prstGeom>
          <a:solidFill>
            <a:schemeClr val="bg1"/>
          </a:solidFill>
          <a:ln w="127000">
            <a:solidFill>
              <a:srgbClr val="2D2A5C"/>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3942" y="6292065"/>
            <a:ext cx="392531" cy="356692"/>
          </a:xfrm>
          <a:prstGeom prst="rect">
            <a:avLst/>
          </a:prstGeom>
        </p:spPr>
      </p:pic>
      <p:sp>
        <p:nvSpPr>
          <p:cNvPr id="4" name="Espace réservé du texte 3"/>
          <p:cNvSpPr>
            <a:spLocks noGrp="1"/>
          </p:cNvSpPr>
          <p:nvPr>
            <p:ph type="body" sz="quarter" idx="13"/>
          </p:nvPr>
        </p:nvSpPr>
        <p:spPr>
          <a:xfrm>
            <a:off x="821539" y="1480882"/>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9"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340909411"/>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re et conten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a:t>Steering Committee – Octobre 2025 - Confidentiel</a:t>
            </a:r>
          </a:p>
        </p:txBody>
      </p:sp>
      <p:sp>
        <p:nvSpPr>
          <p:cNvPr id="22" name="Espace réservé du numéro de diapositive 5"/>
          <p:cNvSpPr>
            <a:spLocks noGrp="1"/>
          </p:cNvSpPr>
          <p:nvPr>
            <p:ph type="sldNum" sz="quarter" idx="12"/>
          </p:nvPr>
        </p:nvSpPr>
        <p:spPr>
          <a:xfrm>
            <a:off x="896521"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92590"/>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7885" y="6081248"/>
              <a:ext cx="392531" cy="356692"/>
            </a:xfrm>
            <a:prstGeom prst="rect">
              <a:avLst/>
            </a:prstGeom>
            <a:ln>
              <a:noFill/>
            </a:ln>
          </p:spPr>
        </p:pic>
      </p:grpSp>
      <p:sp>
        <p:nvSpPr>
          <p:cNvPr id="4" name="Espace réservé du texte 3"/>
          <p:cNvSpPr>
            <a:spLocks noGrp="1"/>
          </p:cNvSpPr>
          <p:nvPr>
            <p:ph type="body" sz="quarter" idx="13"/>
          </p:nvPr>
        </p:nvSpPr>
        <p:spPr>
          <a:xfrm>
            <a:off x="821538" y="1480880"/>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865518346"/>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4"/>
            <a:ext cx="12192000" cy="1422403"/>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1730170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_Titre et contenu">
    <p:bg>
      <p:bgPr>
        <a:solidFill>
          <a:srgbClr val="003A8D"/>
        </a:solidFill>
        <a:effectLst/>
      </p:bgPr>
    </p:bg>
    <p:spTree>
      <p:nvGrpSpPr>
        <p:cNvPr id="1" name=""/>
        <p:cNvGrpSpPr/>
        <p:nvPr/>
      </p:nvGrpSpPr>
      <p:grpSpPr>
        <a:xfrm>
          <a:off x="0" y="0"/>
          <a:ext cx="0" cy="0"/>
          <a:chOff x="0" y="0"/>
          <a:chExt cx="0" cy="0"/>
        </a:xfrm>
      </p:grpSpPr>
      <p:pic>
        <p:nvPicPr>
          <p:cNvPr id="10" name="Image 9" descr="Une image contenant graphique&#10;&#10;Description générée automatiquement">
            <a:extLst>
              <a:ext uri="{FF2B5EF4-FFF2-40B4-BE49-F238E27FC236}">
                <a16:creationId xmlns:a16="http://schemas.microsoft.com/office/drawing/2014/main" id="{85EA532F-AAE5-714F-5F11-9CD2929B154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325540" y="76200"/>
            <a:ext cx="3565019" cy="6858000"/>
          </a:xfrm>
          <a:prstGeom prst="rect">
            <a:avLst/>
          </a:prstGeom>
        </p:spPr>
      </p:pic>
      <p:sp>
        <p:nvSpPr>
          <p:cNvPr id="11" name="Rectangle 10">
            <a:extLst>
              <a:ext uri="{FF2B5EF4-FFF2-40B4-BE49-F238E27FC236}">
                <a16:creationId xmlns:a16="http://schemas.microsoft.com/office/drawing/2014/main" id="{D6999633-5CCF-FE79-CF70-32E8292B7E52}"/>
              </a:ext>
            </a:extLst>
          </p:cNvPr>
          <p:cNvSpPr/>
          <p:nvPr userDrawn="1"/>
        </p:nvSpPr>
        <p:spPr>
          <a:xfrm>
            <a:off x="1347216" y="76200"/>
            <a:ext cx="3547872" cy="6858000"/>
          </a:xfrm>
          <a:prstGeom prst="rect">
            <a:avLst/>
          </a:prstGeom>
          <a:solidFill>
            <a:srgbClr val="003A8D">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7DC1055E-F2A4-F254-D669-0A270C7ADD55}"/>
              </a:ext>
            </a:extLst>
          </p:cNvPr>
          <p:cNvSpPr/>
          <p:nvPr userDrawn="1"/>
        </p:nvSpPr>
        <p:spPr>
          <a:xfrm>
            <a:off x="1146048" y="1669200"/>
            <a:ext cx="3924000" cy="3672000"/>
          </a:xfrm>
          <a:prstGeom prst="rect">
            <a:avLst/>
          </a:prstGeom>
          <a:solidFill>
            <a:schemeClr val="tx2"/>
          </a:solidFill>
          <a:ln w="571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000" dirty="0">
              <a:solidFill>
                <a:schemeClr val="bg1"/>
              </a:solidFill>
              <a:latin typeface="Segoe UI Black" panose="020B0A02040204020203" pitchFamily="34" charset="0"/>
              <a:ea typeface="Segoe UI Black" panose="020B0A02040204020203" pitchFamily="34" charset="0"/>
              <a:cs typeface="Segoe UI" panose="020B0502040204020203" pitchFamily="34" charset="0"/>
            </a:endParaRPr>
          </a:p>
        </p:txBody>
      </p:sp>
      <p:cxnSp>
        <p:nvCxnSpPr>
          <p:cNvPr id="13" name="Connecteur droit 12">
            <a:extLst>
              <a:ext uri="{FF2B5EF4-FFF2-40B4-BE49-F238E27FC236}">
                <a16:creationId xmlns:a16="http://schemas.microsoft.com/office/drawing/2014/main" id="{C7D46097-6B41-F68E-E0E7-AB34B08CAEFF}"/>
              </a:ext>
            </a:extLst>
          </p:cNvPr>
          <p:cNvCxnSpPr>
            <a:cxnSpLocks/>
          </p:cNvCxnSpPr>
          <p:nvPr userDrawn="1"/>
        </p:nvCxnSpPr>
        <p:spPr>
          <a:xfrm>
            <a:off x="5580888" y="571200"/>
            <a:ext cx="0" cy="5868000"/>
          </a:xfrm>
          <a:prstGeom prst="line">
            <a:avLst/>
          </a:prstGeom>
          <a:ln w="38100">
            <a:solidFill>
              <a:schemeClr val="bg2">
                <a:lumMod val="50000"/>
              </a:schemeClr>
            </a:solidFill>
          </a:ln>
        </p:spPr>
        <p:style>
          <a:lnRef idx="1">
            <a:schemeClr val="dk1"/>
          </a:lnRef>
          <a:fillRef idx="0">
            <a:schemeClr val="dk1"/>
          </a:fillRef>
          <a:effectRef idx="0">
            <a:schemeClr val="dk1"/>
          </a:effectRef>
          <a:fontRef idx="minor">
            <a:schemeClr val="tx1"/>
          </a:fontRef>
        </p:style>
      </p:cxnSp>
      <p:sp>
        <p:nvSpPr>
          <p:cNvPr id="14" name="Espace réservé du numéro de diapositive 3"/>
          <p:cNvSpPr txBox="1">
            <a:spLocks/>
          </p:cNvSpPr>
          <p:nvPr userDrawn="1"/>
        </p:nvSpPr>
        <p:spPr>
          <a:xfrm>
            <a:off x="972721" y="6519332"/>
            <a:ext cx="523765" cy="225425"/>
          </a:xfrm>
          <a:prstGeom prst="rect">
            <a:avLst/>
          </a:prstGeom>
        </p:spPr>
        <p:txBody>
          <a:bodyPr vert="horz" lIns="45720" tIns="22860" rIns="45720" bIns="22860" rtlCol="0" anchor="ctr"/>
          <a:lstStyle>
            <a:defPPr>
              <a:defRPr lang="fr-FR"/>
            </a:defPPr>
            <a:lvl1pPr marL="0" algn="l" defTabSz="1828800" rtl="0" eaLnBrk="1" latinLnBrk="0" hangingPunct="1">
              <a:defRPr lang="fr-FR" sz="1800" kern="1200" spc="300" smtClean="0">
                <a:solidFill>
                  <a:srgbClr val="003A8D"/>
                </a:solidFill>
                <a:latin typeface="Segoe UI" panose="020B0502040204020203" pitchFamily="34" charset="0"/>
                <a:ea typeface="+mn-ea"/>
                <a:cs typeface="Segoe UI" panose="020B0502040204020203" pitchFamily="34" charset="0"/>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fld id="{3EE1DE5A-27D4-4895-8E04-340D57AD09FB}" type="slidenum">
              <a:rPr lang="fr-FR" sz="900" smtClean="0"/>
              <a:pPr/>
              <a:t>‹N°›</a:t>
            </a:fld>
            <a:endParaRPr lang="fr-FR" sz="900" dirty="0"/>
          </a:p>
        </p:txBody>
      </p:sp>
      <p:sp>
        <p:nvSpPr>
          <p:cNvPr id="2" name="Titre 1"/>
          <p:cNvSpPr>
            <a:spLocks noGrp="1"/>
          </p:cNvSpPr>
          <p:nvPr>
            <p:ph type="title"/>
          </p:nvPr>
        </p:nvSpPr>
        <p:spPr>
          <a:xfrm>
            <a:off x="1468838" y="2325068"/>
            <a:ext cx="3278423" cy="2360264"/>
          </a:xfrm>
          <a:prstGeom prst="rect">
            <a:avLst/>
          </a:prstGeom>
        </p:spPr>
        <p:txBody>
          <a:bodyPr anchor="ctr">
            <a:normAutofit/>
          </a:bodyPr>
          <a:lstStyle>
            <a:lvl1pPr algn="ctr">
              <a:defRPr sz="3000" b="1" baseline="0">
                <a:solidFill>
                  <a:schemeClr val="bg1"/>
                </a:solidFill>
                <a:latin typeface="Segoe UI Black" panose="020B0A02040204020203" pitchFamily="34" charset="0"/>
                <a:ea typeface="Segoe UI Black" panose="020B0A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5732585" y="6439200"/>
            <a:ext cx="6120747" cy="229357"/>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en-US" dirty="0"/>
              <a:t>Steering Committee – </a:t>
            </a:r>
            <a:r>
              <a:rPr lang="en-US" dirty="0" err="1"/>
              <a:t>Octobre</a:t>
            </a:r>
            <a:r>
              <a:rPr lang="en-US" dirty="0"/>
              <a:t> 2025 - </a:t>
            </a:r>
            <a:r>
              <a:rPr lang="en-US" dirty="0" err="1"/>
              <a:t>Confidentiel</a:t>
            </a:r>
            <a:endParaRPr lang="fr-FR" dirty="0"/>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5732586" y="1480875"/>
            <a:ext cx="6120485" cy="4811183"/>
          </a:xfrm>
          <a:prstGeom prst="rect">
            <a:avLst/>
          </a:prstGeom>
        </p:spPr>
        <p:txBody>
          <a:bodyPr/>
          <a:lstStyle>
            <a:lvl1pPr marL="285750" indent="-285750">
              <a:spcAft>
                <a:spcPts val="600"/>
              </a:spcAft>
              <a:buFont typeface="Arial" panose="020B0604020202020204" pitchFamily="34" charset="0"/>
              <a:buChar char="•"/>
              <a:defRPr/>
            </a:lvl1pPr>
            <a:lvl2pPr>
              <a:spcAft>
                <a:spcPts val="600"/>
              </a:spcAft>
              <a:defRPr/>
            </a:lvl2pPr>
            <a:lvl3pPr>
              <a:spcAft>
                <a:spcPts val="600"/>
              </a:spcAft>
              <a:defRPr/>
            </a:lvl3pPr>
            <a:lvl4pPr>
              <a:spcAft>
                <a:spcPts val="600"/>
              </a:spcAft>
              <a:defRPr/>
            </a:lvl4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374045845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avec flèche dans carrré">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336"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en-US" dirty="0"/>
              <a:t>Steering Committee – </a:t>
            </a:r>
            <a:r>
              <a:rPr lang="en-US" dirty="0" err="1"/>
              <a:t>Octobre</a:t>
            </a:r>
            <a:r>
              <a:rPr lang="en-US" dirty="0"/>
              <a:t> 2025 - </a:t>
            </a:r>
            <a:r>
              <a:rPr lang="en-US" dirty="0" err="1"/>
              <a:t>Confidentiel</a:t>
            </a:r>
            <a:endParaRPr lang="en-US"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13368681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en-US" dirty="0"/>
              <a:t>Steering Committee - Avril 2025 - Confidentiel</a:t>
            </a:r>
            <a:endParaRPr lang="fr-FR" dirty="0"/>
          </a:p>
        </p:txBody>
      </p:sp>
      <p:sp>
        <p:nvSpPr>
          <p:cNvPr id="22" name="Espace réservé du numéro de diapositive 5"/>
          <p:cNvSpPr>
            <a:spLocks noGrp="1"/>
          </p:cNvSpPr>
          <p:nvPr>
            <p:ph type="sldNum" sz="quarter" idx="12"/>
          </p:nvPr>
        </p:nvSpPr>
        <p:spPr>
          <a:xfrm>
            <a:off x="896521" y="6443132"/>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p>
          </p:txBody>
        </p:sp>
        <p:pic>
          <p:nvPicPr>
            <p:cNvPr id="23" name="Image 2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5"/>
            <a:ext cx="11031538" cy="4811183"/>
          </a:xfrm>
          <a:prstGeom prst="rect">
            <a:avLst/>
          </a:prstGeo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82553099"/>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1108696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Diapositive de titr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831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D21C0FA-7CC4-4D2C-A11D-AC891C3072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062" t="11290" r="10267" b="11253"/>
          <a:stretch/>
        </p:blipFill>
        <p:spPr>
          <a:xfrm>
            <a:off x="10876248" y="5721532"/>
            <a:ext cx="1002241" cy="962297"/>
          </a:xfrm>
          <a:prstGeom prst="ellipse">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0397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416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Disposition personnalisée">
    <p:bg>
      <p:bgPr>
        <a:gradFill>
          <a:gsLst>
            <a:gs pos="0">
              <a:srgbClr val="8358F5"/>
            </a:gs>
            <a:gs pos="100000">
              <a:srgbClr val="05BB69"/>
            </a:gs>
          </a:gsLst>
          <a:lin ang="2700000" scaled="0"/>
        </a:gradFill>
        <a:effectLst/>
      </p:bgPr>
    </p:bg>
    <p:spTree>
      <p:nvGrpSpPr>
        <p:cNvPr id="1" name=""/>
        <p:cNvGrpSpPr/>
        <p:nvPr/>
      </p:nvGrpSpPr>
      <p:grpSpPr>
        <a:xfrm>
          <a:off x="0" y="0"/>
          <a:ext cx="0" cy="0"/>
          <a:chOff x="0" y="0"/>
          <a:chExt cx="0" cy="0"/>
        </a:xfrm>
      </p:grpSpPr>
      <p:sp>
        <p:nvSpPr>
          <p:cNvPr id="9" name="Rectangle : coins arrondis 8">
            <a:extLst>
              <a:ext uri="{FF2B5EF4-FFF2-40B4-BE49-F238E27FC236}">
                <a16:creationId xmlns:a16="http://schemas.microsoft.com/office/drawing/2014/main" id="{4D9B752F-5E0A-40F2-BD5F-CD6F85FA4D0F}"/>
              </a:ext>
            </a:extLst>
          </p:cNvPr>
          <p:cNvSpPr/>
          <p:nvPr userDrawn="1"/>
        </p:nvSpPr>
        <p:spPr>
          <a:xfrm>
            <a:off x="175528" y="136525"/>
            <a:ext cx="11840944" cy="6584950"/>
          </a:xfrm>
          <a:prstGeom prst="roundRect">
            <a:avLst>
              <a:gd name="adj" fmla="val 785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3F255B07-A1A6-455A-AE06-97917C539DC1}"/>
              </a:ext>
            </a:extLst>
          </p:cNvPr>
          <p:cNvSpPr/>
          <p:nvPr userDrawn="1"/>
        </p:nvSpPr>
        <p:spPr>
          <a:xfrm>
            <a:off x="9907135" y="5423354"/>
            <a:ext cx="2109337" cy="1298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TextBox 4">
            <a:extLst>
              <a:ext uri="{FF2B5EF4-FFF2-40B4-BE49-F238E27FC236}">
                <a16:creationId xmlns:a16="http://schemas.microsoft.com/office/drawing/2014/main" id="{1E0BB00A-292B-432F-958B-D982AD0DF2E5}"/>
              </a:ext>
            </a:extLst>
          </p:cNvPr>
          <p:cNvSpPr txBox="1"/>
          <p:nvPr/>
        </p:nvSpPr>
        <p:spPr>
          <a:xfrm>
            <a:off x="175528" y="52152"/>
            <a:ext cx="11840944" cy="6669323"/>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sp>
        <p:nvSpPr>
          <p:cNvPr id="3" name="Espace réservé de la date 2">
            <a:extLst>
              <a:ext uri="{FF2B5EF4-FFF2-40B4-BE49-F238E27FC236}">
                <a16:creationId xmlns:a16="http://schemas.microsoft.com/office/drawing/2014/main" id="{8D2491A7-7C9D-4DBA-A707-A42616EE587B}"/>
              </a:ext>
            </a:extLst>
          </p:cNvPr>
          <p:cNvSpPr>
            <a:spLocks noGrp="1"/>
          </p:cNvSpPr>
          <p:nvPr>
            <p:ph type="dt" sz="half" idx="10"/>
          </p:nvPr>
        </p:nvSpPr>
        <p:spPr/>
        <p:txBody>
          <a:bodyPr/>
          <a:lstStyle/>
          <a:p>
            <a:fld id="{C116E4B4-7B12-48A9-B720-4BCD9ED653E4}" type="datetimeFigureOut">
              <a:rPr lang="fr-FR" smtClean="0"/>
              <a:t>03/06/2026</a:t>
            </a:fld>
            <a:endParaRPr lang="fr-FR"/>
          </a:p>
        </p:txBody>
      </p:sp>
      <p:sp>
        <p:nvSpPr>
          <p:cNvPr id="4" name="Espace réservé du pied de page 3">
            <a:extLst>
              <a:ext uri="{FF2B5EF4-FFF2-40B4-BE49-F238E27FC236}">
                <a16:creationId xmlns:a16="http://schemas.microsoft.com/office/drawing/2014/main" id="{B60466B6-0673-409B-BC69-CF1A1245A873}"/>
              </a:ext>
            </a:extLst>
          </p:cNvPr>
          <p:cNvSpPr>
            <a:spLocks noGrp="1"/>
          </p:cNvSpPr>
          <p:nvPr>
            <p:ph type="ftr" sz="quarter" idx="11"/>
          </p:nvPr>
        </p:nvSpPr>
        <p:spPr/>
        <p:txBody>
          <a:bodyPr/>
          <a:lstStyle/>
          <a:p>
            <a:endParaRPr lang="fr-FR"/>
          </a:p>
        </p:txBody>
      </p:sp>
      <p:sp>
        <p:nvSpPr>
          <p:cNvPr id="10" name="Titre 1">
            <a:extLst>
              <a:ext uri="{FF2B5EF4-FFF2-40B4-BE49-F238E27FC236}">
                <a16:creationId xmlns:a16="http://schemas.microsoft.com/office/drawing/2014/main" id="{666FA6FD-D0DB-4BC0-8E1C-C0BD3F7825DC}"/>
              </a:ext>
            </a:extLst>
          </p:cNvPr>
          <p:cNvSpPr>
            <a:spLocks noGrp="1"/>
          </p:cNvSpPr>
          <p:nvPr>
            <p:ph type="title"/>
          </p:nvPr>
        </p:nvSpPr>
        <p:spPr>
          <a:xfrm>
            <a:off x="487680" y="365126"/>
            <a:ext cx="10866120" cy="688612"/>
          </a:xfrm>
        </p:spPr>
        <p:txBody>
          <a:bodyPr/>
          <a:lstStyle>
            <a:lvl1pPr>
              <a:defRPr>
                <a:solidFill>
                  <a:srgbClr val="034AAE"/>
                </a:solidFill>
                <a:latin typeface="Impact" panose="020B0806030902050204" pitchFamily="34" charset="0"/>
              </a:defRPr>
            </a:lvl1pPr>
          </a:lstStyle>
          <a:p>
            <a:r>
              <a:rPr lang="fr-FR" dirty="0"/>
              <a:t>Modifiez le style du titre</a:t>
            </a:r>
          </a:p>
        </p:txBody>
      </p:sp>
      <p:pic>
        <p:nvPicPr>
          <p:cNvPr id="11" name="Image 10">
            <a:extLst>
              <a:ext uri="{FF2B5EF4-FFF2-40B4-BE49-F238E27FC236}">
                <a16:creationId xmlns:a16="http://schemas.microsoft.com/office/drawing/2014/main" id="{D3EABE6D-986A-413B-9649-816993FD03A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778" t="11532" r="9746" b="10476"/>
          <a:stretch/>
        </p:blipFill>
        <p:spPr>
          <a:xfrm>
            <a:off x="10981211" y="5721531"/>
            <a:ext cx="860045" cy="854754"/>
          </a:xfrm>
          <a:prstGeom prst="ellipse">
            <a:avLst/>
          </a:prstGeom>
          <a:effectLst>
            <a:outerShdw blurRad="50800" dist="38100" algn="l" rotWithShape="0">
              <a:prstClr val="black">
                <a:alpha val="40000"/>
              </a:prstClr>
            </a:outerShdw>
          </a:effectLst>
        </p:spPr>
      </p:pic>
    </p:spTree>
    <p:extLst>
      <p:ext uri="{BB962C8B-B14F-4D97-AF65-F5344CB8AC3E}">
        <p14:creationId xmlns:p14="http://schemas.microsoft.com/office/powerpoint/2010/main" val="397332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à coins arrondis 5"/>
          <p:cNvSpPr/>
          <p:nvPr/>
        </p:nvSpPr>
        <p:spPr>
          <a:xfrm>
            <a:off x="127002" y="101606"/>
            <a:ext cx="11946467" cy="6639481"/>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a:t>Steering Committee – Octobre 2025 - Confidentiel</a:t>
            </a:r>
            <a:endParaRPr lang="en-US" dirty="0"/>
          </a:p>
        </p:txBody>
      </p:sp>
      <p:sp>
        <p:nvSpPr>
          <p:cNvPr id="5" name="Espace réservé du numéro de diapositive 5"/>
          <p:cNvSpPr>
            <a:spLocks noGrp="1"/>
          </p:cNvSpPr>
          <p:nvPr>
            <p:ph type="sldNum" sz="quarter" idx="4"/>
          </p:nvPr>
        </p:nvSpPr>
        <p:spPr>
          <a:xfrm>
            <a:off x="896521"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2" name="Group 1">
            <a:extLst>
              <a:ext uri="{FF2B5EF4-FFF2-40B4-BE49-F238E27FC236}">
                <a16:creationId xmlns:a16="http://schemas.microsoft.com/office/drawing/2014/main" id="{08602E2B-ACAE-F214-77F8-530BA794AD06}"/>
              </a:ext>
            </a:extLst>
          </p:cNvPr>
          <p:cNvGrpSpPr/>
          <p:nvPr userDrawn="1"/>
        </p:nvGrpSpPr>
        <p:grpSpPr>
          <a:xfrm>
            <a:off x="5852160" y="-212034"/>
            <a:ext cx="470008" cy="210260"/>
            <a:chOff x="4389120" y="-159026"/>
            <a:chExt cx="352506" cy="157695"/>
          </a:xfrm>
        </p:grpSpPr>
        <p:cxnSp>
          <p:nvCxnSpPr>
            <p:cNvPr id="3" name="Straight Connector 2">
              <a:extLst>
                <a:ext uri="{FF2B5EF4-FFF2-40B4-BE49-F238E27FC236}">
                  <a16:creationId xmlns:a16="http://schemas.microsoft.com/office/drawing/2014/main" id="{D968870E-E915-F42F-1294-51253169D874}"/>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293D63-7FB8-ED97-9AD4-E457EE97A462}"/>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C56F22-EA76-6C47-CB26-F750F188D57D}"/>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0BF1332-0A05-D424-DF87-FEE60E11B61A}"/>
              </a:ext>
            </a:extLst>
          </p:cNvPr>
          <p:cNvGrpSpPr/>
          <p:nvPr userDrawn="1"/>
        </p:nvGrpSpPr>
        <p:grpSpPr>
          <a:xfrm>
            <a:off x="8737597" y="-222634"/>
            <a:ext cx="470008" cy="210260"/>
            <a:chOff x="4389120" y="-159026"/>
            <a:chExt cx="352506" cy="157695"/>
          </a:xfrm>
        </p:grpSpPr>
        <p:cxnSp>
          <p:nvCxnSpPr>
            <p:cNvPr id="10" name="Straight Connector 9">
              <a:extLst>
                <a:ext uri="{FF2B5EF4-FFF2-40B4-BE49-F238E27FC236}">
                  <a16:creationId xmlns:a16="http://schemas.microsoft.com/office/drawing/2014/main" id="{9FF1DA4B-0E13-0798-191C-ED7FB5FFD6B9}"/>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5E55582-D785-31E4-DD29-95F55C7D13B9}"/>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C00F8B-B0C9-01D8-7580-21B536FF3828}"/>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74DC492-E93E-CBEB-93E9-1D613A4CD839}"/>
              </a:ext>
            </a:extLst>
          </p:cNvPr>
          <p:cNvGrpSpPr/>
          <p:nvPr userDrawn="1"/>
        </p:nvGrpSpPr>
        <p:grpSpPr>
          <a:xfrm>
            <a:off x="2972128" y="-231461"/>
            <a:ext cx="470008" cy="210260"/>
            <a:chOff x="4389120" y="-159026"/>
            <a:chExt cx="352506" cy="157695"/>
          </a:xfrm>
        </p:grpSpPr>
        <p:cxnSp>
          <p:nvCxnSpPr>
            <p:cNvPr id="14" name="Straight Connector 13">
              <a:extLst>
                <a:ext uri="{FF2B5EF4-FFF2-40B4-BE49-F238E27FC236}">
                  <a16:creationId xmlns:a16="http://schemas.microsoft.com/office/drawing/2014/main" id="{3940EB56-ACC7-1CE0-1A2F-8F71EC0D8216}"/>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553000-51CE-B254-1CBD-21B8A1DAA5AA}"/>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8B25738-87FA-7320-DA44-F118F9FD1D21}"/>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0188FCAB-10C9-0643-8FAA-8370C9D56443}"/>
              </a:ext>
            </a:extLst>
          </p:cNvPr>
          <p:cNvGrpSpPr/>
          <p:nvPr userDrawn="1"/>
        </p:nvGrpSpPr>
        <p:grpSpPr>
          <a:xfrm rot="16200000">
            <a:off x="-347329" y="3273593"/>
            <a:ext cx="470008" cy="210260"/>
            <a:chOff x="4389120" y="-159026"/>
            <a:chExt cx="352506" cy="157695"/>
          </a:xfrm>
        </p:grpSpPr>
        <p:cxnSp>
          <p:nvCxnSpPr>
            <p:cNvPr id="18" name="Straight Connector 17">
              <a:extLst>
                <a:ext uri="{FF2B5EF4-FFF2-40B4-BE49-F238E27FC236}">
                  <a16:creationId xmlns:a16="http://schemas.microsoft.com/office/drawing/2014/main" id="{3AC8E3A1-096A-8836-5560-0077A1C9F3AB}"/>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9D3A70-D242-7D60-8A72-6C907CA70608}"/>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57E085D-56D9-4F48-1EF5-3777AEE77457}"/>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A016345D-1506-FA3D-01BA-53CF6F210494}"/>
              </a:ext>
            </a:extLst>
          </p:cNvPr>
          <p:cNvCxnSpPr/>
          <p:nvPr userDrawn="1"/>
        </p:nvCxnSpPr>
        <p:spPr>
          <a:xfrm>
            <a:off x="11925300" y="-215582"/>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4A93FF-0A2F-03DF-CEC8-59CC91716623}"/>
              </a:ext>
            </a:extLst>
          </p:cNvPr>
          <p:cNvCxnSpPr/>
          <p:nvPr userDrawn="1"/>
        </p:nvCxnSpPr>
        <p:spPr>
          <a:xfrm>
            <a:off x="277412" y="-249145"/>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6B5CB0-3AF5-9F3B-7459-FD659519CA5D}"/>
              </a:ext>
            </a:extLst>
          </p:cNvPr>
          <p:cNvCxnSpPr>
            <a:cxnSpLocks/>
          </p:cNvCxnSpPr>
          <p:nvPr userDrawn="1"/>
        </p:nvCxnSpPr>
        <p:spPr>
          <a:xfrm>
            <a:off x="-182440" y="190503"/>
            <a:ext cx="1644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A5658D-09DC-CE8A-EBCC-2F1CE3FB7487}"/>
              </a:ext>
            </a:extLst>
          </p:cNvPr>
          <p:cNvCxnSpPr>
            <a:cxnSpLocks/>
          </p:cNvCxnSpPr>
          <p:nvPr userDrawn="1"/>
        </p:nvCxnSpPr>
        <p:spPr>
          <a:xfrm>
            <a:off x="-208799" y="6441671"/>
            <a:ext cx="164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83708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l" defTabSz="914309"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309"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578" indent="-228578" algn="l" defTabSz="914309"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23" indent="-228578" algn="l" defTabSz="914309"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1925" indent="-270643" algn="l" defTabSz="914309"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195"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15.png"/><Relationship Id="rId12"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4.jpeg"/><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22.png"/></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ABDB890A-D2C7-4410-B94D-76E4F9157698}"/>
              </a:ext>
            </a:extLst>
          </p:cNvPr>
          <p:cNvSpPr/>
          <p:nvPr/>
        </p:nvSpPr>
        <p:spPr>
          <a:xfrm>
            <a:off x="1220965" y="814469"/>
            <a:ext cx="9490579" cy="3393230"/>
          </a:xfrm>
          <a:prstGeom prst="roundRect">
            <a:avLst>
              <a:gd name="adj" fmla="val 3813"/>
            </a:avLst>
          </a:prstGeom>
          <a:solidFill>
            <a:srgbClr val="FFFFFF">
              <a:alpha val="30196"/>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nSpc>
                <a:spcPct val="80000"/>
              </a:lnSpc>
              <a:defRPr/>
            </a:pPr>
            <a:r>
              <a:rPr lang="fr-FR" sz="6000" b="1" cap="small" dirty="0">
                <a:latin typeface="Segoe UI" panose="020B0502040204020203" pitchFamily="34" charset="0"/>
                <a:cs typeface="Segoe UI" panose="020B0502040204020203" pitchFamily="34" charset="0"/>
              </a:rPr>
              <a:t>[Séminaire OCRF 2026] </a:t>
            </a:r>
            <a:br>
              <a:rPr lang="fr-FR" sz="9600" b="1" cap="small" dirty="0">
                <a:latin typeface="Segoe UI" panose="020B0502040204020203" pitchFamily="34" charset="0"/>
                <a:cs typeface="Segoe UI" panose="020B0502040204020203" pitchFamily="34" charset="0"/>
              </a:rPr>
            </a:br>
            <a:endParaRPr lang="fr-FR" sz="9600" b="1" cap="small" dirty="0">
              <a:latin typeface="Segoe UI" panose="020B0502040204020203" pitchFamily="34" charset="0"/>
              <a:cs typeface="Segoe UI" panose="020B0502040204020203" pitchFamily="34" charset="0"/>
            </a:endParaRPr>
          </a:p>
          <a:p>
            <a:pPr lvl="0">
              <a:lnSpc>
                <a:spcPct val="80000"/>
              </a:lnSpc>
              <a:defRPr/>
            </a:pPr>
            <a:r>
              <a:rPr lang="fr-FR" sz="4000" dirty="0"/>
              <a:t>OCRF — L'IA comme levier stratégique de transformation</a:t>
            </a:r>
            <a:endParaRPr kumimoji="0" lang="fr-FR" sz="40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3" name="Rectangle : coins arrondis 2">
            <a:extLst>
              <a:ext uri="{FF2B5EF4-FFF2-40B4-BE49-F238E27FC236}">
                <a16:creationId xmlns:a16="http://schemas.microsoft.com/office/drawing/2014/main" id="{B8273833-4A0C-493E-9351-8DA4CB9D7BD3}"/>
              </a:ext>
            </a:extLst>
          </p:cNvPr>
          <p:cNvSpPr/>
          <p:nvPr/>
        </p:nvSpPr>
        <p:spPr>
          <a:xfrm>
            <a:off x="6727706" y="4346916"/>
            <a:ext cx="3983838" cy="1029231"/>
          </a:xfrm>
          <a:prstGeom prst="roundRect">
            <a:avLst>
              <a:gd name="adj" fmla="val 3813"/>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lnSpc>
                <a:spcPct val="80000"/>
              </a:lnSpc>
              <a:defRPr/>
            </a:pPr>
            <a:r>
              <a:rPr kumimoji="0" lang="fr-FR" sz="20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Ayoub E.</a:t>
            </a:r>
          </a:p>
          <a:p>
            <a:pPr marL="0" marR="0" lvl="0" indent="0" algn="r" defTabSz="914400" rtl="0" eaLnBrk="1" fontAlgn="auto" latinLnBrk="0" hangingPunct="1">
              <a:lnSpc>
                <a:spcPct val="80000"/>
              </a:lnSpc>
              <a:spcBef>
                <a:spcPts val="0"/>
              </a:spcBef>
              <a:spcAft>
                <a:spcPts val="0"/>
              </a:spcAft>
              <a:buClrTx/>
              <a:buSzTx/>
              <a:buFontTx/>
              <a:buNone/>
              <a:tabLst/>
              <a:defRPr/>
            </a:pPr>
            <a:r>
              <a:rPr lang="fr-FR" sz="2000" dirty="0">
                <a:solidFill>
                  <a:prstClr val="white"/>
                </a:solidFill>
                <a:latin typeface="Segoe UI" panose="020B0502040204020203" pitchFamily="34" charset="0"/>
                <a:cs typeface="Segoe UI" panose="020B0502040204020203" pitchFamily="34" charset="0"/>
              </a:rPr>
              <a:t>Morad I.</a:t>
            </a:r>
          </a:p>
        </p:txBody>
      </p:sp>
    </p:spTree>
    <p:extLst>
      <p:ext uri="{BB962C8B-B14F-4D97-AF65-F5344CB8AC3E}">
        <p14:creationId xmlns:p14="http://schemas.microsoft.com/office/powerpoint/2010/main" val="342682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a:bodyPr>
          <a:lstStyle/>
          <a:p>
            <a:r>
              <a:rPr lang="fr-FR" sz="4000" dirty="0">
                <a:solidFill>
                  <a:srgbClr val="ED7D31"/>
                </a:solidFill>
                <a:latin typeface="Segoe UI" panose="020B0502040204020203" pitchFamily="34" charset="0"/>
                <a:cs typeface="Segoe UI" panose="020B0502040204020203" pitchFamily="34" charset="0"/>
              </a:rPr>
              <a:t>Evolution de l’IA</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txBody>
          <a:bodyPr/>
          <a:lstStyle/>
          <a:p>
            <a:endParaRPr lang="fr-FR">
              <a:latin typeface="Segoe UI" panose="020B0502040204020203" pitchFamily="34" charset="0"/>
              <a:cs typeface="Segoe UI" panose="020B0502040204020203" pitchFamily="34" charset="0"/>
            </a:endParaRPr>
          </a:p>
        </p:txBody>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De l’assistance à la délégation</a:t>
            </a:r>
            <a:endParaRPr lang="fr-FR" sz="2100" dirty="0">
              <a:solidFill>
                <a:srgbClr val="835CF5"/>
              </a:solidFill>
              <a:latin typeface="Segoe UI" panose="020B0502040204020203" pitchFamily="34" charset="0"/>
              <a:cs typeface="Segoe UI" panose="020B0502040204020203" pitchFamily="34" charset="0"/>
            </a:endParaRPr>
          </a:p>
        </p:txBody>
      </p:sp>
      <p:sp>
        <p:nvSpPr>
          <p:cNvPr id="158" name="ZoneTexte 157">
            <a:extLst>
              <a:ext uri="{FF2B5EF4-FFF2-40B4-BE49-F238E27FC236}">
                <a16:creationId xmlns:a16="http://schemas.microsoft.com/office/drawing/2014/main" id="{EB0B904B-1DF9-4B57-A6CD-03AAE97285FB}"/>
              </a:ext>
            </a:extLst>
          </p:cNvPr>
          <p:cNvSpPr txBox="1"/>
          <p:nvPr/>
        </p:nvSpPr>
        <p:spPr>
          <a:xfrm>
            <a:off x="487680" y="1746866"/>
            <a:ext cx="5066343" cy="598693"/>
          </a:xfrm>
          <a:prstGeom prst="roundRect">
            <a:avLst/>
          </a:prstGeom>
          <a:solidFill>
            <a:srgbClr val="07BB6B"/>
          </a:solidFill>
        </p:spPr>
        <p:txBody>
          <a:bodyPr wrap="square" lIns="91440" tIns="45720" rIns="91440" bIns="45720" anchor="ctr">
            <a:noAutofit/>
          </a:bodyPr>
          <a:lstStyle/>
          <a:p>
            <a:pPr algn="ctr" defTabSz="292093" hangingPunct="0">
              <a:defRPr/>
            </a:pPr>
            <a:r>
              <a:rPr lang="fr-FR" sz="1600" b="1" kern="0" dirty="0">
                <a:solidFill>
                  <a:srgbClr val="FFFFFF"/>
                </a:solidFill>
                <a:latin typeface="Segoe UI" panose="020B0502040204020203" pitchFamily="34" charset="0"/>
                <a:cs typeface="Segoe UI" panose="020B0502040204020203" pitchFamily="34" charset="0"/>
                <a:sym typeface="Helvetica Light"/>
              </a:rPr>
              <a:t>Assistant</a:t>
            </a:r>
          </a:p>
          <a:p>
            <a:pPr algn="ctr" defTabSz="292093" hangingPunct="0">
              <a:defRPr/>
            </a:pPr>
            <a:r>
              <a:rPr lang="fr-FR" sz="1400" kern="0" dirty="0">
                <a:solidFill>
                  <a:srgbClr val="FFFFFF"/>
                </a:solidFill>
                <a:latin typeface="Segoe UI" panose="020B0502040204020203" pitchFamily="34" charset="0"/>
                <a:cs typeface="Segoe UI" panose="020B0502040204020203" pitchFamily="34" charset="0"/>
                <a:sym typeface="Helvetica Light"/>
              </a:rPr>
              <a:t>aide les collaborateurs</a:t>
            </a:r>
            <a:endParaRPr lang="fr-FR" sz="1400" kern="0" dirty="0">
              <a:solidFill>
                <a:srgbClr val="FFFFFF"/>
              </a:solidFill>
              <a:latin typeface="Segoe UI" panose="020B0502040204020203" pitchFamily="34" charset="0"/>
              <a:cs typeface="Segoe UI" panose="020B0502040204020203" pitchFamily="34" charset="0"/>
            </a:endParaRPr>
          </a:p>
        </p:txBody>
      </p:sp>
      <p:sp>
        <p:nvSpPr>
          <p:cNvPr id="159" name="ZoneTexte 158">
            <a:extLst>
              <a:ext uri="{FF2B5EF4-FFF2-40B4-BE49-F238E27FC236}">
                <a16:creationId xmlns:a16="http://schemas.microsoft.com/office/drawing/2014/main" id="{BBE3E5A5-4C0D-4003-8FF6-D832E54C9C96}"/>
              </a:ext>
            </a:extLst>
          </p:cNvPr>
          <p:cNvSpPr txBox="1"/>
          <p:nvPr/>
        </p:nvSpPr>
        <p:spPr>
          <a:xfrm>
            <a:off x="5952979" y="1746866"/>
            <a:ext cx="5406744" cy="598693"/>
          </a:xfrm>
          <a:prstGeom prst="roundRect">
            <a:avLst/>
          </a:prstGeom>
          <a:solidFill>
            <a:srgbClr val="835AF5"/>
          </a:solidFill>
        </p:spPr>
        <p:txBody>
          <a:bodyPr wrap="square" lIns="91440" tIns="45720" rIns="91440" bIns="45720" anchor="ctr">
            <a:noAutofit/>
          </a:bodyPr>
          <a:lstStyle>
            <a:defPPr>
              <a:defRPr lang="fr-FR"/>
            </a:defPPr>
            <a:lvl1pPr algn="ctr" defTabSz="292093" hangingPunct="0">
              <a:defRPr sz="1600" b="1" kern="0">
                <a:solidFill>
                  <a:srgbClr val="FFFFFF"/>
                </a:solidFill>
                <a:latin typeface="Segoe UI"/>
                <a:cs typeface="Segoe UI"/>
              </a:defRPr>
            </a:lvl1pPr>
          </a:lstStyle>
          <a:p>
            <a:pPr>
              <a:defRPr/>
            </a:pPr>
            <a:r>
              <a:rPr lang="fr-FR" dirty="0">
                <a:latin typeface="Segoe UI" panose="020B0502040204020203" pitchFamily="34" charset="0"/>
                <a:cs typeface="Segoe UI" panose="020B0502040204020203" pitchFamily="34" charset="0"/>
                <a:sym typeface="Helvetica Light"/>
              </a:rPr>
              <a:t>Agent</a:t>
            </a:r>
          </a:p>
          <a:p>
            <a:pPr>
              <a:defRPr/>
            </a:pPr>
            <a:r>
              <a:rPr lang="fr-FR" sz="1400" b="0" dirty="0">
                <a:latin typeface="Segoe UI" panose="020B0502040204020203" pitchFamily="34" charset="0"/>
                <a:cs typeface="Segoe UI" panose="020B0502040204020203" pitchFamily="34" charset="0"/>
                <a:sym typeface="Helvetica Light"/>
              </a:rPr>
              <a:t>travaille en autonomie</a:t>
            </a:r>
          </a:p>
        </p:txBody>
      </p:sp>
      <p:sp>
        <p:nvSpPr>
          <p:cNvPr id="160" name="ZoneTexte 159">
            <a:extLst>
              <a:ext uri="{FF2B5EF4-FFF2-40B4-BE49-F238E27FC236}">
                <a16:creationId xmlns:a16="http://schemas.microsoft.com/office/drawing/2014/main" id="{5F65491B-27BA-4341-8D3E-BD80AA1A2DE8}"/>
              </a:ext>
            </a:extLst>
          </p:cNvPr>
          <p:cNvSpPr txBox="1"/>
          <p:nvPr/>
        </p:nvSpPr>
        <p:spPr>
          <a:xfrm>
            <a:off x="6903700" y="4503733"/>
            <a:ext cx="4274654" cy="715089"/>
          </a:xfrm>
          <a:prstGeom prst="roundRect">
            <a:avLst/>
          </a:prstGeom>
          <a:solidFill>
            <a:srgbClr val="FF5A5A">
              <a:lumMod val="20000"/>
              <a:lumOff val="80000"/>
            </a:srgbClr>
          </a:solidFill>
        </p:spPr>
        <p:txBody>
          <a:bodyPr wrap="square">
            <a:spAutoFit/>
          </a:bodyPr>
          <a:lstStyle/>
          <a:p>
            <a:pPr defTabSz="292093" hangingPunct="0">
              <a:defRPr/>
            </a:pPr>
            <a:r>
              <a:rPr lang="fr-FR" sz="1200" kern="0" dirty="0">
                <a:solidFill>
                  <a:srgbClr val="002865"/>
                </a:solidFill>
                <a:latin typeface="Segoe UI" panose="020B0502040204020203" pitchFamily="34" charset="0"/>
                <a:cs typeface="Segoe UI" panose="020B0502040204020203" pitchFamily="34" charset="0"/>
                <a:sym typeface="Helvetica Light"/>
              </a:rPr>
              <a:t>L’agent peut comprendre sa mission, rassembler les informations nécessaires, rester cohérent à travers plusieurs documents et actions, et accomplir les tâches dans le temps</a:t>
            </a:r>
          </a:p>
        </p:txBody>
      </p:sp>
      <p:sp>
        <p:nvSpPr>
          <p:cNvPr id="161" name="ZoneTexte 160">
            <a:extLst>
              <a:ext uri="{FF2B5EF4-FFF2-40B4-BE49-F238E27FC236}">
                <a16:creationId xmlns:a16="http://schemas.microsoft.com/office/drawing/2014/main" id="{05FDE212-7C38-4678-9EE7-BDFB11E150A6}"/>
              </a:ext>
            </a:extLst>
          </p:cNvPr>
          <p:cNvSpPr txBox="1"/>
          <p:nvPr/>
        </p:nvSpPr>
        <p:spPr>
          <a:xfrm>
            <a:off x="6167095" y="3750141"/>
            <a:ext cx="5011261" cy="646331"/>
          </a:xfrm>
          <a:prstGeom prst="rect">
            <a:avLst/>
          </a:prstGeom>
          <a:noFill/>
        </p:spPr>
        <p:txBody>
          <a:bodyPr wrap="square">
            <a:spAutoFit/>
          </a:bodyPr>
          <a:lstStyle/>
          <a:p>
            <a:pPr marL="171446" indent="-171446" defTabSz="292093" hangingPunct="0">
              <a:buFont typeface="Arial" panose="020B0604020202020204" pitchFamily="34" charset="0"/>
              <a:buChar char="•"/>
              <a:defRPr/>
            </a:pPr>
            <a:r>
              <a:rPr lang="fr-FR" sz="1200" kern="0" dirty="0">
                <a:solidFill>
                  <a:srgbClr val="002865"/>
                </a:solidFill>
                <a:latin typeface="Segoe UI" panose="020B0502040204020203" pitchFamily="34" charset="0"/>
                <a:cs typeface="Segoe UI" panose="020B0502040204020203" pitchFamily="34" charset="0"/>
                <a:sym typeface="Helvetica Light"/>
              </a:rPr>
              <a:t>Raisonner, décomposer et planifier  </a:t>
            </a:r>
          </a:p>
          <a:p>
            <a:pPr marL="171446" indent="-171446" defTabSz="292093" hangingPunct="0">
              <a:buFont typeface="Arial" panose="020B0604020202020204" pitchFamily="34" charset="0"/>
              <a:buChar char="•"/>
              <a:defRPr/>
            </a:pPr>
            <a:r>
              <a:rPr lang="fr-FR" sz="1200" kern="0" dirty="0">
                <a:solidFill>
                  <a:srgbClr val="002865"/>
                </a:solidFill>
                <a:latin typeface="Segoe UI" panose="020B0502040204020203" pitchFamily="34" charset="0"/>
                <a:cs typeface="Segoe UI" panose="020B0502040204020203" pitchFamily="34" charset="0"/>
                <a:sym typeface="Helvetica Light"/>
              </a:rPr>
              <a:t>Exécuter des actions dans des applications</a:t>
            </a:r>
          </a:p>
          <a:p>
            <a:pPr marL="171446" indent="-171446" defTabSz="292093" hangingPunct="0">
              <a:buFont typeface="Arial" panose="020B0604020202020204" pitchFamily="34" charset="0"/>
              <a:buChar char="•"/>
              <a:defRPr/>
            </a:pPr>
            <a:r>
              <a:rPr lang="fr-FR" sz="1200" kern="0" dirty="0">
                <a:solidFill>
                  <a:srgbClr val="002865"/>
                </a:solidFill>
                <a:latin typeface="Segoe UI" panose="020B0502040204020203" pitchFamily="34" charset="0"/>
                <a:cs typeface="Segoe UI" panose="020B0502040204020203" pitchFamily="34" charset="0"/>
                <a:sym typeface="Helvetica Light"/>
              </a:rPr>
              <a:t>S’adapter de manière dynamique  </a:t>
            </a:r>
          </a:p>
        </p:txBody>
      </p:sp>
      <p:sp>
        <p:nvSpPr>
          <p:cNvPr id="162" name="ZoneTexte 161">
            <a:extLst>
              <a:ext uri="{FF2B5EF4-FFF2-40B4-BE49-F238E27FC236}">
                <a16:creationId xmlns:a16="http://schemas.microsoft.com/office/drawing/2014/main" id="{2C9FAE0E-1C22-4AB0-AFE8-48AF56DB748A}"/>
              </a:ext>
            </a:extLst>
          </p:cNvPr>
          <p:cNvSpPr txBox="1"/>
          <p:nvPr/>
        </p:nvSpPr>
        <p:spPr>
          <a:xfrm>
            <a:off x="487680" y="5449077"/>
            <a:ext cx="4793757" cy="523220"/>
          </a:xfrm>
          <a:prstGeom prst="rect">
            <a:avLst/>
          </a:prstGeom>
          <a:noFill/>
        </p:spPr>
        <p:txBody>
          <a:bodyPr wrap="square">
            <a:spAutoFit/>
          </a:bodyPr>
          <a:lstStyle/>
          <a:p>
            <a:pPr defTabSz="292093" hangingPunct="0">
              <a:defRPr/>
            </a:pPr>
            <a:r>
              <a:rPr lang="fr-FR" sz="1400" b="1" kern="0" dirty="0">
                <a:solidFill>
                  <a:srgbClr val="07BB6B"/>
                </a:solidFill>
                <a:latin typeface="Segoe UI" panose="020B0502040204020203" pitchFamily="34" charset="0"/>
                <a:cs typeface="Segoe UI" panose="020B0502040204020203" pitchFamily="34" charset="0"/>
                <a:sym typeface="Helvetica Light"/>
              </a:rPr>
              <a:t>L’humain pilote l’intégralité du processus, guidé par l’assistant  </a:t>
            </a:r>
          </a:p>
        </p:txBody>
      </p:sp>
      <p:sp>
        <p:nvSpPr>
          <p:cNvPr id="163" name="ZoneTexte 162">
            <a:extLst>
              <a:ext uri="{FF2B5EF4-FFF2-40B4-BE49-F238E27FC236}">
                <a16:creationId xmlns:a16="http://schemas.microsoft.com/office/drawing/2014/main" id="{B781CC9A-877F-4284-91DB-3A578FCA5436}"/>
              </a:ext>
            </a:extLst>
          </p:cNvPr>
          <p:cNvSpPr txBox="1"/>
          <p:nvPr/>
        </p:nvSpPr>
        <p:spPr>
          <a:xfrm>
            <a:off x="615195" y="3750142"/>
            <a:ext cx="4446000" cy="646331"/>
          </a:xfrm>
          <a:prstGeom prst="rect">
            <a:avLst/>
          </a:prstGeom>
          <a:noFill/>
        </p:spPr>
        <p:txBody>
          <a:bodyPr wrap="square">
            <a:spAutoFit/>
          </a:bodyPr>
          <a:lstStyle/>
          <a:p>
            <a:pPr marL="171446" indent="-171446" defTabSz="292093" hangingPunct="0">
              <a:buFont typeface="Arial" panose="020B0604020202020204" pitchFamily="34" charset="0"/>
              <a:buChar char="•"/>
              <a:defRPr/>
            </a:pPr>
            <a:r>
              <a:rPr lang="fr-FR" sz="1200" kern="0" dirty="0">
                <a:solidFill>
                  <a:srgbClr val="002865"/>
                </a:solidFill>
                <a:latin typeface="Segoe UI" panose="020B0502040204020203" pitchFamily="34" charset="0"/>
                <a:cs typeface="Segoe UI" panose="020B0502040204020203" pitchFamily="34" charset="0"/>
                <a:sym typeface="Helvetica Light"/>
              </a:rPr>
              <a:t>Résumer des documents</a:t>
            </a:r>
          </a:p>
          <a:p>
            <a:pPr marL="171446" indent="-171446" defTabSz="292093" hangingPunct="0">
              <a:buFont typeface="Arial" panose="020B0604020202020204" pitchFamily="34" charset="0"/>
              <a:buChar char="•"/>
              <a:defRPr/>
            </a:pPr>
            <a:r>
              <a:rPr lang="fr-FR" sz="1200" kern="0" dirty="0">
                <a:solidFill>
                  <a:srgbClr val="002865"/>
                </a:solidFill>
                <a:latin typeface="Segoe UI" panose="020B0502040204020203" pitchFamily="34" charset="0"/>
                <a:cs typeface="Segoe UI" panose="020B0502040204020203" pitchFamily="34" charset="0"/>
                <a:sym typeface="Helvetica Light"/>
              </a:rPr>
              <a:t>Rédiger des textes </a:t>
            </a:r>
          </a:p>
          <a:p>
            <a:pPr marL="171446" indent="-171446" defTabSz="292093" hangingPunct="0">
              <a:buFont typeface="Arial" panose="020B0604020202020204" pitchFamily="34" charset="0"/>
              <a:buChar char="•"/>
              <a:defRPr/>
            </a:pPr>
            <a:r>
              <a:rPr lang="fr-FR" sz="1200" kern="0" dirty="0">
                <a:solidFill>
                  <a:srgbClr val="002865"/>
                </a:solidFill>
                <a:latin typeface="Segoe UI" panose="020B0502040204020203" pitchFamily="34" charset="0"/>
                <a:cs typeface="Segoe UI" panose="020B0502040204020203" pitchFamily="34" charset="0"/>
                <a:sym typeface="Helvetica Light"/>
              </a:rPr>
              <a:t>Rechercher des informations</a:t>
            </a:r>
          </a:p>
        </p:txBody>
      </p:sp>
      <p:sp>
        <p:nvSpPr>
          <p:cNvPr id="164" name="ZoneTexte 163">
            <a:extLst>
              <a:ext uri="{FF2B5EF4-FFF2-40B4-BE49-F238E27FC236}">
                <a16:creationId xmlns:a16="http://schemas.microsoft.com/office/drawing/2014/main" id="{1EA96914-5D8E-4A34-B7F6-7FF9E6BE30AE}"/>
              </a:ext>
            </a:extLst>
          </p:cNvPr>
          <p:cNvSpPr txBox="1"/>
          <p:nvPr/>
        </p:nvSpPr>
        <p:spPr>
          <a:xfrm>
            <a:off x="6263463" y="5449077"/>
            <a:ext cx="5011261" cy="523220"/>
          </a:xfrm>
          <a:prstGeom prst="rect">
            <a:avLst/>
          </a:prstGeom>
          <a:noFill/>
        </p:spPr>
        <p:txBody>
          <a:bodyPr wrap="square">
            <a:spAutoFit/>
          </a:bodyPr>
          <a:lstStyle/>
          <a:p>
            <a:pPr defTabSz="292093" hangingPunct="0">
              <a:defRPr/>
            </a:pPr>
            <a:r>
              <a:rPr lang="fr-FR" sz="1400" b="1" kern="0" dirty="0">
                <a:solidFill>
                  <a:srgbClr val="835AF5"/>
                </a:solidFill>
                <a:latin typeface="Segoe UI" panose="020B0502040204020203" pitchFamily="34" charset="0"/>
                <a:cs typeface="Segoe UI" panose="020B0502040204020203" pitchFamily="34" charset="0"/>
                <a:sym typeface="Helvetica Light"/>
              </a:rPr>
              <a:t>L’agent IA réalise un flux de travail complexe de manière quasi-autonome</a:t>
            </a:r>
          </a:p>
        </p:txBody>
      </p:sp>
      <p:sp>
        <p:nvSpPr>
          <p:cNvPr id="165" name="ZoneTexte 164">
            <a:extLst>
              <a:ext uri="{FF2B5EF4-FFF2-40B4-BE49-F238E27FC236}">
                <a16:creationId xmlns:a16="http://schemas.microsoft.com/office/drawing/2014/main" id="{8FA49C4D-6559-4D67-9F93-3FF54104E0B3}"/>
              </a:ext>
            </a:extLst>
          </p:cNvPr>
          <p:cNvSpPr txBox="1"/>
          <p:nvPr/>
        </p:nvSpPr>
        <p:spPr>
          <a:xfrm>
            <a:off x="617799" y="4610373"/>
            <a:ext cx="4446000" cy="461665"/>
          </a:xfrm>
          <a:prstGeom prst="rect">
            <a:avLst/>
          </a:prstGeom>
          <a:noFill/>
        </p:spPr>
        <p:txBody>
          <a:bodyPr wrap="square">
            <a:spAutoFit/>
          </a:bodyPr>
          <a:lstStyle/>
          <a:p>
            <a:pPr defTabSz="292093" hangingPunct="0">
              <a:defRPr/>
            </a:pPr>
            <a:r>
              <a:rPr lang="fr-FR" sz="1200" kern="0" dirty="0">
                <a:solidFill>
                  <a:srgbClr val="002865"/>
                </a:solidFill>
                <a:latin typeface="Segoe UI" panose="020B0502040204020203" pitchFamily="34" charset="0"/>
                <a:cs typeface="Segoe UI" panose="020B0502040204020203" pitchFamily="34" charset="0"/>
                <a:sym typeface="Helvetica Light"/>
              </a:rPr>
              <a:t>L’assistant IA est un outil qui apporte une capacité dans un processus.</a:t>
            </a:r>
          </a:p>
        </p:txBody>
      </p:sp>
      <p:pic>
        <p:nvPicPr>
          <p:cNvPr id="166" name="Graphique 165" descr="Ligne fléchée : incurvée dans le sens des aiguilles d’une montre contour">
            <a:extLst>
              <a:ext uri="{FF2B5EF4-FFF2-40B4-BE49-F238E27FC236}">
                <a16:creationId xmlns:a16="http://schemas.microsoft.com/office/drawing/2014/main" id="{7F49F6DF-A43F-4E69-9EFE-3D45EAD215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7936747">
            <a:off x="6269686" y="4461696"/>
            <a:ext cx="442177" cy="442177"/>
          </a:xfrm>
          <a:prstGeom prst="rect">
            <a:avLst/>
          </a:prstGeom>
        </p:spPr>
      </p:pic>
      <p:grpSp>
        <p:nvGrpSpPr>
          <p:cNvPr id="167" name="Groupe 166">
            <a:extLst>
              <a:ext uri="{FF2B5EF4-FFF2-40B4-BE49-F238E27FC236}">
                <a16:creationId xmlns:a16="http://schemas.microsoft.com/office/drawing/2014/main" id="{38760048-3129-43F4-A86B-759BB325307E}"/>
              </a:ext>
            </a:extLst>
          </p:cNvPr>
          <p:cNvGrpSpPr/>
          <p:nvPr/>
        </p:nvGrpSpPr>
        <p:grpSpPr>
          <a:xfrm>
            <a:off x="1681932" y="2523692"/>
            <a:ext cx="2535448" cy="1018896"/>
            <a:chOff x="1760150" y="1776182"/>
            <a:chExt cx="1901588" cy="764171"/>
          </a:xfrm>
        </p:grpSpPr>
        <p:sp>
          <p:nvSpPr>
            <p:cNvPr id="168" name="ZoneTexte 167">
              <a:extLst>
                <a:ext uri="{FF2B5EF4-FFF2-40B4-BE49-F238E27FC236}">
                  <a16:creationId xmlns:a16="http://schemas.microsoft.com/office/drawing/2014/main" id="{466ED1A0-69ED-43F9-B3AB-4EB05E6828BE}"/>
                </a:ext>
              </a:extLst>
            </p:cNvPr>
            <p:cNvSpPr txBox="1"/>
            <p:nvPr/>
          </p:nvSpPr>
          <p:spPr>
            <a:xfrm>
              <a:off x="2400537" y="1791671"/>
              <a:ext cx="553710" cy="20774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a:spAutoFit/>
            </a:bodyPr>
            <a:lstStyle/>
            <a:p>
              <a:pPr algn="ctr" defTabSz="292093" hangingPunct="0">
                <a:defRPr/>
              </a:pPr>
              <a: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Demande </a:t>
              </a:r>
            </a:p>
          </p:txBody>
        </p:sp>
        <p:grpSp>
          <p:nvGrpSpPr>
            <p:cNvPr id="169" name="Groupe 168">
              <a:extLst>
                <a:ext uri="{FF2B5EF4-FFF2-40B4-BE49-F238E27FC236}">
                  <a16:creationId xmlns:a16="http://schemas.microsoft.com/office/drawing/2014/main" id="{97201917-5D1D-4484-BE32-F5A6BD39DA8F}"/>
                </a:ext>
              </a:extLst>
            </p:cNvPr>
            <p:cNvGrpSpPr>
              <a:grpSpLocks noChangeAspect="1"/>
            </p:cNvGrpSpPr>
            <p:nvPr/>
          </p:nvGrpSpPr>
          <p:grpSpPr>
            <a:xfrm>
              <a:off x="3147100" y="1776182"/>
              <a:ext cx="514638" cy="648135"/>
              <a:chOff x="8612155" y="2829542"/>
              <a:chExt cx="1446246" cy="1821400"/>
            </a:xfrm>
          </p:grpSpPr>
          <p:sp>
            <p:nvSpPr>
              <p:cNvPr id="177" name="Rectangle : coins arrondis 176">
                <a:extLst>
                  <a:ext uri="{FF2B5EF4-FFF2-40B4-BE49-F238E27FC236}">
                    <a16:creationId xmlns:a16="http://schemas.microsoft.com/office/drawing/2014/main" id="{3ECE1A14-F01A-41AC-A274-395DD7248D7F}"/>
                  </a:ext>
                </a:extLst>
              </p:cNvPr>
              <p:cNvSpPr/>
              <p:nvPr/>
            </p:nvSpPr>
            <p:spPr bwMode="auto">
              <a:xfrm>
                <a:off x="8612155" y="3001645"/>
                <a:ext cx="1446246" cy="1649297"/>
              </a:xfrm>
              <a:prstGeom prst="roundRect">
                <a:avLst/>
              </a:prstGeom>
              <a:solidFill>
                <a:srgbClr val="007E85">
                  <a:lumMod val="20000"/>
                  <a:lumOff val="80000"/>
                </a:srgbClr>
              </a:solidFill>
              <a:ln w="19050" cap="flat" cmpd="sng" algn="ctr">
                <a:no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377" fontAlgn="base">
                  <a:spcBef>
                    <a:spcPct val="0"/>
                  </a:spcBef>
                  <a:spcAft>
                    <a:spcPct val="0"/>
                  </a:spcAft>
                  <a:defRPr/>
                </a:pPr>
                <a:endParaRPr lang="fr-FR" sz="1200" kern="0">
                  <a:solidFill>
                    <a:srgbClr val="FFFFFF"/>
                  </a:solidFill>
                  <a:latin typeface="Segoe UI" panose="020B0502040204020203" pitchFamily="34" charset="0"/>
                  <a:cs typeface="Segoe UI" panose="020B0502040204020203" pitchFamily="34" charset="0"/>
                  <a:sym typeface="Helvetica Light"/>
                </a:endParaRPr>
              </a:p>
            </p:txBody>
          </p:sp>
          <p:pic>
            <p:nvPicPr>
              <p:cNvPr id="178" name="Image 177" descr="Une image contenant Caractère coloré, cercle, Symétrie, art&#10;&#10;Le contenu généré par l’IA peut être incorrect.">
                <a:extLst>
                  <a:ext uri="{FF2B5EF4-FFF2-40B4-BE49-F238E27FC236}">
                    <a16:creationId xmlns:a16="http://schemas.microsoft.com/office/drawing/2014/main" id="{82975D86-763D-43D2-B8E0-687073021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6233" y="3349218"/>
                <a:ext cx="1219200" cy="1219200"/>
              </a:xfrm>
              <a:prstGeom prst="rect">
                <a:avLst/>
              </a:prstGeom>
            </p:spPr>
          </p:pic>
          <p:sp>
            <p:nvSpPr>
              <p:cNvPr id="179" name="ZoneTexte 178">
                <a:extLst>
                  <a:ext uri="{FF2B5EF4-FFF2-40B4-BE49-F238E27FC236}">
                    <a16:creationId xmlns:a16="http://schemas.microsoft.com/office/drawing/2014/main" id="{5AE2FB04-FD06-4D91-BD73-11B3ACD8DEC7}"/>
                  </a:ext>
                </a:extLst>
              </p:cNvPr>
              <p:cNvSpPr txBox="1"/>
              <p:nvPr/>
            </p:nvSpPr>
            <p:spPr>
              <a:xfrm>
                <a:off x="8683877" y="2829542"/>
                <a:ext cx="1121560" cy="713557"/>
              </a:xfrm>
              <a:prstGeom prst="rect">
                <a:avLst/>
              </a:prstGeom>
              <a:noFill/>
            </p:spPr>
            <p:txBody>
              <a:bodyPr wrap="none" anchor="ctr">
                <a:spAutoFit/>
              </a:bodyPr>
              <a:lstStyle/>
              <a:p>
                <a:pPr algn="ctr" defTabSz="292093" hangingPunct="0">
                  <a:defRPr/>
                </a:pPr>
                <a:r>
                  <a:rPr lang="fr-FR" sz="1600" b="1"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LLM</a:t>
                </a:r>
              </a:p>
            </p:txBody>
          </p:sp>
        </p:grpSp>
        <p:grpSp>
          <p:nvGrpSpPr>
            <p:cNvPr id="170" name="Groupe 169">
              <a:extLst>
                <a:ext uri="{FF2B5EF4-FFF2-40B4-BE49-F238E27FC236}">
                  <a16:creationId xmlns:a16="http://schemas.microsoft.com/office/drawing/2014/main" id="{F28064A0-B318-44B0-9A6F-DDE38865A6E4}"/>
                </a:ext>
              </a:extLst>
            </p:cNvPr>
            <p:cNvGrpSpPr>
              <a:grpSpLocks noChangeAspect="1"/>
            </p:cNvGrpSpPr>
            <p:nvPr/>
          </p:nvGrpSpPr>
          <p:grpSpPr>
            <a:xfrm>
              <a:off x="1760150" y="1826135"/>
              <a:ext cx="447534" cy="609464"/>
              <a:chOff x="430479" y="2468801"/>
              <a:chExt cx="936000" cy="1274661"/>
            </a:xfrm>
          </p:grpSpPr>
          <p:pic>
            <p:nvPicPr>
              <p:cNvPr id="175" name="Image 174" descr="Une image contenant clipart, dessin humoristique, illustration&#10;&#10;Le contenu généré par l’IA peut être incorrect.">
                <a:extLst>
                  <a:ext uri="{FF2B5EF4-FFF2-40B4-BE49-F238E27FC236}">
                    <a16:creationId xmlns:a16="http://schemas.microsoft.com/office/drawing/2014/main" id="{ED6C7F95-4765-43FB-B574-0EEAA48F442A}"/>
                  </a:ext>
                </a:extLst>
              </p:cNvPr>
              <p:cNvPicPr>
                <a:picLocks noChangeAspect="1"/>
              </p:cNvPicPr>
              <p:nvPr/>
            </p:nvPicPr>
            <p:blipFill>
              <a:blip r:embed="rId6"/>
              <a:stretch>
                <a:fillRect/>
              </a:stretch>
            </p:blipFill>
            <p:spPr>
              <a:xfrm>
                <a:off x="430479" y="2468801"/>
                <a:ext cx="936000" cy="936000"/>
              </a:xfrm>
              <a:prstGeom prst="rect">
                <a:avLst/>
              </a:prstGeom>
            </p:spPr>
          </p:pic>
          <p:pic>
            <p:nvPicPr>
              <p:cNvPr id="176" name="Image 175" descr="Une image contenant capture d’écran, Graphique, Police, symbole&#10;&#10;Le contenu généré par l’IA peut être incorrect.">
                <a:extLst>
                  <a:ext uri="{FF2B5EF4-FFF2-40B4-BE49-F238E27FC236}">
                    <a16:creationId xmlns:a16="http://schemas.microsoft.com/office/drawing/2014/main" id="{EA4AC430-FCE6-4206-B037-886B0174819E}"/>
                  </a:ext>
                </a:extLst>
              </p:cNvPr>
              <p:cNvPicPr>
                <a:picLocks noChangeAspect="1"/>
              </p:cNvPicPr>
              <p:nvPr/>
            </p:nvPicPr>
            <p:blipFill>
              <a:blip r:embed="rId7"/>
              <a:srcRect b="28268"/>
              <a:stretch>
                <a:fillRect/>
              </a:stretch>
            </p:blipFill>
            <p:spPr>
              <a:xfrm>
                <a:off x="430479" y="3072056"/>
                <a:ext cx="936000" cy="671406"/>
              </a:xfrm>
              <a:prstGeom prst="rect">
                <a:avLst/>
              </a:prstGeom>
            </p:spPr>
          </p:pic>
        </p:grpSp>
        <p:grpSp>
          <p:nvGrpSpPr>
            <p:cNvPr id="171" name="Groupe 170">
              <a:extLst>
                <a:ext uri="{FF2B5EF4-FFF2-40B4-BE49-F238E27FC236}">
                  <a16:creationId xmlns:a16="http://schemas.microsoft.com/office/drawing/2014/main" id="{0BC294A5-3E09-4A75-974B-35BF3525AD85}"/>
                </a:ext>
              </a:extLst>
            </p:cNvPr>
            <p:cNvGrpSpPr/>
            <p:nvPr/>
          </p:nvGrpSpPr>
          <p:grpSpPr>
            <a:xfrm>
              <a:off x="2360931" y="2036482"/>
              <a:ext cx="632923" cy="206140"/>
              <a:chOff x="2112322" y="2328118"/>
              <a:chExt cx="1009415" cy="206140"/>
            </a:xfrm>
          </p:grpSpPr>
          <p:cxnSp>
            <p:nvCxnSpPr>
              <p:cNvPr id="173" name="Connecteur droit avec flèche 172">
                <a:extLst>
                  <a:ext uri="{FF2B5EF4-FFF2-40B4-BE49-F238E27FC236}">
                    <a16:creationId xmlns:a16="http://schemas.microsoft.com/office/drawing/2014/main" id="{5D2B826B-5D26-4D4F-9D1A-95B1B522019F}"/>
                  </a:ext>
                </a:extLst>
              </p:cNvPr>
              <p:cNvCxnSpPr>
                <a:cxnSpLocks/>
              </p:cNvCxnSpPr>
              <p:nvPr/>
            </p:nvCxnSpPr>
            <p:spPr bwMode="auto">
              <a:xfrm>
                <a:off x="2112322" y="2328118"/>
                <a:ext cx="1009415" cy="0"/>
              </a:xfrm>
              <a:prstGeom prst="straightConnector1">
                <a:avLst/>
              </a:prstGeom>
              <a:noFill/>
              <a:ln w="38100" cap="flat" cmpd="sng" algn="ctr">
                <a:solidFill>
                  <a:srgbClr val="007E85">
                    <a:lumMod val="50000"/>
                  </a:srgbClr>
                </a:solidFill>
                <a:prstDash val="solid"/>
                <a:miter lim="800000"/>
                <a:headEnd type="none" w="med" len="med"/>
                <a:tailEnd type="arrow" w="med" len="med"/>
              </a:ln>
              <a:effectLst/>
            </p:spPr>
          </p:cxnSp>
          <p:cxnSp>
            <p:nvCxnSpPr>
              <p:cNvPr id="174" name="Connecteur droit avec flèche 173">
                <a:extLst>
                  <a:ext uri="{FF2B5EF4-FFF2-40B4-BE49-F238E27FC236}">
                    <a16:creationId xmlns:a16="http://schemas.microsoft.com/office/drawing/2014/main" id="{A8CBFF6F-ABFF-4EDA-A6A0-2F9CE8D77566}"/>
                  </a:ext>
                </a:extLst>
              </p:cNvPr>
              <p:cNvCxnSpPr>
                <a:cxnSpLocks/>
              </p:cNvCxnSpPr>
              <p:nvPr/>
            </p:nvCxnSpPr>
            <p:spPr bwMode="auto">
              <a:xfrm flipH="1">
                <a:off x="2112322" y="2534258"/>
                <a:ext cx="1009415" cy="0"/>
              </a:xfrm>
              <a:prstGeom prst="straightConnector1">
                <a:avLst/>
              </a:prstGeom>
              <a:noFill/>
              <a:ln w="38100" cap="flat" cmpd="sng" algn="ctr">
                <a:solidFill>
                  <a:srgbClr val="007E85">
                    <a:lumMod val="50000"/>
                  </a:srgbClr>
                </a:solidFill>
                <a:prstDash val="solid"/>
                <a:miter lim="800000"/>
                <a:headEnd type="none" w="med" len="med"/>
                <a:tailEnd type="arrow" w="med" len="med"/>
              </a:ln>
              <a:effectLst/>
            </p:spPr>
          </p:cxnSp>
        </p:grpSp>
        <p:sp>
          <p:nvSpPr>
            <p:cNvPr id="172" name="ZoneTexte 171">
              <a:extLst>
                <a:ext uri="{FF2B5EF4-FFF2-40B4-BE49-F238E27FC236}">
                  <a16:creationId xmlns:a16="http://schemas.microsoft.com/office/drawing/2014/main" id="{9C1BE0B9-50BB-4ADC-8091-5591C9796110}"/>
                </a:ext>
              </a:extLst>
            </p:cNvPr>
            <p:cNvSpPr txBox="1"/>
            <p:nvPr/>
          </p:nvSpPr>
          <p:spPr>
            <a:xfrm>
              <a:off x="2443168" y="2332604"/>
              <a:ext cx="468447" cy="20774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a:spAutoFit/>
            </a:bodyPr>
            <a:lstStyle/>
            <a:p>
              <a:pPr algn="ctr" defTabSz="292093" hangingPunct="0">
                <a:defRPr/>
              </a:pPr>
              <a: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Réponse</a:t>
              </a:r>
            </a:p>
          </p:txBody>
        </p:sp>
      </p:grpSp>
      <p:cxnSp>
        <p:nvCxnSpPr>
          <p:cNvPr id="180" name="Connecteur droit 179">
            <a:extLst>
              <a:ext uri="{FF2B5EF4-FFF2-40B4-BE49-F238E27FC236}">
                <a16:creationId xmlns:a16="http://schemas.microsoft.com/office/drawing/2014/main" id="{9F34EA67-1DA1-4BF2-A011-A4FAC6B443FB}"/>
              </a:ext>
            </a:extLst>
          </p:cNvPr>
          <p:cNvCxnSpPr>
            <a:cxnSpLocks/>
          </p:cNvCxnSpPr>
          <p:nvPr/>
        </p:nvCxnSpPr>
        <p:spPr>
          <a:xfrm>
            <a:off x="549532" y="3721981"/>
            <a:ext cx="4514269" cy="0"/>
          </a:xfrm>
          <a:prstGeom prst="line">
            <a:avLst/>
          </a:prstGeom>
          <a:noFill/>
          <a:ln w="6350" cap="flat" cmpd="sng" algn="ctr">
            <a:solidFill>
              <a:srgbClr val="002865"/>
            </a:solidFill>
            <a:prstDash val="solid"/>
            <a:miter lim="800000"/>
          </a:ln>
          <a:effectLst/>
        </p:spPr>
      </p:cxnSp>
      <p:cxnSp>
        <p:nvCxnSpPr>
          <p:cNvPr id="181" name="Connecteur droit 180">
            <a:extLst>
              <a:ext uri="{FF2B5EF4-FFF2-40B4-BE49-F238E27FC236}">
                <a16:creationId xmlns:a16="http://schemas.microsoft.com/office/drawing/2014/main" id="{F3020F16-4DB4-41E8-86CB-164041FD47F1}"/>
              </a:ext>
            </a:extLst>
          </p:cNvPr>
          <p:cNvCxnSpPr>
            <a:cxnSpLocks/>
          </p:cNvCxnSpPr>
          <p:nvPr/>
        </p:nvCxnSpPr>
        <p:spPr>
          <a:xfrm flipV="1">
            <a:off x="6014354" y="3696756"/>
            <a:ext cx="5153724" cy="0"/>
          </a:xfrm>
          <a:prstGeom prst="line">
            <a:avLst/>
          </a:prstGeom>
          <a:noFill/>
          <a:ln w="6350" cap="flat" cmpd="sng" algn="ctr">
            <a:solidFill>
              <a:srgbClr val="002865"/>
            </a:solidFill>
            <a:prstDash val="solid"/>
            <a:miter lim="800000"/>
          </a:ln>
          <a:effectLst/>
        </p:spPr>
      </p:cxnSp>
      <p:grpSp>
        <p:nvGrpSpPr>
          <p:cNvPr id="182" name="Group 9">
            <a:extLst>
              <a:ext uri="{FF2B5EF4-FFF2-40B4-BE49-F238E27FC236}">
                <a16:creationId xmlns:a16="http://schemas.microsoft.com/office/drawing/2014/main" id="{2A00FC2F-D99E-423C-82DC-9ABE15B07CEE}"/>
              </a:ext>
            </a:extLst>
          </p:cNvPr>
          <p:cNvGrpSpPr/>
          <p:nvPr/>
        </p:nvGrpSpPr>
        <p:grpSpPr>
          <a:xfrm>
            <a:off x="6605236" y="2473668"/>
            <a:ext cx="3996874" cy="1217532"/>
            <a:chOff x="5014885" y="1801369"/>
            <a:chExt cx="2997654" cy="913149"/>
          </a:xfrm>
        </p:grpSpPr>
        <p:grpSp>
          <p:nvGrpSpPr>
            <p:cNvPr id="183" name="Group 8">
              <a:extLst>
                <a:ext uri="{FF2B5EF4-FFF2-40B4-BE49-F238E27FC236}">
                  <a16:creationId xmlns:a16="http://schemas.microsoft.com/office/drawing/2014/main" id="{26EC9702-5E70-4D84-99BB-76A55347D5F1}"/>
                </a:ext>
              </a:extLst>
            </p:cNvPr>
            <p:cNvGrpSpPr/>
            <p:nvPr/>
          </p:nvGrpSpPr>
          <p:grpSpPr>
            <a:xfrm>
              <a:off x="6051151" y="1801369"/>
              <a:ext cx="769657" cy="680835"/>
              <a:chOff x="6009876" y="1779144"/>
              <a:chExt cx="769657" cy="680835"/>
            </a:xfrm>
          </p:grpSpPr>
          <p:sp>
            <p:nvSpPr>
              <p:cNvPr id="196" name="Rectangle : coins arrondis 195">
                <a:extLst>
                  <a:ext uri="{FF2B5EF4-FFF2-40B4-BE49-F238E27FC236}">
                    <a16:creationId xmlns:a16="http://schemas.microsoft.com/office/drawing/2014/main" id="{E38EA470-CA89-4BE2-AFD4-2D9F73FD2B6E}"/>
                  </a:ext>
                </a:extLst>
              </p:cNvPr>
              <p:cNvSpPr/>
              <p:nvPr/>
            </p:nvSpPr>
            <p:spPr bwMode="auto">
              <a:xfrm>
                <a:off x="6148985" y="1792785"/>
                <a:ext cx="514638" cy="667194"/>
              </a:xfrm>
              <a:prstGeom prst="roundRect">
                <a:avLst/>
              </a:prstGeom>
              <a:solidFill>
                <a:srgbClr val="007E85">
                  <a:lumMod val="20000"/>
                  <a:lumOff val="80000"/>
                </a:srgbClr>
              </a:solidFill>
              <a:ln w="19050" cap="flat" cmpd="sng" algn="ctr">
                <a:no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377" fontAlgn="base">
                  <a:spcBef>
                    <a:spcPct val="0"/>
                  </a:spcBef>
                  <a:spcAft>
                    <a:spcPct val="0"/>
                  </a:spcAft>
                  <a:defRPr/>
                </a:pPr>
                <a:endParaRPr lang="fr-FR" sz="1200" kern="0">
                  <a:solidFill>
                    <a:srgbClr val="FFFFFF"/>
                  </a:solidFill>
                  <a:latin typeface="Segoe UI" panose="020B0502040204020203" pitchFamily="34" charset="0"/>
                  <a:cs typeface="Segoe UI" panose="020B0502040204020203" pitchFamily="34" charset="0"/>
                  <a:sym typeface="Helvetica Light"/>
                </a:endParaRPr>
              </a:p>
            </p:txBody>
          </p:sp>
          <p:pic>
            <p:nvPicPr>
              <p:cNvPr id="197" name="Image 196" descr="Une image contenant Caractère coloré, cercle, Symétrie, art&#10;&#10;Le contenu généré par l’IA peut être incorrect.">
                <a:extLst>
                  <a:ext uri="{FF2B5EF4-FFF2-40B4-BE49-F238E27FC236}">
                    <a16:creationId xmlns:a16="http://schemas.microsoft.com/office/drawing/2014/main" id="{513FF7C7-0DB9-4C98-9A55-D21C73EF87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3316" y="2032928"/>
                <a:ext cx="405976" cy="405976"/>
              </a:xfrm>
              <a:prstGeom prst="rect">
                <a:avLst/>
              </a:prstGeom>
            </p:spPr>
          </p:pic>
          <p:sp>
            <p:nvSpPr>
              <p:cNvPr id="198" name="ZoneTexte 197">
                <a:extLst>
                  <a:ext uri="{FF2B5EF4-FFF2-40B4-BE49-F238E27FC236}">
                    <a16:creationId xmlns:a16="http://schemas.microsoft.com/office/drawing/2014/main" id="{BEFD7C0E-D05B-4B9F-B35C-E583173FEDCD}"/>
                  </a:ext>
                </a:extLst>
              </p:cNvPr>
              <p:cNvSpPr txBox="1"/>
              <p:nvPr/>
            </p:nvSpPr>
            <p:spPr>
              <a:xfrm>
                <a:off x="6009876" y="1779144"/>
                <a:ext cx="769657" cy="319319"/>
              </a:xfrm>
              <a:prstGeom prst="rect">
                <a:avLst/>
              </a:prstGeom>
              <a:noFill/>
            </p:spPr>
            <p:txBody>
              <a:bodyPr wrap="square" anchor="ctr">
                <a:spAutoFit/>
              </a:bodyPr>
              <a:lstStyle/>
              <a:p>
                <a:pPr algn="ctr" defTabSz="292093" hangingPunct="0">
                  <a:lnSpc>
                    <a:spcPts val="1333"/>
                  </a:lnSpc>
                  <a:defRPr/>
                </a:pPr>
                <a:r>
                  <a:rPr lang="fr-FR" sz="1400" b="1"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meilleur </a:t>
                </a:r>
              </a:p>
              <a:p>
                <a:pPr algn="ctr" defTabSz="292093" hangingPunct="0">
                  <a:lnSpc>
                    <a:spcPts val="1333"/>
                  </a:lnSpc>
                  <a:defRPr/>
                </a:pPr>
                <a:r>
                  <a:rPr lang="fr-FR" sz="1400" b="1"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LLM</a:t>
                </a:r>
              </a:p>
            </p:txBody>
          </p:sp>
        </p:grpSp>
        <p:grpSp>
          <p:nvGrpSpPr>
            <p:cNvPr id="184" name="Groupe 183">
              <a:extLst>
                <a:ext uri="{FF2B5EF4-FFF2-40B4-BE49-F238E27FC236}">
                  <a16:creationId xmlns:a16="http://schemas.microsoft.com/office/drawing/2014/main" id="{D7E52240-182E-4C54-BC89-21B4D4154770}"/>
                </a:ext>
              </a:extLst>
            </p:cNvPr>
            <p:cNvGrpSpPr>
              <a:grpSpLocks noChangeAspect="1"/>
            </p:cNvGrpSpPr>
            <p:nvPr/>
          </p:nvGrpSpPr>
          <p:grpSpPr>
            <a:xfrm>
              <a:off x="5014885" y="1861800"/>
              <a:ext cx="447534" cy="609464"/>
              <a:chOff x="430479" y="2468801"/>
              <a:chExt cx="936000" cy="1274661"/>
            </a:xfrm>
          </p:grpSpPr>
          <p:pic>
            <p:nvPicPr>
              <p:cNvPr id="194" name="Image 193" descr="Une image contenant clipart, dessin humoristique, illustration&#10;&#10;Le contenu généré par l’IA peut être incorrect.">
                <a:extLst>
                  <a:ext uri="{FF2B5EF4-FFF2-40B4-BE49-F238E27FC236}">
                    <a16:creationId xmlns:a16="http://schemas.microsoft.com/office/drawing/2014/main" id="{2A1BAFA5-0CDF-4FF8-9853-1C2464F53410}"/>
                  </a:ext>
                </a:extLst>
              </p:cNvPr>
              <p:cNvPicPr>
                <a:picLocks noChangeAspect="1"/>
              </p:cNvPicPr>
              <p:nvPr/>
            </p:nvPicPr>
            <p:blipFill>
              <a:blip r:embed="rId6"/>
              <a:stretch>
                <a:fillRect/>
              </a:stretch>
            </p:blipFill>
            <p:spPr>
              <a:xfrm>
                <a:off x="430479" y="2468801"/>
                <a:ext cx="936000" cy="936000"/>
              </a:xfrm>
              <a:prstGeom prst="rect">
                <a:avLst/>
              </a:prstGeom>
            </p:spPr>
          </p:pic>
          <p:pic>
            <p:nvPicPr>
              <p:cNvPr id="195" name="Image 194" descr="Une image contenant capture d’écran, Graphique, Police, symbole&#10;&#10;Le contenu généré par l’IA peut être incorrect.">
                <a:extLst>
                  <a:ext uri="{FF2B5EF4-FFF2-40B4-BE49-F238E27FC236}">
                    <a16:creationId xmlns:a16="http://schemas.microsoft.com/office/drawing/2014/main" id="{0518E4C0-CEAB-4E3F-A291-B617C9F285F3}"/>
                  </a:ext>
                </a:extLst>
              </p:cNvPr>
              <p:cNvPicPr>
                <a:picLocks noChangeAspect="1"/>
              </p:cNvPicPr>
              <p:nvPr/>
            </p:nvPicPr>
            <p:blipFill>
              <a:blip r:embed="rId7"/>
              <a:srcRect b="28268"/>
              <a:stretch>
                <a:fillRect/>
              </a:stretch>
            </p:blipFill>
            <p:spPr>
              <a:xfrm>
                <a:off x="430479" y="3072056"/>
                <a:ext cx="936000" cy="671406"/>
              </a:xfrm>
              <a:prstGeom prst="rect">
                <a:avLst/>
              </a:prstGeom>
            </p:spPr>
          </p:pic>
        </p:grpSp>
        <p:pic>
          <p:nvPicPr>
            <p:cNvPr id="185" name="Image 184" descr="Une image contenant capture d’écran, cercle, Graphique, conception&#10;&#10;Le contenu généré par l’IA peut être incorrect.">
              <a:extLst>
                <a:ext uri="{FF2B5EF4-FFF2-40B4-BE49-F238E27FC236}">
                  <a16:creationId xmlns:a16="http://schemas.microsoft.com/office/drawing/2014/main" id="{297813AB-9FF1-4096-899B-04A48B83C4F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14681" y="1867604"/>
              <a:ext cx="597858" cy="597858"/>
            </a:xfrm>
            <a:prstGeom prst="rect">
              <a:avLst/>
            </a:prstGeom>
          </p:spPr>
        </p:pic>
        <p:grpSp>
          <p:nvGrpSpPr>
            <p:cNvPr id="186" name="Groupe 185">
              <a:extLst>
                <a:ext uri="{FF2B5EF4-FFF2-40B4-BE49-F238E27FC236}">
                  <a16:creationId xmlns:a16="http://schemas.microsoft.com/office/drawing/2014/main" id="{857C6899-F4B3-4558-9FC9-752BB537ECCF}"/>
                </a:ext>
              </a:extLst>
            </p:cNvPr>
            <p:cNvGrpSpPr/>
            <p:nvPr/>
          </p:nvGrpSpPr>
          <p:grpSpPr>
            <a:xfrm>
              <a:off x="5607385" y="2112763"/>
              <a:ext cx="428882" cy="164151"/>
              <a:chOff x="7469752" y="2369827"/>
              <a:chExt cx="684000" cy="164151"/>
            </a:xfrm>
          </p:grpSpPr>
          <p:cxnSp>
            <p:nvCxnSpPr>
              <p:cNvPr id="192" name="Connecteur droit avec flèche 191">
                <a:extLst>
                  <a:ext uri="{FF2B5EF4-FFF2-40B4-BE49-F238E27FC236}">
                    <a16:creationId xmlns:a16="http://schemas.microsoft.com/office/drawing/2014/main" id="{9C34D080-0293-40B1-A781-C67D990901FC}"/>
                  </a:ext>
                </a:extLst>
              </p:cNvPr>
              <p:cNvCxnSpPr>
                <a:cxnSpLocks/>
              </p:cNvCxnSpPr>
              <p:nvPr/>
            </p:nvCxnSpPr>
            <p:spPr bwMode="auto">
              <a:xfrm>
                <a:off x="7469752" y="2369827"/>
                <a:ext cx="684000" cy="0"/>
              </a:xfrm>
              <a:prstGeom prst="straightConnector1">
                <a:avLst/>
              </a:prstGeom>
              <a:noFill/>
              <a:ln w="19050" cap="flat" cmpd="sng" algn="ctr">
                <a:solidFill>
                  <a:srgbClr val="007E85">
                    <a:lumMod val="50000"/>
                  </a:srgbClr>
                </a:solidFill>
                <a:prstDash val="solid"/>
                <a:miter lim="800000"/>
                <a:headEnd type="none" w="med" len="med"/>
                <a:tailEnd type="arrow" w="med" len="med"/>
              </a:ln>
              <a:effectLst/>
            </p:spPr>
          </p:cxnSp>
          <p:cxnSp>
            <p:nvCxnSpPr>
              <p:cNvPr id="193" name="Connecteur droit avec flèche 192">
                <a:extLst>
                  <a:ext uri="{FF2B5EF4-FFF2-40B4-BE49-F238E27FC236}">
                    <a16:creationId xmlns:a16="http://schemas.microsoft.com/office/drawing/2014/main" id="{EE09C67B-FEF6-4ACE-A66E-BE63993A38ED}"/>
                  </a:ext>
                </a:extLst>
              </p:cNvPr>
              <p:cNvCxnSpPr>
                <a:cxnSpLocks/>
              </p:cNvCxnSpPr>
              <p:nvPr/>
            </p:nvCxnSpPr>
            <p:spPr bwMode="auto">
              <a:xfrm flipH="1">
                <a:off x="7469752" y="2533978"/>
                <a:ext cx="684000" cy="0"/>
              </a:xfrm>
              <a:prstGeom prst="straightConnector1">
                <a:avLst/>
              </a:prstGeom>
              <a:noFill/>
              <a:ln w="19050" cap="flat" cmpd="sng" algn="ctr">
                <a:solidFill>
                  <a:srgbClr val="007E85">
                    <a:lumMod val="50000"/>
                  </a:srgbClr>
                </a:solidFill>
                <a:prstDash val="solid"/>
                <a:miter lim="800000"/>
                <a:headEnd type="none" w="med" len="med"/>
                <a:tailEnd type="arrow" w="med" len="med"/>
              </a:ln>
              <a:effectLst/>
            </p:spPr>
          </p:cxnSp>
        </p:grpSp>
        <p:sp>
          <p:nvSpPr>
            <p:cNvPr id="187" name="ZoneTexte 186">
              <a:extLst>
                <a:ext uri="{FF2B5EF4-FFF2-40B4-BE49-F238E27FC236}">
                  <a16:creationId xmlns:a16="http://schemas.microsoft.com/office/drawing/2014/main" id="{7EF3769E-4090-4FB8-8299-6A92C5334BA5}"/>
                </a:ext>
              </a:extLst>
            </p:cNvPr>
            <p:cNvSpPr txBox="1"/>
            <p:nvPr/>
          </p:nvSpPr>
          <p:spPr>
            <a:xfrm>
              <a:off x="5583812" y="1827336"/>
              <a:ext cx="467339" cy="20774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91440" tIns="45720" rIns="91440" bIns="45720" anchor="t">
              <a:spAutoFit/>
            </a:bodyPr>
            <a:lstStyle/>
            <a:p>
              <a:pPr algn="ctr" defTabSz="292093" hangingPunct="0">
                <a:defRPr/>
              </a:pPr>
              <a: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Intention</a:t>
              </a:r>
            </a:p>
          </p:txBody>
        </p:sp>
        <p:sp>
          <p:nvSpPr>
            <p:cNvPr id="188" name="ZoneTexte 187">
              <a:extLst>
                <a:ext uri="{FF2B5EF4-FFF2-40B4-BE49-F238E27FC236}">
                  <a16:creationId xmlns:a16="http://schemas.microsoft.com/office/drawing/2014/main" id="{F0E6F5F6-90C9-4782-8D6A-E7512D6608E3}"/>
                </a:ext>
              </a:extLst>
            </p:cNvPr>
            <p:cNvSpPr txBox="1"/>
            <p:nvPr/>
          </p:nvSpPr>
          <p:spPr>
            <a:xfrm>
              <a:off x="5501147" y="2368269"/>
              <a:ext cx="632673" cy="34624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a:spAutoFit/>
            </a:bodyPr>
            <a:lstStyle/>
            <a:p>
              <a:pPr algn="ctr" defTabSz="292093" hangingPunct="0">
                <a:defRPr/>
              </a:pPr>
              <a: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Synthèse/</a:t>
              </a:r>
              <a:b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br>
              <a: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confirmation</a:t>
              </a:r>
            </a:p>
          </p:txBody>
        </p:sp>
        <p:sp>
          <p:nvSpPr>
            <p:cNvPr id="189" name="ZoneTexte 188">
              <a:extLst>
                <a:ext uri="{FF2B5EF4-FFF2-40B4-BE49-F238E27FC236}">
                  <a16:creationId xmlns:a16="http://schemas.microsoft.com/office/drawing/2014/main" id="{09C6DC24-1819-4637-9F95-FBA82D1156CB}"/>
                </a:ext>
              </a:extLst>
            </p:cNvPr>
            <p:cNvSpPr txBox="1"/>
            <p:nvPr/>
          </p:nvSpPr>
          <p:spPr>
            <a:xfrm>
              <a:off x="6773504" y="1827336"/>
              <a:ext cx="572464" cy="20774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a:spAutoFit/>
            </a:bodyPr>
            <a:lstStyle/>
            <a:p>
              <a:pPr algn="ctr" defTabSz="292093" hangingPunct="0">
                <a:defRPr/>
              </a:pPr>
              <a: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Instructions </a:t>
              </a:r>
            </a:p>
          </p:txBody>
        </p:sp>
        <p:sp>
          <p:nvSpPr>
            <p:cNvPr id="190" name="ZoneTexte 189">
              <a:extLst>
                <a:ext uri="{FF2B5EF4-FFF2-40B4-BE49-F238E27FC236}">
                  <a16:creationId xmlns:a16="http://schemas.microsoft.com/office/drawing/2014/main" id="{2EB7B9DD-81BA-4DA3-858E-AE2BEDE609BD}"/>
                </a:ext>
              </a:extLst>
            </p:cNvPr>
            <p:cNvSpPr txBox="1"/>
            <p:nvPr/>
          </p:nvSpPr>
          <p:spPr>
            <a:xfrm>
              <a:off x="6866008" y="2368268"/>
              <a:ext cx="387461" cy="207749"/>
            </a:xfrm>
            <a:prstGeom prst="rect">
              <a:avLst/>
            </a:prstGeom>
            <a:no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a:spAutoFit/>
            </a:bodyPr>
            <a:lstStyle/>
            <a:p>
              <a:pPr algn="ctr" defTabSz="292093" hangingPunct="0">
                <a:defRPr/>
              </a:pPr>
              <a:r>
                <a:rPr lang="fr-FR" sz="1200" kern="100" spc="-151" noProof="1">
                  <a:solidFill>
                    <a:srgbClr val="000000"/>
                  </a:solidFill>
                  <a:latin typeface="Segoe UI" panose="020B0502040204020203" pitchFamily="34" charset="0"/>
                  <a:ea typeface="Aptos" panose="020B0004020202020204" pitchFamily="34" charset="0"/>
                  <a:cs typeface="Segoe UI" panose="020B0502040204020203" pitchFamily="34" charset="0"/>
                  <a:sym typeface="Helvetica Light"/>
                </a:rPr>
                <a:t>Retour</a:t>
              </a:r>
            </a:p>
          </p:txBody>
        </p:sp>
        <p:pic>
          <p:nvPicPr>
            <p:cNvPr id="191" name="Picture 6">
              <a:extLst>
                <a:ext uri="{FF2B5EF4-FFF2-40B4-BE49-F238E27FC236}">
                  <a16:creationId xmlns:a16="http://schemas.microsoft.com/office/drawing/2014/main" id="{33E135D3-3CB5-4194-8064-E28E47CD007A}"/>
                </a:ext>
              </a:extLst>
            </p:cNvPr>
            <p:cNvPicPr>
              <a:picLocks noChangeAspect="1"/>
            </p:cNvPicPr>
            <p:nvPr/>
          </p:nvPicPr>
          <p:blipFill>
            <a:blip r:embed="rId9">
              <a:grayscl/>
            </a:blip>
            <a:stretch>
              <a:fillRect/>
            </a:stretch>
          </p:blipFill>
          <p:spPr>
            <a:xfrm>
              <a:off x="6889521" y="2027719"/>
              <a:ext cx="334239" cy="334239"/>
            </a:xfrm>
            <a:prstGeom prst="rect">
              <a:avLst/>
            </a:prstGeom>
          </p:spPr>
        </p:pic>
      </p:grpSp>
    </p:spTree>
    <p:extLst>
      <p:ext uri="{BB962C8B-B14F-4D97-AF65-F5344CB8AC3E}">
        <p14:creationId xmlns:p14="http://schemas.microsoft.com/office/powerpoint/2010/main" val="108816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a:bodyPr>
          <a:lstStyle/>
          <a:p>
            <a:r>
              <a:rPr lang="fr-FR" sz="4000" dirty="0">
                <a:solidFill>
                  <a:srgbClr val="ED7D31"/>
                </a:solidFill>
                <a:latin typeface="Segoe UI" panose="020B0502040204020203" pitchFamily="34" charset="0"/>
                <a:cs typeface="Segoe UI" panose="020B0502040204020203" pitchFamily="34" charset="0"/>
              </a:rPr>
              <a:t>Evolution de l’IA</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txBody>
          <a:bodyPr/>
          <a:lstStyle/>
          <a:p>
            <a:endParaRPr lang="fr-FR">
              <a:latin typeface="Segoe UI" panose="020B0502040204020203" pitchFamily="34" charset="0"/>
              <a:cs typeface="Segoe UI" panose="020B0502040204020203" pitchFamily="34" charset="0"/>
            </a:endParaRPr>
          </a:p>
        </p:txBody>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Qu’est ce qu’un agent IA ?</a:t>
            </a:r>
            <a:endParaRPr lang="fr-FR" sz="2100" dirty="0">
              <a:solidFill>
                <a:srgbClr val="835CF5"/>
              </a:solidFill>
              <a:latin typeface="Segoe UI" panose="020B0502040204020203" pitchFamily="34" charset="0"/>
              <a:cs typeface="Segoe UI" panose="020B0502040204020203" pitchFamily="34" charset="0"/>
            </a:endParaRPr>
          </a:p>
        </p:txBody>
      </p:sp>
      <p:grpSp>
        <p:nvGrpSpPr>
          <p:cNvPr id="143" name="Groupe 142">
            <a:extLst>
              <a:ext uri="{FF2B5EF4-FFF2-40B4-BE49-F238E27FC236}">
                <a16:creationId xmlns:a16="http://schemas.microsoft.com/office/drawing/2014/main" id="{3F42BDD9-54EE-4F16-8507-B409F651DA57}"/>
              </a:ext>
            </a:extLst>
          </p:cNvPr>
          <p:cNvGrpSpPr>
            <a:grpSpLocks noChangeAspect="1"/>
          </p:cNvGrpSpPr>
          <p:nvPr/>
        </p:nvGrpSpPr>
        <p:grpSpPr>
          <a:xfrm>
            <a:off x="8671707" y="596547"/>
            <a:ext cx="820768" cy="969699"/>
            <a:chOff x="8612155" y="2942265"/>
            <a:chExt cx="1446246" cy="1708677"/>
          </a:xfrm>
        </p:grpSpPr>
        <p:sp>
          <p:nvSpPr>
            <p:cNvPr id="145" name="Rectangle : coins arrondis 144">
              <a:extLst>
                <a:ext uri="{FF2B5EF4-FFF2-40B4-BE49-F238E27FC236}">
                  <a16:creationId xmlns:a16="http://schemas.microsoft.com/office/drawing/2014/main" id="{EF6D3AD9-EF7E-4AAF-86F3-FC350C0E9E0D}"/>
                </a:ext>
              </a:extLst>
            </p:cNvPr>
            <p:cNvSpPr/>
            <p:nvPr/>
          </p:nvSpPr>
          <p:spPr bwMode="auto">
            <a:xfrm>
              <a:off x="8612155" y="3001645"/>
              <a:ext cx="1446246" cy="1649297"/>
            </a:xfrm>
            <a:prstGeom prst="roundRect">
              <a:avLst/>
            </a:prstGeom>
            <a:solidFill>
              <a:schemeClr val="accent3">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algn="ctr" fontAlgn="base">
                <a:spcBef>
                  <a:spcPct val="0"/>
                </a:spcBef>
                <a:spcAft>
                  <a:spcPct val="0"/>
                </a:spcAft>
                <a:defRPr/>
              </a:pPr>
              <a:endParaRPr lang="fr-FR" sz="1200" dirty="0">
                <a:solidFill>
                  <a:srgbClr val="FFFFFF"/>
                </a:solidFill>
                <a:latin typeface="Segoe UI" panose="020B0502040204020203" pitchFamily="34" charset="0"/>
                <a:cs typeface="Segoe UI" panose="020B0502040204020203" pitchFamily="34" charset="0"/>
              </a:endParaRPr>
            </a:p>
          </p:txBody>
        </p:sp>
        <p:pic>
          <p:nvPicPr>
            <p:cNvPr id="146" name="Image 145" descr="Une image contenant Caractère coloré, cercle, Symétrie, art&#10;&#10;Le contenu généré par l’IA peut être incorrect.">
              <a:extLst>
                <a:ext uri="{FF2B5EF4-FFF2-40B4-BE49-F238E27FC236}">
                  <a16:creationId xmlns:a16="http://schemas.microsoft.com/office/drawing/2014/main" id="{2618C016-DD6B-4E66-ADA9-25D0EB8AE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6233" y="3349218"/>
              <a:ext cx="1219200" cy="1219200"/>
            </a:xfrm>
            <a:prstGeom prst="rect">
              <a:avLst/>
            </a:prstGeom>
          </p:spPr>
        </p:pic>
        <p:sp>
          <p:nvSpPr>
            <p:cNvPr id="147" name="ZoneTexte 146">
              <a:extLst>
                <a:ext uri="{FF2B5EF4-FFF2-40B4-BE49-F238E27FC236}">
                  <a16:creationId xmlns:a16="http://schemas.microsoft.com/office/drawing/2014/main" id="{23A4B16C-D5FB-4688-9064-F4079482A848}"/>
                </a:ext>
              </a:extLst>
            </p:cNvPr>
            <p:cNvSpPr txBox="1"/>
            <p:nvPr/>
          </p:nvSpPr>
          <p:spPr>
            <a:xfrm>
              <a:off x="8864465" y="2942265"/>
              <a:ext cx="760380" cy="488092"/>
            </a:xfrm>
            <a:prstGeom prst="rect">
              <a:avLst/>
            </a:prstGeom>
            <a:noFill/>
          </p:spPr>
          <p:txBody>
            <a:bodyPr wrap="none" anchor="ctr">
              <a:spAutoFit/>
            </a:bodyPr>
            <a:lstStyle/>
            <a:p>
              <a:pPr algn="ctr">
                <a:defRPr/>
              </a:pPr>
              <a:r>
                <a:rPr lang="fr-FR" sz="1200" b="1"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LLM</a:t>
              </a:r>
            </a:p>
          </p:txBody>
        </p:sp>
      </p:grpSp>
      <p:sp>
        <p:nvSpPr>
          <p:cNvPr id="144" name="ZoneTexte 143">
            <a:extLst>
              <a:ext uri="{FF2B5EF4-FFF2-40B4-BE49-F238E27FC236}">
                <a16:creationId xmlns:a16="http://schemas.microsoft.com/office/drawing/2014/main" id="{F7721119-F450-42EE-9B68-4BE2453038FF}"/>
              </a:ext>
            </a:extLst>
          </p:cNvPr>
          <p:cNvSpPr txBox="1"/>
          <p:nvPr/>
        </p:nvSpPr>
        <p:spPr>
          <a:xfrm>
            <a:off x="9733895" y="836637"/>
            <a:ext cx="2054501" cy="46166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spcAft>
                <a:spcPts val="800"/>
              </a:spcAft>
              <a:defRPr/>
            </a:pPr>
            <a:r>
              <a:rPr lang="fr-FR" sz="1200" i="1" kern="100" dirty="0">
                <a:solidFill>
                  <a:srgbClr val="000000"/>
                </a:solidFill>
                <a:latin typeface="Segoe UI" panose="020B0502040204020203" pitchFamily="34" charset="0"/>
                <a:ea typeface="Aptos" panose="020B0004020202020204" pitchFamily="34" charset="0"/>
                <a:cs typeface="Segoe UI" panose="020B0502040204020203" pitchFamily="34" charset="0"/>
              </a:rPr>
              <a:t>Comprend les instructions, raisonne, planifie	</a:t>
            </a:r>
          </a:p>
        </p:txBody>
      </p:sp>
      <p:cxnSp>
        <p:nvCxnSpPr>
          <p:cNvPr id="142" name="Connecteur en arc 45">
            <a:extLst>
              <a:ext uri="{FF2B5EF4-FFF2-40B4-BE49-F238E27FC236}">
                <a16:creationId xmlns:a16="http://schemas.microsoft.com/office/drawing/2014/main" id="{9369FB6C-25BA-465C-942C-02B54F1FA7C5}"/>
              </a:ext>
            </a:extLst>
          </p:cNvPr>
          <p:cNvCxnSpPr>
            <a:cxnSpLocks/>
          </p:cNvCxnSpPr>
          <p:nvPr/>
        </p:nvCxnSpPr>
        <p:spPr bwMode="auto">
          <a:xfrm rot="5400000" flipH="1" flipV="1">
            <a:off x="6928765" y="1152247"/>
            <a:ext cx="1656000" cy="1548000"/>
          </a:xfrm>
          <a:prstGeom prst="curvedConnector2">
            <a:avLst/>
          </a:prstGeom>
          <a:ln w="12700">
            <a:solidFill>
              <a:schemeClr val="tx1"/>
            </a:solidFill>
            <a:headEnd type="none" w="med" len="med"/>
            <a:tailEnd type="arrow" w="med" len="med"/>
          </a:ln>
          <a:effectLst/>
        </p:spPr>
        <p:style>
          <a:lnRef idx="1">
            <a:schemeClr val="dk1"/>
          </a:lnRef>
          <a:fillRef idx="0">
            <a:schemeClr val="dk1"/>
          </a:fillRef>
          <a:effectRef idx="0">
            <a:schemeClr val="dk1"/>
          </a:effectRef>
          <a:fontRef idx="minor">
            <a:schemeClr val="tx1"/>
          </a:fontRef>
        </p:style>
      </p:cxnSp>
      <p:grpSp>
        <p:nvGrpSpPr>
          <p:cNvPr id="149" name="Groupe 148">
            <a:extLst>
              <a:ext uri="{FF2B5EF4-FFF2-40B4-BE49-F238E27FC236}">
                <a16:creationId xmlns:a16="http://schemas.microsoft.com/office/drawing/2014/main" id="{AD8EEB1C-893F-4EEB-AC05-D5849B8DC4D4}"/>
              </a:ext>
            </a:extLst>
          </p:cNvPr>
          <p:cNvGrpSpPr/>
          <p:nvPr/>
        </p:nvGrpSpPr>
        <p:grpSpPr>
          <a:xfrm>
            <a:off x="8667332" y="1901904"/>
            <a:ext cx="829522" cy="927371"/>
            <a:chOff x="7697354" y="2402654"/>
            <a:chExt cx="829522" cy="927371"/>
          </a:xfrm>
        </p:grpSpPr>
        <p:pic>
          <p:nvPicPr>
            <p:cNvPr id="153" name="Image 152" descr="Une image contenant capture d’écran, logo, symbole, Graphique&#10;&#10;Le contenu généré par l’IA peut être incorrect.">
              <a:extLst>
                <a:ext uri="{FF2B5EF4-FFF2-40B4-BE49-F238E27FC236}">
                  <a16:creationId xmlns:a16="http://schemas.microsoft.com/office/drawing/2014/main" id="{537FFDE1-C535-4B43-AC2F-B62B925A21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88114" y="2682025"/>
              <a:ext cx="648000" cy="648000"/>
            </a:xfrm>
            <a:prstGeom prst="rect">
              <a:avLst/>
            </a:prstGeom>
          </p:spPr>
        </p:pic>
        <p:sp>
          <p:nvSpPr>
            <p:cNvPr id="154" name="ZoneTexte 153">
              <a:extLst>
                <a:ext uri="{FF2B5EF4-FFF2-40B4-BE49-F238E27FC236}">
                  <a16:creationId xmlns:a16="http://schemas.microsoft.com/office/drawing/2014/main" id="{453E86E5-DCED-4E5F-B842-AF8AE98CD3CE}"/>
                </a:ext>
              </a:extLst>
            </p:cNvPr>
            <p:cNvSpPr txBox="1"/>
            <p:nvPr/>
          </p:nvSpPr>
          <p:spPr>
            <a:xfrm>
              <a:off x="7697354" y="2402654"/>
              <a:ext cx="829522" cy="276999"/>
            </a:xfrm>
            <a:prstGeom prst="rect">
              <a:avLst/>
            </a:prstGeom>
            <a:noFill/>
          </p:spPr>
          <p:txBody>
            <a:bodyPr wrap="none" anchor="ctr">
              <a:spAutoFit/>
            </a:bodyPr>
            <a:lstStyle/>
            <a:p>
              <a:pPr algn="ctr">
                <a:defRPr/>
              </a:pPr>
              <a:r>
                <a:rPr lang="fr-FR" sz="1200" b="1"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Instructions </a:t>
              </a:r>
            </a:p>
          </p:txBody>
        </p:sp>
      </p:grpSp>
      <p:grpSp>
        <p:nvGrpSpPr>
          <p:cNvPr id="150" name="Groupe 149">
            <a:extLst>
              <a:ext uri="{FF2B5EF4-FFF2-40B4-BE49-F238E27FC236}">
                <a16:creationId xmlns:a16="http://schemas.microsoft.com/office/drawing/2014/main" id="{E090264F-999D-4E96-A015-ADC0452ACE2D}"/>
              </a:ext>
            </a:extLst>
          </p:cNvPr>
          <p:cNvGrpSpPr/>
          <p:nvPr/>
        </p:nvGrpSpPr>
        <p:grpSpPr>
          <a:xfrm>
            <a:off x="7397173" y="2080895"/>
            <a:ext cx="4391223" cy="848663"/>
            <a:chOff x="6324558" y="2746976"/>
            <a:chExt cx="4391223" cy="848663"/>
          </a:xfrm>
        </p:grpSpPr>
        <p:sp>
          <p:nvSpPr>
            <p:cNvPr id="151" name="ZoneTexte 150">
              <a:extLst>
                <a:ext uri="{FF2B5EF4-FFF2-40B4-BE49-F238E27FC236}">
                  <a16:creationId xmlns:a16="http://schemas.microsoft.com/office/drawing/2014/main" id="{BEDA7245-8AFC-44C5-B6E9-FD91F4335B98}"/>
                </a:ext>
              </a:extLst>
            </p:cNvPr>
            <p:cNvSpPr txBox="1"/>
            <p:nvPr/>
          </p:nvSpPr>
          <p:spPr>
            <a:xfrm>
              <a:off x="8661281" y="2746976"/>
              <a:ext cx="2054500"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spcAft>
                  <a:spcPts val="800"/>
                </a:spcAft>
                <a:defRPr/>
              </a:pPr>
              <a:r>
                <a:rPr lang="fr-FR" sz="1200" i="1" kern="100" dirty="0">
                  <a:solidFill>
                    <a:srgbClr val="000000"/>
                  </a:solidFill>
                  <a:latin typeface="Segoe UI" panose="020B0502040204020203" pitchFamily="34" charset="0"/>
                  <a:ea typeface="Aptos" panose="020B0004020202020204" pitchFamily="34" charset="0"/>
                  <a:cs typeface="Segoe UI" panose="020B0502040204020203" pitchFamily="34" charset="0"/>
                </a:rPr>
                <a:t>Le LLM est incarné dans un rôle précis = rôle + style + règles</a:t>
              </a:r>
            </a:p>
          </p:txBody>
        </p:sp>
        <p:cxnSp>
          <p:nvCxnSpPr>
            <p:cNvPr id="152" name="Connecteur en arc 47">
              <a:extLst>
                <a:ext uri="{FF2B5EF4-FFF2-40B4-BE49-F238E27FC236}">
                  <a16:creationId xmlns:a16="http://schemas.microsoft.com/office/drawing/2014/main" id="{3D3DC44E-6146-4E47-87B3-ED382D592685}"/>
                </a:ext>
              </a:extLst>
            </p:cNvPr>
            <p:cNvCxnSpPr>
              <a:cxnSpLocks/>
            </p:cNvCxnSpPr>
            <p:nvPr/>
          </p:nvCxnSpPr>
          <p:spPr bwMode="auto">
            <a:xfrm rot="5400000" flipH="1" flipV="1">
              <a:off x="6720558" y="2695639"/>
              <a:ext cx="504000" cy="1296000"/>
            </a:xfrm>
            <a:prstGeom prst="curvedConnector2">
              <a:avLst/>
            </a:prstGeom>
            <a:ln w="12700">
              <a:solidFill>
                <a:schemeClr val="tx1"/>
              </a:solidFill>
              <a:headEnd type="none" w="med" len="med"/>
              <a:tailEnd type="arrow" w="med" len="med"/>
            </a:ln>
            <a:effectLst/>
          </p:spPr>
          <p:style>
            <a:lnRef idx="1">
              <a:schemeClr val="dk1"/>
            </a:lnRef>
            <a:fillRef idx="0">
              <a:schemeClr val="dk1"/>
            </a:fillRef>
            <a:effectRef idx="0">
              <a:schemeClr val="dk1"/>
            </a:effectRef>
            <a:fontRef idx="minor">
              <a:schemeClr val="tx1"/>
            </a:fontRef>
          </p:style>
        </p:cxnSp>
      </p:grpSp>
      <p:grpSp>
        <p:nvGrpSpPr>
          <p:cNvPr id="156" name="Groupe 155">
            <a:extLst>
              <a:ext uri="{FF2B5EF4-FFF2-40B4-BE49-F238E27FC236}">
                <a16:creationId xmlns:a16="http://schemas.microsoft.com/office/drawing/2014/main" id="{762FB83E-95CC-4F87-8795-DDC6B0309CA5}"/>
              </a:ext>
            </a:extLst>
          </p:cNvPr>
          <p:cNvGrpSpPr/>
          <p:nvPr/>
        </p:nvGrpSpPr>
        <p:grpSpPr>
          <a:xfrm>
            <a:off x="8758091" y="4427962"/>
            <a:ext cx="3256108" cy="927369"/>
            <a:chOff x="7788114" y="4842113"/>
            <a:chExt cx="3256108" cy="927369"/>
          </a:xfrm>
        </p:grpSpPr>
        <p:sp>
          <p:nvSpPr>
            <p:cNvPr id="199" name="ZoneTexte 198">
              <a:extLst>
                <a:ext uri="{FF2B5EF4-FFF2-40B4-BE49-F238E27FC236}">
                  <a16:creationId xmlns:a16="http://schemas.microsoft.com/office/drawing/2014/main" id="{00098FF2-705F-4AC1-A35B-171D8694F474}"/>
                </a:ext>
              </a:extLst>
            </p:cNvPr>
            <p:cNvSpPr txBox="1"/>
            <p:nvPr/>
          </p:nvSpPr>
          <p:spPr>
            <a:xfrm>
              <a:off x="8763918" y="4913381"/>
              <a:ext cx="2280304" cy="83099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spcAft>
                  <a:spcPts val="800"/>
                </a:spcAft>
                <a:defRPr/>
              </a:pPr>
              <a:r>
                <a:rPr lang="fr-FR" sz="1200" i="1" kern="100" dirty="0">
                  <a:solidFill>
                    <a:srgbClr val="000000"/>
                  </a:solidFill>
                  <a:latin typeface="Segoe UI" panose="020B0502040204020203" pitchFamily="34" charset="0"/>
                  <a:ea typeface="Aptos" panose="020B0004020202020204" pitchFamily="34" charset="0"/>
                  <a:cs typeface="Segoe UI" panose="020B0502040204020203" pitchFamily="34" charset="0"/>
                </a:rPr>
                <a:t>Capacité d’action concrète dont un agent peut se servir pour interagir avec le monde réel ou un système</a:t>
              </a:r>
            </a:p>
          </p:txBody>
        </p:sp>
        <p:grpSp>
          <p:nvGrpSpPr>
            <p:cNvPr id="200" name="Groupe 199">
              <a:extLst>
                <a:ext uri="{FF2B5EF4-FFF2-40B4-BE49-F238E27FC236}">
                  <a16:creationId xmlns:a16="http://schemas.microsoft.com/office/drawing/2014/main" id="{64F6565B-B360-45E1-B995-5F2D1831E04C}"/>
                </a:ext>
              </a:extLst>
            </p:cNvPr>
            <p:cNvGrpSpPr/>
            <p:nvPr/>
          </p:nvGrpSpPr>
          <p:grpSpPr>
            <a:xfrm>
              <a:off x="7788114" y="4842113"/>
              <a:ext cx="648000" cy="927369"/>
              <a:chOff x="7788114" y="4560738"/>
              <a:chExt cx="648000" cy="927369"/>
            </a:xfrm>
          </p:grpSpPr>
          <p:pic>
            <p:nvPicPr>
              <p:cNvPr id="201" name="Image 200" descr="Une image contenant clipart, conception, illustration, créativité&#10;&#10;Le contenu généré par l’IA peut être incorrect.">
                <a:extLst>
                  <a:ext uri="{FF2B5EF4-FFF2-40B4-BE49-F238E27FC236}">
                    <a16:creationId xmlns:a16="http://schemas.microsoft.com/office/drawing/2014/main" id="{4AA501C5-6376-492B-9C90-35ACE134CD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88114" y="4840107"/>
                <a:ext cx="648000" cy="648000"/>
              </a:xfrm>
              <a:prstGeom prst="rect">
                <a:avLst/>
              </a:prstGeom>
            </p:spPr>
          </p:pic>
          <p:sp>
            <p:nvSpPr>
              <p:cNvPr id="202" name="ZoneTexte 201">
                <a:extLst>
                  <a:ext uri="{FF2B5EF4-FFF2-40B4-BE49-F238E27FC236}">
                    <a16:creationId xmlns:a16="http://schemas.microsoft.com/office/drawing/2014/main" id="{41F850B1-BD46-4E14-A1E1-5233C4D6B745}"/>
                  </a:ext>
                </a:extLst>
              </p:cNvPr>
              <p:cNvSpPr txBox="1"/>
              <p:nvPr/>
            </p:nvSpPr>
            <p:spPr>
              <a:xfrm>
                <a:off x="7865895" y="4560738"/>
                <a:ext cx="492443" cy="276999"/>
              </a:xfrm>
              <a:prstGeom prst="rect">
                <a:avLst/>
              </a:prstGeom>
              <a:noFill/>
            </p:spPr>
            <p:txBody>
              <a:bodyPr wrap="none" anchor="ctr">
                <a:spAutoFit/>
              </a:bodyPr>
              <a:lstStyle/>
              <a:p>
                <a:pPr algn="ctr">
                  <a:defRPr/>
                </a:pPr>
                <a:r>
                  <a:rPr lang="fr-FR" sz="1200" b="1"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Outils</a:t>
                </a:r>
              </a:p>
            </p:txBody>
          </p:sp>
        </p:grpSp>
      </p:grpSp>
      <p:cxnSp>
        <p:nvCxnSpPr>
          <p:cNvPr id="157" name="Connecteur en arc 50">
            <a:extLst>
              <a:ext uri="{FF2B5EF4-FFF2-40B4-BE49-F238E27FC236}">
                <a16:creationId xmlns:a16="http://schemas.microsoft.com/office/drawing/2014/main" id="{07B10F71-1594-423D-B155-DE18BEA71C63}"/>
              </a:ext>
            </a:extLst>
          </p:cNvPr>
          <p:cNvCxnSpPr>
            <a:cxnSpLocks/>
          </p:cNvCxnSpPr>
          <p:nvPr/>
        </p:nvCxnSpPr>
        <p:spPr bwMode="auto">
          <a:xfrm rot="16200000" flipH="1">
            <a:off x="6928765" y="3641447"/>
            <a:ext cx="1656000" cy="1548000"/>
          </a:xfrm>
          <a:prstGeom prst="curvedConnector2">
            <a:avLst/>
          </a:prstGeom>
          <a:ln w="12700">
            <a:solidFill>
              <a:schemeClr val="tx1"/>
            </a:solidFill>
            <a:headEnd type="none" w="med" len="med"/>
            <a:tailEnd type="arrow" w="med" len="med"/>
          </a:ln>
          <a:effectLst/>
        </p:spPr>
        <p:style>
          <a:lnRef idx="1">
            <a:schemeClr val="dk1"/>
          </a:lnRef>
          <a:fillRef idx="0">
            <a:schemeClr val="dk1"/>
          </a:fillRef>
          <a:effectRef idx="0">
            <a:schemeClr val="dk1"/>
          </a:effectRef>
          <a:fontRef idx="minor">
            <a:schemeClr val="tx1"/>
          </a:fontRef>
        </p:style>
      </p:cxnSp>
      <p:grpSp>
        <p:nvGrpSpPr>
          <p:cNvPr id="204" name="Groupe 203">
            <a:extLst>
              <a:ext uri="{FF2B5EF4-FFF2-40B4-BE49-F238E27FC236}">
                <a16:creationId xmlns:a16="http://schemas.microsoft.com/office/drawing/2014/main" id="{ECC81ABB-FF90-4ACF-BB9F-9071BA7BA926}"/>
              </a:ext>
            </a:extLst>
          </p:cNvPr>
          <p:cNvGrpSpPr/>
          <p:nvPr/>
        </p:nvGrpSpPr>
        <p:grpSpPr>
          <a:xfrm>
            <a:off x="8671407" y="3167302"/>
            <a:ext cx="3342793" cy="925003"/>
            <a:chOff x="7701429" y="3508571"/>
            <a:chExt cx="3342793" cy="925003"/>
          </a:xfrm>
        </p:grpSpPr>
        <p:sp>
          <p:nvSpPr>
            <p:cNvPr id="206" name="ZoneTexte 205">
              <a:extLst>
                <a:ext uri="{FF2B5EF4-FFF2-40B4-BE49-F238E27FC236}">
                  <a16:creationId xmlns:a16="http://schemas.microsoft.com/office/drawing/2014/main" id="{D4F53A9E-3C99-45E9-9105-1111AAA930FE}"/>
                </a:ext>
              </a:extLst>
            </p:cNvPr>
            <p:cNvSpPr txBox="1"/>
            <p:nvPr/>
          </p:nvSpPr>
          <p:spPr>
            <a:xfrm>
              <a:off x="8763918" y="3685194"/>
              <a:ext cx="2280304"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spcAft>
                  <a:spcPts val="800"/>
                </a:spcAft>
                <a:defRPr/>
              </a:pPr>
              <a:r>
                <a:rPr lang="fr-FR" sz="1200" i="1" kern="100" dirty="0">
                  <a:solidFill>
                    <a:srgbClr val="000000"/>
                  </a:solidFill>
                  <a:latin typeface="Segoe UI" panose="020B0502040204020203" pitchFamily="34" charset="0"/>
                  <a:ea typeface="Aptos" panose="020B0004020202020204" pitchFamily="34" charset="0"/>
                  <a:cs typeface="Segoe UI" panose="020B0502040204020203" pitchFamily="34" charset="0"/>
                </a:rPr>
                <a:t>Conserve le contexte, les résultats, ou les apprentissages	</a:t>
              </a:r>
            </a:p>
          </p:txBody>
        </p:sp>
        <p:grpSp>
          <p:nvGrpSpPr>
            <p:cNvPr id="207" name="Groupe 206">
              <a:extLst>
                <a:ext uri="{FF2B5EF4-FFF2-40B4-BE49-F238E27FC236}">
                  <a16:creationId xmlns:a16="http://schemas.microsoft.com/office/drawing/2014/main" id="{223E81BC-9E97-4719-9584-147790DA0185}"/>
                </a:ext>
              </a:extLst>
            </p:cNvPr>
            <p:cNvGrpSpPr/>
            <p:nvPr/>
          </p:nvGrpSpPr>
          <p:grpSpPr>
            <a:xfrm>
              <a:off x="7701429" y="3508571"/>
              <a:ext cx="821368" cy="925003"/>
              <a:chOff x="7701429" y="3484064"/>
              <a:chExt cx="821368" cy="925003"/>
            </a:xfrm>
          </p:grpSpPr>
          <p:pic>
            <p:nvPicPr>
              <p:cNvPr id="208" name="Image 207" descr="Une image contenant capture d’écran, cercle, conception&#10;&#10;Le contenu généré par l’IA peut être incorrect.">
                <a:extLst>
                  <a:ext uri="{FF2B5EF4-FFF2-40B4-BE49-F238E27FC236}">
                    <a16:creationId xmlns:a16="http://schemas.microsoft.com/office/drawing/2014/main" id="{D44895D9-AB2D-40AF-B199-4DF27E801FCF}"/>
                  </a:ext>
                </a:extLst>
              </p:cNvPr>
              <p:cNvPicPr>
                <a:picLocks noChangeAspect="1"/>
              </p:cNvPicPr>
              <p:nvPr/>
            </p:nvPicPr>
            <p:blipFill>
              <a:blip r:embed="rId6"/>
              <a:stretch>
                <a:fillRect/>
              </a:stretch>
            </p:blipFill>
            <p:spPr>
              <a:xfrm>
                <a:off x="7788114" y="3761067"/>
                <a:ext cx="648000" cy="648000"/>
              </a:xfrm>
              <a:prstGeom prst="rect">
                <a:avLst/>
              </a:prstGeom>
            </p:spPr>
          </p:pic>
          <p:sp>
            <p:nvSpPr>
              <p:cNvPr id="209" name="ZoneTexte 208">
                <a:extLst>
                  <a:ext uri="{FF2B5EF4-FFF2-40B4-BE49-F238E27FC236}">
                    <a16:creationId xmlns:a16="http://schemas.microsoft.com/office/drawing/2014/main" id="{34805E91-67C3-4632-BDDD-EE8BFE10EA2A}"/>
                  </a:ext>
                </a:extLst>
              </p:cNvPr>
              <p:cNvSpPr txBox="1"/>
              <p:nvPr/>
            </p:nvSpPr>
            <p:spPr>
              <a:xfrm>
                <a:off x="7701429" y="3484064"/>
                <a:ext cx="821368" cy="276999"/>
              </a:xfrm>
              <a:prstGeom prst="rect">
                <a:avLst/>
              </a:prstGeom>
              <a:noFill/>
            </p:spPr>
            <p:txBody>
              <a:bodyPr wrap="square" anchor="ctr">
                <a:spAutoFit/>
              </a:bodyPr>
              <a:lstStyle/>
              <a:p>
                <a:pPr algn="ctr">
                  <a:defRPr/>
                </a:pPr>
                <a:r>
                  <a:rPr lang="fr-FR" sz="1200" b="1"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Mémoire</a:t>
                </a:r>
              </a:p>
            </p:txBody>
          </p:sp>
        </p:grpSp>
      </p:grpSp>
      <p:cxnSp>
        <p:nvCxnSpPr>
          <p:cNvPr id="205" name="Connecteur en arc 51">
            <a:extLst>
              <a:ext uri="{FF2B5EF4-FFF2-40B4-BE49-F238E27FC236}">
                <a16:creationId xmlns:a16="http://schemas.microsoft.com/office/drawing/2014/main" id="{6E7E38BD-FEDE-482A-8C76-4EF9A7F4E8E8}"/>
              </a:ext>
            </a:extLst>
          </p:cNvPr>
          <p:cNvCxnSpPr>
            <a:cxnSpLocks/>
          </p:cNvCxnSpPr>
          <p:nvPr/>
        </p:nvCxnSpPr>
        <p:spPr bwMode="auto">
          <a:xfrm rot="16200000" flipH="1">
            <a:off x="7793173" y="3016135"/>
            <a:ext cx="504000" cy="1296000"/>
          </a:xfrm>
          <a:prstGeom prst="curvedConnector2">
            <a:avLst/>
          </a:prstGeom>
          <a:ln w="12700">
            <a:solidFill>
              <a:schemeClr val="tx1"/>
            </a:solidFill>
            <a:headEnd type="none" w="med" len="med"/>
            <a:tailEnd type="arrow" w="med" len="med"/>
          </a:ln>
          <a:effectLst/>
        </p:spPr>
        <p:style>
          <a:lnRef idx="1">
            <a:schemeClr val="dk1"/>
          </a:lnRef>
          <a:fillRef idx="0">
            <a:schemeClr val="dk1"/>
          </a:fillRef>
          <a:effectRef idx="0">
            <a:schemeClr val="dk1"/>
          </a:effectRef>
          <a:fontRef idx="minor">
            <a:schemeClr val="tx1"/>
          </a:fontRef>
        </p:style>
      </p:cxnSp>
      <p:pic>
        <p:nvPicPr>
          <p:cNvPr id="211" name="Image 210" descr="Une image contenant clipart, dessin humoristique, illustration&#10;&#10;Le contenu généré par l’IA peut être incorrect.">
            <a:extLst>
              <a:ext uri="{FF2B5EF4-FFF2-40B4-BE49-F238E27FC236}">
                <a16:creationId xmlns:a16="http://schemas.microsoft.com/office/drawing/2014/main" id="{61D53EAE-F473-4FD3-9D2C-AD57EF0D15D0}"/>
              </a:ext>
            </a:extLst>
          </p:cNvPr>
          <p:cNvPicPr>
            <a:picLocks noChangeAspect="1"/>
          </p:cNvPicPr>
          <p:nvPr/>
        </p:nvPicPr>
        <p:blipFill>
          <a:blip r:embed="rId7"/>
          <a:stretch>
            <a:fillRect/>
          </a:stretch>
        </p:blipFill>
        <p:spPr>
          <a:xfrm>
            <a:off x="4053634" y="2528848"/>
            <a:ext cx="713748" cy="713752"/>
          </a:xfrm>
          <a:prstGeom prst="rect">
            <a:avLst/>
          </a:prstGeom>
        </p:spPr>
      </p:pic>
      <p:pic>
        <p:nvPicPr>
          <p:cNvPr id="212" name="Image 211" descr="Une image contenant capture d’écran, Graphique, Police, symbole&#10;&#10;Le contenu généré par l’IA peut être incorrect.">
            <a:extLst>
              <a:ext uri="{FF2B5EF4-FFF2-40B4-BE49-F238E27FC236}">
                <a16:creationId xmlns:a16="http://schemas.microsoft.com/office/drawing/2014/main" id="{D557546A-A971-44FD-A5EF-C9BB04B880BC}"/>
              </a:ext>
            </a:extLst>
          </p:cNvPr>
          <p:cNvPicPr>
            <a:picLocks noChangeAspect="1"/>
          </p:cNvPicPr>
          <p:nvPr/>
        </p:nvPicPr>
        <p:blipFill>
          <a:blip r:embed="rId8"/>
          <a:srcRect b="28268"/>
          <a:stretch>
            <a:fillRect/>
          </a:stretch>
        </p:blipFill>
        <p:spPr>
          <a:xfrm>
            <a:off x="4053634" y="2988864"/>
            <a:ext cx="713748" cy="511984"/>
          </a:xfrm>
          <a:prstGeom prst="rect">
            <a:avLst/>
          </a:prstGeom>
        </p:spPr>
      </p:pic>
      <p:cxnSp>
        <p:nvCxnSpPr>
          <p:cNvPr id="214" name="Connecteur droit avec flèche 213">
            <a:extLst>
              <a:ext uri="{FF2B5EF4-FFF2-40B4-BE49-F238E27FC236}">
                <a16:creationId xmlns:a16="http://schemas.microsoft.com/office/drawing/2014/main" id="{ECE4E8C9-683D-43A6-9400-07BD0F41C961}"/>
              </a:ext>
            </a:extLst>
          </p:cNvPr>
          <p:cNvCxnSpPr>
            <a:cxnSpLocks/>
          </p:cNvCxnSpPr>
          <p:nvPr/>
        </p:nvCxnSpPr>
        <p:spPr bwMode="auto">
          <a:xfrm>
            <a:off x="5129210" y="2815336"/>
            <a:ext cx="684000" cy="0"/>
          </a:xfrm>
          <a:prstGeom prst="straightConnector1">
            <a:avLst/>
          </a:prstGeom>
          <a:ln w="38100">
            <a:solidFill>
              <a:schemeClr val="accent3">
                <a:lumMod val="50000"/>
              </a:schemeClr>
            </a:solidFill>
            <a:headEnd type="none" w="med" len="med"/>
            <a:tailEnd type="arrow" w="med" len="med"/>
          </a:ln>
          <a:effectLst/>
        </p:spPr>
        <p:style>
          <a:lnRef idx="1">
            <a:schemeClr val="dk1"/>
          </a:lnRef>
          <a:fillRef idx="0">
            <a:schemeClr val="dk1"/>
          </a:fillRef>
          <a:effectRef idx="0">
            <a:schemeClr val="dk1"/>
          </a:effectRef>
          <a:fontRef idx="minor">
            <a:schemeClr val="tx1"/>
          </a:fontRef>
        </p:style>
      </p:cxnSp>
      <p:cxnSp>
        <p:nvCxnSpPr>
          <p:cNvPr id="215" name="Connecteur droit avec flèche 214">
            <a:extLst>
              <a:ext uri="{FF2B5EF4-FFF2-40B4-BE49-F238E27FC236}">
                <a16:creationId xmlns:a16="http://schemas.microsoft.com/office/drawing/2014/main" id="{06DAD878-2D03-419F-B9A1-E717AB97F62D}"/>
              </a:ext>
            </a:extLst>
          </p:cNvPr>
          <p:cNvCxnSpPr>
            <a:cxnSpLocks/>
          </p:cNvCxnSpPr>
          <p:nvPr/>
        </p:nvCxnSpPr>
        <p:spPr bwMode="auto">
          <a:xfrm flipH="1">
            <a:off x="5129210" y="3214363"/>
            <a:ext cx="684000" cy="0"/>
          </a:xfrm>
          <a:prstGeom prst="straightConnector1">
            <a:avLst/>
          </a:prstGeom>
          <a:ln w="38100">
            <a:solidFill>
              <a:schemeClr val="accent3">
                <a:lumMod val="50000"/>
              </a:schemeClr>
            </a:solidFill>
            <a:headEnd type="none" w="med" len="med"/>
            <a:tailEnd type="arrow" w="med" len="med"/>
          </a:ln>
          <a:effectLst/>
        </p:spPr>
        <p:style>
          <a:lnRef idx="1">
            <a:schemeClr val="dk1"/>
          </a:lnRef>
          <a:fillRef idx="0">
            <a:schemeClr val="dk1"/>
          </a:fillRef>
          <a:effectRef idx="0">
            <a:schemeClr val="dk1"/>
          </a:effectRef>
          <a:fontRef idx="minor">
            <a:schemeClr val="tx1"/>
          </a:fontRef>
        </p:style>
      </p:cxnSp>
      <p:sp>
        <p:nvSpPr>
          <p:cNvPr id="216" name="ZoneTexte 215">
            <a:extLst>
              <a:ext uri="{FF2B5EF4-FFF2-40B4-BE49-F238E27FC236}">
                <a16:creationId xmlns:a16="http://schemas.microsoft.com/office/drawing/2014/main" id="{8C77ED95-DDD3-4178-939D-9A8BC8666794}"/>
              </a:ext>
            </a:extLst>
          </p:cNvPr>
          <p:cNvSpPr txBox="1"/>
          <p:nvPr/>
        </p:nvSpPr>
        <p:spPr>
          <a:xfrm>
            <a:off x="5035319" y="2473884"/>
            <a:ext cx="857927" cy="30777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a:spAutoFit/>
          </a:bodyPr>
          <a:lstStyle/>
          <a:p>
            <a:pPr algn="ctr">
              <a:defRPr/>
            </a:pPr>
            <a:r>
              <a:rPr lang="fr-FR" sz="1400"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Demande </a:t>
            </a:r>
          </a:p>
        </p:txBody>
      </p:sp>
      <p:sp>
        <p:nvSpPr>
          <p:cNvPr id="217" name="ZoneTexte 216">
            <a:extLst>
              <a:ext uri="{FF2B5EF4-FFF2-40B4-BE49-F238E27FC236}">
                <a16:creationId xmlns:a16="http://schemas.microsoft.com/office/drawing/2014/main" id="{BD910775-CFAB-498C-BA98-86ADBEF89CA7}"/>
              </a:ext>
            </a:extLst>
          </p:cNvPr>
          <p:cNvSpPr txBox="1"/>
          <p:nvPr/>
        </p:nvSpPr>
        <p:spPr>
          <a:xfrm>
            <a:off x="4968796" y="3336587"/>
            <a:ext cx="990977" cy="52322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a:spAutoFit/>
          </a:bodyPr>
          <a:lstStyle/>
          <a:p>
            <a:pPr algn="ctr">
              <a:defRPr/>
            </a:pPr>
            <a:r>
              <a:rPr lang="fr-FR" sz="1400"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Synthèse/</a:t>
            </a:r>
            <a:br>
              <a:rPr lang="fr-FR" sz="1400"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br>
            <a:r>
              <a:rPr lang="fr-FR" sz="1400"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confirmation</a:t>
            </a:r>
          </a:p>
        </p:txBody>
      </p:sp>
      <p:sp>
        <p:nvSpPr>
          <p:cNvPr id="219" name="ZoneTexte 218">
            <a:extLst>
              <a:ext uri="{FF2B5EF4-FFF2-40B4-BE49-F238E27FC236}">
                <a16:creationId xmlns:a16="http://schemas.microsoft.com/office/drawing/2014/main" id="{B2C75163-5CD5-4D91-917B-8A6054E0DB74}"/>
              </a:ext>
            </a:extLst>
          </p:cNvPr>
          <p:cNvSpPr txBox="1"/>
          <p:nvPr/>
        </p:nvSpPr>
        <p:spPr>
          <a:xfrm>
            <a:off x="6453833" y="2249361"/>
            <a:ext cx="470450" cy="230832"/>
          </a:xfrm>
          <a:prstGeom prst="rect">
            <a:avLst/>
          </a:prstGeom>
          <a:solidFill>
            <a:schemeClr val="bg1"/>
          </a:solidFill>
        </p:spPr>
        <p:txBody>
          <a:bodyPr wrap="none" anchor="ctr">
            <a:spAutoFit/>
          </a:bodyPr>
          <a:lstStyle/>
          <a:p>
            <a:pPr algn="ctr">
              <a:defRPr/>
            </a:pPr>
            <a:r>
              <a:rPr lang="fr-FR" sz="900" b="1" kern="100" spc="-150" noProof="1">
                <a:solidFill>
                  <a:srgbClr val="000000"/>
                </a:solidFill>
                <a:latin typeface="Segoe UI" panose="020B0502040204020203" pitchFamily="34" charset="0"/>
                <a:ea typeface="Aptos" panose="020B0004020202020204" pitchFamily="34" charset="0"/>
                <a:cs typeface="Segoe UI" panose="020B0502040204020203" pitchFamily="34" charset="0"/>
              </a:rPr>
              <a:t>AGENT</a:t>
            </a:r>
          </a:p>
        </p:txBody>
      </p:sp>
      <p:grpSp>
        <p:nvGrpSpPr>
          <p:cNvPr id="220" name="Groupe 219">
            <a:extLst>
              <a:ext uri="{FF2B5EF4-FFF2-40B4-BE49-F238E27FC236}">
                <a16:creationId xmlns:a16="http://schemas.microsoft.com/office/drawing/2014/main" id="{5C5D54F6-E7B4-4A8A-B482-E82F758DE17C}"/>
              </a:ext>
            </a:extLst>
          </p:cNvPr>
          <p:cNvGrpSpPr/>
          <p:nvPr/>
        </p:nvGrpSpPr>
        <p:grpSpPr>
          <a:xfrm>
            <a:off x="6298449" y="2607443"/>
            <a:ext cx="1232178" cy="864000"/>
            <a:chOff x="5225834" y="3273524"/>
            <a:chExt cx="1232178" cy="864000"/>
          </a:xfrm>
        </p:grpSpPr>
        <p:grpSp>
          <p:nvGrpSpPr>
            <p:cNvPr id="221" name="Groupe 220">
              <a:extLst>
                <a:ext uri="{FF2B5EF4-FFF2-40B4-BE49-F238E27FC236}">
                  <a16:creationId xmlns:a16="http://schemas.microsoft.com/office/drawing/2014/main" id="{B8002A71-E2C1-40F7-BC2A-BB0605F6B482}"/>
                </a:ext>
              </a:extLst>
            </p:cNvPr>
            <p:cNvGrpSpPr>
              <a:grpSpLocks noChangeAspect="1"/>
            </p:cNvGrpSpPr>
            <p:nvPr/>
          </p:nvGrpSpPr>
          <p:grpSpPr>
            <a:xfrm>
              <a:off x="5225834" y="3273524"/>
              <a:ext cx="1232178" cy="864000"/>
              <a:chOff x="5344519" y="3487195"/>
              <a:chExt cx="1069274" cy="749772"/>
            </a:xfrm>
          </p:grpSpPr>
          <p:pic>
            <p:nvPicPr>
              <p:cNvPr id="223" name="Image 222" descr="Une image contenant capture d’écran, Graphique, conception&#10;&#10;Le contenu généré par l’IA peut être incorrect.">
                <a:extLst>
                  <a:ext uri="{FF2B5EF4-FFF2-40B4-BE49-F238E27FC236}">
                    <a16:creationId xmlns:a16="http://schemas.microsoft.com/office/drawing/2014/main" id="{3F44A1FA-609E-46EE-AB77-B5305C6E254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44519" y="3487195"/>
                <a:ext cx="720000" cy="720000"/>
              </a:xfrm>
              <a:prstGeom prst="rect">
                <a:avLst/>
              </a:prstGeom>
            </p:spPr>
          </p:pic>
          <p:sp>
            <p:nvSpPr>
              <p:cNvPr id="224" name="Ellipse 223">
                <a:extLst>
                  <a:ext uri="{FF2B5EF4-FFF2-40B4-BE49-F238E27FC236}">
                    <a16:creationId xmlns:a16="http://schemas.microsoft.com/office/drawing/2014/main" id="{70305424-27A9-4392-85B8-027967AFA38C}"/>
                  </a:ext>
                </a:extLst>
              </p:cNvPr>
              <p:cNvSpPr>
                <a:spLocks noChangeAspect="1"/>
              </p:cNvSpPr>
              <p:nvPr/>
            </p:nvSpPr>
            <p:spPr bwMode="auto">
              <a:xfrm>
                <a:off x="5909793" y="3732967"/>
                <a:ext cx="504000" cy="504000"/>
              </a:xfrm>
              <a:prstGeom prst="ellipse">
                <a:avLst/>
              </a:prstGeom>
              <a:solidFill>
                <a:schemeClr val="bg1"/>
              </a:solidFill>
              <a:ln w="19050">
                <a:no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algn="ctr" fontAlgn="base">
                  <a:spcBef>
                    <a:spcPct val="0"/>
                  </a:spcBef>
                  <a:spcAft>
                    <a:spcPct val="0"/>
                  </a:spcAft>
                  <a:defRPr/>
                </a:pPr>
                <a:endParaRPr lang="fr-FR" sz="1400" dirty="0">
                  <a:solidFill>
                    <a:srgbClr val="FFFFFF"/>
                  </a:solidFill>
                  <a:latin typeface="Segoe UI" panose="020B0502040204020203" pitchFamily="34" charset="0"/>
                  <a:cs typeface="Segoe UI" panose="020B0502040204020203" pitchFamily="34" charset="0"/>
                </a:endParaRPr>
              </a:p>
            </p:txBody>
          </p:sp>
        </p:grpSp>
        <p:pic>
          <p:nvPicPr>
            <p:cNvPr id="222" name="Image 221" descr="Une image contenant conception, capture d’écran, Graphique&#10;&#10;Le contenu généré par l’IA peut être incorrect.">
              <a:extLst>
                <a:ext uri="{FF2B5EF4-FFF2-40B4-BE49-F238E27FC236}">
                  <a16:creationId xmlns:a16="http://schemas.microsoft.com/office/drawing/2014/main" id="{AF69C669-FC24-43A3-9267-B0F39CAAEA8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914224" y="3604757"/>
              <a:ext cx="504000" cy="504000"/>
            </a:xfrm>
            <a:prstGeom prst="rect">
              <a:avLst/>
            </a:prstGeom>
          </p:spPr>
        </p:pic>
      </p:grpSp>
      <p:pic>
        <p:nvPicPr>
          <p:cNvPr id="225" name="Picture 2" descr="Python machine learning code example">
            <a:extLst>
              <a:ext uri="{FF2B5EF4-FFF2-40B4-BE49-F238E27FC236}">
                <a16:creationId xmlns:a16="http://schemas.microsoft.com/office/drawing/2014/main" id="{E7C1057A-A38B-49ED-86CC-39C080F41C2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545" r="32518" b="7335"/>
          <a:stretch/>
        </p:blipFill>
        <p:spPr bwMode="auto">
          <a:xfrm>
            <a:off x="4896445" y="4203329"/>
            <a:ext cx="2126655" cy="1656002"/>
          </a:xfrm>
          <a:prstGeom prst="rect">
            <a:avLst/>
          </a:prstGeom>
          <a:noFill/>
          <a:extLst>
            <a:ext uri="{909E8E84-426E-40DD-AFC4-6F175D3DCCD1}">
              <a14:hiddenFill xmlns:a14="http://schemas.microsoft.com/office/drawing/2010/main">
                <a:solidFill>
                  <a:srgbClr val="FFFFFF"/>
                </a:solidFill>
              </a14:hiddenFill>
            </a:ext>
          </a:extLst>
        </p:spPr>
      </p:pic>
      <p:pic>
        <p:nvPicPr>
          <p:cNvPr id="226" name="Image 225">
            <a:extLst>
              <a:ext uri="{FF2B5EF4-FFF2-40B4-BE49-F238E27FC236}">
                <a16:creationId xmlns:a16="http://schemas.microsoft.com/office/drawing/2014/main" id="{43DE6A3D-6604-4D93-B593-0D3993027869}"/>
              </a:ext>
            </a:extLst>
          </p:cNvPr>
          <p:cNvPicPr>
            <a:picLocks noChangeAspect="1"/>
          </p:cNvPicPr>
          <p:nvPr/>
        </p:nvPicPr>
        <p:blipFill>
          <a:blip r:embed="rId12"/>
          <a:stretch>
            <a:fillRect/>
          </a:stretch>
        </p:blipFill>
        <p:spPr>
          <a:xfrm rot="4501776" flipV="1">
            <a:off x="5883857" y="3353795"/>
            <a:ext cx="900087" cy="900087"/>
          </a:xfrm>
          <a:prstGeom prst="rect">
            <a:avLst/>
          </a:prstGeom>
        </p:spPr>
      </p:pic>
      <p:sp>
        <p:nvSpPr>
          <p:cNvPr id="227" name="ZoneTexte 226">
            <a:extLst>
              <a:ext uri="{FF2B5EF4-FFF2-40B4-BE49-F238E27FC236}">
                <a16:creationId xmlns:a16="http://schemas.microsoft.com/office/drawing/2014/main" id="{C3724767-73EA-448F-81F7-9C0286F84396}"/>
              </a:ext>
            </a:extLst>
          </p:cNvPr>
          <p:cNvSpPr txBox="1"/>
          <p:nvPr/>
        </p:nvSpPr>
        <p:spPr>
          <a:xfrm>
            <a:off x="530407" y="2191287"/>
            <a:ext cx="3327205" cy="225702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spcAft>
                <a:spcPts val="800"/>
              </a:spcAft>
              <a:defRPr/>
            </a:pPr>
            <a:r>
              <a:rPr lang="fr-FR" sz="1400" kern="100" dirty="0">
                <a:solidFill>
                  <a:srgbClr val="000000"/>
                </a:solidFill>
                <a:latin typeface="Segoe UI" panose="020B0502040204020203" pitchFamily="34" charset="0"/>
                <a:ea typeface="Aptos" panose="020B0004020202020204" pitchFamily="34" charset="0"/>
                <a:cs typeface="Segoe UI" panose="020B0502040204020203" pitchFamily="34" charset="0"/>
              </a:rPr>
              <a:t>Un agent IA est </a:t>
            </a:r>
            <a:r>
              <a:rPr lang="fr-FR" sz="1400" b="1" kern="100" dirty="0">
                <a:solidFill>
                  <a:srgbClr val="000000"/>
                </a:solidFill>
                <a:latin typeface="Segoe UI" panose="020B0502040204020203" pitchFamily="34" charset="0"/>
                <a:ea typeface="Aptos" panose="020B0004020202020204" pitchFamily="34" charset="0"/>
                <a:cs typeface="Segoe UI" panose="020B0502040204020203" pitchFamily="34" charset="0"/>
              </a:rPr>
              <a:t>une application </a:t>
            </a:r>
            <a:r>
              <a:rPr lang="fr-FR" sz="1400" kern="100" dirty="0" err="1">
                <a:solidFill>
                  <a:srgbClr val="000000"/>
                </a:solidFill>
                <a:latin typeface="Segoe UI" panose="020B0502040204020203" pitchFamily="34" charset="0"/>
                <a:ea typeface="Aptos" panose="020B0004020202020204" pitchFamily="34" charset="0"/>
                <a:cs typeface="Segoe UI" panose="020B0502040204020203" pitchFamily="34" charset="0"/>
              </a:rPr>
              <a:t>back-end</a:t>
            </a:r>
            <a:r>
              <a:rPr lang="fr-FR" sz="1400" kern="100" dirty="0">
                <a:solidFill>
                  <a:srgbClr val="000000"/>
                </a:solidFill>
                <a:latin typeface="Segoe UI" panose="020B0502040204020203" pitchFamily="34" charset="0"/>
                <a:ea typeface="Aptos" panose="020B0004020202020204" pitchFamily="34" charset="0"/>
                <a:cs typeface="Segoe UI" panose="020B0502040204020203" pitchFamily="34" charset="0"/>
              </a:rPr>
              <a:t> qui utilise un </a:t>
            </a:r>
            <a:r>
              <a:rPr lang="fr-FR" sz="1400" b="1" kern="100" dirty="0">
                <a:solidFill>
                  <a:srgbClr val="000000"/>
                </a:solidFill>
                <a:latin typeface="Segoe UI" panose="020B0502040204020203" pitchFamily="34" charset="0"/>
                <a:ea typeface="Aptos" panose="020B0004020202020204" pitchFamily="34" charset="0"/>
                <a:cs typeface="Segoe UI" panose="020B0502040204020203" pitchFamily="34" charset="0"/>
              </a:rPr>
              <a:t>LLM comme moteur de raisonnement</a:t>
            </a:r>
            <a:r>
              <a:rPr lang="fr-FR" sz="1400" kern="100" dirty="0">
                <a:solidFill>
                  <a:srgbClr val="000000"/>
                </a:solidFill>
                <a:latin typeface="Segoe UI" panose="020B0502040204020203" pitchFamily="34" charset="0"/>
                <a:ea typeface="Aptos" panose="020B0004020202020204" pitchFamily="34" charset="0"/>
                <a:cs typeface="Segoe UI" panose="020B0502040204020203" pitchFamily="34" charset="0"/>
              </a:rPr>
              <a:t>, et qui : </a:t>
            </a:r>
          </a:p>
          <a:p>
            <a:pPr marL="285750" indent="-285750">
              <a:spcAft>
                <a:spcPts val="800"/>
              </a:spcAft>
              <a:buFont typeface="Arial" panose="020B0604020202020204" pitchFamily="34" charset="0"/>
              <a:buChar char="•"/>
              <a:defRPr/>
            </a:pPr>
            <a:r>
              <a:rPr lang="fr-FR" sz="1200" kern="100" dirty="0">
                <a:solidFill>
                  <a:srgbClr val="000000"/>
                </a:solidFill>
                <a:latin typeface="Segoe UI" panose="020B0502040204020203" pitchFamily="34" charset="0"/>
                <a:ea typeface="Aptos" panose="020B0004020202020204" pitchFamily="34" charset="0"/>
                <a:cs typeface="Segoe UI" panose="020B0502040204020203" pitchFamily="34" charset="0"/>
              </a:rPr>
              <a:t>Comprend une intention exprimée en langage naturel</a:t>
            </a:r>
          </a:p>
          <a:p>
            <a:pPr marL="285750" indent="-285750">
              <a:spcAft>
                <a:spcPts val="800"/>
              </a:spcAft>
              <a:buFont typeface="Arial" panose="020B0604020202020204" pitchFamily="34" charset="0"/>
              <a:buChar char="•"/>
              <a:defRPr/>
            </a:pPr>
            <a:r>
              <a:rPr lang="fr-FR" sz="1200" kern="100" dirty="0">
                <a:solidFill>
                  <a:srgbClr val="000000"/>
                </a:solidFill>
                <a:latin typeface="Segoe UI" panose="020B0502040204020203" pitchFamily="34" charset="0"/>
                <a:ea typeface="Aptos" panose="020B0004020202020204" pitchFamily="34" charset="0"/>
                <a:cs typeface="Segoe UI" panose="020B0502040204020203" pitchFamily="34" charset="0"/>
              </a:rPr>
              <a:t>Raisonne pour planifier les actions nécessaires</a:t>
            </a:r>
          </a:p>
          <a:p>
            <a:pPr marL="285750" indent="-285750">
              <a:spcAft>
                <a:spcPts val="800"/>
              </a:spcAft>
              <a:buFont typeface="Arial" panose="020B0604020202020204" pitchFamily="34" charset="0"/>
              <a:buChar char="•"/>
              <a:defRPr/>
            </a:pPr>
            <a:r>
              <a:rPr lang="fr-FR" sz="1200" kern="100" dirty="0">
                <a:solidFill>
                  <a:srgbClr val="000000"/>
                </a:solidFill>
                <a:latin typeface="Segoe UI" panose="020B0502040204020203" pitchFamily="34" charset="0"/>
                <a:ea typeface="Aptos" panose="020B0004020202020204" pitchFamily="34" charset="0"/>
                <a:cs typeface="Segoe UI" panose="020B0502040204020203" pitchFamily="34" charset="0"/>
              </a:rPr>
              <a:t>Agit dans un environnement  </a:t>
            </a:r>
          </a:p>
          <a:p>
            <a:pPr marL="285750" indent="-285750">
              <a:spcAft>
                <a:spcPts val="800"/>
              </a:spcAft>
              <a:buFont typeface="Arial" panose="020B0604020202020204" pitchFamily="34" charset="0"/>
              <a:buChar char="•"/>
              <a:defRPr/>
            </a:pPr>
            <a:r>
              <a:rPr lang="fr-FR" sz="1200" kern="100" dirty="0">
                <a:solidFill>
                  <a:srgbClr val="000000"/>
                </a:solidFill>
                <a:latin typeface="Segoe UI" panose="020B0502040204020203" pitchFamily="34" charset="0"/>
                <a:ea typeface="Aptos" panose="020B0004020202020204" pitchFamily="34" charset="0"/>
                <a:cs typeface="Segoe UI" panose="020B0502040204020203" pitchFamily="34" charset="0"/>
              </a:rPr>
              <a:t>S’adapte en fonction des résultats</a:t>
            </a:r>
          </a:p>
        </p:txBody>
      </p:sp>
    </p:spTree>
    <p:extLst>
      <p:ext uri="{BB962C8B-B14F-4D97-AF65-F5344CB8AC3E}">
        <p14:creationId xmlns:p14="http://schemas.microsoft.com/office/powerpoint/2010/main" val="1941268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a:bodyPr>
          <a:lstStyle/>
          <a:p>
            <a:r>
              <a:rPr lang="fr-FR" dirty="0">
                <a:solidFill>
                  <a:schemeClr val="accent2"/>
                </a:solidFill>
                <a:latin typeface="Segoe UI" panose="020B0502040204020203" pitchFamily="34" charset="0"/>
                <a:cs typeface="Segoe UI" panose="020B0502040204020203" pitchFamily="34" charset="0"/>
              </a:rPr>
              <a:t>Démo</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txBody>
          <a:bodyPr/>
          <a:lstStyle/>
          <a:p>
            <a:endParaRPr lang="fr-FR"/>
          </a:p>
        </p:txBody>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Plateforme d’annotation d’images – Coder avec des agents</a:t>
            </a:r>
            <a:endParaRPr lang="fr-FR" sz="2100" dirty="0">
              <a:solidFill>
                <a:srgbClr val="835CF5"/>
              </a:solidFill>
              <a:latin typeface="Segoe UI" panose="020B0502040204020203" pitchFamily="34" charset="0"/>
              <a:cs typeface="Segoe UI" panose="020B0502040204020203" pitchFamily="34" charset="0"/>
            </a:endParaRPr>
          </a:p>
        </p:txBody>
      </p:sp>
      <p:pic>
        <p:nvPicPr>
          <p:cNvPr id="3" name="Image 2">
            <a:extLst>
              <a:ext uri="{FF2B5EF4-FFF2-40B4-BE49-F238E27FC236}">
                <a16:creationId xmlns:a16="http://schemas.microsoft.com/office/drawing/2014/main" id="{C1E15175-27BC-257C-EB7A-99D076FFDA50}"/>
              </a:ext>
            </a:extLst>
          </p:cNvPr>
          <p:cNvPicPr>
            <a:picLocks noChangeAspect="1"/>
          </p:cNvPicPr>
          <p:nvPr/>
        </p:nvPicPr>
        <p:blipFill>
          <a:blip r:embed="rId2"/>
          <a:stretch>
            <a:fillRect/>
          </a:stretch>
        </p:blipFill>
        <p:spPr>
          <a:xfrm>
            <a:off x="1851454" y="1636776"/>
            <a:ext cx="7772400" cy="3357891"/>
          </a:xfrm>
          <a:prstGeom prst="rect">
            <a:avLst/>
          </a:prstGeom>
        </p:spPr>
      </p:pic>
    </p:spTree>
    <p:extLst>
      <p:ext uri="{BB962C8B-B14F-4D97-AF65-F5344CB8AC3E}">
        <p14:creationId xmlns:p14="http://schemas.microsoft.com/office/powerpoint/2010/main" val="3459059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a:bodyPr>
          <a:lstStyle/>
          <a:p>
            <a:r>
              <a:rPr lang="fr-FR" dirty="0">
                <a:solidFill>
                  <a:schemeClr val="accent2"/>
                </a:solidFill>
                <a:latin typeface="Segoe UI" panose="020B0502040204020203" pitchFamily="34" charset="0"/>
                <a:cs typeface="Segoe UI" panose="020B0502040204020203" pitchFamily="34" charset="0"/>
              </a:rPr>
              <a:t>Démo</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txBody>
          <a:bodyPr/>
          <a:lstStyle/>
          <a:p>
            <a:endParaRPr lang="fr-FR"/>
          </a:p>
        </p:txBody>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L’approche</a:t>
            </a:r>
            <a:endParaRPr lang="fr-FR" sz="2100" dirty="0">
              <a:solidFill>
                <a:srgbClr val="835CF5"/>
              </a:solidFill>
              <a:latin typeface="Segoe UI" panose="020B0502040204020203" pitchFamily="34" charset="0"/>
              <a:cs typeface="Segoe UI" panose="020B0502040204020203" pitchFamily="34" charset="0"/>
            </a:endParaRPr>
          </a:p>
        </p:txBody>
      </p:sp>
      <p:sp>
        <p:nvSpPr>
          <p:cNvPr id="6" name="Shape 3">
            <a:extLst>
              <a:ext uri="{FF2B5EF4-FFF2-40B4-BE49-F238E27FC236}">
                <a16:creationId xmlns:a16="http://schemas.microsoft.com/office/drawing/2014/main" id="{1C38B24D-E948-4509-A53B-DC05CED2E6D1}"/>
              </a:ext>
            </a:extLst>
          </p:cNvPr>
          <p:cNvSpPr/>
          <p:nvPr/>
        </p:nvSpPr>
        <p:spPr>
          <a:xfrm>
            <a:off x="548640" y="1702724"/>
            <a:ext cx="2651760" cy="2163247"/>
          </a:xfrm>
          <a:prstGeom prst="rect">
            <a:avLst/>
          </a:prstGeom>
          <a:solidFill>
            <a:srgbClr val="F4F4F4"/>
          </a:solidFill>
          <a:ln w="9525">
            <a:solidFill>
              <a:srgbClr val="C6C6C6"/>
            </a:solidFill>
            <a:prstDash val="solid"/>
          </a:ln>
        </p:spPr>
      </p:sp>
      <p:sp>
        <p:nvSpPr>
          <p:cNvPr id="7" name="Shape 4">
            <a:extLst>
              <a:ext uri="{FF2B5EF4-FFF2-40B4-BE49-F238E27FC236}">
                <a16:creationId xmlns:a16="http://schemas.microsoft.com/office/drawing/2014/main" id="{D0405A3B-1A85-4F78-9558-3CA9575BAB10}"/>
              </a:ext>
            </a:extLst>
          </p:cNvPr>
          <p:cNvSpPr/>
          <p:nvPr/>
        </p:nvSpPr>
        <p:spPr>
          <a:xfrm>
            <a:off x="548639" y="1702724"/>
            <a:ext cx="54000" cy="2163247"/>
          </a:xfrm>
          <a:prstGeom prst="rect">
            <a:avLst/>
          </a:prstGeom>
          <a:solidFill>
            <a:schemeClr val="accent2"/>
          </a:solidFill>
          <a:ln>
            <a:solidFill>
              <a:srgbClr val="8A3FFC"/>
            </a:solidFill>
          </a:ln>
        </p:spPr>
      </p:sp>
      <p:sp>
        <p:nvSpPr>
          <p:cNvPr id="8" name="Text 5">
            <a:extLst>
              <a:ext uri="{FF2B5EF4-FFF2-40B4-BE49-F238E27FC236}">
                <a16:creationId xmlns:a16="http://schemas.microsoft.com/office/drawing/2014/main" id="{2DECBA11-37C0-482B-A030-E4292BBF12D6}"/>
              </a:ext>
            </a:extLst>
          </p:cNvPr>
          <p:cNvSpPr/>
          <p:nvPr/>
        </p:nvSpPr>
        <p:spPr>
          <a:xfrm>
            <a:off x="2286000" y="1812452"/>
            <a:ext cx="822960" cy="548640"/>
          </a:xfrm>
          <a:prstGeom prst="rect">
            <a:avLst/>
          </a:prstGeom>
          <a:noFill/>
          <a:ln/>
        </p:spPr>
        <p:txBody>
          <a:bodyPr wrap="square" lIns="0" tIns="0" rIns="0" bIns="0" rtlCol="0" anchor="ctr"/>
          <a:lstStyle/>
          <a:p>
            <a:pPr marL="0" indent="0" algn="r">
              <a:buNone/>
            </a:pPr>
            <a:r>
              <a:rPr lang="en-US" sz="2800" b="1" dirty="0">
                <a:solidFill>
                  <a:srgbClr val="8A3FFC"/>
                </a:solidFill>
                <a:latin typeface="IBM Plex Mono" pitchFamily="34" charset="0"/>
                <a:ea typeface="IBM Plex Mono" pitchFamily="34" charset="-122"/>
                <a:cs typeface="IBM Plex Mono" pitchFamily="34" charset="-120"/>
              </a:rPr>
              <a:t>V1</a:t>
            </a:r>
            <a:endParaRPr lang="en-US" sz="2800" dirty="0">
              <a:solidFill>
                <a:srgbClr val="8A3FFC"/>
              </a:solidFill>
            </a:endParaRPr>
          </a:p>
        </p:txBody>
      </p:sp>
      <p:pic>
        <p:nvPicPr>
          <p:cNvPr id="9" name="Image 0" descr="preencoded.png">
            <a:extLst>
              <a:ext uri="{FF2B5EF4-FFF2-40B4-BE49-F238E27FC236}">
                <a16:creationId xmlns:a16="http://schemas.microsoft.com/office/drawing/2014/main" id="{61D29F35-43CB-4094-8E2E-16FE46520FE3}"/>
              </a:ext>
            </a:extLst>
          </p:cNvPr>
          <p:cNvPicPr>
            <a:picLocks noChangeAspect="1"/>
          </p:cNvPicPr>
          <p:nvPr/>
        </p:nvPicPr>
        <p:blipFill>
          <a:blip r:embed="rId2">
            <a:duotone>
              <a:prstClr val="black"/>
              <a:srgbClr val="8A3FFC">
                <a:tint val="45000"/>
                <a:satMod val="400000"/>
              </a:srgbClr>
            </a:duotone>
          </a:blip>
          <a:stretch>
            <a:fillRect/>
          </a:stretch>
        </p:blipFill>
        <p:spPr>
          <a:xfrm>
            <a:off x="786384" y="1940468"/>
            <a:ext cx="402336" cy="402336"/>
          </a:xfrm>
          <a:prstGeom prst="rect">
            <a:avLst/>
          </a:prstGeom>
        </p:spPr>
      </p:pic>
      <p:sp>
        <p:nvSpPr>
          <p:cNvPr id="10" name="Text 6">
            <a:extLst>
              <a:ext uri="{FF2B5EF4-FFF2-40B4-BE49-F238E27FC236}">
                <a16:creationId xmlns:a16="http://schemas.microsoft.com/office/drawing/2014/main" id="{2DFAC959-EE8D-4217-BBAD-038FE46775E0}"/>
              </a:ext>
            </a:extLst>
          </p:cNvPr>
          <p:cNvSpPr/>
          <p:nvPr/>
        </p:nvSpPr>
        <p:spPr>
          <a:xfrm>
            <a:off x="786384" y="2434244"/>
            <a:ext cx="2240280" cy="502920"/>
          </a:xfrm>
          <a:prstGeom prst="rect">
            <a:avLst/>
          </a:prstGeom>
          <a:noFill/>
          <a:ln/>
        </p:spPr>
        <p:txBody>
          <a:bodyPr wrap="square" lIns="0" tIns="0" rIns="0" bIns="0" rtlCol="0" anchor="t"/>
          <a:lstStyle/>
          <a:p>
            <a:pPr marL="0" indent="0">
              <a:buNone/>
            </a:pPr>
            <a:r>
              <a:rPr lang="en-US" sz="1300" b="1" kern="0" spc="30" dirty="0">
                <a:solidFill>
                  <a:srgbClr val="161616"/>
                </a:solidFill>
                <a:latin typeface="IBM Plex Sans" pitchFamily="34" charset="0"/>
                <a:ea typeface="IBM Plex Sans" pitchFamily="34" charset="-122"/>
                <a:cs typeface="IBM Plex Sans" pitchFamily="34" charset="-120"/>
              </a:rPr>
              <a:t>SOCLE</a:t>
            </a:r>
            <a:endParaRPr lang="en-US" sz="1300" dirty="0"/>
          </a:p>
        </p:txBody>
      </p:sp>
      <p:sp>
        <p:nvSpPr>
          <p:cNvPr id="11" name="Shape 7">
            <a:extLst>
              <a:ext uri="{FF2B5EF4-FFF2-40B4-BE49-F238E27FC236}">
                <a16:creationId xmlns:a16="http://schemas.microsoft.com/office/drawing/2014/main" id="{9F57686C-CE68-42F8-BC32-347276A84181}"/>
              </a:ext>
            </a:extLst>
          </p:cNvPr>
          <p:cNvSpPr/>
          <p:nvPr/>
        </p:nvSpPr>
        <p:spPr>
          <a:xfrm>
            <a:off x="786384" y="2874172"/>
            <a:ext cx="2176272" cy="0"/>
          </a:xfrm>
          <a:prstGeom prst="line">
            <a:avLst/>
          </a:prstGeom>
          <a:noFill/>
          <a:ln w="9525">
            <a:solidFill>
              <a:srgbClr val="C6C6C6"/>
            </a:solidFill>
            <a:prstDash val="solid"/>
          </a:ln>
        </p:spPr>
      </p:sp>
      <p:sp>
        <p:nvSpPr>
          <p:cNvPr id="14" name="Text 8">
            <a:extLst>
              <a:ext uri="{FF2B5EF4-FFF2-40B4-BE49-F238E27FC236}">
                <a16:creationId xmlns:a16="http://schemas.microsoft.com/office/drawing/2014/main" id="{1B908055-94E9-4A1A-B7B0-1AC4B3D33820}"/>
              </a:ext>
            </a:extLst>
          </p:cNvPr>
          <p:cNvSpPr/>
          <p:nvPr/>
        </p:nvSpPr>
        <p:spPr>
          <a:xfrm>
            <a:off x="786384" y="2902112"/>
            <a:ext cx="2194560" cy="201168"/>
          </a:xfrm>
          <a:prstGeom prst="rect">
            <a:avLst/>
          </a:prstGeom>
          <a:noFill/>
          <a:ln/>
        </p:spPr>
        <p:txBody>
          <a:bodyPr wrap="square" lIns="0" tIns="0" rIns="0" bIns="0" rtlCol="0" anchor="ctr"/>
          <a:lstStyle/>
          <a:p>
            <a:pPr marL="0" indent="0">
              <a:buNone/>
            </a:pPr>
            <a:r>
              <a:rPr lang="en-US" sz="800" b="1" kern="0" spc="150" dirty="0">
                <a:solidFill>
                  <a:srgbClr val="8A3FFC"/>
                </a:solidFill>
                <a:latin typeface="IBM Plex Mono" pitchFamily="34" charset="0"/>
                <a:ea typeface="IBM Plex Mono" pitchFamily="34" charset="-122"/>
                <a:cs typeface="IBM Plex Mono" pitchFamily="34" charset="-120"/>
              </a:rPr>
              <a:t>ON GÉNÈRE</a:t>
            </a:r>
            <a:endParaRPr lang="en-US" sz="800" dirty="0">
              <a:solidFill>
                <a:srgbClr val="8A3FFC"/>
              </a:solidFill>
            </a:endParaRPr>
          </a:p>
        </p:txBody>
      </p:sp>
      <p:sp>
        <p:nvSpPr>
          <p:cNvPr id="15" name="Text 9">
            <a:extLst>
              <a:ext uri="{FF2B5EF4-FFF2-40B4-BE49-F238E27FC236}">
                <a16:creationId xmlns:a16="http://schemas.microsoft.com/office/drawing/2014/main" id="{F84BA16C-ED22-494B-87A1-D39EFDDCA453}"/>
              </a:ext>
            </a:extLst>
          </p:cNvPr>
          <p:cNvSpPr/>
          <p:nvPr/>
        </p:nvSpPr>
        <p:spPr>
          <a:xfrm>
            <a:off x="786384" y="3103280"/>
            <a:ext cx="2194560" cy="914400"/>
          </a:xfrm>
          <a:prstGeom prst="rect">
            <a:avLst/>
          </a:prstGeom>
          <a:noFill/>
          <a:ln/>
        </p:spPr>
        <p:txBody>
          <a:bodyPr wrap="square" lIns="0" tIns="0" rIns="0" bIns="0" rtlCol="0" anchor="t"/>
          <a:lstStyle/>
          <a:p>
            <a:pPr marL="0" indent="0">
              <a:buNone/>
            </a:pPr>
            <a:r>
              <a:rPr lang="en-US" sz="800" dirty="0">
                <a:solidFill>
                  <a:srgbClr val="525252"/>
                </a:solidFill>
                <a:latin typeface="IBM Plex Sans" pitchFamily="34" charset="0"/>
                <a:ea typeface="IBM Plex Sans" pitchFamily="34" charset="-122"/>
                <a:cs typeface="IBM Plex Sans" pitchFamily="34" charset="-120"/>
              </a:rPr>
              <a:t>config + 6 entities + repositories + handler d'erreurs (format success/error).</a:t>
            </a:r>
            <a:endParaRPr lang="en-US" sz="800" dirty="0"/>
          </a:p>
        </p:txBody>
      </p:sp>
      <p:pic>
        <p:nvPicPr>
          <p:cNvPr id="16" name="Image 1" descr="preencoded.png">
            <a:extLst>
              <a:ext uri="{FF2B5EF4-FFF2-40B4-BE49-F238E27FC236}">
                <a16:creationId xmlns:a16="http://schemas.microsoft.com/office/drawing/2014/main" id="{C03F8AEC-D85B-4D66-AC6E-C179B80AA136}"/>
              </a:ext>
            </a:extLst>
          </p:cNvPr>
          <p:cNvPicPr>
            <a:picLocks noChangeAspect="1"/>
          </p:cNvPicPr>
          <p:nvPr/>
        </p:nvPicPr>
        <p:blipFill>
          <a:blip r:embed="rId3"/>
          <a:stretch>
            <a:fillRect/>
          </a:stretch>
        </p:blipFill>
        <p:spPr>
          <a:xfrm>
            <a:off x="786384" y="3421796"/>
            <a:ext cx="182880" cy="182880"/>
          </a:xfrm>
          <a:prstGeom prst="rect">
            <a:avLst/>
          </a:prstGeom>
        </p:spPr>
      </p:pic>
      <p:sp>
        <p:nvSpPr>
          <p:cNvPr id="17" name="Text 10">
            <a:extLst>
              <a:ext uri="{FF2B5EF4-FFF2-40B4-BE49-F238E27FC236}">
                <a16:creationId xmlns:a16="http://schemas.microsoft.com/office/drawing/2014/main" id="{2DDFA2C6-F012-47F8-9460-2B720C895EE3}"/>
              </a:ext>
            </a:extLst>
          </p:cNvPr>
          <p:cNvSpPr/>
          <p:nvPr/>
        </p:nvSpPr>
        <p:spPr>
          <a:xfrm>
            <a:off x="1024128" y="3412652"/>
            <a:ext cx="2011680" cy="201168"/>
          </a:xfrm>
          <a:prstGeom prst="rect">
            <a:avLst/>
          </a:prstGeom>
          <a:noFill/>
          <a:ln/>
        </p:spPr>
        <p:txBody>
          <a:bodyPr wrap="square" lIns="0" tIns="0" rIns="0" bIns="0" rtlCol="0" anchor="ctr"/>
          <a:lstStyle/>
          <a:p>
            <a:pPr marL="0" indent="0">
              <a:buNone/>
            </a:pPr>
            <a:r>
              <a:rPr lang="en-US" sz="800" b="1" kern="0" spc="150" dirty="0">
                <a:solidFill>
                  <a:srgbClr val="24A148"/>
                </a:solidFill>
                <a:latin typeface="IBM Plex Mono" pitchFamily="34" charset="0"/>
                <a:ea typeface="IBM Plex Mono" pitchFamily="34" charset="-122"/>
                <a:cs typeface="IBM Plex Mono" pitchFamily="34" charset="-120"/>
              </a:rPr>
              <a:t>ON VÉRIFIE</a:t>
            </a:r>
            <a:endParaRPr lang="en-US" sz="800" dirty="0"/>
          </a:p>
        </p:txBody>
      </p:sp>
      <p:sp>
        <p:nvSpPr>
          <p:cNvPr id="18" name="Text 11">
            <a:extLst>
              <a:ext uri="{FF2B5EF4-FFF2-40B4-BE49-F238E27FC236}">
                <a16:creationId xmlns:a16="http://schemas.microsoft.com/office/drawing/2014/main" id="{7B9DDE3B-8101-41A6-88B0-15CACD3CCC70}"/>
              </a:ext>
            </a:extLst>
          </p:cNvPr>
          <p:cNvSpPr/>
          <p:nvPr/>
        </p:nvSpPr>
        <p:spPr>
          <a:xfrm>
            <a:off x="786384" y="3622964"/>
            <a:ext cx="2194560" cy="457200"/>
          </a:xfrm>
          <a:prstGeom prst="rect">
            <a:avLst/>
          </a:prstGeom>
          <a:noFill/>
          <a:ln/>
        </p:spPr>
        <p:txBody>
          <a:bodyPr wrap="square" lIns="0" tIns="0" rIns="0" bIns="0" rtlCol="0" anchor="t"/>
          <a:lstStyle/>
          <a:p>
            <a:pPr marL="0" indent="0">
              <a:buNone/>
            </a:pPr>
            <a:r>
              <a:rPr lang="en-US" sz="800" i="1" dirty="0">
                <a:solidFill>
                  <a:srgbClr val="161616"/>
                </a:solidFill>
                <a:latin typeface="IBM Plex Sans" pitchFamily="34" charset="0"/>
                <a:ea typeface="IBM Plex Sans" pitchFamily="34" charset="-122"/>
                <a:cs typeface="IBM Plex Sans" pitchFamily="34" charset="-120"/>
              </a:rPr>
              <a:t>L'app démarre, H2 monte, Swagger répond.</a:t>
            </a:r>
            <a:endParaRPr lang="en-US" sz="800" dirty="0"/>
          </a:p>
        </p:txBody>
      </p:sp>
      <p:sp>
        <p:nvSpPr>
          <p:cNvPr id="19" name="Text 12">
            <a:extLst>
              <a:ext uri="{FF2B5EF4-FFF2-40B4-BE49-F238E27FC236}">
                <a16:creationId xmlns:a16="http://schemas.microsoft.com/office/drawing/2014/main" id="{3CFB9459-26BE-4C6E-88AE-A2B7D72578ED}"/>
              </a:ext>
            </a:extLst>
          </p:cNvPr>
          <p:cNvSpPr/>
          <p:nvPr/>
        </p:nvSpPr>
        <p:spPr>
          <a:xfrm>
            <a:off x="3218688" y="2975264"/>
            <a:ext cx="192024" cy="457200"/>
          </a:xfrm>
          <a:prstGeom prst="rect">
            <a:avLst/>
          </a:prstGeom>
          <a:noFill/>
          <a:ln/>
        </p:spPr>
        <p:txBody>
          <a:bodyPr wrap="square" lIns="0" tIns="0" rIns="0" bIns="0" rtlCol="0" anchor="ctr"/>
          <a:lstStyle/>
          <a:p>
            <a:pPr marL="0" indent="0" algn="ctr">
              <a:buNone/>
            </a:pPr>
            <a:r>
              <a:rPr lang="en-US" sz="800" b="1" dirty="0">
                <a:solidFill>
                  <a:srgbClr val="0F62FE"/>
                </a:solidFill>
                <a:latin typeface="IBM Plex Sans" pitchFamily="34" charset="0"/>
                <a:ea typeface="IBM Plex Sans" pitchFamily="34" charset="-122"/>
                <a:cs typeface="IBM Plex Sans" pitchFamily="34" charset="-120"/>
              </a:rPr>
              <a:t>→</a:t>
            </a:r>
            <a:endParaRPr lang="en-US" sz="800" dirty="0"/>
          </a:p>
        </p:txBody>
      </p:sp>
      <p:sp>
        <p:nvSpPr>
          <p:cNvPr id="20" name="Shape 13">
            <a:extLst>
              <a:ext uri="{FF2B5EF4-FFF2-40B4-BE49-F238E27FC236}">
                <a16:creationId xmlns:a16="http://schemas.microsoft.com/office/drawing/2014/main" id="{C7C8B2C4-8554-402F-BB4D-37DDA067925C}"/>
              </a:ext>
            </a:extLst>
          </p:cNvPr>
          <p:cNvSpPr/>
          <p:nvPr/>
        </p:nvSpPr>
        <p:spPr>
          <a:xfrm>
            <a:off x="3429000" y="1702724"/>
            <a:ext cx="2651760" cy="2172172"/>
          </a:xfrm>
          <a:prstGeom prst="rect">
            <a:avLst/>
          </a:prstGeom>
          <a:solidFill>
            <a:srgbClr val="F4F4F4"/>
          </a:solidFill>
          <a:ln w="9525">
            <a:solidFill>
              <a:srgbClr val="C6C6C6"/>
            </a:solidFill>
            <a:prstDash val="solid"/>
          </a:ln>
        </p:spPr>
      </p:sp>
      <p:sp>
        <p:nvSpPr>
          <p:cNvPr id="21" name="Shape 14">
            <a:extLst>
              <a:ext uri="{FF2B5EF4-FFF2-40B4-BE49-F238E27FC236}">
                <a16:creationId xmlns:a16="http://schemas.microsoft.com/office/drawing/2014/main" id="{A87399F2-0995-412C-BAEC-8444CA58A6E7}"/>
              </a:ext>
            </a:extLst>
          </p:cNvPr>
          <p:cNvSpPr/>
          <p:nvPr/>
        </p:nvSpPr>
        <p:spPr>
          <a:xfrm>
            <a:off x="3428999" y="1702725"/>
            <a:ext cx="54000" cy="2163560"/>
          </a:xfrm>
          <a:prstGeom prst="rect">
            <a:avLst/>
          </a:prstGeom>
          <a:solidFill>
            <a:schemeClr val="accent2"/>
          </a:solidFill>
          <a:ln>
            <a:solidFill>
              <a:srgbClr val="8A3FFC"/>
            </a:solidFill>
          </a:ln>
        </p:spPr>
      </p:sp>
      <p:sp>
        <p:nvSpPr>
          <p:cNvPr id="22" name="Text 15">
            <a:extLst>
              <a:ext uri="{FF2B5EF4-FFF2-40B4-BE49-F238E27FC236}">
                <a16:creationId xmlns:a16="http://schemas.microsoft.com/office/drawing/2014/main" id="{8DF39DD6-6623-4FA1-B655-55A37B225DE3}"/>
              </a:ext>
            </a:extLst>
          </p:cNvPr>
          <p:cNvSpPr/>
          <p:nvPr/>
        </p:nvSpPr>
        <p:spPr>
          <a:xfrm>
            <a:off x="5166360" y="1812452"/>
            <a:ext cx="822960" cy="548640"/>
          </a:xfrm>
          <a:prstGeom prst="rect">
            <a:avLst/>
          </a:prstGeom>
          <a:noFill/>
          <a:ln/>
        </p:spPr>
        <p:txBody>
          <a:bodyPr wrap="square" lIns="0" tIns="0" rIns="0" bIns="0" rtlCol="0" anchor="ctr"/>
          <a:lstStyle/>
          <a:p>
            <a:pPr marL="0" indent="0" algn="r">
              <a:buNone/>
            </a:pPr>
            <a:r>
              <a:rPr lang="en-US" sz="2800" b="1" dirty="0">
                <a:solidFill>
                  <a:srgbClr val="8A3FFC"/>
                </a:solidFill>
                <a:latin typeface="IBM Plex Mono" pitchFamily="34" charset="0"/>
                <a:ea typeface="IBM Plex Mono" pitchFamily="34" charset="-122"/>
                <a:cs typeface="IBM Plex Mono" pitchFamily="34" charset="-120"/>
              </a:rPr>
              <a:t>V2</a:t>
            </a:r>
            <a:endParaRPr lang="en-US" sz="2800" dirty="0">
              <a:solidFill>
                <a:srgbClr val="8A3FFC"/>
              </a:solidFill>
            </a:endParaRPr>
          </a:p>
        </p:txBody>
      </p:sp>
      <p:pic>
        <p:nvPicPr>
          <p:cNvPr id="23" name="Image 2" descr="preencoded.png">
            <a:extLst>
              <a:ext uri="{FF2B5EF4-FFF2-40B4-BE49-F238E27FC236}">
                <a16:creationId xmlns:a16="http://schemas.microsoft.com/office/drawing/2014/main" id="{D9D6A35C-E984-4ED6-9D66-CD7163CDD8BF}"/>
              </a:ext>
            </a:extLst>
          </p:cNvPr>
          <p:cNvPicPr>
            <a:picLocks noChangeAspect="1"/>
          </p:cNvPicPr>
          <p:nvPr/>
        </p:nvPicPr>
        <p:blipFill>
          <a:blip r:embed="rId4">
            <a:duotone>
              <a:prstClr val="black"/>
              <a:srgbClr val="8A3FFC">
                <a:tint val="45000"/>
                <a:satMod val="400000"/>
              </a:srgbClr>
            </a:duotone>
          </a:blip>
          <a:stretch>
            <a:fillRect/>
          </a:stretch>
        </p:blipFill>
        <p:spPr>
          <a:xfrm>
            <a:off x="3666744" y="1940468"/>
            <a:ext cx="402336" cy="402336"/>
          </a:xfrm>
          <a:prstGeom prst="rect">
            <a:avLst/>
          </a:prstGeom>
        </p:spPr>
      </p:pic>
      <p:sp>
        <p:nvSpPr>
          <p:cNvPr id="24" name="Text 16">
            <a:extLst>
              <a:ext uri="{FF2B5EF4-FFF2-40B4-BE49-F238E27FC236}">
                <a16:creationId xmlns:a16="http://schemas.microsoft.com/office/drawing/2014/main" id="{282B6281-890E-4F63-A412-AF5F0DB593AC}"/>
              </a:ext>
            </a:extLst>
          </p:cNvPr>
          <p:cNvSpPr/>
          <p:nvPr/>
        </p:nvSpPr>
        <p:spPr>
          <a:xfrm>
            <a:off x="3666744" y="2434244"/>
            <a:ext cx="2240280" cy="502920"/>
          </a:xfrm>
          <a:prstGeom prst="rect">
            <a:avLst/>
          </a:prstGeom>
          <a:noFill/>
          <a:ln/>
        </p:spPr>
        <p:txBody>
          <a:bodyPr wrap="square" lIns="0" tIns="0" rIns="0" bIns="0" rtlCol="0" anchor="t"/>
          <a:lstStyle/>
          <a:p>
            <a:pPr marL="0" indent="0">
              <a:buNone/>
            </a:pPr>
            <a:r>
              <a:rPr lang="en-US" sz="1300" b="1" kern="0" spc="30" dirty="0">
                <a:solidFill>
                  <a:srgbClr val="161616"/>
                </a:solidFill>
                <a:latin typeface="IBM Plex Sans" pitchFamily="34" charset="0"/>
                <a:ea typeface="IBM Plex Sans" pitchFamily="34" charset="-122"/>
                <a:cs typeface="IBM Plex Sans" pitchFamily="34" charset="-120"/>
              </a:rPr>
              <a:t>PROJETS &amp; FORMULAIRES</a:t>
            </a:r>
            <a:endParaRPr lang="en-US" sz="1300" dirty="0"/>
          </a:p>
        </p:txBody>
      </p:sp>
      <p:sp>
        <p:nvSpPr>
          <p:cNvPr id="25" name="Shape 17">
            <a:extLst>
              <a:ext uri="{FF2B5EF4-FFF2-40B4-BE49-F238E27FC236}">
                <a16:creationId xmlns:a16="http://schemas.microsoft.com/office/drawing/2014/main" id="{9D8F65CF-B832-4698-B29E-591A50036116}"/>
              </a:ext>
            </a:extLst>
          </p:cNvPr>
          <p:cNvSpPr/>
          <p:nvPr/>
        </p:nvSpPr>
        <p:spPr>
          <a:xfrm>
            <a:off x="3666744" y="2874172"/>
            <a:ext cx="2176272" cy="0"/>
          </a:xfrm>
          <a:prstGeom prst="line">
            <a:avLst/>
          </a:prstGeom>
          <a:noFill/>
          <a:ln w="9525">
            <a:solidFill>
              <a:srgbClr val="C6C6C6"/>
            </a:solidFill>
            <a:prstDash val="solid"/>
          </a:ln>
        </p:spPr>
      </p:sp>
      <p:sp>
        <p:nvSpPr>
          <p:cNvPr id="26" name="Text 18">
            <a:extLst>
              <a:ext uri="{FF2B5EF4-FFF2-40B4-BE49-F238E27FC236}">
                <a16:creationId xmlns:a16="http://schemas.microsoft.com/office/drawing/2014/main" id="{A6D40313-0F26-4518-B1D4-5F6A0C6232B8}"/>
              </a:ext>
            </a:extLst>
          </p:cNvPr>
          <p:cNvSpPr/>
          <p:nvPr/>
        </p:nvSpPr>
        <p:spPr>
          <a:xfrm>
            <a:off x="3666744" y="2902112"/>
            <a:ext cx="2194560" cy="201168"/>
          </a:xfrm>
          <a:prstGeom prst="rect">
            <a:avLst/>
          </a:prstGeom>
          <a:noFill/>
          <a:ln/>
        </p:spPr>
        <p:txBody>
          <a:bodyPr wrap="square" lIns="0" tIns="0" rIns="0" bIns="0" rtlCol="0" anchor="ctr"/>
          <a:lstStyle/>
          <a:p>
            <a:pPr marL="0" indent="0">
              <a:buNone/>
            </a:pPr>
            <a:r>
              <a:rPr lang="en-US" sz="800" b="1" kern="0" spc="150" dirty="0">
                <a:solidFill>
                  <a:srgbClr val="8A3FFC"/>
                </a:solidFill>
                <a:latin typeface="IBM Plex Mono" pitchFamily="34" charset="0"/>
                <a:ea typeface="IBM Plex Mono" pitchFamily="34" charset="-122"/>
                <a:cs typeface="IBM Plex Mono" pitchFamily="34" charset="-120"/>
              </a:rPr>
              <a:t>ON GÉNÈRE</a:t>
            </a:r>
            <a:endParaRPr lang="en-US" sz="800" dirty="0">
              <a:solidFill>
                <a:srgbClr val="8A3FFC"/>
              </a:solidFill>
            </a:endParaRPr>
          </a:p>
        </p:txBody>
      </p:sp>
      <p:sp>
        <p:nvSpPr>
          <p:cNvPr id="27" name="Text 19">
            <a:extLst>
              <a:ext uri="{FF2B5EF4-FFF2-40B4-BE49-F238E27FC236}">
                <a16:creationId xmlns:a16="http://schemas.microsoft.com/office/drawing/2014/main" id="{C12C2BCA-4E0D-464D-8DE7-C2B2D4BFCDA5}"/>
              </a:ext>
            </a:extLst>
          </p:cNvPr>
          <p:cNvSpPr/>
          <p:nvPr/>
        </p:nvSpPr>
        <p:spPr>
          <a:xfrm>
            <a:off x="3666744" y="3103280"/>
            <a:ext cx="2194560" cy="914400"/>
          </a:xfrm>
          <a:prstGeom prst="rect">
            <a:avLst/>
          </a:prstGeom>
          <a:noFill/>
          <a:ln/>
        </p:spPr>
        <p:txBody>
          <a:bodyPr wrap="square" lIns="0" tIns="0" rIns="0" bIns="0" rtlCol="0" anchor="t"/>
          <a:lstStyle/>
          <a:p>
            <a:pPr marL="0" indent="0">
              <a:buNone/>
            </a:pPr>
            <a:r>
              <a:rPr lang="en-US" sz="800" dirty="0">
                <a:solidFill>
                  <a:srgbClr val="525252"/>
                </a:solidFill>
                <a:latin typeface="IBM Plex Sans" pitchFamily="34" charset="0"/>
                <a:ea typeface="IBM Plex Sans" pitchFamily="34" charset="-122"/>
                <a:cs typeface="IBM Plex Sans" pitchFamily="34" charset="-120"/>
              </a:rPr>
              <a:t>CRUD projets, création formulaire, ajout de champs, association projet↔form.</a:t>
            </a:r>
            <a:endParaRPr lang="en-US" sz="800" dirty="0"/>
          </a:p>
        </p:txBody>
      </p:sp>
      <p:pic>
        <p:nvPicPr>
          <p:cNvPr id="28" name="Image 3" descr="preencoded.png">
            <a:extLst>
              <a:ext uri="{FF2B5EF4-FFF2-40B4-BE49-F238E27FC236}">
                <a16:creationId xmlns:a16="http://schemas.microsoft.com/office/drawing/2014/main" id="{314E8923-5ED5-452A-87F6-3A699E0858B9}"/>
              </a:ext>
            </a:extLst>
          </p:cNvPr>
          <p:cNvPicPr>
            <a:picLocks noChangeAspect="1"/>
          </p:cNvPicPr>
          <p:nvPr/>
        </p:nvPicPr>
        <p:blipFill>
          <a:blip r:embed="rId3"/>
          <a:stretch>
            <a:fillRect/>
          </a:stretch>
        </p:blipFill>
        <p:spPr>
          <a:xfrm>
            <a:off x="3666744" y="3421796"/>
            <a:ext cx="182880" cy="182880"/>
          </a:xfrm>
          <a:prstGeom prst="rect">
            <a:avLst/>
          </a:prstGeom>
        </p:spPr>
      </p:pic>
      <p:sp>
        <p:nvSpPr>
          <p:cNvPr id="29" name="Text 20">
            <a:extLst>
              <a:ext uri="{FF2B5EF4-FFF2-40B4-BE49-F238E27FC236}">
                <a16:creationId xmlns:a16="http://schemas.microsoft.com/office/drawing/2014/main" id="{CFD4CBB1-93C5-4B61-86FD-CC0ECD65D818}"/>
              </a:ext>
            </a:extLst>
          </p:cNvPr>
          <p:cNvSpPr/>
          <p:nvPr/>
        </p:nvSpPr>
        <p:spPr>
          <a:xfrm>
            <a:off x="3904488" y="3412652"/>
            <a:ext cx="2011680" cy="201168"/>
          </a:xfrm>
          <a:prstGeom prst="rect">
            <a:avLst/>
          </a:prstGeom>
          <a:noFill/>
          <a:ln/>
        </p:spPr>
        <p:txBody>
          <a:bodyPr wrap="square" lIns="0" tIns="0" rIns="0" bIns="0" rtlCol="0" anchor="ctr"/>
          <a:lstStyle/>
          <a:p>
            <a:pPr marL="0" indent="0">
              <a:buNone/>
            </a:pPr>
            <a:r>
              <a:rPr lang="en-US" sz="800" b="1" kern="0" spc="150" dirty="0">
                <a:solidFill>
                  <a:srgbClr val="24A148"/>
                </a:solidFill>
                <a:latin typeface="IBM Plex Mono" pitchFamily="34" charset="0"/>
                <a:ea typeface="IBM Plex Mono" pitchFamily="34" charset="-122"/>
                <a:cs typeface="IBM Plex Mono" pitchFamily="34" charset="-120"/>
              </a:rPr>
              <a:t>ON VÉRIFIE</a:t>
            </a:r>
            <a:endParaRPr lang="en-US" sz="800" dirty="0"/>
          </a:p>
        </p:txBody>
      </p:sp>
      <p:sp>
        <p:nvSpPr>
          <p:cNvPr id="30" name="Text 21">
            <a:extLst>
              <a:ext uri="{FF2B5EF4-FFF2-40B4-BE49-F238E27FC236}">
                <a16:creationId xmlns:a16="http://schemas.microsoft.com/office/drawing/2014/main" id="{A89EF982-9809-4EB2-84EC-C9F5900F087A}"/>
              </a:ext>
            </a:extLst>
          </p:cNvPr>
          <p:cNvSpPr/>
          <p:nvPr/>
        </p:nvSpPr>
        <p:spPr>
          <a:xfrm>
            <a:off x="3666744" y="3622964"/>
            <a:ext cx="2194560" cy="457200"/>
          </a:xfrm>
          <a:prstGeom prst="rect">
            <a:avLst/>
          </a:prstGeom>
          <a:noFill/>
          <a:ln/>
        </p:spPr>
        <p:txBody>
          <a:bodyPr wrap="square" lIns="0" tIns="0" rIns="0" bIns="0" rtlCol="0" anchor="t"/>
          <a:lstStyle/>
          <a:p>
            <a:pPr marL="0" indent="0">
              <a:buNone/>
            </a:pPr>
            <a:r>
              <a:rPr lang="en-US" sz="800" i="1" dirty="0">
                <a:solidFill>
                  <a:srgbClr val="161616"/>
                </a:solidFill>
                <a:latin typeface="IBM Plex Sans" pitchFamily="34" charset="0"/>
                <a:ea typeface="IBM Plex Sans" pitchFamily="34" charset="-122"/>
                <a:cs typeface="IBM Plex Sans" pitchFamily="34" charset="-120"/>
              </a:rPr>
              <a:t>POST /projects puis /forms/{id}/fields renvoient 200.</a:t>
            </a:r>
            <a:endParaRPr lang="en-US" sz="800" dirty="0"/>
          </a:p>
        </p:txBody>
      </p:sp>
      <p:sp>
        <p:nvSpPr>
          <p:cNvPr id="31" name="Text 22">
            <a:extLst>
              <a:ext uri="{FF2B5EF4-FFF2-40B4-BE49-F238E27FC236}">
                <a16:creationId xmlns:a16="http://schemas.microsoft.com/office/drawing/2014/main" id="{89F9B054-81A8-4CA7-98F7-46DE1EAA8666}"/>
              </a:ext>
            </a:extLst>
          </p:cNvPr>
          <p:cNvSpPr/>
          <p:nvPr/>
        </p:nvSpPr>
        <p:spPr>
          <a:xfrm>
            <a:off x="6099048" y="2975264"/>
            <a:ext cx="192024" cy="457200"/>
          </a:xfrm>
          <a:prstGeom prst="rect">
            <a:avLst/>
          </a:prstGeom>
          <a:noFill/>
          <a:ln/>
        </p:spPr>
        <p:txBody>
          <a:bodyPr wrap="square" lIns="0" tIns="0" rIns="0" bIns="0" rtlCol="0" anchor="ctr"/>
          <a:lstStyle/>
          <a:p>
            <a:pPr marL="0" indent="0" algn="ctr">
              <a:buNone/>
            </a:pPr>
            <a:r>
              <a:rPr lang="en-US" sz="800" b="1" dirty="0">
                <a:solidFill>
                  <a:srgbClr val="0F62FE"/>
                </a:solidFill>
                <a:latin typeface="IBM Plex Sans" pitchFamily="34" charset="0"/>
                <a:ea typeface="IBM Plex Sans" pitchFamily="34" charset="-122"/>
                <a:cs typeface="IBM Plex Sans" pitchFamily="34" charset="-120"/>
              </a:rPr>
              <a:t>→</a:t>
            </a:r>
            <a:endParaRPr lang="en-US" sz="800" dirty="0"/>
          </a:p>
        </p:txBody>
      </p:sp>
      <p:sp>
        <p:nvSpPr>
          <p:cNvPr id="32" name="Shape 23">
            <a:extLst>
              <a:ext uri="{FF2B5EF4-FFF2-40B4-BE49-F238E27FC236}">
                <a16:creationId xmlns:a16="http://schemas.microsoft.com/office/drawing/2014/main" id="{07DDAE18-498F-4552-A986-C7BAEEB6F70A}"/>
              </a:ext>
            </a:extLst>
          </p:cNvPr>
          <p:cNvSpPr/>
          <p:nvPr/>
        </p:nvSpPr>
        <p:spPr>
          <a:xfrm>
            <a:off x="6309360" y="1702725"/>
            <a:ext cx="2651760" cy="2172174"/>
          </a:xfrm>
          <a:prstGeom prst="rect">
            <a:avLst/>
          </a:prstGeom>
          <a:solidFill>
            <a:srgbClr val="F4F4F4"/>
          </a:solidFill>
          <a:ln w="9525">
            <a:solidFill>
              <a:srgbClr val="C6C6C6"/>
            </a:solidFill>
            <a:prstDash val="solid"/>
          </a:ln>
        </p:spPr>
      </p:sp>
      <p:sp>
        <p:nvSpPr>
          <p:cNvPr id="33" name="Shape 24">
            <a:extLst>
              <a:ext uri="{FF2B5EF4-FFF2-40B4-BE49-F238E27FC236}">
                <a16:creationId xmlns:a16="http://schemas.microsoft.com/office/drawing/2014/main" id="{4850FB8C-3314-4708-A09E-8B09E42121F1}"/>
              </a:ext>
            </a:extLst>
          </p:cNvPr>
          <p:cNvSpPr/>
          <p:nvPr/>
        </p:nvSpPr>
        <p:spPr>
          <a:xfrm>
            <a:off x="6309359" y="1702724"/>
            <a:ext cx="54000" cy="2163562"/>
          </a:xfrm>
          <a:prstGeom prst="rect">
            <a:avLst/>
          </a:prstGeom>
          <a:solidFill>
            <a:schemeClr val="accent2"/>
          </a:solidFill>
          <a:ln>
            <a:solidFill>
              <a:srgbClr val="8A3FFC"/>
            </a:solidFill>
          </a:ln>
        </p:spPr>
      </p:sp>
      <p:sp>
        <p:nvSpPr>
          <p:cNvPr id="34" name="Text 25">
            <a:extLst>
              <a:ext uri="{FF2B5EF4-FFF2-40B4-BE49-F238E27FC236}">
                <a16:creationId xmlns:a16="http://schemas.microsoft.com/office/drawing/2014/main" id="{0560E10A-0BC4-499A-855B-1E87AF23B67A}"/>
              </a:ext>
            </a:extLst>
          </p:cNvPr>
          <p:cNvSpPr/>
          <p:nvPr/>
        </p:nvSpPr>
        <p:spPr>
          <a:xfrm>
            <a:off x="8046720" y="1812452"/>
            <a:ext cx="822960" cy="548640"/>
          </a:xfrm>
          <a:prstGeom prst="rect">
            <a:avLst/>
          </a:prstGeom>
          <a:noFill/>
          <a:ln/>
        </p:spPr>
        <p:txBody>
          <a:bodyPr wrap="square" lIns="0" tIns="0" rIns="0" bIns="0" rtlCol="0" anchor="ctr"/>
          <a:lstStyle/>
          <a:p>
            <a:pPr marL="0" indent="0" algn="r">
              <a:buNone/>
            </a:pPr>
            <a:r>
              <a:rPr lang="en-US" sz="2800" b="1" dirty="0">
                <a:solidFill>
                  <a:srgbClr val="8A3FFC"/>
                </a:solidFill>
                <a:latin typeface="IBM Plex Mono" pitchFamily="34" charset="0"/>
                <a:ea typeface="IBM Plex Mono" pitchFamily="34" charset="-122"/>
                <a:cs typeface="IBM Plex Mono" pitchFamily="34" charset="-120"/>
              </a:rPr>
              <a:t>V3</a:t>
            </a:r>
            <a:endParaRPr lang="en-US" sz="2800" dirty="0">
              <a:solidFill>
                <a:srgbClr val="8A3FFC"/>
              </a:solidFill>
            </a:endParaRPr>
          </a:p>
        </p:txBody>
      </p:sp>
      <p:pic>
        <p:nvPicPr>
          <p:cNvPr id="35" name="Image 4" descr="preencoded.png">
            <a:extLst>
              <a:ext uri="{FF2B5EF4-FFF2-40B4-BE49-F238E27FC236}">
                <a16:creationId xmlns:a16="http://schemas.microsoft.com/office/drawing/2014/main" id="{A6744956-5568-4AE8-BC50-BFDCCB74F51D}"/>
              </a:ext>
            </a:extLst>
          </p:cNvPr>
          <p:cNvPicPr>
            <a:picLocks noChangeAspect="1"/>
          </p:cNvPicPr>
          <p:nvPr/>
        </p:nvPicPr>
        <p:blipFill>
          <a:blip r:embed="rId5">
            <a:duotone>
              <a:prstClr val="black"/>
              <a:srgbClr val="8A3FFC">
                <a:tint val="45000"/>
                <a:satMod val="400000"/>
              </a:srgbClr>
            </a:duotone>
          </a:blip>
          <a:stretch>
            <a:fillRect/>
          </a:stretch>
        </p:blipFill>
        <p:spPr>
          <a:xfrm>
            <a:off x="6547104" y="1940468"/>
            <a:ext cx="402336" cy="402336"/>
          </a:xfrm>
          <a:prstGeom prst="rect">
            <a:avLst/>
          </a:prstGeom>
        </p:spPr>
      </p:pic>
      <p:sp>
        <p:nvSpPr>
          <p:cNvPr id="36" name="Text 26">
            <a:extLst>
              <a:ext uri="{FF2B5EF4-FFF2-40B4-BE49-F238E27FC236}">
                <a16:creationId xmlns:a16="http://schemas.microsoft.com/office/drawing/2014/main" id="{04590EBC-9493-4C59-8BC9-C808C5F2DCE2}"/>
              </a:ext>
            </a:extLst>
          </p:cNvPr>
          <p:cNvSpPr/>
          <p:nvPr/>
        </p:nvSpPr>
        <p:spPr>
          <a:xfrm>
            <a:off x="6547104" y="2434244"/>
            <a:ext cx="2240280" cy="502920"/>
          </a:xfrm>
          <a:prstGeom prst="rect">
            <a:avLst/>
          </a:prstGeom>
          <a:noFill/>
          <a:ln/>
        </p:spPr>
        <p:txBody>
          <a:bodyPr wrap="square" lIns="0" tIns="0" rIns="0" bIns="0" rtlCol="0" anchor="t"/>
          <a:lstStyle/>
          <a:p>
            <a:pPr marL="0" indent="0">
              <a:buNone/>
            </a:pPr>
            <a:r>
              <a:rPr lang="en-US" sz="1300" b="1" kern="0" spc="30" dirty="0">
                <a:solidFill>
                  <a:srgbClr val="161616"/>
                </a:solidFill>
                <a:latin typeface="IBM Plex Sans" pitchFamily="34" charset="0"/>
                <a:ea typeface="IBM Plex Sans" pitchFamily="34" charset="-122"/>
                <a:cs typeface="IBM Plex Sans" pitchFamily="34" charset="-120"/>
              </a:rPr>
              <a:t>IMAGES &amp; MÉTADONNÉES</a:t>
            </a:r>
            <a:endParaRPr lang="en-US" sz="1300" dirty="0"/>
          </a:p>
        </p:txBody>
      </p:sp>
      <p:sp>
        <p:nvSpPr>
          <p:cNvPr id="37" name="Shape 27">
            <a:extLst>
              <a:ext uri="{FF2B5EF4-FFF2-40B4-BE49-F238E27FC236}">
                <a16:creationId xmlns:a16="http://schemas.microsoft.com/office/drawing/2014/main" id="{61F20DAF-2217-4D8A-B964-2E174D97584D}"/>
              </a:ext>
            </a:extLst>
          </p:cNvPr>
          <p:cNvSpPr/>
          <p:nvPr/>
        </p:nvSpPr>
        <p:spPr>
          <a:xfrm>
            <a:off x="6547104" y="2874172"/>
            <a:ext cx="2176272" cy="0"/>
          </a:xfrm>
          <a:prstGeom prst="line">
            <a:avLst/>
          </a:prstGeom>
          <a:noFill/>
          <a:ln w="9525">
            <a:solidFill>
              <a:srgbClr val="C6C6C6"/>
            </a:solidFill>
            <a:prstDash val="solid"/>
          </a:ln>
        </p:spPr>
      </p:sp>
      <p:sp>
        <p:nvSpPr>
          <p:cNvPr id="38" name="Text 28">
            <a:extLst>
              <a:ext uri="{FF2B5EF4-FFF2-40B4-BE49-F238E27FC236}">
                <a16:creationId xmlns:a16="http://schemas.microsoft.com/office/drawing/2014/main" id="{9D07F79F-9DE7-4590-906E-B0B7FE5151CD}"/>
              </a:ext>
            </a:extLst>
          </p:cNvPr>
          <p:cNvSpPr/>
          <p:nvPr/>
        </p:nvSpPr>
        <p:spPr>
          <a:xfrm>
            <a:off x="6547104" y="2902112"/>
            <a:ext cx="2194560" cy="201168"/>
          </a:xfrm>
          <a:prstGeom prst="rect">
            <a:avLst/>
          </a:prstGeom>
          <a:noFill/>
          <a:ln/>
        </p:spPr>
        <p:txBody>
          <a:bodyPr wrap="square" lIns="0" tIns="0" rIns="0" bIns="0" rtlCol="0" anchor="ctr"/>
          <a:lstStyle/>
          <a:p>
            <a:pPr marL="0" indent="0">
              <a:buNone/>
            </a:pPr>
            <a:r>
              <a:rPr lang="en-US" sz="800" b="1" kern="0" spc="150" dirty="0">
                <a:solidFill>
                  <a:srgbClr val="8A3FFC"/>
                </a:solidFill>
                <a:latin typeface="IBM Plex Mono" pitchFamily="34" charset="0"/>
                <a:ea typeface="IBM Plex Mono" pitchFamily="34" charset="-122"/>
                <a:cs typeface="IBM Plex Mono" pitchFamily="34" charset="-120"/>
              </a:rPr>
              <a:t>ON GÉNÈRE</a:t>
            </a:r>
            <a:endParaRPr lang="en-US" sz="800" dirty="0">
              <a:solidFill>
                <a:srgbClr val="8A3FFC"/>
              </a:solidFill>
            </a:endParaRPr>
          </a:p>
        </p:txBody>
      </p:sp>
      <p:sp>
        <p:nvSpPr>
          <p:cNvPr id="39" name="Text 29">
            <a:extLst>
              <a:ext uri="{FF2B5EF4-FFF2-40B4-BE49-F238E27FC236}">
                <a16:creationId xmlns:a16="http://schemas.microsoft.com/office/drawing/2014/main" id="{169B336F-AF4D-4ED9-9317-CC510D4C6FB9}"/>
              </a:ext>
            </a:extLst>
          </p:cNvPr>
          <p:cNvSpPr/>
          <p:nvPr/>
        </p:nvSpPr>
        <p:spPr>
          <a:xfrm>
            <a:off x="6547104" y="3103280"/>
            <a:ext cx="2194560" cy="914400"/>
          </a:xfrm>
          <a:prstGeom prst="rect">
            <a:avLst/>
          </a:prstGeom>
          <a:noFill/>
          <a:ln/>
        </p:spPr>
        <p:txBody>
          <a:bodyPr wrap="square" lIns="0" tIns="0" rIns="0" bIns="0" rtlCol="0" anchor="t"/>
          <a:lstStyle/>
          <a:p>
            <a:pPr marL="0" indent="0">
              <a:buNone/>
            </a:pPr>
            <a:r>
              <a:rPr lang="en-US" sz="800" dirty="0">
                <a:solidFill>
                  <a:srgbClr val="525252"/>
                </a:solidFill>
                <a:latin typeface="IBM Plex Sans" pitchFamily="34" charset="0"/>
                <a:ea typeface="IBM Plex Sans" pitchFamily="34" charset="-122"/>
                <a:cs typeface="IBM Plex Sans" pitchFamily="34" charset="-120"/>
              </a:rPr>
              <a:t>Ajout d'images au projet (s3Url + metadata JSON), liste paginée.</a:t>
            </a:r>
            <a:endParaRPr lang="en-US" sz="800" dirty="0"/>
          </a:p>
        </p:txBody>
      </p:sp>
      <p:pic>
        <p:nvPicPr>
          <p:cNvPr id="40" name="Image 5" descr="preencoded.png">
            <a:extLst>
              <a:ext uri="{FF2B5EF4-FFF2-40B4-BE49-F238E27FC236}">
                <a16:creationId xmlns:a16="http://schemas.microsoft.com/office/drawing/2014/main" id="{128FE0E0-3139-4854-A691-3FF28BF3EAE5}"/>
              </a:ext>
            </a:extLst>
          </p:cNvPr>
          <p:cNvPicPr>
            <a:picLocks noChangeAspect="1"/>
          </p:cNvPicPr>
          <p:nvPr/>
        </p:nvPicPr>
        <p:blipFill>
          <a:blip r:embed="rId3"/>
          <a:stretch>
            <a:fillRect/>
          </a:stretch>
        </p:blipFill>
        <p:spPr>
          <a:xfrm>
            <a:off x="6547104" y="3421796"/>
            <a:ext cx="182880" cy="182880"/>
          </a:xfrm>
          <a:prstGeom prst="rect">
            <a:avLst/>
          </a:prstGeom>
        </p:spPr>
      </p:pic>
      <p:sp>
        <p:nvSpPr>
          <p:cNvPr id="41" name="Text 30">
            <a:extLst>
              <a:ext uri="{FF2B5EF4-FFF2-40B4-BE49-F238E27FC236}">
                <a16:creationId xmlns:a16="http://schemas.microsoft.com/office/drawing/2014/main" id="{89FFDD25-CA1D-4FFF-9DFF-F8659EC1BADC}"/>
              </a:ext>
            </a:extLst>
          </p:cNvPr>
          <p:cNvSpPr/>
          <p:nvPr/>
        </p:nvSpPr>
        <p:spPr>
          <a:xfrm>
            <a:off x="6784848" y="3412652"/>
            <a:ext cx="2011680" cy="201168"/>
          </a:xfrm>
          <a:prstGeom prst="rect">
            <a:avLst/>
          </a:prstGeom>
          <a:noFill/>
          <a:ln/>
        </p:spPr>
        <p:txBody>
          <a:bodyPr wrap="square" lIns="0" tIns="0" rIns="0" bIns="0" rtlCol="0" anchor="ctr"/>
          <a:lstStyle/>
          <a:p>
            <a:pPr marL="0" indent="0">
              <a:buNone/>
            </a:pPr>
            <a:r>
              <a:rPr lang="en-US" sz="800" b="1" kern="0" spc="150" dirty="0">
                <a:solidFill>
                  <a:srgbClr val="24A148"/>
                </a:solidFill>
                <a:latin typeface="IBM Plex Mono" pitchFamily="34" charset="0"/>
                <a:ea typeface="IBM Plex Mono" pitchFamily="34" charset="-122"/>
                <a:cs typeface="IBM Plex Mono" pitchFamily="34" charset="-120"/>
              </a:rPr>
              <a:t>ON VÉRIFIE</a:t>
            </a:r>
            <a:endParaRPr lang="en-US" sz="800" dirty="0"/>
          </a:p>
        </p:txBody>
      </p:sp>
      <p:sp>
        <p:nvSpPr>
          <p:cNvPr id="42" name="Text 31">
            <a:extLst>
              <a:ext uri="{FF2B5EF4-FFF2-40B4-BE49-F238E27FC236}">
                <a16:creationId xmlns:a16="http://schemas.microsoft.com/office/drawing/2014/main" id="{84AF49EA-F0D9-443C-9EB2-C6E917509A2E}"/>
              </a:ext>
            </a:extLst>
          </p:cNvPr>
          <p:cNvSpPr/>
          <p:nvPr/>
        </p:nvSpPr>
        <p:spPr>
          <a:xfrm>
            <a:off x="6547104" y="3622964"/>
            <a:ext cx="2194560" cy="457200"/>
          </a:xfrm>
          <a:prstGeom prst="rect">
            <a:avLst/>
          </a:prstGeom>
          <a:noFill/>
          <a:ln/>
        </p:spPr>
        <p:txBody>
          <a:bodyPr wrap="square" lIns="0" tIns="0" rIns="0" bIns="0" rtlCol="0" anchor="t"/>
          <a:lstStyle/>
          <a:p>
            <a:pPr marL="0" indent="0">
              <a:buNone/>
            </a:pPr>
            <a:r>
              <a:rPr lang="en-US" sz="800" i="1" dirty="0">
                <a:solidFill>
                  <a:srgbClr val="161616"/>
                </a:solidFill>
                <a:latin typeface="IBM Plex Sans" pitchFamily="34" charset="0"/>
                <a:ea typeface="IBM Plex Sans" pitchFamily="34" charset="-122"/>
                <a:cs typeface="IBM Plex Sans" pitchFamily="34" charset="-120"/>
              </a:rPr>
              <a:t>metadata JSON persistée et relue via H2.</a:t>
            </a:r>
            <a:endParaRPr lang="en-US" sz="800" dirty="0"/>
          </a:p>
        </p:txBody>
      </p:sp>
      <p:sp>
        <p:nvSpPr>
          <p:cNvPr id="43" name="Text 32">
            <a:extLst>
              <a:ext uri="{FF2B5EF4-FFF2-40B4-BE49-F238E27FC236}">
                <a16:creationId xmlns:a16="http://schemas.microsoft.com/office/drawing/2014/main" id="{3964C7AF-A950-4BCD-BFA5-1F4FAB2D5D49}"/>
              </a:ext>
            </a:extLst>
          </p:cNvPr>
          <p:cNvSpPr/>
          <p:nvPr/>
        </p:nvSpPr>
        <p:spPr>
          <a:xfrm>
            <a:off x="8979408" y="2975264"/>
            <a:ext cx="192024" cy="457200"/>
          </a:xfrm>
          <a:prstGeom prst="rect">
            <a:avLst/>
          </a:prstGeom>
          <a:noFill/>
          <a:ln/>
        </p:spPr>
        <p:txBody>
          <a:bodyPr wrap="square" lIns="0" tIns="0" rIns="0" bIns="0" rtlCol="0" anchor="ctr"/>
          <a:lstStyle/>
          <a:p>
            <a:pPr marL="0" indent="0" algn="ctr">
              <a:buNone/>
            </a:pPr>
            <a:r>
              <a:rPr lang="en-US" sz="800" b="1" dirty="0">
                <a:solidFill>
                  <a:srgbClr val="0F62FE"/>
                </a:solidFill>
                <a:latin typeface="IBM Plex Sans" pitchFamily="34" charset="0"/>
                <a:ea typeface="IBM Plex Sans" pitchFamily="34" charset="-122"/>
                <a:cs typeface="IBM Plex Sans" pitchFamily="34" charset="-120"/>
              </a:rPr>
              <a:t>→</a:t>
            </a:r>
            <a:endParaRPr lang="en-US" sz="800" dirty="0"/>
          </a:p>
        </p:txBody>
      </p:sp>
      <p:sp>
        <p:nvSpPr>
          <p:cNvPr id="44" name="Shape 33">
            <a:extLst>
              <a:ext uri="{FF2B5EF4-FFF2-40B4-BE49-F238E27FC236}">
                <a16:creationId xmlns:a16="http://schemas.microsoft.com/office/drawing/2014/main" id="{8EA8AC06-D2C0-4399-8276-810229385652}"/>
              </a:ext>
            </a:extLst>
          </p:cNvPr>
          <p:cNvSpPr/>
          <p:nvPr/>
        </p:nvSpPr>
        <p:spPr>
          <a:xfrm>
            <a:off x="9189720" y="1702724"/>
            <a:ext cx="2651760" cy="2172179"/>
          </a:xfrm>
          <a:prstGeom prst="rect">
            <a:avLst/>
          </a:prstGeom>
          <a:solidFill>
            <a:srgbClr val="F4F4F4"/>
          </a:solidFill>
          <a:ln w="9525">
            <a:solidFill>
              <a:srgbClr val="C6C6C6"/>
            </a:solidFill>
            <a:prstDash val="solid"/>
          </a:ln>
        </p:spPr>
      </p:sp>
      <p:sp>
        <p:nvSpPr>
          <p:cNvPr id="45" name="Shape 34">
            <a:extLst>
              <a:ext uri="{FF2B5EF4-FFF2-40B4-BE49-F238E27FC236}">
                <a16:creationId xmlns:a16="http://schemas.microsoft.com/office/drawing/2014/main" id="{76AABF50-9B79-4F96-A9E0-6F825D9388DF}"/>
              </a:ext>
            </a:extLst>
          </p:cNvPr>
          <p:cNvSpPr/>
          <p:nvPr/>
        </p:nvSpPr>
        <p:spPr>
          <a:xfrm>
            <a:off x="9189719" y="1702725"/>
            <a:ext cx="54000" cy="2163564"/>
          </a:xfrm>
          <a:prstGeom prst="rect">
            <a:avLst/>
          </a:prstGeom>
          <a:solidFill>
            <a:schemeClr val="accent2"/>
          </a:solidFill>
          <a:ln>
            <a:solidFill>
              <a:srgbClr val="8A3FFC"/>
            </a:solidFill>
          </a:ln>
        </p:spPr>
      </p:sp>
      <p:sp>
        <p:nvSpPr>
          <p:cNvPr id="46" name="Text 35">
            <a:extLst>
              <a:ext uri="{FF2B5EF4-FFF2-40B4-BE49-F238E27FC236}">
                <a16:creationId xmlns:a16="http://schemas.microsoft.com/office/drawing/2014/main" id="{B5B139DC-7CC8-413B-91F1-FD8F1AC4D02C}"/>
              </a:ext>
            </a:extLst>
          </p:cNvPr>
          <p:cNvSpPr/>
          <p:nvPr/>
        </p:nvSpPr>
        <p:spPr>
          <a:xfrm>
            <a:off x="10927080" y="1812452"/>
            <a:ext cx="822960" cy="548640"/>
          </a:xfrm>
          <a:prstGeom prst="rect">
            <a:avLst/>
          </a:prstGeom>
          <a:noFill/>
          <a:ln/>
        </p:spPr>
        <p:txBody>
          <a:bodyPr wrap="square" lIns="0" tIns="0" rIns="0" bIns="0" rtlCol="0" anchor="ctr"/>
          <a:lstStyle/>
          <a:p>
            <a:pPr marL="0" indent="0" algn="r">
              <a:buNone/>
            </a:pPr>
            <a:r>
              <a:rPr lang="en-US" sz="2800" b="1" dirty="0">
                <a:solidFill>
                  <a:srgbClr val="8A3FFC"/>
                </a:solidFill>
                <a:latin typeface="IBM Plex Mono" pitchFamily="34" charset="0"/>
                <a:ea typeface="IBM Plex Mono" pitchFamily="34" charset="-122"/>
                <a:cs typeface="IBM Plex Mono" pitchFamily="34" charset="-120"/>
              </a:rPr>
              <a:t>V4</a:t>
            </a:r>
            <a:endParaRPr lang="en-US" sz="2800" dirty="0">
              <a:solidFill>
                <a:srgbClr val="8A3FFC"/>
              </a:solidFill>
            </a:endParaRPr>
          </a:p>
        </p:txBody>
      </p:sp>
      <p:pic>
        <p:nvPicPr>
          <p:cNvPr id="47" name="Image 6" descr="preencoded.png">
            <a:extLst>
              <a:ext uri="{FF2B5EF4-FFF2-40B4-BE49-F238E27FC236}">
                <a16:creationId xmlns:a16="http://schemas.microsoft.com/office/drawing/2014/main" id="{E26A6580-D7E6-4895-8421-DDBDE32B146D}"/>
              </a:ext>
            </a:extLst>
          </p:cNvPr>
          <p:cNvPicPr>
            <a:picLocks noChangeAspect="1"/>
          </p:cNvPicPr>
          <p:nvPr/>
        </p:nvPicPr>
        <p:blipFill>
          <a:blip r:embed="rId6">
            <a:duotone>
              <a:prstClr val="black"/>
              <a:srgbClr val="8A3FFC">
                <a:tint val="45000"/>
                <a:satMod val="400000"/>
              </a:srgbClr>
            </a:duotone>
          </a:blip>
          <a:stretch>
            <a:fillRect/>
          </a:stretch>
        </p:blipFill>
        <p:spPr>
          <a:xfrm>
            <a:off x="9427464" y="1940468"/>
            <a:ext cx="402336" cy="402336"/>
          </a:xfrm>
          <a:prstGeom prst="rect">
            <a:avLst/>
          </a:prstGeom>
        </p:spPr>
      </p:pic>
      <p:sp>
        <p:nvSpPr>
          <p:cNvPr id="48" name="Text 36">
            <a:extLst>
              <a:ext uri="{FF2B5EF4-FFF2-40B4-BE49-F238E27FC236}">
                <a16:creationId xmlns:a16="http://schemas.microsoft.com/office/drawing/2014/main" id="{8CBEABC7-8965-4678-A420-F76DC76C9DC6}"/>
              </a:ext>
            </a:extLst>
          </p:cNvPr>
          <p:cNvSpPr/>
          <p:nvPr/>
        </p:nvSpPr>
        <p:spPr>
          <a:xfrm>
            <a:off x="9427464" y="2434244"/>
            <a:ext cx="2240280" cy="502920"/>
          </a:xfrm>
          <a:prstGeom prst="rect">
            <a:avLst/>
          </a:prstGeom>
          <a:noFill/>
          <a:ln/>
        </p:spPr>
        <p:txBody>
          <a:bodyPr wrap="square" lIns="0" tIns="0" rIns="0" bIns="0" rtlCol="0" anchor="t"/>
          <a:lstStyle/>
          <a:p>
            <a:pPr marL="0" indent="0">
              <a:buNone/>
            </a:pPr>
            <a:r>
              <a:rPr lang="en-US" sz="1300" b="1" kern="0" spc="30" dirty="0">
                <a:solidFill>
                  <a:srgbClr val="161616"/>
                </a:solidFill>
                <a:latin typeface="IBM Plex Sans" pitchFamily="34" charset="0"/>
                <a:ea typeface="IBM Plex Sans" pitchFamily="34" charset="-122"/>
                <a:cs typeface="IBM Plex Sans" pitchFamily="34" charset="-120"/>
              </a:rPr>
              <a:t>ANNOTATION &amp; PRÉREMPLISSAGE</a:t>
            </a:r>
            <a:endParaRPr lang="en-US" sz="1300" dirty="0"/>
          </a:p>
        </p:txBody>
      </p:sp>
      <p:sp>
        <p:nvSpPr>
          <p:cNvPr id="49" name="Shape 37">
            <a:extLst>
              <a:ext uri="{FF2B5EF4-FFF2-40B4-BE49-F238E27FC236}">
                <a16:creationId xmlns:a16="http://schemas.microsoft.com/office/drawing/2014/main" id="{AC58F5C2-9573-4349-A692-A8B479BD1BC7}"/>
              </a:ext>
            </a:extLst>
          </p:cNvPr>
          <p:cNvSpPr/>
          <p:nvPr/>
        </p:nvSpPr>
        <p:spPr>
          <a:xfrm>
            <a:off x="9427464" y="2874172"/>
            <a:ext cx="2176272" cy="0"/>
          </a:xfrm>
          <a:prstGeom prst="line">
            <a:avLst/>
          </a:prstGeom>
          <a:noFill/>
          <a:ln w="9525">
            <a:solidFill>
              <a:srgbClr val="C6C6C6"/>
            </a:solidFill>
            <a:prstDash val="solid"/>
          </a:ln>
        </p:spPr>
      </p:sp>
      <p:sp>
        <p:nvSpPr>
          <p:cNvPr id="50" name="Text 38">
            <a:extLst>
              <a:ext uri="{FF2B5EF4-FFF2-40B4-BE49-F238E27FC236}">
                <a16:creationId xmlns:a16="http://schemas.microsoft.com/office/drawing/2014/main" id="{5791F292-C385-4232-9739-3A28D404264E}"/>
              </a:ext>
            </a:extLst>
          </p:cNvPr>
          <p:cNvSpPr/>
          <p:nvPr/>
        </p:nvSpPr>
        <p:spPr>
          <a:xfrm>
            <a:off x="9427464" y="2902112"/>
            <a:ext cx="2194560" cy="201168"/>
          </a:xfrm>
          <a:prstGeom prst="rect">
            <a:avLst/>
          </a:prstGeom>
          <a:noFill/>
          <a:ln/>
        </p:spPr>
        <p:txBody>
          <a:bodyPr wrap="square" lIns="0" tIns="0" rIns="0" bIns="0" rtlCol="0" anchor="ctr"/>
          <a:lstStyle/>
          <a:p>
            <a:pPr marL="0" indent="0">
              <a:buNone/>
            </a:pPr>
            <a:r>
              <a:rPr lang="en-US" sz="800" b="1" kern="0" spc="150" dirty="0">
                <a:solidFill>
                  <a:srgbClr val="8A3FFC"/>
                </a:solidFill>
                <a:latin typeface="IBM Plex Mono" pitchFamily="34" charset="0"/>
                <a:ea typeface="IBM Plex Mono" pitchFamily="34" charset="-122"/>
                <a:cs typeface="IBM Plex Mono" pitchFamily="34" charset="-120"/>
              </a:rPr>
              <a:t>ON GÉNÈRE</a:t>
            </a:r>
            <a:endParaRPr lang="en-US" sz="800" dirty="0">
              <a:solidFill>
                <a:srgbClr val="8A3FFC"/>
              </a:solidFill>
            </a:endParaRPr>
          </a:p>
        </p:txBody>
      </p:sp>
      <p:sp>
        <p:nvSpPr>
          <p:cNvPr id="51" name="Text 39">
            <a:extLst>
              <a:ext uri="{FF2B5EF4-FFF2-40B4-BE49-F238E27FC236}">
                <a16:creationId xmlns:a16="http://schemas.microsoft.com/office/drawing/2014/main" id="{1D5775B0-8DF4-4914-BD9B-44CBD111B991}"/>
              </a:ext>
            </a:extLst>
          </p:cNvPr>
          <p:cNvSpPr/>
          <p:nvPr/>
        </p:nvSpPr>
        <p:spPr>
          <a:xfrm>
            <a:off x="9427464" y="3103280"/>
            <a:ext cx="2194560" cy="914400"/>
          </a:xfrm>
          <a:prstGeom prst="rect">
            <a:avLst/>
          </a:prstGeom>
          <a:noFill/>
          <a:ln/>
        </p:spPr>
        <p:txBody>
          <a:bodyPr wrap="square" lIns="0" tIns="0" rIns="0" bIns="0" rtlCol="0" anchor="t"/>
          <a:lstStyle/>
          <a:p>
            <a:pPr marL="0" indent="0">
              <a:buNone/>
            </a:pPr>
            <a:r>
              <a:rPr lang="en-US" sz="800" dirty="0">
                <a:solidFill>
                  <a:srgbClr val="525252"/>
                </a:solidFill>
                <a:latin typeface="IBM Plex Sans" pitchFamily="34" charset="0"/>
                <a:ea typeface="IBM Plex Sans" pitchFamily="34" charset="-122"/>
                <a:cs typeface="IBM Plex Sans" pitchFamily="34" charset="-120"/>
              </a:rPr>
              <a:t>Form prérempli depuis metadata, sauvegarde annotation + field values snapshotées.</a:t>
            </a:r>
            <a:endParaRPr lang="en-US" sz="800" dirty="0"/>
          </a:p>
        </p:txBody>
      </p:sp>
      <p:pic>
        <p:nvPicPr>
          <p:cNvPr id="52" name="Image 7" descr="preencoded.png">
            <a:extLst>
              <a:ext uri="{FF2B5EF4-FFF2-40B4-BE49-F238E27FC236}">
                <a16:creationId xmlns:a16="http://schemas.microsoft.com/office/drawing/2014/main" id="{5C970021-4639-45C4-97C8-47A31449078A}"/>
              </a:ext>
            </a:extLst>
          </p:cNvPr>
          <p:cNvPicPr>
            <a:picLocks noChangeAspect="1"/>
          </p:cNvPicPr>
          <p:nvPr/>
        </p:nvPicPr>
        <p:blipFill>
          <a:blip r:embed="rId3"/>
          <a:stretch>
            <a:fillRect/>
          </a:stretch>
        </p:blipFill>
        <p:spPr>
          <a:xfrm>
            <a:off x="9427464" y="3421796"/>
            <a:ext cx="182880" cy="182880"/>
          </a:xfrm>
          <a:prstGeom prst="rect">
            <a:avLst/>
          </a:prstGeom>
        </p:spPr>
      </p:pic>
      <p:sp>
        <p:nvSpPr>
          <p:cNvPr id="53" name="Text 40">
            <a:extLst>
              <a:ext uri="{FF2B5EF4-FFF2-40B4-BE49-F238E27FC236}">
                <a16:creationId xmlns:a16="http://schemas.microsoft.com/office/drawing/2014/main" id="{2721421E-CD5F-4C98-9E03-42700351868B}"/>
              </a:ext>
            </a:extLst>
          </p:cNvPr>
          <p:cNvSpPr/>
          <p:nvPr/>
        </p:nvSpPr>
        <p:spPr>
          <a:xfrm>
            <a:off x="9665208" y="3412652"/>
            <a:ext cx="2011680" cy="201168"/>
          </a:xfrm>
          <a:prstGeom prst="rect">
            <a:avLst/>
          </a:prstGeom>
          <a:noFill/>
          <a:ln/>
        </p:spPr>
        <p:txBody>
          <a:bodyPr wrap="square" lIns="0" tIns="0" rIns="0" bIns="0" rtlCol="0" anchor="ctr"/>
          <a:lstStyle/>
          <a:p>
            <a:pPr marL="0" indent="0">
              <a:buNone/>
            </a:pPr>
            <a:r>
              <a:rPr lang="en-US" sz="800" b="1" kern="0" spc="150" dirty="0">
                <a:solidFill>
                  <a:srgbClr val="24A148"/>
                </a:solidFill>
                <a:latin typeface="IBM Plex Mono" pitchFamily="34" charset="0"/>
                <a:ea typeface="IBM Plex Mono" pitchFamily="34" charset="-122"/>
                <a:cs typeface="IBM Plex Mono" pitchFamily="34" charset="-120"/>
              </a:rPr>
              <a:t>ON VÉRIFIE</a:t>
            </a:r>
            <a:endParaRPr lang="en-US" sz="800" dirty="0"/>
          </a:p>
        </p:txBody>
      </p:sp>
      <p:sp>
        <p:nvSpPr>
          <p:cNvPr id="54" name="Text 41">
            <a:extLst>
              <a:ext uri="{FF2B5EF4-FFF2-40B4-BE49-F238E27FC236}">
                <a16:creationId xmlns:a16="http://schemas.microsoft.com/office/drawing/2014/main" id="{7A0DC0C6-EA1E-465E-B2F3-CA2A8110FD21}"/>
              </a:ext>
            </a:extLst>
          </p:cNvPr>
          <p:cNvSpPr/>
          <p:nvPr/>
        </p:nvSpPr>
        <p:spPr>
          <a:xfrm>
            <a:off x="9427464" y="3622964"/>
            <a:ext cx="2194560" cy="457200"/>
          </a:xfrm>
          <a:prstGeom prst="rect">
            <a:avLst/>
          </a:prstGeom>
          <a:noFill/>
          <a:ln/>
        </p:spPr>
        <p:txBody>
          <a:bodyPr wrap="square" lIns="0" tIns="0" rIns="0" bIns="0" rtlCol="0" anchor="t"/>
          <a:lstStyle/>
          <a:p>
            <a:pPr marL="0" indent="0">
              <a:buNone/>
            </a:pPr>
            <a:r>
              <a:rPr lang="en-US" sz="800" i="1" dirty="0">
                <a:solidFill>
                  <a:srgbClr val="161616"/>
                </a:solidFill>
                <a:latin typeface="IBM Plex Sans" pitchFamily="34" charset="0"/>
                <a:ea typeface="IBM Plex Sans" pitchFamily="34" charset="-122"/>
                <a:cs typeface="IBM Plex Sans" pitchFamily="34" charset="-120"/>
              </a:rPr>
              <a:t>Le champ amount se préremplit depuis l'image.</a:t>
            </a:r>
            <a:endParaRPr lang="en-US" sz="800" dirty="0"/>
          </a:p>
        </p:txBody>
      </p:sp>
      <p:sp>
        <p:nvSpPr>
          <p:cNvPr id="55" name="Text 42">
            <a:extLst>
              <a:ext uri="{FF2B5EF4-FFF2-40B4-BE49-F238E27FC236}">
                <a16:creationId xmlns:a16="http://schemas.microsoft.com/office/drawing/2014/main" id="{2F469CD4-30AF-4E71-98F7-2ED36637758A}"/>
              </a:ext>
            </a:extLst>
          </p:cNvPr>
          <p:cNvSpPr/>
          <p:nvPr/>
        </p:nvSpPr>
        <p:spPr>
          <a:xfrm>
            <a:off x="556258" y="3778375"/>
            <a:ext cx="371491" cy="457200"/>
          </a:xfrm>
          <a:prstGeom prst="rect">
            <a:avLst/>
          </a:prstGeom>
          <a:noFill/>
          <a:ln/>
        </p:spPr>
        <p:txBody>
          <a:bodyPr wrap="square" lIns="0" tIns="0" rIns="0" bIns="0" rtlCol="0" anchor="ctr"/>
          <a:lstStyle/>
          <a:p>
            <a:pPr marL="0" indent="0" algn="l">
              <a:buNone/>
            </a:pPr>
            <a:r>
              <a:rPr lang="en-US" sz="1800" b="1" dirty="0">
                <a:solidFill>
                  <a:srgbClr val="8A3FFC"/>
                </a:solidFill>
                <a:latin typeface="IBM Plex Sans" pitchFamily="34" charset="0"/>
                <a:ea typeface="IBM Plex Sans" pitchFamily="34" charset="-122"/>
                <a:cs typeface="IBM Plex Sans" pitchFamily="34" charset="-120"/>
              </a:rPr>
              <a:t>→</a:t>
            </a:r>
            <a:endParaRPr lang="en-US" sz="1800" dirty="0">
              <a:solidFill>
                <a:srgbClr val="8A3FFC"/>
              </a:solidFill>
            </a:endParaRPr>
          </a:p>
        </p:txBody>
      </p:sp>
      <p:sp>
        <p:nvSpPr>
          <p:cNvPr id="56" name="Text 43">
            <a:extLst>
              <a:ext uri="{FF2B5EF4-FFF2-40B4-BE49-F238E27FC236}">
                <a16:creationId xmlns:a16="http://schemas.microsoft.com/office/drawing/2014/main" id="{578DDCB6-14F4-49A2-A50A-E1FB3DA0ABD7}"/>
              </a:ext>
            </a:extLst>
          </p:cNvPr>
          <p:cNvSpPr/>
          <p:nvPr/>
        </p:nvSpPr>
        <p:spPr>
          <a:xfrm>
            <a:off x="922019" y="3778375"/>
            <a:ext cx="10866120" cy="457200"/>
          </a:xfrm>
          <a:prstGeom prst="rect">
            <a:avLst/>
          </a:prstGeom>
          <a:noFill/>
          <a:ln/>
        </p:spPr>
        <p:txBody>
          <a:bodyPr wrap="square" lIns="0" tIns="0" rIns="0" bIns="0" rtlCol="0" anchor="ctr"/>
          <a:lstStyle/>
          <a:p>
            <a:pPr marL="0" indent="0">
              <a:buNone/>
            </a:pPr>
            <a:r>
              <a:rPr lang="en-US" sz="1000" b="1" dirty="0">
                <a:solidFill>
                  <a:srgbClr val="161616"/>
                </a:solidFill>
                <a:latin typeface="Segoe UI" panose="020B0502040204020203" pitchFamily="34" charset="0"/>
                <a:ea typeface="IBM Plex Sans" pitchFamily="34" charset="-122"/>
                <a:cs typeface="Segoe UI" panose="020B0502040204020203" pitchFamily="34" charset="0"/>
              </a:rPr>
              <a:t>Boucle de retour : </a:t>
            </a:r>
            <a:r>
              <a:rPr lang="en-US" sz="1000" dirty="0">
                <a:solidFill>
                  <a:srgbClr val="525252"/>
                </a:solidFill>
                <a:latin typeface="Segoe UI" panose="020B0502040204020203" pitchFamily="34" charset="0"/>
                <a:ea typeface="IBM Plex Sans" pitchFamily="34" charset="-122"/>
                <a:cs typeface="Segoe UI" panose="020B0502040204020203" pitchFamily="34" charset="0"/>
              </a:rPr>
              <a:t>si une vague casse, on corrige avant d'avancer — l'erreur reste contenue. La spec initiale sert de référence à chaque vague, jamais de commande unique « fais tout ».</a:t>
            </a:r>
            <a:endParaRPr lang="en-US" sz="1000" dirty="0">
              <a:latin typeface="Segoe UI" panose="020B0502040204020203" pitchFamily="34" charset="0"/>
              <a:cs typeface="Segoe UI" panose="020B0502040204020203" pitchFamily="34" charset="0"/>
            </a:endParaRPr>
          </a:p>
        </p:txBody>
      </p:sp>
      <p:sp>
        <p:nvSpPr>
          <p:cNvPr id="57" name="Shape 3">
            <a:extLst>
              <a:ext uri="{FF2B5EF4-FFF2-40B4-BE49-F238E27FC236}">
                <a16:creationId xmlns:a16="http://schemas.microsoft.com/office/drawing/2014/main" id="{511CD186-FA74-4F8F-9FAA-B31008EE5577}"/>
              </a:ext>
            </a:extLst>
          </p:cNvPr>
          <p:cNvSpPr/>
          <p:nvPr/>
        </p:nvSpPr>
        <p:spPr>
          <a:xfrm>
            <a:off x="573024" y="4175124"/>
            <a:ext cx="2679192" cy="1525431"/>
          </a:xfrm>
          <a:prstGeom prst="rect">
            <a:avLst/>
          </a:prstGeom>
          <a:solidFill>
            <a:srgbClr val="F4F4F4"/>
          </a:solidFill>
          <a:ln w="9525">
            <a:solidFill>
              <a:srgbClr val="C6C6C6"/>
            </a:solidFill>
            <a:prstDash val="solid"/>
          </a:ln>
        </p:spPr>
      </p:sp>
      <p:sp>
        <p:nvSpPr>
          <p:cNvPr id="58" name="Shape 4">
            <a:extLst>
              <a:ext uri="{FF2B5EF4-FFF2-40B4-BE49-F238E27FC236}">
                <a16:creationId xmlns:a16="http://schemas.microsoft.com/office/drawing/2014/main" id="{99BC6DF9-C9CB-4099-9A80-D903D368892D}"/>
              </a:ext>
            </a:extLst>
          </p:cNvPr>
          <p:cNvSpPr/>
          <p:nvPr/>
        </p:nvSpPr>
        <p:spPr>
          <a:xfrm>
            <a:off x="573023" y="4175124"/>
            <a:ext cx="54000" cy="1525431"/>
          </a:xfrm>
          <a:prstGeom prst="rect">
            <a:avLst/>
          </a:prstGeom>
          <a:solidFill>
            <a:srgbClr val="08BB6C"/>
          </a:solidFill>
          <a:ln>
            <a:solidFill>
              <a:srgbClr val="42BE65"/>
            </a:solidFill>
          </a:ln>
        </p:spPr>
      </p:sp>
      <p:sp>
        <p:nvSpPr>
          <p:cNvPr id="59" name="Text 5">
            <a:extLst>
              <a:ext uri="{FF2B5EF4-FFF2-40B4-BE49-F238E27FC236}">
                <a16:creationId xmlns:a16="http://schemas.microsoft.com/office/drawing/2014/main" id="{DCB1FEFA-9371-48A7-A894-0E530C4A17AA}"/>
              </a:ext>
            </a:extLst>
          </p:cNvPr>
          <p:cNvSpPr/>
          <p:nvPr/>
        </p:nvSpPr>
        <p:spPr>
          <a:xfrm>
            <a:off x="2063496" y="4284851"/>
            <a:ext cx="1097280" cy="731520"/>
          </a:xfrm>
          <a:prstGeom prst="rect">
            <a:avLst/>
          </a:prstGeom>
          <a:noFill/>
          <a:ln/>
        </p:spPr>
        <p:txBody>
          <a:bodyPr wrap="square" lIns="0" tIns="0" rIns="0" bIns="0" rtlCol="0" anchor="ctr"/>
          <a:lstStyle/>
          <a:p>
            <a:pPr marL="0" indent="0" algn="r">
              <a:buNone/>
            </a:pPr>
            <a:r>
              <a:rPr lang="en-US" sz="3800" b="1" dirty="0">
                <a:solidFill>
                  <a:srgbClr val="42BE65"/>
                </a:solidFill>
                <a:latin typeface="IBM Plex Mono" pitchFamily="34" charset="0"/>
                <a:ea typeface="IBM Plex Mono" pitchFamily="34" charset="-122"/>
                <a:cs typeface="IBM Plex Mono" pitchFamily="34" charset="-120"/>
              </a:rPr>
              <a:t>01</a:t>
            </a:r>
            <a:endParaRPr lang="en-US" sz="3800" dirty="0">
              <a:solidFill>
                <a:srgbClr val="42BE65"/>
              </a:solidFill>
            </a:endParaRPr>
          </a:p>
        </p:txBody>
      </p:sp>
      <p:pic>
        <p:nvPicPr>
          <p:cNvPr id="60" name="Image 0" descr="preencoded.png">
            <a:extLst>
              <a:ext uri="{FF2B5EF4-FFF2-40B4-BE49-F238E27FC236}">
                <a16:creationId xmlns:a16="http://schemas.microsoft.com/office/drawing/2014/main" id="{1522715E-C194-4171-9B72-68BED0DAE7FF}"/>
              </a:ext>
            </a:extLst>
          </p:cNvPr>
          <p:cNvPicPr>
            <a:picLocks noChangeAspect="1"/>
          </p:cNvPicPr>
          <p:nvPr/>
        </p:nvPicPr>
        <p:blipFill>
          <a:blip r:embed="rId7">
            <a:duotone>
              <a:prstClr val="black"/>
              <a:srgbClr val="8A3FFC">
                <a:tint val="45000"/>
                <a:satMod val="400000"/>
              </a:srgbClr>
            </a:duotone>
          </a:blip>
          <a:stretch>
            <a:fillRect/>
          </a:stretch>
        </p:blipFill>
        <p:spPr>
          <a:xfrm>
            <a:off x="829056" y="4449443"/>
            <a:ext cx="420624" cy="420624"/>
          </a:xfrm>
          <a:prstGeom prst="rect">
            <a:avLst/>
          </a:prstGeom>
        </p:spPr>
      </p:pic>
      <p:sp>
        <p:nvSpPr>
          <p:cNvPr id="61" name="Text 6">
            <a:extLst>
              <a:ext uri="{FF2B5EF4-FFF2-40B4-BE49-F238E27FC236}">
                <a16:creationId xmlns:a16="http://schemas.microsoft.com/office/drawing/2014/main" id="{2E73D017-E12C-4277-B777-6A5536C74C80}"/>
              </a:ext>
            </a:extLst>
          </p:cNvPr>
          <p:cNvSpPr/>
          <p:nvPr/>
        </p:nvSpPr>
        <p:spPr>
          <a:xfrm>
            <a:off x="829056" y="4979795"/>
            <a:ext cx="2221992" cy="347472"/>
          </a:xfrm>
          <a:prstGeom prst="rect">
            <a:avLst/>
          </a:prstGeom>
          <a:noFill/>
          <a:ln/>
        </p:spPr>
        <p:txBody>
          <a:bodyPr wrap="square" lIns="0" tIns="0" rIns="0" bIns="0" rtlCol="0" anchor="ctr"/>
          <a:lstStyle/>
          <a:p>
            <a:pPr marL="0" indent="0">
              <a:buNone/>
            </a:pPr>
            <a:r>
              <a:rPr lang="en-US" sz="1700" b="1" kern="0" spc="100" dirty="0">
                <a:solidFill>
                  <a:srgbClr val="161616"/>
                </a:solidFill>
                <a:latin typeface="IBM Plex Sans" pitchFamily="34" charset="0"/>
                <a:ea typeface="IBM Plex Sans" pitchFamily="34" charset="-122"/>
                <a:cs typeface="IBM Plex Sans" pitchFamily="34" charset="-120"/>
              </a:rPr>
              <a:t>PRÉCIS</a:t>
            </a:r>
            <a:endParaRPr lang="en-US" sz="1700" dirty="0"/>
          </a:p>
        </p:txBody>
      </p:sp>
      <p:sp>
        <p:nvSpPr>
          <p:cNvPr id="62" name="Text 7">
            <a:extLst>
              <a:ext uri="{FF2B5EF4-FFF2-40B4-BE49-F238E27FC236}">
                <a16:creationId xmlns:a16="http://schemas.microsoft.com/office/drawing/2014/main" id="{450E9E55-9DBF-48DA-881E-8DDDCFA08F23}"/>
              </a:ext>
            </a:extLst>
          </p:cNvPr>
          <p:cNvSpPr/>
          <p:nvPr/>
        </p:nvSpPr>
        <p:spPr>
          <a:xfrm>
            <a:off x="829056" y="5345555"/>
            <a:ext cx="2221992" cy="292608"/>
          </a:xfrm>
          <a:prstGeom prst="rect">
            <a:avLst/>
          </a:prstGeom>
          <a:noFill/>
          <a:ln/>
        </p:spPr>
        <p:txBody>
          <a:bodyPr wrap="square" lIns="0" tIns="0" rIns="0" bIns="0" rtlCol="0" anchor="ctr"/>
          <a:lstStyle/>
          <a:p>
            <a:pPr marL="0" indent="0">
              <a:buNone/>
            </a:pPr>
            <a:r>
              <a:rPr lang="en-US" sz="1150" b="1" dirty="0">
                <a:solidFill>
                  <a:srgbClr val="42BE65"/>
                </a:solidFill>
                <a:latin typeface="IBM Plex Sans" pitchFamily="34" charset="0"/>
                <a:ea typeface="IBM Plex Sans" pitchFamily="34" charset="-122"/>
                <a:cs typeface="IBM Plex Sans" pitchFamily="34" charset="-120"/>
              </a:rPr>
              <a:t>Toujours</a:t>
            </a:r>
            <a:endParaRPr lang="en-US" sz="1150" dirty="0">
              <a:solidFill>
                <a:srgbClr val="42BE65"/>
              </a:solidFill>
            </a:endParaRPr>
          </a:p>
        </p:txBody>
      </p:sp>
      <p:sp>
        <p:nvSpPr>
          <p:cNvPr id="63" name="Shape 10">
            <a:extLst>
              <a:ext uri="{FF2B5EF4-FFF2-40B4-BE49-F238E27FC236}">
                <a16:creationId xmlns:a16="http://schemas.microsoft.com/office/drawing/2014/main" id="{90AFAF0B-3B4D-47E0-9D49-1879C6125C0E}"/>
              </a:ext>
            </a:extLst>
          </p:cNvPr>
          <p:cNvSpPr/>
          <p:nvPr/>
        </p:nvSpPr>
        <p:spPr>
          <a:xfrm>
            <a:off x="3416808" y="4175124"/>
            <a:ext cx="2679192" cy="1525431"/>
          </a:xfrm>
          <a:prstGeom prst="rect">
            <a:avLst/>
          </a:prstGeom>
          <a:solidFill>
            <a:srgbClr val="F4F4F4"/>
          </a:solidFill>
          <a:ln w="9525">
            <a:solidFill>
              <a:srgbClr val="C6C6C6"/>
            </a:solidFill>
            <a:prstDash val="solid"/>
          </a:ln>
        </p:spPr>
      </p:sp>
      <p:sp>
        <p:nvSpPr>
          <p:cNvPr id="64" name="Shape 11">
            <a:extLst>
              <a:ext uri="{FF2B5EF4-FFF2-40B4-BE49-F238E27FC236}">
                <a16:creationId xmlns:a16="http://schemas.microsoft.com/office/drawing/2014/main" id="{B2252DC5-16FA-4CA7-BCAB-1A0460774E37}"/>
              </a:ext>
            </a:extLst>
          </p:cNvPr>
          <p:cNvSpPr/>
          <p:nvPr/>
        </p:nvSpPr>
        <p:spPr>
          <a:xfrm>
            <a:off x="3416808" y="4175124"/>
            <a:ext cx="54000" cy="1525431"/>
          </a:xfrm>
          <a:prstGeom prst="rect">
            <a:avLst/>
          </a:prstGeom>
          <a:solidFill>
            <a:srgbClr val="08BB6C"/>
          </a:solidFill>
          <a:ln>
            <a:solidFill>
              <a:srgbClr val="42BE65"/>
            </a:solidFill>
          </a:ln>
        </p:spPr>
      </p:sp>
      <p:sp>
        <p:nvSpPr>
          <p:cNvPr id="65" name="Text 12">
            <a:extLst>
              <a:ext uri="{FF2B5EF4-FFF2-40B4-BE49-F238E27FC236}">
                <a16:creationId xmlns:a16="http://schemas.microsoft.com/office/drawing/2014/main" id="{D0F398FE-07CB-47C9-8AEA-BB240B95589B}"/>
              </a:ext>
            </a:extLst>
          </p:cNvPr>
          <p:cNvSpPr/>
          <p:nvPr/>
        </p:nvSpPr>
        <p:spPr>
          <a:xfrm>
            <a:off x="4907280" y="4284851"/>
            <a:ext cx="1097280" cy="731520"/>
          </a:xfrm>
          <a:prstGeom prst="rect">
            <a:avLst/>
          </a:prstGeom>
          <a:noFill/>
          <a:ln/>
        </p:spPr>
        <p:txBody>
          <a:bodyPr wrap="square" lIns="0" tIns="0" rIns="0" bIns="0" rtlCol="0" anchor="ctr"/>
          <a:lstStyle/>
          <a:p>
            <a:pPr marL="0" indent="0" algn="r">
              <a:buNone/>
            </a:pPr>
            <a:r>
              <a:rPr lang="en-US" sz="3800" b="1" dirty="0">
                <a:solidFill>
                  <a:srgbClr val="42BE65"/>
                </a:solidFill>
                <a:latin typeface="IBM Plex Mono" pitchFamily="34" charset="0"/>
                <a:ea typeface="IBM Plex Mono" pitchFamily="34" charset="-122"/>
                <a:cs typeface="IBM Plex Mono" pitchFamily="34" charset="-120"/>
              </a:rPr>
              <a:t>02</a:t>
            </a:r>
            <a:endParaRPr lang="en-US" sz="3800" dirty="0">
              <a:solidFill>
                <a:srgbClr val="42BE65"/>
              </a:solidFill>
            </a:endParaRPr>
          </a:p>
        </p:txBody>
      </p:sp>
      <p:pic>
        <p:nvPicPr>
          <p:cNvPr id="66" name="Image 1" descr="preencoded.png">
            <a:extLst>
              <a:ext uri="{FF2B5EF4-FFF2-40B4-BE49-F238E27FC236}">
                <a16:creationId xmlns:a16="http://schemas.microsoft.com/office/drawing/2014/main" id="{CBAB4584-BCDA-4A62-AEB7-D68CD15128F4}"/>
              </a:ext>
            </a:extLst>
          </p:cNvPr>
          <p:cNvPicPr>
            <a:picLocks noChangeAspect="1"/>
          </p:cNvPicPr>
          <p:nvPr/>
        </p:nvPicPr>
        <p:blipFill>
          <a:blip r:embed="rId8">
            <a:duotone>
              <a:prstClr val="black"/>
              <a:srgbClr val="8A3FFC">
                <a:tint val="45000"/>
                <a:satMod val="400000"/>
              </a:srgbClr>
            </a:duotone>
          </a:blip>
          <a:stretch>
            <a:fillRect/>
          </a:stretch>
        </p:blipFill>
        <p:spPr>
          <a:xfrm>
            <a:off x="3672840" y="4449443"/>
            <a:ext cx="420624" cy="420624"/>
          </a:xfrm>
          <a:prstGeom prst="rect">
            <a:avLst/>
          </a:prstGeom>
        </p:spPr>
      </p:pic>
      <p:sp>
        <p:nvSpPr>
          <p:cNvPr id="67" name="Text 13">
            <a:extLst>
              <a:ext uri="{FF2B5EF4-FFF2-40B4-BE49-F238E27FC236}">
                <a16:creationId xmlns:a16="http://schemas.microsoft.com/office/drawing/2014/main" id="{ED50FCFE-E626-4A27-921A-169ADF2C6762}"/>
              </a:ext>
            </a:extLst>
          </p:cNvPr>
          <p:cNvSpPr/>
          <p:nvPr/>
        </p:nvSpPr>
        <p:spPr>
          <a:xfrm>
            <a:off x="3672840" y="4979795"/>
            <a:ext cx="2221992" cy="347472"/>
          </a:xfrm>
          <a:prstGeom prst="rect">
            <a:avLst/>
          </a:prstGeom>
          <a:noFill/>
          <a:ln/>
        </p:spPr>
        <p:txBody>
          <a:bodyPr wrap="square" lIns="0" tIns="0" rIns="0" bIns="0" rtlCol="0" anchor="ctr"/>
          <a:lstStyle/>
          <a:p>
            <a:pPr marL="0" indent="0">
              <a:buNone/>
            </a:pPr>
            <a:r>
              <a:rPr lang="en-US" sz="1700" b="1" kern="0" spc="100" dirty="0">
                <a:solidFill>
                  <a:srgbClr val="161616"/>
                </a:solidFill>
                <a:latin typeface="IBM Plex Sans" pitchFamily="34" charset="0"/>
                <a:ea typeface="IBM Plex Sans" pitchFamily="34" charset="-122"/>
                <a:cs typeface="IBM Plex Sans" pitchFamily="34" charset="-120"/>
              </a:rPr>
              <a:t>BIEN DOSÉ</a:t>
            </a:r>
            <a:endParaRPr lang="en-US" sz="1700" dirty="0"/>
          </a:p>
        </p:txBody>
      </p:sp>
      <p:sp>
        <p:nvSpPr>
          <p:cNvPr id="68" name="Text 14">
            <a:extLst>
              <a:ext uri="{FF2B5EF4-FFF2-40B4-BE49-F238E27FC236}">
                <a16:creationId xmlns:a16="http://schemas.microsoft.com/office/drawing/2014/main" id="{54226D73-50D0-4B57-B98D-BF38B11078C1}"/>
              </a:ext>
            </a:extLst>
          </p:cNvPr>
          <p:cNvSpPr/>
          <p:nvPr/>
        </p:nvSpPr>
        <p:spPr>
          <a:xfrm>
            <a:off x="3672840" y="5345555"/>
            <a:ext cx="2221992" cy="292608"/>
          </a:xfrm>
          <a:prstGeom prst="rect">
            <a:avLst/>
          </a:prstGeom>
          <a:noFill/>
          <a:ln/>
        </p:spPr>
        <p:txBody>
          <a:bodyPr wrap="square" lIns="0" tIns="0" rIns="0" bIns="0" rtlCol="0" anchor="ctr"/>
          <a:lstStyle/>
          <a:p>
            <a:pPr marL="0" indent="0">
              <a:buNone/>
            </a:pPr>
            <a:r>
              <a:rPr lang="en-US" sz="1150" b="1" dirty="0">
                <a:solidFill>
                  <a:srgbClr val="42BE65"/>
                </a:solidFill>
                <a:latin typeface="IBM Plex Sans" pitchFamily="34" charset="0"/>
                <a:ea typeface="IBM Plex Sans" pitchFamily="34" charset="-122"/>
                <a:cs typeface="IBM Plex Sans" pitchFamily="34" charset="-120"/>
              </a:rPr>
              <a:t>Ni court, </a:t>
            </a:r>
            <a:r>
              <a:rPr lang="en-US" sz="1150" b="1" dirty="0" err="1">
                <a:solidFill>
                  <a:srgbClr val="42BE65"/>
                </a:solidFill>
                <a:latin typeface="IBM Plex Sans" pitchFamily="34" charset="0"/>
                <a:ea typeface="IBM Plex Sans" pitchFamily="34" charset="-122"/>
                <a:cs typeface="IBM Plex Sans" pitchFamily="34" charset="-120"/>
              </a:rPr>
              <a:t>ni</a:t>
            </a:r>
            <a:r>
              <a:rPr lang="en-US" sz="1150" b="1" dirty="0">
                <a:solidFill>
                  <a:srgbClr val="42BE65"/>
                </a:solidFill>
                <a:latin typeface="IBM Plex Sans" pitchFamily="34" charset="0"/>
                <a:ea typeface="IBM Plex Sans" pitchFamily="34" charset="-122"/>
                <a:cs typeface="IBM Plex Sans" pitchFamily="34" charset="-120"/>
              </a:rPr>
              <a:t> long</a:t>
            </a:r>
            <a:endParaRPr lang="en-US" sz="1150" dirty="0">
              <a:solidFill>
                <a:srgbClr val="42BE65"/>
              </a:solidFill>
            </a:endParaRPr>
          </a:p>
        </p:txBody>
      </p:sp>
      <p:sp>
        <p:nvSpPr>
          <p:cNvPr id="69" name="Shape 17">
            <a:extLst>
              <a:ext uri="{FF2B5EF4-FFF2-40B4-BE49-F238E27FC236}">
                <a16:creationId xmlns:a16="http://schemas.microsoft.com/office/drawing/2014/main" id="{23E2C07D-1B19-4CD3-9F61-834B768E2F0D}"/>
              </a:ext>
            </a:extLst>
          </p:cNvPr>
          <p:cNvSpPr/>
          <p:nvPr/>
        </p:nvSpPr>
        <p:spPr>
          <a:xfrm>
            <a:off x="6260592" y="4175124"/>
            <a:ext cx="2679192" cy="1525439"/>
          </a:xfrm>
          <a:prstGeom prst="rect">
            <a:avLst/>
          </a:prstGeom>
          <a:solidFill>
            <a:srgbClr val="F4F4F4"/>
          </a:solidFill>
          <a:ln w="9525">
            <a:solidFill>
              <a:srgbClr val="C6C6C6"/>
            </a:solidFill>
            <a:prstDash val="solid"/>
          </a:ln>
        </p:spPr>
      </p:sp>
      <p:sp>
        <p:nvSpPr>
          <p:cNvPr id="70" name="Shape 18">
            <a:extLst>
              <a:ext uri="{FF2B5EF4-FFF2-40B4-BE49-F238E27FC236}">
                <a16:creationId xmlns:a16="http://schemas.microsoft.com/office/drawing/2014/main" id="{C20DFB2B-EA44-4AA9-9888-A90F78E98C5F}"/>
              </a:ext>
            </a:extLst>
          </p:cNvPr>
          <p:cNvSpPr/>
          <p:nvPr/>
        </p:nvSpPr>
        <p:spPr>
          <a:xfrm>
            <a:off x="6260591" y="4175124"/>
            <a:ext cx="54000" cy="1525431"/>
          </a:xfrm>
          <a:prstGeom prst="rect">
            <a:avLst/>
          </a:prstGeom>
          <a:solidFill>
            <a:srgbClr val="08BB6C"/>
          </a:solidFill>
          <a:ln>
            <a:solidFill>
              <a:srgbClr val="42BE65"/>
            </a:solidFill>
          </a:ln>
        </p:spPr>
      </p:sp>
      <p:sp>
        <p:nvSpPr>
          <p:cNvPr id="71" name="Text 19">
            <a:extLst>
              <a:ext uri="{FF2B5EF4-FFF2-40B4-BE49-F238E27FC236}">
                <a16:creationId xmlns:a16="http://schemas.microsoft.com/office/drawing/2014/main" id="{CBA69F9A-91C2-4B3E-91C0-ED114AFC1D23}"/>
              </a:ext>
            </a:extLst>
          </p:cNvPr>
          <p:cNvSpPr/>
          <p:nvPr/>
        </p:nvSpPr>
        <p:spPr>
          <a:xfrm>
            <a:off x="7751064" y="4284851"/>
            <a:ext cx="1097280" cy="731520"/>
          </a:xfrm>
          <a:prstGeom prst="rect">
            <a:avLst/>
          </a:prstGeom>
          <a:noFill/>
          <a:ln/>
        </p:spPr>
        <p:txBody>
          <a:bodyPr wrap="square" lIns="0" tIns="0" rIns="0" bIns="0" rtlCol="0" anchor="ctr"/>
          <a:lstStyle/>
          <a:p>
            <a:pPr marL="0" indent="0" algn="r">
              <a:buNone/>
            </a:pPr>
            <a:r>
              <a:rPr lang="en-US" sz="3800" b="1" dirty="0">
                <a:solidFill>
                  <a:srgbClr val="42BE65"/>
                </a:solidFill>
                <a:latin typeface="IBM Plex Mono" pitchFamily="34" charset="0"/>
                <a:ea typeface="IBM Plex Mono" pitchFamily="34" charset="-122"/>
                <a:cs typeface="IBM Plex Mono" pitchFamily="34" charset="-120"/>
              </a:rPr>
              <a:t>03</a:t>
            </a:r>
            <a:endParaRPr lang="en-US" sz="3800" dirty="0">
              <a:solidFill>
                <a:srgbClr val="42BE65"/>
              </a:solidFill>
            </a:endParaRPr>
          </a:p>
        </p:txBody>
      </p:sp>
      <p:pic>
        <p:nvPicPr>
          <p:cNvPr id="72" name="Image 2" descr="preencoded.png">
            <a:extLst>
              <a:ext uri="{FF2B5EF4-FFF2-40B4-BE49-F238E27FC236}">
                <a16:creationId xmlns:a16="http://schemas.microsoft.com/office/drawing/2014/main" id="{EC427DA6-55FF-431A-BD83-D451F39E3D29}"/>
              </a:ext>
            </a:extLst>
          </p:cNvPr>
          <p:cNvPicPr>
            <a:picLocks noChangeAspect="1"/>
          </p:cNvPicPr>
          <p:nvPr/>
        </p:nvPicPr>
        <p:blipFill>
          <a:blip r:embed="rId9">
            <a:duotone>
              <a:prstClr val="black"/>
              <a:srgbClr val="8A3FFC">
                <a:tint val="45000"/>
                <a:satMod val="400000"/>
              </a:srgbClr>
            </a:duotone>
          </a:blip>
          <a:stretch>
            <a:fillRect/>
          </a:stretch>
        </p:blipFill>
        <p:spPr>
          <a:xfrm>
            <a:off x="6516624" y="4449443"/>
            <a:ext cx="420624" cy="420624"/>
          </a:xfrm>
          <a:prstGeom prst="rect">
            <a:avLst/>
          </a:prstGeom>
        </p:spPr>
      </p:pic>
      <p:sp>
        <p:nvSpPr>
          <p:cNvPr id="73" name="Text 20">
            <a:extLst>
              <a:ext uri="{FF2B5EF4-FFF2-40B4-BE49-F238E27FC236}">
                <a16:creationId xmlns:a16="http://schemas.microsoft.com/office/drawing/2014/main" id="{847340C8-477A-41CD-B1F6-E9FEF260B611}"/>
              </a:ext>
            </a:extLst>
          </p:cNvPr>
          <p:cNvSpPr/>
          <p:nvPr/>
        </p:nvSpPr>
        <p:spPr>
          <a:xfrm>
            <a:off x="6516624" y="4979795"/>
            <a:ext cx="2221992" cy="347472"/>
          </a:xfrm>
          <a:prstGeom prst="rect">
            <a:avLst/>
          </a:prstGeom>
          <a:noFill/>
          <a:ln/>
        </p:spPr>
        <p:txBody>
          <a:bodyPr wrap="square" lIns="0" tIns="0" rIns="0" bIns="0" rtlCol="0" anchor="ctr"/>
          <a:lstStyle/>
          <a:p>
            <a:pPr marL="0" indent="0">
              <a:buNone/>
            </a:pPr>
            <a:r>
              <a:rPr lang="en-US" sz="1700" b="1" kern="0" spc="100" dirty="0">
                <a:solidFill>
                  <a:srgbClr val="161616"/>
                </a:solidFill>
                <a:latin typeface="IBM Plex Sans" pitchFamily="34" charset="0"/>
                <a:ea typeface="IBM Plex Sans" pitchFamily="34" charset="-122"/>
                <a:cs typeface="IBM Plex Sans" pitchFamily="34" charset="-120"/>
              </a:rPr>
              <a:t>STRUCTURÉ</a:t>
            </a:r>
            <a:endParaRPr lang="en-US" sz="1700" dirty="0"/>
          </a:p>
        </p:txBody>
      </p:sp>
      <p:sp>
        <p:nvSpPr>
          <p:cNvPr id="74" name="Text 21">
            <a:extLst>
              <a:ext uri="{FF2B5EF4-FFF2-40B4-BE49-F238E27FC236}">
                <a16:creationId xmlns:a16="http://schemas.microsoft.com/office/drawing/2014/main" id="{09799224-C518-4BEC-9969-0E3E44552379}"/>
              </a:ext>
            </a:extLst>
          </p:cNvPr>
          <p:cNvSpPr/>
          <p:nvPr/>
        </p:nvSpPr>
        <p:spPr>
          <a:xfrm>
            <a:off x="6516624" y="5345555"/>
            <a:ext cx="2221992" cy="292608"/>
          </a:xfrm>
          <a:prstGeom prst="rect">
            <a:avLst/>
          </a:prstGeom>
          <a:noFill/>
          <a:ln/>
        </p:spPr>
        <p:txBody>
          <a:bodyPr wrap="square" lIns="0" tIns="0" rIns="0" bIns="0" rtlCol="0" anchor="ctr"/>
          <a:lstStyle/>
          <a:p>
            <a:pPr marL="0" indent="0">
              <a:buNone/>
            </a:pPr>
            <a:r>
              <a:rPr lang="en-US" sz="1150" b="1" dirty="0">
                <a:solidFill>
                  <a:srgbClr val="42BE65"/>
                </a:solidFill>
                <a:latin typeface="IBM Plex Sans" pitchFamily="34" charset="0"/>
                <a:ea typeface="IBM Plex Sans" pitchFamily="34" charset="-122"/>
                <a:cs typeface="IBM Plex Sans" pitchFamily="34" charset="-120"/>
              </a:rPr>
              <a:t>Sections + exemples</a:t>
            </a:r>
            <a:endParaRPr lang="en-US" sz="1150" dirty="0">
              <a:solidFill>
                <a:srgbClr val="42BE65"/>
              </a:solidFill>
            </a:endParaRPr>
          </a:p>
        </p:txBody>
      </p:sp>
      <p:sp>
        <p:nvSpPr>
          <p:cNvPr id="75" name="Shape 24">
            <a:extLst>
              <a:ext uri="{FF2B5EF4-FFF2-40B4-BE49-F238E27FC236}">
                <a16:creationId xmlns:a16="http://schemas.microsoft.com/office/drawing/2014/main" id="{8942F65D-93E8-4FCC-B0F9-9361C67B4745}"/>
              </a:ext>
            </a:extLst>
          </p:cNvPr>
          <p:cNvSpPr/>
          <p:nvPr/>
        </p:nvSpPr>
        <p:spPr>
          <a:xfrm>
            <a:off x="9104376" y="4175123"/>
            <a:ext cx="2679192" cy="1525439"/>
          </a:xfrm>
          <a:prstGeom prst="rect">
            <a:avLst/>
          </a:prstGeom>
          <a:solidFill>
            <a:srgbClr val="F4F4F4"/>
          </a:solidFill>
          <a:ln w="9525">
            <a:solidFill>
              <a:srgbClr val="C6C6C6"/>
            </a:solidFill>
            <a:prstDash val="solid"/>
          </a:ln>
        </p:spPr>
      </p:sp>
      <p:sp>
        <p:nvSpPr>
          <p:cNvPr id="76" name="Shape 25">
            <a:extLst>
              <a:ext uri="{FF2B5EF4-FFF2-40B4-BE49-F238E27FC236}">
                <a16:creationId xmlns:a16="http://schemas.microsoft.com/office/drawing/2014/main" id="{8196360E-E374-434D-8448-D03C91B1DFF5}"/>
              </a:ext>
            </a:extLst>
          </p:cNvPr>
          <p:cNvSpPr/>
          <p:nvPr/>
        </p:nvSpPr>
        <p:spPr>
          <a:xfrm>
            <a:off x="9104376" y="4175123"/>
            <a:ext cx="54000" cy="1525431"/>
          </a:xfrm>
          <a:prstGeom prst="rect">
            <a:avLst/>
          </a:prstGeom>
          <a:solidFill>
            <a:srgbClr val="08BB6C"/>
          </a:solidFill>
          <a:ln>
            <a:solidFill>
              <a:srgbClr val="42BE65"/>
            </a:solidFill>
          </a:ln>
        </p:spPr>
      </p:sp>
      <p:sp>
        <p:nvSpPr>
          <p:cNvPr id="77" name="Text 26">
            <a:extLst>
              <a:ext uri="{FF2B5EF4-FFF2-40B4-BE49-F238E27FC236}">
                <a16:creationId xmlns:a16="http://schemas.microsoft.com/office/drawing/2014/main" id="{712CBFFE-C071-4B2D-8E94-DBF6CC875B17}"/>
              </a:ext>
            </a:extLst>
          </p:cNvPr>
          <p:cNvSpPr/>
          <p:nvPr/>
        </p:nvSpPr>
        <p:spPr>
          <a:xfrm>
            <a:off x="10594848" y="4284851"/>
            <a:ext cx="1097280" cy="731520"/>
          </a:xfrm>
          <a:prstGeom prst="rect">
            <a:avLst/>
          </a:prstGeom>
          <a:noFill/>
          <a:ln/>
        </p:spPr>
        <p:txBody>
          <a:bodyPr wrap="square" lIns="0" tIns="0" rIns="0" bIns="0" rtlCol="0" anchor="ctr"/>
          <a:lstStyle/>
          <a:p>
            <a:pPr marL="0" indent="0" algn="r">
              <a:buNone/>
            </a:pPr>
            <a:r>
              <a:rPr lang="en-US" sz="3800" b="1" dirty="0">
                <a:solidFill>
                  <a:srgbClr val="42BE65"/>
                </a:solidFill>
                <a:latin typeface="IBM Plex Mono" pitchFamily="34" charset="0"/>
                <a:ea typeface="IBM Plex Mono" pitchFamily="34" charset="-122"/>
                <a:cs typeface="IBM Plex Mono" pitchFamily="34" charset="-120"/>
              </a:rPr>
              <a:t>04</a:t>
            </a:r>
            <a:endParaRPr lang="en-US" sz="3800" dirty="0">
              <a:solidFill>
                <a:srgbClr val="42BE65"/>
              </a:solidFill>
            </a:endParaRPr>
          </a:p>
        </p:txBody>
      </p:sp>
      <p:pic>
        <p:nvPicPr>
          <p:cNvPr id="78" name="Image 3" descr="preencoded.png">
            <a:extLst>
              <a:ext uri="{FF2B5EF4-FFF2-40B4-BE49-F238E27FC236}">
                <a16:creationId xmlns:a16="http://schemas.microsoft.com/office/drawing/2014/main" id="{31CDB7C7-458A-496A-BA1A-C301E729D3B6}"/>
              </a:ext>
            </a:extLst>
          </p:cNvPr>
          <p:cNvPicPr>
            <a:picLocks noChangeAspect="1"/>
          </p:cNvPicPr>
          <p:nvPr/>
        </p:nvPicPr>
        <p:blipFill>
          <a:blip r:embed="rId10">
            <a:duotone>
              <a:prstClr val="black"/>
              <a:srgbClr val="8A3FFC">
                <a:tint val="45000"/>
                <a:satMod val="400000"/>
              </a:srgbClr>
            </a:duotone>
          </a:blip>
          <a:stretch>
            <a:fillRect/>
          </a:stretch>
        </p:blipFill>
        <p:spPr>
          <a:xfrm>
            <a:off x="9360408" y="4449443"/>
            <a:ext cx="420624" cy="420624"/>
          </a:xfrm>
          <a:prstGeom prst="rect">
            <a:avLst/>
          </a:prstGeom>
        </p:spPr>
      </p:pic>
      <p:sp>
        <p:nvSpPr>
          <p:cNvPr id="79" name="Text 27">
            <a:extLst>
              <a:ext uri="{FF2B5EF4-FFF2-40B4-BE49-F238E27FC236}">
                <a16:creationId xmlns:a16="http://schemas.microsoft.com/office/drawing/2014/main" id="{7DF2CF4D-FF34-4E50-AFF2-1AACC2C7230F}"/>
              </a:ext>
            </a:extLst>
          </p:cNvPr>
          <p:cNvSpPr/>
          <p:nvPr/>
        </p:nvSpPr>
        <p:spPr>
          <a:xfrm>
            <a:off x="9360408" y="4979795"/>
            <a:ext cx="2221992" cy="347472"/>
          </a:xfrm>
          <a:prstGeom prst="rect">
            <a:avLst/>
          </a:prstGeom>
          <a:noFill/>
          <a:ln/>
        </p:spPr>
        <p:txBody>
          <a:bodyPr wrap="square" lIns="0" tIns="0" rIns="0" bIns="0" rtlCol="0" anchor="ctr"/>
          <a:lstStyle/>
          <a:p>
            <a:pPr marL="0" indent="0">
              <a:buNone/>
            </a:pPr>
            <a:r>
              <a:rPr lang="en-US" sz="1700" b="1" kern="0" spc="100" dirty="0">
                <a:solidFill>
                  <a:srgbClr val="161616"/>
                </a:solidFill>
                <a:latin typeface="IBM Plex Sans" pitchFamily="34" charset="0"/>
                <a:ea typeface="IBM Plex Sans" pitchFamily="34" charset="-122"/>
                <a:cs typeface="IBM Plex Sans" pitchFamily="34" charset="-120"/>
              </a:rPr>
              <a:t>ITÉRÉ</a:t>
            </a:r>
            <a:endParaRPr lang="en-US" sz="1700" dirty="0"/>
          </a:p>
        </p:txBody>
      </p:sp>
      <p:sp>
        <p:nvSpPr>
          <p:cNvPr id="80" name="Text 28">
            <a:extLst>
              <a:ext uri="{FF2B5EF4-FFF2-40B4-BE49-F238E27FC236}">
                <a16:creationId xmlns:a16="http://schemas.microsoft.com/office/drawing/2014/main" id="{245BC5E4-1CED-4102-A243-54B26D1D2A4B}"/>
              </a:ext>
            </a:extLst>
          </p:cNvPr>
          <p:cNvSpPr/>
          <p:nvPr/>
        </p:nvSpPr>
        <p:spPr>
          <a:xfrm>
            <a:off x="9360408" y="5345555"/>
            <a:ext cx="2221992" cy="292608"/>
          </a:xfrm>
          <a:prstGeom prst="rect">
            <a:avLst/>
          </a:prstGeom>
          <a:noFill/>
          <a:ln/>
        </p:spPr>
        <p:txBody>
          <a:bodyPr wrap="square" lIns="0" tIns="0" rIns="0" bIns="0" rtlCol="0" anchor="ctr"/>
          <a:lstStyle/>
          <a:p>
            <a:pPr marL="0" indent="0">
              <a:buNone/>
            </a:pPr>
            <a:r>
              <a:rPr lang="en-US" sz="1150" b="1" dirty="0">
                <a:solidFill>
                  <a:srgbClr val="42BE65"/>
                </a:solidFill>
                <a:latin typeface="IBM Plex Sans" pitchFamily="34" charset="0"/>
                <a:ea typeface="IBM Plex Sans" pitchFamily="34" charset="-122"/>
                <a:cs typeface="IBM Plex Sans" pitchFamily="34" charset="-120"/>
              </a:rPr>
              <a:t>Converger, pas viser parfait</a:t>
            </a:r>
            <a:endParaRPr lang="en-US" sz="1150" dirty="0">
              <a:solidFill>
                <a:srgbClr val="42BE65"/>
              </a:solidFill>
            </a:endParaRPr>
          </a:p>
        </p:txBody>
      </p:sp>
    </p:spTree>
    <p:extLst>
      <p:ext uri="{BB962C8B-B14F-4D97-AF65-F5344CB8AC3E}">
        <p14:creationId xmlns:p14="http://schemas.microsoft.com/office/powerpoint/2010/main" val="3592218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a:bodyPr>
          <a:lstStyle/>
          <a:p>
            <a:r>
              <a:rPr lang="fr-FR" dirty="0">
                <a:solidFill>
                  <a:schemeClr val="accent2"/>
                </a:solidFill>
                <a:latin typeface="Segoe UI" panose="020B0502040204020203" pitchFamily="34" charset="0"/>
                <a:cs typeface="Segoe UI" panose="020B0502040204020203" pitchFamily="34" charset="0"/>
              </a:rPr>
              <a:t>Démo</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txBody>
          <a:bodyPr/>
          <a:lstStyle/>
          <a:p>
            <a:endParaRPr lang="fr-FR"/>
          </a:p>
        </p:txBody>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L’approche</a:t>
            </a:r>
            <a:endParaRPr lang="fr-FR" sz="2100" dirty="0">
              <a:solidFill>
                <a:srgbClr val="835CF5"/>
              </a:solidFill>
              <a:latin typeface="Segoe UI" panose="020B0502040204020203" pitchFamily="34" charset="0"/>
              <a:cs typeface="Segoe UI" panose="020B0502040204020203" pitchFamily="34" charset="0"/>
            </a:endParaRPr>
          </a:p>
        </p:txBody>
      </p:sp>
      <p:pic>
        <p:nvPicPr>
          <p:cNvPr id="57" name="Image 56">
            <a:extLst>
              <a:ext uri="{FF2B5EF4-FFF2-40B4-BE49-F238E27FC236}">
                <a16:creationId xmlns:a16="http://schemas.microsoft.com/office/drawing/2014/main" id="{EE55FCC5-5135-46FC-9C7D-8447B7F0C3CF}"/>
              </a:ext>
            </a:extLst>
          </p:cNvPr>
          <p:cNvPicPr>
            <a:picLocks noChangeAspect="1"/>
          </p:cNvPicPr>
          <p:nvPr/>
        </p:nvPicPr>
        <p:blipFill>
          <a:blip r:embed="rId2"/>
          <a:stretch>
            <a:fillRect/>
          </a:stretch>
        </p:blipFill>
        <p:spPr>
          <a:xfrm>
            <a:off x="4513971" y="2305730"/>
            <a:ext cx="2044805" cy="2000353"/>
          </a:xfrm>
          <a:prstGeom prst="rect">
            <a:avLst/>
          </a:prstGeom>
        </p:spPr>
      </p:pic>
    </p:spTree>
    <p:extLst>
      <p:ext uri="{BB962C8B-B14F-4D97-AF65-F5344CB8AC3E}">
        <p14:creationId xmlns:p14="http://schemas.microsoft.com/office/powerpoint/2010/main" val="123658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305AEE-0A3D-499F-A764-4902E53C574E}"/>
              </a:ext>
            </a:extLst>
          </p:cNvPr>
          <p:cNvSpPr>
            <a:spLocks noGrp="1"/>
          </p:cNvSpPr>
          <p:nvPr>
            <p:ph type="title"/>
          </p:nvPr>
        </p:nvSpPr>
        <p:spPr/>
        <p:txBody>
          <a:bodyPr>
            <a:normAutofit/>
          </a:bodyPr>
          <a:lstStyle/>
          <a:p>
            <a:r>
              <a:rPr lang="fr-FR" dirty="0">
                <a:solidFill>
                  <a:schemeClr val="accent2"/>
                </a:solidFill>
                <a:latin typeface="Segoe UI" panose="020B0502040204020203" pitchFamily="34" charset="0"/>
                <a:cs typeface="Segoe UI" panose="020B0502040204020203" pitchFamily="34" charset="0"/>
              </a:rPr>
              <a:t>Démo</a:t>
            </a:r>
          </a:p>
        </p:txBody>
      </p:sp>
      <p:sp>
        <p:nvSpPr>
          <p:cNvPr id="12" name="Shape 14">
            <a:extLst>
              <a:ext uri="{FF2B5EF4-FFF2-40B4-BE49-F238E27FC236}">
                <a16:creationId xmlns:a16="http://schemas.microsoft.com/office/drawing/2014/main" id="{6F408D2F-8C30-4EF8-B44B-F49F59CB2B1E}"/>
              </a:ext>
            </a:extLst>
          </p:cNvPr>
          <p:cNvSpPr/>
          <p:nvPr/>
        </p:nvSpPr>
        <p:spPr>
          <a:xfrm>
            <a:off x="548640" y="1252728"/>
            <a:ext cx="64008" cy="384048"/>
          </a:xfrm>
          <a:prstGeom prst="rect">
            <a:avLst/>
          </a:prstGeom>
          <a:solidFill>
            <a:srgbClr val="835CF5"/>
          </a:solidFill>
          <a:ln>
            <a:solidFill>
              <a:srgbClr val="835CF5"/>
            </a:solidFill>
          </a:ln>
        </p:spPr>
        <p:txBody>
          <a:bodyPr/>
          <a:lstStyle/>
          <a:p>
            <a:endParaRPr lang="fr-FR"/>
          </a:p>
        </p:txBody>
      </p:sp>
      <p:sp>
        <p:nvSpPr>
          <p:cNvPr id="13" name="Text 15">
            <a:extLst>
              <a:ext uri="{FF2B5EF4-FFF2-40B4-BE49-F238E27FC236}">
                <a16:creationId xmlns:a16="http://schemas.microsoft.com/office/drawing/2014/main" id="{751F8B93-4BBC-4B91-B54B-22AC2078C927}"/>
              </a:ext>
            </a:extLst>
          </p:cNvPr>
          <p:cNvSpPr/>
          <p:nvPr/>
        </p:nvSpPr>
        <p:spPr>
          <a:xfrm>
            <a:off x="731519" y="1188720"/>
            <a:ext cx="10223695"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Et dans notre contexte ?</a:t>
            </a:r>
            <a:endParaRPr lang="fr-FR" sz="2100" dirty="0">
              <a:solidFill>
                <a:srgbClr val="835CF5"/>
              </a:solidFill>
              <a:latin typeface="Segoe UI" panose="020B0502040204020203" pitchFamily="34" charset="0"/>
              <a:cs typeface="Segoe UI" panose="020B0502040204020203" pitchFamily="34" charset="0"/>
            </a:endParaRPr>
          </a:p>
        </p:txBody>
      </p:sp>
      <p:sp>
        <p:nvSpPr>
          <p:cNvPr id="57" name="Shape 3">
            <a:extLst>
              <a:ext uri="{FF2B5EF4-FFF2-40B4-BE49-F238E27FC236}">
                <a16:creationId xmlns:a16="http://schemas.microsoft.com/office/drawing/2014/main" id="{2A3D3943-5CCA-400A-9AC8-DE72EF2C550A}"/>
              </a:ext>
            </a:extLst>
          </p:cNvPr>
          <p:cNvSpPr/>
          <p:nvPr/>
        </p:nvSpPr>
        <p:spPr>
          <a:xfrm>
            <a:off x="548639" y="1965960"/>
            <a:ext cx="5035731" cy="3571240"/>
          </a:xfrm>
          <a:prstGeom prst="rect">
            <a:avLst/>
          </a:prstGeom>
          <a:solidFill>
            <a:srgbClr val="F4F4F4"/>
          </a:solidFill>
          <a:ln w="9525">
            <a:solidFill>
              <a:srgbClr val="C6C6C6"/>
            </a:solidFill>
            <a:prstDash val="solid"/>
          </a:ln>
        </p:spPr>
      </p:sp>
      <p:sp>
        <p:nvSpPr>
          <p:cNvPr id="58" name="Shape 4">
            <a:extLst>
              <a:ext uri="{FF2B5EF4-FFF2-40B4-BE49-F238E27FC236}">
                <a16:creationId xmlns:a16="http://schemas.microsoft.com/office/drawing/2014/main" id="{E5A13F93-3476-4651-A7FA-E393B7BEAFCF}"/>
              </a:ext>
            </a:extLst>
          </p:cNvPr>
          <p:cNvSpPr/>
          <p:nvPr/>
        </p:nvSpPr>
        <p:spPr>
          <a:xfrm>
            <a:off x="548640" y="1965960"/>
            <a:ext cx="64008" cy="3571240"/>
          </a:xfrm>
          <a:prstGeom prst="rect">
            <a:avLst/>
          </a:prstGeom>
          <a:solidFill>
            <a:srgbClr val="835CF5"/>
          </a:solidFill>
          <a:ln>
            <a:solidFill>
              <a:srgbClr val="835CF5"/>
            </a:solidFill>
          </a:ln>
        </p:spPr>
      </p:sp>
      <p:sp>
        <p:nvSpPr>
          <p:cNvPr id="61" name="Text 6">
            <a:extLst>
              <a:ext uri="{FF2B5EF4-FFF2-40B4-BE49-F238E27FC236}">
                <a16:creationId xmlns:a16="http://schemas.microsoft.com/office/drawing/2014/main" id="{9E5493B2-F623-41E3-98E7-5FA0FDE1CBFA}"/>
              </a:ext>
            </a:extLst>
          </p:cNvPr>
          <p:cNvSpPr/>
          <p:nvPr/>
        </p:nvSpPr>
        <p:spPr>
          <a:xfrm>
            <a:off x="804672" y="2770632"/>
            <a:ext cx="2221992" cy="347472"/>
          </a:xfrm>
          <a:prstGeom prst="rect">
            <a:avLst/>
          </a:prstGeom>
          <a:noFill/>
          <a:ln/>
        </p:spPr>
        <p:txBody>
          <a:bodyPr wrap="square" lIns="0" tIns="0" rIns="0" bIns="0" rtlCol="0" anchor="ctr"/>
          <a:lstStyle/>
          <a:p>
            <a:pPr marL="0" indent="0">
              <a:buNone/>
            </a:pPr>
            <a:r>
              <a:rPr lang="en-US" sz="1700" b="1" kern="0" spc="100" dirty="0" err="1">
                <a:solidFill>
                  <a:srgbClr val="161616"/>
                </a:solidFill>
                <a:latin typeface="IBM Plex Sans" pitchFamily="34" charset="0"/>
                <a:ea typeface="IBM Plex Sans" pitchFamily="34" charset="-122"/>
                <a:cs typeface="IBM Plex Sans" pitchFamily="34" charset="-120"/>
              </a:rPr>
              <a:t>Démo</a:t>
            </a:r>
            <a:endParaRPr lang="en-US" sz="1700" dirty="0"/>
          </a:p>
        </p:txBody>
      </p:sp>
      <p:sp>
        <p:nvSpPr>
          <p:cNvPr id="64" name="Text 9">
            <a:extLst>
              <a:ext uri="{FF2B5EF4-FFF2-40B4-BE49-F238E27FC236}">
                <a16:creationId xmlns:a16="http://schemas.microsoft.com/office/drawing/2014/main" id="{E042C938-DD3E-4606-9B1F-64472264791E}"/>
              </a:ext>
            </a:extLst>
          </p:cNvPr>
          <p:cNvSpPr/>
          <p:nvPr/>
        </p:nvSpPr>
        <p:spPr>
          <a:xfrm>
            <a:off x="804672" y="3227832"/>
            <a:ext cx="4122202" cy="1855797"/>
          </a:xfrm>
          <a:prstGeom prst="rect">
            <a:avLst/>
          </a:prstGeom>
          <a:noFill/>
          <a:ln/>
        </p:spPr>
        <p:txBody>
          <a:bodyPr wrap="square" lIns="0" tIns="0" rIns="0" bIns="0" rtlCol="0" anchor="t"/>
          <a:lstStyle/>
          <a:p>
            <a:pPr marL="171450" indent="-171450">
              <a:buFont typeface="Arial" panose="020B0604020202020204" pitchFamily="34" charset="0"/>
              <a:buChar char="•"/>
            </a:pPr>
            <a:r>
              <a:rPr lang="fr-FR" sz="1600" dirty="0">
                <a:solidFill>
                  <a:schemeClr val="tx1"/>
                </a:solidFill>
                <a:latin typeface="Segoe UI" panose="020B0502040204020203" pitchFamily="34" charset="0"/>
                <a:cs typeface="Segoe UI" panose="020B0502040204020203" pitchFamily="34" charset="0"/>
              </a:rPr>
              <a:t>Démo ponctuelle / Application nouvelle et isolée</a:t>
            </a:r>
          </a:p>
          <a:p>
            <a:pPr marL="171450" indent="-171450">
              <a:buFont typeface="Arial" panose="020B0604020202020204" pitchFamily="34" charset="0"/>
              <a:buChar char="•"/>
            </a:pPr>
            <a:r>
              <a:rPr lang="fr-FR" sz="1600" dirty="0">
                <a:solidFill>
                  <a:schemeClr val="tx1"/>
                </a:solidFill>
                <a:latin typeface="Segoe UI" panose="020B0502040204020203" pitchFamily="34" charset="0"/>
                <a:cs typeface="Segoe UI" panose="020B0502040204020203" pitchFamily="34" charset="0"/>
              </a:rPr>
              <a:t>Seul le résultat compte</a:t>
            </a:r>
          </a:p>
          <a:p>
            <a:pPr marL="171450" indent="-171450">
              <a:buFont typeface="Arial" panose="020B0604020202020204" pitchFamily="34" charset="0"/>
              <a:buChar char="•"/>
            </a:pPr>
            <a:r>
              <a:rPr lang="fr-FR" sz="1600" dirty="0">
                <a:solidFill>
                  <a:schemeClr val="tx1"/>
                </a:solidFill>
                <a:latin typeface="Segoe UI" panose="020B0502040204020203" pitchFamily="34" charset="0"/>
                <a:cs typeface="Segoe UI" panose="020B0502040204020203" pitchFamily="34" charset="0"/>
              </a:rPr>
              <a:t>Un prompt suffit</a:t>
            </a:r>
          </a:p>
          <a:p>
            <a:pPr marL="171450" indent="-171450">
              <a:buFont typeface="Arial" panose="020B0604020202020204" pitchFamily="34" charset="0"/>
              <a:buChar char="•"/>
            </a:pPr>
            <a:r>
              <a:rPr lang="fr-FR" sz="1600" dirty="0">
                <a:solidFill>
                  <a:schemeClr val="tx1"/>
                </a:solidFill>
                <a:latin typeface="Segoe UI" panose="020B0502040204020203" pitchFamily="34" charset="0"/>
                <a:cs typeface="Segoe UI" panose="020B0502040204020203" pitchFamily="34" charset="0"/>
              </a:rPr>
              <a:t>Choix d’architecture libres / Langages courants sur le web</a:t>
            </a:r>
          </a:p>
          <a:p>
            <a:pPr marL="171450" indent="-171450">
              <a:buFont typeface="Arial" panose="020B0604020202020204" pitchFamily="34" charset="0"/>
              <a:buChar char="•"/>
            </a:pPr>
            <a:r>
              <a:rPr lang="fr-FR" sz="1600" dirty="0">
                <a:solidFill>
                  <a:schemeClr val="tx1"/>
                </a:solidFill>
                <a:latin typeface="Segoe UI" panose="020B0502040204020203" pitchFamily="34" charset="0"/>
                <a:cs typeface="Segoe UI" panose="020B0502040204020203" pitchFamily="34" charset="0"/>
              </a:rPr>
              <a:t>Pas de comptes à rendre</a:t>
            </a:r>
          </a:p>
          <a:p>
            <a:pPr marL="171450" indent="-171450">
              <a:buFont typeface="Arial" panose="020B0604020202020204" pitchFamily="34" charset="0"/>
              <a:buChar char="•"/>
            </a:pPr>
            <a:endParaRPr lang="fr-FR" sz="1600" dirty="0">
              <a:solidFill>
                <a:schemeClr val="tx1"/>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fr-FR" sz="1600" dirty="0">
              <a:solidFill>
                <a:schemeClr val="tx1"/>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fr-FR" sz="1600" dirty="0">
              <a:solidFill>
                <a:schemeClr val="tx1"/>
              </a:solidFill>
              <a:latin typeface="Segoe UI" panose="020B0502040204020203" pitchFamily="34" charset="0"/>
              <a:cs typeface="Segoe UI" panose="020B0502040204020203" pitchFamily="34" charset="0"/>
            </a:endParaRPr>
          </a:p>
        </p:txBody>
      </p:sp>
      <p:sp>
        <p:nvSpPr>
          <p:cNvPr id="37" name="Shape 3">
            <a:extLst>
              <a:ext uri="{FF2B5EF4-FFF2-40B4-BE49-F238E27FC236}">
                <a16:creationId xmlns:a16="http://schemas.microsoft.com/office/drawing/2014/main" id="{74936C72-915A-4938-8955-332104729F16}"/>
              </a:ext>
            </a:extLst>
          </p:cNvPr>
          <p:cNvSpPr/>
          <p:nvPr/>
        </p:nvSpPr>
        <p:spPr>
          <a:xfrm>
            <a:off x="6209211" y="1965960"/>
            <a:ext cx="5035731" cy="3571240"/>
          </a:xfrm>
          <a:prstGeom prst="rect">
            <a:avLst/>
          </a:prstGeom>
          <a:solidFill>
            <a:srgbClr val="F4F4F4"/>
          </a:solidFill>
          <a:ln w="9525">
            <a:solidFill>
              <a:srgbClr val="C6C6C6"/>
            </a:solidFill>
            <a:prstDash val="solid"/>
          </a:ln>
        </p:spPr>
      </p:sp>
      <p:sp>
        <p:nvSpPr>
          <p:cNvPr id="38" name="Shape 4">
            <a:extLst>
              <a:ext uri="{FF2B5EF4-FFF2-40B4-BE49-F238E27FC236}">
                <a16:creationId xmlns:a16="http://schemas.microsoft.com/office/drawing/2014/main" id="{0BE78320-3F7E-4760-8354-639FFC84567C}"/>
              </a:ext>
            </a:extLst>
          </p:cNvPr>
          <p:cNvSpPr/>
          <p:nvPr/>
        </p:nvSpPr>
        <p:spPr>
          <a:xfrm>
            <a:off x="6209212" y="1965959"/>
            <a:ext cx="64008" cy="3571240"/>
          </a:xfrm>
          <a:prstGeom prst="rect">
            <a:avLst/>
          </a:prstGeom>
          <a:solidFill>
            <a:srgbClr val="08BB6C"/>
          </a:solidFill>
          <a:ln>
            <a:solidFill>
              <a:srgbClr val="42BE65"/>
            </a:solidFill>
          </a:ln>
        </p:spPr>
      </p:sp>
      <p:pic>
        <p:nvPicPr>
          <p:cNvPr id="39" name="Image 0" descr="preencoded.png">
            <a:extLst>
              <a:ext uri="{FF2B5EF4-FFF2-40B4-BE49-F238E27FC236}">
                <a16:creationId xmlns:a16="http://schemas.microsoft.com/office/drawing/2014/main" id="{5BC11AE5-0C12-4584-B7F3-C7E50E1CF19E}"/>
              </a:ext>
            </a:extLst>
          </p:cNvPr>
          <p:cNvPicPr>
            <a:picLocks noChangeAspect="1"/>
          </p:cNvPicPr>
          <p:nvPr/>
        </p:nvPicPr>
        <p:blipFill>
          <a:blip r:embed="rId2">
            <a:duotone>
              <a:prstClr val="black"/>
              <a:srgbClr val="8A3FFC">
                <a:tint val="45000"/>
                <a:satMod val="400000"/>
              </a:srgbClr>
            </a:duotone>
          </a:blip>
          <a:stretch>
            <a:fillRect/>
          </a:stretch>
        </p:blipFill>
        <p:spPr>
          <a:xfrm>
            <a:off x="6465244" y="2240280"/>
            <a:ext cx="420624" cy="420624"/>
          </a:xfrm>
          <a:prstGeom prst="rect">
            <a:avLst/>
          </a:prstGeom>
        </p:spPr>
      </p:pic>
      <p:sp>
        <p:nvSpPr>
          <p:cNvPr id="40" name="Text 6">
            <a:extLst>
              <a:ext uri="{FF2B5EF4-FFF2-40B4-BE49-F238E27FC236}">
                <a16:creationId xmlns:a16="http://schemas.microsoft.com/office/drawing/2014/main" id="{938C01B6-7CC7-4944-A4D6-3AF859965FED}"/>
              </a:ext>
            </a:extLst>
          </p:cNvPr>
          <p:cNvSpPr/>
          <p:nvPr/>
        </p:nvSpPr>
        <p:spPr>
          <a:xfrm>
            <a:off x="6465244" y="2770632"/>
            <a:ext cx="3618556" cy="347472"/>
          </a:xfrm>
          <a:prstGeom prst="rect">
            <a:avLst/>
          </a:prstGeom>
          <a:noFill/>
          <a:ln/>
        </p:spPr>
        <p:txBody>
          <a:bodyPr wrap="square" lIns="0" tIns="0" rIns="0" bIns="0" rtlCol="0" anchor="ctr"/>
          <a:lstStyle/>
          <a:p>
            <a:pPr marL="0" indent="0">
              <a:buNone/>
            </a:pPr>
            <a:r>
              <a:rPr lang="en-US" sz="1700" b="1" kern="0" spc="100" dirty="0">
                <a:solidFill>
                  <a:srgbClr val="161616"/>
                </a:solidFill>
                <a:latin typeface="IBM Plex Sans" pitchFamily="34" charset="0"/>
                <a:ea typeface="IBM Plex Sans" pitchFamily="34" charset="-122"/>
              </a:rPr>
              <a:t>Au seins de grands </a:t>
            </a:r>
            <a:r>
              <a:rPr lang="en-US" sz="1700" b="1" kern="0" spc="100" dirty="0" err="1">
                <a:solidFill>
                  <a:srgbClr val="161616"/>
                </a:solidFill>
                <a:latin typeface="IBM Plex Sans" pitchFamily="34" charset="0"/>
                <a:ea typeface="IBM Plex Sans" pitchFamily="34" charset="-122"/>
              </a:rPr>
              <a:t>groupes</a:t>
            </a:r>
            <a:r>
              <a:rPr lang="en-US" sz="1700" b="1" kern="0" spc="100" dirty="0">
                <a:solidFill>
                  <a:srgbClr val="161616"/>
                </a:solidFill>
                <a:latin typeface="IBM Plex Sans" pitchFamily="34" charset="0"/>
                <a:ea typeface="IBM Plex Sans" pitchFamily="34" charset="-122"/>
              </a:rPr>
              <a:t> / EI </a:t>
            </a:r>
            <a:endParaRPr lang="en-US" sz="1700" dirty="0"/>
          </a:p>
        </p:txBody>
      </p:sp>
      <p:sp>
        <p:nvSpPr>
          <p:cNvPr id="41" name="Text 9">
            <a:extLst>
              <a:ext uri="{FF2B5EF4-FFF2-40B4-BE49-F238E27FC236}">
                <a16:creationId xmlns:a16="http://schemas.microsoft.com/office/drawing/2014/main" id="{7867D577-B5DE-4443-AF1D-024A9850FFCE}"/>
              </a:ext>
            </a:extLst>
          </p:cNvPr>
          <p:cNvSpPr/>
          <p:nvPr/>
        </p:nvSpPr>
        <p:spPr>
          <a:xfrm>
            <a:off x="6465244" y="3227832"/>
            <a:ext cx="4647256" cy="2207768"/>
          </a:xfrm>
          <a:prstGeom prst="rect">
            <a:avLst/>
          </a:prstGeom>
          <a:noFill/>
          <a:ln/>
        </p:spPr>
        <p:txBody>
          <a:bodyPr wrap="square" lIns="0" tIns="0" rIns="0" bIns="0" rtlCol="0" anchor="t"/>
          <a:lstStyle/>
          <a:p>
            <a:pPr marL="171450" indent="-171450">
              <a:buSzPct val="100000"/>
              <a:buFont typeface="Arial" panose="020B0604020202020204" pitchFamily="34" charset="0"/>
              <a:buChar char="•"/>
            </a:pPr>
            <a:r>
              <a:rPr lang="fr-FR" sz="1600" dirty="0">
                <a:latin typeface="Segoe UI" panose="020B0502040204020203" pitchFamily="34" charset="0"/>
                <a:cs typeface="Segoe UI" panose="020B0502040204020203" pitchFamily="34" charset="0"/>
              </a:rPr>
              <a:t>Système d’information à maintenir pour les 30 prochaines années</a:t>
            </a:r>
          </a:p>
          <a:p>
            <a:pPr marL="171450" indent="-171450">
              <a:buSzPct val="100000"/>
              <a:buFont typeface="Arial" panose="020B0604020202020204" pitchFamily="34" charset="0"/>
              <a:buChar char="•"/>
            </a:pPr>
            <a:r>
              <a:rPr lang="fr-FR" sz="1600" dirty="0">
                <a:latin typeface="Segoe UI" panose="020B0502040204020203" pitchFamily="34" charset="0"/>
                <a:cs typeface="Segoe UI" panose="020B0502040204020203" pitchFamily="34" charset="0"/>
              </a:rPr>
              <a:t>Conserver une maîtrise profonde du fonctionnement</a:t>
            </a:r>
          </a:p>
          <a:p>
            <a:pPr marL="171450" indent="-171450">
              <a:buSzPct val="100000"/>
              <a:buFont typeface="Arial" panose="020B0604020202020204" pitchFamily="34" charset="0"/>
              <a:buChar char="•"/>
            </a:pPr>
            <a:r>
              <a:rPr lang="fr-FR" sz="1600" dirty="0">
                <a:latin typeface="Segoe UI" panose="020B0502040204020203" pitchFamily="34" charset="0"/>
                <a:cs typeface="Segoe UI" panose="020B0502040204020203" pitchFamily="34" charset="0"/>
              </a:rPr>
              <a:t>Exigences de dizaines de personnes dans l’entreprise</a:t>
            </a:r>
          </a:p>
          <a:p>
            <a:pPr marL="171450" indent="-171450">
              <a:buSzPct val="100000"/>
              <a:buFont typeface="Arial" panose="020B0604020202020204" pitchFamily="34" charset="0"/>
              <a:buChar char="•"/>
            </a:pPr>
            <a:r>
              <a:rPr lang="fr-FR" sz="1600" dirty="0">
                <a:latin typeface="Segoe UI" panose="020B0502040204020203" pitchFamily="34" charset="0"/>
                <a:cs typeface="Segoe UI" panose="020B0502040204020203" pitchFamily="34" charset="0"/>
              </a:rPr>
              <a:t>Normes d’architecture / Langages spécifiques entreprise</a:t>
            </a:r>
          </a:p>
          <a:p>
            <a:pPr marL="171450" indent="-171450">
              <a:buSzPct val="100000"/>
              <a:buFont typeface="Arial" panose="020B0604020202020204" pitchFamily="34" charset="0"/>
              <a:buChar char="•"/>
            </a:pPr>
            <a:r>
              <a:rPr lang="fr-FR" sz="1600" dirty="0">
                <a:latin typeface="Segoe UI" panose="020B0502040204020203" pitchFamily="34" charset="0"/>
                <a:cs typeface="Segoe UI" panose="020B0502040204020203" pitchFamily="34" charset="0"/>
              </a:rPr>
              <a:t>Audits, Cybersécurité, Conformité</a:t>
            </a:r>
          </a:p>
          <a:p>
            <a:pPr marL="171450" indent="-171450">
              <a:buSzPct val="100000"/>
              <a:buFont typeface="Arial" panose="020B0604020202020204" pitchFamily="34" charset="0"/>
              <a:buChar char="•"/>
            </a:pPr>
            <a:endParaRPr lang="fr-FR" sz="1600" dirty="0">
              <a:latin typeface="Segoe UI" panose="020B0502040204020203" pitchFamily="34" charset="0"/>
              <a:cs typeface="Segoe UI" panose="020B0502040204020203" pitchFamily="34" charset="0"/>
            </a:endParaRPr>
          </a:p>
          <a:p>
            <a:pPr marL="171450" indent="-171450">
              <a:buSzPct val="100000"/>
              <a:buFont typeface="Arial" panose="020B0604020202020204" pitchFamily="34" charset="0"/>
              <a:buChar char="•"/>
            </a:pPr>
            <a:endParaRPr lang="fr-FR" sz="1600" dirty="0">
              <a:solidFill>
                <a:schemeClr val="tx1"/>
              </a:solidFill>
              <a:latin typeface="Segoe UI" panose="020B0502040204020203" pitchFamily="34" charset="0"/>
              <a:cs typeface="Segoe UI" panose="020B0502040204020203" pitchFamily="34" charset="0"/>
            </a:endParaRPr>
          </a:p>
          <a:p>
            <a:pPr marL="171450" indent="-171450">
              <a:buSzPct val="100000"/>
              <a:buFont typeface="Arial" panose="020B0604020202020204" pitchFamily="34" charset="0"/>
              <a:buChar char="•"/>
            </a:pPr>
            <a:endParaRPr lang="fr-FR" sz="1600" dirty="0">
              <a:solidFill>
                <a:schemeClr val="tx1"/>
              </a:solidFill>
              <a:latin typeface="Segoe UI" panose="020B0502040204020203" pitchFamily="34" charset="0"/>
              <a:cs typeface="Segoe UI" panose="020B0502040204020203" pitchFamily="34" charset="0"/>
            </a:endParaRPr>
          </a:p>
          <a:p>
            <a:pPr marL="171450" indent="-171450">
              <a:buSzPct val="100000"/>
              <a:buFont typeface="Arial" panose="020B0604020202020204" pitchFamily="34" charset="0"/>
              <a:buChar char="•"/>
            </a:pPr>
            <a:endParaRPr lang="en-US" sz="1600" dirty="0"/>
          </a:p>
        </p:txBody>
      </p:sp>
      <p:pic>
        <p:nvPicPr>
          <p:cNvPr id="42" name="Image 6" descr="preencoded.png">
            <a:extLst>
              <a:ext uri="{FF2B5EF4-FFF2-40B4-BE49-F238E27FC236}">
                <a16:creationId xmlns:a16="http://schemas.microsoft.com/office/drawing/2014/main" id="{3F8F2418-7418-4029-9369-CCEDB39DD394}"/>
              </a:ext>
            </a:extLst>
          </p:cNvPr>
          <p:cNvPicPr>
            <a:picLocks noChangeAspect="1"/>
          </p:cNvPicPr>
          <p:nvPr/>
        </p:nvPicPr>
        <p:blipFill>
          <a:blip r:embed="rId3">
            <a:duotone>
              <a:prstClr val="black"/>
              <a:srgbClr val="8A3FFC">
                <a:tint val="45000"/>
                <a:satMod val="400000"/>
              </a:srgbClr>
            </a:duotone>
          </a:blip>
          <a:stretch>
            <a:fillRect/>
          </a:stretch>
        </p:blipFill>
        <p:spPr>
          <a:xfrm>
            <a:off x="804672" y="2249424"/>
            <a:ext cx="402336" cy="402336"/>
          </a:xfrm>
          <a:prstGeom prst="rect">
            <a:avLst/>
          </a:prstGeom>
        </p:spPr>
      </p:pic>
    </p:spTree>
    <p:extLst>
      <p:ext uri="{BB962C8B-B14F-4D97-AF65-F5344CB8AC3E}">
        <p14:creationId xmlns:p14="http://schemas.microsoft.com/office/powerpoint/2010/main" val="3068609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8BE16-AA59-B28B-3AE1-787E576C79F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555DD3-32A5-FC85-F97A-A25DDF9A5DAD}"/>
              </a:ext>
            </a:extLst>
          </p:cNvPr>
          <p:cNvSpPr>
            <a:spLocks noGrp="1"/>
          </p:cNvSpPr>
          <p:nvPr>
            <p:ph type="title"/>
          </p:nvPr>
        </p:nvSpPr>
        <p:spPr/>
        <p:txBody>
          <a:bodyPr>
            <a:normAutofit/>
          </a:bodyPr>
          <a:lstStyle/>
          <a:p>
            <a:r>
              <a:rPr lang="fr-FR" dirty="0">
                <a:solidFill>
                  <a:schemeClr val="accent2"/>
                </a:solidFill>
                <a:latin typeface="Segoe UI" panose="020B0502040204020203" pitchFamily="34" charset="0"/>
                <a:cs typeface="Segoe UI" panose="020B0502040204020203" pitchFamily="34" charset="0"/>
              </a:rPr>
              <a:t>Cinq dimensions, une seule stratégie intégrée</a:t>
            </a:r>
          </a:p>
        </p:txBody>
      </p:sp>
      <p:sp>
        <p:nvSpPr>
          <p:cNvPr id="12" name="Shape 14">
            <a:extLst>
              <a:ext uri="{FF2B5EF4-FFF2-40B4-BE49-F238E27FC236}">
                <a16:creationId xmlns:a16="http://schemas.microsoft.com/office/drawing/2014/main" id="{889E863E-DAC0-6655-C429-1C6CA3043666}"/>
              </a:ext>
            </a:extLst>
          </p:cNvPr>
          <p:cNvSpPr/>
          <p:nvPr/>
        </p:nvSpPr>
        <p:spPr>
          <a:xfrm>
            <a:off x="548640" y="1252728"/>
            <a:ext cx="64008" cy="384048"/>
          </a:xfrm>
          <a:prstGeom prst="rect">
            <a:avLst/>
          </a:prstGeom>
          <a:solidFill>
            <a:srgbClr val="835CF5"/>
          </a:solidFill>
          <a:ln>
            <a:solidFill>
              <a:srgbClr val="835CF5"/>
            </a:solidFill>
          </a:ln>
        </p:spPr>
        <p:txBody>
          <a:bodyPr/>
          <a:lstStyle/>
          <a:p>
            <a:endParaRPr lang="fr-FR">
              <a:latin typeface="Segoe UI" panose="020B0502040204020203" pitchFamily="34" charset="0"/>
              <a:cs typeface="Segoe UI" panose="020B0502040204020203" pitchFamily="34" charset="0"/>
            </a:endParaRPr>
          </a:p>
        </p:txBody>
      </p:sp>
      <p:sp>
        <p:nvSpPr>
          <p:cNvPr id="13" name="Text 15">
            <a:extLst>
              <a:ext uri="{FF2B5EF4-FFF2-40B4-BE49-F238E27FC236}">
                <a16:creationId xmlns:a16="http://schemas.microsoft.com/office/drawing/2014/main" id="{87B9DB10-B454-0A13-EDC3-EC6EF1450DC5}"/>
              </a:ext>
            </a:extLst>
          </p:cNvPr>
          <p:cNvSpPr/>
          <p:nvPr/>
        </p:nvSpPr>
        <p:spPr>
          <a:xfrm>
            <a:off x="731519" y="1188720"/>
            <a:ext cx="10853929" cy="502920"/>
          </a:xfrm>
          <a:prstGeom prst="rect">
            <a:avLst/>
          </a:prstGeom>
          <a:noFill/>
          <a:ln/>
        </p:spPr>
        <p:txBody>
          <a:bodyPr wrap="square" rtlCol="0" anchor="ctr"/>
          <a:lstStyle/>
          <a:p>
            <a:pPr marL="0" indent="0">
              <a:buNone/>
            </a:pP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Les traiter une par une, c'est échouer. Les piloter en parallèle, c'est du system </a:t>
            </a:r>
            <a:r>
              <a:rPr lang="fr-FR" sz="2100" i="1" dirty="0" err="1">
                <a:solidFill>
                  <a:srgbClr val="835CF5"/>
                </a:solidFill>
                <a:latin typeface="Segoe UI" panose="020B0502040204020203" pitchFamily="34" charset="0"/>
                <a:ea typeface="IBM Plex Sans" pitchFamily="34" charset="-122"/>
                <a:cs typeface="Segoe UI" panose="020B0502040204020203" pitchFamily="34" charset="0"/>
              </a:rPr>
              <a:t>thinking</a:t>
            </a:r>
            <a:r>
              <a:rPr lang="fr-FR" sz="2100" i="1" dirty="0">
                <a:solidFill>
                  <a:srgbClr val="835CF5"/>
                </a:solidFill>
                <a:latin typeface="Segoe UI" panose="020B0502040204020203" pitchFamily="34" charset="0"/>
                <a:ea typeface="IBM Plex Sans" pitchFamily="34" charset="-122"/>
                <a:cs typeface="Segoe UI" panose="020B0502040204020203" pitchFamily="34" charset="0"/>
              </a:rPr>
              <a:t> appliqué.</a:t>
            </a:r>
          </a:p>
        </p:txBody>
      </p:sp>
      <p:sp>
        <p:nvSpPr>
          <p:cNvPr id="3" name="Shape 4">
            <a:extLst>
              <a:ext uri="{FF2B5EF4-FFF2-40B4-BE49-F238E27FC236}">
                <a16:creationId xmlns:a16="http://schemas.microsoft.com/office/drawing/2014/main" id="{788FFFAE-E8F1-3ECB-D2E1-940029ED81B3}"/>
              </a:ext>
            </a:extLst>
          </p:cNvPr>
          <p:cNvSpPr/>
          <p:nvPr/>
        </p:nvSpPr>
        <p:spPr>
          <a:xfrm>
            <a:off x="777240" y="1965960"/>
            <a:ext cx="2066544" cy="2377440"/>
          </a:xfrm>
          <a:prstGeom prst="rect">
            <a:avLst/>
          </a:prstGeom>
          <a:solidFill>
            <a:srgbClr val="FFFFFF"/>
          </a:solidFill>
          <a:ln/>
          <a:effectLst>
            <a:outerShdw blurRad="101600" dist="25400" dir="8100000" algn="bl" rotWithShape="0">
              <a:srgbClr val="000000">
                <a:alpha val="25000"/>
              </a:srgbClr>
            </a:outerShdw>
          </a:effectLst>
        </p:spPr>
        <p:txBody>
          <a:bodyPr/>
          <a:lstStyle/>
          <a:p>
            <a:endParaRPr lang="fr-FR">
              <a:latin typeface="Segoe UI" panose="020B0502040204020203" pitchFamily="34" charset="0"/>
              <a:cs typeface="Segoe UI" panose="020B0502040204020203" pitchFamily="34" charset="0"/>
            </a:endParaRPr>
          </a:p>
        </p:txBody>
      </p:sp>
      <p:sp>
        <p:nvSpPr>
          <p:cNvPr id="4" name="Shape 5">
            <a:extLst>
              <a:ext uri="{FF2B5EF4-FFF2-40B4-BE49-F238E27FC236}">
                <a16:creationId xmlns:a16="http://schemas.microsoft.com/office/drawing/2014/main" id="{D6DE7B88-B52C-5FB1-0094-984E66FEA1C8}"/>
              </a:ext>
            </a:extLst>
          </p:cNvPr>
          <p:cNvSpPr/>
          <p:nvPr/>
        </p:nvSpPr>
        <p:spPr>
          <a:xfrm>
            <a:off x="777240" y="1965960"/>
            <a:ext cx="2066544" cy="64008"/>
          </a:xfrm>
          <a:prstGeom prst="rect">
            <a:avLst/>
          </a:prstGeom>
          <a:solidFill>
            <a:srgbClr val="78A9FF"/>
          </a:solidFill>
          <a:ln/>
        </p:spPr>
        <p:txBody>
          <a:bodyPr/>
          <a:lstStyle/>
          <a:p>
            <a:endParaRPr lang="fr-FR">
              <a:latin typeface="Segoe UI" panose="020B0502040204020203" pitchFamily="34" charset="0"/>
              <a:cs typeface="Segoe UI" panose="020B0502040204020203" pitchFamily="34" charset="0"/>
            </a:endParaRPr>
          </a:p>
        </p:txBody>
      </p:sp>
      <p:sp>
        <p:nvSpPr>
          <p:cNvPr id="5" name="Shape 6">
            <a:extLst>
              <a:ext uri="{FF2B5EF4-FFF2-40B4-BE49-F238E27FC236}">
                <a16:creationId xmlns:a16="http://schemas.microsoft.com/office/drawing/2014/main" id="{B38EA3D4-35D5-3ECD-F29F-9BC7702BFB15}"/>
              </a:ext>
            </a:extLst>
          </p:cNvPr>
          <p:cNvSpPr/>
          <p:nvPr/>
        </p:nvSpPr>
        <p:spPr>
          <a:xfrm>
            <a:off x="1097280" y="2258568"/>
            <a:ext cx="731520" cy="731520"/>
          </a:xfrm>
          <a:prstGeom prst="ellipse">
            <a:avLst/>
          </a:prstGeom>
          <a:solidFill>
            <a:schemeClr val="bg1"/>
          </a:solidFill>
          <a:ln>
            <a:solidFill>
              <a:srgbClr val="78A9FF"/>
            </a:solidFill>
          </a:ln>
        </p:spPr>
        <p:txBody>
          <a:bodyPr/>
          <a:lstStyle/>
          <a:p>
            <a:endParaRPr lang="fr-FR">
              <a:latin typeface="Segoe UI" panose="020B0502040204020203" pitchFamily="34" charset="0"/>
              <a:cs typeface="Segoe UI" panose="020B0502040204020203" pitchFamily="34" charset="0"/>
            </a:endParaRPr>
          </a:p>
        </p:txBody>
      </p:sp>
      <p:sp>
        <p:nvSpPr>
          <p:cNvPr id="7" name="Text 7">
            <a:extLst>
              <a:ext uri="{FF2B5EF4-FFF2-40B4-BE49-F238E27FC236}">
                <a16:creationId xmlns:a16="http://schemas.microsoft.com/office/drawing/2014/main" id="{DA882316-3490-CE78-F38D-AC1F9DEFB2AE}"/>
              </a:ext>
            </a:extLst>
          </p:cNvPr>
          <p:cNvSpPr/>
          <p:nvPr/>
        </p:nvSpPr>
        <p:spPr>
          <a:xfrm>
            <a:off x="1051560" y="3017520"/>
            <a:ext cx="1563624" cy="457200"/>
          </a:xfrm>
          <a:prstGeom prst="rect">
            <a:avLst/>
          </a:prstGeom>
          <a:noFill/>
          <a:ln/>
        </p:spPr>
        <p:txBody>
          <a:bodyPr wrap="square" rtlCol="0" anchor="t"/>
          <a:lstStyle/>
          <a:p>
            <a:pPr marL="0" indent="0">
              <a:buNone/>
            </a:pPr>
            <a:r>
              <a:rPr lang="en-US" sz="1350" b="1" dirty="0" err="1">
                <a:solidFill>
                  <a:srgbClr val="161616"/>
                </a:solidFill>
                <a:latin typeface="Segoe UI" panose="020B0502040204020203" pitchFamily="34" charset="0"/>
                <a:ea typeface="IBM Plex Sans" pitchFamily="34" charset="-122"/>
                <a:cs typeface="Segoe UI" panose="020B0502040204020203" pitchFamily="34" charset="0"/>
              </a:rPr>
              <a:t>Évaluation</a:t>
            </a:r>
            <a:endParaRPr lang="en-US" sz="1350" dirty="0">
              <a:latin typeface="Segoe UI" panose="020B0502040204020203" pitchFamily="34" charset="0"/>
              <a:cs typeface="Segoe UI" panose="020B0502040204020203" pitchFamily="34" charset="0"/>
            </a:endParaRPr>
          </a:p>
        </p:txBody>
      </p:sp>
      <p:sp>
        <p:nvSpPr>
          <p:cNvPr id="8" name="Text 8">
            <a:extLst>
              <a:ext uri="{FF2B5EF4-FFF2-40B4-BE49-F238E27FC236}">
                <a16:creationId xmlns:a16="http://schemas.microsoft.com/office/drawing/2014/main" id="{8FFA860F-311C-6B40-3223-2FE7228EAE32}"/>
              </a:ext>
            </a:extLst>
          </p:cNvPr>
          <p:cNvSpPr/>
          <p:nvPr/>
        </p:nvSpPr>
        <p:spPr>
          <a:xfrm>
            <a:off x="886968" y="3502152"/>
            <a:ext cx="1792224" cy="804672"/>
          </a:xfrm>
          <a:prstGeom prst="rect">
            <a:avLst/>
          </a:prstGeom>
          <a:noFill/>
          <a:ln/>
        </p:spPr>
        <p:txBody>
          <a:bodyPr wrap="square" rtlCol="0" anchor="ctr"/>
          <a:lstStyle/>
          <a:p>
            <a:pPr marL="0" indent="0">
              <a:lnSpc>
                <a:spcPct val="112000"/>
              </a:lnSpc>
              <a:buNone/>
            </a:pPr>
            <a:r>
              <a:rPr lang="fr-FR" sz="1000" dirty="0">
                <a:latin typeface="Segoe UI" panose="020B0502040204020203" pitchFamily="34" charset="0"/>
                <a:ea typeface="IBM Plex Sans" pitchFamily="34" charset="-122"/>
                <a:cs typeface="Segoe UI" panose="020B0502040204020203" pitchFamily="34" charset="0"/>
              </a:rPr>
              <a:t>Est-ce que ça fonctionne correctement ? </a:t>
            </a:r>
          </a:p>
          <a:p>
            <a:pPr>
              <a:lnSpc>
                <a:spcPct val="112000"/>
              </a:lnSpc>
            </a:pPr>
            <a:r>
              <a:rPr lang="fr-FR" sz="1000" kern="100" dirty="0">
                <a:latin typeface="Segoe UI" panose="020B0502040204020203" pitchFamily="34" charset="0"/>
                <a:ea typeface="Aptos" panose="020B0004020202020204" pitchFamily="34" charset="0"/>
                <a:cs typeface="Segoe UI" panose="020B0502040204020203" pitchFamily="34" charset="0"/>
              </a:rPr>
              <a:t>Fiabilité des décisions</a:t>
            </a:r>
            <a:endParaRPr lang="fr-FR" sz="1000" dirty="0">
              <a:latin typeface="Segoe UI" panose="020B0502040204020203" pitchFamily="34" charset="0"/>
              <a:ea typeface="IBM Plex Sans" pitchFamily="34" charset="-122"/>
              <a:cs typeface="Segoe UI" panose="020B0502040204020203" pitchFamily="34" charset="0"/>
            </a:endParaRPr>
          </a:p>
        </p:txBody>
      </p:sp>
      <p:sp>
        <p:nvSpPr>
          <p:cNvPr id="9" name="Shape 9">
            <a:extLst>
              <a:ext uri="{FF2B5EF4-FFF2-40B4-BE49-F238E27FC236}">
                <a16:creationId xmlns:a16="http://schemas.microsoft.com/office/drawing/2014/main" id="{AFE9A8ED-E3CD-132E-143C-1E9766286F0F}"/>
              </a:ext>
            </a:extLst>
          </p:cNvPr>
          <p:cNvSpPr/>
          <p:nvPr/>
        </p:nvSpPr>
        <p:spPr>
          <a:xfrm>
            <a:off x="2962656" y="1965960"/>
            <a:ext cx="2066544" cy="2377440"/>
          </a:xfrm>
          <a:prstGeom prst="rect">
            <a:avLst/>
          </a:prstGeom>
          <a:solidFill>
            <a:srgbClr val="FFFFFF"/>
          </a:solidFill>
          <a:ln/>
          <a:effectLst>
            <a:outerShdw blurRad="101600" dist="25400" dir="8100000" algn="bl" rotWithShape="0">
              <a:srgbClr val="000000">
                <a:alpha val="25000"/>
              </a:srgbClr>
            </a:outerShdw>
          </a:effectLst>
        </p:spPr>
        <p:txBody>
          <a:bodyPr/>
          <a:lstStyle/>
          <a:p>
            <a:endParaRPr lang="fr-FR">
              <a:latin typeface="Segoe UI" panose="020B0502040204020203" pitchFamily="34" charset="0"/>
              <a:cs typeface="Segoe UI" panose="020B0502040204020203" pitchFamily="34" charset="0"/>
            </a:endParaRPr>
          </a:p>
        </p:txBody>
      </p:sp>
      <p:sp>
        <p:nvSpPr>
          <p:cNvPr id="10" name="Shape 10">
            <a:extLst>
              <a:ext uri="{FF2B5EF4-FFF2-40B4-BE49-F238E27FC236}">
                <a16:creationId xmlns:a16="http://schemas.microsoft.com/office/drawing/2014/main" id="{76D5D681-34D3-12F3-2D31-C704B2B88C99}"/>
              </a:ext>
            </a:extLst>
          </p:cNvPr>
          <p:cNvSpPr/>
          <p:nvPr/>
        </p:nvSpPr>
        <p:spPr>
          <a:xfrm>
            <a:off x="2962656" y="1965960"/>
            <a:ext cx="2066544" cy="64008"/>
          </a:xfrm>
          <a:prstGeom prst="rect">
            <a:avLst/>
          </a:prstGeom>
          <a:solidFill>
            <a:srgbClr val="42BE65"/>
          </a:solidFill>
          <a:ln/>
        </p:spPr>
        <p:txBody>
          <a:bodyPr/>
          <a:lstStyle/>
          <a:p>
            <a:endParaRPr lang="fr-FR">
              <a:latin typeface="Segoe UI" panose="020B0502040204020203" pitchFamily="34" charset="0"/>
              <a:cs typeface="Segoe UI" panose="020B0502040204020203" pitchFamily="34" charset="0"/>
            </a:endParaRPr>
          </a:p>
        </p:txBody>
      </p:sp>
      <p:sp>
        <p:nvSpPr>
          <p:cNvPr id="11" name="Shape 11">
            <a:extLst>
              <a:ext uri="{FF2B5EF4-FFF2-40B4-BE49-F238E27FC236}">
                <a16:creationId xmlns:a16="http://schemas.microsoft.com/office/drawing/2014/main" id="{5073C3ED-3DC2-0DB5-FA30-3792F1FCCB79}"/>
              </a:ext>
            </a:extLst>
          </p:cNvPr>
          <p:cNvSpPr/>
          <p:nvPr/>
        </p:nvSpPr>
        <p:spPr>
          <a:xfrm>
            <a:off x="3282696" y="2258568"/>
            <a:ext cx="731520" cy="731520"/>
          </a:xfrm>
          <a:prstGeom prst="ellipse">
            <a:avLst/>
          </a:prstGeom>
          <a:solidFill>
            <a:schemeClr val="bg1"/>
          </a:solidFill>
          <a:ln>
            <a:solidFill>
              <a:srgbClr val="42BE65"/>
            </a:solidFill>
          </a:ln>
        </p:spPr>
        <p:txBody>
          <a:bodyPr/>
          <a:lstStyle/>
          <a:p>
            <a:endParaRPr lang="fr-FR">
              <a:latin typeface="Segoe UI" panose="020B0502040204020203" pitchFamily="34" charset="0"/>
              <a:cs typeface="Segoe UI" panose="020B0502040204020203" pitchFamily="34" charset="0"/>
            </a:endParaRPr>
          </a:p>
        </p:txBody>
      </p:sp>
      <p:sp>
        <p:nvSpPr>
          <p:cNvPr id="15" name="Text 12">
            <a:extLst>
              <a:ext uri="{FF2B5EF4-FFF2-40B4-BE49-F238E27FC236}">
                <a16:creationId xmlns:a16="http://schemas.microsoft.com/office/drawing/2014/main" id="{A1287B68-FD5A-A1E7-BF86-39D3EFCBD297}"/>
              </a:ext>
            </a:extLst>
          </p:cNvPr>
          <p:cNvSpPr/>
          <p:nvPr/>
        </p:nvSpPr>
        <p:spPr>
          <a:xfrm>
            <a:off x="3236976" y="3017520"/>
            <a:ext cx="1563624" cy="457200"/>
          </a:xfrm>
          <a:prstGeom prst="rect">
            <a:avLst/>
          </a:prstGeom>
          <a:noFill/>
          <a:ln/>
        </p:spPr>
        <p:txBody>
          <a:bodyPr wrap="square" rtlCol="0" anchor="t"/>
          <a:lstStyle/>
          <a:p>
            <a:pPr marL="0" indent="0">
              <a:buNone/>
            </a:pPr>
            <a:r>
              <a:rPr lang="en-US" sz="1350" b="1" dirty="0">
                <a:solidFill>
                  <a:srgbClr val="161616"/>
                </a:solidFill>
                <a:latin typeface="Segoe UI" panose="020B0502040204020203" pitchFamily="34" charset="0"/>
                <a:ea typeface="IBM Plex Sans" pitchFamily="34" charset="-122"/>
                <a:cs typeface="Segoe UI" panose="020B0502040204020203" pitchFamily="34" charset="0"/>
              </a:rPr>
              <a:t>Architecture</a:t>
            </a:r>
            <a:endParaRPr lang="en-US" sz="1350" dirty="0">
              <a:latin typeface="Segoe UI" panose="020B0502040204020203" pitchFamily="34" charset="0"/>
              <a:cs typeface="Segoe UI" panose="020B0502040204020203" pitchFamily="34" charset="0"/>
            </a:endParaRPr>
          </a:p>
        </p:txBody>
      </p:sp>
      <p:sp>
        <p:nvSpPr>
          <p:cNvPr id="18" name="Text 13">
            <a:extLst>
              <a:ext uri="{FF2B5EF4-FFF2-40B4-BE49-F238E27FC236}">
                <a16:creationId xmlns:a16="http://schemas.microsoft.com/office/drawing/2014/main" id="{0B0327FF-EC4F-45A5-84EE-97F90A69D3A6}"/>
              </a:ext>
            </a:extLst>
          </p:cNvPr>
          <p:cNvSpPr/>
          <p:nvPr/>
        </p:nvSpPr>
        <p:spPr>
          <a:xfrm>
            <a:off x="2962656" y="3502152"/>
            <a:ext cx="2066544" cy="804672"/>
          </a:xfrm>
          <a:prstGeom prst="rect">
            <a:avLst/>
          </a:prstGeom>
          <a:noFill/>
          <a:ln/>
        </p:spPr>
        <p:txBody>
          <a:bodyPr wrap="square" rtlCol="0" anchor="ctr"/>
          <a:lstStyle/>
          <a:p>
            <a:pPr marL="0" indent="0">
              <a:lnSpc>
                <a:spcPct val="112000"/>
              </a:lnSpc>
              <a:buNone/>
            </a:pPr>
            <a:r>
              <a:rPr lang="fr-FR" sz="1000" dirty="0">
                <a:latin typeface="Segoe UI" panose="020B0502040204020203" pitchFamily="34" charset="0"/>
                <a:ea typeface="IBM Plex Sans" pitchFamily="34" charset="-122"/>
                <a:cs typeface="Segoe UI" panose="020B0502040204020203" pitchFamily="34" charset="0"/>
              </a:rPr>
              <a:t>Comment le système est construit ? </a:t>
            </a:r>
          </a:p>
          <a:p>
            <a:pPr>
              <a:lnSpc>
                <a:spcPct val="112000"/>
              </a:lnSpc>
            </a:pPr>
            <a:r>
              <a:rPr lang="fr-FR" sz="1000" kern="100" dirty="0">
                <a:latin typeface="Segoe UI" panose="020B0502040204020203" pitchFamily="34" charset="0"/>
                <a:ea typeface="Aptos" panose="020B0004020202020204" pitchFamily="34" charset="0"/>
                <a:cs typeface="Segoe UI" panose="020B0502040204020203" pitchFamily="34" charset="0"/>
              </a:rPr>
              <a:t>Cohérence et contrôle des flux</a:t>
            </a:r>
            <a:endParaRPr lang="fr-FR" sz="1000" dirty="0">
              <a:latin typeface="Segoe UI" panose="020B0502040204020203" pitchFamily="34" charset="0"/>
              <a:cs typeface="Segoe UI" panose="020B0502040204020203" pitchFamily="34" charset="0"/>
            </a:endParaRPr>
          </a:p>
          <a:p>
            <a:pPr marL="0" indent="0">
              <a:lnSpc>
                <a:spcPct val="112000"/>
              </a:lnSpc>
              <a:buNone/>
            </a:pPr>
            <a:endParaRPr lang="fr-FR" sz="1000" dirty="0">
              <a:latin typeface="Segoe UI" panose="020B0502040204020203" pitchFamily="34" charset="0"/>
              <a:ea typeface="IBM Plex Sans" pitchFamily="34" charset="-122"/>
              <a:cs typeface="Segoe UI" panose="020B0502040204020203" pitchFamily="34" charset="0"/>
            </a:endParaRPr>
          </a:p>
        </p:txBody>
      </p:sp>
      <p:sp>
        <p:nvSpPr>
          <p:cNvPr id="19" name="Shape 14">
            <a:extLst>
              <a:ext uri="{FF2B5EF4-FFF2-40B4-BE49-F238E27FC236}">
                <a16:creationId xmlns:a16="http://schemas.microsoft.com/office/drawing/2014/main" id="{F684C430-F93A-22C8-48D8-1164F29D653C}"/>
              </a:ext>
            </a:extLst>
          </p:cNvPr>
          <p:cNvSpPr/>
          <p:nvPr/>
        </p:nvSpPr>
        <p:spPr>
          <a:xfrm>
            <a:off x="5148072" y="1965960"/>
            <a:ext cx="2066544" cy="2377440"/>
          </a:xfrm>
          <a:prstGeom prst="rect">
            <a:avLst/>
          </a:prstGeom>
          <a:solidFill>
            <a:srgbClr val="FFFFFF"/>
          </a:solidFill>
          <a:ln/>
          <a:effectLst>
            <a:outerShdw blurRad="101600" dist="25400" dir="8100000" algn="bl" rotWithShape="0">
              <a:srgbClr val="000000">
                <a:alpha val="25000"/>
              </a:srgbClr>
            </a:outerShdw>
          </a:effectLst>
        </p:spPr>
        <p:txBody>
          <a:bodyPr/>
          <a:lstStyle/>
          <a:p>
            <a:endParaRPr lang="fr-FR">
              <a:latin typeface="Segoe UI" panose="020B0502040204020203" pitchFamily="34" charset="0"/>
              <a:cs typeface="Segoe UI" panose="020B0502040204020203" pitchFamily="34" charset="0"/>
            </a:endParaRPr>
          </a:p>
        </p:txBody>
      </p:sp>
      <p:sp>
        <p:nvSpPr>
          <p:cNvPr id="20" name="Shape 15">
            <a:extLst>
              <a:ext uri="{FF2B5EF4-FFF2-40B4-BE49-F238E27FC236}">
                <a16:creationId xmlns:a16="http://schemas.microsoft.com/office/drawing/2014/main" id="{994BD5F9-CAE7-91E0-F7B3-2B410B3BDD9D}"/>
              </a:ext>
            </a:extLst>
          </p:cNvPr>
          <p:cNvSpPr/>
          <p:nvPr/>
        </p:nvSpPr>
        <p:spPr>
          <a:xfrm>
            <a:off x="5148072" y="1965960"/>
            <a:ext cx="2066544" cy="64008"/>
          </a:xfrm>
          <a:prstGeom prst="rect">
            <a:avLst/>
          </a:prstGeom>
          <a:solidFill>
            <a:srgbClr val="8A3FFC"/>
          </a:solidFill>
          <a:ln/>
        </p:spPr>
        <p:txBody>
          <a:bodyPr/>
          <a:lstStyle/>
          <a:p>
            <a:endParaRPr lang="fr-FR">
              <a:latin typeface="Segoe UI" panose="020B0502040204020203" pitchFamily="34" charset="0"/>
              <a:cs typeface="Segoe UI" panose="020B0502040204020203" pitchFamily="34" charset="0"/>
            </a:endParaRPr>
          </a:p>
        </p:txBody>
      </p:sp>
      <p:sp>
        <p:nvSpPr>
          <p:cNvPr id="21" name="Shape 16">
            <a:extLst>
              <a:ext uri="{FF2B5EF4-FFF2-40B4-BE49-F238E27FC236}">
                <a16:creationId xmlns:a16="http://schemas.microsoft.com/office/drawing/2014/main" id="{9976D216-3A47-BE62-8823-A0167C95D0E1}"/>
              </a:ext>
            </a:extLst>
          </p:cNvPr>
          <p:cNvSpPr/>
          <p:nvPr/>
        </p:nvSpPr>
        <p:spPr>
          <a:xfrm>
            <a:off x="5468112" y="2258568"/>
            <a:ext cx="731520" cy="731520"/>
          </a:xfrm>
          <a:prstGeom prst="ellipse">
            <a:avLst/>
          </a:prstGeom>
          <a:solidFill>
            <a:schemeClr val="bg1"/>
          </a:solidFill>
          <a:ln>
            <a:solidFill>
              <a:srgbClr val="8A3FFC"/>
            </a:solidFill>
          </a:ln>
        </p:spPr>
        <p:txBody>
          <a:bodyPr/>
          <a:lstStyle/>
          <a:p>
            <a:endParaRPr lang="fr-FR">
              <a:latin typeface="Segoe UI" panose="020B0502040204020203" pitchFamily="34" charset="0"/>
              <a:cs typeface="Segoe UI" panose="020B0502040204020203" pitchFamily="34" charset="0"/>
            </a:endParaRPr>
          </a:p>
        </p:txBody>
      </p:sp>
      <p:sp>
        <p:nvSpPr>
          <p:cNvPr id="23" name="Text 17">
            <a:extLst>
              <a:ext uri="{FF2B5EF4-FFF2-40B4-BE49-F238E27FC236}">
                <a16:creationId xmlns:a16="http://schemas.microsoft.com/office/drawing/2014/main" id="{74D73E44-600C-102C-9CF2-C4CA4D55AF44}"/>
              </a:ext>
            </a:extLst>
          </p:cNvPr>
          <p:cNvSpPr/>
          <p:nvPr/>
        </p:nvSpPr>
        <p:spPr>
          <a:xfrm>
            <a:off x="5422392" y="3017520"/>
            <a:ext cx="1563624" cy="457200"/>
          </a:xfrm>
          <a:prstGeom prst="rect">
            <a:avLst/>
          </a:prstGeom>
          <a:noFill/>
          <a:ln/>
        </p:spPr>
        <p:txBody>
          <a:bodyPr wrap="square" rtlCol="0" anchor="t"/>
          <a:lstStyle/>
          <a:p>
            <a:pPr marL="0" indent="0">
              <a:buNone/>
            </a:pPr>
            <a:r>
              <a:rPr lang="en-US" sz="1350" b="1" dirty="0" err="1">
                <a:solidFill>
                  <a:srgbClr val="161616"/>
                </a:solidFill>
                <a:latin typeface="Segoe UI" panose="020B0502040204020203" pitchFamily="34" charset="0"/>
                <a:ea typeface="IBM Plex Sans" pitchFamily="34" charset="-122"/>
                <a:cs typeface="Segoe UI" panose="020B0502040204020203" pitchFamily="34" charset="0"/>
              </a:rPr>
              <a:t>Gouvernance</a:t>
            </a:r>
            <a:endParaRPr lang="en-US" sz="1350" dirty="0">
              <a:latin typeface="Segoe UI" panose="020B0502040204020203" pitchFamily="34" charset="0"/>
              <a:cs typeface="Segoe UI" panose="020B0502040204020203" pitchFamily="34" charset="0"/>
            </a:endParaRPr>
          </a:p>
        </p:txBody>
      </p:sp>
      <p:sp>
        <p:nvSpPr>
          <p:cNvPr id="24" name="Text 18">
            <a:extLst>
              <a:ext uri="{FF2B5EF4-FFF2-40B4-BE49-F238E27FC236}">
                <a16:creationId xmlns:a16="http://schemas.microsoft.com/office/drawing/2014/main" id="{85DAA90F-FBC6-78FE-1F16-6994EE041642}"/>
              </a:ext>
            </a:extLst>
          </p:cNvPr>
          <p:cNvSpPr/>
          <p:nvPr/>
        </p:nvSpPr>
        <p:spPr>
          <a:xfrm>
            <a:off x="5148071" y="3502152"/>
            <a:ext cx="2066543" cy="804672"/>
          </a:xfrm>
          <a:prstGeom prst="rect">
            <a:avLst/>
          </a:prstGeom>
          <a:noFill/>
          <a:ln/>
        </p:spPr>
        <p:txBody>
          <a:bodyPr wrap="square" rtlCol="0" anchor="ctr"/>
          <a:lstStyle/>
          <a:p>
            <a:pPr marL="0" indent="0">
              <a:lnSpc>
                <a:spcPct val="112000"/>
              </a:lnSpc>
              <a:buNone/>
            </a:pPr>
            <a:r>
              <a:rPr lang="fr-FR" sz="1000" dirty="0">
                <a:latin typeface="Segoe UI" panose="020B0502040204020203" pitchFamily="34" charset="0"/>
                <a:ea typeface="IBM Plex Sans" pitchFamily="34" charset="-122"/>
                <a:cs typeface="Segoe UI" panose="020B0502040204020203" pitchFamily="34" charset="0"/>
              </a:rPr>
              <a:t>Qui est responsable et selon quelles règles ? </a:t>
            </a:r>
          </a:p>
          <a:p>
            <a:pPr>
              <a:lnSpc>
                <a:spcPct val="112000"/>
              </a:lnSpc>
            </a:pPr>
            <a:r>
              <a:rPr lang="fr-FR" sz="1000" dirty="0">
                <a:latin typeface="Segoe UI" panose="020B0502040204020203" pitchFamily="34" charset="0"/>
                <a:ea typeface="Aptos" panose="020B0004020202020204" pitchFamily="34" charset="0"/>
                <a:cs typeface="Segoe UI" panose="020B0502040204020203" pitchFamily="34" charset="0"/>
              </a:rPr>
              <a:t>Cadre, audit, conformité</a:t>
            </a:r>
            <a:endParaRPr lang="fr-FR" sz="1000" dirty="0">
              <a:latin typeface="Segoe UI" panose="020B0502040204020203" pitchFamily="34" charset="0"/>
              <a:cs typeface="Segoe UI" panose="020B0502040204020203" pitchFamily="34" charset="0"/>
            </a:endParaRPr>
          </a:p>
          <a:p>
            <a:pPr marL="0" indent="0">
              <a:lnSpc>
                <a:spcPct val="112000"/>
              </a:lnSpc>
              <a:buNone/>
            </a:pPr>
            <a:endParaRPr lang="fr-FR" sz="1000" dirty="0">
              <a:latin typeface="Segoe UI" panose="020B0502040204020203" pitchFamily="34" charset="0"/>
              <a:ea typeface="IBM Plex Sans" pitchFamily="34" charset="-122"/>
              <a:cs typeface="Segoe UI" panose="020B0502040204020203" pitchFamily="34" charset="0"/>
            </a:endParaRPr>
          </a:p>
        </p:txBody>
      </p:sp>
      <p:sp>
        <p:nvSpPr>
          <p:cNvPr id="25" name="Shape 19">
            <a:extLst>
              <a:ext uri="{FF2B5EF4-FFF2-40B4-BE49-F238E27FC236}">
                <a16:creationId xmlns:a16="http://schemas.microsoft.com/office/drawing/2014/main" id="{0DA34563-1402-75BE-0C0F-3AEEE54CF74B}"/>
              </a:ext>
            </a:extLst>
          </p:cNvPr>
          <p:cNvSpPr/>
          <p:nvPr/>
        </p:nvSpPr>
        <p:spPr>
          <a:xfrm>
            <a:off x="7333488" y="1965960"/>
            <a:ext cx="2066544" cy="2377440"/>
          </a:xfrm>
          <a:prstGeom prst="rect">
            <a:avLst/>
          </a:prstGeom>
          <a:solidFill>
            <a:srgbClr val="FFFFFF"/>
          </a:solidFill>
          <a:ln/>
          <a:effectLst>
            <a:outerShdw blurRad="101600" dist="25400" dir="8100000" algn="bl" rotWithShape="0">
              <a:srgbClr val="000000">
                <a:alpha val="25000"/>
              </a:srgbClr>
            </a:outerShdw>
          </a:effectLst>
        </p:spPr>
        <p:txBody>
          <a:bodyPr/>
          <a:lstStyle/>
          <a:p>
            <a:endParaRPr lang="fr-FR">
              <a:latin typeface="Segoe UI" panose="020B0502040204020203" pitchFamily="34" charset="0"/>
              <a:cs typeface="Segoe UI" panose="020B0502040204020203" pitchFamily="34" charset="0"/>
            </a:endParaRPr>
          </a:p>
        </p:txBody>
      </p:sp>
      <p:sp>
        <p:nvSpPr>
          <p:cNvPr id="26" name="Shape 20">
            <a:extLst>
              <a:ext uri="{FF2B5EF4-FFF2-40B4-BE49-F238E27FC236}">
                <a16:creationId xmlns:a16="http://schemas.microsoft.com/office/drawing/2014/main" id="{59996AA8-76FB-D68F-40F5-0B27F2A17EDA}"/>
              </a:ext>
            </a:extLst>
          </p:cNvPr>
          <p:cNvSpPr/>
          <p:nvPr/>
        </p:nvSpPr>
        <p:spPr>
          <a:xfrm>
            <a:off x="7333488" y="1965960"/>
            <a:ext cx="2066544" cy="64008"/>
          </a:xfrm>
          <a:prstGeom prst="rect">
            <a:avLst/>
          </a:prstGeom>
          <a:solidFill>
            <a:srgbClr val="08BDBA"/>
          </a:solidFill>
          <a:ln/>
        </p:spPr>
        <p:txBody>
          <a:bodyPr/>
          <a:lstStyle/>
          <a:p>
            <a:endParaRPr lang="fr-FR">
              <a:latin typeface="Segoe UI" panose="020B0502040204020203" pitchFamily="34" charset="0"/>
              <a:cs typeface="Segoe UI" panose="020B0502040204020203" pitchFamily="34" charset="0"/>
            </a:endParaRPr>
          </a:p>
        </p:txBody>
      </p:sp>
      <p:sp>
        <p:nvSpPr>
          <p:cNvPr id="27" name="Shape 21">
            <a:extLst>
              <a:ext uri="{FF2B5EF4-FFF2-40B4-BE49-F238E27FC236}">
                <a16:creationId xmlns:a16="http://schemas.microsoft.com/office/drawing/2014/main" id="{0D5178C5-543A-7E52-6B75-CF5A08052124}"/>
              </a:ext>
            </a:extLst>
          </p:cNvPr>
          <p:cNvSpPr/>
          <p:nvPr/>
        </p:nvSpPr>
        <p:spPr>
          <a:xfrm>
            <a:off x="7653528" y="2258568"/>
            <a:ext cx="731520" cy="731520"/>
          </a:xfrm>
          <a:prstGeom prst="ellipse">
            <a:avLst/>
          </a:prstGeom>
          <a:solidFill>
            <a:schemeClr val="bg1"/>
          </a:solidFill>
          <a:ln>
            <a:solidFill>
              <a:srgbClr val="42BE65"/>
            </a:solidFill>
          </a:ln>
        </p:spPr>
        <p:txBody>
          <a:bodyPr/>
          <a:lstStyle/>
          <a:p>
            <a:endParaRPr lang="fr-FR">
              <a:latin typeface="Segoe UI" panose="020B0502040204020203" pitchFamily="34" charset="0"/>
              <a:cs typeface="Segoe UI" panose="020B0502040204020203" pitchFamily="34" charset="0"/>
            </a:endParaRPr>
          </a:p>
        </p:txBody>
      </p:sp>
      <p:sp>
        <p:nvSpPr>
          <p:cNvPr id="63" name="Text 22">
            <a:extLst>
              <a:ext uri="{FF2B5EF4-FFF2-40B4-BE49-F238E27FC236}">
                <a16:creationId xmlns:a16="http://schemas.microsoft.com/office/drawing/2014/main" id="{409FD55F-413C-C84D-879E-6AB2794F9918}"/>
              </a:ext>
            </a:extLst>
          </p:cNvPr>
          <p:cNvSpPr/>
          <p:nvPr/>
        </p:nvSpPr>
        <p:spPr>
          <a:xfrm>
            <a:off x="7607808" y="3017520"/>
            <a:ext cx="1563624" cy="457200"/>
          </a:xfrm>
          <a:prstGeom prst="rect">
            <a:avLst/>
          </a:prstGeom>
          <a:noFill/>
          <a:ln/>
        </p:spPr>
        <p:txBody>
          <a:bodyPr wrap="square" rtlCol="0" anchor="t"/>
          <a:lstStyle/>
          <a:p>
            <a:pPr marL="0" indent="0">
              <a:buNone/>
            </a:pPr>
            <a:r>
              <a:rPr lang="en-US" sz="1350" b="1" dirty="0" err="1">
                <a:solidFill>
                  <a:srgbClr val="161616"/>
                </a:solidFill>
                <a:latin typeface="Segoe UI" panose="020B0502040204020203" pitchFamily="34" charset="0"/>
                <a:ea typeface="IBM Plex Sans" pitchFamily="34" charset="-122"/>
                <a:cs typeface="Segoe UI" panose="020B0502040204020203" pitchFamily="34" charset="0"/>
              </a:rPr>
              <a:t>Sécurité</a:t>
            </a:r>
            <a:endParaRPr lang="en-US" sz="1350" dirty="0">
              <a:latin typeface="Segoe UI" panose="020B0502040204020203" pitchFamily="34" charset="0"/>
              <a:cs typeface="Segoe UI" panose="020B0502040204020203" pitchFamily="34" charset="0"/>
            </a:endParaRPr>
          </a:p>
        </p:txBody>
      </p:sp>
      <p:sp>
        <p:nvSpPr>
          <p:cNvPr id="64" name="Text 23">
            <a:extLst>
              <a:ext uri="{FF2B5EF4-FFF2-40B4-BE49-F238E27FC236}">
                <a16:creationId xmlns:a16="http://schemas.microsoft.com/office/drawing/2014/main" id="{DC71314D-9570-DC18-7AF3-329FE81A1D2D}"/>
              </a:ext>
            </a:extLst>
          </p:cNvPr>
          <p:cNvSpPr/>
          <p:nvPr/>
        </p:nvSpPr>
        <p:spPr>
          <a:xfrm>
            <a:off x="7333486" y="3502152"/>
            <a:ext cx="2066544" cy="804672"/>
          </a:xfrm>
          <a:prstGeom prst="rect">
            <a:avLst/>
          </a:prstGeom>
          <a:noFill/>
          <a:ln/>
        </p:spPr>
        <p:txBody>
          <a:bodyPr wrap="square" rtlCol="0" anchor="ctr"/>
          <a:lstStyle/>
          <a:p>
            <a:pPr marL="0" indent="0">
              <a:lnSpc>
                <a:spcPct val="112000"/>
              </a:lnSpc>
              <a:buNone/>
            </a:pPr>
            <a:r>
              <a:rPr lang="en-US" sz="1000" dirty="0">
                <a:latin typeface="Segoe UI" panose="020B0502040204020203" pitchFamily="34" charset="0"/>
                <a:ea typeface="IBM Plex Sans" pitchFamily="34" charset="-122"/>
                <a:cs typeface="Segoe UI" panose="020B0502040204020203" pitchFamily="34" charset="0"/>
              </a:rPr>
              <a:t>Qui </a:t>
            </a:r>
            <a:r>
              <a:rPr lang="en-US" sz="1000" dirty="0" err="1">
                <a:latin typeface="Segoe UI" panose="020B0502040204020203" pitchFamily="34" charset="0"/>
                <a:ea typeface="IBM Plex Sans" pitchFamily="34" charset="-122"/>
                <a:cs typeface="Segoe UI" panose="020B0502040204020203" pitchFamily="34" charset="0"/>
              </a:rPr>
              <a:t>peut</a:t>
            </a:r>
            <a:r>
              <a:rPr lang="en-US" sz="1000" dirty="0">
                <a:latin typeface="Segoe UI" panose="020B0502040204020203" pitchFamily="34" charset="0"/>
                <a:ea typeface="IBM Plex Sans" pitchFamily="34" charset="-122"/>
                <a:cs typeface="Segoe UI" panose="020B0502040204020203" pitchFamily="34" charset="0"/>
              </a:rPr>
              <a:t> faire quoi ? </a:t>
            </a:r>
          </a:p>
          <a:p>
            <a:pPr>
              <a:lnSpc>
                <a:spcPct val="112000"/>
              </a:lnSpc>
            </a:pPr>
            <a:r>
              <a:rPr lang="fr-FR" sz="1000" kern="100" dirty="0">
                <a:latin typeface="Segoe UI" panose="020B0502040204020203" pitchFamily="34" charset="0"/>
                <a:ea typeface="Aptos" panose="020B0004020202020204" pitchFamily="34" charset="0"/>
                <a:cs typeface="Segoe UI" panose="020B0502040204020203" pitchFamily="34" charset="0"/>
              </a:rPr>
              <a:t>Protection et maîtrise des actions</a:t>
            </a:r>
          </a:p>
          <a:p>
            <a:pPr marL="0" indent="0">
              <a:lnSpc>
                <a:spcPct val="112000"/>
              </a:lnSpc>
              <a:buNone/>
            </a:pPr>
            <a:endParaRPr lang="en-US" sz="1000" dirty="0">
              <a:latin typeface="Segoe UI" panose="020B0502040204020203" pitchFamily="34" charset="0"/>
              <a:ea typeface="IBM Plex Sans" pitchFamily="34" charset="-122"/>
              <a:cs typeface="Segoe UI" panose="020B0502040204020203" pitchFamily="34" charset="0"/>
            </a:endParaRPr>
          </a:p>
        </p:txBody>
      </p:sp>
      <p:sp>
        <p:nvSpPr>
          <p:cNvPr id="65" name="Shape 24">
            <a:extLst>
              <a:ext uri="{FF2B5EF4-FFF2-40B4-BE49-F238E27FC236}">
                <a16:creationId xmlns:a16="http://schemas.microsoft.com/office/drawing/2014/main" id="{ACBAC775-7841-0857-FE1F-D92815CD7926}"/>
              </a:ext>
            </a:extLst>
          </p:cNvPr>
          <p:cNvSpPr/>
          <p:nvPr/>
        </p:nvSpPr>
        <p:spPr>
          <a:xfrm>
            <a:off x="9518904" y="1965960"/>
            <a:ext cx="2066544" cy="2377440"/>
          </a:xfrm>
          <a:prstGeom prst="rect">
            <a:avLst/>
          </a:prstGeom>
          <a:solidFill>
            <a:srgbClr val="FFFFFF"/>
          </a:solidFill>
          <a:ln/>
          <a:effectLst>
            <a:outerShdw blurRad="101600" dist="25400" dir="8100000" algn="bl" rotWithShape="0">
              <a:srgbClr val="000000">
                <a:alpha val="25000"/>
              </a:srgbClr>
            </a:outerShdw>
          </a:effectLst>
        </p:spPr>
        <p:txBody>
          <a:bodyPr/>
          <a:lstStyle/>
          <a:p>
            <a:endParaRPr lang="fr-FR">
              <a:latin typeface="Segoe UI" panose="020B0502040204020203" pitchFamily="34" charset="0"/>
              <a:cs typeface="Segoe UI" panose="020B0502040204020203" pitchFamily="34" charset="0"/>
            </a:endParaRPr>
          </a:p>
        </p:txBody>
      </p:sp>
      <p:sp>
        <p:nvSpPr>
          <p:cNvPr id="66" name="Shape 25">
            <a:extLst>
              <a:ext uri="{FF2B5EF4-FFF2-40B4-BE49-F238E27FC236}">
                <a16:creationId xmlns:a16="http://schemas.microsoft.com/office/drawing/2014/main" id="{DAEDB7C2-465B-F401-6A78-6976D65249C5}"/>
              </a:ext>
            </a:extLst>
          </p:cNvPr>
          <p:cNvSpPr/>
          <p:nvPr/>
        </p:nvSpPr>
        <p:spPr>
          <a:xfrm>
            <a:off x="9518904" y="1965960"/>
            <a:ext cx="2066544" cy="64008"/>
          </a:xfrm>
          <a:prstGeom prst="rect">
            <a:avLst/>
          </a:prstGeom>
          <a:solidFill>
            <a:srgbClr val="FF7EB6"/>
          </a:solidFill>
          <a:ln/>
        </p:spPr>
        <p:txBody>
          <a:bodyPr/>
          <a:lstStyle/>
          <a:p>
            <a:endParaRPr lang="fr-FR">
              <a:latin typeface="Segoe UI" panose="020B0502040204020203" pitchFamily="34" charset="0"/>
              <a:cs typeface="Segoe UI" panose="020B0502040204020203" pitchFamily="34" charset="0"/>
            </a:endParaRPr>
          </a:p>
        </p:txBody>
      </p:sp>
      <p:sp>
        <p:nvSpPr>
          <p:cNvPr id="67" name="Shape 26">
            <a:extLst>
              <a:ext uri="{FF2B5EF4-FFF2-40B4-BE49-F238E27FC236}">
                <a16:creationId xmlns:a16="http://schemas.microsoft.com/office/drawing/2014/main" id="{A86157E3-84C1-E53C-99F1-A99A4E8FE707}"/>
              </a:ext>
            </a:extLst>
          </p:cNvPr>
          <p:cNvSpPr/>
          <p:nvPr/>
        </p:nvSpPr>
        <p:spPr>
          <a:xfrm>
            <a:off x="9838944" y="2258568"/>
            <a:ext cx="731520" cy="731520"/>
          </a:xfrm>
          <a:prstGeom prst="ellipse">
            <a:avLst/>
          </a:prstGeom>
          <a:solidFill>
            <a:schemeClr val="bg1"/>
          </a:solidFill>
          <a:ln>
            <a:solidFill>
              <a:srgbClr val="FF7EB6"/>
            </a:solidFill>
          </a:ln>
        </p:spPr>
        <p:txBody>
          <a:bodyPr/>
          <a:lstStyle/>
          <a:p>
            <a:endParaRPr lang="fr-FR">
              <a:latin typeface="Segoe UI" panose="020B0502040204020203" pitchFamily="34" charset="0"/>
              <a:cs typeface="Segoe UI" panose="020B0502040204020203" pitchFamily="34" charset="0"/>
            </a:endParaRPr>
          </a:p>
        </p:txBody>
      </p:sp>
      <p:sp>
        <p:nvSpPr>
          <p:cNvPr id="69" name="Text 27">
            <a:extLst>
              <a:ext uri="{FF2B5EF4-FFF2-40B4-BE49-F238E27FC236}">
                <a16:creationId xmlns:a16="http://schemas.microsoft.com/office/drawing/2014/main" id="{3BE6AA24-F02A-DC81-06B3-46E63C5A01F4}"/>
              </a:ext>
            </a:extLst>
          </p:cNvPr>
          <p:cNvSpPr/>
          <p:nvPr/>
        </p:nvSpPr>
        <p:spPr>
          <a:xfrm>
            <a:off x="9793224" y="3017520"/>
            <a:ext cx="1563624" cy="457200"/>
          </a:xfrm>
          <a:prstGeom prst="rect">
            <a:avLst/>
          </a:prstGeom>
          <a:noFill/>
          <a:ln/>
        </p:spPr>
        <p:txBody>
          <a:bodyPr wrap="square" rtlCol="0" anchor="t"/>
          <a:lstStyle/>
          <a:p>
            <a:pPr marL="0" indent="0">
              <a:buNone/>
            </a:pPr>
            <a:r>
              <a:rPr lang="en-US" sz="1350" b="1" dirty="0">
                <a:solidFill>
                  <a:srgbClr val="161616"/>
                </a:solidFill>
                <a:latin typeface="Segoe UI" panose="020B0502040204020203" pitchFamily="34" charset="0"/>
                <a:ea typeface="IBM Plex Sans" pitchFamily="34" charset="-122"/>
                <a:cs typeface="Segoe UI" panose="020B0502040204020203" pitchFamily="34" charset="0"/>
              </a:rPr>
              <a:t>Adoption</a:t>
            </a:r>
            <a:endParaRPr lang="en-US" sz="1350" dirty="0">
              <a:latin typeface="Segoe UI" panose="020B0502040204020203" pitchFamily="34" charset="0"/>
              <a:cs typeface="Segoe UI" panose="020B0502040204020203" pitchFamily="34" charset="0"/>
            </a:endParaRPr>
          </a:p>
        </p:txBody>
      </p:sp>
      <p:sp>
        <p:nvSpPr>
          <p:cNvPr id="70" name="Text 28">
            <a:extLst>
              <a:ext uri="{FF2B5EF4-FFF2-40B4-BE49-F238E27FC236}">
                <a16:creationId xmlns:a16="http://schemas.microsoft.com/office/drawing/2014/main" id="{9591D3AF-E0C8-3A99-00B6-857A8D16FAD0}"/>
              </a:ext>
            </a:extLst>
          </p:cNvPr>
          <p:cNvSpPr/>
          <p:nvPr/>
        </p:nvSpPr>
        <p:spPr>
          <a:xfrm>
            <a:off x="9518900" y="3502152"/>
            <a:ext cx="2066544" cy="804672"/>
          </a:xfrm>
          <a:prstGeom prst="rect">
            <a:avLst/>
          </a:prstGeom>
          <a:noFill/>
          <a:ln/>
        </p:spPr>
        <p:txBody>
          <a:bodyPr wrap="square" rtlCol="0" anchor="ctr"/>
          <a:lstStyle/>
          <a:p>
            <a:pPr marL="0" indent="0">
              <a:lnSpc>
                <a:spcPct val="112000"/>
              </a:lnSpc>
              <a:buNone/>
            </a:pPr>
            <a:r>
              <a:rPr lang="fr-FR" sz="1000" dirty="0">
                <a:latin typeface="Segoe UI" panose="020B0502040204020203" pitchFamily="34" charset="0"/>
                <a:ea typeface="IBM Plex Sans" pitchFamily="34" charset="-122"/>
                <a:cs typeface="Segoe UI" panose="020B0502040204020203" pitchFamily="34" charset="0"/>
              </a:rPr>
              <a:t>Comment utiliser et superviser correctement l’agent ?</a:t>
            </a:r>
          </a:p>
          <a:p>
            <a:pPr>
              <a:lnSpc>
                <a:spcPct val="112000"/>
              </a:lnSpc>
            </a:pPr>
            <a:r>
              <a:rPr lang="fr-FR" sz="1000" dirty="0">
                <a:latin typeface="Segoe UI" panose="020B0502040204020203" pitchFamily="34" charset="0"/>
                <a:cs typeface="Segoe UI" panose="020B0502040204020203" pitchFamily="34" charset="0"/>
              </a:rPr>
              <a:t>Formation, support, communication </a:t>
            </a:r>
          </a:p>
          <a:p>
            <a:pPr marL="0" indent="0">
              <a:lnSpc>
                <a:spcPct val="112000"/>
              </a:lnSpc>
              <a:buNone/>
            </a:pPr>
            <a:r>
              <a:rPr lang="fr-FR" sz="1000" dirty="0">
                <a:latin typeface="Segoe UI" panose="020B0502040204020203" pitchFamily="34" charset="0"/>
                <a:ea typeface="IBM Plex Sans" pitchFamily="34" charset="-122"/>
                <a:cs typeface="Segoe UI" panose="020B0502040204020203" pitchFamily="34" charset="0"/>
              </a:rPr>
              <a:t> </a:t>
            </a:r>
          </a:p>
        </p:txBody>
      </p:sp>
      <p:sp>
        <p:nvSpPr>
          <p:cNvPr id="71" name="Shape 29">
            <a:extLst>
              <a:ext uri="{FF2B5EF4-FFF2-40B4-BE49-F238E27FC236}">
                <a16:creationId xmlns:a16="http://schemas.microsoft.com/office/drawing/2014/main" id="{24082719-81D2-B8AA-3517-D535BC9CF934}"/>
              </a:ext>
            </a:extLst>
          </p:cNvPr>
          <p:cNvSpPr/>
          <p:nvPr/>
        </p:nvSpPr>
        <p:spPr>
          <a:xfrm>
            <a:off x="777240" y="4434689"/>
            <a:ext cx="5166360" cy="1143000"/>
          </a:xfrm>
          <a:prstGeom prst="rect">
            <a:avLst/>
          </a:prstGeom>
          <a:solidFill>
            <a:srgbClr val="08BB6C">
              <a:alpha val="20000"/>
            </a:srgbClr>
          </a:solidFill>
          <a:ln/>
        </p:spPr>
        <p:txBody>
          <a:bodyPr/>
          <a:lstStyle/>
          <a:p>
            <a:endParaRPr lang="fr-FR">
              <a:latin typeface="Segoe UI" panose="020B0502040204020203" pitchFamily="34" charset="0"/>
              <a:cs typeface="Segoe UI" panose="020B0502040204020203" pitchFamily="34" charset="0"/>
            </a:endParaRPr>
          </a:p>
        </p:txBody>
      </p:sp>
      <p:sp>
        <p:nvSpPr>
          <p:cNvPr id="72" name="Shape 30">
            <a:extLst>
              <a:ext uri="{FF2B5EF4-FFF2-40B4-BE49-F238E27FC236}">
                <a16:creationId xmlns:a16="http://schemas.microsoft.com/office/drawing/2014/main" id="{55B9791F-9863-E2C8-CF06-59BD1FA361DC}"/>
              </a:ext>
            </a:extLst>
          </p:cNvPr>
          <p:cNvSpPr/>
          <p:nvPr/>
        </p:nvSpPr>
        <p:spPr>
          <a:xfrm>
            <a:off x="1051560" y="4727297"/>
            <a:ext cx="548640" cy="548640"/>
          </a:xfrm>
          <a:prstGeom prst="ellipse">
            <a:avLst/>
          </a:prstGeom>
          <a:solidFill>
            <a:schemeClr val="bg1"/>
          </a:solidFill>
          <a:ln>
            <a:solidFill>
              <a:srgbClr val="F1C21B"/>
            </a:solidFill>
          </a:ln>
        </p:spPr>
        <p:txBody>
          <a:bodyPr/>
          <a:lstStyle/>
          <a:p>
            <a:endParaRPr lang="fr-FR">
              <a:latin typeface="Segoe UI" panose="020B0502040204020203" pitchFamily="34" charset="0"/>
              <a:cs typeface="Segoe UI" panose="020B0502040204020203" pitchFamily="34" charset="0"/>
            </a:endParaRPr>
          </a:p>
        </p:txBody>
      </p:sp>
      <p:pic>
        <p:nvPicPr>
          <p:cNvPr id="73" name="Image 5" descr="preencoded.png">
            <a:extLst>
              <a:ext uri="{FF2B5EF4-FFF2-40B4-BE49-F238E27FC236}">
                <a16:creationId xmlns:a16="http://schemas.microsoft.com/office/drawing/2014/main" id="{27F5D8EA-0BCC-0F37-B676-007226EADF42}"/>
              </a:ext>
            </a:extLst>
          </p:cNvPr>
          <p:cNvPicPr>
            <a:picLocks noChangeAspect="1"/>
          </p:cNvPicPr>
          <p:nvPr/>
        </p:nvPicPr>
        <p:blipFill>
          <a:blip r:embed="rId3"/>
          <a:stretch>
            <a:fillRect/>
          </a:stretch>
        </p:blipFill>
        <p:spPr>
          <a:xfrm>
            <a:off x="1161288" y="4837025"/>
            <a:ext cx="329184" cy="329184"/>
          </a:xfrm>
          <a:prstGeom prst="rect">
            <a:avLst/>
          </a:prstGeom>
        </p:spPr>
      </p:pic>
      <p:sp>
        <p:nvSpPr>
          <p:cNvPr id="74" name="Text 31">
            <a:extLst>
              <a:ext uri="{FF2B5EF4-FFF2-40B4-BE49-F238E27FC236}">
                <a16:creationId xmlns:a16="http://schemas.microsoft.com/office/drawing/2014/main" id="{8403425B-E2BB-A17F-031B-37CC5C1160ED}"/>
              </a:ext>
            </a:extLst>
          </p:cNvPr>
          <p:cNvSpPr/>
          <p:nvPr/>
        </p:nvSpPr>
        <p:spPr>
          <a:xfrm>
            <a:off x="1783080" y="4599281"/>
            <a:ext cx="4023360" cy="365760"/>
          </a:xfrm>
          <a:prstGeom prst="rect">
            <a:avLst/>
          </a:prstGeom>
          <a:noFill/>
          <a:ln/>
        </p:spPr>
        <p:txBody>
          <a:bodyPr wrap="square" rtlCol="0" anchor="ctr"/>
          <a:lstStyle/>
          <a:p>
            <a:pPr marL="0" indent="0">
              <a:buNone/>
            </a:pPr>
            <a:r>
              <a:rPr lang="en-US" sz="1500" b="1" dirty="0">
                <a:latin typeface="Segoe UI" panose="020B0502040204020203" pitchFamily="34" charset="0"/>
                <a:ea typeface="IBM Plex Sans" pitchFamily="34" charset="-122"/>
                <a:cs typeface="Segoe UI" panose="020B0502040204020203" pitchFamily="34" charset="0"/>
              </a:rPr>
              <a:t>Augmenter, pas remplacer</a:t>
            </a:r>
            <a:endParaRPr lang="en-US" sz="1500" dirty="0">
              <a:latin typeface="Segoe UI" panose="020B0502040204020203" pitchFamily="34" charset="0"/>
              <a:cs typeface="Segoe UI" panose="020B0502040204020203" pitchFamily="34" charset="0"/>
            </a:endParaRPr>
          </a:p>
        </p:txBody>
      </p:sp>
      <p:sp>
        <p:nvSpPr>
          <p:cNvPr id="75" name="Text 32">
            <a:extLst>
              <a:ext uri="{FF2B5EF4-FFF2-40B4-BE49-F238E27FC236}">
                <a16:creationId xmlns:a16="http://schemas.microsoft.com/office/drawing/2014/main" id="{6E6B2635-5D88-3552-F5C9-7B0346D0B32F}"/>
              </a:ext>
            </a:extLst>
          </p:cNvPr>
          <p:cNvSpPr/>
          <p:nvPr/>
        </p:nvSpPr>
        <p:spPr>
          <a:xfrm>
            <a:off x="1783080" y="4937609"/>
            <a:ext cx="4023360" cy="594360"/>
          </a:xfrm>
          <a:prstGeom prst="rect">
            <a:avLst/>
          </a:prstGeom>
          <a:noFill/>
          <a:ln/>
        </p:spPr>
        <p:txBody>
          <a:bodyPr wrap="square" rtlCol="0" anchor="ctr"/>
          <a:lstStyle/>
          <a:p>
            <a:pPr marL="0" indent="0">
              <a:lnSpc>
                <a:spcPct val="112000"/>
              </a:lnSpc>
              <a:buNone/>
            </a:pPr>
            <a:r>
              <a:rPr lang="en-US" sz="1100" dirty="0">
                <a:latin typeface="Segoe UI" panose="020B0502040204020203" pitchFamily="34" charset="0"/>
                <a:ea typeface="IBM Plex Sans" pitchFamily="34" charset="-122"/>
                <a:cs typeface="Segoe UI" panose="020B0502040204020203" pitchFamily="34" charset="0"/>
              </a:rPr>
              <a:t>Le « héros du code » devient « system thinker ». L'humain passe de l'exécution au jugement et à l'orchestration.</a:t>
            </a:r>
            <a:endParaRPr lang="en-US" sz="1100" dirty="0">
              <a:latin typeface="Segoe UI" panose="020B0502040204020203" pitchFamily="34" charset="0"/>
              <a:cs typeface="Segoe UI" panose="020B0502040204020203" pitchFamily="34" charset="0"/>
            </a:endParaRPr>
          </a:p>
        </p:txBody>
      </p:sp>
      <p:sp>
        <p:nvSpPr>
          <p:cNvPr id="76" name="Shape 33">
            <a:extLst>
              <a:ext uri="{FF2B5EF4-FFF2-40B4-BE49-F238E27FC236}">
                <a16:creationId xmlns:a16="http://schemas.microsoft.com/office/drawing/2014/main" id="{1F336E9C-347B-0BAE-936E-6DF31B30E692}"/>
              </a:ext>
            </a:extLst>
          </p:cNvPr>
          <p:cNvSpPr/>
          <p:nvPr/>
        </p:nvSpPr>
        <p:spPr>
          <a:xfrm>
            <a:off x="6423735" y="4451029"/>
            <a:ext cx="5166360" cy="1143000"/>
          </a:xfrm>
          <a:prstGeom prst="rect">
            <a:avLst/>
          </a:prstGeom>
          <a:solidFill>
            <a:srgbClr val="835CF5">
              <a:alpha val="20000"/>
            </a:srgbClr>
          </a:solidFill>
          <a:ln/>
        </p:spPr>
        <p:txBody>
          <a:bodyPr/>
          <a:lstStyle/>
          <a:p>
            <a:endParaRPr lang="fr-FR">
              <a:latin typeface="Segoe UI" panose="020B0502040204020203" pitchFamily="34" charset="0"/>
              <a:cs typeface="Segoe UI" panose="020B0502040204020203" pitchFamily="34" charset="0"/>
            </a:endParaRPr>
          </a:p>
        </p:txBody>
      </p:sp>
      <p:sp>
        <p:nvSpPr>
          <p:cNvPr id="77" name="Shape 34">
            <a:extLst>
              <a:ext uri="{FF2B5EF4-FFF2-40B4-BE49-F238E27FC236}">
                <a16:creationId xmlns:a16="http://schemas.microsoft.com/office/drawing/2014/main" id="{0BC2C0FF-D298-5E96-37A9-3BEA57A969A0}"/>
              </a:ext>
            </a:extLst>
          </p:cNvPr>
          <p:cNvSpPr/>
          <p:nvPr/>
        </p:nvSpPr>
        <p:spPr>
          <a:xfrm>
            <a:off x="6698055" y="4743637"/>
            <a:ext cx="548640" cy="548640"/>
          </a:xfrm>
          <a:prstGeom prst="ellipse">
            <a:avLst/>
          </a:prstGeom>
          <a:solidFill>
            <a:schemeClr val="bg1"/>
          </a:solidFill>
          <a:ln>
            <a:solidFill>
              <a:srgbClr val="FF7EB6"/>
            </a:solidFill>
          </a:ln>
        </p:spPr>
        <p:txBody>
          <a:bodyPr/>
          <a:lstStyle/>
          <a:p>
            <a:endParaRPr lang="fr-FR">
              <a:latin typeface="Segoe UI" panose="020B0502040204020203" pitchFamily="34" charset="0"/>
              <a:cs typeface="Segoe UI" panose="020B0502040204020203" pitchFamily="34" charset="0"/>
            </a:endParaRPr>
          </a:p>
        </p:txBody>
      </p:sp>
      <p:pic>
        <p:nvPicPr>
          <p:cNvPr id="78" name="Image 6" descr="preencoded.png">
            <a:extLst>
              <a:ext uri="{FF2B5EF4-FFF2-40B4-BE49-F238E27FC236}">
                <a16:creationId xmlns:a16="http://schemas.microsoft.com/office/drawing/2014/main" id="{D7B3AB17-FE61-7E5B-2DD3-54EB33D683ED}"/>
              </a:ext>
            </a:extLst>
          </p:cNvPr>
          <p:cNvPicPr>
            <a:picLocks noChangeAspect="1"/>
          </p:cNvPicPr>
          <p:nvPr/>
        </p:nvPicPr>
        <p:blipFill>
          <a:blip r:embed="rId4"/>
          <a:stretch>
            <a:fillRect/>
          </a:stretch>
        </p:blipFill>
        <p:spPr>
          <a:xfrm>
            <a:off x="6807783" y="4853365"/>
            <a:ext cx="329184" cy="329184"/>
          </a:xfrm>
          <a:prstGeom prst="rect">
            <a:avLst/>
          </a:prstGeom>
        </p:spPr>
      </p:pic>
      <p:sp>
        <p:nvSpPr>
          <p:cNvPr id="79" name="Text 35">
            <a:extLst>
              <a:ext uri="{FF2B5EF4-FFF2-40B4-BE49-F238E27FC236}">
                <a16:creationId xmlns:a16="http://schemas.microsoft.com/office/drawing/2014/main" id="{5F60E743-A19A-D3A9-189C-CD11267E3BEF}"/>
              </a:ext>
            </a:extLst>
          </p:cNvPr>
          <p:cNvSpPr/>
          <p:nvPr/>
        </p:nvSpPr>
        <p:spPr>
          <a:xfrm>
            <a:off x="7429575" y="4615621"/>
            <a:ext cx="4023360" cy="365760"/>
          </a:xfrm>
          <a:prstGeom prst="rect">
            <a:avLst/>
          </a:prstGeom>
          <a:noFill/>
          <a:ln/>
        </p:spPr>
        <p:txBody>
          <a:bodyPr wrap="square" rtlCol="0" anchor="ctr"/>
          <a:lstStyle/>
          <a:p>
            <a:pPr marL="0" indent="0">
              <a:buNone/>
            </a:pPr>
            <a:r>
              <a:rPr lang="en-US" sz="1500" b="1" dirty="0">
                <a:latin typeface="Segoe UI" panose="020B0502040204020203" pitchFamily="34" charset="0"/>
                <a:ea typeface="IBM Plex Sans" pitchFamily="34" charset="-122"/>
                <a:cs typeface="Segoe UI" panose="020B0502040204020203" pitchFamily="34" charset="0"/>
              </a:rPr>
              <a:t>Pas d'échelle, pas de valeur</a:t>
            </a:r>
            <a:endParaRPr lang="en-US" sz="1500" dirty="0">
              <a:latin typeface="Segoe UI" panose="020B0502040204020203" pitchFamily="34" charset="0"/>
              <a:cs typeface="Segoe UI" panose="020B0502040204020203" pitchFamily="34" charset="0"/>
            </a:endParaRPr>
          </a:p>
        </p:txBody>
      </p:sp>
      <p:sp>
        <p:nvSpPr>
          <p:cNvPr id="80" name="Text 36">
            <a:extLst>
              <a:ext uri="{FF2B5EF4-FFF2-40B4-BE49-F238E27FC236}">
                <a16:creationId xmlns:a16="http://schemas.microsoft.com/office/drawing/2014/main" id="{3E43573E-A43F-1DB0-9E73-28003D093D95}"/>
              </a:ext>
            </a:extLst>
          </p:cNvPr>
          <p:cNvSpPr/>
          <p:nvPr/>
        </p:nvSpPr>
        <p:spPr>
          <a:xfrm>
            <a:off x="7429575" y="4953949"/>
            <a:ext cx="4023360" cy="594360"/>
          </a:xfrm>
          <a:prstGeom prst="rect">
            <a:avLst/>
          </a:prstGeom>
          <a:noFill/>
          <a:ln/>
        </p:spPr>
        <p:txBody>
          <a:bodyPr wrap="square" rtlCol="0" anchor="ctr"/>
          <a:lstStyle/>
          <a:p>
            <a:pPr marL="0" indent="0">
              <a:lnSpc>
                <a:spcPct val="112000"/>
              </a:lnSpc>
              <a:buNone/>
            </a:pPr>
            <a:r>
              <a:rPr lang="en-US" sz="1100" dirty="0">
                <a:latin typeface="Segoe UI" panose="020B0502040204020203" pitchFamily="34" charset="0"/>
                <a:ea typeface="IBM Plex Sans" pitchFamily="34" charset="-122"/>
                <a:cs typeface="Segoe UI" panose="020B0502040204020203" pitchFamily="34" charset="0"/>
              </a:rPr>
              <a:t>Une adoption partielle déplace le blocage vers les métiers. La pleine valeur se capte sur les cinq dimensions à la fois.</a:t>
            </a:r>
            <a:endParaRPr lang="en-US" sz="1100" dirty="0">
              <a:latin typeface="Segoe UI" panose="020B0502040204020203" pitchFamily="34" charset="0"/>
              <a:cs typeface="Segoe UI" panose="020B0502040204020203" pitchFamily="34" charset="0"/>
            </a:endParaRPr>
          </a:p>
        </p:txBody>
      </p:sp>
      <p:pic>
        <p:nvPicPr>
          <p:cNvPr id="45" name="Image 44">
            <a:extLst>
              <a:ext uri="{FF2B5EF4-FFF2-40B4-BE49-F238E27FC236}">
                <a16:creationId xmlns:a16="http://schemas.microsoft.com/office/drawing/2014/main" id="{ED6931ED-A852-407A-8DB5-E23DBA59B445}"/>
              </a:ext>
            </a:extLst>
          </p:cNvPr>
          <p:cNvPicPr>
            <a:picLocks noChangeAspect="1"/>
          </p:cNvPicPr>
          <p:nvPr/>
        </p:nvPicPr>
        <p:blipFill>
          <a:blip r:embed="rId5"/>
          <a:stretch>
            <a:fillRect/>
          </a:stretch>
        </p:blipFill>
        <p:spPr>
          <a:xfrm>
            <a:off x="1230282" y="2393922"/>
            <a:ext cx="465516" cy="465516"/>
          </a:xfrm>
          <a:prstGeom prst="rect">
            <a:avLst/>
          </a:prstGeom>
        </p:spPr>
      </p:pic>
      <p:pic>
        <p:nvPicPr>
          <p:cNvPr id="46" name="Image 45">
            <a:extLst>
              <a:ext uri="{FF2B5EF4-FFF2-40B4-BE49-F238E27FC236}">
                <a16:creationId xmlns:a16="http://schemas.microsoft.com/office/drawing/2014/main" id="{1DCE2AF7-0E3D-4899-AED5-9F028676CB9D}"/>
              </a:ext>
            </a:extLst>
          </p:cNvPr>
          <p:cNvPicPr>
            <a:picLocks noChangeAspect="1"/>
          </p:cNvPicPr>
          <p:nvPr/>
        </p:nvPicPr>
        <p:blipFill>
          <a:blip r:embed="rId6"/>
          <a:stretch>
            <a:fillRect/>
          </a:stretch>
        </p:blipFill>
        <p:spPr>
          <a:xfrm>
            <a:off x="3410712" y="2414016"/>
            <a:ext cx="457200" cy="457200"/>
          </a:xfrm>
          <a:prstGeom prst="rect">
            <a:avLst/>
          </a:prstGeom>
        </p:spPr>
      </p:pic>
      <p:pic>
        <p:nvPicPr>
          <p:cNvPr id="49" name="Image 48">
            <a:extLst>
              <a:ext uri="{FF2B5EF4-FFF2-40B4-BE49-F238E27FC236}">
                <a16:creationId xmlns:a16="http://schemas.microsoft.com/office/drawing/2014/main" id="{6FAB8D8E-DBBA-4B86-8261-85E1AC838E08}"/>
              </a:ext>
            </a:extLst>
          </p:cNvPr>
          <p:cNvPicPr>
            <a:picLocks noChangeAspect="1"/>
          </p:cNvPicPr>
          <p:nvPr/>
        </p:nvPicPr>
        <p:blipFill>
          <a:blip r:embed="rId7"/>
          <a:stretch>
            <a:fillRect/>
          </a:stretch>
        </p:blipFill>
        <p:spPr>
          <a:xfrm>
            <a:off x="5599452" y="2380488"/>
            <a:ext cx="496548" cy="496548"/>
          </a:xfrm>
          <a:prstGeom prst="rect">
            <a:avLst/>
          </a:prstGeom>
        </p:spPr>
      </p:pic>
      <p:pic>
        <p:nvPicPr>
          <p:cNvPr id="50" name="Image 49">
            <a:extLst>
              <a:ext uri="{FF2B5EF4-FFF2-40B4-BE49-F238E27FC236}">
                <a16:creationId xmlns:a16="http://schemas.microsoft.com/office/drawing/2014/main" id="{654A7B04-7D6D-4688-B21E-4B41C320CB8C}"/>
              </a:ext>
            </a:extLst>
          </p:cNvPr>
          <p:cNvPicPr>
            <a:picLocks noChangeAspect="1"/>
          </p:cNvPicPr>
          <p:nvPr/>
        </p:nvPicPr>
        <p:blipFill>
          <a:blip r:embed="rId8"/>
          <a:stretch>
            <a:fillRect/>
          </a:stretch>
        </p:blipFill>
        <p:spPr>
          <a:xfrm>
            <a:off x="7733952" y="2357280"/>
            <a:ext cx="570672" cy="570672"/>
          </a:xfrm>
          <a:prstGeom prst="rect">
            <a:avLst/>
          </a:prstGeom>
        </p:spPr>
      </p:pic>
      <p:pic>
        <p:nvPicPr>
          <p:cNvPr id="51" name="Image 50">
            <a:extLst>
              <a:ext uri="{FF2B5EF4-FFF2-40B4-BE49-F238E27FC236}">
                <a16:creationId xmlns:a16="http://schemas.microsoft.com/office/drawing/2014/main" id="{8B9EFF83-5BB5-4D3D-9EEE-4EE1A67B0B73}"/>
              </a:ext>
            </a:extLst>
          </p:cNvPr>
          <p:cNvPicPr>
            <a:picLocks noChangeAspect="1"/>
          </p:cNvPicPr>
          <p:nvPr/>
        </p:nvPicPr>
        <p:blipFill>
          <a:blip r:embed="rId9"/>
          <a:stretch>
            <a:fillRect/>
          </a:stretch>
        </p:blipFill>
        <p:spPr>
          <a:xfrm>
            <a:off x="9965585" y="2418588"/>
            <a:ext cx="478237" cy="478237"/>
          </a:xfrm>
          <a:prstGeom prst="rect">
            <a:avLst/>
          </a:prstGeom>
        </p:spPr>
      </p:pic>
    </p:spTree>
    <p:extLst>
      <p:ext uri="{BB962C8B-B14F-4D97-AF65-F5344CB8AC3E}">
        <p14:creationId xmlns:p14="http://schemas.microsoft.com/office/powerpoint/2010/main" val="4153718755"/>
      </p:ext>
    </p:extLst>
  </p:cSld>
  <p:clrMapOvr>
    <a:masterClrMapping/>
  </p:clrMapOvr>
</p:sld>
</file>

<file path=ppt/theme/theme1.xml><?xml version="1.0" encoding="utf-8"?>
<a:theme xmlns:a="http://schemas.openxmlformats.org/drawingml/2006/main" name="9_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Quantum_Business Case_Approach &amp; Timeline V.3.1" id="{5EECDFF5-D0BA-C945-BD95-8BA53C6B4E52}" vid="{789D138D-4F33-B548-9A05-51F0AC8B2FB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PJQFUVHKSAJQ-1373287592-272135</_dlc_DocId>
    <_dlc_DocIdUrl xmlns="9da6f561-6c40-462f-af3e-6833fe74929f">
      <Url>https://moss-si.cm-cic.fr/Sites/D00116/Documentation/_layouts/15/DocIdRedir.aspx?ID=PJQFUVHKSAJQ-1373287592-272135</Url>
      <Description>PJQFUVHKSAJQ-1373287592-272135</Description>
    </_dlc_DocIdUrl>
  </documentManagement>
</p:properties>
</file>

<file path=customXml/itemProps1.xml><?xml version="1.0" encoding="utf-8"?>
<ds:datastoreItem xmlns:ds="http://schemas.openxmlformats.org/officeDocument/2006/customXml" ds:itemID="{6C2BDBCB-FE83-4F97-8B4B-F9505247EF8F}">
  <ds:schemaRefs>
    <ds:schemaRef ds:uri="http://schemas.microsoft.com/sharepoint/v3/contenttype/forms"/>
  </ds:schemaRefs>
</ds:datastoreItem>
</file>

<file path=customXml/itemProps2.xml><?xml version="1.0" encoding="utf-8"?>
<ds:datastoreItem xmlns:ds="http://schemas.openxmlformats.org/officeDocument/2006/customXml" ds:itemID="{B2A62122-556B-49D9-A9E3-7040D14BAF72}">
  <ds:schemaRefs>
    <ds:schemaRef ds:uri="http://schemas.microsoft.com/sharepoint/events"/>
  </ds:schemaRefs>
</ds:datastoreItem>
</file>

<file path=customXml/itemProps3.xml><?xml version="1.0" encoding="utf-8"?>
<ds:datastoreItem xmlns:ds="http://schemas.openxmlformats.org/officeDocument/2006/customXml" ds:itemID="{A9C9D294-CEAC-4C7B-9EF7-A3026A64D3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AD5C1AEF-E5F3-4C44-9941-D5F20D8E5B20}">
  <ds:schemaRefs>
    <ds:schemaRef ds:uri="http://purl.org/dc/elements/1.1/"/>
    <ds:schemaRef ds:uri="http://schemas.openxmlformats.org/package/2006/metadata/core-properties"/>
    <ds:schemaRef ds:uri="http://schemas.microsoft.com/office/2006/documentManagement/types"/>
    <ds:schemaRef ds:uri="http://www.w3.org/XML/1998/namespace"/>
    <ds:schemaRef ds:uri="http://schemas.microsoft.com/office/2006/metadata/properties"/>
    <ds:schemaRef ds:uri="http://purl.org/dc/terms/"/>
    <ds:schemaRef ds:uri="8ff6ca53-9990-4cf6-aa9b-81190a5c5371"/>
    <ds:schemaRef ds:uri="99cee9d7-070e-44dd-ab97-3503062ab504"/>
    <ds:schemaRef ds:uri="http://schemas.microsoft.com/office/infopath/2007/PartnerControls"/>
    <ds:schemaRef ds:uri="http://schemas.microsoft.com/sharepoint/v4"/>
    <ds:schemaRef ds:uri="9da6f561-6c40-462f-af3e-6833fe74929f"/>
    <ds:schemaRef ds:uri="http://schemas.microsoft.com/sharepoint/v3"/>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401</TotalTime>
  <Words>885</Words>
  <Application>Microsoft Office PowerPoint</Application>
  <PresentationFormat>Grand écran</PresentationFormat>
  <Paragraphs>139</Paragraphs>
  <Slides>8</Slides>
  <Notes>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8</vt:i4>
      </vt:variant>
    </vt:vector>
  </HeadingPairs>
  <TitlesOfParts>
    <vt:vector size="18" baseType="lpstr">
      <vt:lpstr>Arial</vt:lpstr>
      <vt:lpstr>Calibri</vt:lpstr>
      <vt:lpstr>IBM Plex Mono</vt:lpstr>
      <vt:lpstr>IBM Plex Sans</vt:lpstr>
      <vt:lpstr>Impact</vt:lpstr>
      <vt:lpstr>Segoe UI</vt:lpstr>
      <vt:lpstr>Segoe UI Black</vt:lpstr>
      <vt:lpstr>Segoe UI Light</vt:lpstr>
      <vt:lpstr>Wingdings 3</vt:lpstr>
      <vt:lpstr>9_Thème1</vt:lpstr>
      <vt:lpstr>Présentation PowerPoint</vt:lpstr>
      <vt:lpstr>Evolution de l’IA</vt:lpstr>
      <vt:lpstr>Evolution de l’IA</vt:lpstr>
      <vt:lpstr>Démo</vt:lpstr>
      <vt:lpstr>Démo</vt:lpstr>
      <vt:lpstr>Démo</vt:lpstr>
      <vt:lpstr>Démo</vt:lpstr>
      <vt:lpstr>Cinq dimensions, une seule stratégie intégrée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ALBOSTAN Mélissa (PRESTA EXT)</dc:creator>
  <cp:lastModifiedBy>ISSOULGHANE Morad (PRESTA EXT)</cp:lastModifiedBy>
  <cp:revision>17</cp:revision>
  <dcterms:created xsi:type="dcterms:W3CDTF">2026-05-21T09:29:35Z</dcterms:created>
  <dcterms:modified xsi:type="dcterms:W3CDTF">2026-06-03T16:06:42Z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ROBIN">
    <vt:lpwstr/>
  </property>
  <property fmtid="{D5CDD505-2E9C-101B-9397-08002B2CF9AE}" pid="5" name="Nature du document">
    <vt:lpwstr>1;#Document|f926a2be-6740-4577-ba49-e4b230c74a1c</vt:lpwstr>
  </property>
  <property fmtid="{D5CDD505-2E9C-101B-9397-08002B2CF9AE}" pid="6" name="Classification">
    <vt:lpwstr>2;#10 - Interne|88571201-3d77-41d7-bf2a-abb247897d97</vt:lpwstr>
  </property>
  <property fmtid="{D5CDD505-2E9C-101B-9397-08002B2CF9AE}" pid="7" name="_dlc_DocIdItemGuid">
    <vt:lpwstr>7334c9cf-1544-4a72-be3a-408c8213baed</vt:lpwstr>
  </property>
</Properties>
</file>