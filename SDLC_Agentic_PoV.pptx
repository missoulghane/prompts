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616"/>
        </a:solidFill>
      </p:bgPr>
    </p:bg>
    <p:spTree>
      <p:nvGrpSpPr>
        <p:cNvPr id="1" name=""/>
        <p:cNvGrpSpPr/>
        <p:nvPr/>
      </p:nvGrpSpPr>
      <p:grpSpPr>
        <a:xfrm>
          <a:off x="0" y="0"/>
          <a:ext cx="0" cy="0"/>
          <a:chOff x="0" y="0"/>
          <a:chExt cx="0" cy="0"/>
        </a:xfrm>
      </p:grpSpPr>
      <p:sp>
        <p:nvSpPr>
          <p:cNvPr id="2" name="Shape 0"/>
          <p:cNvSpPr/>
          <p:nvPr/>
        </p:nvSpPr>
        <p:spPr>
          <a:xfrm>
            <a:off x="9509760" y="0"/>
            <a:ext cx="658368" cy="658368"/>
          </a:xfrm>
          <a:prstGeom prst="rect">
            <a:avLst/>
          </a:prstGeom>
          <a:solidFill>
            <a:srgbClr val="0043CE">
              <a:alpha val="70000"/>
            </a:srgbClr>
          </a:solidFill>
          <a:ln/>
        </p:spPr>
      </p:sp>
      <p:sp>
        <p:nvSpPr>
          <p:cNvPr id="3" name="Shape 1"/>
          <p:cNvSpPr/>
          <p:nvPr/>
        </p:nvSpPr>
        <p:spPr>
          <a:xfrm>
            <a:off x="10186416" y="0"/>
            <a:ext cx="658368" cy="658368"/>
          </a:xfrm>
          <a:prstGeom prst="rect">
            <a:avLst/>
          </a:prstGeom>
          <a:solidFill>
            <a:srgbClr val="262626">
              <a:alpha val="70000"/>
            </a:srgbClr>
          </a:solidFill>
          <a:ln/>
        </p:spPr>
      </p:sp>
      <p:sp>
        <p:nvSpPr>
          <p:cNvPr id="4" name="Shape 2"/>
          <p:cNvSpPr/>
          <p:nvPr/>
        </p:nvSpPr>
        <p:spPr>
          <a:xfrm>
            <a:off x="10863072" y="0"/>
            <a:ext cx="658368" cy="658368"/>
          </a:xfrm>
          <a:prstGeom prst="rect">
            <a:avLst/>
          </a:prstGeom>
          <a:solidFill>
            <a:srgbClr val="393939">
              <a:alpha val="70000"/>
            </a:srgbClr>
          </a:solidFill>
          <a:ln/>
        </p:spPr>
      </p:sp>
      <p:sp>
        <p:nvSpPr>
          <p:cNvPr id="5" name="Shape 3"/>
          <p:cNvSpPr/>
          <p:nvPr/>
        </p:nvSpPr>
        <p:spPr>
          <a:xfrm>
            <a:off x="11539728" y="0"/>
            <a:ext cx="658368" cy="658368"/>
          </a:xfrm>
          <a:prstGeom prst="rect">
            <a:avLst/>
          </a:prstGeom>
          <a:solidFill>
            <a:srgbClr val="0043CE">
              <a:alpha val="70000"/>
            </a:srgbClr>
          </a:solidFill>
          <a:ln/>
        </p:spPr>
      </p:sp>
      <p:sp>
        <p:nvSpPr>
          <p:cNvPr id="6" name="Shape 4"/>
          <p:cNvSpPr/>
          <p:nvPr/>
        </p:nvSpPr>
        <p:spPr>
          <a:xfrm>
            <a:off x="9509760" y="676656"/>
            <a:ext cx="658368" cy="658368"/>
          </a:xfrm>
          <a:prstGeom prst="rect">
            <a:avLst/>
          </a:prstGeom>
          <a:solidFill>
            <a:srgbClr val="262626">
              <a:alpha val="70000"/>
            </a:srgbClr>
          </a:solidFill>
          <a:ln/>
        </p:spPr>
      </p:sp>
      <p:sp>
        <p:nvSpPr>
          <p:cNvPr id="7" name="Shape 5"/>
          <p:cNvSpPr/>
          <p:nvPr/>
        </p:nvSpPr>
        <p:spPr>
          <a:xfrm>
            <a:off x="10186416" y="676656"/>
            <a:ext cx="658368" cy="658368"/>
          </a:xfrm>
          <a:prstGeom prst="rect">
            <a:avLst/>
          </a:prstGeom>
          <a:solidFill>
            <a:srgbClr val="393939">
              <a:alpha val="70000"/>
            </a:srgbClr>
          </a:solidFill>
          <a:ln/>
        </p:spPr>
      </p:sp>
      <p:sp>
        <p:nvSpPr>
          <p:cNvPr id="8" name="Shape 6"/>
          <p:cNvSpPr/>
          <p:nvPr/>
        </p:nvSpPr>
        <p:spPr>
          <a:xfrm>
            <a:off x="10863072" y="676656"/>
            <a:ext cx="658368" cy="658368"/>
          </a:xfrm>
          <a:prstGeom prst="rect">
            <a:avLst/>
          </a:prstGeom>
          <a:solidFill>
            <a:srgbClr val="0043CE">
              <a:alpha val="70000"/>
            </a:srgbClr>
          </a:solidFill>
          <a:ln/>
        </p:spPr>
      </p:sp>
      <p:sp>
        <p:nvSpPr>
          <p:cNvPr id="9" name="Shape 7"/>
          <p:cNvSpPr/>
          <p:nvPr/>
        </p:nvSpPr>
        <p:spPr>
          <a:xfrm>
            <a:off x="11539728" y="676656"/>
            <a:ext cx="658368" cy="658368"/>
          </a:xfrm>
          <a:prstGeom prst="rect">
            <a:avLst/>
          </a:prstGeom>
          <a:solidFill>
            <a:srgbClr val="262626">
              <a:alpha val="70000"/>
            </a:srgbClr>
          </a:solidFill>
          <a:ln/>
        </p:spPr>
      </p:sp>
      <p:sp>
        <p:nvSpPr>
          <p:cNvPr id="10" name="Shape 8"/>
          <p:cNvSpPr/>
          <p:nvPr/>
        </p:nvSpPr>
        <p:spPr>
          <a:xfrm>
            <a:off x="9509760" y="1353312"/>
            <a:ext cx="658368" cy="658368"/>
          </a:xfrm>
          <a:prstGeom prst="rect">
            <a:avLst/>
          </a:prstGeom>
          <a:solidFill>
            <a:srgbClr val="393939">
              <a:alpha val="70000"/>
            </a:srgbClr>
          </a:solidFill>
          <a:ln/>
        </p:spPr>
      </p:sp>
      <p:sp>
        <p:nvSpPr>
          <p:cNvPr id="11" name="Shape 9"/>
          <p:cNvSpPr/>
          <p:nvPr/>
        </p:nvSpPr>
        <p:spPr>
          <a:xfrm>
            <a:off x="10186416" y="1353312"/>
            <a:ext cx="658368" cy="658368"/>
          </a:xfrm>
          <a:prstGeom prst="rect">
            <a:avLst/>
          </a:prstGeom>
          <a:solidFill>
            <a:srgbClr val="0043CE">
              <a:alpha val="70000"/>
            </a:srgbClr>
          </a:solidFill>
          <a:ln/>
        </p:spPr>
      </p:sp>
      <p:sp>
        <p:nvSpPr>
          <p:cNvPr id="12" name="Shape 10"/>
          <p:cNvSpPr/>
          <p:nvPr/>
        </p:nvSpPr>
        <p:spPr>
          <a:xfrm>
            <a:off x="10863072" y="1353312"/>
            <a:ext cx="658368" cy="658368"/>
          </a:xfrm>
          <a:prstGeom prst="rect">
            <a:avLst/>
          </a:prstGeom>
          <a:solidFill>
            <a:srgbClr val="262626">
              <a:alpha val="70000"/>
            </a:srgbClr>
          </a:solidFill>
          <a:ln/>
        </p:spPr>
      </p:sp>
      <p:sp>
        <p:nvSpPr>
          <p:cNvPr id="13" name="Shape 11"/>
          <p:cNvSpPr/>
          <p:nvPr/>
        </p:nvSpPr>
        <p:spPr>
          <a:xfrm>
            <a:off x="11539728" y="1353312"/>
            <a:ext cx="658368" cy="658368"/>
          </a:xfrm>
          <a:prstGeom prst="rect">
            <a:avLst/>
          </a:prstGeom>
          <a:solidFill>
            <a:srgbClr val="393939">
              <a:alpha val="70000"/>
            </a:srgbClr>
          </a:solidFill>
          <a:ln/>
        </p:spPr>
      </p:sp>
      <p:sp>
        <p:nvSpPr>
          <p:cNvPr id="14" name="Text 12"/>
          <p:cNvSpPr/>
          <p:nvPr/>
        </p:nvSpPr>
        <p:spPr>
          <a:xfrm>
            <a:off x="777240" y="960120"/>
            <a:ext cx="8229600" cy="365760"/>
          </a:xfrm>
          <a:prstGeom prst="rect">
            <a:avLst/>
          </a:prstGeom>
          <a:noFill/>
          <a:ln/>
        </p:spPr>
        <p:txBody>
          <a:bodyPr wrap="square" rtlCol="0" anchor="ctr"/>
          <a:lstStyle/>
          <a:p>
            <a:pPr indent="0" marL="0">
              <a:buNone/>
            </a:pPr>
            <a:r>
              <a:rPr lang="en-US" sz="1300" spc="200" kern="0" dirty="0">
                <a:solidFill>
                  <a:srgbClr val="33B1FF"/>
                </a:solidFill>
                <a:latin typeface="IBM Plex Mono" pitchFamily="34" charset="0"/>
                <a:ea typeface="IBM Plex Mono" pitchFamily="34" charset="-122"/>
                <a:cs typeface="IBM Plex Mono" pitchFamily="34" charset="-120"/>
              </a:rPr>
              <a:t>POINT DE VUE  ·  SOFTWARE DELIVERY</a:t>
            </a:r>
            <a:endParaRPr lang="en-US" sz="1300" dirty="0"/>
          </a:p>
        </p:txBody>
      </p:sp>
      <p:sp>
        <p:nvSpPr>
          <p:cNvPr id="15" name="Text 13"/>
          <p:cNvSpPr/>
          <p:nvPr/>
        </p:nvSpPr>
        <p:spPr>
          <a:xfrm>
            <a:off x="731520" y="1554480"/>
            <a:ext cx="9601200" cy="1737360"/>
          </a:xfrm>
          <a:prstGeom prst="rect">
            <a:avLst/>
          </a:prstGeom>
          <a:noFill/>
          <a:ln/>
        </p:spPr>
        <p:txBody>
          <a:bodyPr wrap="square" rtlCol="0" anchor="ctr"/>
          <a:lstStyle/>
          <a:p>
            <a:pPr indent="0" marL="0">
              <a:lnSpc>
                <a:spcPct val="102000"/>
              </a:lnSpc>
              <a:buNone/>
            </a:pPr>
            <a:r>
              <a:rPr lang="en-US" sz="4600" b="1" dirty="0">
                <a:solidFill>
                  <a:srgbClr val="FFFFFF"/>
                </a:solidFill>
                <a:latin typeface="IBM Plex Sans" pitchFamily="34" charset="0"/>
                <a:ea typeface="IBM Plex Sans" pitchFamily="34" charset="-122"/>
                <a:cs typeface="IBM Plex Sans" pitchFamily="34" charset="-120"/>
              </a:rPr>
              <a:t>L'IA Agentic transforme</a:t>
            </a:r>
            <a:endParaRPr lang="en-US" sz="4600" dirty="0"/>
          </a:p>
          <a:p>
            <a:pPr indent="0" marL="0">
              <a:lnSpc>
                <a:spcPct val="102000"/>
              </a:lnSpc>
              <a:buNone/>
            </a:pPr>
            <a:r>
              <a:rPr lang="en-US" sz="4600" b="1" dirty="0">
                <a:solidFill>
                  <a:srgbClr val="FFFFFF"/>
                </a:solidFill>
                <a:latin typeface="IBM Plex Sans" pitchFamily="34" charset="0"/>
                <a:ea typeface="IBM Plex Sans" pitchFamily="34" charset="-122"/>
                <a:cs typeface="IBM Plex Sans" pitchFamily="34" charset="-120"/>
              </a:rPr>
              <a:t>le Software Delivery</a:t>
            </a:r>
            <a:endParaRPr lang="en-US" sz="4600" dirty="0"/>
          </a:p>
        </p:txBody>
      </p:sp>
      <p:sp>
        <p:nvSpPr>
          <p:cNvPr id="16" name="Shape 14"/>
          <p:cNvSpPr/>
          <p:nvPr/>
        </p:nvSpPr>
        <p:spPr>
          <a:xfrm>
            <a:off x="777240" y="3520440"/>
            <a:ext cx="64008" cy="384048"/>
          </a:xfrm>
          <a:prstGeom prst="rect">
            <a:avLst/>
          </a:prstGeom>
          <a:solidFill>
            <a:srgbClr val="0F62FE"/>
          </a:solidFill>
          <a:ln/>
        </p:spPr>
      </p:sp>
      <p:sp>
        <p:nvSpPr>
          <p:cNvPr id="17" name="Text 15"/>
          <p:cNvSpPr/>
          <p:nvPr/>
        </p:nvSpPr>
        <p:spPr>
          <a:xfrm>
            <a:off x="960120" y="3456432"/>
            <a:ext cx="9144000" cy="502920"/>
          </a:xfrm>
          <a:prstGeom prst="rect">
            <a:avLst/>
          </a:prstGeom>
          <a:noFill/>
          <a:ln/>
        </p:spPr>
        <p:txBody>
          <a:bodyPr wrap="square" rtlCol="0" anchor="ctr"/>
          <a:lstStyle/>
          <a:p>
            <a:pPr indent="0" marL="0">
              <a:buNone/>
            </a:pPr>
            <a:r>
              <a:rPr lang="en-US" sz="2100" i="1" dirty="0">
                <a:solidFill>
                  <a:srgbClr val="78A9FF"/>
                </a:solidFill>
                <a:latin typeface="IBM Plex Sans" pitchFamily="34" charset="0"/>
                <a:ea typeface="IBM Plex Sans" pitchFamily="34" charset="-122"/>
                <a:cs typeface="IBM Plex Sans" pitchFamily="34" charset="-120"/>
              </a:rPr>
              <a:t>De l'outil d'assistance à l'acteur du delivery</a:t>
            </a:r>
            <a:endParaRPr lang="en-US" sz="2100" dirty="0"/>
          </a:p>
        </p:txBody>
      </p:sp>
      <p:sp>
        <p:nvSpPr>
          <p:cNvPr id="18" name="Text 16"/>
          <p:cNvSpPr/>
          <p:nvPr/>
        </p:nvSpPr>
        <p:spPr>
          <a:xfrm>
            <a:off x="777240" y="4251960"/>
            <a:ext cx="7863840" cy="1280160"/>
          </a:xfrm>
          <a:prstGeom prst="rect">
            <a:avLst/>
          </a:prstGeom>
          <a:noFill/>
          <a:ln/>
        </p:spPr>
        <p:txBody>
          <a:bodyPr wrap="square" rtlCol="0" anchor="ctr"/>
          <a:lstStyle/>
          <a:p>
            <a:pPr indent="0" marL="0">
              <a:lnSpc>
                <a:spcPct val="125000"/>
              </a:lnSpc>
              <a:buNone/>
            </a:pPr>
            <a:r>
              <a:rPr lang="en-US" sz="1500" dirty="0">
                <a:solidFill>
                  <a:srgbClr val="C6C6C6"/>
                </a:solidFill>
                <a:latin typeface="IBM Plex Sans" pitchFamily="34" charset="0"/>
                <a:ea typeface="IBM Plex Sans" pitchFamily="34" charset="-122"/>
                <a:cs typeface="IBM Plex Sans" pitchFamily="34" charset="-120"/>
              </a:rPr>
              <a:t>L'IA générative améliore déjà la productivité des développeurs. Mais ce n'est que la première étape. Le vrai changement est plus profond : l'IA ne se contente plus d'assister — elle devient un contributeur actif du cycle de développement logiciel, aux côtés des équipes humaines.</a:t>
            </a:r>
            <a:endParaRPr lang="en-US" sz="1500" dirty="0"/>
          </a:p>
        </p:txBody>
      </p:sp>
      <p:sp>
        <p:nvSpPr>
          <p:cNvPr id="19" name="Shape 17"/>
          <p:cNvSpPr/>
          <p:nvPr/>
        </p:nvSpPr>
        <p:spPr>
          <a:xfrm>
            <a:off x="777240" y="5989320"/>
            <a:ext cx="2514600" cy="502920"/>
          </a:xfrm>
          <a:prstGeom prst="rect">
            <a:avLst/>
          </a:prstGeom>
          <a:solidFill>
            <a:srgbClr val="262626"/>
          </a:solidFill>
          <a:ln w="9525">
            <a:solidFill>
              <a:srgbClr val="393939"/>
            </a:solidFill>
            <a:prstDash val="solid"/>
          </a:ln>
        </p:spPr>
      </p:sp>
      <p:sp>
        <p:nvSpPr>
          <p:cNvPr id="20" name="Shape 18"/>
          <p:cNvSpPr/>
          <p:nvPr/>
        </p:nvSpPr>
        <p:spPr>
          <a:xfrm>
            <a:off x="777240" y="5989320"/>
            <a:ext cx="54864" cy="502920"/>
          </a:xfrm>
          <a:prstGeom prst="rect">
            <a:avLst/>
          </a:prstGeom>
          <a:solidFill>
            <a:srgbClr val="0F62FE"/>
          </a:solidFill>
          <a:ln/>
        </p:spPr>
      </p:sp>
      <p:sp>
        <p:nvSpPr>
          <p:cNvPr id="21" name="Text 19"/>
          <p:cNvSpPr/>
          <p:nvPr/>
        </p:nvSpPr>
        <p:spPr>
          <a:xfrm>
            <a:off x="914400" y="5989320"/>
            <a:ext cx="2331720" cy="502920"/>
          </a:xfrm>
          <a:prstGeom prst="rect">
            <a:avLst/>
          </a:prstGeom>
          <a:noFill/>
          <a:ln/>
        </p:spPr>
        <p:txBody>
          <a:bodyPr wrap="square" rtlCol="0" anchor="ctr"/>
          <a:lstStyle/>
          <a:p>
            <a:pPr indent="0" marL="0">
              <a:buNone/>
            </a:pPr>
            <a:r>
              <a:rPr lang="en-US" sz="1100" dirty="0">
                <a:solidFill>
                  <a:srgbClr val="E0E0E0"/>
                </a:solidFill>
                <a:latin typeface="IBM Plex Mono" pitchFamily="34" charset="0"/>
                <a:ea typeface="IBM Plex Mono" pitchFamily="34" charset="-122"/>
                <a:cs typeface="IBM Plex Mono" pitchFamily="34" charset="-120"/>
              </a:rPr>
              <a:t>Membres d'équipe</a:t>
            </a:r>
            <a:endParaRPr lang="en-US" sz="1100" dirty="0"/>
          </a:p>
        </p:txBody>
      </p:sp>
      <p:sp>
        <p:nvSpPr>
          <p:cNvPr id="22" name="Shape 20"/>
          <p:cNvSpPr/>
          <p:nvPr/>
        </p:nvSpPr>
        <p:spPr>
          <a:xfrm>
            <a:off x="3474720" y="5989320"/>
            <a:ext cx="2514600" cy="502920"/>
          </a:xfrm>
          <a:prstGeom prst="rect">
            <a:avLst/>
          </a:prstGeom>
          <a:solidFill>
            <a:srgbClr val="262626"/>
          </a:solidFill>
          <a:ln w="9525">
            <a:solidFill>
              <a:srgbClr val="393939"/>
            </a:solidFill>
            <a:prstDash val="solid"/>
          </a:ln>
        </p:spPr>
      </p:sp>
      <p:sp>
        <p:nvSpPr>
          <p:cNvPr id="23" name="Shape 21"/>
          <p:cNvSpPr/>
          <p:nvPr/>
        </p:nvSpPr>
        <p:spPr>
          <a:xfrm>
            <a:off x="3474720" y="5989320"/>
            <a:ext cx="54864" cy="502920"/>
          </a:xfrm>
          <a:prstGeom prst="rect">
            <a:avLst/>
          </a:prstGeom>
          <a:solidFill>
            <a:srgbClr val="0F62FE"/>
          </a:solidFill>
          <a:ln/>
        </p:spPr>
      </p:sp>
      <p:sp>
        <p:nvSpPr>
          <p:cNvPr id="24" name="Text 22"/>
          <p:cNvSpPr/>
          <p:nvPr/>
        </p:nvSpPr>
        <p:spPr>
          <a:xfrm>
            <a:off x="3611880" y="5989320"/>
            <a:ext cx="2331720" cy="502920"/>
          </a:xfrm>
          <a:prstGeom prst="rect">
            <a:avLst/>
          </a:prstGeom>
          <a:noFill/>
          <a:ln/>
        </p:spPr>
        <p:txBody>
          <a:bodyPr wrap="square" rtlCol="0" anchor="ctr"/>
          <a:lstStyle/>
          <a:p>
            <a:pPr indent="0" marL="0">
              <a:buNone/>
            </a:pPr>
            <a:r>
              <a:rPr lang="en-US" sz="1100" dirty="0">
                <a:solidFill>
                  <a:srgbClr val="E0E0E0"/>
                </a:solidFill>
                <a:latin typeface="IBM Plex Mono" pitchFamily="34" charset="0"/>
                <a:ea typeface="IBM Plex Mono" pitchFamily="34" charset="-122"/>
                <a:cs typeface="IBM Plex Mono" pitchFamily="34" charset="-120"/>
              </a:rPr>
              <a:t>Delivery élargi</a:t>
            </a:r>
            <a:endParaRPr lang="en-US" sz="1100" dirty="0"/>
          </a:p>
        </p:txBody>
      </p:sp>
      <p:sp>
        <p:nvSpPr>
          <p:cNvPr id="25" name="Shape 23"/>
          <p:cNvSpPr/>
          <p:nvPr/>
        </p:nvSpPr>
        <p:spPr>
          <a:xfrm>
            <a:off x="6172200" y="5989320"/>
            <a:ext cx="2514600" cy="502920"/>
          </a:xfrm>
          <a:prstGeom prst="rect">
            <a:avLst/>
          </a:prstGeom>
          <a:solidFill>
            <a:srgbClr val="262626"/>
          </a:solidFill>
          <a:ln w="9525">
            <a:solidFill>
              <a:srgbClr val="393939"/>
            </a:solidFill>
            <a:prstDash val="solid"/>
          </a:ln>
        </p:spPr>
      </p:sp>
      <p:sp>
        <p:nvSpPr>
          <p:cNvPr id="26" name="Shape 24"/>
          <p:cNvSpPr/>
          <p:nvPr/>
        </p:nvSpPr>
        <p:spPr>
          <a:xfrm>
            <a:off x="6172200" y="5989320"/>
            <a:ext cx="54864" cy="502920"/>
          </a:xfrm>
          <a:prstGeom prst="rect">
            <a:avLst/>
          </a:prstGeom>
          <a:solidFill>
            <a:srgbClr val="0F62FE"/>
          </a:solidFill>
          <a:ln/>
        </p:spPr>
      </p:sp>
      <p:sp>
        <p:nvSpPr>
          <p:cNvPr id="27" name="Text 25"/>
          <p:cNvSpPr/>
          <p:nvPr/>
        </p:nvSpPr>
        <p:spPr>
          <a:xfrm>
            <a:off x="6309360" y="5989320"/>
            <a:ext cx="2331720" cy="502920"/>
          </a:xfrm>
          <a:prstGeom prst="rect">
            <a:avLst/>
          </a:prstGeom>
          <a:noFill/>
          <a:ln/>
        </p:spPr>
        <p:txBody>
          <a:bodyPr wrap="square" rtlCol="0" anchor="ctr"/>
          <a:lstStyle/>
          <a:p>
            <a:pPr indent="0" marL="0">
              <a:buNone/>
            </a:pPr>
            <a:r>
              <a:rPr lang="en-US" sz="1100" dirty="0">
                <a:solidFill>
                  <a:srgbClr val="E0E0E0"/>
                </a:solidFill>
                <a:latin typeface="IBM Plex Mono" pitchFamily="34" charset="0"/>
                <a:ea typeface="IBM Plex Mono" pitchFamily="34" charset="-122"/>
                <a:cs typeface="IBM Plex Mono" pitchFamily="34" charset="-120"/>
              </a:rPr>
              <a:t>Mémoire partagée</a:t>
            </a:r>
            <a:endParaRPr lang="en-US" sz="1100" dirty="0"/>
          </a:p>
        </p:txBody>
      </p:sp>
      <p:sp>
        <p:nvSpPr>
          <p:cNvPr id="28" name="Shape 26"/>
          <p:cNvSpPr/>
          <p:nvPr/>
        </p:nvSpPr>
        <p:spPr>
          <a:xfrm>
            <a:off x="8869680" y="5989320"/>
            <a:ext cx="2514600" cy="502920"/>
          </a:xfrm>
          <a:prstGeom prst="rect">
            <a:avLst/>
          </a:prstGeom>
          <a:solidFill>
            <a:srgbClr val="262626"/>
          </a:solidFill>
          <a:ln w="9525">
            <a:solidFill>
              <a:srgbClr val="393939"/>
            </a:solidFill>
            <a:prstDash val="solid"/>
          </a:ln>
        </p:spPr>
      </p:sp>
      <p:sp>
        <p:nvSpPr>
          <p:cNvPr id="29" name="Shape 27"/>
          <p:cNvSpPr/>
          <p:nvPr/>
        </p:nvSpPr>
        <p:spPr>
          <a:xfrm>
            <a:off x="8869680" y="5989320"/>
            <a:ext cx="54864" cy="502920"/>
          </a:xfrm>
          <a:prstGeom prst="rect">
            <a:avLst/>
          </a:prstGeom>
          <a:solidFill>
            <a:srgbClr val="0F62FE"/>
          </a:solidFill>
          <a:ln/>
        </p:spPr>
      </p:sp>
      <p:sp>
        <p:nvSpPr>
          <p:cNvPr id="30" name="Text 28"/>
          <p:cNvSpPr/>
          <p:nvPr/>
        </p:nvSpPr>
        <p:spPr>
          <a:xfrm>
            <a:off x="9006840" y="5989320"/>
            <a:ext cx="2331720" cy="502920"/>
          </a:xfrm>
          <a:prstGeom prst="rect">
            <a:avLst/>
          </a:prstGeom>
          <a:noFill/>
          <a:ln/>
        </p:spPr>
        <p:txBody>
          <a:bodyPr wrap="square" rtlCol="0" anchor="ctr"/>
          <a:lstStyle/>
          <a:p>
            <a:pPr indent="0" marL="0">
              <a:buNone/>
            </a:pPr>
            <a:r>
              <a:rPr lang="en-US" sz="1100" dirty="0">
                <a:solidFill>
                  <a:srgbClr val="E0E0E0"/>
                </a:solidFill>
                <a:latin typeface="IBM Plex Mono" pitchFamily="34" charset="0"/>
                <a:ea typeface="IBM Plex Mono" pitchFamily="34" charset="-122"/>
                <a:cs typeface="IBM Plex Mono" pitchFamily="34" charset="-120"/>
              </a:rPr>
              <a:t>Modèle réinventé</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4"/>
        </a:solidFill>
      </p:bgPr>
    </p:bg>
    <p:spTree>
      <p:nvGrpSpPr>
        <p:cNvPr id="1" name=""/>
        <p:cNvGrpSpPr/>
        <p:nvPr/>
      </p:nvGrpSpPr>
      <p:grpSpPr>
        <a:xfrm>
          <a:off x="0" y="0"/>
          <a:ext cx="0" cy="0"/>
          <a:chOff x="0" y="0"/>
          <a:chExt cx="0" cy="0"/>
        </a:xfrm>
      </p:grpSpPr>
      <p:sp>
        <p:nvSpPr>
          <p:cNvPr id="2" name="Text 0"/>
          <p:cNvSpPr/>
          <p:nvPr/>
        </p:nvSpPr>
        <p:spPr>
          <a:xfrm>
            <a:off x="777240" y="457200"/>
            <a:ext cx="8229600" cy="320040"/>
          </a:xfrm>
          <a:prstGeom prst="rect">
            <a:avLst/>
          </a:prstGeom>
          <a:noFill/>
          <a:ln/>
        </p:spPr>
        <p:txBody>
          <a:bodyPr wrap="square" rtlCol="0" anchor="ctr"/>
          <a:lstStyle/>
          <a:p>
            <a:pPr indent="0" marL="0">
              <a:buNone/>
            </a:pPr>
            <a:r>
              <a:rPr lang="en-US" sz="1200" spc="150" kern="0" dirty="0">
                <a:solidFill>
                  <a:srgbClr val="0043CE"/>
                </a:solidFill>
                <a:latin typeface="IBM Plex Mono" pitchFamily="34" charset="0"/>
                <a:ea typeface="IBM Plex Mono" pitchFamily="34" charset="-122"/>
                <a:cs typeface="IBM Plex Mono" pitchFamily="34" charset="-120"/>
              </a:rPr>
              <a:t>01 — UN CHANGEMENT DE PARADIGME</a:t>
            </a:r>
            <a:endParaRPr lang="en-US" sz="1200" dirty="0"/>
          </a:p>
        </p:txBody>
      </p:sp>
      <p:sp>
        <p:nvSpPr>
          <p:cNvPr id="3" name="Shape 1"/>
          <p:cNvSpPr/>
          <p:nvPr/>
        </p:nvSpPr>
        <p:spPr>
          <a:xfrm>
            <a:off x="777240" y="868680"/>
            <a:ext cx="64008" cy="384048"/>
          </a:xfrm>
          <a:prstGeom prst="rect">
            <a:avLst/>
          </a:prstGeom>
          <a:solidFill>
            <a:srgbClr val="0F62FE"/>
          </a:solidFill>
          <a:ln/>
        </p:spPr>
      </p:sp>
      <p:sp>
        <p:nvSpPr>
          <p:cNvPr id="4" name="Text 2"/>
          <p:cNvSpPr/>
          <p:nvPr/>
        </p:nvSpPr>
        <p:spPr>
          <a:xfrm>
            <a:off x="960120" y="822960"/>
            <a:ext cx="10058400" cy="548640"/>
          </a:xfrm>
          <a:prstGeom prst="rect">
            <a:avLst/>
          </a:prstGeom>
          <a:noFill/>
          <a:ln/>
        </p:spPr>
        <p:txBody>
          <a:bodyPr wrap="square" rtlCol="0" anchor="ctr"/>
          <a:lstStyle/>
          <a:p>
            <a:pPr indent="0" marL="0">
              <a:buNone/>
            </a:pPr>
            <a:r>
              <a:rPr lang="en-US" sz="3000" b="1" dirty="0">
                <a:solidFill>
                  <a:srgbClr val="161616"/>
                </a:solidFill>
                <a:latin typeface="IBM Plex Sans" pitchFamily="34" charset="0"/>
                <a:ea typeface="IBM Plex Sans" pitchFamily="34" charset="-122"/>
                <a:cs typeface="IBM Plex Sans" pitchFamily="34" charset="-120"/>
              </a:rPr>
              <a:t>Les 4 transformations clés à retenir</a:t>
            </a:r>
            <a:endParaRPr lang="en-US" sz="3000" dirty="0"/>
          </a:p>
        </p:txBody>
      </p:sp>
      <p:sp>
        <p:nvSpPr>
          <p:cNvPr id="5" name="Shape 3"/>
          <p:cNvSpPr/>
          <p:nvPr/>
        </p:nvSpPr>
        <p:spPr>
          <a:xfrm>
            <a:off x="777240" y="1691640"/>
            <a:ext cx="5212080" cy="2148840"/>
          </a:xfrm>
          <a:prstGeom prst="rect">
            <a:avLst/>
          </a:prstGeom>
          <a:solidFill>
            <a:srgbClr val="FFFFFF"/>
          </a:solidFill>
          <a:ln/>
          <a:effectLst>
            <a:outerShdw sx="100000" sy="100000" kx="0" ky="0" algn="bl" rotWithShape="0" blurRad="101600" dist="25400" dir="8100000">
              <a:srgbClr val="000000">
                <a:alpha val="25000"/>
              </a:srgbClr>
            </a:outerShdw>
          </a:effectLst>
        </p:spPr>
      </p:sp>
      <p:sp>
        <p:nvSpPr>
          <p:cNvPr id="6" name="Shape 4"/>
          <p:cNvSpPr/>
          <p:nvPr/>
        </p:nvSpPr>
        <p:spPr>
          <a:xfrm>
            <a:off x="777240" y="1691640"/>
            <a:ext cx="73152" cy="2148840"/>
          </a:xfrm>
          <a:prstGeom prst="rect">
            <a:avLst/>
          </a:prstGeom>
          <a:solidFill>
            <a:srgbClr val="33B1FF"/>
          </a:solidFill>
          <a:ln/>
        </p:spPr>
      </p:sp>
      <p:sp>
        <p:nvSpPr>
          <p:cNvPr id="7" name="Shape 5"/>
          <p:cNvSpPr/>
          <p:nvPr/>
        </p:nvSpPr>
        <p:spPr>
          <a:xfrm>
            <a:off x="1097280" y="2011680"/>
            <a:ext cx="777240" cy="777240"/>
          </a:xfrm>
          <a:prstGeom prst="ellipse">
            <a:avLst/>
          </a:prstGeom>
          <a:solidFill>
            <a:srgbClr val="161616"/>
          </a:solidFill>
          <a:ln/>
        </p:spPr>
      </p:sp>
      <p:pic>
        <p:nvPicPr>
          <p:cNvPr id="8" name="Image 0" descr="preencoded.png">    </p:cNvPr>
          <p:cNvPicPr>
            <a:picLocks noChangeAspect="1"/>
          </p:cNvPicPr>
          <p:nvPr/>
        </p:nvPicPr>
        <p:blipFill>
          <a:blip r:embed="rId1"/>
          <a:stretch>
            <a:fillRect/>
          </a:stretch>
        </p:blipFill>
        <p:spPr>
          <a:xfrm>
            <a:off x="1280160" y="2194560"/>
            <a:ext cx="411480" cy="411480"/>
          </a:xfrm>
          <a:prstGeom prst="rect">
            <a:avLst/>
          </a:prstGeom>
        </p:spPr>
      </p:pic>
      <p:sp>
        <p:nvSpPr>
          <p:cNvPr id="9" name="Text 6"/>
          <p:cNvSpPr/>
          <p:nvPr/>
        </p:nvSpPr>
        <p:spPr>
          <a:xfrm>
            <a:off x="2057400" y="1984248"/>
            <a:ext cx="3749040" cy="822960"/>
          </a:xfrm>
          <a:prstGeom prst="rect">
            <a:avLst/>
          </a:prstGeom>
          <a:noFill/>
          <a:ln/>
        </p:spPr>
        <p:txBody>
          <a:bodyPr wrap="square" rtlCol="0" anchor="ctr"/>
          <a:lstStyle/>
          <a:p>
            <a:pPr indent="0" marL="0">
              <a:buNone/>
            </a:pPr>
            <a:r>
              <a:rPr lang="en-US" sz="1800" b="1" dirty="0">
                <a:solidFill>
                  <a:srgbClr val="161616"/>
                </a:solidFill>
                <a:latin typeface="IBM Plex Sans" pitchFamily="34" charset="0"/>
                <a:ea typeface="IBM Plex Sans" pitchFamily="34" charset="-122"/>
                <a:cs typeface="IBM Plex Sans" pitchFamily="34" charset="-120"/>
              </a:rPr>
              <a:t>Des membres de l'équipe</a:t>
            </a:r>
            <a:endParaRPr lang="en-US" sz="1800" dirty="0"/>
          </a:p>
        </p:txBody>
      </p:sp>
      <p:sp>
        <p:nvSpPr>
          <p:cNvPr id="10" name="Text 7"/>
          <p:cNvSpPr/>
          <p:nvPr/>
        </p:nvSpPr>
        <p:spPr>
          <a:xfrm>
            <a:off x="2057400" y="2743200"/>
            <a:ext cx="3703320" cy="960120"/>
          </a:xfrm>
          <a:prstGeom prst="rect">
            <a:avLst/>
          </a:prstGeom>
          <a:noFill/>
          <a:ln/>
        </p:spPr>
        <p:txBody>
          <a:bodyPr wrap="square" rtlCol="0" anchor="ctr"/>
          <a:lstStyle/>
          <a:p>
            <a:pPr indent="0" marL="0">
              <a:lnSpc>
                <a:spcPct val="118000"/>
              </a:lnSpc>
              <a:buNone/>
            </a:pPr>
            <a:r>
              <a:rPr lang="en-US" sz="1250" dirty="0">
                <a:solidFill>
                  <a:srgbClr val="525252"/>
                </a:solidFill>
                <a:latin typeface="IBM Plex Sans" pitchFamily="34" charset="0"/>
                <a:ea typeface="IBM Plex Sans" pitchFamily="34" charset="-122"/>
                <a:cs typeface="IBM Plex Sans" pitchFamily="34" charset="-120"/>
              </a:rPr>
              <a:t>Les agents ne sont plus des outils passifs : ils participent aux échanges, donnent du feedback, couvrent des expertises et déchargent la charge cognitive répétitive.</a:t>
            </a:r>
            <a:endParaRPr lang="en-US" sz="1250" dirty="0"/>
          </a:p>
        </p:txBody>
      </p:sp>
      <p:sp>
        <p:nvSpPr>
          <p:cNvPr id="11" name="Shape 8"/>
          <p:cNvSpPr/>
          <p:nvPr/>
        </p:nvSpPr>
        <p:spPr>
          <a:xfrm>
            <a:off x="6263640" y="1691640"/>
            <a:ext cx="5212080" cy="2148840"/>
          </a:xfrm>
          <a:prstGeom prst="rect">
            <a:avLst/>
          </a:prstGeom>
          <a:solidFill>
            <a:srgbClr val="FFFFFF"/>
          </a:solidFill>
          <a:ln/>
          <a:effectLst>
            <a:outerShdw sx="100000" sy="100000" kx="0" ky="0" algn="bl" rotWithShape="0" blurRad="101600" dist="25400" dir="8100000">
              <a:srgbClr val="000000">
                <a:alpha val="25000"/>
              </a:srgbClr>
            </a:outerShdw>
          </a:effectLst>
        </p:spPr>
      </p:sp>
      <p:sp>
        <p:nvSpPr>
          <p:cNvPr id="12" name="Shape 9"/>
          <p:cNvSpPr/>
          <p:nvPr/>
        </p:nvSpPr>
        <p:spPr>
          <a:xfrm>
            <a:off x="6263640" y="1691640"/>
            <a:ext cx="73152" cy="2148840"/>
          </a:xfrm>
          <a:prstGeom prst="rect">
            <a:avLst/>
          </a:prstGeom>
          <a:solidFill>
            <a:srgbClr val="F1C21B"/>
          </a:solidFill>
          <a:ln/>
        </p:spPr>
      </p:sp>
      <p:sp>
        <p:nvSpPr>
          <p:cNvPr id="13" name="Shape 10"/>
          <p:cNvSpPr/>
          <p:nvPr/>
        </p:nvSpPr>
        <p:spPr>
          <a:xfrm>
            <a:off x="6583680" y="2011680"/>
            <a:ext cx="777240" cy="777240"/>
          </a:xfrm>
          <a:prstGeom prst="ellipse">
            <a:avLst/>
          </a:prstGeom>
          <a:solidFill>
            <a:srgbClr val="161616"/>
          </a:solidFill>
          <a:ln/>
        </p:spPr>
      </p:sp>
      <p:pic>
        <p:nvPicPr>
          <p:cNvPr id="14" name="Image 1" descr="preencoded.png">    </p:cNvPr>
          <p:cNvPicPr>
            <a:picLocks noChangeAspect="1"/>
          </p:cNvPicPr>
          <p:nvPr/>
        </p:nvPicPr>
        <p:blipFill>
          <a:blip r:embed="rId2"/>
          <a:stretch>
            <a:fillRect/>
          </a:stretch>
        </p:blipFill>
        <p:spPr>
          <a:xfrm>
            <a:off x="6766560" y="2194560"/>
            <a:ext cx="411480" cy="411480"/>
          </a:xfrm>
          <a:prstGeom prst="rect">
            <a:avLst/>
          </a:prstGeom>
        </p:spPr>
      </p:pic>
      <p:sp>
        <p:nvSpPr>
          <p:cNvPr id="15" name="Text 11"/>
          <p:cNvSpPr/>
          <p:nvPr/>
        </p:nvSpPr>
        <p:spPr>
          <a:xfrm>
            <a:off x="7543800" y="1984248"/>
            <a:ext cx="3749040" cy="822960"/>
          </a:xfrm>
          <a:prstGeom prst="rect">
            <a:avLst/>
          </a:prstGeom>
          <a:noFill/>
          <a:ln/>
        </p:spPr>
        <p:txBody>
          <a:bodyPr wrap="square" rtlCol="0" anchor="ctr"/>
          <a:lstStyle/>
          <a:p>
            <a:pPr indent="0" marL="0">
              <a:buNone/>
            </a:pPr>
            <a:r>
              <a:rPr lang="en-US" sz="1800" b="1" dirty="0">
                <a:solidFill>
                  <a:srgbClr val="161616"/>
                </a:solidFill>
                <a:latin typeface="IBM Plex Sans" pitchFamily="34" charset="0"/>
                <a:ea typeface="IBM Plex Sans" pitchFamily="34" charset="-122"/>
                <a:cs typeface="IBM Plex Sans" pitchFamily="34" charset="-120"/>
              </a:rPr>
              <a:t>Delivery plus rapide, plus large</a:t>
            </a:r>
            <a:endParaRPr lang="en-US" sz="1800" dirty="0"/>
          </a:p>
        </p:txBody>
      </p:sp>
      <p:sp>
        <p:nvSpPr>
          <p:cNvPr id="16" name="Text 12"/>
          <p:cNvSpPr/>
          <p:nvPr/>
        </p:nvSpPr>
        <p:spPr>
          <a:xfrm>
            <a:off x="7543800" y="2743200"/>
            <a:ext cx="3703320" cy="960120"/>
          </a:xfrm>
          <a:prstGeom prst="rect">
            <a:avLst/>
          </a:prstGeom>
          <a:noFill/>
          <a:ln/>
        </p:spPr>
        <p:txBody>
          <a:bodyPr wrap="square" rtlCol="0" anchor="ctr"/>
          <a:lstStyle/>
          <a:p>
            <a:pPr indent="0" marL="0">
              <a:lnSpc>
                <a:spcPct val="118000"/>
              </a:lnSpc>
              <a:buNone/>
            </a:pPr>
            <a:r>
              <a:rPr lang="en-US" sz="1250" dirty="0">
                <a:solidFill>
                  <a:srgbClr val="525252"/>
                </a:solidFill>
                <a:latin typeface="IBM Plex Sans" pitchFamily="34" charset="0"/>
                <a:ea typeface="IBM Plex Sans" pitchFamily="34" charset="-122"/>
                <a:cs typeface="IBM Plex Sans" pitchFamily="34" charset="-120"/>
              </a:rPr>
              <a:t>Génération de code, exploration de bases inconnues, conception de solution : des équipes plus petites livrent plus vite, avec une couverture fonctionnelle élargie.</a:t>
            </a:r>
            <a:endParaRPr lang="en-US" sz="1250" dirty="0"/>
          </a:p>
        </p:txBody>
      </p:sp>
      <p:sp>
        <p:nvSpPr>
          <p:cNvPr id="17" name="Shape 13"/>
          <p:cNvSpPr/>
          <p:nvPr/>
        </p:nvSpPr>
        <p:spPr>
          <a:xfrm>
            <a:off x="777240" y="4114800"/>
            <a:ext cx="5212080" cy="2148840"/>
          </a:xfrm>
          <a:prstGeom prst="rect">
            <a:avLst/>
          </a:prstGeom>
          <a:solidFill>
            <a:srgbClr val="FFFFFF"/>
          </a:solidFill>
          <a:ln/>
          <a:effectLst>
            <a:outerShdw sx="100000" sy="100000" kx="0" ky="0" algn="bl" rotWithShape="0" blurRad="101600" dist="25400" dir="8100000">
              <a:srgbClr val="000000">
                <a:alpha val="25000"/>
              </a:srgbClr>
            </a:outerShdw>
          </a:effectLst>
        </p:spPr>
      </p:sp>
      <p:sp>
        <p:nvSpPr>
          <p:cNvPr id="18" name="Shape 14"/>
          <p:cNvSpPr/>
          <p:nvPr/>
        </p:nvSpPr>
        <p:spPr>
          <a:xfrm>
            <a:off x="777240" y="4114800"/>
            <a:ext cx="73152" cy="2148840"/>
          </a:xfrm>
          <a:prstGeom prst="rect">
            <a:avLst/>
          </a:prstGeom>
          <a:solidFill>
            <a:srgbClr val="08BDBA"/>
          </a:solidFill>
          <a:ln/>
        </p:spPr>
      </p:sp>
      <p:sp>
        <p:nvSpPr>
          <p:cNvPr id="19" name="Shape 15"/>
          <p:cNvSpPr/>
          <p:nvPr/>
        </p:nvSpPr>
        <p:spPr>
          <a:xfrm>
            <a:off x="1097280" y="4434840"/>
            <a:ext cx="777240" cy="777240"/>
          </a:xfrm>
          <a:prstGeom prst="ellipse">
            <a:avLst/>
          </a:prstGeom>
          <a:solidFill>
            <a:srgbClr val="161616"/>
          </a:solidFill>
          <a:ln/>
        </p:spPr>
      </p:sp>
      <p:pic>
        <p:nvPicPr>
          <p:cNvPr id="20" name="Image 2" descr="preencoded.png">    </p:cNvPr>
          <p:cNvPicPr>
            <a:picLocks noChangeAspect="1"/>
          </p:cNvPicPr>
          <p:nvPr/>
        </p:nvPicPr>
        <p:blipFill>
          <a:blip r:embed="rId3"/>
          <a:stretch>
            <a:fillRect/>
          </a:stretch>
        </p:blipFill>
        <p:spPr>
          <a:xfrm>
            <a:off x="1280160" y="4617720"/>
            <a:ext cx="411480" cy="411480"/>
          </a:xfrm>
          <a:prstGeom prst="rect">
            <a:avLst/>
          </a:prstGeom>
        </p:spPr>
      </p:pic>
      <p:sp>
        <p:nvSpPr>
          <p:cNvPr id="21" name="Text 16"/>
          <p:cNvSpPr/>
          <p:nvPr/>
        </p:nvSpPr>
        <p:spPr>
          <a:xfrm>
            <a:off x="2057400" y="4407408"/>
            <a:ext cx="3749040" cy="822960"/>
          </a:xfrm>
          <a:prstGeom prst="rect">
            <a:avLst/>
          </a:prstGeom>
          <a:noFill/>
          <a:ln/>
        </p:spPr>
        <p:txBody>
          <a:bodyPr wrap="square" rtlCol="0" anchor="ctr"/>
          <a:lstStyle/>
          <a:p>
            <a:pPr indent="0" marL="0">
              <a:buNone/>
            </a:pPr>
            <a:r>
              <a:rPr lang="en-US" sz="1800" b="1" dirty="0">
                <a:solidFill>
                  <a:srgbClr val="161616"/>
                </a:solidFill>
                <a:latin typeface="IBM Plex Sans" pitchFamily="34" charset="0"/>
                <a:ea typeface="IBM Plex Sans" pitchFamily="34" charset="-122"/>
                <a:cs typeface="IBM Plex Sans" pitchFamily="34" charset="-120"/>
              </a:rPr>
              <a:t>Une mémoire partagée</a:t>
            </a:r>
            <a:endParaRPr lang="en-US" sz="1800" dirty="0"/>
          </a:p>
        </p:txBody>
      </p:sp>
      <p:sp>
        <p:nvSpPr>
          <p:cNvPr id="22" name="Text 17"/>
          <p:cNvSpPr/>
          <p:nvPr/>
        </p:nvSpPr>
        <p:spPr>
          <a:xfrm>
            <a:off x="2057400" y="5166360"/>
            <a:ext cx="3703320" cy="960120"/>
          </a:xfrm>
          <a:prstGeom prst="rect">
            <a:avLst/>
          </a:prstGeom>
          <a:noFill/>
          <a:ln/>
        </p:spPr>
        <p:txBody>
          <a:bodyPr wrap="square" rtlCol="0" anchor="ctr"/>
          <a:lstStyle/>
          <a:p>
            <a:pPr indent="0" marL="0">
              <a:lnSpc>
                <a:spcPct val="118000"/>
              </a:lnSpc>
              <a:buNone/>
            </a:pPr>
            <a:r>
              <a:rPr lang="en-US" sz="1250" dirty="0">
                <a:solidFill>
                  <a:srgbClr val="525252"/>
                </a:solidFill>
                <a:latin typeface="IBM Plex Sans" pitchFamily="34" charset="0"/>
                <a:ea typeface="IBM Plex Sans" pitchFamily="34" charset="-122"/>
                <a:cs typeface="IBM Plex Sans" pitchFamily="34" charset="-120"/>
              </a:rPr>
              <a:t>Les agents ingèrent et rappellent instantanément les connaissances de toute l'organisation. Ils deviennent le tissu connectif de l'entreprise, brisant les silos.</a:t>
            </a:r>
            <a:endParaRPr lang="en-US" sz="1250" dirty="0"/>
          </a:p>
        </p:txBody>
      </p:sp>
      <p:sp>
        <p:nvSpPr>
          <p:cNvPr id="23" name="Shape 18"/>
          <p:cNvSpPr/>
          <p:nvPr/>
        </p:nvSpPr>
        <p:spPr>
          <a:xfrm>
            <a:off x="6263640" y="4114800"/>
            <a:ext cx="5212080" cy="2148840"/>
          </a:xfrm>
          <a:prstGeom prst="rect">
            <a:avLst/>
          </a:prstGeom>
          <a:solidFill>
            <a:srgbClr val="FFFFFF"/>
          </a:solidFill>
          <a:ln/>
          <a:effectLst>
            <a:outerShdw sx="100000" sy="100000" kx="0" ky="0" algn="bl" rotWithShape="0" blurRad="101600" dist="25400" dir="8100000">
              <a:srgbClr val="000000">
                <a:alpha val="25000"/>
              </a:srgbClr>
            </a:outerShdw>
          </a:effectLst>
        </p:spPr>
      </p:sp>
      <p:sp>
        <p:nvSpPr>
          <p:cNvPr id="24" name="Shape 19"/>
          <p:cNvSpPr/>
          <p:nvPr/>
        </p:nvSpPr>
        <p:spPr>
          <a:xfrm>
            <a:off x="6263640" y="4114800"/>
            <a:ext cx="73152" cy="2148840"/>
          </a:xfrm>
          <a:prstGeom prst="rect">
            <a:avLst/>
          </a:prstGeom>
          <a:solidFill>
            <a:srgbClr val="FF7EB6"/>
          </a:solidFill>
          <a:ln/>
        </p:spPr>
      </p:sp>
      <p:sp>
        <p:nvSpPr>
          <p:cNvPr id="25" name="Shape 20"/>
          <p:cNvSpPr/>
          <p:nvPr/>
        </p:nvSpPr>
        <p:spPr>
          <a:xfrm>
            <a:off x="6583680" y="4434840"/>
            <a:ext cx="777240" cy="777240"/>
          </a:xfrm>
          <a:prstGeom prst="ellipse">
            <a:avLst/>
          </a:prstGeom>
          <a:solidFill>
            <a:srgbClr val="161616"/>
          </a:solidFill>
          <a:ln/>
        </p:spPr>
      </p:sp>
      <p:pic>
        <p:nvPicPr>
          <p:cNvPr id="26" name="Image 3" descr="preencoded.png">    </p:cNvPr>
          <p:cNvPicPr>
            <a:picLocks noChangeAspect="1"/>
          </p:cNvPicPr>
          <p:nvPr/>
        </p:nvPicPr>
        <p:blipFill>
          <a:blip r:embed="rId4"/>
          <a:stretch>
            <a:fillRect/>
          </a:stretch>
        </p:blipFill>
        <p:spPr>
          <a:xfrm>
            <a:off x="6766560" y="4617720"/>
            <a:ext cx="411480" cy="411480"/>
          </a:xfrm>
          <a:prstGeom prst="rect">
            <a:avLst/>
          </a:prstGeom>
        </p:spPr>
      </p:pic>
      <p:sp>
        <p:nvSpPr>
          <p:cNvPr id="27" name="Text 21"/>
          <p:cNvSpPr/>
          <p:nvPr/>
        </p:nvSpPr>
        <p:spPr>
          <a:xfrm>
            <a:off x="7543800" y="4407408"/>
            <a:ext cx="3749040" cy="822960"/>
          </a:xfrm>
          <a:prstGeom prst="rect">
            <a:avLst/>
          </a:prstGeom>
          <a:noFill/>
          <a:ln/>
        </p:spPr>
        <p:txBody>
          <a:bodyPr wrap="square" rtlCol="0" anchor="ctr"/>
          <a:lstStyle/>
          <a:p>
            <a:pPr indent="0" marL="0">
              <a:buNone/>
            </a:pPr>
            <a:r>
              <a:rPr lang="en-US" sz="1800" b="1" dirty="0">
                <a:solidFill>
                  <a:srgbClr val="161616"/>
                </a:solidFill>
                <a:latin typeface="IBM Plex Sans" pitchFamily="34" charset="0"/>
                <a:ea typeface="IBM Plex Sans" pitchFamily="34" charset="-122"/>
                <a:cs typeface="IBM Plex Sans" pitchFamily="34" charset="-120"/>
              </a:rPr>
              <a:t>Un modèle à réinventer</a:t>
            </a:r>
            <a:endParaRPr lang="en-US" sz="1800" dirty="0"/>
          </a:p>
        </p:txBody>
      </p:sp>
      <p:sp>
        <p:nvSpPr>
          <p:cNvPr id="28" name="Text 22"/>
          <p:cNvSpPr/>
          <p:nvPr/>
        </p:nvSpPr>
        <p:spPr>
          <a:xfrm>
            <a:off x="7543800" y="5166360"/>
            <a:ext cx="3703320" cy="960120"/>
          </a:xfrm>
          <a:prstGeom prst="rect">
            <a:avLst/>
          </a:prstGeom>
          <a:noFill/>
          <a:ln/>
        </p:spPr>
        <p:txBody>
          <a:bodyPr wrap="square" rtlCol="0" anchor="ctr"/>
          <a:lstStyle/>
          <a:p>
            <a:pPr indent="0" marL="0">
              <a:lnSpc>
                <a:spcPct val="118000"/>
              </a:lnSpc>
              <a:buNone/>
            </a:pPr>
            <a:r>
              <a:rPr lang="en-US" sz="1250" dirty="0">
                <a:solidFill>
                  <a:srgbClr val="525252"/>
                </a:solidFill>
                <a:latin typeface="IBM Plex Sans" pitchFamily="34" charset="0"/>
                <a:ea typeface="IBM Plex Sans" pitchFamily="34" charset="-122"/>
                <a:cs typeface="IBM Plex Sans" pitchFamily="34" charset="-120"/>
              </a:rPr>
              <a:t>Système multi-agents orchestré, réseau de connaissances partagé, structure alignée sur la valeur et gouvernance robuste : quatre leviers indissociables.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616"/>
        </a:solidFill>
      </p:bgPr>
    </p:bg>
    <p:spTree>
      <p:nvGrpSpPr>
        <p:cNvPr id="1" name=""/>
        <p:cNvGrpSpPr/>
        <p:nvPr/>
      </p:nvGrpSpPr>
      <p:grpSpPr>
        <a:xfrm>
          <a:off x="0" y="0"/>
          <a:ext cx="0" cy="0"/>
          <a:chOff x="0" y="0"/>
          <a:chExt cx="0" cy="0"/>
        </a:xfrm>
      </p:grpSpPr>
      <p:sp>
        <p:nvSpPr>
          <p:cNvPr id="2" name="Text 0"/>
          <p:cNvSpPr/>
          <p:nvPr/>
        </p:nvSpPr>
        <p:spPr>
          <a:xfrm>
            <a:off x="777240" y="457200"/>
            <a:ext cx="8229600" cy="320040"/>
          </a:xfrm>
          <a:prstGeom prst="rect">
            <a:avLst/>
          </a:prstGeom>
          <a:noFill/>
          <a:ln/>
        </p:spPr>
        <p:txBody>
          <a:bodyPr wrap="square" rtlCol="0" anchor="ctr"/>
          <a:lstStyle/>
          <a:p>
            <a:pPr indent="0" marL="0">
              <a:buNone/>
            </a:pPr>
            <a:r>
              <a:rPr lang="en-US" sz="1200" spc="150" kern="0" dirty="0">
                <a:solidFill>
                  <a:srgbClr val="33B1FF"/>
                </a:solidFill>
                <a:latin typeface="IBM Plex Mono" pitchFamily="34" charset="0"/>
                <a:ea typeface="IBM Plex Mono" pitchFamily="34" charset="-122"/>
                <a:cs typeface="IBM Plex Mono" pitchFamily="34" charset="-120"/>
              </a:rPr>
              <a:t>02 — L'ÉVOLUTION DES RÔLES</a:t>
            </a:r>
            <a:endParaRPr lang="en-US" sz="1200" dirty="0"/>
          </a:p>
        </p:txBody>
      </p:sp>
      <p:sp>
        <p:nvSpPr>
          <p:cNvPr id="3" name="Shape 1"/>
          <p:cNvSpPr/>
          <p:nvPr/>
        </p:nvSpPr>
        <p:spPr>
          <a:xfrm>
            <a:off x="777240" y="868680"/>
            <a:ext cx="64008" cy="384048"/>
          </a:xfrm>
          <a:prstGeom prst="rect">
            <a:avLst/>
          </a:prstGeom>
          <a:solidFill>
            <a:srgbClr val="0F62FE"/>
          </a:solidFill>
          <a:ln/>
        </p:spPr>
      </p:sp>
      <p:sp>
        <p:nvSpPr>
          <p:cNvPr id="4" name="Text 2"/>
          <p:cNvSpPr/>
          <p:nvPr/>
        </p:nvSpPr>
        <p:spPr>
          <a:xfrm>
            <a:off x="960120" y="804672"/>
            <a:ext cx="10058400" cy="548640"/>
          </a:xfrm>
          <a:prstGeom prst="rect">
            <a:avLst/>
          </a:prstGeom>
          <a:noFill/>
          <a:ln/>
        </p:spPr>
        <p:txBody>
          <a:bodyPr wrap="square" rtlCol="0" anchor="ctr"/>
          <a:lstStyle/>
          <a:p>
            <a:pPr indent="0" marL="0">
              <a:buNone/>
            </a:pPr>
            <a:r>
              <a:rPr lang="en-US" sz="3000" b="1" dirty="0">
                <a:solidFill>
                  <a:srgbClr val="FFFFFF"/>
                </a:solidFill>
                <a:latin typeface="IBM Plex Sans" pitchFamily="34" charset="0"/>
                <a:ea typeface="IBM Plex Sans" pitchFamily="34" charset="-122"/>
                <a:cs typeface="IBM Plex Sans" pitchFamily="34" charset="-120"/>
              </a:rPr>
              <a:t>Du codeur au gouverneur</a:t>
            </a:r>
            <a:endParaRPr lang="en-US" sz="3000" dirty="0"/>
          </a:p>
        </p:txBody>
      </p:sp>
      <p:sp>
        <p:nvSpPr>
          <p:cNvPr id="5" name="Text 3"/>
          <p:cNvSpPr/>
          <p:nvPr/>
        </p:nvSpPr>
        <p:spPr>
          <a:xfrm>
            <a:off x="777240" y="1417320"/>
            <a:ext cx="10607040" cy="411480"/>
          </a:xfrm>
          <a:prstGeom prst="rect">
            <a:avLst/>
          </a:prstGeom>
          <a:noFill/>
          <a:ln/>
        </p:spPr>
        <p:txBody>
          <a:bodyPr wrap="square" rtlCol="0" anchor="ctr"/>
          <a:lstStyle/>
          <a:p>
            <a:pPr indent="0" marL="0">
              <a:buNone/>
            </a:pPr>
            <a:r>
              <a:rPr lang="en-US" sz="1400" i="1" dirty="0">
                <a:solidFill>
                  <a:srgbClr val="C6C6C6"/>
                </a:solidFill>
                <a:latin typeface="IBM Plex Sans" pitchFamily="34" charset="0"/>
                <a:ea typeface="IBM Plex Sans" pitchFamily="34" charset="-122"/>
                <a:cs typeface="IBM Plex Sans" pitchFamily="34" charset="-120"/>
              </a:rPr>
              <a:t>Une évolution, pas une disparition — le centre de gravité passe du code au jugement, de l'exécution à l'orchestration.</a:t>
            </a:r>
            <a:endParaRPr lang="en-US" sz="1400" dirty="0"/>
          </a:p>
        </p:txBody>
      </p:sp>
      <p:sp>
        <p:nvSpPr>
          <p:cNvPr id="6" name="Shape 4"/>
          <p:cNvSpPr/>
          <p:nvPr/>
        </p:nvSpPr>
        <p:spPr>
          <a:xfrm>
            <a:off x="777240" y="1965960"/>
            <a:ext cx="2715768" cy="4389120"/>
          </a:xfrm>
          <a:prstGeom prst="rect">
            <a:avLst/>
          </a:prstGeom>
          <a:solidFill>
            <a:srgbClr val="262626"/>
          </a:solidFill>
          <a:ln/>
        </p:spPr>
      </p:sp>
      <p:sp>
        <p:nvSpPr>
          <p:cNvPr id="7" name="Shape 5"/>
          <p:cNvSpPr/>
          <p:nvPr/>
        </p:nvSpPr>
        <p:spPr>
          <a:xfrm>
            <a:off x="777240" y="1965960"/>
            <a:ext cx="2715768" cy="64008"/>
          </a:xfrm>
          <a:prstGeom prst="rect">
            <a:avLst/>
          </a:prstGeom>
          <a:solidFill>
            <a:srgbClr val="33B1FF"/>
          </a:solidFill>
          <a:ln/>
        </p:spPr>
      </p:sp>
      <p:sp>
        <p:nvSpPr>
          <p:cNvPr id="8" name="Shape 6"/>
          <p:cNvSpPr/>
          <p:nvPr/>
        </p:nvSpPr>
        <p:spPr>
          <a:xfrm>
            <a:off x="1069848" y="2258568"/>
            <a:ext cx="658368" cy="658368"/>
          </a:xfrm>
          <a:prstGeom prst="ellipse">
            <a:avLst/>
          </a:prstGeom>
          <a:solidFill>
            <a:srgbClr val="161616"/>
          </a:solidFill>
          <a:ln w="12700">
            <a:solidFill>
              <a:srgbClr val="33B1FF"/>
            </a:solidFill>
            <a:prstDash val="solid"/>
          </a:ln>
        </p:spPr>
      </p:sp>
      <p:pic>
        <p:nvPicPr>
          <p:cNvPr id="9" name="Image 0" descr="preencoded.png">    </p:cNvPr>
          <p:cNvPicPr>
            <a:picLocks noChangeAspect="1"/>
          </p:cNvPicPr>
          <p:nvPr/>
        </p:nvPicPr>
        <p:blipFill>
          <a:blip r:embed="rId1"/>
          <a:stretch>
            <a:fillRect/>
          </a:stretch>
        </p:blipFill>
        <p:spPr>
          <a:xfrm>
            <a:off x="1225296" y="2414016"/>
            <a:ext cx="347472" cy="347472"/>
          </a:xfrm>
          <a:prstGeom prst="rect">
            <a:avLst/>
          </a:prstGeom>
        </p:spPr>
      </p:pic>
      <p:sp>
        <p:nvSpPr>
          <p:cNvPr id="10" name="Text 7"/>
          <p:cNvSpPr/>
          <p:nvPr/>
        </p:nvSpPr>
        <p:spPr>
          <a:xfrm>
            <a:off x="1033272" y="3044952"/>
            <a:ext cx="2258568" cy="502920"/>
          </a:xfrm>
          <a:prstGeom prst="rect">
            <a:avLst/>
          </a:prstGeom>
          <a:noFill/>
          <a:ln/>
        </p:spPr>
        <p:txBody>
          <a:bodyPr wrap="square" rtlCol="0" anchor="t"/>
          <a:lstStyle/>
          <a:p>
            <a:pPr indent="0" marL="0">
              <a:buNone/>
            </a:pPr>
            <a:r>
              <a:rPr lang="en-US" sz="1450" b="1" dirty="0">
                <a:solidFill>
                  <a:srgbClr val="FFFFFF"/>
                </a:solidFill>
                <a:latin typeface="IBM Plex Sans" pitchFamily="34" charset="0"/>
                <a:ea typeface="IBM Plex Sans" pitchFamily="34" charset="-122"/>
                <a:cs typeface="IBM Plex Sans" pitchFamily="34" charset="-120"/>
              </a:rPr>
              <a:t>Business Analyst / PO</a:t>
            </a:r>
            <a:endParaRPr lang="en-US" sz="1450" dirty="0"/>
          </a:p>
        </p:txBody>
      </p:sp>
      <p:sp>
        <p:nvSpPr>
          <p:cNvPr id="11" name="Text 8"/>
          <p:cNvSpPr/>
          <p:nvPr/>
        </p:nvSpPr>
        <p:spPr>
          <a:xfrm>
            <a:off x="1033272" y="3657600"/>
            <a:ext cx="2258568" cy="201168"/>
          </a:xfrm>
          <a:prstGeom prst="rect">
            <a:avLst/>
          </a:prstGeom>
          <a:noFill/>
          <a:ln/>
        </p:spPr>
        <p:txBody>
          <a:bodyPr wrap="square" lIns="0" tIns="0" rIns="0" bIns="0" rtlCol="0" anchor="ctr"/>
          <a:lstStyle/>
          <a:p>
            <a:pPr indent="0" marL="0">
              <a:buNone/>
            </a:pPr>
            <a:r>
              <a:rPr lang="en-US" sz="850" spc="100" kern="0" dirty="0">
                <a:solidFill>
                  <a:srgbClr val="8D8D8D"/>
                </a:solidFill>
                <a:latin typeface="IBM Plex Mono" pitchFamily="34" charset="0"/>
                <a:ea typeface="IBM Plex Mono" pitchFamily="34" charset="-122"/>
                <a:cs typeface="IBM Plex Mono" pitchFamily="34" charset="-120"/>
              </a:rPr>
              <a:t>AUJOURD'HUI</a:t>
            </a:r>
            <a:endParaRPr lang="en-US" sz="850" dirty="0"/>
          </a:p>
        </p:txBody>
      </p:sp>
      <p:sp>
        <p:nvSpPr>
          <p:cNvPr id="12" name="Text 9"/>
          <p:cNvSpPr/>
          <p:nvPr/>
        </p:nvSpPr>
        <p:spPr>
          <a:xfrm>
            <a:off x="1033272" y="3886200"/>
            <a:ext cx="2258568" cy="548640"/>
          </a:xfrm>
          <a:prstGeom prst="rect">
            <a:avLst/>
          </a:prstGeom>
          <a:noFill/>
          <a:ln/>
        </p:spPr>
        <p:txBody>
          <a:bodyPr wrap="square" rtlCol="0" anchor="t"/>
          <a:lstStyle/>
          <a:p>
            <a:pPr indent="0" marL="0">
              <a:lnSpc>
                <a:spcPct val="110000"/>
              </a:lnSpc>
              <a:buNone/>
            </a:pPr>
            <a:r>
              <a:rPr lang="en-US" sz="1100" dirty="0">
                <a:solidFill>
                  <a:srgbClr val="C6C6C6"/>
                </a:solidFill>
                <a:latin typeface="IBM Plex Sans" pitchFamily="34" charset="0"/>
                <a:ea typeface="IBM Plex Sans" pitchFamily="34" charset="-122"/>
                <a:cs typeface="IBM Plex Sans" pitchFamily="34" charset="-120"/>
              </a:rPr>
              <a:t>Specs, recettage, coordination tech.</a:t>
            </a:r>
            <a:endParaRPr lang="en-US" sz="1100" dirty="0"/>
          </a:p>
        </p:txBody>
      </p:sp>
      <p:sp>
        <p:nvSpPr>
          <p:cNvPr id="13" name="Text 10"/>
          <p:cNvSpPr/>
          <p:nvPr/>
        </p:nvSpPr>
        <p:spPr>
          <a:xfrm>
            <a:off x="1033272" y="4507992"/>
            <a:ext cx="2258568" cy="201168"/>
          </a:xfrm>
          <a:prstGeom prst="rect">
            <a:avLst/>
          </a:prstGeom>
          <a:noFill/>
          <a:ln/>
        </p:spPr>
        <p:txBody>
          <a:bodyPr wrap="square" lIns="0" tIns="0" rIns="0" bIns="0" rtlCol="0" anchor="ctr"/>
          <a:lstStyle/>
          <a:p>
            <a:pPr indent="0" marL="0">
              <a:buNone/>
            </a:pPr>
            <a:r>
              <a:rPr lang="en-US" sz="850" spc="100" kern="0" dirty="0">
                <a:solidFill>
                  <a:srgbClr val="33B1FF"/>
                </a:solidFill>
                <a:latin typeface="IBM Plex Mono" pitchFamily="34" charset="0"/>
                <a:ea typeface="IBM Plex Mono" pitchFamily="34" charset="-122"/>
                <a:cs typeface="IBM Plex Mono" pitchFamily="34" charset="-120"/>
              </a:rPr>
              <a:t>DEMAIN</a:t>
            </a:r>
            <a:endParaRPr lang="en-US" sz="850" dirty="0"/>
          </a:p>
        </p:txBody>
      </p:sp>
      <p:sp>
        <p:nvSpPr>
          <p:cNvPr id="14" name="Text 11"/>
          <p:cNvSpPr/>
          <p:nvPr/>
        </p:nvSpPr>
        <p:spPr>
          <a:xfrm>
            <a:off x="1033272" y="4754880"/>
            <a:ext cx="2258568" cy="1463040"/>
          </a:xfrm>
          <a:prstGeom prst="rect">
            <a:avLst/>
          </a:prstGeom>
          <a:noFill/>
          <a:ln/>
        </p:spPr>
        <p:txBody>
          <a:bodyPr wrap="square" rtlCol="0" anchor="t"/>
          <a:lstStyle/>
          <a:p>
            <a:pPr indent="0" marL="0">
              <a:lnSpc>
                <a:spcPct val="112000"/>
              </a:lnSpc>
              <a:buNone/>
            </a:pPr>
            <a:r>
              <a:rPr lang="en-US" sz="1100" dirty="0">
                <a:solidFill>
                  <a:srgbClr val="E0E0E0"/>
                </a:solidFill>
                <a:latin typeface="IBM Plex Sans" pitchFamily="34" charset="0"/>
                <a:ea typeface="IBM Plex Sans" pitchFamily="34" charset="-122"/>
                <a:cs typeface="IBM Plex Sans" pitchFamily="34" charset="-120"/>
              </a:rPr>
              <a:t>Garant de la valeur : alimente les agents, évalue leurs outputs. Son empathie utilisateur devient le carburant du réseau de connaissances.</a:t>
            </a:r>
            <a:endParaRPr lang="en-US" sz="1100" dirty="0"/>
          </a:p>
        </p:txBody>
      </p:sp>
      <p:sp>
        <p:nvSpPr>
          <p:cNvPr id="15" name="Shape 12"/>
          <p:cNvSpPr/>
          <p:nvPr/>
        </p:nvSpPr>
        <p:spPr>
          <a:xfrm>
            <a:off x="3611880" y="1965960"/>
            <a:ext cx="2715768" cy="4389120"/>
          </a:xfrm>
          <a:prstGeom prst="rect">
            <a:avLst/>
          </a:prstGeom>
          <a:solidFill>
            <a:srgbClr val="262626"/>
          </a:solidFill>
          <a:ln/>
        </p:spPr>
      </p:sp>
      <p:sp>
        <p:nvSpPr>
          <p:cNvPr id="16" name="Shape 13"/>
          <p:cNvSpPr/>
          <p:nvPr/>
        </p:nvSpPr>
        <p:spPr>
          <a:xfrm>
            <a:off x="3611880" y="1965960"/>
            <a:ext cx="2715768" cy="64008"/>
          </a:xfrm>
          <a:prstGeom prst="rect">
            <a:avLst/>
          </a:prstGeom>
          <a:solidFill>
            <a:srgbClr val="78A9FF"/>
          </a:solidFill>
          <a:ln/>
        </p:spPr>
      </p:sp>
      <p:sp>
        <p:nvSpPr>
          <p:cNvPr id="17" name="Shape 14"/>
          <p:cNvSpPr/>
          <p:nvPr/>
        </p:nvSpPr>
        <p:spPr>
          <a:xfrm>
            <a:off x="3904488" y="2258568"/>
            <a:ext cx="658368" cy="658368"/>
          </a:xfrm>
          <a:prstGeom prst="ellipse">
            <a:avLst/>
          </a:prstGeom>
          <a:solidFill>
            <a:srgbClr val="161616"/>
          </a:solidFill>
          <a:ln w="12700">
            <a:solidFill>
              <a:srgbClr val="78A9FF"/>
            </a:solidFill>
            <a:prstDash val="solid"/>
          </a:ln>
        </p:spPr>
      </p:sp>
      <p:pic>
        <p:nvPicPr>
          <p:cNvPr id="18" name="Image 1" descr="preencoded.png">    </p:cNvPr>
          <p:cNvPicPr>
            <a:picLocks noChangeAspect="1"/>
          </p:cNvPicPr>
          <p:nvPr/>
        </p:nvPicPr>
        <p:blipFill>
          <a:blip r:embed="rId2"/>
          <a:stretch>
            <a:fillRect/>
          </a:stretch>
        </p:blipFill>
        <p:spPr>
          <a:xfrm>
            <a:off x="4059936" y="2414016"/>
            <a:ext cx="347472" cy="347472"/>
          </a:xfrm>
          <a:prstGeom prst="rect">
            <a:avLst/>
          </a:prstGeom>
        </p:spPr>
      </p:pic>
      <p:sp>
        <p:nvSpPr>
          <p:cNvPr id="19" name="Text 15"/>
          <p:cNvSpPr/>
          <p:nvPr/>
        </p:nvSpPr>
        <p:spPr>
          <a:xfrm>
            <a:off x="3867912" y="3044952"/>
            <a:ext cx="2258568" cy="502920"/>
          </a:xfrm>
          <a:prstGeom prst="rect">
            <a:avLst/>
          </a:prstGeom>
          <a:noFill/>
          <a:ln/>
        </p:spPr>
        <p:txBody>
          <a:bodyPr wrap="square" rtlCol="0" anchor="t"/>
          <a:lstStyle/>
          <a:p>
            <a:pPr indent="0" marL="0">
              <a:buNone/>
            </a:pPr>
            <a:r>
              <a:rPr lang="en-US" sz="1450" b="1" dirty="0">
                <a:solidFill>
                  <a:srgbClr val="FFFFFF"/>
                </a:solidFill>
                <a:latin typeface="IBM Plex Sans" pitchFamily="34" charset="0"/>
                <a:ea typeface="IBM Plex Sans" pitchFamily="34" charset="-122"/>
                <a:cs typeface="IBM Plex Sans" pitchFamily="34" charset="-120"/>
              </a:rPr>
              <a:t>Développeur</a:t>
            </a:r>
            <a:endParaRPr lang="en-US" sz="1450" dirty="0"/>
          </a:p>
        </p:txBody>
      </p:sp>
      <p:sp>
        <p:nvSpPr>
          <p:cNvPr id="20" name="Text 16"/>
          <p:cNvSpPr/>
          <p:nvPr/>
        </p:nvSpPr>
        <p:spPr>
          <a:xfrm>
            <a:off x="3867912" y="3657600"/>
            <a:ext cx="2258568" cy="201168"/>
          </a:xfrm>
          <a:prstGeom prst="rect">
            <a:avLst/>
          </a:prstGeom>
          <a:noFill/>
          <a:ln/>
        </p:spPr>
        <p:txBody>
          <a:bodyPr wrap="square" lIns="0" tIns="0" rIns="0" bIns="0" rtlCol="0" anchor="ctr"/>
          <a:lstStyle/>
          <a:p>
            <a:pPr indent="0" marL="0">
              <a:buNone/>
            </a:pPr>
            <a:r>
              <a:rPr lang="en-US" sz="850" spc="100" kern="0" dirty="0">
                <a:solidFill>
                  <a:srgbClr val="8D8D8D"/>
                </a:solidFill>
                <a:latin typeface="IBM Plex Mono" pitchFamily="34" charset="0"/>
                <a:ea typeface="IBM Plex Mono" pitchFamily="34" charset="-122"/>
                <a:cs typeface="IBM Plex Mono" pitchFamily="34" charset="-120"/>
              </a:rPr>
              <a:t>AUJOURD'HUI</a:t>
            </a:r>
            <a:endParaRPr lang="en-US" sz="850" dirty="0"/>
          </a:p>
        </p:txBody>
      </p:sp>
      <p:sp>
        <p:nvSpPr>
          <p:cNvPr id="21" name="Text 17"/>
          <p:cNvSpPr/>
          <p:nvPr/>
        </p:nvSpPr>
        <p:spPr>
          <a:xfrm>
            <a:off x="3867912" y="3886200"/>
            <a:ext cx="2258568" cy="548640"/>
          </a:xfrm>
          <a:prstGeom prst="rect">
            <a:avLst/>
          </a:prstGeom>
          <a:noFill/>
          <a:ln/>
        </p:spPr>
        <p:txBody>
          <a:bodyPr wrap="square" rtlCol="0" anchor="t"/>
          <a:lstStyle/>
          <a:p>
            <a:pPr indent="0" marL="0">
              <a:lnSpc>
                <a:spcPct val="110000"/>
              </a:lnSpc>
              <a:buNone/>
            </a:pPr>
            <a:r>
              <a:rPr lang="en-US" sz="1100" dirty="0">
                <a:solidFill>
                  <a:srgbClr val="C6C6C6"/>
                </a:solidFill>
                <a:latin typeface="IBM Plex Sans" pitchFamily="34" charset="0"/>
                <a:ea typeface="IBM Plex Sans" pitchFamily="34" charset="-122"/>
                <a:cs typeface="IBM Plex Sans" pitchFamily="34" charset="-120"/>
              </a:rPr>
              <a:t>Auteur du code, debug, revue manuelle.</a:t>
            </a:r>
            <a:endParaRPr lang="en-US" sz="1100" dirty="0"/>
          </a:p>
        </p:txBody>
      </p:sp>
      <p:sp>
        <p:nvSpPr>
          <p:cNvPr id="22" name="Text 18"/>
          <p:cNvSpPr/>
          <p:nvPr/>
        </p:nvSpPr>
        <p:spPr>
          <a:xfrm>
            <a:off x="3867912" y="4507992"/>
            <a:ext cx="2258568" cy="201168"/>
          </a:xfrm>
          <a:prstGeom prst="rect">
            <a:avLst/>
          </a:prstGeom>
          <a:noFill/>
          <a:ln/>
        </p:spPr>
        <p:txBody>
          <a:bodyPr wrap="square" lIns="0" tIns="0" rIns="0" bIns="0" rtlCol="0" anchor="ctr"/>
          <a:lstStyle/>
          <a:p>
            <a:pPr indent="0" marL="0">
              <a:buNone/>
            </a:pPr>
            <a:r>
              <a:rPr lang="en-US" sz="850" spc="100" kern="0" dirty="0">
                <a:solidFill>
                  <a:srgbClr val="78A9FF"/>
                </a:solidFill>
                <a:latin typeface="IBM Plex Mono" pitchFamily="34" charset="0"/>
                <a:ea typeface="IBM Plex Mono" pitchFamily="34" charset="-122"/>
                <a:cs typeface="IBM Plex Mono" pitchFamily="34" charset="-120"/>
              </a:rPr>
              <a:t>DEMAIN</a:t>
            </a:r>
            <a:endParaRPr lang="en-US" sz="850" dirty="0"/>
          </a:p>
        </p:txBody>
      </p:sp>
      <p:sp>
        <p:nvSpPr>
          <p:cNvPr id="23" name="Text 19"/>
          <p:cNvSpPr/>
          <p:nvPr/>
        </p:nvSpPr>
        <p:spPr>
          <a:xfrm>
            <a:off x="3867912" y="4754880"/>
            <a:ext cx="2258568" cy="1463040"/>
          </a:xfrm>
          <a:prstGeom prst="rect">
            <a:avLst/>
          </a:prstGeom>
          <a:noFill/>
          <a:ln/>
        </p:spPr>
        <p:txBody>
          <a:bodyPr wrap="square" rtlCol="0" anchor="t"/>
          <a:lstStyle/>
          <a:p>
            <a:pPr indent="0" marL="0">
              <a:lnSpc>
                <a:spcPct val="112000"/>
              </a:lnSpc>
              <a:buNone/>
            </a:pPr>
            <a:r>
              <a:rPr lang="en-US" sz="1100" dirty="0">
                <a:solidFill>
                  <a:srgbClr val="E0E0E0"/>
                </a:solidFill>
                <a:latin typeface="IBM Plex Sans" pitchFamily="34" charset="0"/>
                <a:ea typeface="IBM Plex Sans" pitchFamily="34" charset="-122"/>
                <a:cs typeface="IBM Plex Sans" pitchFamily="34" charset="-120"/>
              </a:rPr>
              <a:t>De créateur à gouverneur : orchestre et audite les agents, architecture les flux. Juniors via mob programming, seniors en Agent Reliability.</a:t>
            </a:r>
            <a:endParaRPr lang="en-US" sz="1100" dirty="0"/>
          </a:p>
        </p:txBody>
      </p:sp>
      <p:sp>
        <p:nvSpPr>
          <p:cNvPr id="24" name="Shape 20"/>
          <p:cNvSpPr/>
          <p:nvPr/>
        </p:nvSpPr>
        <p:spPr>
          <a:xfrm>
            <a:off x="6446520" y="1965960"/>
            <a:ext cx="2715768" cy="4389120"/>
          </a:xfrm>
          <a:prstGeom prst="rect">
            <a:avLst/>
          </a:prstGeom>
          <a:solidFill>
            <a:srgbClr val="262626"/>
          </a:solidFill>
          <a:ln/>
        </p:spPr>
      </p:sp>
      <p:sp>
        <p:nvSpPr>
          <p:cNvPr id="25" name="Shape 21"/>
          <p:cNvSpPr/>
          <p:nvPr/>
        </p:nvSpPr>
        <p:spPr>
          <a:xfrm>
            <a:off x="6446520" y="1965960"/>
            <a:ext cx="2715768" cy="64008"/>
          </a:xfrm>
          <a:prstGeom prst="rect">
            <a:avLst/>
          </a:prstGeom>
          <a:solidFill>
            <a:srgbClr val="8A3FFC"/>
          </a:solidFill>
          <a:ln/>
        </p:spPr>
      </p:sp>
      <p:sp>
        <p:nvSpPr>
          <p:cNvPr id="26" name="Shape 22"/>
          <p:cNvSpPr/>
          <p:nvPr/>
        </p:nvSpPr>
        <p:spPr>
          <a:xfrm>
            <a:off x="6739128" y="2258568"/>
            <a:ext cx="658368" cy="658368"/>
          </a:xfrm>
          <a:prstGeom prst="ellipse">
            <a:avLst/>
          </a:prstGeom>
          <a:solidFill>
            <a:srgbClr val="161616"/>
          </a:solidFill>
          <a:ln w="12700">
            <a:solidFill>
              <a:srgbClr val="8A3FFC"/>
            </a:solidFill>
            <a:prstDash val="solid"/>
          </a:ln>
        </p:spPr>
      </p:sp>
      <p:pic>
        <p:nvPicPr>
          <p:cNvPr id="27" name="Image 2" descr="preencoded.png">    </p:cNvPr>
          <p:cNvPicPr>
            <a:picLocks noChangeAspect="1"/>
          </p:cNvPicPr>
          <p:nvPr/>
        </p:nvPicPr>
        <p:blipFill>
          <a:blip r:embed="rId3"/>
          <a:stretch>
            <a:fillRect/>
          </a:stretch>
        </p:blipFill>
        <p:spPr>
          <a:xfrm>
            <a:off x="6894576" y="2414016"/>
            <a:ext cx="347472" cy="347472"/>
          </a:xfrm>
          <a:prstGeom prst="rect">
            <a:avLst/>
          </a:prstGeom>
        </p:spPr>
      </p:pic>
      <p:sp>
        <p:nvSpPr>
          <p:cNvPr id="28" name="Text 23"/>
          <p:cNvSpPr/>
          <p:nvPr/>
        </p:nvSpPr>
        <p:spPr>
          <a:xfrm>
            <a:off x="6702552" y="3044952"/>
            <a:ext cx="2258568" cy="502920"/>
          </a:xfrm>
          <a:prstGeom prst="rect">
            <a:avLst/>
          </a:prstGeom>
          <a:noFill/>
          <a:ln/>
        </p:spPr>
        <p:txBody>
          <a:bodyPr wrap="square" rtlCol="0" anchor="t"/>
          <a:lstStyle/>
          <a:p>
            <a:pPr indent="0" marL="0">
              <a:buNone/>
            </a:pPr>
            <a:r>
              <a:rPr lang="en-US" sz="1450" b="1" dirty="0">
                <a:solidFill>
                  <a:srgbClr val="FFFFFF"/>
                </a:solidFill>
                <a:latin typeface="IBM Plex Sans" pitchFamily="34" charset="0"/>
                <a:ea typeface="IBM Plex Sans" pitchFamily="34" charset="-122"/>
                <a:cs typeface="IBM Plex Sans" pitchFamily="34" charset="-120"/>
              </a:rPr>
              <a:t>Architecte</a:t>
            </a:r>
            <a:endParaRPr lang="en-US" sz="1450" dirty="0"/>
          </a:p>
        </p:txBody>
      </p:sp>
      <p:sp>
        <p:nvSpPr>
          <p:cNvPr id="29" name="Text 24"/>
          <p:cNvSpPr/>
          <p:nvPr/>
        </p:nvSpPr>
        <p:spPr>
          <a:xfrm>
            <a:off x="6702552" y="3657600"/>
            <a:ext cx="2258568" cy="201168"/>
          </a:xfrm>
          <a:prstGeom prst="rect">
            <a:avLst/>
          </a:prstGeom>
          <a:noFill/>
          <a:ln/>
        </p:spPr>
        <p:txBody>
          <a:bodyPr wrap="square" lIns="0" tIns="0" rIns="0" bIns="0" rtlCol="0" anchor="ctr"/>
          <a:lstStyle/>
          <a:p>
            <a:pPr indent="0" marL="0">
              <a:buNone/>
            </a:pPr>
            <a:r>
              <a:rPr lang="en-US" sz="850" spc="100" kern="0" dirty="0">
                <a:solidFill>
                  <a:srgbClr val="8D8D8D"/>
                </a:solidFill>
                <a:latin typeface="IBM Plex Mono" pitchFamily="34" charset="0"/>
                <a:ea typeface="IBM Plex Mono" pitchFamily="34" charset="-122"/>
                <a:cs typeface="IBM Plex Mono" pitchFamily="34" charset="-120"/>
              </a:rPr>
              <a:t>AUJOURD'HUI</a:t>
            </a:r>
            <a:endParaRPr lang="en-US" sz="850" dirty="0"/>
          </a:p>
        </p:txBody>
      </p:sp>
      <p:sp>
        <p:nvSpPr>
          <p:cNvPr id="30" name="Text 25"/>
          <p:cNvSpPr/>
          <p:nvPr/>
        </p:nvSpPr>
        <p:spPr>
          <a:xfrm>
            <a:off x="6702552" y="3886200"/>
            <a:ext cx="2258568" cy="548640"/>
          </a:xfrm>
          <a:prstGeom prst="rect">
            <a:avLst/>
          </a:prstGeom>
          <a:noFill/>
          <a:ln/>
        </p:spPr>
        <p:txBody>
          <a:bodyPr wrap="square" rtlCol="0" anchor="t"/>
          <a:lstStyle/>
          <a:p>
            <a:pPr indent="0" marL="0">
              <a:lnSpc>
                <a:spcPct val="110000"/>
              </a:lnSpc>
              <a:buNone/>
            </a:pPr>
            <a:r>
              <a:rPr lang="en-US" sz="1100" dirty="0">
                <a:solidFill>
                  <a:srgbClr val="C6C6C6"/>
                </a:solidFill>
                <a:latin typeface="IBM Plex Sans" pitchFamily="34" charset="0"/>
                <a:ea typeface="IBM Plex Sans" pitchFamily="34" charset="-122"/>
                <a:cs typeface="IBM Plex Sans" pitchFamily="34" charset="-120"/>
              </a:rPr>
              <a:t>Patterns techniques, arbitrages, doc.</a:t>
            </a:r>
            <a:endParaRPr lang="en-US" sz="1100" dirty="0"/>
          </a:p>
        </p:txBody>
      </p:sp>
      <p:sp>
        <p:nvSpPr>
          <p:cNvPr id="31" name="Text 26"/>
          <p:cNvSpPr/>
          <p:nvPr/>
        </p:nvSpPr>
        <p:spPr>
          <a:xfrm>
            <a:off x="6702552" y="4507992"/>
            <a:ext cx="2258568" cy="201168"/>
          </a:xfrm>
          <a:prstGeom prst="rect">
            <a:avLst/>
          </a:prstGeom>
          <a:noFill/>
          <a:ln/>
        </p:spPr>
        <p:txBody>
          <a:bodyPr wrap="square" lIns="0" tIns="0" rIns="0" bIns="0" rtlCol="0" anchor="ctr"/>
          <a:lstStyle/>
          <a:p>
            <a:pPr indent="0" marL="0">
              <a:buNone/>
            </a:pPr>
            <a:r>
              <a:rPr lang="en-US" sz="850" spc="100" kern="0" dirty="0">
                <a:solidFill>
                  <a:srgbClr val="8A3FFC"/>
                </a:solidFill>
                <a:latin typeface="IBM Plex Mono" pitchFamily="34" charset="0"/>
                <a:ea typeface="IBM Plex Mono" pitchFamily="34" charset="-122"/>
                <a:cs typeface="IBM Plex Mono" pitchFamily="34" charset="-120"/>
              </a:rPr>
              <a:t>DEMAIN</a:t>
            </a:r>
            <a:endParaRPr lang="en-US" sz="850" dirty="0"/>
          </a:p>
        </p:txBody>
      </p:sp>
      <p:sp>
        <p:nvSpPr>
          <p:cNvPr id="32" name="Text 27"/>
          <p:cNvSpPr/>
          <p:nvPr/>
        </p:nvSpPr>
        <p:spPr>
          <a:xfrm>
            <a:off x="6702552" y="4754880"/>
            <a:ext cx="2258568" cy="1463040"/>
          </a:xfrm>
          <a:prstGeom prst="rect">
            <a:avLst/>
          </a:prstGeom>
          <a:noFill/>
          <a:ln/>
        </p:spPr>
        <p:txBody>
          <a:bodyPr wrap="square" rtlCol="0" anchor="t"/>
          <a:lstStyle/>
          <a:p>
            <a:pPr indent="0" marL="0">
              <a:lnSpc>
                <a:spcPct val="112000"/>
              </a:lnSpc>
              <a:buNone/>
            </a:pPr>
            <a:r>
              <a:rPr lang="en-US" sz="1100" dirty="0">
                <a:solidFill>
                  <a:srgbClr val="E0E0E0"/>
                </a:solidFill>
                <a:latin typeface="IBM Plex Sans" pitchFamily="34" charset="0"/>
                <a:ea typeface="IBM Plex Sans" pitchFamily="34" charset="-122"/>
                <a:cs typeface="IBM Plex Sans" pitchFamily="34" charset="-120"/>
              </a:rPr>
              <a:t>Architecte du système agentic : guardrails, gouvernance des blueprints, cohérence multi-agents. L'architecture devient un asset majeur.</a:t>
            </a:r>
            <a:endParaRPr lang="en-US" sz="1100" dirty="0"/>
          </a:p>
        </p:txBody>
      </p:sp>
      <p:sp>
        <p:nvSpPr>
          <p:cNvPr id="33" name="Shape 28"/>
          <p:cNvSpPr/>
          <p:nvPr/>
        </p:nvSpPr>
        <p:spPr>
          <a:xfrm>
            <a:off x="9281160" y="1965960"/>
            <a:ext cx="2715768" cy="4389120"/>
          </a:xfrm>
          <a:prstGeom prst="rect">
            <a:avLst/>
          </a:prstGeom>
          <a:solidFill>
            <a:srgbClr val="262626"/>
          </a:solidFill>
          <a:ln/>
        </p:spPr>
      </p:sp>
      <p:sp>
        <p:nvSpPr>
          <p:cNvPr id="34" name="Shape 29"/>
          <p:cNvSpPr/>
          <p:nvPr/>
        </p:nvSpPr>
        <p:spPr>
          <a:xfrm>
            <a:off x="9281160" y="1965960"/>
            <a:ext cx="2715768" cy="64008"/>
          </a:xfrm>
          <a:prstGeom prst="rect">
            <a:avLst/>
          </a:prstGeom>
          <a:solidFill>
            <a:srgbClr val="08BDBA"/>
          </a:solidFill>
          <a:ln/>
        </p:spPr>
      </p:sp>
      <p:sp>
        <p:nvSpPr>
          <p:cNvPr id="35" name="Shape 30"/>
          <p:cNvSpPr/>
          <p:nvPr/>
        </p:nvSpPr>
        <p:spPr>
          <a:xfrm>
            <a:off x="9573768" y="2258568"/>
            <a:ext cx="658368" cy="658368"/>
          </a:xfrm>
          <a:prstGeom prst="ellipse">
            <a:avLst/>
          </a:prstGeom>
          <a:solidFill>
            <a:srgbClr val="161616"/>
          </a:solidFill>
          <a:ln w="12700">
            <a:solidFill>
              <a:srgbClr val="08BDBA"/>
            </a:solidFill>
            <a:prstDash val="solid"/>
          </a:ln>
        </p:spPr>
      </p:sp>
      <p:pic>
        <p:nvPicPr>
          <p:cNvPr id="36" name="Image 3" descr="preencoded.png">    </p:cNvPr>
          <p:cNvPicPr>
            <a:picLocks noChangeAspect="1"/>
          </p:cNvPicPr>
          <p:nvPr/>
        </p:nvPicPr>
        <p:blipFill>
          <a:blip r:embed="rId4"/>
          <a:stretch>
            <a:fillRect/>
          </a:stretch>
        </p:blipFill>
        <p:spPr>
          <a:xfrm>
            <a:off x="9729216" y="2414016"/>
            <a:ext cx="347472" cy="347472"/>
          </a:xfrm>
          <a:prstGeom prst="rect">
            <a:avLst/>
          </a:prstGeom>
        </p:spPr>
      </p:pic>
      <p:sp>
        <p:nvSpPr>
          <p:cNvPr id="37" name="Text 31"/>
          <p:cNvSpPr/>
          <p:nvPr/>
        </p:nvSpPr>
        <p:spPr>
          <a:xfrm>
            <a:off x="9537192" y="3044952"/>
            <a:ext cx="2258568" cy="502920"/>
          </a:xfrm>
          <a:prstGeom prst="rect">
            <a:avLst/>
          </a:prstGeom>
          <a:noFill/>
          <a:ln/>
        </p:spPr>
        <p:txBody>
          <a:bodyPr wrap="square" rtlCol="0" anchor="t"/>
          <a:lstStyle/>
          <a:p>
            <a:pPr indent="0" marL="0">
              <a:buNone/>
            </a:pPr>
            <a:r>
              <a:rPr lang="en-US" sz="1450" b="1" dirty="0">
                <a:solidFill>
                  <a:srgbClr val="FFFFFF"/>
                </a:solidFill>
                <a:latin typeface="IBM Plex Sans" pitchFamily="34" charset="0"/>
                <a:ea typeface="IBM Plex Sans" pitchFamily="34" charset="-122"/>
                <a:cs typeface="IBM Plex Sans" pitchFamily="34" charset="-120"/>
              </a:rPr>
              <a:t>Chef de projet / DM</a:t>
            </a:r>
            <a:endParaRPr lang="en-US" sz="1450" dirty="0"/>
          </a:p>
        </p:txBody>
      </p:sp>
      <p:sp>
        <p:nvSpPr>
          <p:cNvPr id="38" name="Text 32"/>
          <p:cNvSpPr/>
          <p:nvPr/>
        </p:nvSpPr>
        <p:spPr>
          <a:xfrm>
            <a:off x="9537192" y="3657600"/>
            <a:ext cx="2258568" cy="201168"/>
          </a:xfrm>
          <a:prstGeom prst="rect">
            <a:avLst/>
          </a:prstGeom>
          <a:noFill/>
          <a:ln/>
        </p:spPr>
        <p:txBody>
          <a:bodyPr wrap="square" lIns="0" tIns="0" rIns="0" bIns="0" rtlCol="0" anchor="ctr"/>
          <a:lstStyle/>
          <a:p>
            <a:pPr indent="0" marL="0">
              <a:buNone/>
            </a:pPr>
            <a:r>
              <a:rPr lang="en-US" sz="850" spc="100" kern="0" dirty="0">
                <a:solidFill>
                  <a:srgbClr val="8D8D8D"/>
                </a:solidFill>
                <a:latin typeface="IBM Plex Mono" pitchFamily="34" charset="0"/>
                <a:ea typeface="IBM Plex Mono" pitchFamily="34" charset="-122"/>
                <a:cs typeface="IBM Plex Mono" pitchFamily="34" charset="-120"/>
              </a:rPr>
              <a:t>AUJOURD'HUI</a:t>
            </a:r>
            <a:endParaRPr lang="en-US" sz="850" dirty="0"/>
          </a:p>
        </p:txBody>
      </p:sp>
      <p:sp>
        <p:nvSpPr>
          <p:cNvPr id="39" name="Text 33"/>
          <p:cNvSpPr/>
          <p:nvPr/>
        </p:nvSpPr>
        <p:spPr>
          <a:xfrm>
            <a:off x="9537192" y="3886200"/>
            <a:ext cx="2258568" cy="548640"/>
          </a:xfrm>
          <a:prstGeom prst="rect">
            <a:avLst/>
          </a:prstGeom>
          <a:noFill/>
          <a:ln/>
        </p:spPr>
        <p:txBody>
          <a:bodyPr wrap="square" rtlCol="0" anchor="t"/>
          <a:lstStyle/>
          <a:p>
            <a:pPr indent="0" marL="0">
              <a:lnSpc>
                <a:spcPct val="110000"/>
              </a:lnSpc>
              <a:buNone/>
            </a:pPr>
            <a:r>
              <a:rPr lang="en-US" sz="1100" dirty="0">
                <a:solidFill>
                  <a:srgbClr val="C6C6C6"/>
                </a:solidFill>
                <a:latin typeface="IBM Plex Sans" pitchFamily="34" charset="0"/>
                <a:ea typeface="IBM Plex Sans" pitchFamily="34" charset="-122"/>
                <a:cs typeface="IBM Plex Sans" pitchFamily="34" charset="-120"/>
              </a:rPr>
              <a:t>Planning, suivi, coordination, reporting.</a:t>
            </a:r>
            <a:endParaRPr lang="en-US" sz="1100" dirty="0"/>
          </a:p>
        </p:txBody>
      </p:sp>
      <p:sp>
        <p:nvSpPr>
          <p:cNvPr id="40" name="Text 34"/>
          <p:cNvSpPr/>
          <p:nvPr/>
        </p:nvSpPr>
        <p:spPr>
          <a:xfrm>
            <a:off x="9537192" y="4507992"/>
            <a:ext cx="2258568" cy="201168"/>
          </a:xfrm>
          <a:prstGeom prst="rect">
            <a:avLst/>
          </a:prstGeom>
          <a:noFill/>
          <a:ln/>
        </p:spPr>
        <p:txBody>
          <a:bodyPr wrap="square" lIns="0" tIns="0" rIns="0" bIns="0" rtlCol="0" anchor="ctr"/>
          <a:lstStyle/>
          <a:p>
            <a:pPr indent="0" marL="0">
              <a:buNone/>
            </a:pPr>
            <a:r>
              <a:rPr lang="en-US" sz="850" spc="100" kern="0" dirty="0">
                <a:solidFill>
                  <a:srgbClr val="08BDBA"/>
                </a:solidFill>
                <a:latin typeface="IBM Plex Mono" pitchFamily="34" charset="0"/>
                <a:ea typeface="IBM Plex Mono" pitchFamily="34" charset="-122"/>
                <a:cs typeface="IBM Plex Mono" pitchFamily="34" charset="-120"/>
              </a:rPr>
              <a:t>DEMAIN</a:t>
            </a:r>
            <a:endParaRPr lang="en-US" sz="850" dirty="0"/>
          </a:p>
        </p:txBody>
      </p:sp>
      <p:sp>
        <p:nvSpPr>
          <p:cNvPr id="41" name="Text 35"/>
          <p:cNvSpPr/>
          <p:nvPr/>
        </p:nvSpPr>
        <p:spPr>
          <a:xfrm>
            <a:off x="9537192" y="4754880"/>
            <a:ext cx="2258568" cy="1463040"/>
          </a:xfrm>
          <a:prstGeom prst="rect">
            <a:avLst/>
          </a:prstGeom>
          <a:noFill/>
          <a:ln/>
        </p:spPr>
        <p:txBody>
          <a:bodyPr wrap="square" rtlCol="0" anchor="t"/>
          <a:lstStyle/>
          <a:p>
            <a:pPr indent="0" marL="0">
              <a:lnSpc>
                <a:spcPct val="112000"/>
              </a:lnSpc>
              <a:buNone/>
            </a:pPr>
            <a:r>
              <a:rPr lang="en-US" sz="1100" dirty="0">
                <a:solidFill>
                  <a:srgbClr val="E0E0E0"/>
                </a:solidFill>
                <a:latin typeface="IBM Plex Sans" pitchFamily="34" charset="0"/>
                <a:ea typeface="IBM Plex Sans" pitchFamily="34" charset="-122"/>
                <a:cs typeface="IBM Plex Sans" pitchFamily="34" charset="-120"/>
              </a:rPr>
              <a:t>Pilotage des flux agentiques, supervision « human-on-the-loop », gestion de la dérive, AI FinOps (coût LLM, ROI des agents).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4"/>
        </a:solidFill>
      </p:bgPr>
    </p:bg>
    <p:spTree>
      <p:nvGrpSpPr>
        <p:cNvPr id="1" name=""/>
        <p:cNvGrpSpPr/>
        <p:nvPr/>
      </p:nvGrpSpPr>
      <p:grpSpPr>
        <a:xfrm>
          <a:off x="0" y="0"/>
          <a:ext cx="0" cy="0"/>
          <a:chOff x="0" y="0"/>
          <a:chExt cx="0" cy="0"/>
        </a:xfrm>
      </p:grpSpPr>
      <p:sp>
        <p:nvSpPr>
          <p:cNvPr id="2" name="Text 0"/>
          <p:cNvSpPr/>
          <p:nvPr/>
        </p:nvSpPr>
        <p:spPr>
          <a:xfrm>
            <a:off x="777240" y="457200"/>
            <a:ext cx="8229600" cy="320040"/>
          </a:xfrm>
          <a:prstGeom prst="rect">
            <a:avLst/>
          </a:prstGeom>
          <a:noFill/>
          <a:ln/>
        </p:spPr>
        <p:txBody>
          <a:bodyPr wrap="square" rtlCol="0" anchor="ctr"/>
          <a:lstStyle/>
          <a:p>
            <a:pPr indent="0" marL="0">
              <a:buNone/>
            </a:pPr>
            <a:r>
              <a:rPr lang="en-US" sz="1200" spc="150" kern="0" dirty="0">
                <a:solidFill>
                  <a:srgbClr val="0043CE"/>
                </a:solidFill>
                <a:latin typeface="IBM Plex Mono" pitchFamily="34" charset="0"/>
                <a:ea typeface="IBM Plex Mono" pitchFamily="34" charset="-122"/>
                <a:cs typeface="IBM Plex Mono" pitchFamily="34" charset="-120"/>
              </a:rPr>
              <a:t>03 — UN NOUVEAU MODÈLE DE DELIVERY</a:t>
            </a:r>
            <a:endParaRPr lang="en-US" sz="1200" dirty="0"/>
          </a:p>
        </p:txBody>
      </p:sp>
      <p:sp>
        <p:nvSpPr>
          <p:cNvPr id="3" name="Shape 1"/>
          <p:cNvSpPr/>
          <p:nvPr/>
        </p:nvSpPr>
        <p:spPr>
          <a:xfrm>
            <a:off x="777240" y="868680"/>
            <a:ext cx="64008" cy="384048"/>
          </a:xfrm>
          <a:prstGeom prst="rect">
            <a:avLst/>
          </a:prstGeom>
          <a:solidFill>
            <a:srgbClr val="0F62FE"/>
          </a:solidFill>
          <a:ln/>
        </p:spPr>
      </p:sp>
      <p:sp>
        <p:nvSpPr>
          <p:cNvPr id="4" name="Text 2"/>
          <p:cNvSpPr/>
          <p:nvPr/>
        </p:nvSpPr>
        <p:spPr>
          <a:xfrm>
            <a:off x="960120" y="822960"/>
            <a:ext cx="10972800" cy="548640"/>
          </a:xfrm>
          <a:prstGeom prst="rect">
            <a:avLst/>
          </a:prstGeom>
          <a:noFill/>
          <a:ln/>
        </p:spPr>
        <p:txBody>
          <a:bodyPr wrap="square" rtlCol="0" anchor="ctr"/>
          <a:lstStyle/>
          <a:p>
            <a:pPr indent="0" marL="0">
              <a:buNone/>
            </a:pPr>
            <a:r>
              <a:rPr lang="en-US" sz="2400" b="1" dirty="0">
                <a:solidFill>
                  <a:srgbClr val="161616"/>
                </a:solidFill>
                <a:latin typeface="IBM Plex Sans" pitchFamily="34" charset="0"/>
                <a:ea typeface="IBM Plex Sans" pitchFamily="34" charset="-122"/>
                <a:cs typeface="IBM Plex Sans" pitchFamily="34" charset="-120"/>
              </a:rPr>
              <a:t>Une organisation hybride : livrer plus, mieux, ensemble</a:t>
            </a:r>
            <a:endParaRPr lang="en-US" sz="2400" dirty="0"/>
          </a:p>
        </p:txBody>
      </p:sp>
      <p:sp>
        <p:nvSpPr>
          <p:cNvPr id="5" name="Shape 3"/>
          <p:cNvSpPr/>
          <p:nvPr/>
        </p:nvSpPr>
        <p:spPr>
          <a:xfrm>
            <a:off x="777240" y="1828800"/>
            <a:ext cx="3456432" cy="3657600"/>
          </a:xfrm>
          <a:prstGeom prst="rect">
            <a:avLst/>
          </a:prstGeom>
          <a:solidFill>
            <a:srgbClr val="FFFFFF"/>
          </a:solidFill>
          <a:ln/>
          <a:effectLst>
            <a:outerShdw sx="100000" sy="100000" kx="0" ky="0" algn="bl" rotWithShape="0" blurRad="101600" dist="25400" dir="8100000">
              <a:srgbClr val="000000">
                <a:alpha val="25000"/>
              </a:srgbClr>
            </a:outerShdw>
          </a:effectLst>
        </p:spPr>
      </p:sp>
      <p:sp>
        <p:nvSpPr>
          <p:cNvPr id="6" name="Text 4"/>
          <p:cNvSpPr/>
          <p:nvPr/>
        </p:nvSpPr>
        <p:spPr>
          <a:xfrm>
            <a:off x="1097280" y="2057400"/>
            <a:ext cx="1828800" cy="822960"/>
          </a:xfrm>
          <a:prstGeom prst="rect">
            <a:avLst/>
          </a:prstGeom>
          <a:noFill/>
          <a:ln/>
        </p:spPr>
        <p:txBody>
          <a:bodyPr wrap="square" rtlCol="0" anchor="ctr"/>
          <a:lstStyle/>
          <a:p>
            <a:pPr indent="0" marL="0">
              <a:buNone/>
            </a:pPr>
            <a:r>
              <a:rPr lang="en-US" sz="4400" b="1" dirty="0">
                <a:solidFill>
                  <a:srgbClr val="E0E0E0"/>
                </a:solidFill>
                <a:latin typeface="IBM Plex Sans" pitchFamily="34" charset="0"/>
                <a:ea typeface="IBM Plex Sans" pitchFamily="34" charset="-122"/>
                <a:cs typeface="IBM Plex Sans" pitchFamily="34" charset="-120"/>
              </a:rPr>
              <a:t>01</a:t>
            </a:r>
            <a:endParaRPr lang="en-US" sz="4400" dirty="0"/>
          </a:p>
        </p:txBody>
      </p:sp>
      <p:sp>
        <p:nvSpPr>
          <p:cNvPr id="7" name="Shape 5"/>
          <p:cNvSpPr/>
          <p:nvPr/>
        </p:nvSpPr>
        <p:spPr>
          <a:xfrm>
            <a:off x="3136392" y="2148840"/>
            <a:ext cx="777240" cy="777240"/>
          </a:xfrm>
          <a:prstGeom prst="ellipse">
            <a:avLst/>
          </a:prstGeom>
          <a:solidFill>
            <a:srgbClr val="161616"/>
          </a:solidFill>
          <a:ln/>
        </p:spPr>
      </p:sp>
      <p:pic>
        <p:nvPicPr>
          <p:cNvPr id="8" name="Image 0" descr="preencoded.png">    </p:cNvPr>
          <p:cNvPicPr>
            <a:picLocks noChangeAspect="1"/>
          </p:cNvPicPr>
          <p:nvPr/>
        </p:nvPicPr>
        <p:blipFill>
          <a:blip r:embed="rId1"/>
          <a:stretch>
            <a:fillRect/>
          </a:stretch>
        </p:blipFill>
        <p:spPr>
          <a:xfrm>
            <a:off x="3337560" y="2350008"/>
            <a:ext cx="384048" cy="384048"/>
          </a:xfrm>
          <a:prstGeom prst="rect">
            <a:avLst/>
          </a:prstGeom>
        </p:spPr>
      </p:pic>
      <p:sp>
        <p:nvSpPr>
          <p:cNvPr id="9" name="Text 6"/>
          <p:cNvSpPr/>
          <p:nvPr/>
        </p:nvSpPr>
        <p:spPr>
          <a:xfrm>
            <a:off x="1097280" y="3063240"/>
            <a:ext cx="2816352" cy="868680"/>
          </a:xfrm>
          <a:prstGeom prst="rect">
            <a:avLst/>
          </a:prstGeom>
          <a:noFill/>
          <a:ln/>
        </p:spPr>
        <p:txBody>
          <a:bodyPr wrap="square" rtlCol="0" anchor="ctr"/>
          <a:lstStyle/>
          <a:p>
            <a:pPr indent="0" marL="0">
              <a:lnSpc>
                <a:spcPct val="100000"/>
              </a:lnSpc>
              <a:buNone/>
            </a:pPr>
            <a:r>
              <a:rPr lang="en-US" sz="1700" b="1" dirty="0">
                <a:solidFill>
                  <a:srgbClr val="161616"/>
                </a:solidFill>
                <a:latin typeface="IBM Plex Sans" pitchFamily="34" charset="0"/>
                <a:ea typeface="IBM Plex Sans" pitchFamily="34" charset="-122"/>
                <a:cs typeface="IBM Plex Sans" pitchFamily="34" charset="-120"/>
              </a:rPr>
              <a:t>Des équipes plus petites, plus puissantes</a:t>
            </a:r>
            <a:endParaRPr lang="en-US" sz="1700" dirty="0"/>
          </a:p>
        </p:txBody>
      </p:sp>
      <p:sp>
        <p:nvSpPr>
          <p:cNvPr id="10" name="Text 7"/>
          <p:cNvSpPr/>
          <p:nvPr/>
        </p:nvSpPr>
        <p:spPr>
          <a:xfrm>
            <a:off x="1097280" y="3931920"/>
            <a:ext cx="2816352" cy="1417320"/>
          </a:xfrm>
          <a:prstGeom prst="rect">
            <a:avLst/>
          </a:prstGeom>
          <a:noFill/>
          <a:ln/>
        </p:spPr>
        <p:txBody>
          <a:bodyPr wrap="square" rtlCol="0" anchor="ctr"/>
          <a:lstStyle/>
          <a:p>
            <a:pPr indent="0" marL="0">
              <a:lnSpc>
                <a:spcPct val="118000"/>
              </a:lnSpc>
              <a:buNone/>
            </a:pPr>
            <a:r>
              <a:rPr lang="en-US" sz="1200" dirty="0">
                <a:solidFill>
                  <a:srgbClr val="525252"/>
                </a:solidFill>
                <a:latin typeface="IBM Plex Sans" pitchFamily="34" charset="0"/>
                <a:ea typeface="IBM Plex Sans" pitchFamily="34" charset="-122"/>
                <a:cs typeface="IBM Plex Sans" pitchFamily="34" charset="-120"/>
              </a:rPr>
              <a:t>Libérées du codage répétitif, des équipes réduites gèrent une charge cognitive plus large, de bout en bout. Les agents servent d'interfaces self-service pour résoudre les dépendances sans attendre.</a:t>
            </a:r>
            <a:endParaRPr lang="en-US" sz="1200" dirty="0"/>
          </a:p>
        </p:txBody>
      </p:sp>
      <p:sp>
        <p:nvSpPr>
          <p:cNvPr id="11" name="Shape 8"/>
          <p:cNvSpPr/>
          <p:nvPr/>
        </p:nvSpPr>
        <p:spPr>
          <a:xfrm>
            <a:off x="777240" y="5422392"/>
            <a:ext cx="3456432" cy="64008"/>
          </a:xfrm>
          <a:prstGeom prst="rect">
            <a:avLst/>
          </a:prstGeom>
          <a:solidFill>
            <a:srgbClr val="33B1FF"/>
          </a:solidFill>
          <a:ln/>
        </p:spPr>
      </p:sp>
      <p:sp>
        <p:nvSpPr>
          <p:cNvPr id="12" name="Shape 9"/>
          <p:cNvSpPr/>
          <p:nvPr/>
        </p:nvSpPr>
        <p:spPr>
          <a:xfrm>
            <a:off x="4489704" y="1828800"/>
            <a:ext cx="3456432" cy="3657600"/>
          </a:xfrm>
          <a:prstGeom prst="rect">
            <a:avLst/>
          </a:prstGeom>
          <a:solidFill>
            <a:srgbClr val="FFFFFF"/>
          </a:solidFill>
          <a:ln/>
          <a:effectLst>
            <a:outerShdw sx="100000" sy="100000" kx="0" ky="0" algn="bl" rotWithShape="0" blurRad="101600" dist="25400" dir="8100000">
              <a:srgbClr val="000000">
                <a:alpha val="25000"/>
              </a:srgbClr>
            </a:outerShdw>
          </a:effectLst>
        </p:spPr>
      </p:sp>
      <p:sp>
        <p:nvSpPr>
          <p:cNvPr id="13" name="Text 10"/>
          <p:cNvSpPr/>
          <p:nvPr/>
        </p:nvSpPr>
        <p:spPr>
          <a:xfrm>
            <a:off x="4809744" y="2057400"/>
            <a:ext cx="1828800" cy="822960"/>
          </a:xfrm>
          <a:prstGeom prst="rect">
            <a:avLst/>
          </a:prstGeom>
          <a:noFill/>
          <a:ln/>
        </p:spPr>
        <p:txBody>
          <a:bodyPr wrap="square" rtlCol="0" anchor="ctr"/>
          <a:lstStyle/>
          <a:p>
            <a:pPr indent="0" marL="0">
              <a:buNone/>
            </a:pPr>
            <a:r>
              <a:rPr lang="en-US" sz="4400" b="1" dirty="0">
                <a:solidFill>
                  <a:srgbClr val="E0E0E0"/>
                </a:solidFill>
                <a:latin typeface="IBM Plex Sans" pitchFamily="34" charset="0"/>
                <a:ea typeface="IBM Plex Sans" pitchFamily="34" charset="-122"/>
                <a:cs typeface="IBM Plex Sans" pitchFamily="34" charset="-120"/>
              </a:rPr>
              <a:t>02</a:t>
            </a:r>
            <a:endParaRPr lang="en-US" sz="4400" dirty="0"/>
          </a:p>
        </p:txBody>
      </p:sp>
      <p:sp>
        <p:nvSpPr>
          <p:cNvPr id="14" name="Shape 11"/>
          <p:cNvSpPr/>
          <p:nvPr/>
        </p:nvSpPr>
        <p:spPr>
          <a:xfrm>
            <a:off x="6848856" y="2148840"/>
            <a:ext cx="777240" cy="777240"/>
          </a:xfrm>
          <a:prstGeom prst="ellipse">
            <a:avLst/>
          </a:prstGeom>
          <a:solidFill>
            <a:srgbClr val="161616"/>
          </a:solidFill>
          <a:ln/>
        </p:spPr>
      </p:sp>
      <p:pic>
        <p:nvPicPr>
          <p:cNvPr id="15" name="Image 1" descr="preencoded.png">    </p:cNvPr>
          <p:cNvPicPr>
            <a:picLocks noChangeAspect="1"/>
          </p:cNvPicPr>
          <p:nvPr/>
        </p:nvPicPr>
        <p:blipFill>
          <a:blip r:embed="rId2"/>
          <a:stretch>
            <a:fillRect/>
          </a:stretch>
        </p:blipFill>
        <p:spPr>
          <a:xfrm>
            <a:off x="7050024" y="2350008"/>
            <a:ext cx="384048" cy="384048"/>
          </a:xfrm>
          <a:prstGeom prst="rect">
            <a:avLst/>
          </a:prstGeom>
        </p:spPr>
      </p:pic>
      <p:sp>
        <p:nvSpPr>
          <p:cNvPr id="16" name="Text 12"/>
          <p:cNvSpPr/>
          <p:nvPr/>
        </p:nvSpPr>
        <p:spPr>
          <a:xfrm>
            <a:off x="4809744" y="3063240"/>
            <a:ext cx="2816352" cy="868680"/>
          </a:xfrm>
          <a:prstGeom prst="rect">
            <a:avLst/>
          </a:prstGeom>
          <a:noFill/>
          <a:ln/>
        </p:spPr>
        <p:txBody>
          <a:bodyPr wrap="square" rtlCol="0" anchor="ctr"/>
          <a:lstStyle/>
          <a:p>
            <a:pPr indent="0" marL="0">
              <a:lnSpc>
                <a:spcPct val="100000"/>
              </a:lnSpc>
              <a:buNone/>
            </a:pPr>
            <a:r>
              <a:rPr lang="en-US" sz="1700" b="1" dirty="0">
                <a:solidFill>
                  <a:srgbClr val="161616"/>
                </a:solidFill>
                <a:latin typeface="IBM Plex Sans" pitchFamily="34" charset="0"/>
                <a:ea typeface="IBM Plex Sans" pitchFamily="34" charset="-122"/>
                <a:cs typeface="IBM Plex Sans" pitchFamily="34" charset="-120"/>
              </a:rPr>
              <a:t>Une gouvernance comme filet de sécurité</a:t>
            </a:r>
            <a:endParaRPr lang="en-US" sz="1700" dirty="0"/>
          </a:p>
        </p:txBody>
      </p:sp>
      <p:sp>
        <p:nvSpPr>
          <p:cNvPr id="17" name="Text 13"/>
          <p:cNvSpPr/>
          <p:nvPr/>
        </p:nvSpPr>
        <p:spPr>
          <a:xfrm>
            <a:off x="4809744" y="3931920"/>
            <a:ext cx="2816352" cy="1417320"/>
          </a:xfrm>
          <a:prstGeom prst="rect">
            <a:avLst/>
          </a:prstGeom>
          <a:noFill/>
          <a:ln/>
        </p:spPr>
        <p:txBody>
          <a:bodyPr wrap="square" rtlCol="0" anchor="ctr"/>
          <a:lstStyle/>
          <a:p>
            <a:pPr indent="0" marL="0">
              <a:lnSpc>
                <a:spcPct val="118000"/>
              </a:lnSpc>
              <a:buNone/>
            </a:pPr>
            <a:r>
              <a:rPr lang="en-US" sz="1200" dirty="0">
                <a:solidFill>
                  <a:srgbClr val="525252"/>
                </a:solidFill>
                <a:latin typeface="IBM Plex Sans" pitchFamily="34" charset="0"/>
                <a:ea typeface="IBM Plex Sans" pitchFamily="34" charset="-122"/>
                <a:cs typeface="IBM Plex Sans" pitchFamily="34" charset="-120"/>
              </a:rPr>
              <a:t>Les agents font des erreurs : la réponse est de les encadrer. Guardrails en policy-as-code, agents de validation, registre de confiance, métriques de fiabilité. La gouvernance rend le modèle viable à l'échelle.</a:t>
            </a:r>
            <a:endParaRPr lang="en-US" sz="1200" dirty="0"/>
          </a:p>
        </p:txBody>
      </p:sp>
      <p:sp>
        <p:nvSpPr>
          <p:cNvPr id="18" name="Shape 14"/>
          <p:cNvSpPr/>
          <p:nvPr/>
        </p:nvSpPr>
        <p:spPr>
          <a:xfrm>
            <a:off x="4489704" y="5422392"/>
            <a:ext cx="3456432" cy="64008"/>
          </a:xfrm>
          <a:prstGeom prst="rect">
            <a:avLst/>
          </a:prstGeom>
          <a:solidFill>
            <a:srgbClr val="42BE65"/>
          </a:solidFill>
          <a:ln/>
        </p:spPr>
      </p:sp>
      <p:sp>
        <p:nvSpPr>
          <p:cNvPr id="19" name="Shape 15"/>
          <p:cNvSpPr/>
          <p:nvPr/>
        </p:nvSpPr>
        <p:spPr>
          <a:xfrm>
            <a:off x="8202168" y="1828800"/>
            <a:ext cx="3456432" cy="3657600"/>
          </a:xfrm>
          <a:prstGeom prst="rect">
            <a:avLst/>
          </a:prstGeom>
          <a:solidFill>
            <a:srgbClr val="FFFFFF"/>
          </a:solidFill>
          <a:ln/>
          <a:effectLst>
            <a:outerShdw sx="100000" sy="100000" kx="0" ky="0" algn="bl" rotWithShape="0" blurRad="101600" dist="25400" dir="8100000">
              <a:srgbClr val="000000">
                <a:alpha val="25000"/>
              </a:srgbClr>
            </a:outerShdw>
          </a:effectLst>
        </p:spPr>
      </p:sp>
      <p:sp>
        <p:nvSpPr>
          <p:cNvPr id="20" name="Text 16"/>
          <p:cNvSpPr/>
          <p:nvPr/>
        </p:nvSpPr>
        <p:spPr>
          <a:xfrm>
            <a:off x="8522208" y="2057400"/>
            <a:ext cx="1828800" cy="822960"/>
          </a:xfrm>
          <a:prstGeom prst="rect">
            <a:avLst/>
          </a:prstGeom>
          <a:noFill/>
          <a:ln/>
        </p:spPr>
        <p:txBody>
          <a:bodyPr wrap="square" rtlCol="0" anchor="ctr"/>
          <a:lstStyle/>
          <a:p>
            <a:pPr indent="0" marL="0">
              <a:buNone/>
            </a:pPr>
            <a:r>
              <a:rPr lang="en-US" sz="4400" b="1" dirty="0">
                <a:solidFill>
                  <a:srgbClr val="E0E0E0"/>
                </a:solidFill>
                <a:latin typeface="IBM Plex Sans" pitchFamily="34" charset="0"/>
                <a:ea typeface="IBM Plex Sans" pitchFamily="34" charset="-122"/>
                <a:cs typeface="IBM Plex Sans" pitchFamily="34" charset="-120"/>
              </a:rPr>
              <a:t>03</a:t>
            </a:r>
            <a:endParaRPr lang="en-US" sz="4400" dirty="0"/>
          </a:p>
        </p:txBody>
      </p:sp>
      <p:sp>
        <p:nvSpPr>
          <p:cNvPr id="21" name="Shape 17"/>
          <p:cNvSpPr/>
          <p:nvPr/>
        </p:nvSpPr>
        <p:spPr>
          <a:xfrm>
            <a:off x="10561320" y="2148840"/>
            <a:ext cx="777240" cy="777240"/>
          </a:xfrm>
          <a:prstGeom prst="ellipse">
            <a:avLst/>
          </a:prstGeom>
          <a:solidFill>
            <a:srgbClr val="161616"/>
          </a:solidFill>
          <a:ln/>
        </p:spPr>
      </p:sp>
      <p:pic>
        <p:nvPicPr>
          <p:cNvPr id="22" name="Image 2" descr="preencoded.png">    </p:cNvPr>
          <p:cNvPicPr>
            <a:picLocks noChangeAspect="1"/>
          </p:cNvPicPr>
          <p:nvPr/>
        </p:nvPicPr>
        <p:blipFill>
          <a:blip r:embed="rId3"/>
          <a:stretch>
            <a:fillRect/>
          </a:stretch>
        </p:blipFill>
        <p:spPr>
          <a:xfrm>
            <a:off x="10762488" y="2350008"/>
            <a:ext cx="384048" cy="384048"/>
          </a:xfrm>
          <a:prstGeom prst="rect">
            <a:avLst/>
          </a:prstGeom>
        </p:spPr>
      </p:pic>
      <p:sp>
        <p:nvSpPr>
          <p:cNvPr id="23" name="Text 18"/>
          <p:cNvSpPr/>
          <p:nvPr/>
        </p:nvSpPr>
        <p:spPr>
          <a:xfrm>
            <a:off x="8522208" y="3063240"/>
            <a:ext cx="2816352" cy="868680"/>
          </a:xfrm>
          <a:prstGeom prst="rect">
            <a:avLst/>
          </a:prstGeom>
          <a:noFill/>
          <a:ln/>
        </p:spPr>
        <p:txBody>
          <a:bodyPr wrap="square" rtlCol="0" anchor="ctr"/>
          <a:lstStyle/>
          <a:p>
            <a:pPr indent="0" marL="0">
              <a:lnSpc>
                <a:spcPct val="100000"/>
              </a:lnSpc>
              <a:buNone/>
            </a:pPr>
            <a:r>
              <a:rPr lang="en-US" sz="1700" b="1" dirty="0">
                <a:solidFill>
                  <a:srgbClr val="161616"/>
                </a:solidFill>
                <a:latin typeface="IBM Plex Sans" pitchFamily="34" charset="0"/>
                <a:ea typeface="IBM Plex Sans" pitchFamily="34" charset="-122"/>
                <a:cs typeface="IBM Plex Sans" pitchFamily="34" charset="-120"/>
              </a:rPr>
              <a:t>Un changement culturel avant tout</a:t>
            </a:r>
            <a:endParaRPr lang="en-US" sz="1700" dirty="0"/>
          </a:p>
        </p:txBody>
      </p:sp>
      <p:sp>
        <p:nvSpPr>
          <p:cNvPr id="24" name="Text 19"/>
          <p:cNvSpPr/>
          <p:nvPr/>
        </p:nvSpPr>
        <p:spPr>
          <a:xfrm>
            <a:off x="8522208" y="3931920"/>
            <a:ext cx="2816352" cy="1417320"/>
          </a:xfrm>
          <a:prstGeom prst="rect">
            <a:avLst/>
          </a:prstGeom>
          <a:noFill/>
          <a:ln/>
        </p:spPr>
        <p:txBody>
          <a:bodyPr wrap="square" rtlCol="0" anchor="ctr"/>
          <a:lstStyle/>
          <a:p>
            <a:pPr indent="0" marL="0">
              <a:lnSpc>
                <a:spcPct val="118000"/>
              </a:lnSpc>
              <a:buNone/>
            </a:pPr>
            <a:r>
              <a:rPr lang="en-US" sz="1200" dirty="0">
                <a:solidFill>
                  <a:srgbClr val="525252"/>
                </a:solidFill>
                <a:latin typeface="IBM Plex Sans" pitchFamily="34" charset="0"/>
                <a:ea typeface="IBM Plex Sans" pitchFamily="34" charset="-122"/>
                <a:cs typeface="IBM Plex Sans" pitchFamily="34" charset="-120"/>
              </a:rPr>
              <a:t>La dimension la plus négligée et la plus déterminante. Le « héros du code » laisse place au « system thinker » : scepticisme sain, mob programming central, droit à l'erreur comme apprentissage.</a:t>
            </a:r>
            <a:endParaRPr lang="en-US" sz="1200" dirty="0"/>
          </a:p>
        </p:txBody>
      </p:sp>
      <p:sp>
        <p:nvSpPr>
          <p:cNvPr id="25" name="Shape 20"/>
          <p:cNvSpPr/>
          <p:nvPr/>
        </p:nvSpPr>
        <p:spPr>
          <a:xfrm>
            <a:off x="8202168" y="5422392"/>
            <a:ext cx="3456432" cy="64008"/>
          </a:xfrm>
          <a:prstGeom prst="rect">
            <a:avLst/>
          </a:prstGeom>
          <a:solidFill>
            <a:srgbClr val="08BDBA"/>
          </a:solidFill>
          <a:ln/>
        </p:spPr>
      </p:sp>
      <p:sp>
        <p:nvSpPr>
          <p:cNvPr id="26" name="Shape 21"/>
          <p:cNvSpPr/>
          <p:nvPr/>
        </p:nvSpPr>
        <p:spPr>
          <a:xfrm>
            <a:off x="777240" y="5806440"/>
            <a:ext cx="10607040" cy="566928"/>
          </a:xfrm>
          <a:prstGeom prst="rect">
            <a:avLst/>
          </a:prstGeom>
          <a:solidFill>
            <a:srgbClr val="161616"/>
          </a:solidFill>
          <a:ln/>
        </p:spPr>
      </p:sp>
      <p:sp>
        <p:nvSpPr>
          <p:cNvPr id="27" name="Text 22"/>
          <p:cNvSpPr/>
          <p:nvPr/>
        </p:nvSpPr>
        <p:spPr>
          <a:xfrm>
            <a:off x="1005840" y="5806440"/>
            <a:ext cx="10149840" cy="566928"/>
          </a:xfrm>
          <a:prstGeom prst="rect">
            <a:avLst/>
          </a:prstGeom>
          <a:noFill/>
          <a:ln/>
        </p:spPr>
        <p:txBody>
          <a:bodyPr wrap="square" rtlCol="0" anchor="ctr"/>
          <a:lstStyle/>
          <a:p>
            <a:pPr indent="0" marL="0">
              <a:buNone/>
            </a:pPr>
            <a:r>
              <a:rPr lang="en-US" sz="1300" i="1" dirty="0">
                <a:solidFill>
                  <a:srgbClr val="E0E0E0"/>
                </a:solidFill>
                <a:latin typeface="IBM Plex Sans" pitchFamily="34" charset="0"/>
                <a:ea typeface="IBM Plex Sans" pitchFamily="34" charset="-122"/>
                <a:cs typeface="IBM Plex Sans" pitchFamily="34" charset="-120"/>
              </a:rPr>
              <a:t>Un voyage organisationnel complet — technologie, talent, structure, gouvernance, culture — à piloter en parallèle.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616"/>
        </a:solidFill>
      </p:bgPr>
    </p:bg>
    <p:spTree>
      <p:nvGrpSpPr>
        <p:cNvPr id="1" name=""/>
        <p:cNvGrpSpPr/>
        <p:nvPr/>
      </p:nvGrpSpPr>
      <p:grpSpPr>
        <a:xfrm>
          <a:off x="0" y="0"/>
          <a:ext cx="0" cy="0"/>
          <a:chOff x="0" y="0"/>
          <a:chExt cx="0" cy="0"/>
        </a:xfrm>
      </p:grpSpPr>
      <p:sp>
        <p:nvSpPr>
          <p:cNvPr id="2" name="Text 0"/>
          <p:cNvSpPr/>
          <p:nvPr/>
        </p:nvSpPr>
        <p:spPr>
          <a:xfrm>
            <a:off x="777240" y="457200"/>
            <a:ext cx="8229600" cy="320040"/>
          </a:xfrm>
          <a:prstGeom prst="rect">
            <a:avLst/>
          </a:prstGeom>
          <a:noFill/>
          <a:ln/>
        </p:spPr>
        <p:txBody>
          <a:bodyPr wrap="square" rtlCol="0" anchor="ctr"/>
          <a:lstStyle/>
          <a:p>
            <a:pPr indent="0" marL="0">
              <a:buNone/>
            </a:pPr>
            <a:r>
              <a:rPr lang="en-US" sz="1200" spc="150" kern="0" dirty="0">
                <a:solidFill>
                  <a:srgbClr val="F1C21B"/>
                </a:solidFill>
                <a:latin typeface="IBM Plex Mono" pitchFamily="34" charset="0"/>
                <a:ea typeface="IBM Plex Mono" pitchFamily="34" charset="-122"/>
                <a:cs typeface="IBM Plex Mono" pitchFamily="34" charset="-120"/>
              </a:rPr>
              <a:t>04 — LA TRANSFORMATION DES TALENTS</a:t>
            </a:r>
            <a:endParaRPr lang="en-US" sz="1200" dirty="0"/>
          </a:p>
        </p:txBody>
      </p:sp>
      <p:sp>
        <p:nvSpPr>
          <p:cNvPr id="3" name="Shape 1"/>
          <p:cNvSpPr/>
          <p:nvPr/>
        </p:nvSpPr>
        <p:spPr>
          <a:xfrm>
            <a:off x="777240" y="868680"/>
            <a:ext cx="64008" cy="384048"/>
          </a:xfrm>
          <a:prstGeom prst="rect">
            <a:avLst/>
          </a:prstGeom>
          <a:solidFill>
            <a:srgbClr val="F1C21B"/>
          </a:solidFill>
          <a:ln/>
        </p:spPr>
      </p:sp>
      <p:sp>
        <p:nvSpPr>
          <p:cNvPr id="4" name="Text 2"/>
          <p:cNvSpPr/>
          <p:nvPr/>
        </p:nvSpPr>
        <p:spPr>
          <a:xfrm>
            <a:off x="960120" y="804672"/>
            <a:ext cx="10515600" cy="548640"/>
          </a:xfrm>
          <a:prstGeom prst="rect">
            <a:avLst/>
          </a:prstGeom>
          <a:noFill/>
          <a:ln/>
        </p:spPr>
        <p:txBody>
          <a:bodyPr wrap="square" rtlCol="0" anchor="ctr"/>
          <a:lstStyle/>
          <a:p>
            <a:pPr indent="0" marL="0">
              <a:buNone/>
            </a:pPr>
            <a:r>
              <a:rPr lang="en-US" sz="2800" b="1" dirty="0">
                <a:solidFill>
                  <a:srgbClr val="FFFFFF"/>
                </a:solidFill>
                <a:latin typeface="IBM Plex Sans" pitchFamily="34" charset="0"/>
                <a:ea typeface="IBM Plex Sans" pitchFamily="34" charset="-122"/>
                <a:cs typeface="IBM Plex Sans" pitchFamily="34" charset="-120"/>
              </a:rPr>
              <a:t>Upskiller maintenant, ou subir le goulot demain</a:t>
            </a:r>
            <a:endParaRPr lang="en-US" sz="2800" dirty="0"/>
          </a:p>
        </p:txBody>
      </p:sp>
      <p:sp>
        <p:nvSpPr>
          <p:cNvPr id="5" name="Text 3"/>
          <p:cNvSpPr/>
          <p:nvPr/>
        </p:nvSpPr>
        <p:spPr>
          <a:xfrm>
            <a:off x="777240" y="1417320"/>
            <a:ext cx="10607040" cy="502920"/>
          </a:xfrm>
          <a:prstGeom prst="rect">
            <a:avLst/>
          </a:prstGeom>
          <a:noFill/>
          <a:ln/>
        </p:spPr>
        <p:txBody>
          <a:bodyPr wrap="square" rtlCol="0" anchor="ctr"/>
          <a:lstStyle/>
          <a:p>
            <a:pPr indent="0" marL="0">
              <a:lnSpc>
                <a:spcPct val="115000"/>
              </a:lnSpc>
              <a:buNone/>
            </a:pPr>
            <a:r>
              <a:rPr lang="en-US" sz="1400" i="1" dirty="0">
                <a:solidFill>
                  <a:srgbClr val="C6C6C6"/>
                </a:solidFill>
                <a:latin typeface="IBM Plex Sans" pitchFamily="34" charset="0"/>
                <a:ea typeface="IBM Plex Sans" pitchFamily="34" charset="-122"/>
                <a:cs typeface="IBM Plex Sans" pitchFamily="34" charset="-120"/>
              </a:rPr>
              <a:t>Le vrai risque n'est pas que l'IA remplace les équipes — c'est qu'elle les dépasse, faute d'avoir investi à temps. L'upskilling est le facteur limitant de toute la transformation.</a:t>
            </a:r>
            <a:endParaRPr lang="en-US" sz="1400" dirty="0"/>
          </a:p>
        </p:txBody>
      </p:sp>
      <p:sp>
        <p:nvSpPr>
          <p:cNvPr id="6" name="Shape 4"/>
          <p:cNvSpPr/>
          <p:nvPr/>
        </p:nvSpPr>
        <p:spPr>
          <a:xfrm>
            <a:off x="777240" y="2148840"/>
            <a:ext cx="3456432" cy="3657600"/>
          </a:xfrm>
          <a:prstGeom prst="rect">
            <a:avLst/>
          </a:prstGeom>
          <a:solidFill>
            <a:srgbClr val="262626"/>
          </a:solidFill>
          <a:ln/>
        </p:spPr>
      </p:sp>
      <p:sp>
        <p:nvSpPr>
          <p:cNvPr id="7" name="Shape 5"/>
          <p:cNvSpPr/>
          <p:nvPr/>
        </p:nvSpPr>
        <p:spPr>
          <a:xfrm>
            <a:off x="777240" y="2148840"/>
            <a:ext cx="3456432" cy="64008"/>
          </a:xfrm>
          <a:prstGeom prst="rect">
            <a:avLst/>
          </a:prstGeom>
          <a:solidFill>
            <a:srgbClr val="78A9FF"/>
          </a:solidFill>
          <a:ln/>
        </p:spPr>
      </p:sp>
      <p:sp>
        <p:nvSpPr>
          <p:cNvPr id="8" name="Shape 6"/>
          <p:cNvSpPr/>
          <p:nvPr/>
        </p:nvSpPr>
        <p:spPr>
          <a:xfrm>
            <a:off x="1097280" y="2514600"/>
            <a:ext cx="777240" cy="777240"/>
          </a:xfrm>
          <a:prstGeom prst="ellipse">
            <a:avLst/>
          </a:prstGeom>
          <a:solidFill>
            <a:srgbClr val="161616"/>
          </a:solidFill>
          <a:ln w="12700">
            <a:solidFill>
              <a:srgbClr val="78A9FF"/>
            </a:solidFill>
            <a:prstDash val="solid"/>
          </a:ln>
        </p:spPr>
      </p:sp>
      <p:pic>
        <p:nvPicPr>
          <p:cNvPr id="9" name="Image 0" descr="preencoded.png">    </p:cNvPr>
          <p:cNvPicPr>
            <a:picLocks noChangeAspect="1"/>
          </p:cNvPicPr>
          <p:nvPr/>
        </p:nvPicPr>
        <p:blipFill>
          <a:blip r:embed="rId1"/>
          <a:stretch>
            <a:fillRect/>
          </a:stretch>
        </p:blipFill>
        <p:spPr>
          <a:xfrm>
            <a:off x="1289304" y="2706624"/>
            <a:ext cx="393192" cy="393192"/>
          </a:xfrm>
          <a:prstGeom prst="rect">
            <a:avLst/>
          </a:prstGeom>
        </p:spPr>
      </p:pic>
      <p:sp>
        <p:nvSpPr>
          <p:cNvPr id="10" name="Text 7"/>
          <p:cNvSpPr/>
          <p:nvPr/>
        </p:nvSpPr>
        <p:spPr>
          <a:xfrm>
            <a:off x="1097280" y="3429000"/>
            <a:ext cx="2816352" cy="777240"/>
          </a:xfrm>
          <a:prstGeom prst="rect">
            <a:avLst/>
          </a:prstGeom>
          <a:noFill/>
          <a:ln/>
        </p:spPr>
        <p:txBody>
          <a:bodyPr wrap="square" rtlCol="0" anchor="ctr"/>
          <a:lstStyle/>
          <a:p>
            <a:pPr indent="0" marL="0">
              <a:lnSpc>
                <a:spcPct val="100000"/>
              </a:lnSpc>
              <a:buNone/>
            </a:pPr>
            <a:r>
              <a:rPr lang="en-US" sz="1650" b="1" dirty="0">
                <a:solidFill>
                  <a:srgbClr val="FFFFFF"/>
                </a:solidFill>
                <a:latin typeface="IBM Plex Sans" pitchFamily="34" charset="0"/>
                <a:ea typeface="IBM Plex Sans" pitchFamily="34" charset="-122"/>
                <a:cs typeface="IBM Plex Sans" pitchFamily="34" charset="-120"/>
              </a:rPr>
              <a:t>Faire évoluer les compétences</a:t>
            </a:r>
            <a:endParaRPr lang="en-US" sz="1650" dirty="0"/>
          </a:p>
        </p:txBody>
      </p:sp>
      <p:sp>
        <p:nvSpPr>
          <p:cNvPr id="11" name="Text 8"/>
          <p:cNvSpPr/>
          <p:nvPr/>
        </p:nvSpPr>
        <p:spPr>
          <a:xfrm>
            <a:off x="1097280" y="4206240"/>
            <a:ext cx="2816352" cy="1508760"/>
          </a:xfrm>
          <a:prstGeom prst="rect">
            <a:avLst/>
          </a:prstGeom>
          <a:noFill/>
          <a:ln/>
        </p:spPr>
        <p:txBody>
          <a:bodyPr wrap="square" rtlCol="0" anchor="ctr"/>
          <a:lstStyle/>
          <a:p>
            <a:pPr indent="0" marL="0">
              <a:lnSpc>
                <a:spcPct val="118000"/>
              </a:lnSpc>
              <a:buNone/>
            </a:pPr>
            <a:r>
              <a:rPr lang="en-US" sz="1200" dirty="0">
                <a:solidFill>
                  <a:srgbClr val="E0E0E0"/>
                </a:solidFill>
                <a:latin typeface="IBM Plex Sans" pitchFamily="34" charset="0"/>
                <a:ea typeface="IBM Plex Sans" pitchFamily="34" charset="-122"/>
                <a:cs typeface="IBM Plex Sans" pitchFamily="34" charset="-120"/>
              </a:rPr>
              <a:t>Le centre de gravité passe du code à la revue, la priorisation, l'audit. Les experts migrent vers architecture, orchestration, gouvernance. Nouveaux rôles : knowledge architect, agentic architect, agent reliability engineer.</a:t>
            </a:r>
            <a:endParaRPr lang="en-US" sz="1200" dirty="0"/>
          </a:p>
        </p:txBody>
      </p:sp>
      <p:sp>
        <p:nvSpPr>
          <p:cNvPr id="12" name="Shape 9"/>
          <p:cNvSpPr/>
          <p:nvPr/>
        </p:nvSpPr>
        <p:spPr>
          <a:xfrm>
            <a:off x="4489704" y="2148840"/>
            <a:ext cx="3456432" cy="3657600"/>
          </a:xfrm>
          <a:prstGeom prst="rect">
            <a:avLst/>
          </a:prstGeom>
          <a:solidFill>
            <a:srgbClr val="262626"/>
          </a:solidFill>
          <a:ln/>
        </p:spPr>
      </p:sp>
      <p:sp>
        <p:nvSpPr>
          <p:cNvPr id="13" name="Shape 10"/>
          <p:cNvSpPr/>
          <p:nvPr/>
        </p:nvSpPr>
        <p:spPr>
          <a:xfrm>
            <a:off x="4489704" y="2148840"/>
            <a:ext cx="3456432" cy="64008"/>
          </a:xfrm>
          <a:prstGeom prst="rect">
            <a:avLst/>
          </a:prstGeom>
          <a:solidFill>
            <a:srgbClr val="42BE65"/>
          </a:solidFill>
          <a:ln/>
        </p:spPr>
      </p:sp>
      <p:sp>
        <p:nvSpPr>
          <p:cNvPr id="14" name="Shape 11"/>
          <p:cNvSpPr/>
          <p:nvPr/>
        </p:nvSpPr>
        <p:spPr>
          <a:xfrm>
            <a:off x="4809744" y="2514600"/>
            <a:ext cx="777240" cy="777240"/>
          </a:xfrm>
          <a:prstGeom prst="ellipse">
            <a:avLst/>
          </a:prstGeom>
          <a:solidFill>
            <a:srgbClr val="161616"/>
          </a:solidFill>
          <a:ln w="12700">
            <a:solidFill>
              <a:srgbClr val="42BE65"/>
            </a:solidFill>
            <a:prstDash val="solid"/>
          </a:ln>
        </p:spPr>
      </p:sp>
      <p:pic>
        <p:nvPicPr>
          <p:cNvPr id="15" name="Image 1" descr="preencoded.png">    </p:cNvPr>
          <p:cNvPicPr>
            <a:picLocks noChangeAspect="1"/>
          </p:cNvPicPr>
          <p:nvPr/>
        </p:nvPicPr>
        <p:blipFill>
          <a:blip r:embed="rId2"/>
          <a:stretch>
            <a:fillRect/>
          </a:stretch>
        </p:blipFill>
        <p:spPr>
          <a:xfrm>
            <a:off x="5001768" y="2706624"/>
            <a:ext cx="393192" cy="393192"/>
          </a:xfrm>
          <a:prstGeom prst="rect">
            <a:avLst/>
          </a:prstGeom>
        </p:spPr>
      </p:pic>
      <p:sp>
        <p:nvSpPr>
          <p:cNvPr id="16" name="Text 12"/>
          <p:cNvSpPr/>
          <p:nvPr/>
        </p:nvSpPr>
        <p:spPr>
          <a:xfrm>
            <a:off x="4809744" y="3429000"/>
            <a:ext cx="2816352" cy="777240"/>
          </a:xfrm>
          <a:prstGeom prst="rect">
            <a:avLst/>
          </a:prstGeom>
          <a:noFill/>
          <a:ln/>
        </p:spPr>
        <p:txBody>
          <a:bodyPr wrap="square" rtlCol="0" anchor="ctr"/>
          <a:lstStyle/>
          <a:p>
            <a:pPr indent="0" marL="0">
              <a:lnSpc>
                <a:spcPct val="100000"/>
              </a:lnSpc>
              <a:buNone/>
            </a:pPr>
            <a:r>
              <a:rPr lang="en-US" sz="1650" b="1" dirty="0">
                <a:solidFill>
                  <a:srgbClr val="FFFFFF"/>
                </a:solidFill>
                <a:latin typeface="IBM Plex Sans" pitchFamily="34" charset="0"/>
                <a:ea typeface="IBM Plex Sans" pitchFamily="34" charset="-122"/>
                <a:cs typeface="IBM Plex Sans" pitchFamily="34" charset="-120"/>
              </a:rPr>
              <a:t>Réinventer le parcours des juniors</a:t>
            </a:r>
            <a:endParaRPr lang="en-US" sz="1650" dirty="0"/>
          </a:p>
        </p:txBody>
      </p:sp>
      <p:sp>
        <p:nvSpPr>
          <p:cNvPr id="17" name="Text 13"/>
          <p:cNvSpPr/>
          <p:nvPr/>
        </p:nvSpPr>
        <p:spPr>
          <a:xfrm>
            <a:off x="4809744" y="4206240"/>
            <a:ext cx="2816352" cy="1508760"/>
          </a:xfrm>
          <a:prstGeom prst="rect">
            <a:avLst/>
          </a:prstGeom>
          <a:noFill/>
          <a:ln/>
        </p:spPr>
        <p:txBody>
          <a:bodyPr wrap="square" rtlCol="0" anchor="ctr"/>
          <a:lstStyle/>
          <a:p>
            <a:pPr indent="0" marL="0">
              <a:lnSpc>
                <a:spcPct val="118000"/>
              </a:lnSpc>
              <a:buNone/>
            </a:pPr>
            <a:r>
              <a:rPr lang="en-US" sz="1200" dirty="0">
                <a:solidFill>
                  <a:srgbClr val="E0E0E0"/>
                </a:solidFill>
                <a:latin typeface="IBM Plex Sans" pitchFamily="34" charset="0"/>
                <a:ea typeface="IBM Plex Sans" pitchFamily="34" charset="-122"/>
                <a:cs typeface="IBM Plex Sans" pitchFamily="34" charset="-120"/>
              </a:rPr>
              <a:t>Les tâches qui formaient les juniors sont prises par les agents. Le pairing devient obligatoire, le mob programming une voie centrale de montée en compétence. Les agents peuvent fonctionner en mode « learner ».</a:t>
            </a:r>
            <a:endParaRPr lang="en-US" sz="1200" dirty="0"/>
          </a:p>
        </p:txBody>
      </p:sp>
      <p:sp>
        <p:nvSpPr>
          <p:cNvPr id="18" name="Shape 14"/>
          <p:cNvSpPr/>
          <p:nvPr/>
        </p:nvSpPr>
        <p:spPr>
          <a:xfrm>
            <a:off x="8202168" y="2148840"/>
            <a:ext cx="3456432" cy="3657600"/>
          </a:xfrm>
          <a:prstGeom prst="rect">
            <a:avLst/>
          </a:prstGeom>
          <a:solidFill>
            <a:srgbClr val="262626"/>
          </a:solidFill>
          <a:ln/>
        </p:spPr>
      </p:sp>
      <p:sp>
        <p:nvSpPr>
          <p:cNvPr id="19" name="Shape 15"/>
          <p:cNvSpPr/>
          <p:nvPr/>
        </p:nvSpPr>
        <p:spPr>
          <a:xfrm>
            <a:off x="8202168" y="2148840"/>
            <a:ext cx="3456432" cy="64008"/>
          </a:xfrm>
          <a:prstGeom prst="rect">
            <a:avLst/>
          </a:prstGeom>
          <a:solidFill>
            <a:srgbClr val="FF7EB6"/>
          </a:solidFill>
          <a:ln/>
        </p:spPr>
      </p:sp>
      <p:sp>
        <p:nvSpPr>
          <p:cNvPr id="20" name="Shape 16"/>
          <p:cNvSpPr/>
          <p:nvPr/>
        </p:nvSpPr>
        <p:spPr>
          <a:xfrm>
            <a:off x="8522208" y="2514600"/>
            <a:ext cx="777240" cy="777240"/>
          </a:xfrm>
          <a:prstGeom prst="ellipse">
            <a:avLst/>
          </a:prstGeom>
          <a:solidFill>
            <a:srgbClr val="161616"/>
          </a:solidFill>
          <a:ln w="12700">
            <a:solidFill>
              <a:srgbClr val="FF7EB6"/>
            </a:solidFill>
            <a:prstDash val="solid"/>
          </a:ln>
        </p:spPr>
      </p:sp>
      <p:pic>
        <p:nvPicPr>
          <p:cNvPr id="21" name="Image 2" descr="preencoded.png">    </p:cNvPr>
          <p:cNvPicPr>
            <a:picLocks noChangeAspect="1"/>
          </p:cNvPicPr>
          <p:nvPr/>
        </p:nvPicPr>
        <p:blipFill>
          <a:blip r:embed="rId3"/>
          <a:stretch>
            <a:fillRect/>
          </a:stretch>
        </p:blipFill>
        <p:spPr>
          <a:xfrm>
            <a:off x="8714232" y="2706624"/>
            <a:ext cx="393192" cy="393192"/>
          </a:xfrm>
          <a:prstGeom prst="rect">
            <a:avLst/>
          </a:prstGeom>
        </p:spPr>
      </p:pic>
      <p:sp>
        <p:nvSpPr>
          <p:cNvPr id="22" name="Text 17"/>
          <p:cNvSpPr/>
          <p:nvPr/>
        </p:nvSpPr>
        <p:spPr>
          <a:xfrm>
            <a:off x="8522208" y="3429000"/>
            <a:ext cx="2816352" cy="777240"/>
          </a:xfrm>
          <a:prstGeom prst="rect">
            <a:avLst/>
          </a:prstGeom>
          <a:noFill/>
          <a:ln/>
        </p:spPr>
        <p:txBody>
          <a:bodyPr wrap="square" rtlCol="0" anchor="ctr"/>
          <a:lstStyle/>
          <a:p>
            <a:pPr indent="0" marL="0">
              <a:lnSpc>
                <a:spcPct val="100000"/>
              </a:lnSpc>
              <a:buNone/>
            </a:pPr>
            <a:r>
              <a:rPr lang="en-US" sz="1650" b="1" dirty="0">
                <a:solidFill>
                  <a:srgbClr val="FFFFFF"/>
                </a:solidFill>
                <a:latin typeface="IBM Plex Sans" pitchFamily="34" charset="0"/>
                <a:ea typeface="IBM Plex Sans" pitchFamily="34" charset="-122"/>
                <a:cs typeface="IBM Plex Sans" pitchFamily="34" charset="-120"/>
              </a:rPr>
              <a:t>Doubles trajectoires (mid-level)</a:t>
            </a:r>
            <a:endParaRPr lang="en-US" sz="1650" dirty="0"/>
          </a:p>
        </p:txBody>
      </p:sp>
      <p:sp>
        <p:nvSpPr>
          <p:cNvPr id="23" name="Text 18"/>
          <p:cNvSpPr/>
          <p:nvPr/>
        </p:nvSpPr>
        <p:spPr>
          <a:xfrm>
            <a:off x="8522208" y="4206240"/>
            <a:ext cx="2816352" cy="1508760"/>
          </a:xfrm>
          <a:prstGeom prst="rect">
            <a:avLst/>
          </a:prstGeom>
          <a:noFill/>
          <a:ln/>
        </p:spPr>
        <p:txBody>
          <a:bodyPr wrap="square" rtlCol="0" anchor="ctr"/>
          <a:lstStyle/>
          <a:p>
            <a:pPr indent="0" marL="0">
              <a:lnSpc>
                <a:spcPct val="118000"/>
              </a:lnSpc>
              <a:buNone/>
            </a:pPr>
            <a:r>
              <a:rPr lang="en-US" sz="1200" dirty="0">
                <a:solidFill>
                  <a:srgbClr val="E0E0E0"/>
                </a:solidFill>
                <a:latin typeface="IBM Plex Sans" pitchFamily="34" charset="0"/>
                <a:ea typeface="IBM Plex Sans" pitchFamily="34" charset="-122"/>
                <a:cs typeface="IBM Plex Sans" pitchFamily="34" charset="-120"/>
              </a:rPr>
              <a:t>Deux voies : progresser vers gouvernance / architecture, ou se spécialiser comme développeur expert d'agents. Quelqu'un doit prendre la propriété des agents : c'est un actif majeur de l'organisation.</a:t>
            </a:r>
            <a:endParaRPr lang="en-US" sz="1200" dirty="0"/>
          </a:p>
        </p:txBody>
      </p:sp>
      <p:sp>
        <p:nvSpPr>
          <p:cNvPr id="24" name="Shape 19"/>
          <p:cNvSpPr/>
          <p:nvPr/>
        </p:nvSpPr>
        <p:spPr>
          <a:xfrm>
            <a:off x="777240" y="5989320"/>
            <a:ext cx="10607040" cy="502920"/>
          </a:xfrm>
          <a:prstGeom prst="rect">
            <a:avLst/>
          </a:prstGeom>
          <a:solidFill>
            <a:srgbClr val="262626"/>
          </a:solidFill>
          <a:ln/>
        </p:spPr>
      </p:sp>
      <p:sp>
        <p:nvSpPr>
          <p:cNvPr id="25" name="Shape 20"/>
          <p:cNvSpPr/>
          <p:nvPr/>
        </p:nvSpPr>
        <p:spPr>
          <a:xfrm>
            <a:off x="777240" y="5989320"/>
            <a:ext cx="64008" cy="502920"/>
          </a:xfrm>
          <a:prstGeom prst="rect">
            <a:avLst/>
          </a:prstGeom>
          <a:solidFill>
            <a:srgbClr val="F1C21B"/>
          </a:solidFill>
          <a:ln/>
        </p:spPr>
      </p:sp>
      <p:sp>
        <p:nvSpPr>
          <p:cNvPr id="26" name="Text 21"/>
          <p:cNvSpPr/>
          <p:nvPr/>
        </p:nvSpPr>
        <p:spPr>
          <a:xfrm>
            <a:off x="1005840" y="5989320"/>
            <a:ext cx="10241280" cy="502920"/>
          </a:xfrm>
          <a:prstGeom prst="rect">
            <a:avLst/>
          </a:prstGeom>
          <a:noFill/>
          <a:ln/>
        </p:spPr>
        <p:txBody>
          <a:bodyPr wrap="square" rtlCol="0" anchor="ctr"/>
          <a:lstStyle/>
          <a:p>
            <a:pPr indent="0" marL="0">
              <a:buNone/>
            </a:pPr>
            <a:r>
              <a:rPr lang="en-US" sz="1300" b="1" dirty="0">
                <a:solidFill>
                  <a:srgbClr val="FFFFFF"/>
                </a:solidFill>
                <a:latin typeface="IBM Plex Sans" pitchFamily="34" charset="0"/>
                <a:ea typeface="IBM Plex Sans" pitchFamily="34" charset="-122"/>
                <a:cs typeface="IBM Plex Sans" pitchFamily="34" charset="-120"/>
              </a:rPr>
              <a:t>La compétence humaine est le facteur limitant : sans stratégie talents explicite, pas de valeur à l'échelle.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4F4"/>
        </a:solidFill>
      </p:bgPr>
    </p:bg>
    <p:spTree>
      <p:nvGrpSpPr>
        <p:cNvPr id="1" name=""/>
        <p:cNvGrpSpPr/>
        <p:nvPr/>
      </p:nvGrpSpPr>
      <p:grpSpPr>
        <a:xfrm>
          <a:off x="0" y="0"/>
          <a:ext cx="0" cy="0"/>
          <a:chOff x="0" y="0"/>
          <a:chExt cx="0" cy="0"/>
        </a:xfrm>
      </p:grpSpPr>
      <p:sp>
        <p:nvSpPr>
          <p:cNvPr id="2" name="Text 0"/>
          <p:cNvSpPr/>
          <p:nvPr/>
        </p:nvSpPr>
        <p:spPr>
          <a:xfrm>
            <a:off x="777240" y="457200"/>
            <a:ext cx="8229600" cy="320040"/>
          </a:xfrm>
          <a:prstGeom prst="rect">
            <a:avLst/>
          </a:prstGeom>
          <a:noFill/>
          <a:ln/>
        </p:spPr>
        <p:txBody>
          <a:bodyPr wrap="square" rtlCol="0" anchor="ctr"/>
          <a:lstStyle/>
          <a:p>
            <a:pPr indent="0" marL="0">
              <a:buNone/>
            </a:pPr>
            <a:r>
              <a:rPr lang="en-US" sz="1200" spc="150" kern="0" dirty="0">
                <a:solidFill>
                  <a:srgbClr val="0043CE"/>
                </a:solidFill>
                <a:latin typeface="IBM Plex Mono" pitchFamily="34" charset="0"/>
                <a:ea typeface="IBM Plex Mono" pitchFamily="34" charset="-122"/>
                <a:cs typeface="IBM Plex Mono" pitchFamily="34" charset="-120"/>
              </a:rPr>
              <a:t>05 — CONCLUSION</a:t>
            </a:r>
            <a:endParaRPr lang="en-US" sz="1200" dirty="0"/>
          </a:p>
        </p:txBody>
      </p:sp>
      <p:sp>
        <p:nvSpPr>
          <p:cNvPr id="3" name="Shape 1"/>
          <p:cNvSpPr/>
          <p:nvPr/>
        </p:nvSpPr>
        <p:spPr>
          <a:xfrm>
            <a:off x="777240" y="868680"/>
            <a:ext cx="64008" cy="384048"/>
          </a:xfrm>
          <a:prstGeom prst="rect">
            <a:avLst/>
          </a:prstGeom>
          <a:solidFill>
            <a:srgbClr val="0F62FE"/>
          </a:solidFill>
          <a:ln/>
        </p:spPr>
      </p:sp>
      <p:sp>
        <p:nvSpPr>
          <p:cNvPr id="4" name="Text 2"/>
          <p:cNvSpPr/>
          <p:nvPr/>
        </p:nvSpPr>
        <p:spPr>
          <a:xfrm>
            <a:off x="960120" y="822960"/>
            <a:ext cx="10515600" cy="548640"/>
          </a:xfrm>
          <a:prstGeom prst="rect">
            <a:avLst/>
          </a:prstGeom>
          <a:noFill/>
          <a:ln/>
        </p:spPr>
        <p:txBody>
          <a:bodyPr wrap="square" rtlCol="0" anchor="ctr"/>
          <a:lstStyle/>
          <a:p>
            <a:pPr indent="0" marL="0">
              <a:buNone/>
            </a:pPr>
            <a:r>
              <a:rPr lang="en-US" sz="2800" b="1" dirty="0">
                <a:solidFill>
                  <a:srgbClr val="161616"/>
                </a:solidFill>
                <a:latin typeface="IBM Plex Sans" pitchFamily="34" charset="0"/>
                <a:ea typeface="IBM Plex Sans" pitchFamily="34" charset="-122"/>
                <a:cs typeface="IBM Plex Sans" pitchFamily="34" charset="-120"/>
              </a:rPr>
              <a:t>Cinq dimensions, une seule stratégie intégrée</a:t>
            </a:r>
            <a:endParaRPr lang="en-US" sz="2800" dirty="0"/>
          </a:p>
        </p:txBody>
      </p:sp>
      <p:sp>
        <p:nvSpPr>
          <p:cNvPr id="5" name="Text 3"/>
          <p:cNvSpPr/>
          <p:nvPr/>
        </p:nvSpPr>
        <p:spPr>
          <a:xfrm>
            <a:off x="777240" y="1417320"/>
            <a:ext cx="10607040" cy="365760"/>
          </a:xfrm>
          <a:prstGeom prst="rect">
            <a:avLst/>
          </a:prstGeom>
          <a:noFill/>
          <a:ln/>
        </p:spPr>
        <p:txBody>
          <a:bodyPr wrap="square" rtlCol="0" anchor="ctr"/>
          <a:lstStyle/>
          <a:p>
            <a:pPr indent="0" marL="0">
              <a:buNone/>
            </a:pPr>
            <a:r>
              <a:rPr lang="en-US" sz="1350" i="1" dirty="0">
                <a:solidFill>
                  <a:srgbClr val="525252"/>
                </a:solidFill>
                <a:latin typeface="IBM Plex Sans" pitchFamily="34" charset="0"/>
                <a:ea typeface="IBM Plex Sans" pitchFamily="34" charset="-122"/>
                <a:cs typeface="IBM Plex Sans" pitchFamily="34" charset="-120"/>
              </a:rPr>
              <a:t>Les traiter une par une, c'est échouer. Les piloter en parallèle, c'est du system thinking appliqué.</a:t>
            </a:r>
            <a:endParaRPr lang="en-US" sz="1350" dirty="0"/>
          </a:p>
        </p:txBody>
      </p:sp>
      <p:sp>
        <p:nvSpPr>
          <p:cNvPr id="6" name="Shape 4"/>
          <p:cNvSpPr/>
          <p:nvPr/>
        </p:nvSpPr>
        <p:spPr>
          <a:xfrm>
            <a:off x="777240" y="1965960"/>
            <a:ext cx="2066544" cy="2377440"/>
          </a:xfrm>
          <a:prstGeom prst="rect">
            <a:avLst/>
          </a:prstGeom>
          <a:solidFill>
            <a:srgbClr val="FFFFFF"/>
          </a:solidFill>
          <a:ln/>
          <a:effectLst>
            <a:outerShdw sx="100000" sy="100000" kx="0" ky="0" algn="bl" rotWithShape="0" blurRad="101600" dist="25400" dir="8100000">
              <a:srgbClr val="000000">
                <a:alpha val="25000"/>
              </a:srgbClr>
            </a:outerShdw>
          </a:effectLst>
        </p:spPr>
      </p:sp>
      <p:sp>
        <p:nvSpPr>
          <p:cNvPr id="7" name="Shape 5"/>
          <p:cNvSpPr/>
          <p:nvPr/>
        </p:nvSpPr>
        <p:spPr>
          <a:xfrm>
            <a:off x="777240" y="1965960"/>
            <a:ext cx="2066544" cy="64008"/>
          </a:xfrm>
          <a:prstGeom prst="rect">
            <a:avLst/>
          </a:prstGeom>
          <a:solidFill>
            <a:srgbClr val="78A9FF"/>
          </a:solidFill>
          <a:ln/>
        </p:spPr>
      </p:sp>
      <p:sp>
        <p:nvSpPr>
          <p:cNvPr id="8" name="Shape 6"/>
          <p:cNvSpPr/>
          <p:nvPr/>
        </p:nvSpPr>
        <p:spPr>
          <a:xfrm>
            <a:off x="1097280" y="2258568"/>
            <a:ext cx="731520" cy="731520"/>
          </a:xfrm>
          <a:prstGeom prst="ellipse">
            <a:avLst/>
          </a:prstGeom>
          <a:solidFill>
            <a:srgbClr val="161616"/>
          </a:solidFill>
          <a:ln/>
        </p:spPr>
      </p:sp>
      <p:pic>
        <p:nvPicPr>
          <p:cNvPr id="9" name="Image 0" descr="preencoded.png">    </p:cNvPr>
          <p:cNvPicPr>
            <a:picLocks noChangeAspect="1"/>
          </p:cNvPicPr>
          <p:nvPr/>
        </p:nvPicPr>
        <p:blipFill>
          <a:blip r:embed="rId1"/>
          <a:stretch>
            <a:fillRect/>
          </a:stretch>
        </p:blipFill>
        <p:spPr>
          <a:xfrm>
            <a:off x="1261872" y="2441448"/>
            <a:ext cx="402336" cy="402336"/>
          </a:xfrm>
          <a:prstGeom prst="rect">
            <a:avLst/>
          </a:prstGeom>
        </p:spPr>
      </p:pic>
      <p:sp>
        <p:nvSpPr>
          <p:cNvPr id="10" name="Text 7"/>
          <p:cNvSpPr/>
          <p:nvPr/>
        </p:nvSpPr>
        <p:spPr>
          <a:xfrm>
            <a:off x="1051560" y="3017520"/>
            <a:ext cx="1563624" cy="457200"/>
          </a:xfrm>
          <a:prstGeom prst="rect">
            <a:avLst/>
          </a:prstGeom>
          <a:noFill/>
          <a:ln/>
        </p:spPr>
        <p:txBody>
          <a:bodyPr wrap="square" rtlCol="0" anchor="t"/>
          <a:lstStyle/>
          <a:p>
            <a:pPr indent="0" marL="0">
              <a:buNone/>
            </a:pPr>
            <a:r>
              <a:rPr lang="en-US" sz="1350" b="1" dirty="0">
                <a:solidFill>
                  <a:srgbClr val="161616"/>
                </a:solidFill>
                <a:latin typeface="IBM Plex Sans" pitchFamily="34" charset="0"/>
                <a:ea typeface="IBM Plex Sans" pitchFamily="34" charset="-122"/>
                <a:cs typeface="IBM Plex Sans" pitchFamily="34" charset="-120"/>
              </a:rPr>
              <a:t>Technologie</a:t>
            </a:r>
            <a:endParaRPr lang="en-US" sz="1350" dirty="0"/>
          </a:p>
        </p:txBody>
      </p:sp>
      <p:sp>
        <p:nvSpPr>
          <p:cNvPr id="11" name="Text 8"/>
          <p:cNvSpPr/>
          <p:nvPr/>
        </p:nvSpPr>
        <p:spPr>
          <a:xfrm>
            <a:off x="1051560" y="3502152"/>
            <a:ext cx="1563624" cy="804672"/>
          </a:xfrm>
          <a:prstGeom prst="rect">
            <a:avLst/>
          </a:prstGeom>
          <a:noFill/>
          <a:ln/>
        </p:spPr>
        <p:txBody>
          <a:bodyPr wrap="square" rtlCol="0" anchor="ctr"/>
          <a:lstStyle/>
          <a:p>
            <a:pPr indent="0" marL="0">
              <a:lnSpc>
                <a:spcPct val="112000"/>
              </a:lnSpc>
              <a:buNone/>
            </a:pPr>
            <a:r>
              <a:rPr lang="en-US" sz="1050" dirty="0">
                <a:solidFill>
                  <a:srgbClr val="525252"/>
                </a:solidFill>
                <a:latin typeface="IBM Plex Sans" pitchFamily="34" charset="0"/>
                <a:ea typeface="IBM Plex Sans" pitchFamily="34" charset="-122"/>
                <a:cs typeface="IBM Plex Sans" pitchFamily="34" charset="-120"/>
              </a:rPr>
              <a:t>Système multi-agents orchestré, sur plateforme agentic robuste.</a:t>
            </a:r>
            <a:endParaRPr lang="en-US" sz="1050" dirty="0"/>
          </a:p>
        </p:txBody>
      </p:sp>
      <p:sp>
        <p:nvSpPr>
          <p:cNvPr id="12" name="Shape 9"/>
          <p:cNvSpPr/>
          <p:nvPr/>
        </p:nvSpPr>
        <p:spPr>
          <a:xfrm>
            <a:off x="2962656" y="1965960"/>
            <a:ext cx="2066544" cy="2377440"/>
          </a:xfrm>
          <a:prstGeom prst="rect">
            <a:avLst/>
          </a:prstGeom>
          <a:solidFill>
            <a:srgbClr val="FFFFFF"/>
          </a:solidFill>
          <a:ln/>
          <a:effectLst>
            <a:outerShdw sx="100000" sy="100000" kx="0" ky="0" algn="bl" rotWithShape="0" blurRad="101600" dist="25400" dir="8100000">
              <a:srgbClr val="000000">
                <a:alpha val="25000"/>
              </a:srgbClr>
            </a:outerShdw>
          </a:effectLst>
        </p:spPr>
      </p:sp>
      <p:sp>
        <p:nvSpPr>
          <p:cNvPr id="13" name="Shape 10"/>
          <p:cNvSpPr/>
          <p:nvPr/>
        </p:nvSpPr>
        <p:spPr>
          <a:xfrm>
            <a:off x="2962656" y="1965960"/>
            <a:ext cx="2066544" cy="64008"/>
          </a:xfrm>
          <a:prstGeom prst="rect">
            <a:avLst/>
          </a:prstGeom>
          <a:solidFill>
            <a:srgbClr val="42BE65"/>
          </a:solidFill>
          <a:ln/>
        </p:spPr>
      </p:sp>
      <p:sp>
        <p:nvSpPr>
          <p:cNvPr id="14" name="Shape 11"/>
          <p:cNvSpPr/>
          <p:nvPr/>
        </p:nvSpPr>
        <p:spPr>
          <a:xfrm>
            <a:off x="3282696" y="2258568"/>
            <a:ext cx="731520" cy="731520"/>
          </a:xfrm>
          <a:prstGeom prst="ellipse">
            <a:avLst/>
          </a:prstGeom>
          <a:solidFill>
            <a:srgbClr val="161616"/>
          </a:solidFill>
          <a:ln/>
        </p:spPr>
      </p:sp>
      <p:pic>
        <p:nvPicPr>
          <p:cNvPr id="15" name="Image 1" descr="preencoded.png">    </p:cNvPr>
          <p:cNvPicPr>
            <a:picLocks noChangeAspect="1"/>
          </p:cNvPicPr>
          <p:nvPr/>
        </p:nvPicPr>
        <p:blipFill>
          <a:blip r:embed="rId2"/>
          <a:stretch>
            <a:fillRect/>
          </a:stretch>
        </p:blipFill>
        <p:spPr>
          <a:xfrm>
            <a:off x="3447288" y="2441448"/>
            <a:ext cx="402336" cy="402336"/>
          </a:xfrm>
          <a:prstGeom prst="rect">
            <a:avLst/>
          </a:prstGeom>
        </p:spPr>
      </p:pic>
      <p:sp>
        <p:nvSpPr>
          <p:cNvPr id="16" name="Text 12"/>
          <p:cNvSpPr/>
          <p:nvPr/>
        </p:nvSpPr>
        <p:spPr>
          <a:xfrm>
            <a:off x="3236976" y="3017520"/>
            <a:ext cx="1563624" cy="457200"/>
          </a:xfrm>
          <a:prstGeom prst="rect">
            <a:avLst/>
          </a:prstGeom>
          <a:noFill/>
          <a:ln/>
        </p:spPr>
        <p:txBody>
          <a:bodyPr wrap="square" rtlCol="0" anchor="t"/>
          <a:lstStyle/>
          <a:p>
            <a:pPr indent="0" marL="0">
              <a:buNone/>
            </a:pPr>
            <a:r>
              <a:rPr lang="en-US" sz="1350" b="1" dirty="0">
                <a:solidFill>
                  <a:srgbClr val="161616"/>
                </a:solidFill>
                <a:latin typeface="IBM Plex Sans" pitchFamily="34" charset="0"/>
                <a:ea typeface="IBM Plex Sans" pitchFamily="34" charset="-122"/>
                <a:cs typeface="IBM Plex Sans" pitchFamily="34" charset="-120"/>
              </a:rPr>
              <a:t>Talents</a:t>
            </a:r>
            <a:endParaRPr lang="en-US" sz="1350" dirty="0"/>
          </a:p>
        </p:txBody>
      </p:sp>
      <p:sp>
        <p:nvSpPr>
          <p:cNvPr id="17" name="Text 13"/>
          <p:cNvSpPr/>
          <p:nvPr/>
        </p:nvSpPr>
        <p:spPr>
          <a:xfrm>
            <a:off x="3236976" y="3502152"/>
            <a:ext cx="1563624" cy="804672"/>
          </a:xfrm>
          <a:prstGeom prst="rect">
            <a:avLst/>
          </a:prstGeom>
          <a:noFill/>
          <a:ln/>
        </p:spPr>
        <p:txBody>
          <a:bodyPr wrap="square" rtlCol="0" anchor="ctr"/>
          <a:lstStyle/>
          <a:p>
            <a:pPr indent="0" marL="0">
              <a:lnSpc>
                <a:spcPct val="112000"/>
              </a:lnSpc>
              <a:buNone/>
            </a:pPr>
            <a:r>
              <a:rPr lang="en-US" sz="1050" dirty="0">
                <a:solidFill>
                  <a:srgbClr val="525252"/>
                </a:solidFill>
                <a:latin typeface="IBM Plex Sans" pitchFamily="34" charset="0"/>
                <a:ea typeface="IBM Plex Sans" pitchFamily="34" charset="-122"/>
                <a:cs typeface="IBM Plex Sans" pitchFamily="34" charset="-120"/>
              </a:rPr>
              <a:t>Ingénieurs codeurs → architectes &amp; auditeurs, portés par l'upskilling.</a:t>
            </a:r>
            <a:endParaRPr lang="en-US" sz="1050" dirty="0"/>
          </a:p>
        </p:txBody>
      </p:sp>
      <p:sp>
        <p:nvSpPr>
          <p:cNvPr id="18" name="Shape 14"/>
          <p:cNvSpPr/>
          <p:nvPr/>
        </p:nvSpPr>
        <p:spPr>
          <a:xfrm>
            <a:off x="5148072" y="1965960"/>
            <a:ext cx="2066544" cy="2377440"/>
          </a:xfrm>
          <a:prstGeom prst="rect">
            <a:avLst/>
          </a:prstGeom>
          <a:solidFill>
            <a:srgbClr val="FFFFFF"/>
          </a:solidFill>
          <a:ln/>
          <a:effectLst>
            <a:outerShdw sx="100000" sy="100000" kx="0" ky="0" algn="bl" rotWithShape="0" blurRad="101600" dist="25400" dir="8100000">
              <a:srgbClr val="000000">
                <a:alpha val="25000"/>
              </a:srgbClr>
            </a:outerShdw>
          </a:effectLst>
        </p:spPr>
      </p:sp>
      <p:sp>
        <p:nvSpPr>
          <p:cNvPr id="19" name="Shape 15"/>
          <p:cNvSpPr/>
          <p:nvPr/>
        </p:nvSpPr>
        <p:spPr>
          <a:xfrm>
            <a:off x="5148072" y="1965960"/>
            <a:ext cx="2066544" cy="64008"/>
          </a:xfrm>
          <a:prstGeom prst="rect">
            <a:avLst/>
          </a:prstGeom>
          <a:solidFill>
            <a:srgbClr val="8A3FFC"/>
          </a:solidFill>
          <a:ln/>
        </p:spPr>
      </p:sp>
      <p:sp>
        <p:nvSpPr>
          <p:cNvPr id="20" name="Shape 16"/>
          <p:cNvSpPr/>
          <p:nvPr/>
        </p:nvSpPr>
        <p:spPr>
          <a:xfrm>
            <a:off x="5468112" y="2258568"/>
            <a:ext cx="731520" cy="731520"/>
          </a:xfrm>
          <a:prstGeom prst="ellipse">
            <a:avLst/>
          </a:prstGeom>
          <a:solidFill>
            <a:srgbClr val="161616"/>
          </a:solidFill>
          <a:ln/>
        </p:spPr>
      </p:sp>
      <p:pic>
        <p:nvPicPr>
          <p:cNvPr id="21" name="Image 2" descr="preencoded.png">    </p:cNvPr>
          <p:cNvPicPr>
            <a:picLocks noChangeAspect="1"/>
          </p:cNvPicPr>
          <p:nvPr/>
        </p:nvPicPr>
        <p:blipFill>
          <a:blip r:embed="rId3"/>
          <a:stretch>
            <a:fillRect/>
          </a:stretch>
        </p:blipFill>
        <p:spPr>
          <a:xfrm>
            <a:off x="5632704" y="2441448"/>
            <a:ext cx="402336" cy="402336"/>
          </a:xfrm>
          <a:prstGeom prst="rect">
            <a:avLst/>
          </a:prstGeom>
        </p:spPr>
      </p:pic>
      <p:sp>
        <p:nvSpPr>
          <p:cNvPr id="22" name="Text 17"/>
          <p:cNvSpPr/>
          <p:nvPr/>
        </p:nvSpPr>
        <p:spPr>
          <a:xfrm>
            <a:off x="5422392" y="3017520"/>
            <a:ext cx="1563624" cy="457200"/>
          </a:xfrm>
          <a:prstGeom prst="rect">
            <a:avLst/>
          </a:prstGeom>
          <a:noFill/>
          <a:ln/>
        </p:spPr>
        <p:txBody>
          <a:bodyPr wrap="square" rtlCol="0" anchor="t"/>
          <a:lstStyle/>
          <a:p>
            <a:pPr indent="0" marL="0">
              <a:buNone/>
            </a:pPr>
            <a:r>
              <a:rPr lang="en-US" sz="1350" b="1" dirty="0">
                <a:solidFill>
                  <a:srgbClr val="161616"/>
                </a:solidFill>
                <a:latin typeface="IBM Plex Sans" pitchFamily="34" charset="0"/>
                <a:ea typeface="IBM Plex Sans" pitchFamily="34" charset="-122"/>
                <a:cs typeface="IBM Plex Sans" pitchFamily="34" charset="-120"/>
              </a:rPr>
              <a:t>Structure</a:t>
            </a:r>
            <a:endParaRPr lang="en-US" sz="1350" dirty="0"/>
          </a:p>
        </p:txBody>
      </p:sp>
      <p:sp>
        <p:nvSpPr>
          <p:cNvPr id="23" name="Text 18"/>
          <p:cNvSpPr/>
          <p:nvPr/>
        </p:nvSpPr>
        <p:spPr>
          <a:xfrm>
            <a:off x="5422392" y="3502152"/>
            <a:ext cx="1563624" cy="804672"/>
          </a:xfrm>
          <a:prstGeom prst="rect">
            <a:avLst/>
          </a:prstGeom>
          <a:noFill/>
          <a:ln/>
        </p:spPr>
        <p:txBody>
          <a:bodyPr wrap="square" rtlCol="0" anchor="ctr"/>
          <a:lstStyle/>
          <a:p>
            <a:pPr indent="0" marL="0">
              <a:lnSpc>
                <a:spcPct val="112000"/>
              </a:lnSpc>
              <a:buNone/>
            </a:pPr>
            <a:r>
              <a:rPr lang="en-US" sz="1050" dirty="0">
                <a:solidFill>
                  <a:srgbClr val="525252"/>
                </a:solidFill>
                <a:latin typeface="IBM Plex Sans" pitchFamily="34" charset="0"/>
                <a:ea typeface="IBM Plex Sans" pitchFamily="34" charset="-122"/>
                <a:cs typeface="IBM Plex Sans" pitchFamily="34" charset="-120"/>
              </a:rPr>
              <a:t>Équipes petites, stream-aligned, découplées via self-service agents.</a:t>
            </a:r>
            <a:endParaRPr lang="en-US" sz="1050" dirty="0"/>
          </a:p>
        </p:txBody>
      </p:sp>
      <p:sp>
        <p:nvSpPr>
          <p:cNvPr id="24" name="Shape 19"/>
          <p:cNvSpPr/>
          <p:nvPr/>
        </p:nvSpPr>
        <p:spPr>
          <a:xfrm>
            <a:off x="7333488" y="1965960"/>
            <a:ext cx="2066544" cy="2377440"/>
          </a:xfrm>
          <a:prstGeom prst="rect">
            <a:avLst/>
          </a:prstGeom>
          <a:solidFill>
            <a:srgbClr val="FFFFFF"/>
          </a:solidFill>
          <a:ln/>
          <a:effectLst>
            <a:outerShdw sx="100000" sy="100000" kx="0" ky="0" algn="bl" rotWithShape="0" blurRad="101600" dist="25400" dir="8100000">
              <a:srgbClr val="000000">
                <a:alpha val="25000"/>
              </a:srgbClr>
            </a:outerShdw>
          </a:effectLst>
        </p:spPr>
      </p:sp>
      <p:sp>
        <p:nvSpPr>
          <p:cNvPr id="25" name="Shape 20"/>
          <p:cNvSpPr/>
          <p:nvPr/>
        </p:nvSpPr>
        <p:spPr>
          <a:xfrm>
            <a:off x="7333488" y="1965960"/>
            <a:ext cx="2066544" cy="64008"/>
          </a:xfrm>
          <a:prstGeom prst="rect">
            <a:avLst/>
          </a:prstGeom>
          <a:solidFill>
            <a:srgbClr val="08BDBA"/>
          </a:solidFill>
          <a:ln/>
        </p:spPr>
      </p:sp>
      <p:sp>
        <p:nvSpPr>
          <p:cNvPr id="26" name="Shape 21"/>
          <p:cNvSpPr/>
          <p:nvPr/>
        </p:nvSpPr>
        <p:spPr>
          <a:xfrm>
            <a:off x="7653528" y="2258568"/>
            <a:ext cx="731520" cy="731520"/>
          </a:xfrm>
          <a:prstGeom prst="ellipse">
            <a:avLst/>
          </a:prstGeom>
          <a:solidFill>
            <a:srgbClr val="161616"/>
          </a:solidFill>
          <a:ln/>
        </p:spPr>
      </p:sp>
      <p:pic>
        <p:nvPicPr>
          <p:cNvPr id="27" name="Image 3" descr="preencoded.png">    </p:cNvPr>
          <p:cNvPicPr>
            <a:picLocks noChangeAspect="1"/>
          </p:cNvPicPr>
          <p:nvPr/>
        </p:nvPicPr>
        <p:blipFill>
          <a:blip r:embed="rId4"/>
          <a:stretch>
            <a:fillRect/>
          </a:stretch>
        </p:blipFill>
        <p:spPr>
          <a:xfrm>
            <a:off x="7818120" y="2441448"/>
            <a:ext cx="402336" cy="402336"/>
          </a:xfrm>
          <a:prstGeom prst="rect">
            <a:avLst/>
          </a:prstGeom>
        </p:spPr>
      </p:pic>
      <p:sp>
        <p:nvSpPr>
          <p:cNvPr id="28" name="Text 22"/>
          <p:cNvSpPr/>
          <p:nvPr/>
        </p:nvSpPr>
        <p:spPr>
          <a:xfrm>
            <a:off x="7607808" y="3017520"/>
            <a:ext cx="1563624" cy="457200"/>
          </a:xfrm>
          <a:prstGeom prst="rect">
            <a:avLst/>
          </a:prstGeom>
          <a:noFill/>
          <a:ln/>
        </p:spPr>
        <p:txBody>
          <a:bodyPr wrap="square" rtlCol="0" anchor="t"/>
          <a:lstStyle/>
          <a:p>
            <a:pPr indent="0" marL="0">
              <a:buNone/>
            </a:pPr>
            <a:r>
              <a:rPr lang="en-US" sz="1350" b="1" dirty="0">
                <a:solidFill>
                  <a:srgbClr val="161616"/>
                </a:solidFill>
                <a:latin typeface="IBM Plex Sans" pitchFamily="34" charset="0"/>
                <a:ea typeface="IBM Plex Sans" pitchFamily="34" charset="-122"/>
                <a:cs typeface="IBM Plex Sans" pitchFamily="34" charset="-120"/>
              </a:rPr>
              <a:t>Gouvernance</a:t>
            </a:r>
            <a:endParaRPr lang="en-US" sz="1350" dirty="0"/>
          </a:p>
        </p:txBody>
      </p:sp>
      <p:sp>
        <p:nvSpPr>
          <p:cNvPr id="29" name="Text 23"/>
          <p:cNvSpPr/>
          <p:nvPr/>
        </p:nvSpPr>
        <p:spPr>
          <a:xfrm>
            <a:off x="7607808" y="3502152"/>
            <a:ext cx="1563624" cy="804672"/>
          </a:xfrm>
          <a:prstGeom prst="rect">
            <a:avLst/>
          </a:prstGeom>
          <a:noFill/>
          <a:ln/>
        </p:spPr>
        <p:txBody>
          <a:bodyPr wrap="square" rtlCol="0" anchor="ctr"/>
          <a:lstStyle/>
          <a:p>
            <a:pPr indent="0" marL="0">
              <a:lnSpc>
                <a:spcPct val="112000"/>
              </a:lnSpc>
              <a:buNone/>
            </a:pPr>
            <a:r>
              <a:rPr lang="en-US" sz="1050" dirty="0">
                <a:solidFill>
                  <a:srgbClr val="525252"/>
                </a:solidFill>
                <a:latin typeface="IBM Plex Sans" pitchFamily="34" charset="0"/>
                <a:ea typeface="IBM Plex Sans" pitchFamily="34" charset="-122"/>
                <a:cs typeface="IBM Plex Sans" pitchFamily="34" charset="-120"/>
              </a:rPr>
              <a:t>Policy-as-code, agents de validation, registre, métriques, human-on-loop.</a:t>
            </a:r>
            <a:endParaRPr lang="en-US" sz="1050" dirty="0"/>
          </a:p>
        </p:txBody>
      </p:sp>
      <p:sp>
        <p:nvSpPr>
          <p:cNvPr id="30" name="Shape 24"/>
          <p:cNvSpPr/>
          <p:nvPr/>
        </p:nvSpPr>
        <p:spPr>
          <a:xfrm>
            <a:off x="9518904" y="1965960"/>
            <a:ext cx="2066544" cy="2377440"/>
          </a:xfrm>
          <a:prstGeom prst="rect">
            <a:avLst/>
          </a:prstGeom>
          <a:solidFill>
            <a:srgbClr val="FFFFFF"/>
          </a:solidFill>
          <a:ln/>
          <a:effectLst>
            <a:outerShdw sx="100000" sy="100000" kx="0" ky="0" algn="bl" rotWithShape="0" blurRad="101600" dist="25400" dir="8100000">
              <a:srgbClr val="000000">
                <a:alpha val="25000"/>
              </a:srgbClr>
            </a:outerShdw>
          </a:effectLst>
        </p:spPr>
      </p:sp>
      <p:sp>
        <p:nvSpPr>
          <p:cNvPr id="31" name="Shape 25"/>
          <p:cNvSpPr/>
          <p:nvPr/>
        </p:nvSpPr>
        <p:spPr>
          <a:xfrm>
            <a:off x="9518904" y="1965960"/>
            <a:ext cx="2066544" cy="64008"/>
          </a:xfrm>
          <a:prstGeom prst="rect">
            <a:avLst/>
          </a:prstGeom>
          <a:solidFill>
            <a:srgbClr val="FF7EB6"/>
          </a:solidFill>
          <a:ln/>
        </p:spPr>
      </p:sp>
      <p:sp>
        <p:nvSpPr>
          <p:cNvPr id="32" name="Shape 26"/>
          <p:cNvSpPr/>
          <p:nvPr/>
        </p:nvSpPr>
        <p:spPr>
          <a:xfrm>
            <a:off x="9838944" y="2258568"/>
            <a:ext cx="731520" cy="731520"/>
          </a:xfrm>
          <a:prstGeom prst="ellipse">
            <a:avLst/>
          </a:prstGeom>
          <a:solidFill>
            <a:srgbClr val="161616"/>
          </a:solidFill>
          <a:ln/>
        </p:spPr>
      </p:sp>
      <p:pic>
        <p:nvPicPr>
          <p:cNvPr id="33" name="Image 4" descr="preencoded.png">    </p:cNvPr>
          <p:cNvPicPr>
            <a:picLocks noChangeAspect="1"/>
          </p:cNvPicPr>
          <p:nvPr/>
        </p:nvPicPr>
        <p:blipFill>
          <a:blip r:embed="rId5"/>
          <a:stretch>
            <a:fillRect/>
          </a:stretch>
        </p:blipFill>
        <p:spPr>
          <a:xfrm>
            <a:off x="10003536" y="2441448"/>
            <a:ext cx="402336" cy="402336"/>
          </a:xfrm>
          <a:prstGeom prst="rect">
            <a:avLst/>
          </a:prstGeom>
        </p:spPr>
      </p:pic>
      <p:sp>
        <p:nvSpPr>
          <p:cNvPr id="34" name="Text 27"/>
          <p:cNvSpPr/>
          <p:nvPr/>
        </p:nvSpPr>
        <p:spPr>
          <a:xfrm>
            <a:off x="9793224" y="3017520"/>
            <a:ext cx="1563624" cy="457200"/>
          </a:xfrm>
          <a:prstGeom prst="rect">
            <a:avLst/>
          </a:prstGeom>
          <a:noFill/>
          <a:ln/>
        </p:spPr>
        <p:txBody>
          <a:bodyPr wrap="square" rtlCol="0" anchor="t"/>
          <a:lstStyle/>
          <a:p>
            <a:pPr indent="0" marL="0">
              <a:buNone/>
            </a:pPr>
            <a:r>
              <a:rPr lang="en-US" sz="1350" b="1" dirty="0">
                <a:solidFill>
                  <a:srgbClr val="161616"/>
                </a:solidFill>
                <a:latin typeface="IBM Plex Sans" pitchFamily="34" charset="0"/>
                <a:ea typeface="IBM Plex Sans" pitchFamily="34" charset="-122"/>
                <a:cs typeface="IBM Plex Sans" pitchFamily="34" charset="-120"/>
              </a:rPr>
              <a:t>Culture</a:t>
            </a:r>
            <a:endParaRPr lang="en-US" sz="1350" dirty="0"/>
          </a:p>
        </p:txBody>
      </p:sp>
      <p:sp>
        <p:nvSpPr>
          <p:cNvPr id="35" name="Text 28"/>
          <p:cNvSpPr/>
          <p:nvPr/>
        </p:nvSpPr>
        <p:spPr>
          <a:xfrm>
            <a:off x="9793224" y="3502152"/>
            <a:ext cx="1563624" cy="804672"/>
          </a:xfrm>
          <a:prstGeom prst="rect">
            <a:avLst/>
          </a:prstGeom>
          <a:noFill/>
          <a:ln/>
        </p:spPr>
        <p:txBody>
          <a:bodyPr wrap="square" rtlCol="0" anchor="ctr"/>
          <a:lstStyle/>
          <a:p>
            <a:pPr indent="0" marL="0">
              <a:lnSpc>
                <a:spcPct val="112000"/>
              </a:lnSpc>
              <a:buNone/>
            </a:pPr>
            <a:r>
              <a:rPr lang="en-US" sz="1050" dirty="0">
                <a:solidFill>
                  <a:srgbClr val="525252"/>
                </a:solidFill>
                <a:latin typeface="IBM Plex Sans" pitchFamily="34" charset="0"/>
                <a:ea typeface="IBM Plex Sans" pitchFamily="34" charset="-122"/>
                <a:cs typeface="IBM Plex Sans" pitchFamily="34" charset="-120"/>
              </a:rPr>
              <a:t>La plus négligée : scepticisme sain, mob programming, droit à l'erreur.</a:t>
            </a:r>
            <a:endParaRPr lang="en-US" sz="1050" dirty="0"/>
          </a:p>
        </p:txBody>
      </p:sp>
      <p:sp>
        <p:nvSpPr>
          <p:cNvPr id="36" name="Shape 29"/>
          <p:cNvSpPr/>
          <p:nvPr/>
        </p:nvSpPr>
        <p:spPr>
          <a:xfrm>
            <a:off x="777240" y="4617720"/>
            <a:ext cx="5166360" cy="1143000"/>
          </a:xfrm>
          <a:prstGeom prst="rect">
            <a:avLst/>
          </a:prstGeom>
          <a:solidFill>
            <a:srgbClr val="161616"/>
          </a:solidFill>
          <a:ln/>
        </p:spPr>
      </p:sp>
      <p:sp>
        <p:nvSpPr>
          <p:cNvPr id="37" name="Shape 30"/>
          <p:cNvSpPr/>
          <p:nvPr/>
        </p:nvSpPr>
        <p:spPr>
          <a:xfrm>
            <a:off x="1051560" y="4910328"/>
            <a:ext cx="548640" cy="548640"/>
          </a:xfrm>
          <a:prstGeom prst="ellipse">
            <a:avLst/>
          </a:prstGeom>
          <a:solidFill>
            <a:srgbClr val="262626"/>
          </a:solidFill>
          <a:ln/>
        </p:spPr>
      </p:sp>
      <p:pic>
        <p:nvPicPr>
          <p:cNvPr id="38" name="Image 5" descr="preencoded.png">    </p:cNvPr>
          <p:cNvPicPr>
            <a:picLocks noChangeAspect="1"/>
          </p:cNvPicPr>
          <p:nvPr/>
        </p:nvPicPr>
        <p:blipFill>
          <a:blip r:embed="rId6"/>
          <a:stretch>
            <a:fillRect/>
          </a:stretch>
        </p:blipFill>
        <p:spPr>
          <a:xfrm>
            <a:off x="1161288" y="5020056"/>
            <a:ext cx="329184" cy="329184"/>
          </a:xfrm>
          <a:prstGeom prst="rect">
            <a:avLst/>
          </a:prstGeom>
        </p:spPr>
      </p:pic>
      <p:sp>
        <p:nvSpPr>
          <p:cNvPr id="39" name="Text 31"/>
          <p:cNvSpPr/>
          <p:nvPr/>
        </p:nvSpPr>
        <p:spPr>
          <a:xfrm>
            <a:off x="1783080" y="4782312"/>
            <a:ext cx="4023360" cy="365760"/>
          </a:xfrm>
          <a:prstGeom prst="rect">
            <a:avLst/>
          </a:prstGeom>
          <a:noFill/>
          <a:ln/>
        </p:spPr>
        <p:txBody>
          <a:bodyPr wrap="square" rtlCol="0" anchor="ctr"/>
          <a:lstStyle/>
          <a:p>
            <a:pPr indent="0" marL="0">
              <a:buNone/>
            </a:pPr>
            <a:r>
              <a:rPr lang="en-US" sz="1500" b="1" dirty="0">
                <a:solidFill>
                  <a:srgbClr val="FFFFFF"/>
                </a:solidFill>
                <a:latin typeface="IBM Plex Sans" pitchFamily="34" charset="0"/>
                <a:ea typeface="IBM Plex Sans" pitchFamily="34" charset="-122"/>
                <a:cs typeface="IBM Plex Sans" pitchFamily="34" charset="-120"/>
              </a:rPr>
              <a:t>Augmenter, pas remplacer</a:t>
            </a:r>
            <a:endParaRPr lang="en-US" sz="1500" dirty="0"/>
          </a:p>
        </p:txBody>
      </p:sp>
      <p:sp>
        <p:nvSpPr>
          <p:cNvPr id="40" name="Text 32"/>
          <p:cNvSpPr/>
          <p:nvPr/>
        </p:nvSpPr>
        <p:spPr>
          <a:xfrm>
            <a:off x="1783080" y="5120640"/>
            <a:ext cx="4023360" cy="594360"/>
          </a:xfrm>
          <a:prstGeom prst="rect">
            <a:avLst/>
          </a:prstGeom>
          <a:noFill/>
          <a:ln/>
        </p:spPr>
        <p:txBody>
          <a:bodyPr wrap="square" rtlCol="0" anchor="ctr"/>
          <a:lstStyle/>
          <a:p>
            <a:pPr indent="0" marL="0">
              <a:lnSpc>
                <a:spcPct val="112000"/>
              </a:lnSpc>
              <a:buNone/>
            </a:pPr>
            <a:r>
              <a:rPr lang="en-US" sz="1100" dirty="0">
                <a:solidFill>
                  <a:srgbClr val="C6C6C6"/>
                </a:solidFill>
                <a:latin typeface="IBM Plex Sans" pitchFamily="34" charset="0"/>
                <a:ea typeface="IBM Plex Sans" pitchFamily="34" charset="-122"/>
                <a:cs typeface="IBM Plex Sans" pitchFamily="34" charset="-120"/>
              </a:rPr>
              <a:t>Le « héros du code » devient « system thinker ». L'humain passe de l'exécution au jugement et à l'orchestration.</a:t>
            </a:r>
            <a:endParaRPr lang="en-US" sz="1100" dirty="0"/>
          </a:p>
        </p:txBody>
      </p:sp>
      <p:sp>
        <p:nvSpPr>
          <p:cNvPr id="41" name="Shape 33"/>
          <p:cNvSpPr/>
          <p:nvPr/>
        </p:nvSpPr>
        <p:spPr>
          <a:xfrm>
            <a:off x="6217920" y="4617720"/>
            <a:ext cx="5166360" cy="1143000"/>
          </a:xfrm>
          <a:prstGeom prst="rect">
            <a:avLst/>
          </a:prstGeom>
          <a:solidFill>
            <a:srgbClr val="161616"/>
          </a:solidFill>
          <a:ln/>
        </p:spPr>
      </p:sp>
      <p:sp>
        <p:nvSpPr>
          <p:cNvPr id="42" name="Shape 34"/>
          <p:cNvSpPr/>
          <p:nvPr/>
        </p:nvSpPr>
        <p:spPr>
          <a:xfrm>
            <a:off x="6492240" y="4910328"/>
            <a:ext cx="548640" cy="548640"/>
          </a:xfrm>
          <a:prstGeom prst="ellipse">
            <a:avLst/>
          </a:prstGeom>
          <a:solidFill>
            <a:srgbClr val="262626"/>
          </a:solidFill>
          <a:ln/>
        </p:spPr>
      </p:sp>
      <p:pic>
        <p:nvPicPr>
          <p:cNvPr id="43" name="Image 6" descr="preencoded.png">    </p:cNvPr>
          <p:cNvPicPr>
            <a:picLocks noChangeAspect="1"/>
          </p:cNvPicPr>
          <p:nvPr/>
        </p:nvPicPr>
        <p:blipFill>
          <a:blip r:embed="rId7"/>
          <a:stretch>
            <a:fillRect/>
          </a:stretch>
        </p:blipFill>
        <p:spPr>
          <a:xfrm>
            <a:off x="6601968" y="5020056"/>
            <a:ext cx="329184" cy="329184"/>
          </a:xfrm>
          <a:prstGeom prst="rect">
            <a:avLst/>
          </a:prstGeom>
        </p:spPr>
      </p:pic>
      <p:sp>
        <p:nvSpPr>
          <p:cNvPr id="44" name="Text 35"/>
          <p:cNvSpPr/>
          <p:nvPr/>
        </p:nvSpPr>
        <p:spPr>
          <a:xfrm>
            <a:off x="7223760" y="4782312"/>
            <a:ext cx="4023360" cy="365760"/>
          </a:xfrm>
          <a:prstGeom prst="rect">
            <a:avLst/>
          </a:prstGeom>
          <a:noFill/>
          <a:ln/>
        </p:spPr>
        <p:txBody>
          <a:bodyPr wrap="square" rtlCol="0" anchor="ctr"/>
          <a:lstStyle/>
          <a:p>
            <a:pPr indent="0" marL="0">
              <a:buNone/>
            </a:pPr>
            <a:r>
              <a:rPr lang="en-US" sz="1500" b="1" dirty="0">
                <a:solidFill>
                  <a:srgbClr val="FFFFFF"/>
                </a:solidFill>
                <a:latin typeface="IBM Plex Sans" pitchFamily="34" charset="0"/>
                <a:ea typeface="IBM Plex Sans" pitchFamily="34" charset="-122"/>
                <a:cs typeface="IBM Plex Sans" pitchFamily="34" charset="-120"/>
              </a:rPr>
              <a:t>Pas d'échelle, pas de valeur</a:t>
            </a:r>
            <a:endParaRPr lang="en-US" sz="1500" dirty="0"/>
          </a:p>
        </p:txBody>
      </p:sp>
      <p:sp>
        <p:nvSpPr>
          <p:cNvPr id="45" name="Text 36"/>
          <p:cNvSpPr/>
          <p:nvPr/>
        </p:nvSpPr>
        <p:spPr>
          <a:xfrm>
            <a:off x="7223760" y="5120640"/>
            <a:ext cx="4023360" cy="594360"/>
          </a:xfrm>
          <a:prstGeom prst="rect">
            <a:avLst/>
          </a:prstGeom>
          <a:noFill/>
          <a:ln/>
        </p:spPr>
        <p:txBody>
          <a:bodyPr wrap="square" rtlCol="0" anchor="ctr"/>
          <a:lstStyle/>
          <a:p>
            <a:pPr indent="0" marL="0">
              <a:lnSpc>
                <a:spcPct val="112000"/>
              </a:lnSpc>
              <a:buNone/>
            </a:pPr>
            <a:r>
              <a:rPr lang="en-US" sz="1100" dirty="0">
                <a:solidFill>
                  <a:srgbClr val="C6C6C6"/>
                </a:solidFill>
                <a:latin typeface="IBM Plex Sans" pitchFamily="34" charset="0"/>
                <a:ea typeface="IBM Plex Sans" pitchFamily="34" charset="-122"/>
                <a:cs typeface="IBM Plex Sans" pitchFamily="34" charset="-120"/>
              </a:rPr>
              <a:t>Une adoption partielle déplace le blocage vers les métiers. La pleine valeur se capte sur les cinq dimensions à la fois.</a:t>
            </a:r>
            <a:endParaRPr lang="en-US" sz="1100" dirty="0"/>
          </a:p>
        </p:txBody>
      </p:sp>
      <p:sp>
        <p:nvSpPr>
          <p:cNvPr id="46" name="Text 37"/>
          <p:cNvSpPr/>
          <p:nvPr/>
        </p:nvSpPr>
        <p:spPr>
          <a:xfrm>
            <a:off x="777240" y="5943600"/>
            <a:ext cx="10607040" cy="502920"/>
          </a:xfrm>
          <a:prstGeom prst="rect">
            <a:avLst/>
          </a:prstGeom>
          <a:noFill/>
          <a:ln/>
        </p:spPr>
        <p:txBody>
          <a:bodyPr wrap="square" rtlCol="0" anchor="ctr"/>
          <a:lstStyle/>
          <a:p>
            <a:pPr indent="0" marL="0">
              <a:buNone/>
            </a:pPr>
            <a:r>
              <a:rPr lang="en-US" sz="1400" b="1" i="1" dirty="0">
                <a:solidFill>
                  <a:srgbClr val="0043CE"/>
                </a:solidFill>
                <a:latin typeface="IBM Plex Sans" pitchFamily="34" charset="0"/>
                <a:ea typeface="IBM Plex Sans" pitchFamily="34" charset="-122"/>
                <a:cs typeface="IBM Plex Sans" pitchFamily="34" charset="-120"/>
              </a:rPr>
              <a:t>Adapter ses personnes, ses processus et sa culture en même temps que sa technologie : une transformation à piloter, pas à subir.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SDLC Agentic — Point de Vue</dc:title>
  <dc:subject>PptxGenJS Presentation</dc:subject>
  <dc:creator>Conseil</dc:creator>
  <cp:lastModifiedBy>Conseil</cp:lastModifiedBy>
  <cp:revision>1</cp:revision>
  <dcterms:created xsi:type="dcterms:W3CDTF">2026-06-01T09:59:40Z</dcterms:created>
  <dcterms:modified xsi:type="dcterms:W3CDTF">2026-06-01T09:59:40Z</dcterms:modified>
</cp:coreProperties>
</file>