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76" r:id="rId6"/>
  </p:sldMasterIdLst>
  <p:notesMasterIdLst>
    <p:notesMasterId r:id="rId17"/>
  </p:notesMasterIdLst>
  <p:sldIdLst>
    <p:sldId id="276" r:id="rId7"/>
    <p:sldId id="288" r:id="rId8"/>
    <p:sldId id="361" r:id="rId9"/>
    <p:sldId id="359" r:id="rId10"/>
    <p:sldId id="360" r:id="rId11"/>
    <p:sldId id="294" r:id="rId12"/>
    <p:sldId id="357" r:id="rId13"/>
    <p:sldId id="358" r:id="rId14"/>
    <p:sldId id="301" r:id="rId15"/>
    <p:sldId id="280"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68DCDE7-8DE5-4817-BDE0-19994DBFD137}">
          <p14:sldIdLst>
            <p14:sldId id="276"/>
            <p14:sldId id="288"/>
            <p14:sldId id="361"/>
            <p14:sldId id="359"/>
            <p14:sldId id="360"/>
            <p14:sldId id="294"/>
            <p14:sldId id="357"/>
            <p14:sldId id="358"/>
            <p14:sldId id="301"/>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3A8D"/>
    <a:srgbClr val="BF9000"/>
    <a:srgbClr val="C55A11"/>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90" autoAdjust="0"/>
    <p:restoredTop sz="93447" autoAdjust="0"/>
  </p:normalViewPr>
  <p:slideViewPr>
    <p:cSldViewPr snapToGrid="0">
      <p:cViewPr>
        <p:scale>
          <a:sx n="70" d="100"/>
          <a:sy n="70" d="100"/>
        </p:scale>
        <p:origin x="676"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100DA-EF6E-43A6-BE42-0328AC92E799}" type="datetimeFigureOut">
              <a:rPr lang="fr-FR" smtClean="0"/>
              <a:t>09/09/2026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E3A16-A2CC-405A-BF79-D9EF9861C593}" type="slidenum">
              <a:rPr lang="fr-FR" smtClean="0"/>
              <a:t>‹N°›</a:t>
            </a:fld>
            <a:endParaRPr lang="fr-FR"/>
          </a:p>
        </p:txBody>
      </p:sp>
    </p:spTree>
    <p:extLst>
      <p:ext uri="{BB962C8B-B14F-4D97-AF65-F5344CB8AC3E}">
        <p14:creationId xmlns:p14="http://schemas.microsoft.com/office/powerpoint/2010/main" val="347210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1</a:t>
            </a:fld>
            <a:endParaRPr lang="fr-FR"/>
          </a:p>
        </p:txBody>
      </p:sp>
    </p:spTree>
    <p:extLst>
      <p:ext uri="{BB962C8B-B14F-4D97-AF65-F5344CB8AC3E}">
        <p14:creationId xmlns:p14="http://schemas.microsoft.com/office/powerpoint/2010/main" val="3091968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lnSpc>
                <a:spcPct val="110000"/>
              </a:lnSpc>
              <a:buNone/>
            </a:pPr>
            <a:endParaRPr lang="en-US" sz="1200" i="1" dirty="0">
              <a:solidFill>
                <a:srgbClr val="1B2433"/>
              </a:solidFill>
              <a:latin typeface="Calibri" pitchFamily="34" charset="0"/>
              <a:ea typeface="Calibri" pitchFamily="34" charset="-122"/>
              <a:cs typeface="Calibri" pitchFamily="34" charset="-120"/>
            </a:endParaRP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2</a:t>
            </a:fld>
            <a:endParaRPr lang="fr-FR"/>
          </a:p>
        </p:txBody>
      </p:sp>
    </p:spTree>
    <p:extLst>
      <p:ext uri="{BB962C8B-B14F-4D97-AF65-F5344CB8AC3E}">
        <p14:creationId xmlns:p14="http://schemas.microsoft.com/office/powerpoint/2010/main" val="2629806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Au niveau des services unitaires, on peut même intégrer :</a:t>
            </a:r>
          </a:p>
          <a:p>
            <a:r>
              <a:rPr lang="fr-FR" dirty="0"/>
              <a:t>1- Les services internes à l’OCRF pour usage interne et pour usage </a:t>
            </a:r>
            <a:r>
              <a:rPr lang="fr-FR" dirty="0" err="1"/>
              <a:t>agentic</a:t>
            </a:r>
            <a:endParaRPr lang="fr-FR" dirty="0"/>
          </a:p>
          <a:p>
            <a:r>
              <a:rPr lang="fr-FR" dirty="0"/>
              <a:t>2- Autres services unitaires à la discrétion de H620 (Ex: </a:t>
            </a:r>
            <a:r>
              <a:rPr lang="fr-FR" dirty="0" err="1"/>
              <a:t>Detection</a:t>
            </a:r>
            <a:r>
              <a:rPr lang="fr-FR" dirty="0"/>
              <a:t> de logo)</a:t>
            </a: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3</a:t>
            </a:fld>
            <a:endParaRPr lang="fr-FR"/>
          </a:p>
        </p:txBody>
      </p:sp>
    </p:spTree>
    <p:extLst>
      <p:ext uri="{BB962C8B-B14F-4D97-AF65-F5344CB8AC3E}">
        <p14:creationId xmlns:p14="http://schemas.microsoft.com/office/powerpoint/2010/main" val="3953916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lnSpc>
                <a:spcPct val="110000"/>
              </a:lnSpc>
            </a:pPr>
            <a:r>
              <a:rPr lang="fr-FR" sz="1200" b="1" i="1" dirty="0">
                <a:solidFill>
                  <a:srgbClr val="FF0000"/>
                </a:solidFill>
                <a:latin typeface="Calibri"/>
              </a:rPr>
              <a:t>À confirmer avant le pré-cadrage de Septembre </a:t>
            </a:r>
          </a:p>
          <a:p>
            <a:pPr algn="l">
              <a:lnSpc>
                <a:spcPct val="110000"/>
              </a:lnSpc>
            </a:pPr>
            <a:r>
              <a:rPr lang="fr-FR" sz="1200" b="1" i="1" dirty="0">
                <a:solidFill>
                  <a:srgbClr val="FF0000"/>
                </a:solidFill>
                <a:latin typeface="Calibri"/>
              </a:rPr>
              <a:t>— </a:t>
            </a:r>
            <a:r>
              <a:rPr lang="fr-FR" sz="1200" b="0" i="1" dirty="0">
                <a:solidFill>
                  <a:srgbClr val="FF0000"/>
                </a:solidFill>
                <a:latin typeface="Calibri"/>
              </a:rPr>
              <a:t>bac à sable : faisable ou non chez EI ? Point à caler avec l'Innovation </a:t>
            </a:r>
            <a:r>
              <a:rPr lang="fr-FR" sz="1200" b="0" i="1" dirty="0" err="1">
                <a:solidFill>
                  <a:srgbClr val="FF0000"/>
                </a:solidFill>
                <a:latin typeface="Calibri"/>
              </a:rPr>
              <a:t>Factory</a:t>
            </a:r>
            <a:r>
              <a:rPr lang="fr-FR" sz="1200" b="0" i="1" dirty="0">
                <a:solidFill>
                  <a:srgbClr val="FF0000"/>
                </a:solidFill>
                <a:latin typeface="Calibri"/>
              </a:rPr>
              <a:t> pour confirmer la faisabilité des environnements de test.</a:t>
            </a:r>
          </a:p>
          <a:p>
            <a:pPr marL="171450" indent="-171450" algn="l">
              <a:lnSpc>
                <a:spcPct val="110000"/>
              </a:lnSpc>
              <a:buFontTx/>
              <a:buChar char="-"/>
            </a:pPr>
            <a:r>
              <a:rPr lang="fr-FR" sz="1200" i="1" dirty="0">
                <a:solidFill>
                  <a:srgbClr val="FF0000"/>
                </a:solidFill>
                <a:latin typeface="Calibri"/>
              </a:rPr>
              <a:t>Est-ce que ça va être accessible uniquement par la MOE, si par la MOA aussi (il auront accès à quoi). Et de toute façon la </a:t>
            </a:r>
            <a:r>
              <a:rPr lang="fr-FR" sz="1200" i="1" dirty="0" err="1">
                <a:solidFill>
                  <a:srgbClr val="FF0000"/>
                </a:solidFill>
                <a:latin typeface="Calibri"/>
              </a:rPr>
              <a:t>prioriété</a:t>
            </a:r>
            <a:r>
              <a:rPr lang="fr-FR" sz="1200" i="1" dirty="0">
                <a:solidFill>
                  <a:srgbClr val="FF0000"/>
                </a:solidFill>
                <a:latin typeface="Calibri"/>
              </a:rPr>
              <a:t> serait la MOE</a:t>
            </a:r>
          </a:p>
          <a:p>
            <a:pPr marL="171450" indent="-171450" algn="l">
              <a:lnSpc>
                <a:spcPct val="110000"/>
              </a:lnSpc>
              <a:buFontTx/>
              <a:buChar char="-"/>
            </a:pPr>
            <a:endParaRPr lang="fr-FR" sz="1200" i="1" dirty="0">
              <a:solidFill>
                <a:srgbClr val="FF0000"/>
              </a:solidFill>
              <a:latin typeface="Calibri"/>
            </a:endParaRPr>
          </a:p>
          <a:p>
            <a:pPr algn="l">
              <a:lnSpc>
                <a:spcPct val="110000"/>
              </a:lnSpc>
            </a:pPr>
            <a:r>
              <a:rPr lang="fr-FR" sz="1200" i="1" dirty="0">
                <a:solidFill>
                  <a:srgbClr val="FF0000"/>
                </a:solidFill>
                <a:latin typeface="Calibri"/>
              </a:rPr>
              <a:t>Si ce n’est pas fait : Dire que ce travail va être fait dans le cadrage</a:t>
            </a:r>
            <a:endParaRPr lang="fr-FR" sz="1200" b="0" i="1" dirty="0">
              <a:solidFill>
                <a:srgbClr val="FF0000"/>
              </a:solidFill>
              <a:latin typeface="Calibri"/>
            </a:endParaRPr>
          </a:p>
          <a:p>
            <a:endParaRPr lang="fr-FR" dirty="0"/>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4</a:t>
            </a:fld>
            <a:endParaRPr lang="fr-FR"/>
          </a:p>
        </p:txBody>
      </p:sp>
    </p:spTree>
    <p:extLst>
      <p:ext uri="{BB962C8B-B14F-4D97-AF65-F5344CB8AC3E}">
        <p14:creationId xmlns:p14="http://schemas.microsoft.com/office/powerpoint/2010/main" val="490392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Interface d’appel </a:t>
            </a: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5</a:t>
            </a:fld>
            <a:endParaRPr lang="fr-FR"/>
          </a:p>
        </p:txBody>
      </p:sp>
    </p:spTree>
    <p:extLst>
      <p:ext uri="{BB962C8B-B14F-4D97-AF65-F5344CB8AC3E}">
        <p14:creationId xmlns:p14="http://schemas.microsoft.com/office/powerpoint/2010/main" val="807689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Symbol" panose="05050102010706020507" pitchFamily="18" charset="2"/>
              <a:buNone/>
            </a:pPr>
            <a:r>
              <a:rPr lang="fr-FR" dirty="0" err="1"/>
              <a:t>APIsation</a:t>
            </a:r>
            <a:r>
              <a:rPr lang="fr-FR" dirty="0"/>
              <a:t> en REST : </a:t>
            </a:r>
            <a:r>
              <a:rPr lang="fr-FR" dirty="0" err="1"/>
              <a:t>Json</a:t>
            </a:r>
            <a:r>
              <a:rPr lang="fr-FR" dirty="0"/>
              <a:t> en entrée et sortie</a:t>
            </a:r>
          </a:p>
          <a:p>
            <a:pPr marL="171450" indent="-171450">
              <a:buFont typeface="Arial" panose="020B0604020202020204" pitchFamily="34" charset="0"/>
              <a:buChar char="•"/>
            </a:pPr>
            <a:r>
              <a:rPr lang="fr-FR" dirty="0"/>
              <a:t>Norme sur le cloud</a:t>
            </a:r>
          </a:p>
          <a:p>
            <a:pPr marL="171450" indent="-171450">
              <a:buFont typeface="Arial" panose="020B0604020202020204" pitchFamily="34" charset="0"/>
              <a:buChar char="•"/>
            </a:pPr>
            <a:r>
              <a:rPr lang="fr-FR" dirty="0"/>
              <a:t>Dépendance protocole, mais pas dépendance physique </a:t>
            </a: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6</a:t>
            </a:fld>
            <a:endParaRPr lang="fr-FR"/>
          </a:p>
        </p:txBody>
      </p:sp>
    </p:spTree>
    <p:extLst>
      <p:ext uri="{BB962C8B-B14F-4D97-AF65-F5344CB8AC3E}">
        <p14:creationId xmlns:p14="http://schemas.microsoft.com/office/powerpoint/2010/main" val="39292743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US" dirty="0"/>
          </a:p>
        </p:txBody>
      </p:sp>
      <p:sp>
        <p:nvSpPr>
          <p:cNvPr id="9" name="Rectangle 13"/>
          <p:cNvSpPr/>
          <p:nvPr userDrawn="1"/>
        </p:nvSpPr>
        <p:spPr>
          <a:xfrm>
            <a:off x="4880008" y="3858688"/>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10" y="6307275"/>
            <a:ext cx="531475" cy="274695"/>
          </a:xfrm>
          <a:prstGeom prst="rect">
            <a:avLst/>
          </a:prstGeom>
        </p:spPr>
      </p:pic>
    </p:spTree>
    <p:extLst>
      <p:ext uri="{BB962C8B-B14F-4D97-AF65-F5344CB8AC3E}">
        <p14:creationId xmlns:p14="http://schemas.microsoft.com/office/powerpoint/2010/main" val="352362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43365310"/>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00463036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119570270"/>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3" name="Espace réservé du texte 3"/>
          <p:cNvSpPr>
            <a:spLocks noGrp="1"/>
          </p:cNvSpPr>
          <p:nvPr>
            <p:ph type="body" sz="quarter" idx="16"/>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410802727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8" y="3515521"/>
            <a:ext cx="10933641"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814422790"/>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5" y="3515521"/>
            <a:ext cx="10941844"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35745239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24" name="Espace réservé du pied de page 4"/>
          <p:cNvSpPr>
            <a:spLocks noGrp="1"/>
          </p:cNvSpPr>
          <p:nvPr>
            <p:ph type="ftr" sz="quarter" idx="11"/>
          </p:nvPr>
        </p:nvSpPr>
        <p:spPr>
          <a:xfrm>
            <a:off x="4648201"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2"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744012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55"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56" name="Espace réservé du pied de page 4"/>
          <p:cNvSpPr>
            <a:spLocks noGrp="1"/>
          </p:cNvSpPr>
          <p:nvPr>
            <p:ph type="ftr" sz="quarter" idx="11"/>
          </p:nvPr>
        </p:nvSpPr>
        <p:spPr>
          <a:xfrm>
            <a:off x="4648203"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6"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577373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5"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0"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6309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r>
              <a:rPr lang="fr-FR"/>
              <a:t>Atterrissage Alexandrie - Gouvernance et Organisation</a:t>
            </a:r>
            <a:endParaRPr/>
          </a:p>
        </p:txBody>
      </p:sp>
      <p:sp>
        <p:nvSpPr>
          <p:cNvPr id="21"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988982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dirty="0"/>
              <a:t>Modifiez le style du titre</a:t>
            </a:r>
          </a:p>
        </p:txBody>
      </p:sp>
    </p:spTree>
    <p:extLst>
      <p:ext uri="{BB962C8B-B14F-4D97-AF65-F5344CB8AC3E}">
        <p14:creationId xmlns:p14="http://schemas.microsoft.com/office/powerpoint/2010/main" val="3058598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dirty="0"/>
              <a:t>Modifiez le style du titre</a:t>
            </a:r>
          </a:p>
        </p:txBody>
      </p:sp>
    </p:spTree>
    <p:extLst>
      <p:ext uri="{BB962C8B-B14F-4D97-AF65-F5344CB8AC3E}">
        <p14:creationId xmlns:p14="http://schemas.microsoft.com/office/powerpoint/2010/main" val="2322462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pitre image">
    <p:bg>
      <p:bgPr>
        <a:solidFill>
          <a:srgbClr val="003A8D"/>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7262446"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2" name="Titre 1"/>
          <p:cNvSpPr>
            <a:spLocks noGrp="1"/>
          </p:cNvSpPr>
          <p:nvPr>
            <p:ph type="title"/>
          </p:nvPr>
        </p:nvSpPr>
        <p:spPr>
          <a:xfrm>
            <a:off x="7603067" y="1384304"/>
            <a:ext cx="4485216" cy="2362199"/>
          </a:xfrm>
          <a:prstGeom prst="rect">
            <a:avLst/>
          </a:prstGeom>
        </p:spPr>
        <p:txBody>
          <a:bodyPr anchor="b">
            <a:normAutofit/>
          </a:bodyPr>
          <a:lstStyle>
            <a:lvl1pPr algn="l">
              <a:defRPr sz="5500">
                <a:solidFill>
                  <a:schemeClr val="bg1"/>
                </a:solidFill>
              </a:defRPr>
            </a:lvl1pPr>
          </a:lstStyle>
          <a:p>
            <a:r>
              <a:rPr lang="fr-FR" dirty="0"/>
              <a:t>Modifiez le style du titre</a:t>
            </a:r>
          </a:p>
        </p:txBody>
      </p:sp>
      <p:sp>
        <p:nvSpPr>
          <p:cNvPr id="5" name="Rectangle 4"/>
          <p:cNvSpPr/>
          <p:nvPr userDrawn="1"/>
        </p:nvSpPr>
        <p:spPr>
          <a:xfrm>
            <a:off x="9128846" y="3848103"/>
            <a:ext cx="2891704" cy="46893"/>
          </a:xfrm>
          <a:prstGeom prst="rect">
            <a:avLst/>
          </a:prstGeom>
          <a:solidFill>
            <a:schemeClr val="bg1">
              <a:alpha val="9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Tree>
    <p:extLst>
      <p:ext uri="{BB962C8B-B14F-4D97-AF65-F5344CB8AC3E}">
        <p14:creationId xmlns:p14="http://schemas.microsoft.com/office/powerpoint/2010/main" val="3956929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9" name="Rectangle à coins arrondis 8"/>
          <p:cNvSpPr/>
          <p:nvPr userDrawn="1"/>
        </p:nvSpPr>
        <p:spPr>
          <a:xfrm>
            <a:off x="266700" y="190501"/>
            <a:ext cx="11658600" cy="5549900"/>
          </a:xfrm>
          <a:prstGeom prst="roundRect">
            <a:avLst>
              <a:gd name="adj" fmla="val 3479"/>
            </a:avLst>
          </a:prstGeom>
          <a:solidFill>
            <a:srgbClr val="003A8D">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re 1"/>
          <p:cNvSpPr>
            <a:spLocks noGrp="1"/>
          </p:cNvSpPr>
          <p:nvPr>
            <p:ph type="ctrTitle" hasCustomPrompt="1"/>
          </p:nvPr>
        </p:nvSpPr>
        <p:spPr>
          <a:xfrm>
            <a:off x="4800600" y="1471085"/>
            <a:ext cx="6400800" cy="2387600"/>
          </a:xfrm>
          <a:prstGeom prst="rect">
            <a:avLst/>
          </a:prstGeom>
        </p:spPr>
        <p:txBody>
          <a:bodyPr anchor="b"/>
          <a:lstStyle>
            <a:lvl1pPr algn="l">
              <a:defRPr sz="6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4772" y="6152708"/>
            <a:ext cx="1969397" cy="247164"/>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99241" y="6126109"/>
            <a:ext cx="693258" cy="358313"/>
          </a:xfrm>
          <a:prstGeom prst="rect">
            <a:avLst/>
          </a:prstGeom>
        </p:spPr>
      </p:pic>
    </p:spTree>
    <p:extLst>
      <p:ext uri="{BB962C8B-B14F-4D97-AF65-F5344CB8AC3E}">
        <p14:creationId xmlns:p14="http://schemas.microsoft.com/office/powerpoint/2010/main" val="1756363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700" y="190501"/>
            <a:ext cx="11659455" cy="5549901"/>
          </a:xfrm>
          <a:prstGeom prst="rect">
            <a:avLst/>
          </a:prstGeom>
        </p:spPr>
      </p:pic>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009374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172750918"/>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314374591"/>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529653675"/>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2294287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2886674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1174611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397837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3"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5" name="Espace réservé du numéro de diapositive 5"/>
          <p:cNvSpPr>
            <a:spLocks noGrp="1"/>
          </p:cNvSpPr>
          <p:nvPr>
            <p:ph type="sldNum" sz="quarter" idx="4"/>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787636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224549937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Lst>
  <p:hf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8.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60C5A-DFC9-4E6A-8597-36B478C8101C}"/>
              </a:ext>
            </a:extLst>
          </p:cNvPr>
          <p:cNvSpPr>
            <a:spLocks noGrp="1"/>
          </p:cNvSpPr>
          <p:nvPr>
            <p:ph type="ctrTitle"/>
          </p:nvPr>
        </p:nvSpPr>
        <p:spPr>
          <a:xfrm>
            <a:off x="3334043" y="1652564"/>
            <a:ext cx="7333957" cy="2145456"/>
          </a:xfrm>
        </p:spPr>
        <p:txBody>
          <a:bodyPr/>
          <a:lstStyle/>
          <a:p>
            <a:pPr algn="r"/>
            <a:r>
              <a:rPr lang="fr-FR" b="1" dirty="0"/>
              <a:t>Pré cadrage NADIA</a:t>
            </a:r>
            <a:br>
              <a:rPr lang="fr-FR" b="1" dirty="0"/>
            </a:br>
            <a:r>
              <a:rPr lang="fr-FR" sz="4800" b="1" dirty="0"/>
              <a:t>Mise à disposition des services OCRF</a:t>
            </a:r>
          </a:p>
        </p:txBody>
      </p:sp>
      <p:sp>
        <p:nvSpPr>
          <p:cNvPr id="3" name="Sous-titre 2">
            <a:extLst>
              <a:ext uri="{FF2B5EF4-FFF2-40B4-BE49-F238E27FC236}">
                <a16:creationId xmlns:a16="http://schemas.microsoft.com/office/drawing/2014/main" id="{0CD9C4D3-A366-427C-BAF0-6C977F3D41D1}"/>
              </a:ext>
            </a:extLst>
          </p:cNvPr>
          <p:cNvSpPr>
            <a:spLocks noGrp="1"/>
          </p:cNvSpPr>
          <p:nvPr>
            <p:ph type="subTitle" idx="1"/>
          </p:nvPr>
        </p:nvSpPr>
        <p:spPr/>
        <p:txBody>
          <a:bodyPr/>
          <a:lstStyle/>
          <a:p>
            <a:pPr algn="r"/>
            <a:r>
              <a:rPr lang="fr-FR" dirty="0"/>
              <a:t>Version 0.6 — 31/08/2026  |  Support d'atelier de travail</a:t>
            </a:r>
          </a:p>
        </p:txBody>
      </p:sp>
    </p:spTree>
    <p:extLst>
      <p:ext uri="{BB962C8B-B14F-4D97-AF65-F5344CB8AC3E}">
        <p14:creationId xmlns:p14="http://schemas.microsoft.com/office/powerpoint/2010/main" val="427677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456CDD-0613-CAE9-AC27-1B0985836BA0}"/>
              </a:ext>
            </a:extLst>
          </p:cNvPr>
          <p:cNvSpPr>
            <a:spLocks noGrp="1"/>
          </p:cNvSpPr>
          <p:nvPr>
            <p:ph type="title"/>
          </p:nvPr>
        </p:nvSpPr>
        <p:spPr/>
        <p:txBody>
          <a:bodyPr>
            <a:normAutofit fontScale="90000"/>
          </a:bodyPr>
          <a:lstStyle/>
          <a:p>
            <a:r>
              <a:rPr lang="en-US" sz="3200" dirty="0" err="1">
                <a:ea typeface="Calibri" pitchFamily="34" charset="-122"/>
              </a:rPr>
              <a:t>Contexte</a:t>
            </a:r>
            <a:r>
              <a:rPr lang="en-US" sz="3200" dirty="0">
                <a:ea typeface="Calibri" pitchFamily="34" charset="-122"/>
              </a:rPr>
              <a:t> &amp; </a:t>
            </a:r>
            <a:r>
              <a:rPr lang="en-US" sz="3200" dirty="0" err="1">
                <a:ea typeface="Calibri" pitchFamily="34" charset="-122"/>
              </a:rPr>
              <a:t>objectifs</a:t>
            </a:r>
            <a:endParaRPr lang="en-US" sz="3200" dirty="0"/>
          </a:p>
        </p:txBody>
      </p:sp>
      <p:sp>
        <p:nvSpPr>
          <p:cNvPr id="3" name="Espace réservé du pied de page 2">
            <a:extLst>
              <a:ext uri="{FF2B5EF4-FFF2-40B4-BE49-F238E27FC236}">
                <a16:creationId xmlns:a16="http://schemas.microsoft.com/office/drawing/2014/main" id="{B6601A81-0C00-53FE-BB6F-C5B110714DC2}"/>
              </a:ext>
            </a:extLst>
          </p:cNvPr>
          <p:cNvSpPr>
            <a:spLocks noGrp="1"/>
          </p:cNvSpPr>
          <p:nvPr>
            <p:ph type="ftr" sz="quarter" idx="11"/>
          </p:nvPr>
        </p:nvSpPr>
        <p:spPr>
          <a:xfrm>
            <a:off x="1337733" y="5099600"/>
            <a:ext cx="10515600" cy="225426"/>
          </a:xfrm>
        </p:spPr>
        <p:txBody>
          <a:bodyPr/>
          <a:lstStyle/>
          <a:p>
            <a:r>
              <a:rPr lang="fr-FR" dirty="0"/>
              <a:t>Nadia – Dossier de pré-cadrage</a:t>
            </a:r>
          </a:p>
        </p:txBody>
      </p:sp>
      <p:sp>
        <p:nvSpPr>
          <p:cNvPr id="35" name="Shape 3">
            <a:extLst>
              <a:ext uri="{FF2B5EF4-FFF2-40B4-BE49-F238E27FC236}">
                <a16:creationId xmlns:a16="http://schemas.microsoft.com/office/drawing/2014/main" id="{6E4F5499-E1B5-328A-0D74-DD9474D5AD92}"/>
              </a:ext>
            </a:extLst>
          </p:cNvPr>
          <p:cNvSpPr/>
          <p:nvPr/>
        </p:nvSpPr>
        <p:spPr>
          <a:xfrm>
            <a:off x="457200" y="1015110"/>
            <a:ext cx="5394960" cy="2084832"/>
          </a:xfrm>
          <a:prstGeom prst="roundRect">
            <a:avLst>
              <a:gd name="adj" fmla="val 3509"/>
            </a:avLst>
          </a:prstGeom>
          <a:solidFill>
            <a:srgbClr val="F4F7FB"/>
          </a:solidFill>
          <a:ln/>
        </p:spPr>
        <p:txBody>
          <a:bodyPr/>
          <a:lstStyle/>
          <a:p>
            <a:endParaRPr lang="fr-FR">
              <a:latin typeface="Segoe UI" panose="020B0502040204020203" pitchFamily="34" charset="0"/>
              <a:cs typeface="Segoe UI" panose="020B0502040204020203" pitchFamily="34" charset="0"/>
            </a:endParaRPr>
          </a:p>
        </p:txBody>
      </p:sp>
      <p:sp>
        <p:nvSpPr>
          <p:cNvPr id="59" name="Shape 4">
            <a:extLst>
              <a:ext uri="{FF2B5EF4-FFF2-40B4-BE49-F238E27FC236}">
                <a16:creationId xmlns:a16="http://schemas.microsoft.com/office/drawing/2014/main" id="{B4DC5C6C-5C10-33D4-5A5A-CCFB3D51BDD7}"/>
              </a:ext>
            </a:extLst>
          </p:cNvPr>
          <p:cNvSpPr/>
          <p:nvPr/>
        </p:nvSpPr>
        <p:spPr>
          <a:xfrm>
            <a:off x="658368" y="1197990"/>
            <a:ext cx="457200" cy="457200"/>
          </a:xfrm>
          <a:prstGeom prst="ellipse">
            <a:avLst/>
          </a:prstGeom>
          <a:solidFill>
            <a:srgbClr val="1C7293"/>
          </a:solidFill>
          <a:ln/>
        </p:spPr>
        <p:txBody>
          <a:bodyPr/>
          <a:lstStyle/>
          <a:p>
            <a:endParaRPr lang="fr-FR">
              <a:latin typeface="Segoe UI" panose="020B0502040204020203" pitchFamily="34" charset="0"/>
              <a:cs typeface="Segoe UI" panose="020B0502040204020203" pitchFamily="34" charset="0"/>
            </a:endParaRPr>
          </a:p>
        </p:txBody>
      </p:sp>
      <p:pic>
        <p:nvPicPr>
          <p:cNvPr id="60" name="Image 0" descr="preencoded.png">
            <a:extLst>
              <a:ext uri="{FF2B5EF4-FFF2-40B4-BE49-F238E27FC236}">
                <a16:creationId xmlns:a16="http://schemas.microsoft.com/office/drawing/2014/main" id="{80D9B4C0-9896-08F4-C4DD-81020D9CD899}"/>
              </a:ext>
            </a:extLst>
          </p:cNvPr>
          <p:cNvPicPr>
            <a:picLocks noChangeAspect="1"/>
          </p:cNvPicPr>
          <p:nvPr/>
        </p:nvPicPr>
        <p:blipFill>
          <a:blip r:embed="rId3"/>
          <a:stretch>
            <a:fillRect/>
          </a:stretch>
        </p:blipFill>
        <p:spPr>
          <a:xfrm>
            <a:off x="768096" y="1307718"/>
            <a:ext cx="237744" cy="237744"/>
          </a:xfrm>
          <a:prstGeom prst="rect">
            <a:avLst/>
          </a:prstGeom>
        </p:spPr>
      </p:pic>
      <p:sp>
        <p:nvSpPr>
          <p:cNvPr id="61" name="Text 5">
            <a:extLst>
              <a:ext uri="{FF2B5EF4-FFF2-40B4-BE49-F238E27FC236}">
                <a16:creationId xmlns:a16="http://schemas.microsoft.com/office/drawing/2014/main" id="{795CB1E8-B3EC-4E9A-AEE1-F1870091B557}"/>
              </a:ext>
            </a:extLst>
          </p:cNvPr>
          <p:cNvSpPr/>
          <p:nvPr/>
        </p:nvSpPr>
        <p:spPr>
          <a:xfrm>
            <a:off x="1243584" y="1234566"/>
            <a:ext cx="4480560" cy="365760"/>
          </a:xfrm>
          <a:prstGeom prst="rect">
            <a:avLst/>
          </a:prstGeom>
          <a:noFill/>
          <a:ln/>
        </p:spPr>
        <p:txBody>
          <a:bodyPr wrap="square" lIns="0" tIns="0" rIns="0" bIns="0" rtlCol="0" anchor="ctr"/>
          <a:lstStyle/>
          <a:p>
            <a:pPr marL="0" indent="0">
              <a:buNone/>
            </a:pPr>
            <a:r>
              <a:rPr lang="en-US" sz="1400" b="1" dirty="0">
                <a:solidFill>
                  <a:srgbClr val="21295C"/>
                </a:solidFill>
                <a:latin typeface="Segoe UI" panose="020B0502040204020203" pitchFamily="34" charset="0"/>
                <a:ea typeface="Calibri" pitchFamily="34" charset="-122"/>
                <a:cs typeface="Segoe UI" panose="020B0502040204020203" pitchFamily="34" charset="0"/>
              </a:rPr>
              <a:t>Situation actuelle</a:t>
            </a:r>
            <a:endParaRPr lang="en-US" sz="1400" dirty="0">
              <a:latin typeface="Segoe UI" panose="020B0502040204020203" pitchFamily="34" charset="0"/>
              <a:cs typeface="Segoe UI" panose="020B0502040204020203" pitchFamily="34" charset="0"/>
            </a:endParaRPr>
          </a:p>
        </p:txBody>
      </p:sp>
      <p:sp>
        <p:nvSpPr>
          <p:cNvPr id="62" name="Text 6">
            <a:extLst>
              <a:ext uri="{FF2B5EF4-FFF2-40B4-BE49-F238E27FC236}">
                <a16:creationId xmlns:a16="http://schemas.microsoft.com/office/drawing/2014/main" id="{C1A8B5A4-48D7-4D3F-3233-745328CCF957}"/>
              </a:ext>
            </a:extLst>
          </p:cNvPr>
          <p:cNvSpPr/>
          <p:nvPr/>
        </p:nvSpPr>
        <p:spPr>
          <a:xfrm>
            <a:off x="638634" y="1710054"/>
            <a:ext cx="5029200" cy="1380744"/>
          </a:xfrm>
          <a:prstGeom prst="rect">
            <a:avLst/>
          </a:prstGeom>
          <a:noFill/>
          <a:ln/>
        </p:spPr>
        <p:txBody>
          <a:bodyPr wrap="square" lIns="0" tIns="0" rIns="0" bIns="0" rtlCol="0" anchor="t"/>
          <a:lstStyle/>
          <a:p>
            <a:pPr marL="0" indent="0">
              <a:lnSpc>
                <a:spcPct val="115000"/>
              </a:lnSpc>
              <a:buNone/>
            </a:pPr>
            <a:r>
              <a:rPr lang="en-US" sz="1100" dirty="0">
                <a:solidFill>
                  <a:srgbClr val="1B2433"/>
                </a:solidFill>
                <a:latin typeface="Segoe UI" panose="020B0502040204020203" pitchFamily="34" charset="0"/>
                <a:ea typeface="Calibri" pitchFamily="34" charset="-122"/>
                <a:cs typeface="Segoe UI" panose="020B0502040204020203" pitchFamily="34" charset="0"/>
              </a:rPr>
              <a:t>L'OCR Factory dispose de </a:t>
            </a:r>
            <a:r>
              <a:rPr lang="en-US" sz="1100" b="1" dirty="0" err="1">
                <a:solidFill>
                  <a:srgbClr val="1B2433"/>
                </a:solidFill>
                <a:latin typeface="Segoe UI" panose="020B0502040204020203" pitchFamily="34" charset="0"/>
                <a:ea typeface="Calibri" pitchFamily="34" charset="-122"/>
                <a:cs typeface="Segoe UI" panose="020B0502040204020203" pitchFamily="34" charset="0"/>
              </a:rPr>
              <a:t>capacités</a:t>
            </a:r>
            <a:r>
              <a:rPr lang="en-US" sz="1100" b="1" dirty="0">
                <a:solidFill>
                  <a:srgbClr val="1B2433"/>
                </a:solidFill>
                <a:latin typeface="Segoe UI" panose="020B0502040204020203" pitchFamily="34" charset="0"/>
                <a:ea typeface="Calibri" pitchFamily="34" charset="-122"/>
                <a:cs typeface="Segoe UI" panose="020B0502040204020203" pitchFamily="34" charset="0"/>
              </a:rPr>
              <a:t> IA (ML / GenAI), </a:t>
            </a:r>
            <a:r>
              <a:rPr lang="en-US" sz="1100" b="1" dirty="0" err="1">
                <a:solidFill>
                  <a:srgbClr val="1B2433"/>
                </a:solidFill>
                <a:latin typeface="Segoe UI" panose="020B0502040204020203" pitchFamily="34" charset="0"/>
                <a:ea typeface="Calibri" pitchFamily="34" charset="-122"/>
                <a:cs typeface="Segoe UI" panose="020B0502040204020203" pitchFamily="34" charset="0"/>
              </a:rPr>
              <a:t>Algorithmique</a:t>
            </a:r>
            <a:r>
              <a:rPr lang="en-US" sz="1100" b="1" dirty="0">
                <a:solidFill>
                  <a:srgbClr val="1B2433"/>
                </a:solidFill>
                <a:latin typeface="Segoe UI" panose="020B0502040204020203" pitchFamily="34" charset="0"/>
                <a:ea typeface="Calibri" pitchFamily="34" charset="-122"/>
                <a:cs typeface="Segoe UI" panose="020B0502040204020203" pitchFamily="34" charset="0"/>
              </a:rPr>
              <a:t> et </a:t>
            </a:r>
            <a:r>
              <a:rPr lang="en-US" sz="1100" b="1" dirty="0" err="1">
                <a:solidFill>
                  <a:srgbClr val="1B2433"/>
                </a:solidFill>
                <a:latin typeface="Segoe UI" panose="020B0502040204020203" pitchFamily="34" charset="0"/>
                <a:ea typeface="Calibri" pitchFamily="34" charset="-122"/>
                <a:cs typeface="Segoe UI" panose="020B0502040204020203" pitchFamily="34" charset="0"/>
              </a:rPr>
              <a:t>humaines</a:t>
            </a:r>
            <a:r>
              <a:rPr lang="en-US" sz="1100" b="1" dirty="0">
                <a:solidFill>
                  <a:srgbClr val="1B2433"/>
                </a:solidFill>
                <a:latin typeface="Segoe UI" panose="020B0502040204020203" pitchFamily="34" charset="0"/>
                <a:ea typeface="Calibri" pitchFamily="34" charset="-122"/>
                <a:cs typeface="Segoe UI" panose="020B0502040204020203" pitchFamily="34" charset="0"/>
              </a:rPr>
              <a:t> </a:t>
            </a:r>
            <a:r>
              <a:rPr lang="en-US" sz="1100" dirty="0">
                <a:solidFill>
                  <a:srgbClr val="1B2433"/>
                </a:solidFill>
                <a:latin typeface="Segoe UI" panose="020B0502040204020203" pitchFamily="34" charset="0"/>
                <a:ea typeface="Calibri" pitchFamily="34" charset="-122"/>
                <a:cs typeface="Segoe UI" panose="020B0502040204020203" pitchFamily="34" charset="0"/>
              </a:rPr>
              <a:t>matures : classification, extraction, validation, détection de suspicion </a:t>
            </a:r>
            <a:r>
              <a:rPr lang="en-US" sz="1100" dirty="0" err="1">
                <a:solidFill>
                  <a:srgbClr val="1B2433"/>
                </a:solidFill>
                <a:latin typeface="Segoe UI" panose="020B0502040204020203" pitchFamily="34" charset="0"/>
                <a:ea typeface="Calibri" pitchFamily="34" charset="-122"/>
                <a:cs typeface="Segoe UI" panose="020B0502040204020203" pitchFamily="34" charset="0"/>
              </a:rPr>
              <a:t>fraude</a:t>
            </a:r>
            <a:r>
              <a:rPr lang="en-US" sz="1100" dirty="0">
                <a:solidFill>
                  <a:srgbClr val="1B2433"/>
                </a:solidFill>
                <a:latin typeface="Segoe UI" panose="020B0502040204020203" pitchFamily="34" charset="0"/>
                <a:ea typeface="Calibri" pitchFamily="34" charset="-122"/>
                <a:cs typeface="Segoe UI" panose="020B0502040204020203" pitchFamily="34" charset="0"/>
              </a:rPr>
              <a:t>.</a:t>
            </a:r>
          </a:p>
          <a:p>
            <a:pPr marL="0" indent="0">
              <a:lnSpc>
                <a:spcPct val="115000"/>
              </a:lnSpc>
              <a:buNone/>
            </a:pPr>
            <a:endParaRPr lang="en-US" sz="1100" dirty="0">
              <a:solidFill>
                <a:srgbClr val="1B2433"/>
              </a:solidFill>
              <a:latin typeface="Segoe UI" panose="020B0502040204020203" pitchFamily="34" charset="0"/>
              <a:ea typeface="Calibri" pitchFamily="34" charset="-122"/>
              <a:cs typeface="Segoe UI" panose="020B0502040204020203" pitchFamily="34" charset="0"/>
            </a:endParaRPr>
          </a:p>
          <a:p>
            <a:pPr>
              <a:lnSpc>
                <a:spcPct val="115000"/>
              </a:lnSpc>
            </a:pPr>
            <a:r>
              <a:rPr lang="en-US" sz="1100" i="1" dirty="0" err="1">
                <a:solidFill>
                  <a:srgbClr val="5B6472"/>
                </a:solidFill>
                <a:latin typeface="Segoe UI" panose="020B0502040204020203" pitchFamily="34" charset="0"/>
                <a:ea typeface="Calibri" pitchFamily="34" charset="-122"/>
                <a:cs typeface="Segoe UI" panose="020B0502040204020203" pitchFamily="34" charset="0"/>
              </a:rPr>
              <a:t>Leur</a:t>
            </a:r>
            <a:r>
              <a:rPr lang="en-US" sz="1100" i="1" dirty="0">
                <a:solidFill>
                  <a:srgbClr val="5B6472"/>
                </a:solidFill>
                <a:latin typeface="Segoe UI" panose="020B0502040204020203" pitchFamily="34" charset="0"/>
                <a:ea typeface="Calibri" pitchFamily="34" charset="-122"/>
                <a:cs typeface="Segoe UI" panose="020B0502040204020203" pitchFamily="34" charset="0"/>
              </a:rPr>
              <a:t> </a:t>
            </a:r>
            <a:r>
              <a:rPr lang="en-US" sz="1100" i="1" dirty="0" err="1">
                <a:solidFill>
                  <a:srgbClr val="5B6472"/>
                </a:solidFill>
                <a:latin typeface="Segoe UI" panose="020B0502040204020203" pitchFamily="34" charset="0"/>
                <a:ea typeface="Calibri" pitchFamily="34" charset="-122"/>
                <a:cs typeface="Segoe UI" panose="020B0502040204020203" pitchFamily="34" charset="0"/>
              </a:rPr>
              <a:t>accès</a:t>
            </a:r>
            <a:r>
              <a:rPr lang="en-US" sz="1100" i="1" dirty="0">
                <a:solidFill>
                  <a:srgbClr val="5B6472"/>
                </a:solidFill>
                <a:latin typeface="Segoe UI" panose="020B0502040204020203" pitchFamily="34" charset="0"/>
                <a:ea typeface="Calibri" pitchFamily="34" charset="-122"/>
                <a:cs typeface="Segoe UI" panose="020B0502040204020203" pitchFamily="34" charset="0"/>
              </a:rPr>
              <a:t> par les </a:t>
            </a:r>
            <a:r>
              <a:rPr lang="en-US" sz="1100" i="1" dirty="0" err="1">
                <a:solidFill>
                  <a:srgbClr val="5B6472"/>
                </a:solidFill>
                <a:latin typeface="Segoe UI" panose="020B0502040204020203" pitchFamily="34" charset="0"/>
                <a:ea typeface="Calibri" pitchFamily="34" charset="-122"/>
                <a:cs typeface="Segoe UI" panose="020B0502040204020203" pitchFamily="34" charset="0"/>
              </a:rPr>
              <a:t>autres</a:t>
            </a:r>
            <a:r>
              <a:rPr lang="en-US" sz="1100" i="1" dirty="0">
                <a:solidFill>
                  <a:srgbClr val="5B6472"/>
                </a:solidFill>
                <a:latin typeface="Segoe UI" panose="020B0502040204020203" pitchFamily="34" charset="0"/>
                <a:ea typeface="Calibri" pitchFamily="34" charset="-122"/>
                <a:cs typeface="Segoe UI" panose="020B0502040204020203" pitchFamily="34" charset="0"/>
              </a:rPr>
              <a:t> équipes IT </a:t>
            </a:r>
            <a:r>
              <a:rPr lang="en-US" sz="1100" i="1" dirty="0" err="1">
                <a:solidFill>
                  <a:srgbClr val="5B6472"/>
                </a:solidFill>
                <a:latin typeface="Segoe UI" panose="020B0502040204020203" pitchFamily="34" charset="0"/>
                <a:ea typeface="Calibri" pitchFamily="34" charset="-122"/>
                <a:cs typeface="Segoe UI" panose="020B0502040204020203" pitchFamily="34" charset="0"/>
              </a:rPr>
              <a:t>reste</a:t>
            </a:r>
            <a:r>
              <a:rPr lang="en-US" sz="1100" i="1" dirty="0">
                <a:solidFill>
                  <a:srgbClr val="5B6472"/>
                </a:solidFill>
                <a:latin typeface="Segoe UI" panose="020B0502040204020203" pitchFamily="34" charset="0"/>
                <a:ea typeface="Calibri" pitchFamily="34" charset="-122"/>
                <a:cs typeface="Segoe UI" panose="020B0502040204020203" pitchFamily="34" charset="0"/>
              </a:rPr>
              <a:t> ad hoc : </a:t>
            </a:r>
            <a:r>
              <a:rPr lang="en-US" sz="1100" i="1" dirty="0" err="1">
                <a:solidFill>
                  <a:srgbClr val="5B6472"/>
                </a:solidFill>
                <a:latin typeface="Segoe UI" panose="020B0502040204020203" pitchFamily="34" charset="0"/>
                <a:ea typeface="Calibri" pitchFamily="34" charset="-122"/>
                <a:cs typeface="Segoe UI" panose="020B0502040204020203" pitchFamily="34" charset="0"/>
              </a:rPr>
              <a:t>sollicitations</a:t>
            </a:r>
            <a:r>
              <a:rPr lang="en-US" sz="1100" i="1" dirty="0">
                <a:solidFill>
                  <a:srgbClr val="5B6472"/>
                </a:solidFill>
                <a:latin typeface="Segoe UI" panose="020B0502040204020203" pitchFamily="34" charset="0"/>
                <a:ea typeface="Calibri" pitchFamily="34" charset="-122"/>
                <a:cs typeface="Segoe UI" panose="020B0502040204020203" pitchFamily="34" charset="0"/>
              </a:rPr>
              <a:t> </a:t>
            </a:r>
            <a:r>
              <a:rPr lang="en-US" sz="1100" i="1" dirty="0" err="1">
                <a:solidFill>
                  <a:srgbClr val="5B6472"/>
                </a:solidFill>
                <a:latin typeface="Segoe UI" panose="020B0502040204020203" pitchFamily="34" charset="0"/>
                <a:ea typeface="Calibri" pitchFamily="34" charset="-122"/>
                <a:cs typeface="Segoe UI" panose="020B0502040204020203" pitchFamily="34" charset="0"/>
              </a:rPr>
              <a:t>directes</a:t>
            </a:r>
            <a:r>
              <a:rPr lang="en-US" sz="1100" i="1" dirty="0">
                <a:solidFill>
                  <a:srgbClr val="5B6472"/>
                </a:solidFill>
                <a:latin typeface="Segoe UI" panose="020B0502040204020203" pitchFamily="34" charset="0"/>
                <a:ea typeface="Calibri" pitchFamily="34" charset="-122"/>
                <a:cs typeface="Segoe UI" panose="020B0502040204020203" pitchFamily="34" charset="0"/>
              </a:rPr>
              <a:t>, </a:t>
            </a:r>
            <a:r>
              <a:rPr lang="en-US" sz="1100" i="1" dirty="0" err="1">
                <a:solidFill>
                  <a:srgbClr val="5B6472"/>
                </a:solidFill>
                <a:latin typeface="Segoe UI" panose="020B0502040204020203" pitchFamily="34" charset="0"/>
                <a:ea typeface="Calibri" pitchFamily="34" charset="-122"/>
                <a:cs typeface="Segoe UI" panose="020B0502040204020203" pitchFamily="34" charset="0"/>
              </a:rPr>
              <a:t>intégrations</a:t>
            </a:r>
            <a:r>
              <a:rPr lang="en-US" sz="1100" i="1" dirty="0">
                <a:solidFill>
                  <a:srgbClr val="5B6472"/>
                </a:solidFill>
                <a:latin typeface="Segoe UI" panose="020B0502040204020203" pitchFamily="34" charset="0"/>
                <a:ea typeface="Calibri" pitchFamily="34" charset="-122"/>
                <a:cs typeface="Segoe UI" panose="020B0502040204020203" pitchFamily="34" charset="0"/>
              </a:rPr>
              <a:t> point-à-point, duplication </a:t>
            </a:r>
            <a:r>
              <a:rPr lang="en-US" sz="1100" i="1" dirty="0" err="1">
                <a:solidFill>
                  <a:srgbClr val="5B6472"/>
                </a:solidFill>
                <a:latin typeface="Segoe UI" panose="020B0502040204020203" pitchFamily="34" charset="0"/>
                <a:ea typeface="Calibri" pitchFamily="34" charset="-122"/>
                <a:cs typeface="Segoe UI" panose="020B0502040204020203" pitchFamily="34" charset="0"/>
              </a:rPr>
              <a:t>d'efforts</a:t>
            </a:r>
            <a:r>
              <a:rPr lang="en-US" sz="1100" i="1" dirty="0">
                <a:solidFill>
                  <a:srgbClr val="5B6472"/>
                </a:solidFill>
                <a:latin typeface="Segoe UI" panose="020B0502040204020203" pitchFamily="34" charset="0"/>
                <a:ea typeface="Calibri" pitchFamily="34" charset="-122"/>
                <a:cs typeface="Segoe UI" panose="020B0502040204020203" pitchFamily="34" charset="0"/>
              </a:rPr>
              <a:t>. </a:t>
            </a:r>
            <a:endParaRPr lang="en-US" sz="1100" dirty="0">
              <a:latin typeface="Segoe UI" panose="020B0502040204020203" pitchFamily="34" charset="0"/>
              <a:cs typeface="Segoe UI" panose="020B0502040204020203" pitchFamily="34" charset="0"/>
            </a:endParaRPr>
          </a:p>
        </p:txBody>
      </p:sp>
      <p:sp>
        <p:nvSpPr>
          <p:cNvPr id="64" name="Shape 8">
            <a:extLst>
              <a:ext uri="{FF2B5EF4-FFF2-40B4-BE49-F238E27FC236}">
                <a16:creationId xmlns:a16="http://schemas.microsoft.com/office/drawing/2014/main" id="{3494AE27-E9BF-1656-50DF-06B7D40E4570}"/>
              </a:ext>
            </a:extLst>
          </p:cNvPr>
          <p:cNvSpPr/>
          <p:nvPr/>
        </p:nvSpPr>
        <p:spPr>
          <a:xfrm>
            <a:off x="6035040" y="1015110"/>
            <a:ext cx="5696712" cy="2084832"/>
          </a:xfrm>
          <a:prstGeom prst="roundRect">
            <a:avLst>
              <a:gd name="adj" fmla="val 3509"/>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sp>
        <p:nvSpPr>
          <p:cNvPr id="65" name="Shape 9">
            <a:extLst>
              <a:ext uri="{FF2B5EF4-FFF2-40B4-BE49-F238E27FC236}">
                <a16:creationId xmlns:a16="http://schemas.microsoft.com/office/drawing/2014/main" id="{6FDCD74C-A21F-F6AB-F6FE-ACB34C391234}"/>
              </a:ext>
            </a:extLst>
          </p:cNvPr>
          <p:cNvSpPr/>
          <p:nvPr/>
        </p:nvSpPr>
        <p:spPr>
          <a:xfrm>
            <a:off x="6236208" y="1197990"/>
            <a:ext cx="457200" cy="457200"/>
          </a:xfrm>
          <a:prstGeom prst="ellipse">
            <a:avLst/>
          </a:prstGeom>
          <a:solidFill>
            <a:srgbClr val="F2A516"/>
          </a:solidFill>
          <a:ln/>
        </p:spPr>
        <p:txBody>
          <a:bodyPr/>
          <a:lstStyle/>
          <a:p>
            <a:endParaRPr lang="fr-FR">
              <a:latin typeface="Segoe UI" panose="020B0502040204020203" pitchFamily="34" charset="0"/>
              <a:cs typeface="Segoe UI" panose="020B0502040204020203" pitchFamily="34" charset="0"/>
            </a:endParaRPr>
          </a:p>
        </p:txBody>
      </p:sp>
      <p:pic>
        <p:nvPicPr>
          <p:cNvPr id="66" name="Image 1" descr="preencoded.png">
            <a:extLst>
              <a:ext uri="{FF2B5EF4-FFF2-40B4-BE49-F238E27FC236}">
                <a16:creationId xmlns:a16="http://schemas.microsoft.com/office/drawing/2014/main" id="{C6491566-8228-820D-21FD-170ED4884340}"/>
              </a:ext>
            </a:extLst>
          </p:cNvPr>
          <p:cNvPicPr>
            <a:picLocks noChangeAspect="1"/>
          </p:cNvPicPr>
          <p:nvPr/>
        </p:nvPicPr>
        <p:blipFill>
          <a:blip r:embed="rId4"/>
          <a:stretch>
            <a:fillRect/>
          </a:stretch>
        </p:blipFill>
        <p:spPr>
          <a:xfrm>
            <a:off x="6345936" y="1307718"/>
            <a:ext cx="237744" cy="237744"/>
          </a:xfrm>
          <a:prstGeom prst="rect">
            <a:avLst/>
          </a:prstGeom>
        </p:spPr>
      </p:pic>
      <p:sp>
        <p:nvSpPr>
          <p:cNvPr id="67" name="Text 10">
            <a:extLst>
              <a:ext uri="{FF2B5EF4-FFF2-40B4-BE49-F238E27FC236}">
                <a16:creationId xmlns:a16="http://schemas.microsoft.com/office/drawing/2014/main" id="{CFBC0F52-4851-4EB2-12B1-C093C0DD8026}"/>
              </a:ext>
            </a:extLst>
          </p:cNvPr>
          <p:cNvSpPr/>
          <p:nvPr/>
        </p:nvSpPr>
        <p:spPr>
          <a:xfrm>
            <a:off x="6821424" y="1234566"/>
            <a:ext cx="4480560" cy="365760"/>
          </a:xfrm>
          <a:prstGeom prst="rect">
            <a:avLst/>
          </a:prstGeom>
          <a:noFill/>
          <a:ln/>
        </p:spPr>
        <p:txBody>
          <a:bodyPr wrap="square" lIns="0" tIns="0" rIns="0" bIns="0" rtlCol="0" anchor="ctr"/>
          <a:lstStyle/>
          <a:p>
            <a:pPr marL="0" indent="0">
              <a:buNone/>
            </a:pPr>
            <a:r>
              <a:rPr lang="en-US" sz="1400" b="1" dirty="0" err="1">
                <a:solidFill>
                  <a:srgbClr val="FFFFFF"/>
                </a:solidFill>
                <a:latin typeface="Segoe UI" panose="020B0502040204020203" pitchFamily="34" charset="0"/>
                <a:ea typeface="Calibri" pitchFamily="34" charset="-122"/>
                <a:cs typeface="Segoe UI" panose="020B0502040204020203" pitchFamily="34" charset="0"/>
              </a:rPr>
              <a:t>Problématiques</a:t>
            </a:r>
            <a:endParaRPr lang="en-US" sz="1400" dirty="0">
              <a:latin typeface="Segoe UI" panose="020B0502040204020203" pitchFamily="34" charset="0"/>
              <a:cs typeface="Segoe UI" panose="020B0502040204020203" pitchFamily="34" charset="0"/>
            </a:endParaRPr>
          </a:p>
        </p:txBody>
      </p:sp>
      <p:grpSp>
        <p:nvGrpSpPr>
          <p:cNvPr id="4" name="Groupe 3">
            <a:extLst>
              <a:ext uri="{FF2B5EF4-FFF2-40B4-BE49-F238E27FC236}">
                <a16:creationId xmlns:a16="http://schemas.microsoft.com/office/drawing/2014/main" id="{B313D12F-7B4C-5F4E-5DDF-5E525ACBDADF}"/>
              </a:ext>
            </a:extLst>
          </p:cNvPr>
          <p:cNvGrpSpPr/>
          <p:nvPr/>
        </p:nvGrpSpPr>
        <p:grpSpPr>
          <a:xfrm>
            <a:off x="6236208" y="1702288"/>
            <a:ext cx="5166360" cy="1170432"/>
            <a:chOff x="6236208" y="2094102"/>
            <a:chExt cx="5166360" cy="841248"/>
          </a:xfrm>
        </p:grpSpPr>
        <p:sp>
          <p:nvSpPr>
            <p:cNvPr id="69" name="Shape 12">
              <a:extLst>
                <a:ext uri="{FF2B5EF4-FFF2-40B4-BE49-F238E27FC236}">
                  <a16:creationId xmlns:a16="http://schemas.microsoft.com/office/drawing/2014/main" id="{C235AE93-D19A-D22C-BA01-FD6D95AE7CCA}"/>
                </a:ext>
              </a:extLst>
            </p:cNvPr>
            <p:cNvSpPr/>
            <p:nvPr/>
          </p:nvSpPr>
          <p:spPr>
            <a:xfrm>
              <a:off x="6236208" y="2094102"/>
              <a:ext cx="2514600" cy="384048"/>
            </a:xfrm>
            <a:prstGeom prst="roundRect">
              <a:avLst>
                <a:gd name="adj" fmla="val 11905"/>
              </a:avLst>
            </a:prstGeom>
            <a:solidFill>
              <a:srgbClr val="2C3768"/>
            </a:solidFill>
            <a:ln/>
          </p:spPr>
          <p:txBody>
            <a:bodyPr/>
            <a:lstStyle/>
            <a:p>
              <a:endParaRPr lang="fr-FR" sz="2400">
                <a:solidFill>
                  <a:schemeClr val="bg1"/>
                </a:solidFill>
                <a:latin typeface="Segoe UI" panose="020B0502040204020203" pitchFamily="34" charset="0"/>
                <a:cs typeface="Segoe UI" panose="020B0502040204020203" pitchFamily="34" charset="0"/>
              </a:endParaRPr>
            </a:p>
          </p:txBody>
        </p:sp>
        <p:sp>
          <p:nvSpPr>
            <p:cNvPr id="70" name="Text 13">
              <a:extLst>
                <a:ext uri="{FF2B5EF4-FFF2-40B4-BE49-F238E27FC236}">
                  <a16:creationId xmlns:a16="http://schemas.microsoft.com/office/drawing/2014/main" id="{A31933D2-94E8-33AC-C63C-C85F5FAED4BF}"/>
                </a:ext>
              </a:extLst>
            </p:cNvPr>
            <p:cNvSpPr/>
            <p:nvPr/>
          </p:nvSpPr>
          <p:spPr>
            <a:xfrm>
              <a:off x="6345936" y="2094102"/>
              <a:ext cx="2286000" cy="384048"/>
            </a:xfrm>
            <a:prstGeom prst="rect">
              <a:avLst/>
            </a:prstGeom>
            <a:noFill/>
            <a:ln/>
          </p:spPr>
          <p:txBody>
            <a:bodyPr wrap="square" lIns="0" tIns="0" rIns="0" bIns="0" rtlCol="0" anchor="ctr"/>
            <a:lstStyle/>
            <a:p>
              <a:pPr marL="0" indent="0">
                <a:buNone/>
              </a:pPr>
              <a:r>
                <a:rPr lang="en-US" sz="1050" b="1" dirty="0" err="1">
                  <a:solidFill>
                    <a:schemeClr val="bg1"/>
                  </a:solidFill>
                  <a:latin typeface="Segoe UI" panose="020B0502040204020203" pitchFamily="34" charset="0"/>
                  <a:ea typeface="Calibri" pitchFamily="34" charset="-122"/>
                  <a:cs typeface="Segoe UI" panose="020B0502040204020203" pitchFamily="34" charset="0"/>
                </a:rPr>
                <a:t>Coûts</a:t>
              </a:r>
              <a:r>
                <a:rPr lang="en-US" sz="1050" b="1" dirty="0">
                  <a:solidFill>
                    <a:schemeClr val="bg1"/>
                  </a:solidFill>
                  <a:latin typeface="Segoe UI" panose="020B0502040204020203" pitchFamily="34" charset="0"/>
                  <a:ea typeface="Calibri" pitchFamily="34" charset="-122"/>
                  <a:cs typeface="Segoe UI" panose="020B0502040204020203" pitchFamily="34" charset="0"/>
                </a:rPr>
                <a:t> </a:t>
              </a:r>
              <a:r>
                <a:rPr lang="en-US" sz="1050" dirty="0" err="1">
                  <a:solidFill>
                    <a:schemeClr val="bg1"/>
                  </a:solidFill>
                  <a:latin typeface="Segoe UI" panose="020B0502040204020203" pitchFamily="34" charset="0"/>
                  <a:ea typeface="Calibri" pitchFamily="34" charset="-122"/>
                  <a:cs typeface="Segoe UI" panose="020B0502040204020203" pitchFamily="34" charset="0"/>
                </a:rPr>
                <a:t>d’intégration</a:t>
              </a:r>
              <a:endParaRPr lang="en-US" sz="1050" dirty="0">
                <a:solidFill>
                  <a:schemeClr val="bg1"/>
                </a:solidFill>
                <a:latin typeface="Segoe UI" panose="020B0502040204020203" pitchFamily="34" charset="0"/>
                <a:ea typeface="Calibri" pitchFamily="34" charset="-122"/>
                <a:cs typeface="Segoe UI" panose="020B0502040204020203" pitchFamily="34" charset="0"/>
              </a:endParaRPr>
            </a:p>
            <a:p>
              <a:pPr marL="0" indent="0">
                <a:buNone/>
              </a:pPr>
              <a:r>
                <a:rPr lang="en-US" sz="1050" dirty="0">
                  <a:solidFill>
                    <a:schemeClr val="bg1"/>
                  </a:solidFill>
                  <a:latin typeface="Segoe UI" panose="020B0502040204020203" pitchFamily="34" charset="0"/>
                  <a:ea typeface="Calibri" pitchFamily="34" charset="-122"/>
                  <a:cs typeface="Segoe UI" panose="020B0502040204020203" pitchFamily="34" charset="0"/>
                </a:rPr>
                <a:t> </a:t>
              </a:r>
              <a:r>
                <a:rPr lang="en-US" sz="1050" dirty="0" err="1">
                  <a:solidFill>
                    <a:schemeClr val="bg1"/>
                  </a:solidFill>
                  <a:latin typeface="Segoe UI" panose="020B0502040204020203" pitchFamily="34" charset="0"/>
                  <a:ea typeface="Calibri" pitchFamily="34" charset="-122"/>
                  <a:cs typeface="Segoe UI" panose="020B0502040204020203" pitchFamily="34" charset="0"/>
                </a:rPr>
                <a:t>optimisables</a:t>
              </a:r>
              <a:endParaRPr lang="en-US" sz="1050" dirty="0">
                <a:solidFill>
                  <a:schemeClr val="bg1"/>
                </a:solidFill>
                <a:latin typeface="Segoe UI" panose="020B0502040204020203" pitchFamily="34" charset="0"/>
                <a:cs typeface="Segoe UI" panose="020B0502040204020203" pitchFamily="34" charset="0"/>
              </a:endParaRPr>
            </a:p>
          </p:txBody>
        </p:sp>
        <p:sp>
          <p:nvSpPr>
            <p:cNvPr id="71" name="Shape 14">
              <a:extLst>
                <a:ext uri="{FF2B5EF4-FFF2-40B4-BE49-F238E27FC236}">
                  <a16:creationId xmlns:a16="http://schemas.microsoft.com/office/drawing/2014/main" id="{C77D8677-A0E6-B5FF-0735-B21FE740E960}"/>
                </a:ext>
              </a:extLst>
            </p:cNvPr>
            <p:cNvSpPr/>
            <p:nvPr/>
          </p:nvSpPr>
          <p:spPr>
            <a:xfrm>
              <a:off x="8887968" y="2094102"/>
              <a:ext cx="2514600" cy="384048"/>
            </a:xfrm>
            <a:prstGeom prst="roundRect">
              <a:avLst>
                <a:gd name="adj" fmla="val 11905"/>
              </a:avLst>
            </a:prstGeom>
            <a:solidFill>
              <a:srgbClr val="2C3768"/>
            </a:solidFill>
            <a:ln/>
          </p:spPr>
          <p:txBody>
            <a:bodyPr/>
            <a:lstStyle/>
            <a:p>
              <a:endParaRPr lang="fr-FR" sz="1050">
                <a:latin typeface="Segoe UI" panose="020B0502040204020203" pitchFamily="34" charset="0"/>
                <a:cs typeface="Segoe UI" panose="020B0502040204020203" pitchFamily="34" charset="0"/>
              </a:endParaRPr>
            </a:p>
          </p:txBody>
        </p:sp>
        <p:sp>
          <p:nvSpPr>
            <p:cNvPr id="72" name="Text 15">
              <a:extLst>
                <a:ext uri="{FF2B5EF4-FFF2-40B4-BE49-F238E27FC236}">
                  <a16:creationId xmlns:a16="http://schemas.microsoft.com/office/drawing/2014/main" id="{B33B2859-0EE5-A65A-7146-C75E0AB990BF}"/>
                </a:ext>
              </a:extLst>
            </p:cNvPr>
            <p:cNvSpPr/>
            <p:nvPr/>
          </p:nvSpPr>
          <p:spPr>
            <a:xfrm>
              <a:off x="8997696" y="2094102"/>
              <a:ext cx="2286000" cy="384048"/>
            </a:xfrm>
            <a:prstGeom prst="rect">
              <a:avLst/>
            </a:prstGeom>
            <a:noFill/>
            <a:ln/>
          </p:spPr>
          <p:txBody>
            <a:bodyPr wrap="square" lIns="0" tIns="0" rIns="0" bIns="0" rtlCol="0" anchor="ctr"/>
            <a:lstStyle/>
            <a:p>
              <a:pPr marL="0" indent="0">
                <a:buNone/>
              </a:pPr>
              <a:r>
                <a:rPr lang="en-US" sz="1050" b="1" dirty="0">
                  <a:solidFill>
                    <a:schemeClr val="bg1"/>
                  </a:solidFill>
                  <a:latin typeface="Segoe UI" panose="020B0502040204020203" pitchFamily="34" charset="0"/>
                  <a:ea typeface="Calibri" pitchFamily="34" charset="-122"/>
                  <a:cs typeface="Segoe UI" panose="020B0502040204020203" pitchFamily="34" charset="0"/>
                </a:rPr>
                <a:t>Délais </a:t>
              </a:r>
              <a:r>
                <a:rPr lang="en-US" sz="1050" dirty="0">
                  <a:solidFill>
                    <a:schemeClr val="bg1"/>
                  </a:solidFill>
                  <a:latin typeface="Segoe UI" panose="020B0502040204020203" pitchFamily="34" charset="0"/>
                  <a:ea typeface="Calibri" pitchFamily="34" charset="-122"/>
                  <a:cs typeface="Segoe UI" panose="020B0502040204020203" pitchFamily="34" charset="0"/>
                </a:rPr>
                <a:t>de mise à disposition </a:t>
              </a:r>
              <a:r>
                <a:rPr lang="en-US" sz="1050" dirty="0" err="1">
                  <a:solidFill>
                    <a:schemeClr val="bg1"/>
                  </a:solidFill>
                  <a:latin typeface="Segoe UI" panose="020B0502040204020203" pitchFamily="34" charset="0"/>
                  <a:ea typeface="Calibri" pitchFamily="34" charset="-122"/>
                  <a:cs typeface="Segoe UI" panose="020B0502040204020203" pitchFamily="34" charset="0"/>
                </a:rPr>
                <a:t>optimisables</a:t>
              </a:r>
              <a:endParaRPr lang="en-US" sz="1050" dirty="0">
                <a:solidFill>
                  <a:schemeClr val="bg1"/>
                </a:solidFill>
                <a:latin typeface="Segoe UI" panose="020B0502040204020203" pitchFamily="34" charset="0"/>
                <a:cs typeface="Segoe UI" panose="020B0502040204020203" pitchFamily="34" charset="0"/>
              </a:endParaRPr>
            </a:p>
          </p:txBody>
        </p:sp>
        <p:sp>
          <p:nvSpPr>
            <p:cNvPr id="73" name="Shape 16">
              <a:extLst>
                <a:ext uri="{FF2B5EF4-FFF2-40B4-BE49-F238E27FC236}">
                  <a16:creationId xmlns:a16="http://schemas.microsoft.com/office/drawing/2014/main" id="{1B64E233-0510-0435-9B43-AC1079A6DCF8}"/>
                </a:ext>
              </a:extLst>
            </p:cNvPr>
            <p:cNvSpPr/>
            <p:nvPr/>
          </p:nvSpPr>
          <p:spPr>
            <a:xfrm>
              <a:off x="6236208" y="2551302"/>
              <a:ext cx="2514600" cy="384048"/>
            </a:xfrm>
            <a:prstGeom prst="roundRect">
              <a:avLst>
                <a:gd name="adj" fmla="val 11905"/>
              </a:avLst>
            </a:prstGeom>
            <a:solidFill>
              <a:srgbClr val="2C3768"/>
            </a:solidFill>
            <a:ln/>
          </p:spPr>
          <p:txBody>
            <a:bodyPr/>
            <a:lstStyle/>
            <a:p>
              <a:endParaRPr lang="fr-FR" sz="2400">
                <a:solidFill>
                  <a:schemeClr val="bg1"/>
                </a:solidFill>
                <a:latin typeface="Segoe UI" panose="020B0502040204020203" pitchFamily="34" charset="0"/>
                <a:cs typeface="Segoe UI" panose="020B0502040204020203" pitchFamily="34" charset="0"/>
              </a:endParaRPr>
            </a:p>
          </p:txBody>
        </p:sp>
        <p:sp>
          <p:nvSpPr>
            <p:cNvPr id="74" name="Text 17">
              <a:extLst>
                <a:ext uri="{FF2B5EF4-FFF2-40B4-BE49-F238E27FC236}">
                  <a16:creationId xmlns:a16="http://schemas.microsoft.com/office/drawing/2014/main" id="{F0BFDF46-7446-2C1A-C905-C559F1679577}"/>
                </a:ext>
              </a:extLst>
            </p:cNvPr>
            <p:cNvSpPr/>
            <p:nvPr/>
          </p:nvSpPr>
          <p:spPr>
            <a:xfrm>
              <a:off x="6345936" y="2551302"/>
              <a:ext cx="2286000" cy="384048"/>
            </a:xfrm>
            <a:prstGeom prst="rect">
              <a:avLst/>
            </a:prstGeom>
            <a:noFill/>
            <a:ln/>
          </p:spPr>
          <p:txBody>
            <a:bodyPr wrap="square" lIns="0" tIns="0" rIns="0" bIns="0" rtlCol="0" anchor="ctr"/>
            <a:lstStyle/>
            <a:p>
              <a:pPr marL="0" indent="0">
                <a:buNone/>
              </a:pPr>
              <a:r>
                <a:rPr lang="en-US" sz="1050" b="1" dirty="0">
                  <a:solidFill>
                    <a:schemeClr val="bg1"/>
                  </a:solidFill>
                  <a:latin typeface="Segoe UI" panose="020B0502040204020203" pitchFamily="34" charset="0"/>
                  <a:ea typeface="Calibri" pitchFamily="34" charset="-122"/>
                  <a:cs typeface="Segoe UI" panose="020B0502040204020203" pitchFamily="34" charset="0"/>
                </a:rPr>
                <a:t>Manque de visibilité sur les </a:t>
              </a:r>
              <a:r>
                <a:rPr lang="en-US" sz="1050" b="1" dirty="0" err="1">
                  <a:solidFill>
                    <a:schemeClr val="bg1"/>
                  </a:solidFill>
                  <a:latin typeface="Segoe UI" panose="020B0502040204020203" pitchFamily="34" charset="0"/>
                  <a:ea typeface="Calibri" pitchFamily="34" charset="-122"/>
                  <a:cs typeface="Segoe UI" panose="020B0502040204020203" pitchFamily="34" charset="0"/>
                </a:rPr>
                <a:t>capacités</a:t>
              </a:r>
              <a:r>
                <a:rPr lang="en-US" sz="1050" b="1" dirty="0">
                  <a:solidFill>
                    <a:schemeClr val="bg1"/>
                  </a:solidFill>
                  <a:latin typeface="Segoe UI" panose="020B0502040204020203" pitchFamily="34" charset="0"/>
                  <a:ea typeface="Calibri" pitchFamily="34" charset="-122"/>
                  <a:cs typeface="Segoe UI" panose="020B0502040204020203" pitchFamily="34" charset="0"/>
                </a:rPr>
                <a:t> </a:t>
              </a:r>
              <a:r>
                <a:rPr lang="en-US" sz="1050" dirty="0">
                  <a:solidFill>
                    <a:schemeClr val="bg1"/>
                  </a:solidFill>
                  <a:latin typeface="Segoe UI" panose="020B0502040204020203" pitchFamily="34" charset="0"/>
                  <a:ea typeface="Calibri" pitchFamily="34" charset="-122"/>
                  <a:cs typeface="Segoe UI" panose="020B0502040204020203" pitchFamily="34" charset="0"/>
                </a:rPr>
                <a:t>: catalogue de services </a:t>
              </a:r>
              <a:r>
                <a:rPr lang="en-US" sz="1050" dirty="0" err="1">
                  <a:solidFill>
                    <a:schemeClr val="bg1"/>
                  </a:solidFill>
                  <a:latin typeface="Segoe UI" panose="020B0502040204020203" pitchFamily="34" charset="0"/>
                  <a:ea typeface="Calibri" pitchFamily="34" charset="-122"/>
                  <a:cs typeface="Segoe UI" panose="020B0502040204020203" pitchFamily="34" charset="0"/>
                </a:rPr>
                <a:t>uniquement</a:t>
              </a:r>
              <a:r>
                <a:rPr lang="en-US" sz="1050" dirty="0">
                  <a:solidFill>
                    <a:schemeClr val="bg1"/>
                  </a:solidFill>
                  <a:latin typeface="Segoe UI" panose="020B0502040204020203" pitchFamily="34" charset="0"/>
                  <a:ea typeface="Calibri" pitchFamily="34" charset="-122"/>
                  <a:cs typeface="Segoe UI" panose="020B0502040204020203" pitchFamily="34" charset="0"/>
                </a:rPr>
                <a:t> Excel </a:t>
              </a:r>
              <a:endParaRPr lang="en-US" sz="1050" dirty="0">
                <a:solidFill>
                  <a:schemeClr val="bg1"/>
                </a:solidFill>
                <a:latin typeface="Segoe UI" panose="020B0502040204020203" pitchFamily="34" charset="0"/>
                <a:cs typeface="Segoe UI" panose="020B0502040204020203" pitchFamily="34" charset="0"/>
              </a:endParaRPr>
            </a:p>
          </p:txBody>
        </p:sp>
        <p:sp>
          <p:nvSpPr>
            <p:cNvPr id="75" name="Shape 18">
              <a:extLst>
                <a:ext uri="{FF2B5EF4-FFF2-40B4-BE49-F238E27FC236}">
                  <a16:creationId xmlns:a16="http://schemas.microsoft.com/office/drawing/2014/main" id="{D6907509-ED50-CD1D-461D-86628DFF540D}"/>
                </a:ext>
              </a:extLst>
            </p:cNvPr>
            <p:cNvSpPr/>
            <p:nvPr/>
          </p:nvSpPr>
          <p:spPr>
            <a:xfrm>
              <a:off x="8887968" y="2551302"/>
              <a:ext cx="2514600" cy="384048"/>
            </a:xfrm>
            <a:prstGeom prst="roundRect">
              <a:avLst>
                <a:gd name="adj" fmla="val 11905"/>
              </a:avLst>
            </a:prstGeom>
            <a:solidFill>
              <a:srgbClr val="2C3768"/>
            </a:solidFill>
            <a:ln/>
          </p:spPr>
          <p:txBody>
            <a:bodyPr/>
            <a:lstStyle/>
            <a:p>
              <a:endParaRPr lang="fr-FR" sz="1050">
                <a:latin typeface="Segoe UI" panose="020B0502040204020203" pitchFamily="34" charset="0"/>
                <a:cs typeface="Segoe UI" panose="020B0502040204020203" pitchFamily="34" charset="0"/>
              </a:endParaRPr>
            </a:p>
          </p:txBody>
        </p:sp>
        <p:sp>
          <p:nvSpPr>
            <p:cNvPr id="76" name="Text 19">
              <a:extLst>
                <a:ext uri="{FF2B5EF4-FFF2-40B4-BE49-F238E27FC236}">
                  <a16:creationId xmlns:a16="http://schemas.microsoft.com/office/drawing/2014/main" id="{91162066-33FA-323D-8057-82DF2B913A72}"/>
                </a:ext>
              </a:extLst>
            </p:cNvPr>
            <p:cNvSpPr/>
            <p:nvPr/>
          </p:nvSpPr>
          <p:spPr>
            <a:xfrm>
              <a:off x="8997696" y="2551302"/>
              <a:ext cx="2286000" cy="384048"/>
            </a:xfrm>
            <a:prstGeom prst="rect">
              <a:avLst/>
            </a:prstGeom>
            <a:noFill/>
            <a:ln/>
          </p:spPr>
          <p:txBody>
            <a:bodyPr wrap="square" lIns="0" tIns="0" rIns="0" bIns="0" rtlCol="0" anchor="ctr"/>
            <a:lstStyle/>
            <a:p>
              <a:pPr marL="0" indent="0">
                <a:buNone/>
              </a:pPr>
              <a:r>
                <a:rPr lang="en-US" sz="1050" b="1" dirty="0" err="1">
                  <a:solidFill>
                    <a:schemeClr val="bg1"/>
                  </a:solidFill>
                  <a:latin typeface="Segoe UI" panose="020B0502040204020203" pitchFamily="34" charset="0"/>
                  <a:ea typeface="Calibri" pitchFamily="34" charset="-122"/>
                  <a:cs typeface="Segoe UI" panose="020B0502040204020203" pitchFamily="34" charset="0"/>
                </a:rPr>
                <a:t>Risque</a:t>
              </a:r>
              <a:r>
                <a:rPr lang="en-US" sz="1050" b="1" dirty="0">
                  <a:solidFill>
                    <a:schemeClr val="bg1"/>
                  </a:solidFill>
                  <a:latin typeface="Segoe UI" panose="020B0502040204020203" pitchFamily="34" charset="0"/>
                  <a:ea typeface="Calibri" pitchFamily="34" charset="-122"/>
                  <a:cs typeface="Segoe UI" panose="020B0502040204020203" pitchFamily="34" charset="0"/>
                </a:rPr>
                <a:t> que </a:t>
              </a:r>
              <a:r>
                <a:rPr lang="en-US" sz="1050" b="1" dirty="0" err="1">
                  <a:solidFill>
                    <a:schemeClr val="bg1"/>
                  </a:solidFill>
                  <a:latin typeface="Segoe UI" panose="020B0502040204020203" pitchFamily="34" charset="0"/>
                  <a:ea typeface="Calibri" pitchFamily="34" charset="-122"/>
                  <a:cs typeface="Segoe UI" panose="020B0502040204020203" pitchFamily="34" charset="0"/>
                </a:rPr>
                <a:t>d’autres</a:t>
              </a:r>
              <a:r>
                <a:rPr lang="en-US" sz="1050" b="1" dirty="0">
                  <a:solidFill>
                    <a:schemeClr val="bg1"/>
                  </a:solidFill>
                  <a:latin typeface="Segoe UI" panose="020B0502040204020203" pitchFamily="34" charset="0"/>
                  <a:ea typeface="Calibri" pitchFamily="34" charset="-122"/>
                  <a:cs typeface="Segoe UI" panose="020B0502040204020203" pitchFamily="34" charset="0"/>
                </a:rPr>
                <a:t> </a:t>
              </a:r>
              <a:r>
                <a:rPr lang="en-US" sz="1050" b="1" dirty="0" err="1">
                  <a:solidFill>
                    <a:schemeClr val="bg1"/>
                  </a:solidFill>
                  <a:latin typeface="Segoe UI" panose="020B0502040204020203" pitchFamily="34" charset="0"/>
                  <a:ea typeface="Calibri" pitchFamily="34" charset="-122"/>
                  <a:cs typeface="Segoe UI" panose="020B0502040204020203" pitchFamily="34" charset="0"/>
                </a:rPr>
                <a:t>secteurs</a:t>
              </a:r>
              <a:r>
                <a:rPr lang="en-US" sz="1050" b="1" dirty="0">
                  <a:solidFill>
                    <a:schemeClr val="bg1"/>
                  </a:solidFill>
                  <a:latin typeface="Segoe UI" panose="020B0502040204020203" pitchFamily="34" charset="0"/>
                  <a:ea typeface="Calibri" pitchFamily="34" charset="-122"/>
                  <a:cs typeface="Segoe UI" panose="020B0502040204020203" pitchFamily="34" charset="0"/>
                </a:rPr>
                <a:t> EI </a:t>
              </a:r>
              <a:r>
                <a:rPr lang="en-US" sz="1050" b="1" dirty="0" err="1">
                  <a:solidFill>
                    <a:schemeClr val="bg1"/>
                  </a:solidFill>
                  <a:latin typeface="Segoe UI" panose="020B0502040204020203" pitchFamily="34" charset="0"/>
                  <a:ea typeface="Calibri" pitchFamily="34" charset="-122"/>
                  <a:cs typeface="Segoe UI" panose="020B0502040204020203" pitchFamily="34" charset="0"/>
                </a:rPr>
                <a:t>redéveloppent</a:t>
              </a:r>
              <a:r>
                <a:rPr lang="en-US" sz="1050" b="1" dirty="0">
                  <a:solidFill>
                    <a:schemeClr val="bg1"/>
                  </a:solidFill>
                  <a:latin typeface="Segoe UI" panose="020B0502040204020203" pitchFamily="34" charset="0"/>
                  <a:ea typeface="Calibri" pitchFamily="34" charset="-122"/>
                  <a:cs typeface="Segoe UI" panose="020B0502040204020203" pitchFamily="34" charset="0"/>
                </a:rPr>
                <a:t> </a:t>
              </a:r>
              <a:r>
                <a:rPr lang="en-US" sz="1050" dirty="0">
                  <a:solidFill>
                    <a:schemeClr val="bg1"/>
                  </a:solidFill>
                  <a:latin typeface="Segoe UI" panose="020B0502040204020203" pitchFamily="34" charset="0"/>
                  <a:ea typeface="Calibri" pitchFamily="34" charset="-122"/>
                  <a:cs typeface="Segoe UI" panose="020B0502040204020203" pitchFamily="34" charset="0"/>
                </a:rPr>
                <a:t>des services déjà </a:t>
              </a:r>
              <a:r>
                <a:rPr lang="en-US" sz="1050" dirty="0" err="1">
                  <a:solidFill>
                    <a:schemeClr val="bg1"/>
                  </a:solidFill>
                  <a:latin typeface="Segoe UI" panose="020B0502040204020203" pitchFamily="34" charset="0"/>
                  <a:ea typeface="Calibri" pitchFamily="34" charset="-122"/>
                  <a:cs typeface="Segoe UI" panose="020B0502040204020203" pitchFamily="34" charset="0"/>
                </a:rPr>
                <a:t>existants</a:t>
              </a:r>
              <a:r>
                <a:rPr lang="en-US" sz="1050" dirty="0">
                  <a:solidFill>
                    <a:schemeClr val="bg1"/>
                  </a:solidFill>
                  <a:latin typeface="Segoe UI" panose="020B0502040204020203" pitchFamily="34" charset="0"/>
                  <a:ea typeface="Calibri" pitchFamily="34" charset="-122"/>
                  <a:cs typeface="Segoe UI" panose="020B0502040204020203" pitchFamily="34" charset="0"/>
                </a:rPr>
                <a:t> </a:t>
              </a:r>
              <a:r>
                <a:rPr lang="en-US" sz="1050" dirty="0" err="1">
                  <a:solidFill>
                    <a:schemeClr val="bg1"/>
                  </a:solidFill>
                  <a:latin typeface="Segoe UI" panose="020B0502040204020203" pitchFamily="34" charset="0"/>
                  <a:ea typeface="Calibri" pitchFamily="34" charset="-122"/>
                  <a:cs typeface="Segoe UI" panose="020B0502040204020203" pitchFamily="34" charset="0"/>
                </a:rPr>
                <a:t>côté</a:t>
              </a:r>
              <a:r>
                <a:rPr lang="en-US" sz="1050" dirty="0">
                  <a:solidFill>
                    <a:schemeClr val="bg1"/>
                  </a:solidFill>
                  <a:latin typeface="Segoe UI" panose="020B0502040204020203" pitchFamily="34" charset="0"/>
                  <a:ea typeface="Calibri" pitchFamily="34" charset="-122"/>
                  <a:cs typeface="Segoe UI" panose="020B0502040204020203" pitchFamily="34" charset="0"/>
                </a:rPr>
                <a:t> OCRF</a:t>
              </a:r>
              <a:endParaRPr lang="en-US" sz="1050" dirty="0">
                <a:solidFill>
                  <a:schemeClr val="bg1"/>
                </a:solidFill>
                <a:latin typeface="Segoe UI" panose="020B0502040204020203" pitchFamily="34" charset="0"/>
                <a:cs typeface="Segoe UI" panose="020B0502040204020203" pitchFamily="34" charset="0"/>
              </a:endParaRPr>
            </a:p>
          </p:txBody>
        </p:sp>
      </p:grpSp>
      <p:sp>
        <p:nvSpPr>
          <p:cNvPr id="23" name="Rounded Rectangle 22"/>
          <p:cNvSpPr/>
          <p:nvPr/>
        </p:nvSpPr>
        <p:spPr>
          <a:xfrm>
            <a:off x="457200" y="4502240"/>
            <a:ext cx="11274552" cy="1016264"/>
          </a:xfrm>
          <a:prstGeom prst="roundRect">
            <a:avLst>
              <a:gd name="adj" fmla="val 7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marL="171450" indent="-171450">
              <a:buFont typeface="Arial" panose="020B0604020202020204" pitchFamily="34" charset="0"/>
              <a:buChar char="•"/>
            </a:pPr>
            <a:r>
              <a:rPr lang="fr-FR" sz="1100" b="1" i="0" dirty="0">
                <a:solidFill>
                  <a:srgbClr val="1B2433"/>
                </a:solidFill>
                <a:latin typeface="Segoe UI" panose="020B0502040204020203" pitchFamily="34" charset="0"/>
                <a:cs typeface="Segoe UI" panose="020B0502040204020203" pitchFamily="34" charset="0"/>
              </a:rPr>
              <a:t>Clarté— </a:t>
            </a:r>
            <a:r>
              <a:rPr lang="fr-FR" sz="1100" b="0" i="0" dirty="0">
                <a:solidFill>
                  <a:srgbClr val="1B2433"/>
                </a:solidFill>
                <a:latin typeface="Segoe UI" panose="020B0502040204020203" pitchFamily="34" charset="0"/>
                <a:cs typeface="Segoe UI" panose="020B0502040204020203" pitchFamily="34" charset="0"/>
              </a:rPr>
              <a:t>Un catalogue clair de la proposition de valeur de l’OCRF</a:t>
            </a:r>
          </a:p>
          <a:p>
            <a:pPr marL="171450" indent="-171450">
              <a:buFont typeface="Arial" panose="020B0604020202020204" pitchFamily="34" charset="0"/>
              <a:buChar char="•"/>
            </a:pPr>
            <a:r>
              <a:rPr lang="fr-FR" sz="1100" b="1" i="0" dirty="0">
                <a:solidFill>
                  <a:srgbClr val="1B2433"/>
                </a:solidFill>
                <a:latin typeface="Segoe UI" panose="020B0502040204020203" pitchFamily="34" charset="0"/>
                <a:cs typeface="Segoe UI" panose="020B0502040204020203" pitchFamily="34" charset="0"/>
              </a:rPr>
              <a:t>Réduction du délai d'intégration — </a:t>
            </a:r>
            <a:r>
              <a:rPr lang="fr-FR" sz="1100" b="0" i="0" dirty="0">
                <a:solidFill>
                  <a:srgbClr val="1B2433"/>
                </a:solidFill>
                <a:latin typeface="Segoe UI" panose="020B0502040204020203" pitchFamily="34" charset="0"/>
                <a:cs typeface="Segoe UI" panose="020B0502040204020203" pitchFamily="34" charset="0"/>
              </a:rPr>
              <a:t>mode catalogue plutôt que mode projet</a:t>
            </a:r>
          </a:p>
          <a:p>
            <a:pPr marL="171450" indent="-171450">
              <a:buFont typeface="Arial" panose="020B0604020202020204" pitchFamily="34" charset="0"/>
              <a:buChar char="•"/>
            </a:pPr>
            <a:r>
              <a:rPr lang="fr-FR" sz="1100" b="1" i="0" dirty="0">
                <a:solidFill>
                  <a:srgbClr val="1B2433"/>
                </a:solidFill>
                <a:latin typeface="Segoe UI" panose="020B0502040204020203" pitchFamily="34" charset="0"/>
                <a:cs typeface="Segoe UI" panose="020B0502040204020203" pitchFamily="34" charset="0"/>
              </a:rPr>
              <a:t>Standardisation des contrats — </a:t>
            </a:r>
            <a:r>
              <a:rPr lang="fr-FR" sz="1100" b="0" i="0" dirty="0">
                <a:solidFill>
                  <a:srgbClr val="1B2433"/>
                </a:solidFill>
                <a:latin typeface="Segoe UI" panose="020B0502040204020203" pitchFamily="34" charset="0"/>
                <a:cs typeface="Segoe UI" panose="020B0502040204020203" pitchFamily="34" charset="0"/>
              </a:rPr>
              <a:t>formats, niveau de service et versioning harmonisés</a:t>
            </a:r>
          </a:p>
          <a:p>
            <a:pPr marL="171450" indent="-171450">
              <a:buFont typeface="Arial" panose="020B0604020202020204" pitchFamily="34" charset="0"/>
              <a:buChar char="•"/>
            </a:pPr>
            <a:r>
              <a:rPr lang="fr-FR" sz="1100" b="1" i="0" dirty="0">
                <a:solidFill>
                  <a:srgbClr val="1B2433"/>
                </a:solidFill>
                <a:latin typeface="Segoe UI" panose="020B0502040204020203" pitchFamily="34" charset="0"/>
                <a:cs typeface="Segoe UI" panose="020B0502040204020203" pitchFamily="34" charset="0"/>
              </a:rPr>
              <a:t>Pilotage de la consommation — </a:t>
            </a:r>
            <a:r>
              <a:rPr lang="fr-FR" sz="1100" b="0" i="0" dirty="0">
                <a:solidFill>
                  <a:srgbClr val="1B2433"/>
                </a:solidFill>
                <a:latin typeface="Segoe UI" panose="020B0502040204020203" pitchFamily="34" charset="0"/>
                <a:cs typeface="Segoe UI" panose="020B0502040204020203" pitchFamily="34" charset="0"/>
              </a:rPr>
              <a:t>visibilité sur l'usage et les coûts internes</a:t>
            </a:r>
          </a:p>
          <a:p>
            <a:pPr marL="171450" indent="-171450">
              <a:buFont typeface="Arial" panose="020B0604020202020204" pitchFamily="34" charset="0"/>
              <a:buChar char="•"/>
            </a:pPr>
            <a:r>
              <a:rPr lang="fr-FR" sz="1100" b="1" i="0" dirty="0">
                <a:solidFill>
                  <a:srgbClr val="1B2433"/>
                </a:solidFill>
                <a:latin typeface="Segoe UI" panose="020B0502040204020203" pitchFamily="34" charset="0"/>
                <a:cs typeface="Segoe UI" panose="020B0502040204020203" pitchFamily="34" charset="0"/>
              </a:rPr>
              <a:t>Réutilisabilité &amp; scalabilité — </a:t>
            </a:r>
            <a:r>
              <a:rPr lang="fr-FR" sz="1100" b="0" i="0" dirty="0">
                <a:solidFill>
                  <a:srgbClr val="1B2433"/>
                </a:solidFill>
                <a:latin typeface="Segoe UI" panose="020B0502040204020203" pitchFamily="34" charset="0"/>
                <a:cs typeface="Segoe UI" panose="020B0502040204020203" pitchFamily="34" charset="0"/>
              </a:rPr>
              <a:t>modèles ML / </a:t>
            </a:r>
            <a:r>
              <a:rPr lang="fr-FR" sz="1100" b="0" i="0" dirty="0" err="1">
                <a:solidFill>
                  <a:srgbClr val="1B2433"/>
                </a:solidFill>
                <a:latin typeface="Segoe UI" panose="020B0502040204020203" pitchFamily="34" charset="0"/>
                <a:cs typeface="Segoe UI" panose="020B0502040204020203" pitchFamily="34" charset="0"/>
              </a:rPr>
              <a:t>GenAI</a:t>
            </a:r>
            <a:r>
              <a:rPr lang="fr-FR" sz="1100" b="0" i="0" dirty="0">
                <a:solidFill>
                  <a:srgbClr val="1B2433"/>
                </a:solidFill>
                <a:latin typeface="Segoe UI" panose="020B0502040204020203" pitchFamily="34" charset="0"/>
                <a:cs typeface="Segoe UI" panose="020B0502040204020203" pitchFamily="34" charset="0"/>
              </a:rPr>
              <a:t> et activités humaines</a:t>
            </a:r>
          </a:p>
          <a:p>
            <a:pPr marL="171450" indent="-171450">
              <a:buFont typeface="Arial" panose="020B0604020202020204" pitchFamily="34" charset="0"/>
              <a:buChar char="•"/>
            </a:pPr>
            <a:endParaRPr lang="fr-FR" sz="1100" b="0" i="0" dirty="0">
              <a:solidFill>
                <a:srgbClr val="1B243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fr-FR" sz="1100" b="0" i="0" dirty="0">
              <a:solidFill>
                <a:srgbClr val="1B243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fr-FR" sz="1100" b="0" i="0" dirty="0">
              <a:solidFill>
                <a:srgbClr val="1B243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sz="1100" dirty="0">
              <a:solidFill>
                <a:schemeClr val="tx1"/>
              </a:solidFill>
              <a:latin typeface="Segoe UI" panose="020B0502040204020203" pitchFamily="34" charset="0"/>
              <a:cs typeface="Segoe UI" panose="020B0502040204020203" pitchFamily="34" charset="0"/>
            </a:endParaRPr>
          </a:p>
        </p:txBody>
      </p:sp>
      <p:sp>
        <p:nvSpPr>
          <p:cNvPr id="24" name="TextBox 23"/>
          <p:cNvSpPr txBox="1"/>
          <p:nvPr/>
        </p:nvSpPr>
        <p:spPr>
          <a:xfrm>
            <a:off x="530631" y="4255329"/>
            <a:ext cx="4532116" cy="218393"/>
          </a:xfrm>
          <a:prstGeom prst="rect">
            <a:avLst/>
          </a:prstGeom>
          <a:noFill/>
        </p:spPr>
        <p:txBody>
          <a:bodyPr wrap="square" lIns="0" tIns="0" rIns="0" bIns="0" anchor="t">
            <a:spAutoFit/>
          </a:bodyPr>
          <a:lstStyle/>
          <a:p>
            <a:pPr algn="l">
              <a:lnSpc>
                <a:spcPct val="110000"/>
              </a:lnSpc>
            </a:pPr>
            <a:r>
              <a:rPr sz="1400" b="1" dirty="0">
                <a:solidFill>
                  <a:srgbClr val="1C7293"/>
                </a:solidFill>
                <a:latin typeface="Segoe UI" panose="020B0502040204020203" pitchFamily="34" charset="0"/>
                <a:ea typeface="Calibri" pitchFamily="34" charset="-122"/>
                <a:cs typeface="Segoe UI" panose="020B0502040204020203" pitchFamily="34" charset="0"/>
              </a:rPr>
              <a:t>Ce que </a:t>
            </a:r>
            <a:r>
              <a:rPr sz="1400" b="1" dirty="0" err="1">
                <a:solidFill>
                  <a:srgbClr val="1C7293"/>
                </a:solidFill>
                <a:latin typeface="Segoe UI" panose="020B0502040204020203" pitchFamily="34" charset="0"/>
                <a:ea typeface="Calibri" pitchFamily="34" charset="-122"/>
                <a:cs typeface="Segoe UI" panose="020B0502040204020203" pitchFamily="34" charset="0"/>
              </a:rPr>
              <a:t>cela</a:t>
            </a:r>
            <a:r>
              <a:rPr sz="1400" b="1" dirty="0">
                <a:solidFill>
                  <a:srgbClr val="1C7293"/>
                </a:solidFill>
                <a:latin typeface="Segoe UI" panose="020B0502040204020203" pitchFamily="34" charset="0"/>
                <a:ea typeface="Calibri" pitchFamily="34" charset="-122"/>
                <a:cs typeface="Segoe UI" panose="020B0502040204020203" pitchFamily="34" charset="0"/>
              </a:rPr>
              <a:t> </a:t>
            </a:r>
            <a:r>
              <a:rPr lang="fr-FR" sz="1400" b="1" dirty="0">
                <a:solidFill>
                  <a:srgbClr val="1C7293"/>
                </a:solidFill>
                <a:latin typeface="Segoe UI" panose="020B0502040204020203" pitchFamily="34" charset="0"/>
                <a:ea typeface="Calibri" pitchFamily="34" charset="-122"/>
                <a:cs typeface="Segoe UI" panose="020B0502040204020203" pitchFamily="34" charset="0"/>
              </a:rPr>
              <a:t>apporte/change</a:t>
            </a:r>
            <a:r>
              <a:rPr sz="1400" b="1" dirty="0">
                <a:solidFill>
                  <a:srgbClr val="1C7293"/>
                </a:solidFill>
                <a:latin typeface="Segoe UI" panose="020B0502040204020203" pitchFamily="34" charset="0"/>
                <a:ea typeface="Calibri" pitchFamily="34" charset="-122"/>
                <a:cs typeface="Segoe UI" panose="020B0502040204020203" pitchFamily="34" charset="0"/>
              </a:rPr>
              <a:t> pour les équipes</a:t>
            </a:r>
          </a:p>
        </p:txBody>
      </p:sp>
      <p:sp>
        <p:nvSpPr>
          <p:cNvPr id="6" name="Shape 17">
            <a:extLst>
              <a:ext uri="{FF2B5EF4-FFF2-40B4-BE49-F238E27FC236}">
                <a16:creationId xmlns:a16="http://schemas.microsoft.com/office/drawing/2014/main" id="{97BFB694-DE71-EF51-0E9B-CB78E9A52C72}"/>
              </a:ext>
            </a:extLst>
          </p:cNvPr>
          <p:cNvSpPr/>
          <p:nvPr/>
        </p:nvSpPr>
        <p:spPr>
          <a:xfrm>
            <a:off x="836377" y="3242068"/>
            <a:ext cx="10895375" cy="413000"/>
          </a:xfrm>
          <a:prstGeom prst="roundRect">
            <a:avLst>
              <a:gd name="adj" fmla="val 7547"/>
            </a:avLst>
          </a:prstGeom>
          <a:solidFill>
            <a:srgbClr val="FFFFFF"/>
          </a:solidFill>
          <a:ln/>
        </p:spPr>
        <p:txBody>
          <a:bodyPr/>
          <a:lstStyle/>
          <a:p>
            <a:endParaRPr lang="fr-FR">
              <a:latin typeface="Segoe UI" panose="020B0502040204020203" pitchFamily="34" charset="0"/>
              <a:cs typeface="Segoe UI" panose="020B0502040204020203" pitchFamily="34" charset="0"/>
            </a:endParaRPr>
          </a:p>
        </p:txBody>
      </p:sp>
      <p:sp>
        <p:nvSpPr>
          <p:cNvPr id="7" name="Shape 33">
            <a:extLst>
              <a:ext uri="{FF2B5EF4-FFF2-40B4-BE49-F238E27FC236}">
                <a16:creationId xmlns:a16="http://schemas.microsoft.com/office/drawing/2014/main" id="{CB4C4E11-668C-0034-E7A3-A9BFDB9A3A58}"/>
              </a:ext>
            </a:extLst>
          </p:cNvPr>
          <p:cNvSpPr/>
          <p:nvPr/>
        </p:nvSpPr>
        <p:spPr>
          <a:xfrm>
            <a:off x="457200" y="3242068"/>
            <a:ext cx="11274552" cy="623201"/>
          </a:xfrm>
          <a:prstGeom prst="roundRect">
            <a:avLst>
              <a:gd name="adj" fmla="val 10256"/>
            </a:avLst>
          </a:prstGeom>
          <a:solidFill>
            <a:srgbClr val="CFE3F2"/>
          </a:solidFill>
          <a:ln/>
        </p:spPr>
        <p:txBody>
          <a:bodyPr/>
          <a:lstStyle/>
          <a:p>
            <a:endParaRPr lang="fr-FR">
              <a:latin typeface="Segoe UI" panose="020B0502040204020203" pitchFamily="34" charset="0"/>
              <a:cs typeface="Segoe UI" panose="020B0502040204020203" pitchFamily="34" charset="0"/>
            </a:endParaRPr>
          </a:p>
        </p:txBody>
      </p:sp>
      <p:sp>
        <p:nvSpPr>
          <p:cNvPr id="8" name="Shape 34">
            <a:extLst>
              <a:ext uri="{FF2B5EF4-FFF2-40B4-BE49-F238E27FC236}">
                <a16:creationId xmlns:a16="http://schemas.microsoft.com/office/drawing/2014/main" id="{95658C73-764A-2BA2-E545-3912785B8FAA}"/>
              </a:ext>
            </a:extLst>
          </p:cNvPr>
          <p:cNvSpPr/>
          <p:nvPr/>
        </p:nvSpPr>
        <p:spPr>
          <a:xfrm>
            <a:off x="636663" y="3346029"/>
            <a:ext cx="403765" cy="371669"/>
          </a:xfrm>
          <a:prstGeom prst="ellipse">
            <a:avLst/>
          </a:prstGeom>
          <a:solidFill>
            <a:srgbClr val="0B5394"/>
          </a:solidFill>
          <a:ln/>
        </p:spPr>
        <p:txBody>
          <a:bodyPr/>
          <a:lstStyle/>
          <a:p>
            <a:endParaRPr lang="fr-FR">
              <a:latin typeface="Segoe UI" panose="020B0502040204020203" pitchFamily="34" charset="0"/>
              <a:cs typeface="Segoe UI" panose="020B0502040204020203" pitchFamily="34" charset="0"/>
            </a:endParaRPr>
          </a:p>
        </p:txBody>
      </p:sp>
      <p:pic>
        <p:nvPicPr>
          <p:cNvPr id="9" name="Image 5" descr="preencoded.png">
            <a:extLst>
              <a:ext uri="{FF2B5EF4-FFF2-40B4-BE49-F238E27FC236}">
                <a16:creationId xmlns:a16="http://schemas.microsoft.com/office/drawing/2014/main" id="{D101BA50-5340-B41D-D615-5B77BC3A1511}"/>
              </a:ext>
            </a:extLst>
          </p:cNvPr>
          <p:cNvPicPr>
            <a:picLocks noChangeAspect="1"/>
          </p:cNvPicPr>
          <p:nvPr/>
        </p:nvPicPr>
        <p:blipFill>
          <a:blip r:embed="rId5"/>
          <a:stretch>
            <a:fillRect/>
          </a:stretch>
        </p:blipFill>
        <p:spPr>
          <a:xfrm>
            <a:off x="743332" y="3418900"/>
            <a:ext cx="209958" cy="209958"/>
          </a:xfrm>
          <a:prstGeom prst="rect">
            <a:avLst/>
          </a:prstGeom>
        </p:spPr>
      </p:pic>
      <p:sp>
        <p:nvSpPr>
          <p:cNvPr id="10" name="Text 35">
            <a:extLst>
              <a:ext uri="{FF2B5EF4-FFF2-40B4-BE49-F238E27FC236}">
                <a16:creationId xmlns:a16="http://schemas.microsoft.com/office/drawing/2014/main" id="{82913A1B-B7B8-528F-C346-EAC806E3689B}"/>
              </a:ext>
            </a:extLst>
          </p:cNvPr>
          <p:cNvSpPr/>
          <p:nvPr/>
        </p:nvSpPr>
        <p:spPr>
          <a:xfrm>
            <a:off x="1280160" y="3354802"/>
            <a:ext cx="2377440" cy="338328"/>
          </a:xfrm>
          <a:prstGeom prst="rect">
            <a:avLst/>
          </a:prstGeom>
          <a:noFill/>
          <a:ln/>
        </p:spPr>
        <p:txBody>
          <a:bodyPr wrap="square" lIns="0" tIns="0" rIns="0" bIns="0" rtlCol="0" anchor="ctr"/>
          <a:lstStyle/>
          <a:p>
            <a:pPr marL="0" indent="0">
              <a:buNone/>
            </a:pPr>
            <a:r>
              <a:rPr lang="en-US" sz="1400" b="1" dirty="0" err="1">
                <a:solidFill>
                  <a:srgbClr val="21295C"/>
                </a:solidFill>
                <a:latin typeface="Segoe UI" panose="020B0502040204020203" pitchFamily="34" charset="0"/>
                <a:ea typeface="Calibri" pitchFamily="34" charset="-122"/>
                <a:cs typeface="Segoe UI" panose="020B0502040204020203" pitchFamily="34" charset="0"/>
              </a:rPr>
              <a:t>Objectifs</a:t>
            </a:r>
            <a:endParaRPr lang="en-US" sz="1400" dirty="0">
              <a:latin typeface="Segoe UI" panose="020B0502040204020203" pitchFamily="34" charset="0"/>
              <a:cs typeface="Segoe UI" panose="020B0502040204020203" pitchFamily="34" charset="0"/>
            </a:endParaRPr>
          </a:p>
        </p:txBody>
      </p:sp>
      <p:sp>
        <p:nvSpPr>
          <p:cNvPr id="19" name="Text 36">
            <a:extLst>
              <a:ext uri="{FF2B5EF4-FFF2-40B4-BE49-F238E27FC236}">
                <a16:creationId xmlns:a16="http://schemas.microsoft.com/office/drawing/2014/main" id="{07B9AC25-F56E-99F7-54A9-F8986AFBE31D}"/>
              </a:ext>
            </a:extLst>
          </p:cNvPr>
          <p:cNvSpPr/>
          <p:nvPr/>
        </p:nvSpPr>
        <p:spPr>
          <a:xfrm>
            <a:off x="2796689" y="3291970"/>
            <a:ext cx="8747760" cy="493772"/>
          </a:xfrm>
          <a:prstGeom prst="rect">
            <a:avLst/>
          </a:prstGeom>
          <a:noFill/>
          <a:ln/>
        </p:spPr>
        <p:txBody>
          <a:bodyPr wrap="square" lIns="0" tIns="0" rIns="0" bIns="0" rtlCol="0" anchor="ctr"/>
          <a:lstStyle/>
          <a:p>
            <a:pPr>
              <a:lnSpc>
                <a:spcPct val="110000"/>
              </a:lnSpc>
            </a:pPr>
            <a:r>
              <a:rPr lang="en-US" sz="1000" b="1" i="1" dirty="0">
                <a:solidFill>
                  <a:srgbClr val="1B2433"/>
                </a:solidFill>
                <a:latin typeface="Segoe UI" panose="020B0502040204020203" pitchFamily="34" charset="0"/>
                <a:ea typeface="Calibri" pitchFamily="34" charset="-122"/>
                <a:cs typeface="Segoe UI" panose="020B0502040204020203" pitchFamily="34" charset="0"/>
              </a:rPr>
              <a:t>1/ Exposer le catalogue des services de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l’OCRF</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&amp;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APIser</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les services de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l’OCR</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Factory pour les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rendres</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consommables</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par les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autres</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équipes IT</a:t>
            </a:r>
          </a:p>
          <a:p>
            <a:pPr>
              <a:lnSpc>
                <a:spcPct val="110000"/>
              </a:lnSpc>
            </a:pPr>
            <a:r>
              <a:rPr lang="en-US" sz="1000" b="1" i="1" dirty="0">
                <a:solidFill>
                  <a:srgbClr val="1B2433"/>
                </a:solidFill>
                <a:latin typeface="Segoe UI" panose="020B0502040204020203" pitchFamily="34" charset="0"/>
                <a:ea typeface="Calibri" pitchFamily="34" charset="-122"/>
                <a:cs typeface="Segoe UI" panose="020B0502040204020203" pitchFamily="34" charset="0"/>
              </a:rPr>
              <a:t>2/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Mettre</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en</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place un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espace</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pour que les équipes IT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puissent</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explorer, tester et exploiter les services avec plus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d’autonomie</a:t>
            </a:r>
            <a:endParaRPr lang="en-US" sz="1000" b="1" i="1" dirty="0">
              <a:solidFill>
                <a:srgbClr val="1B2433"/>
              </a:solidFill>
              <a:latin typeface="Segoe UI" panose="020B0502040204020203" pitchFamily="34" charset="0"/>
              <a:ea typeface="Calibri" pitchFamily="34" charset="-122"/>
              <a:cs typeface="Segoe UI" panose="020B0502040204020203" pitchFamily="34" charset="0"/>
            </a:endParaRPr>
          </a:p>
          <a:p>
            <a:pPr>
              <a:lnSpc>
                <a:spcPct val="110000"/>
              </a:lnSpc>
            </a:pPr>
            <a:r>
              <a:rPr lang="en-US" sz="1000" b="1" i="1" dirty="0">
                <a:solidFill>
                  <a:srgbClr val="1B2433"/>
                </a:solidFill>
                <a:latin typeface="Segoe UI" panose="020B0502040204020203" pitchFamily="34" charset="0"/>
                <a:ea typeface="Calibri" pitchFamily="34" charset="-122"/>
                <a:cs typeface="Segoe UI" panose="020B0502040204020203" pitchFamily="34" charset="0"/>
              </a:rPr>
              <a:t>3/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Préparer</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nos</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services pour le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développement</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Agentic, pour </a:t>
            </a:r>
            <a:r>
              <a:rPr lang="en-US" sz="1000" b="1" i="1" dirty="0" err="1">
                <a:solidFill>
                  <a:srgbClr val="1B2433"/>
                </a:solidFill>
                <a:latin typeface="Segoe UI" panose="020B0502040204020203" pitchFamily="34" charset="0"/>
                <a:ea typeface="Calibri" pitchFamily="34" charset="-122"/>
                <a:cs typeface="Segoe UI" panose="020B0502040204020203" pitchFamily="34" charset="0"/>
              </a:rPr>
              <a:t>demain</a:t>
            </a:r>
            <a:r>
              <a:rPr lang="en-US" sz="1000" b="1" i="1" dirty="0">
                <a:solidFill>
                  <a:srgbClr val="1B2433"/>
                </a:solidFill>
                <a:latin typeface="Segoe UI" panose="020B0502040204020203" pitchFamily="34" charset="0"/>
                <a:ea typeface="Calibri" pitchFamily="34" charset="-122"/>
                <a:cs typeface="Segoe UI" panose="020B0502040204020203" pitchFamily="34" charset="0"/>
              </a:rPr>
              <a:t>, </a:t>
            </a:r>
            <a:endParaRPr lang="en-US" sz="1000" dirty="0">
              <a:latin typeface="Segoe UI" panose="020B0502040204020203" pitchFamily="34" charset="0"/>
              <a:cs typeface="Segoe UI" panose="020B0502040204020203" pitchFamily="34" charset="0"/>
            </a:endParaRPr>
          </a:p>
        </p:txBody>
      </p:sp>
      <p:sp>
        <p:nvSpPr>
          <p:cNvPr id="20" name="Shape 17">
            <a:extLst>
              <a:ext uri="{FF2B5EF4-FFF2-40B4-BE49-F238E27FC236}">
                <a16:creationId xmlns:a16="http://schemas.microsoft.com/office/drawing/2014/main" id="{33CB2E86-AE20-CE43-D524-3894F22A0256}"/>
              </a:ext>
            </a:extLst>
          </p:cNvPr>
          <p:cNvSpPr/>
          <p:nvPr/>
        </p:nvSpPr>
        <p:spPr>
          <a:xfrm>
            <a:off x="836377" y="5542771"/>
            <a:ext cx="10895375" cy="413000"/>
          </a:xfrm>
          <a:prstGeom prst="roundRect">
            <a:avLst>
              <a:gd name="adj" fmla="val 7547"/>
            </a:avLst>
          </a:prstGeom>
          <a:solidFill>
            <a:srgbClr val="FFFFFF"/>
          </a:solidFill>
          <a:ln/>
        </p:spPr>
        <p:txBody>
          <a:bodyPr/>
          <a:lstStyle/>
          <a:p>
            <a:endParaRPr lang="fr-FR">
              <a:latin typeface="Segoe UI" panose="020B0502040204020203" pitchFamily="34" charset="0"/>
              <a:cs typeface="Segoe UI" panose="020B0502040204020203" pitchFamily="34" charset="0"/>
            </a:endParaRPr>
          </a:p>
        </p:txBody>
      </p:sp>
      <p:sp>
        <p:nvSpPr>
          <p:cNvPr id="21" name="Shape 33">
            <a:extLst>
              <a:ext uri="{FF2B5EF4-FFF2-40B4-BE49-F238E27FC236}">
                <a16:creationId xmlns:a16="http://schemas.microsoft.com/office/drawing/2014/main" id="{3D32E8D1-42E5-B663-74A7-95C37E8206B2}"/>
              </a:ext>
            </a:extLst>
          </p:cNvPr>
          <p:cNvSpPr/>
          <p:nvPr/>
        </p:nvSpPr>
        <p:spPr>
          <a:xfrm>
            <a:off x="457200" y="5542771"/>
            <a:ext cx="11274552" cy="437267"/>
          </a:xfrm>
          <a:prstGeom prst="roundRect">
            <a:avLst>
              <a:gd name="adj" fmla="val 10256"/>
            </a:avLst>
          </a:prstGeom>
          <a:solidFill>
            <a:srgbClr val="CFE3F2"/>
          </a:solidFill>
          <a:ln/>
        </p:spPr>
        <p:txBody>
          <a:bodyPr/>
          <a:lstStyle/>
          <a:p>
            <a:endParaRPr lang="fr-FR">
              <a:latin typeface="Segoe UI" panose="020B0502040204020203" pitchFamily="34" charset="0"/>
              <a:cs typeface="Segoe UI" panose="020B0502040204020203" pitchFamily="34" charset="0"/>
            </a:endParaRPr>
          </a:p>
        </p:txBody>
      </p:sp>
      <p:sp>
        <p:nvSpPr>
          <p:cNvPr id="22" name="Text 35">
            <a:extLst>
              <a:ext uri="{FF2B5EF4-FFF2-40B4-BE49-F238E27FC236}">
                <a16:creationId xmlns:a16="http://schemas.microsoft.com/office/drawing/2014/main" id="{013B3E6D-48EA-FECD-5721-EC9500CF138A}"/>
              </a:ext>
            </a:extLst>
          </p:cNvPr>
          <p:cNvSpPr/>
          <p:nvPr/>
        </p:nvSpPr>
        <p:spPr>
          <a:xfrm>
            <a:off x="1230056" y="5592875"/>
            <a:ext cx="2377440" cy="338328"/>
          </a:xfrm>
          <a:prstGeom prst="rect">
            <a:avLst/>
          </a:prstGeom>
          <a:noFill/>
          <a:ln/>
        </p:spPr>
        <p:txBody>
          <a:bodyPr wrap="square" lIns="0" tIns="0" rIns="0" bIns="0" rtlCol="0" anchor="ctr"/>
          <a:lstStyle/>
          <a:p>
            <a:pPr marL="0" indent="0">
              <a:buNone/>
            </a:pPr>
            <a:r>
              <a:rPr lang="en-US" sz="1400" b="1" dirty="0" err="1">
                <a:solidFill>
                  <a:srgbClr val="21295C"/>
                </a:solidFill>
                <a:latin typeface="Segoe UI" panose="020B0502040204020203" pitchFamily="34" charset="0"/>
                <a:ea typeface="Calibri" pitchFamily="34" charset="-122"/>
                <a:cs typeface="Segoe UI" panose="020B0502040204020203" pitchFamily="34" charset="0"/>
              </a:rPr>
              <a:t>Contraintes</a:t>
            </a:r>
            <a:r>
              <a:rPr lang="en-US" sz="1400" b="1" dirty="0">
                <a:solidFill>
                  <a:srgbClr val="21295C"/>
                </a:solidFill>
                <a:latin typeface="Segoe UI" panose="020B0502040204020203" pitchFamily="34" charset="0"/>
                <a:ea typeface="Calibri" pitchFamily="34" charset="-122"/>
                <a:cs typeface="Segoe UI" panose="020B0502040204020203" pitchFamily="34" charset="0"/>
              </a:rPr>
              <a:t> à respecter</a:t>
            </a:r>
            <a:endParaRPr lang="en-US" sz="1400" dirty="0">
              <a:latin typeface="Segoe UI" panose="020B0502040204020203" pitchFamily="34" charset="0"/>
              <a:cs typeface="Segoe UI" panose="020B0502040204020203" pitchFamily="34" charset="0"/>
            </a:endParaRPr>
          </a:p>
        </p:txBody>
      </p:sp>
      <p:sp>
        <p:nvSpPr>
          <p:cNvPr id="27" name="Text 36">
            <a:extLst>
              <a:ext uri="{FF2B5EF4-FFF2-40B4-BE49-F238E27FC236}">
                <a16:creationId xmlns:a16="http://schemas.microsoft.com/office/drawing/2014/main" id="{1BD2A3ED-053C-7754-8259-3CE10AD4AF0C}"/>
              </a:ext>
            </a:extLst>
          </p:cNvPr>
          <p:cNvSpPr/>
          <p:nvPr/>
        </p:nvSpPr>
        <p:spPr>
          <a:xfrm>
            <a:off x="3611880" y="5580349"/>
            <a:ext cx="7955280" cy="345827"/>
          </a:xfrm>
          <a:prstGeom prst="rect">
            <a:avLst/>
          </a:prstGeom>
          <a:noFill/>
          <a:ln/>
        </p:spPr>
        <p:txBody>
          <a:bodyPr wrap="square" lIns="0" tIns="0" rIns="0" bIns="0" rtlCol="0" anchor="ctr"/>
          <a:lstStyle/>
          <a:p>
            <a:pPr>
              <a:lnSpc>
                <a:spcPct val="110000"/>
              </a:lnSpc>
            </a:pPr>
            <a:r>
              <a:rPr lang="en-US" sz="1000" dirty="0" err="1">
                <a:solidFill>
                  <a:srgbClr val="21295C"/>
                </a:solidFill>
                <a:latin typeface="Segoe UI" panose="020B0502040204020203" pitchFamily="34" charset="0"/>
                <a:ea typeface="Calibri" pitchFamily="34" charset="-122"/>
                <a:cs typeface="Segoe UI" panose="020B0502040204020203" pitchFamily="34" charset="0"/>
              </a:rPr>
              <a:t>Gouvernance</a:t>
            </a:r>
            <a:r>
              <a:rPr lang="en-US" sz="1000" dirty="0">
                <a:solidFill>
                  <a:srgbClr val="21295C"/>
                </a:solidFill>
                <a:latin typeface="Segoe UI" panose="020B0502040204020203" pitchFamily="34" charset="0"/>
                <a:ea typeface="Calibri" pitchFamily="34" charset="-122"/>
                <a:cs typeface="Segoe UI" panose="020B0502040204020203" pitchFamily="34" charset="0"/>
              </a:rPr>
              <a:t> &amp; </a:t>
            </a:r>
            <a:r>
              <a:rPr lang="en-US" sz="1000" dirty="0" err="1">
                <a:solidFill>
                  <a:srgbClr val="21295C"/>
                </a:solidFill>
                <a:latin typeface="Segoe UI" panose="020B0502040204020203" pitchFamily="34" charset="0"/>
                <a:ea typeface="Calibri" pitchFamily="34" charset="-122"/>
                <a:cs typeface="Segoe UI" panose="020B0502040204020203" pitchFamily="34" charset="0"/>
              </a:rPr>
              <a:t>conformité</a:t>
            </a:r>
            <a:r>
              <a:rPr lang="en-US" sz="1000" dirty="0">
                <a:solidFill>
                  <a:srgbClr val="21295C"/>
                </a:solidFill>
                <a:latin typeface="Segoe UI" panose="020B0502040204020203" pitchFamily="34" charset="0"/>
                <a:ea typeface="Calibri" pitchFamily="34" charset="-122"/>
                <a:cs typeface="Segoe UI" panose="020B0502040204020203" pitchFamily="34" charset="0"/>
              </a:rPr>
              <a:t>. </a:t>
            </a:r>
            <a:r>
              <a:rPr lang="en-US" sz="1000" dirty="0" err="1">
                <a:solidFill>
                  <a:srgbClr val="1B2433"/>
                </a:solidFill>
                <a:latin typeface="Segoe UI" panose="020B0502040204020203" pitchFamily="34" charset="0"/>
                <a:ea typeface="Calibri" pitchFamily="34" charset="-122"/>
                <a:cs typeface="Segoe UI" panose="020B0502040204020203" pitchFamily="34" charset="0"/>
              </a:rPr>
              <a:t>Traçabilité</a:t>
            </a:r>
            <a:r>
              <a:rPr lang="en-US" sz="1000" dirty="0">
                <a:solidFill>
                  <a:srgbClr val="1B2433"/>
                </a:solidFill>
                <a:latin typeface="Segoe UI" panose="020B0502040204020203" pitchFamily="34" charset="0"/>
                <a:ea typeface="Calibri" pitchFamily="34" charset="-122"/>
                <a:cs typeface="Segoe UI" panose="020B0502040204020203" pitchFamily="34" charset="0"/>
              </a:rPr>
              <a:t>, </a:t>
            </a:r>
            <a:r>
              <a:rPr lang="en-US" sz="1000" dirty="0" err="1">
                <a:solidFill>
                  <a:srgbClr val="1B2433"/>
                </a:solidFill>
                <a:latin typeface="Segoe UI" panose="020B0502040204020203" pitchFamily="34" charset="0"/>
                <a:ea typeface="Calibri" pitchFamily="34" charset="-122"/>
                <a:cs typeface="Segoe UI" panose="020B0502040204020203" pitchFamily="34" charset="0"/>
              </a:rPr>
              <a:t>auditabilité</a:t>
            </a:r>
            <a:r>
              <a:rPr lang="en-US" sz="1000" dirty="0">
                <a:solidFill>
                  <a:srgbClr val="1B2433"/>
                </a:solidFill>
                <a:latin typeface="Segoe UI" panose="020B0502040204020203" pitchFamily="34" charset="0"/>
                <a:ea typeface="Calibri" pitchFamily="34" charset="-122"/>
                <a:cs typeface="Segoe UI" panose="020B0502040204020203" pitchFamily="34" charset="0"/>
              </a:rPr>
              <a:t>, </a:t>
            </a:r>
            <a:r>
              <a:rPr lang="en-US" sz="1000" dirty="0" err="1">
                <a:solidFill>
                  <a:srgbClr val="1B2433"/>
                </a:solidFill>
                <a:latin typeface="Segoe UI" panose="020B0502040204020203" pitchFamily="34" charset="0"/>
                <a:ea typeface="Calibri" pitchFamily="34" charset="-122"/>
                <a:cs typeface="Segoe UI" panose="020B0502040204020203" pitchFamily="34" charset="0"/>
              </a:rPr>
              <a:t>contrôle</a:t>
            </a:r>
            <a:r>
              <a:rPr lang="en-US" sz="1000" dirty="0">
                <a:solidFill>
                  <a:srgbClr val="1B2433"/>
                </a:solidFill>
                <a:latin typeface="Segoe UI" panose="020B0502040204020203" pitchFamily="34" charset="0"/>
                <a:ea typeface="Calibri" pitchFamily="34" charset="-122"/>
                <a:cs typeface="Segoe UI" panose="020B0502040204020203" pitchFamily="34" charset="0"/>
              </a:rPr>
              <a:t> des </a:t>
            </a:r>
            <a:r>
              <a:rPr lang="en-US" sz="1000" dirty="0" err="1">
                <a:solidFill>
                  <a:srgbClr val="1B2433"/>
                </a:solidFill>
                <a:latin typeface="Segoe UI" panose="020B0502040204020203" pitchFamily="34" charset="0"/>
                <a:ea typeface="Calibri" pitchFamily="34" charset="-122"/>
                <a:cs typeface="Segoe UI" panose="020B0502040204020203" pitchFamily="34" charset="0"/>
              </a:rPr>
              <a:t>accès</a:t>
            </a:r>
            <a:endParaRPr lang="en-US" sz="1000" dirty="0">
              <a:latin typeface="Segoe UI" panose="020B0502040204020203" pitchFamily="34" charset="0"/>
              <a:cs typeface="Segoe UI" panose="020B0502040204020203" pitchFamily="34" charset="0"/>
            </a:endParaRPr>
          </a:p>
        </p:txBody>
      </p:sp>
      <p:sp>
        <p:nvSpPr>
          <p:cNvPr id="29" name="Shape 9">
            <a:extLst>
              <a:ext uri="{FF2B5EF4-FFF2-40B4-BE49-F238E27FC236}">
                <a16:creationId xmlns:a16="http://schemas.microsoft.com/office/drawing/2014/main" id="{E23F4045-4446-13BA-F9B0-2B6DBCD3D66B}"/>
              </a:ext>
            </a:extLst>
          </p:cNvPr>
          <p:cNvSpPr/>
          <p:nvPr/>
        </p:nvSpPr>
        <p:spPr>
          <a:xfrm>
            <a:off x="593789" y="5546489"/>
            <a:ext cx="321877" cy="372717"/>
          </a:xfrm>
          <a:prstGeom prst="ellipse">
            <a:avLst/>
          </a:prstGeom>
          <a:solidFill>
            <a:srgbClr val="F2A516"/>
          </a:solidFill>
          <a:ln/>
        </p:spPr>
        <p:txBody>
          <a:bodyPr/>
          <a:lstStyle/>
          <a:p>
            <a:endParaRPr lang="fr-FR">
              <a:latin typeface="Segoe UI" panose="020B0502040204020203" pitchFamily="34" charset="0"/>
              <a:cs typeface="Segoe UI" panose="020B0502040204020203" pitchFamily="34" charset="0"/>
            </a:endParaRPr>
          </a:p>
        </p:txBody>
      </p:sp>
      <p:pic>
        <p:nvPicPr>
          <p:cNvPr id="31" name="Image 1" descr="preencoded.png">
            <a:extLst>
              <a:ext uri="{FF2B5EF4-FFF2-40B4-BE49-F238E27FC236}">
                <a16:creationId xmlns:a16="http://schemas.microsoft.com/office/drawing/2014/main" id="{6B0E892A-48F6-D2C3-2A80-586B9AFF483F}"/>
              </a:ext>
            </a:extLst>
          </p:cNvPr>
          <p:cNvPicPr>
            <a:picLocks noChangeAspect="1"/>
          </p:cNvPicPr>
          <p:nvPr/>
        </p:nvPicPr>
        <p:blipFill>
          <a:blip r:embed="rId4"/>
          <a:stretch>
            <a:fillRect/>
          </a:stretch>
        </p:blipFill>
        <p:spPr>
          <a:xfrm>
            <a:off x="655818" y="5626001"/>
            <a:ext cx="193813" cy="193813"/>
          </a:xfrm>
          <a:prstGeom prst="rect">
            <a:avLst/>
          </a:prstGeom>
        </p:spPr>
      </p:pic>
    </p:spTree>
    <p:extLst>
      <p:ext uri="{BB962C8B-B14F-4D97-AF65-F5344CB8AC3E}">
        <p14:creationId xmlns:p14="http://schemas.microsoft.com/office/powerpoint/2010/main" val="1583483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07E99-A44A-C557-F64B-ED1F4C57741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69D68C-9542-BD82-F69F-2C5929F3D6A0}"/>
              </a:ext>
            </a:extLst>
          </p:cNvPr>
          <p:cNvSpPr>
            <a:spLocks noGrp="1"/>
          </p:cNvSpPr>
          <p:nvPr>
            <p:ph type="title"/>
          </p:nvPr>
        </p:nvSpPr>
        <p:spPr/>
        <p:txBody>
          <a:bodyPr/>
          <a:lstStyle/>
          <a:p>
            <a:r>
              <a:rPr lang="fr-FR" dirty="0"/>
              <a:t>Objectifs &amp; démarche</a:t>
            </a:r>
          </a:p>
        </p:txBody>
      </p:sp>
      <p:sp>
        <p:nvSpPr>
          <p:cNvPr id="3" name="Espace réservé du pied de page 2">
            <a:extLst>
              <a:ext uri="{FF2B5EF4-FFF2-40B4-BE49-F238E27FC236}">
                <a16:creationId xmlns:a16="http://schemas.microsoft.com/office/drawing/2014/main" id="{F92FDA66-CEE4-C5C2-5DB4-76D9A15232CA}"/>
              </a:ext>
            </a:extLst>
          </p:cNvPr>
          <p:cNvSpPr>
            <a:spLocks noGrp="1"/>
          </p:cNvSpPr>
          <p:nvPr>
            <p:ph type="ftr" sz="quarter" idx="11"/>
          </p:nvPr>
        </p:nvSpPr>
        <p:spPr/>
        <p:txBody>
          <a:bodyPr/>
          <a:lstStyle/>
          <a:p>
            <a:r>
              <a:rPr lang="fr-FR" dirty="0"/>
              <a:t>Nadia – Dossier de pré-cadrage</a:t>
            </a:r>
          </a:p>
        </p:txBody>
      </p:sp>
      <p:sp>
        <p:nvSpPr>
          <p:cNvPr id="22" name="TextBox 3">
            <a:extLst>
              <a:ext uri="{FF2B5EF4-FFF2-40B4-BE49-F238E27FC236}">
                <a16:creationId xmlns:a16="http://schemas.microsoft.com/office/drawing/2014/main" id="{0E0D579F-2E1C-8FAD-A2EE-64C987AC0D15}"/>
              </a:ext>
            </a:extLst>
          </p:cNvPr>
          <p:cNvSpPr txBox="1"/>
          <p:nvPr/>
        </p:nvSpPr>
        <p:spPr>
          <a:xfrm>
            <a:off x="707415" y="5046810"/>
            <a:ext cx="7339144" cy="1069780"/>
          </a:xfrm>
          <a:prstGeom prst="rect">
            <a:avLst/>
          </a:prstGeom>
          <a:noFill/>
        </p:spPr>
        <p:txBody>
          <a:bodyPr wrap="square" lIns="0" tIns="0" rIns="0" bIns="0" anchor="t">
            <a:spAutoFit/>
          </a:bodyPr>
          <a:lstStyle/>
          <a:p>
            <a:pPr algn="l">
              <a:lnSpc>
                <a:spcPct val="110000"/>
              </a:lnSpc>
            </a:pPr>
            <a:r>
              <a:rPr sz="1600" b="0" i="1" dirty="0">
                <a:solidFill>
                  <a:srgbClr val="5B6472"/>
                </a:solidFill>
                <a:latin typeface="Calibri"/>
              </a:rPr>
              <a:t>Trois </a:t>
            </a:r>
            <a:r>
              <a:rPr sz="1600" b="0" i="1" dirty="0" err="1">
                <a:solidFill>
                  <a:srgbClr val="5B6472"/>
                </a:solidFill>
                <a:latin typeface="Calibri"/>
              </a:rPr>
              <a:t>niveaux</a:t>
            </a:r>
            <a:r>
              <a:rPr sz="1600" b="0" i="1" dirty="0">
                <a:solidFill>
                  <a:srgbClr val="5B6472"/>
                </a:solidFill>
                <a:latin typeface="Calibri"/>
              </a:rPr>
              <a:t> d</a:t>
            </a:r>
            <a:r>
              <a:rPr lang="fr-FR" sz="1600" b="0" i="1" dirty="0">
                <a:solidFill>
                  <a:srgbClr val="5B6472"/>
                </a:solidFill>
                <a:latin typeface="Calibri"/>
              </a:rPr>
              <a:t>’exposition</a:t>
            </a:r>
            <a:r>
              <a:rPr sz="1600" b="0" i="1" dirty="0">
                <a:solidFill>
                  <a:srgbClr val="5B6472"/>
                </a:solidFill>
                <a:latin typeface="Calibri"/>
              </a:rPr>
              <a:t>, </a:t>
            </a:r>
            <a:r>
              <a:rPr sz="1600" b="0" i="1" dirty="0" err="1">
                <a:solidFill>
                  <a:srgbClr val="5B6472"/>
                </a:solidFill>
                <a:latin typeface="Calibri"/>
              </a:rPr>
              <a:t>une</a:t>
            </a:r>
            <a:r>
              <a:rPr sz="1600" b="0" i="1" dirty="0">
                <a:solidFill>
                  <a:srgbClr val="5B6472"/>
                </a:solidFill>
                <a:latin typeface="Calibri"/>
              </a:rPr>
              <a:t> </a:t>
            </a:r>
            <a:r>
              <a:rPr sz="1600" b="0" i="1" dirty="0" err="1">
                <a:solidFill>
                  <a:srgbClr val="5B6472"/>
                </a:solidFill>
                <a:latin typeface="Calibri"/>
              </a:rPr>
              <a:t>organisation</a:t>
            </a:r>
            <a:r>
              <a:rPr sz="1600" b="0" i="1" dirty="0">
                <a:solidFill>
                  <a:srgbClr val="5B6472"/>
                </a:solidFill>
                <a:latin typeface="Calibri"/>
              </a:rPr>
              <a:t> </a:t>
            </a:r>
            <a:r>
              <a:rPr sz="1600" b="0" i="1" dirty="0" err="1">
                <a:solidFill>
                  <a:srgbClr val="5B6472"/>
                </a:solidFill>
                <a:latin typeface="Calibri"/>
              </a:rPr>
              <a:t>fonctionnelle</a:t>
            </a:r>
            <a:r>
              <a:rPr sz="1600" b="0" i="1" dirty="0">
                <a:solidFill>
                  <a:srgbClr val="5B6472"/>
                </a:solidFill>
                <a:latin typeface="Calibri"/>
              </a:rPr>
              <a:t>, </a:t>
            </a:r>
            <a:r>
              <a:rPr sz="1600" b="0" i="1" dirty="0" err="1">
                <a:solidFill>
                  <a:srgbClr val="5B6472"/>
                </a:solidFill>
                <a:latin typeface="Calibri"/>
              </a:rPr>
              <a:t>une</a:t>
            </a:r>
            <a:r>
              <a:rPr sz="1600" b="0" i="1" dirty="0">
                <a:solidFill>
                  <a:srgbClr val="5B6472"/>
                </a:solidFill>
                <a:latin typeface="Calibri"/>
              </a:rPr>
              <a:t> </a:t>
            </a:r>
            <a:r>
              <a:rPr sz="1600" b="0" i="1" dirty="0" err="1">
                <a:solidFill>
                  <a:srgbClr val="5B6472"/>
                </a:solidFill>
                <a:latin typeface="Calibri"/>
              </a:rPr>
              <a:t>priorisation</a:t>
            </a:r>
            <a:r>
              <a:rPr sz="1600" b="0" i="1" dirty="0">
                <a:solidFill>
                  <a:srgbClr val="5B6472"/>
                </a:solidFill>
                <a:latin typeface="Calibri"/>
              </a:rPr>
              <a:t> par nature de service.</a:t>
            </a:r>
            <a:endParaRPr lang="fr-FR" sz="1600" b="0" i="1" dirty="0">
              <a:solidFill>
                <a:srgbClr val="5B6472"/>
              </a:solidFill>
              <a:latin typeface="Calibri"/>
            </a:endParaRPr>
          </a:p>
          <a:p>
            <a:pPr algn="l">
              <a:lnSpc>
                <a:spcPct val="110000"/>
              </a:lnSpc>
            </a:pPr>
            <a:r>
              <a:rPr lang="fr-FR" sz="1600" i="1" dirty="0">
                <a:solidFill>
                  <a:srgbClr val="5B6472"/>
                </a:solidFill>
                <a:latin typeface="Calibri"/>
              </a:rPr>
              <a:t>Un niveau de service technique unitaire pourrait être ajouté, selon le cadrage qui va avoir lieu sur l’agentique</a:t>
            </a:r>
            <a:endParaRPr sz="1600" b="0" i="1" dirty="0">
              <a:solidFill>
                <a:srgbClr val="5B6472"/>
              </a:solidFill>
              <a:latin typeface="Calibri"/>
            </a:endParaRPr>
          </a:p>
        </p:txBody>
      </p:sp>
      <p:sp>
        <p:nvSpPr>
          <p:cNvPr id="33" name="Rounded Rectangle 43">
            <a:extLst>
              <a:ext uri="{FF2B5EF4-FFF2-40B4-BE49-F238E27FC236}">
                <a16:creationId xmlns:a16="http://schemas.microsoft.com/office/drawing/2014/main" id="{B9CCEC6F-96F8-2DF1-3C9C-22780439F1F1}"/>
              </a:ext>
            </a:extLst>
          </p:cNvPr>
          <p:cNvSpPr/>
          <p:nvPr/>
        </p:nvSpPr>
        <p:spPr>
          <a:xfrm>
            <a:off x="8302591" y="543755"/>
            <a:ext cx="3575304" cy="1762878"/>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44">
            <a:extLst>
              <a:ext uri="{FF2B5EF4-FFF2-40B4-BE49-F238E27FC236}">
                <a16:creationId xmlns:a16="http://schemas.microsoft.com/office/drawing/2014/main" id="{51316CFF-7030-A198-1103-26C25BD15291}"/>
              </a:ext>
            </a:extLst>
          </p:cNvPr>
          <p:cNvSpPr/>
          <p:nvPr/>
        </p:nvSpPr>
        <p:spPr>
          <a:xfrm>
            <a:off x="8558623" y="774183"/>
            <a:ext cx="512064" cy="51206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45" descr="image.png">
            <a:extLst>
              <a:ext uri="{FF2B5EF4-FFF2-40B4-BE49-F238E27FC236}">
                <a16:creationId xmlns:a16="http://schemas.microsoft.com/office/drawing/2014/main" id="{31CF6C56-BE86-10A5-7B04-C4053322DAB6}"/>
              </a:ext>
            </a:extLst>
          </p:cNvPr>
          <p:cNvPicPr>
            <a:picLocks noChangeAspect="1"/>
          </p:cNvPicPr>
          <p:nvPr/>
        </p:nvPicPr>
        <p:blipFill>
          <a:blip r:embed="rId3"/>
          <a:stretch>
            <a:fillRect/>
          </a:stretch>
        </p:blipFill>
        <p:spPr>
          <a:xfrm>
            <a:off x="8682067" y="897627"/>
            <a:ext cx="265176" cy="265176"/>
          </a:xfrm>
          <a:prstGeom prst="rect">
            <a:avLst/>
          </a:prstGeom>
        </p:spPr>
      </p:pic>
      <p:sp>
        <p:nvSpPr>
          <p:cNvPr id="36" name="TextBox 46">
            <a:extLst>
              <a:ext uri="{FF2B5EF4-FFF2-40B4-BE49-F238E27FC236}">
                <a16:creationId xmlns:a16="http://schemas.microsoft.com/office/drawing/2014/main" id="{F2936BE0-2AF0-C5E7-0CF0-78BA9556B93E}"/>
              </a:ext>
            </a:extLst>
          </p:cNvPr>
          <p:cNvSpPr txBox="1"/>
          <p:nvPr/>
        </p:nvSpPr>
        <p:spPr>
          <a:xfrm>
            <a:off x="9235279" y="968487"/>
            <a:ext cx="2386584" cy="178319"/>
          </a:xfrm>
          <a:prstGeom prst="rect">
            <a:avLst/>
          </a:prstGeom>
          <a:noFill/>
        </p:spPr>
        <p:txBody>
          <a:bodyPr wrap="square" lIns="0" tIns="0" rIns="0" bIns="0" anchor="ctr">
            <a:spAutoFit/>
          </a:bodyPr>
          <a:lstStyle/>
          <a:p>
            <a:pPr algn="l">
              <a:lnSpc>
                <a:spcPct val="105000"/>
              </a:lnSpc>
            </a:pPr>
            <a:r>
              <a:rPr lang="fr-FR" sz="1150" b="1" i="0" dirty="0">
                <a:solidFill>
                  <a:srgbClr val="21295C"/>
                </a:solidFill>
                <a:latin typeface="Segoe UI" panose="020B0502040204020203" pitchFamily="34" charset="0"/>
                <a:cs typeface="Segoe UI" panose="020B0502040204020203" pitchFamily="34" charset="0"/>
              </a:rPr>
              <a:t>Niveau service unitaire</a:t>
            </a:r>
          </a:p>
        </p:txBody>
      </p:sp>
      <p:sp>
        <p:nvSpPr>
          <p:cNvPr id="37" name="TextBox 47">
            <a:extLst>
              <a:ext uri="{FF2B5EF4-FFF2-40B4-BE49-F238E27FC236}">
                <a16:creationId xmlns:a16="http://schemas.microsoft.com/office/drawing/2014/main" id="{EE6578FB-3CAF-97B7-D7E0-791AC9D2CDF5}"/>
              </a:ext>
            </a:extLst>
          </p:cNvPr>
          <p:cNvSpPr txBox="1"/>
          <p:nvPr/>
        </p:nvSpPr>
        <p:spPr>
          <a:xfrm>
            <a:off x="8682067" y="1355102"/>
            <a:ext cx="3063240" cy="648767"/>
          </a:xfrm>
          <a:prstGeom prst="rect">
            <a:avLst/>
          </a:prstGeom>
          <a:noFill/>
        </p:spPr>
        <p:txBody>
          <a:bodyPr wrap="square" lIns="0" tIns="0" rIns="0" bIns="0" anchor="t">
            <a:spAutoFit/>
          </a:bodyPr>
          <a:lstStyle/>
          <a:p>
            <a:pPr algn="l">
              <a:lnSpc>
                <a:spcPct val="115000"/>
              </a:lnSpc>
            </a:pPr>
            <a:r>
              <a:rPr lang="fr-FR" sz="930" b="0" i="0" dirty="0">
                <a:solidFill>
                  <a:srgbClr val="1B2433"/>
                </a:solidFill>
                <a:latin typeface="Segoe UI" panose="020B0502040204020203" pitchFamily="34" charset="0"/>
                <a:cs typeface="Segoe UI" panose="020B0502040204020203" pitchFamily="34" charset="0"/>
              </a:rPr>
              <a:t>L'unité : contrat d'interface technique, niveau de service, quotas, versioning. C'est le niveau qui est </a:t>
            </a:r>
            <a:r>
              <a:rPr lang="fr-FR" sz="930" b="0" i="0" dirty="0" err="1">
                <a:solidFill>
                  <a:srgbClr val="1B2433"/>
                </a:solidFill>
                <a:latin typeface="Segoe UI" panose="020B0502040204020203" pitchFamily="34" charset="0"/>
                <a:cs typeface="Segoe UI" panose="020B0502040204020203" pitchFamily="34" charset="0"/>
              </a:rPr>
              <a:t>APIsé</a:t>
            </a:r>
            <a:r>
              <a:rPr lang="fr-FR" sz="930" b="0" i="0" dirty="0">
                <a:solidFill>
                  <a:srgbClr val="1B2433"/>
                </a:solidFill>
                <a:latin typeface="Segoe UI" panose="020B0502040204020203" pitchFamily="34" charset="0"/>
                <a:cs typeface="Segoe UI" panose="020B0502040204020203" pitchFamily="34" charset="0"/>
              </a:rPr>
              <a:t> et, lorsqu'il est automatisable, souscrit puis provisionné. </a:t>
            </a:r>
          </a:p>
          <a:p>
            <a:pPr algn="l">
              <a:lnSpc>
                <a:spcPct val="115000"/>
              </a:lnSpc>
            </a:pPr>
            <a:r>
              <a:rPr lang="fr-FR" sz="930" b="0" i="0" dirty="0">
                <a:solidFill>
                  <a:srgbClr val="1B2433"/>
                </a:solidFill>
                <a:latin typeface="Segoe UI" panose="020B0502040204020203" pitchFamily="34" charset="0"/>
                <a:cs typeface="Segoe UI" panose="020B0502040204020203" pitchFamily="34" charset="0"/>
              </a:rPr>
              <a:t>Chaque service porte un tag </a:t>
            </a:r>
            <a:r>
              <a:rPr lang="fr-FR" sz="930" b="0" i="0" dirty="0" err="1">
                <a:solidFill>
                  <a:srgbClr val="1B2433"/>
                </a:solidFill>
                <a:latin typeface="Segoe UI" panose="020B0502040204020203" pitchFamily="34" charset="0"/>
                <a:cs typeface="Segoe UI" panose="020B0502040204020203" pitchFamily="34" charset="0"/>
              </a:rPr>
              <a:t>APIsé</a:t>
            </a:r>
            <a:r>
              <a:rPr lang="fr-FR" sz="930" b="0" i="0" dirty="0">
                <a:solidFill>
                  <a:srgbClr val="1B2433"/>
                </a:solidFill>
                <a:latin typeface="Segoe UI" panose="020B0502040204020203" pitchFamily="34" charset="0"/>
                <a:cs typeface="Segoe UI" panose="020B0502040204020203" pitchFamily="34" charset="0"/>
              </a:rPr>
              <a:t> / non </a:t>
            </a:r>
            <a:r>
              <a:rPr lang="fr-FR" sz="930" b="0" i="0" dirty="0" err="1">
                <a:solidFill>
                  <a:srgbClr val="1B2433"/>
                </a:solidFill>
                <a:latin typeface="Segoe UI" panose="020B0502040204020203" pitchFamily="34" charset="0"/>
                <a:cs typeface="Segoe UI" panose="020B0502040204020203" pitchFamily="34" charset="0"/>
              </a:rPr>
              <a:t>APIsé</a:t>
            </a:r>
            <a:r>
              <a:rPr lang="fr-FR" sz="930" b="0" i="0" dirty="0">
                <a:solidFill>
                  <a:srgbClr val="1B2433"/>
                </a:solidFill>
                <a:latin typeface="Segoe UI" panose="020B0502040204020203" pitchFamily="34" charset="0"/>
                <a:cs typeface="Segoe UI" panose="020B0502040204020203" pitchFamily="34" charset="0"/>
              </a:rPr>
              <a:t>.</a:t>
            </a:r>
          </a:p>
        </p:txBody>
      </p:sp>
      <p:sp>
        <p:nvSpPr>
          <p:cNvPr id="38" name="Rounded Rectangle 48">
            <a:extLst>
              <a:ext uri="{FF2B5EF4-FFF2-40B4-BE49-F238E27FC236}">
                <a16:creationId xmlns:a16="http://schemas.microsoft.com/office/drawing/2014/main" id="{E0B8F570-C4D6-952B-7363-E21ED4FAD661}"/>
              </a:ext>
            </a:extLst>
          </p:cNvPr>
          <p:cNvSpPr/>
          <p:nvPr/>
        </p:nvSpPr>
        <p:spPr>
          <a:xfrm>
            <a:off x="8302591" y="2396831"/>
            <a:ext cx="3575304" cy="2025652"/>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Segoe UI" panose="020B0502040204020203" pitchFamily="34" charset="0"/>
              <a:cs typeface="Segoe UI" panose="020B0502040204020203" pitchFamily="34" charset="0"/>
            </a:endParaRPr>
          </a:p>
        </p:txBody>
      </p:sp>
      <p:sp>
        <p:nvSpPr>
          <p:cNvPr id="39" name="Oval 49">
            <a:extLst>
              <a:ext uri="{FF2B5EF4-FFF2-40B4-BE49-F238E27FC236}">
                <a16:creationId xmlns:a16="http://schemas.microsoft.com/office/drawing/2014/main" id="{599504F1-5B20-A096-B80F-C30823440394}"/>
              </a:ext>
            </a:extLst>
          </p:cNvPr>
          <p:cNvSpPr/>
          <p:nvPr/>
        </p:nvSpPr>
        <p:spPr>
          <a:xfrm>
            <a:off x="8558623" y="2627258"/>
            <a:ext cx="512064" cy="51206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Segoe UI" panose="020B0502040204020203" pitchFamily="34" charset="0"/>
              <a:cs typeface="Segoe UI" panose="020B0502040204020203" pitchFamily="34" charset="0"/>
            </a:endParaRPr>
          </a:p>
        </p:txBody>
      </p:sp>
      <p:pic>
        <p:nvPicPr>
          <p:cNvPr id="40" name="Picture 50" descr="image.png">
            <a:extLst>
              <a:ext uri="{FF2B5EF4-FFF2-40B4-BE49-F238E27FC236}">
                <a16:creationId xmlns:a16="http://schemas.microsoft.com/office/drawing/2014/main" id="{1CE219E8-5621-15D1-E7F0-4BEF08F4DEA5}"/>
              </a:ext>
            </a:extLst>
          </p:cNvPr>
          <p:cNvPicPr>
            <a:picLocks noChangeAspect="1"/>
          </p:cNvPicPr>
          <p:nvPr/>
        </p:nvPicPr>
        <p:blipFill>
          <a:blip r:embed="rId4"/>
          <a:stretch>
            <a:fillRect/>
          </a:stretch>
        </p:blipFill>
        <p:spPr>
          <a:xfrm>
            <a:off x="8682067" y="2750702"/>
            <a:ext cx="265176" cy="265176"/>
          </a:xfrm>
          <a:prstGeom prst="rect">
            <a:avLst/>
          </a:prstGeom>
        </p:spPr>
      </p:pic>
      <p:sp>
        <p:nvSpPr>
          <p:cNvPr id="41" name="TextBox 51">
            <a:extLst>
              <a:ext uri="{FF2B5EF4-FFF2-40B4-BE49-F238E27FC236}">
                <a16:creationId xmlns:a16="http://schemas.microsoft.com/office/drawing/2014/main" id="{5DA302DA-B0FD-DBF1-B92A-06007ADBA32F}"/>
              </a:ext>
            </a:extLst>
          </p:cNvPr>
          <p:cNvSpPr txBox="1"/>
          <p:nvPr/>
        </p:nvSpPr>
        <p:spPr>
          <a:xfrm>
            <a:off x="9235279" y="2821562"/>
            <a:ext cx="2386584" cy="178319"/>
          </a:xfrm>
          <a:prstGeom prst="rect">
            <a:avLst/>
          </a:prstGeom>
          <a:noFill/>
        </p:spPr>
        <p:txBody>
          <a:bodyPr wrap="square" lIns="0" tIns="0" rIns="0" bIns="0" anchor="ctr">
            <a:spAutoFit/>
          </a:bodyPr>
          <a:lstStyle/>
          <a:p>
            <a:pPr algn="l">
              <a:lnSpc>
                <a:spcPct val="105000"/>
              </a:lnSpc>
            </a:pPr>
            <a:r>
              <a:rPr sz="1150" b="1" i="0" dirty="0" err="1">
                <a:solidFill>
                  <a:srgbClr val="21295C"/>
                </a:solidFill>
                <a:latin typeface="Segoe UI" panose="020B0502040204020203" pitchFamily="34" charset="0"/>
                <a:cs typeface="Segoe UI" panose="020B0502040204020203" pitchFamily="34" charset="0"/>
              </a:rPr>
              <a:t>Niveau</a:t>
            </a:r>
            <a:r>
              <a:rPr sz="1150" b="1" i="0" dirty="0">
                <a:solidFill>
                  <a:srgbClr val="21295C"/>
                </a:solidFill>
                <a:latin typeface="Segoe UI" panose="020B0502040204020203" pitchFamily="34" charset="0"/>
                <a:cs typeface="Segoe UI" panose="020B0502040204020203" pitchFamily="34" charset="0"/>
              </a:rPr>
              <a:t> </a:t>
            </a:r>
            <a:r>
              <a:rPr lang="fr-FR" sz="1150" b="1" i="0" dirty="0">
                <a:solidFill>
                  <a:srgbClr val="21295C"/>
                </a:solidFill>
                <a:latin typeface="Segoe UI" panose="020B0502040204020203" pitchFamily="34" charset="0"/>
                <a:cs typeface="Segoe UI" panose="020B0502040204020203" pitchFamily="34" charset="0"/>
              </a:rPr>
              <a:t>Service </a:t>
            </a:r>
            <a:r>
              <a:rPr sz="1150" b="1" i="0" dirty="0" err="1">
                <a:solidFill>
                  <a:srgbClr val="21295C"/>
                </a:solidFill>
                <a:latin typeface="Segoe UI" panose="020B0502040204020203" pitchFamily="34" charset="0"/>
                <a:cs typeface="Segoe UI" panose="020B0502040204020203" pitchFamily="34" charset="0"/>
              </a:rPr>
              <a:t>cas</a:t>
            </a:r>
            <a:r>
              <a:rPr sz="1150" b="1" i="0" dirty="0">
                <a:solidFill>
                  <a:srgbClr val="21295C"/>
                </a:solidFill>
                <a:latin typeface="Segoe UI" panose="020B0502040204020203" pitchFamily="34" charset="0"/>
                <a:cs typeface="Segoe UI" panose="020B0502040204020203" pitchFamily="34" charset="0"/>
              </a:rPr>
              <a:t> </a:t>
            </a:r>
            <a:r>
              <a:rPr sz="1150" b="1" i="0" dirty="0" err="1">
                <a:solidFill>
                  <a:srgbClr val="21295C"/>
                </a:solidFill>
                <a:latin typeface="Segoe UI" panose="020B0502040204020203" pitchFamily="34" charset="0"/>
                <a:cs typeface="Segoe UI" panose="020B0502040204020203" pitchFamily="34" charset="0"/>
              </a:rPr>
              <a:t>d'usag</a:t>
            </a:r>
            <a:r>
              <a:rPr lang="fr-FR" sz="1150" b="1" i="0" dirty="0">
                <a:solidFill>
                  <a:srgbClr val="21295C"/>
                </a:solidFill>
                <a:latin typeface="Segoe UI" panose="020B0502040204020203" pitchFamily="34" charset="0"/>
                <a:cs typeface="Segoe UI" panose="020B0502040204020203" pitchFamily="34" charset="0"/>
              </a:rPr>
              <a:t>e</a:t>
            </a:r>
            <a:endParaRPr sz="1150" b="1" i="0" dirty="0">
              <a:solidFill>
                <a:srgbClr val="21295C"/>
              </a:solidFill>
              <a:latin typeface="Segoe UI" panose="020B0502040204020203" pitchFamily="34" charset="0"/>
              <a:cs typeface="Segoe UI" panose="020B0502040204020203" pitchFamily="34" charset="0"/>
            </a:endParaRPr>
          </a:p>
        </p:txBody>
      </p:sp>
      <p:sp>
        <p:nvSpPr>
          <p:cNvPr id="42" name="TextBox 52">
            <a:extLst>
              <a:ext uri="{FF2B5EF4-FFF2-40B4-BE49-F238E27FC236}">
                <a16:creationId xmlns:a16="http://schemas.microsoft.com/office/drawing/2014/main" id="{3038FCA8-F5BA-A898-4574-1A2DFEDD8FE0}"/>
              </a:ext>
            </a:extLst>
          </p:cNvPr>
          <p:cNvSpPr txBox="1"/>
          <p:nvPr/>
        </p:nvSpPr>
        <p:spPr>
          <a:xfrm>
            <a:off x="8696638" y="3140845"/>
            <a:ext cx="3063240" cy="973472"/>
          </a:xfrm>
          <a:prstGeom prst="rect">
            <a:avLst/>
          </a:prstGeom>
          <a:noFill/>
        </p:spPr>
        <p:txBody>
          <a:bodyPr wrap="square" lIns="0" tIns="0" rIns="0" bIns="0" anchor="t">
            <a:spAutoFit/>
          </a:bodyPr>
          <a:lstStyle/>
          <a:p>
            <a:pPr algn="l">
              <a:lnSpc>
                <a:spcPct val="115000"/>
              </a:lnSpc>
            </a:pPr>
            <a:r>
              <a:rPr sz="930" b="0" i="0" dirty="0">
                <a:solidFill>
                  <a:srgbClr val="1B2433"/>
                </a:solidFill>
                <a:latin typeface="Segoe UI" panose="020B0502040204020203" pitchFamily="34" charset="0"/>
                <a:cs typeface="Segoe UI" panose="020B0502040204020203" pitchFamily="34" charset="0"/>
              </a:rPr>
              <a:t>Un </a:t>
            </a:r>
            <a:r>
              <a:rPr sz="930" b="0" i="0" dirty="0" err="1">
                <a:solidFill>
                  <a:srgbClr val="1B2433"/>
                </a:solidFill>
                <a:latin typeface="Segoe UI" panose="020B0502040204020203" pitchFamily="34" charset="0"/>
                <a:cs typeface="Segoe UI" panose="020B0502040204020203" pitchFamily="34" charset="0"/>
              </a:rPr>
              <a:t>cas</a:t>
            </a:r>
            <a:r>
              <a:rPr sz="930" b="0" i="0" dirty="0">
                <a:solidFill>
                  <a:srgbClr val="1B2433"/>
                </a:solidFill>
                <a:latin typeface="Segoe UI" panose="020B0502040204020203" pitchFamily="34" charset="0"/>
                <a:cs typeface="Segoe UI" panose="020B0502040204020203" pitchFamily="34" charset="0"/>
              </a:rPr>
              <a:t> métier </a:t>
            </a:r>
            <a:r>
              <a:rPr lang="fr-FR" sz="930" b="0" i="0" dirty="0">
                <a:solidFill>
                  <a:srgbClr val="1B2433"/>
                </a:solidFill>
                <a:latin typeface="Segoe UI" panose="020B0502040204020203" pitchFamily="34" charset="0"/>
                <a:cs typeface="Segoe UI" panose="020B0502040204020203" pitchFamily="34" charset="0"/>
              </a:rPr>
              <a:t>standard </a:t>
            </a:r>
            <a:r>
              <a:rPr sz="930" b="0" i="0" dirty="0" err="1">
                <a:solidFill>
                  <a:srgbClr val="1B2433"/>
                </a:solidFill>
                <a:latin typeface="Segoe UI" panose="020B0502040204020203" pitchFamily="34" charset="0"/>
                <a:cs typeface="Segoe UI" panose="020B0502040204020203" pitchFamily="34" charset="0"/>
              </a:rPr>
              <a:t>traité</a:t>
            </a:r>
            <a:r>
              <a:rPr sz="930" b="0" i="0" dirty="0">
                <a:solidFill>
                  <a:srgbClr val="1B2433"/>
                </a:solidFill>
                <a:latin typeface="Segoe UI" panose="020B0502040204020203" pitchFamily="34" charset="0"/>
                <a:cs typeface="Segoe UI" panose="020B0502040204020203" pitchFamily="34" charset="0"/>
              </a:rPr>
              <a:t> de bout </a:t>
            </a:r>
            <a:r>
              <a:rPr sz="930" b="0" i="0" dirty="0" err="1">
                <a:solidFill>
                  <a:srgbClr val="1B2433"/>
                </a:solidFill>
                <a:latin typeface="Segoe UI" panose="020B0502040204020203" pitchFamily="34" charset="0"/>
                <a:cs typeface="Segoe UI" panose="020B0502040204020203" pitchFamily="34" charset="0"/>
              </a:rPr>
              <a:t>en</a:t>
            </a:r>
            <a:r>
              <a:rPr sz="930" b="0" i="0" dirty="0">
                <a:solidFill>
                  <a:srgbClr val="1B2433"/>
                </a:solidFill>
                <a:latin typeface="Segoe UI" panose="020B0502040204020203" pitchFamily="34" charset="0"/>
                <a:cs typeface="Segoe UI" panose="020B0502040204020203" pitchFamily="34" charset="0"/>
              </a:rPr>
              <a:t> bout</a:t>
            </a:r>
            <a:r>
              <a:rPr lang="fr-FR" sz="930" b="0" i="0" dirty="0">
                <a:solidFill>
                  <a:srgbClr val="1B2433"/>
                </a:solidFill>
                <a:latin typeface="Segoe UI" panose="020B0502040204020203" pitchFamily="34" charset="0"/>
                <a:cs typeface="Segoe UI" panose="020B0502040204020203" pitchFamily="34" charset="0"/>
              </a:rPr>
              <a:t>. Ex : </a:t>
            </a:r>
            <a:r>
              <a:rPr sz="930" b="0" i="0" dirty="0" err="1">
                <a:solidFill>
                  <a:srgbClr val="1B2433"/>
                </a:solidFill>
                <a:latin typeface="Segoe UI" panose="020B0502040204020203" pitchFamily="34" charset="0"/>
                <a:cs typeface="Segoe UI" panose="020B0502040204020203" pitchFamily="34" charset="0"/>
              </a:rPr>
              <a:t>contrôle</a:t>
            </a:r>
            <a:r>
              <a:rPr sz="930" b="0" i="0" dirty="0">
                <a:solidFill>
                  <a:srgbClr val="1B2433"/>
                </a:solidFill>
                <a:latin typeface="Segoe UI" panose="020B0502040204020203" pitchFamily="34" charset="0"/>
                <a:cs typeface="Segoe UI" panose="020B0502040204020203" pitchFamily="34" charset="0"/>
              </a:rPr>
              <a:t> de </a:t>
            </a:r>
            <a:r>
              <a:rPr sz="930" b="0" i="0" dirty="0" err="1">
                <a:solidFill>
                  <a:srgbClr val="1B2433"/>
                </a:solidFill>
                <a:latin typeface="Segoe UI" panose="020B0502040204020203" pitchFamily="34" charset="0"/>
                <a:cs typeface="Segoe UI" panose="020B0502040204020203" pitchFamily="34" charset="0"/>
              </a:rPr>
              <a:t>chèques</a:t>
            </a:r>
            <a:r>
              <a:rPr sz="930" b="0" i="0" dirty="0">
                <a:solidFill>
                  <a:srgbClr val="1B2433"/>
                </a:solidFill>
                <a:latin typeface="Segoe UI" panose="020B0502040204020203" pitchFamily="34" charset="0"/>
                <a:cs typeface="Segoe UI" panose="020B0502040204020203" pitchFamily="34" charset="0"/>
              </a:rPr>
              <a:t>, </a:t>
            </a:r>
            <a:r>
              <a:rPr sz="930" b="0" i="0" dirty="0" err="1">
                <a:solidFill>
                  <a:srgbClr val="1B2433"/>
                </a:solidFill>
                <a:latin typeface="Segoe UI" panose="020B0502040204020203" pitchFamily="34" charset="0"/>
                <a:cs typeface="Segoe UI" panose="020B0502040204020203" pitchFamily="34" charset="0"/>
              </a:rPr>
              <a:t>contrôle</a:t>
            </a:r>
            <a:r>
              <a:rPr sz="930" b="0" i="0" dirty="0">
                <a:solidFill>
                  <a:srgbClr val="1B2433"/>
                </a:solidFill>
                <a:latin typeface="Segoe UI" panose="020B0502040204020203" pitchFamily="34" charset="0"/>
                <a:cs typeface="Segoe UI" panose="020B0502040204020203" pitchFamily="34" charset="0"/>
              </a:rPr>
              <a:t> de pièce </a:t>
            </a:r>
            <a:r>
              <a:rPr sz="930" b="0" i="0" dirty="0" err="1">
                <a:solidFill>
                  <a:srgbClr val="1B2433"/>
                </a:solidFill>
                <a:latin typeface="Segoe UI" panose="020B0502040204020203" pitchFamily="34" charset="0"/>
                <a:cs typeface="Segoe UI" panose="020B0502040204020203" pitchFamily="34" charset="0"/>
              </a:rPr>
              <a:t>d'identité</a:t>
            </a:r>
            <a:r>
              <a:rPr sz="930" b="0" i="0" dirty="0">
                <a:solidFill>
                  <a:srgbClr val="1B2433"/>
                </a:solidFill>
                <a:latin typeface="Segoe UI" panose="020B0502040204020203" pitchFamily="34" charset="0"/>
                <a:cs typeface="Segoe UI" panose="020B0502040204020203" pitchFamily="34" charset="0"/>
              </a:rPr>
              <a:t>, </a:t>
            </a:r>
            <a:r>
              <a:rPr sz="930" b="0" i="0" dirty="0" err="1">
                <a:solidFill>
                  <a:srgbClr val="1B2433"/>
                </a:solidFill>
                <a:latin typeface="Segoe UI" panose="020B0502040204020203" pitchFamily="34" charset="0"/>
                <a:cs typeface="Segoe UI" panose="020B0502040204020203" pitchFamily="34" charset="0"/>
              </a:rPr>
              <a:t>dématérialisation</a:t>
            </a:r>
            <a:r>
              <a:rPr sz="930" b="0" i="0" dirty="0">
                <a:solidFill>
                  <a:srgbClr val="1B2433"/>
                </a:solidFill>
                <a:latin typeface="Segoe UI" panose="020B0502040204020203" pitchFamily="34" charset="0"/>
                <a:cs typeface="Segoe UI" panose="020B0502040204020203" pitchFamily="34" charset="0"/>
              </a:rPr>
              <a:t> du </a:t>
            </a:r>
            <a:r>
              <a:rPr sz="930" b="0" i="0" dirty="0" err="1">
                <a:solidFill>
                  <a:srgbClr val="1B2433"/>
                </a:solidFill>
                <a:latin typeface="Segoe UI" panose="020B0502040204020203" pitchFamily="34" charset="0"/>
                <a:cs typeface="Segoe UI" panose="020B0502040204020203" pitchFamily="34" charset="0"/>
              </a:rPr>
              <a:t>courrier</a:t>
            </a:r>
            <a:r>
              <a:rPr sz="930" b="0" i="0" dirty="0">
                <a:solidFill>
                  <a:srgbClr val="1B2433"/>
                </a:solidFill>
                <a:latin typeface="Segoe UI" panose="020B0502040204020203" pitchFamily="34" charset="0"/>
                <a:cs typeface="Segoe UI" panose="020B0502040204020203" pitchFamily="34" charset="0"/>
              </a:rPr>
              <a:t> entrant. Porte un</a:t>
            </a:r>
            <a:r>
              <a:rPr lang="fr-FR" sz="930" b="0" i="0" dirty="0">
                <a:solidFill>
                  <a:srgbClr val="1B2433"/>
                </a:solidFill>
                <a:latin typeface="Segoe UI" panose="020B0502040204020203" pitchFamily="34" charset="0"/>
                <a:cs typeface="Segoe UI" panose="020B0502040204020203" pitchFamily="34" charset="0"/>
              </a:rPr>
              <a:t>e</a:t>
            </a:r>
            <a:r>
              <a:rPr sz="930" b="0" i="0" dirty="0">
                <a:solidFill>
                  <a:srgbClr val="1B2433"/>
                </a:solidFill>
                <a:latin typeface="Segoe UI" panose="020B0502040204020203" pitchFamily="34" charset="0"/>
                <a:cs typeface="Segoe UI" panose="020B0502040204020203" pitchFamily="34" charset="0"/>
              </a:rPr>
              <a:t> </a:t>
            </a:r>
            <a:r>
              <a:rPr lang="fr-FR" sz="930" b="0" i="0" dirty="0">
                <a:solidFill>
                  <a:srgbClr val="1B2433"/>
                </a:solidFill>
                <a:latin typeface="Segoe UI" panose="020B0502040204020203" pitchFamily="34" charset="0"/>
                <a:cs typeface="Segoe UI" panose="020B0502040204020203" pitchFamily="34" charset="0"/>
              </a:rPr>
              <a:t>proposition de valeur</a:t>
            </a:r>
            <a:r>
              <a:rPr sz="930" b="0" i="0" dirty="0">
                <a:solidFill>
                  <a:srgbClr val="1B2433"/>
                </a:solidFill>
                <a:latin typeface="Segoe UI" panose="020B0502040204020203" pitchFamily="34" charset="0"/>
                <a:cs typeface="Segoe UI" panose="020B0502040204020203" pitchFamily="34" charset="0"/>
              </a:rPr>
              <a:t> de bout </a:t>
            </a:r>
            <a:r>
              <a:rPr sz="930" b="0" i="0" dirty="0" err="1">
                <a:solidFill>
                  <a:srgbClr val="1B2433"/>
                </a:solidFill>
                <a:latin typeface="Segoe UI" panose="020B0502040204020203" pitchFamily="34" charset="0"/>
                <a:cs typeface="Segoe UI" panose="020B0502040204020203" pitchFamily="34" charset="0"/>
              </a:rPr>
              <a:t>en</a:t>
            </a:r>
            <a:r>
              <a:rPr sz="930" b="0" i="0" dirty="0">
                <a:solidFill>
                  <a:srgbClr val="1B2433"/>
                </a:solidFill>
                <a:latin typeface="Segoe UI" panose="020B0502040204020203" pitchFamily="34" charset="0"/>
                <a:cs typeface="Segoe UI" panose="020B0502040204020203" pitchFamily="34" charset="0"/>
              </a:rPr>
              <a:t> bout, pas un </a:t>
            </a:r>
            <a:r>
              <a:rPr sz="930" b="0" i="0" dirty="0" err="1">
                <a:solidFill>
                  <a:srgbClr val="1B2433"/>
                </a:solidFill>
                <a:latin typeface="Segoe UI" panose="020B0502040204020203" pitchFamily="34" charset="0"/>
                <a:cs typeface="Segoe UI" panose="020B0502040204020203" pitchFamily="34" charset="0"/>
              </a:rPr>
              <a:t>contrat</a:t>
            </a:r>
            <a:r>
              <a:rPr sz="930" b="0" i="0" dirty="0">
                <a:solidFill>
                  <a:srgbClr val="1B2433"/>
                </a:solidFill>
                <a:latin typeface="Segoe UI" panose="020B0502040204020203" pitchFamily="34" charset="0"/>
                <a:cs typeface="Segoe UI" panose="020B0502040204020203" pitchFamily="34" charset="0"/>
              </a:rPr>
              <a:t> </a:t>
            </a:r>
            <a:r>
              <a:rPr sz="930" b="0" i="0" dirty="0" err="1">
                <a:solidFill>
                  <a:srgbClr val="1B2433"/>
                </a:solidFill>
                <a:latin typeface="Segoe UI" panose="020B0502040204020203" pitchFamily="34" charset="0"/>
                <a:cs typeface="Segoe UI" panose="020B0502040204020203" pitchFamily="34" charset="0"/>
              </a:rPr>
              <a:t>d'interface</a:t>
            </a:r>
            <a:r>
              <a:rPr lang="fr-FR" sz="930" b="0" i="0" dirty="0">
                <a:solidFill>
                  <a:srgbClr val="1B2433"/>
                </a:solidFill>
                <a:latin typeface="Segoe UI" panose="020B0502040204020203" pitchFamily="34" charset="0"/>
                <a:cs typeface="Segoe UI" panose="020B0502040204020203" pitchFamily="34" charset="0"/>
              </a:rPr>
              <a:t> unitaire</a:t>
            </a:r>
            <a:r>
              <a:rPr sz="930" b="0" i="0" dirty="0">
                <a:solidFill>
                  <a:srgbClr val="1B2433"/>
                </a:solidFill>
                <a:latin typeface="Segoe UI" panose="020B0502040204020203" pitchFamily="34" charset="0"/>
                <a:cs typeface="Segoe UI" panose="020B0502040204020203" pitchFamily="34" charset="0"/>
              </a:rPr>
              <a:t> : </a:t>
            </a:r>
            <a:r>
              <a:rPr lang="fr-FR" sz="930" b="0" i="0" dirty="0">
                <a:solidFill>
                  <a:srgbClr val="1B2433"/>
                </a:solidFill>
                <a:latin typeface="Segoe UI" panose="020B0502040204020203" pitchFamily="34" charset="0"/>
                <a:cs typeface="Segoe UI" panose="020B0502040204020203" pitchFamily="34" charset="0"/>
              </a:rPr>
              <a:t>il peut déboucher par un projet dédié pour utiliser le cas standard, ou l’adapter au cas spécifique</a:t>
            </a:r>
            <a:endParaRPr sz="930" b="0" i="0" dirty="0">
              <a:solidFill>
                <a:srgbClr val="1B2433"/>
              </a:solidFill>
              <a:latin typeface="Segoe UI" panose="020B0502040204020203" pitchFamily="34" charset="0"/>
              <a:cs typeface="Segoe UI" panose="020B0502040204020203" pitchFamily="34" charset="0"/>
            </a:endParaRPr>
          </a:p>
        </p:txBody>
      </p:sp>
      <p:sp>
        <p:nvSpPr>
          <p:cNvPr id="43" name="Rounded Rectangle 53">
            <a:extLst>
              <a:ext uri="{FF2B5EF4-FFF2-40B4-BE49-F238E27FC236}">
                <a16:creationId xmlns:a16="http://schemas.microsoft.com/office/drawing/2014/main" id="{FBEFA024-49B6-87D2-267E-F6C63819CB78}"/>
              </a:ext>
            </a:extLst>
          </p:cNvPr>
          <p:cNvSpPr/>
          <p:nvPr/>
        </p:nvSpPr>
        <p:spPr>
          <a:xfrm>
            <a:off x="8302591" y="4551368"/>
            <a:ext cx="3575304" cy="1762878"/>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54">
            <a:extLst>
              <a:ext uri="{FF2B5EF4-FFF2-40B4-BE49-F238E27FC236}">
                <a16:creationId xmlns:a16="http://schemas.microsoft.com/office/drawing/2014/main" id="{075D95D2-82AA-664C-4E26-DE76D4EB0407}"/>
              </a:ext>
            </a:extLst>
          </p:cNvPr>
          <p:cNvSpPr/>
          <p:nvPr/>
        </p:nvSpPr>
        <p:spPr>
          <a:xfrm>
            <a:off x="8558623" y="4781795"/>
            <a:ext cx="512064" cy="51206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Segoe UI" panose="020B0502040204020203" pitchFamily="34" charset="0"/>
              <a:cs typeface="Segoe UI" panose="020B0502040204020203" pitchFamily="34" charset="0"/>
            </a:endParaRPr>
          </a:p>
        </p:txBody>
      </p:sp>
      <p:pic>
        <p:nvPicPr>
          <p:cNvPr id="45" name="Picture 55" descr="icon_solution.png">
            <a:extLst>
              <a:ext uri="{FF2B5EF4-FFF2-40B4-BE49-F238E27FC236}">
                <a16:creationId xmlns:a16="http://schemas.microsoft.com/office/drawing/2014/main" id="{D31C55BB-34D5-D4D5-4863-AFB039D45D25}"/>
              </a:ext>
            </a:extLst>
          </p:cNvPr>
          <p:cNvPicPr>
            <a:picLocks noChangeAspect="1"/>
          </p:cNvPicPr>
          <p:nvPr/>
        </p:nvPicPr>
        <p:blipFill>
          <a:blip r:embed="rId5"/>
          <a:stretch>
            <a:fillRect/>
          </a:stretch>
        </p:blipFill>
        <p:spPr>
          <a:xfrm>
            <a:off x="8682067" y="4905239"/>
            <a:ext cx="265176" cy="265176"/>
          </a:xfrm>
          <a:prstGeom prst="rect">
            <a:avLst/>
          </a:prstGeom>
        </p:spPr>
      </p:pic>
      <p:sp>
        <p:nvSpPr>
          <p:cNvPr id="46" name="TextBox 56">
            <a:extLst>
              <a:ext uri="{FF2B5EF4-FFF2-40B4-BE49-F238E27FC236}">
                <a16:creationId xmlns:a16="http://schemas.microsoft.com/office/drawing/2014/main" id="{708C77B8-45AD-E7CA-E4AA-3D0D1E271ADE}"/>
              </a:ext>
            </a:extLst>
          </p:cNvPr>
          <p:cNvSpPr txBox="1"/>
          <p:nvPr/>
        </p:nvSpPr>
        <p:spPr>
          <a:xfrm>
            <a:off x="9235279" y="4978857"/>
            <a:ext cx="2386584" cy="172804"/>
          </a:xfrm>
          <a:prstGeom prst="rect">
            <a:avLst/>
          </a:prstGeom>
          <a:noFill/>
        </p:spPr>
        <p:txBody>
          <a:bodyPr wrap="square" lIns="0" tIns="0" rIns="0" bIns="0" anchor="ctr">
            <a:spAutoFit/>
          </a:bodyPr>
          <a:lstStyle/>
          <a:p>
            <a:pPr algn="l">
              <a:lnSpc>
                <a:spcPct val="105000"/>
              </a:lnSpc>
            </a:pPr>
            <a:r>
              <a:rPr sz="1150" b="1" i="0" dirty="0" err="1">
                <a:solidFill>
                  <a:srgbClr val="21295C"/>
                </a:solidFill>
                <a:latin typeface="Segoe UI" panose="020B0502040204020203" pitchFamily="34" charset="0"/>
                <a:cs typeface="Segoe UI" panose="020B0502040204020203" pitchFamily="34" charset="0"/>
              </a:rPr>
              <a:t>Niveau</a:t>
            </a:r>
            <a:r>
              <a:rPr sz="1150" b="1" i="0" dirty="0">
                <a:solidFill>
                  <a:srgbClr val="21295C"/>
                </a:solidFill>
                <a:latin typeface="Segoe UI" panose="020B0502040204020203" pitchFamily="34" charset="0"/>
                <a:cs typeface="Segoe UI" panose="020B0502040204020203" pitchFamily="34" charset="0"/>
              </a:rPr>
              <a:t> solution standard</a:t>
            </a:r>
          </a:p>
        </p:txBody>
      </p:sp>
      <p:sp>
        <p:nvSpPr>
          <p:cNvPr id="47" name="TextBox 57">
            <a:extLst>
              <a:ext uri="{FF2B5EF4-FFF2-40B4-BE49-F238E27FC236}">
                <a16:creationId xmlns:a16="http://schemas.microsoft.com/office/drawing/2014/main" id="{C0D3854F-2988-B0DB-5830-CBDB76EA17D8}"/>
              </a:ext>
            </a:extLst>
          </p:cNvPr>
          <p:cNvSpPr txBox="1"/>
          <p:nvPr/>
        </p:nvSpPr>
        <p:spPr>
          <a:xfrm>
            <a:off x="8558623" y="5385299"/>
            <a:ext cx="3063240" cy="484172"/>
          </a:xfrm>
          <a:prstGeom prst="rect">
            <a:avLst/>
          </a:prstGeom>
          <a:noFill/>
        </p:spPr>
        <p:txBody>
          <a:bodyPr wrap="square" lIns="0" tIns="0" rIns="0" bIns="0" anchor="t">
            <a:spAutoFit/>
          </a:bodyPr>
          <a:lstStyle/>
          <a:p>
            <a:pPr algn="l">
              <a:lnSpc>
                <a:spcPct val="115000"/>
              </a:lnSpc>
            </a:pPr>
            <a:r>
              <a:rPr sz="930" b="0" i="0" dirty="0">
                <a:solidFill>
                  <a:srgbClr val="1B2433"/>
                </a:solidFill>
                <a:latin typeface="Segoe UI" panose="020B0502040204020203" pitchFamily="34" charset="0"/>
                <a:cs typeface="Segoe UI" panose="020B0502040204020203" pitchFamily="34" charset="0"/>
              </a:rPr>
              <a:t>Une application standard déjà </a:t>
            </a:r>
            <a:r>
              <a:rPr sz="930" b="0" i="0" dirty="0" err="1">
                <a:solidFill>
                  <a:srgbClr val="1B2433"/>
                </a:solidFill>
                <a:latin typeface="Segoe UI" panose="020B0502040204020203" pitchFamily="34" charset="0"/>
                <a:cs typeface="Segoe UI" panose="020B0502040204020203" pitchFamily="34" charset="0"/>
              </a:rPr>
              <a:t>en</a:t>
            </a:r>
            <a:r>
              <a:rPr sz="930" b="0" i="0" dirty="0">
                <a:solidFill>
                  <a:srgbClr val="1B2433"/>
                </a:solidFill>
                <a:latin typeface="Segoe UI" panose="020B0502040204020203" pitchFamily="34" charset="0"/>
                <a:cs typeface="Segoe UI" panose="020B0502040204020203" pitchFamily="34" charset="0"/>
              </a:rPr>
              <a:t> place qui </a:t>
            </a:r>
            <a:r>
              <a:rPr sz="930" b="0" i="0" dirty="0" err="1">
                <a:solidFill>
                  <a:srgbClr val="1B2433"/>
                </a:solidFill>
                <a:latin typeface="Segoe UI" panose="020B0502040204020203" pitchFamily="34" charset="0"/>
                <a:cs typeface="Segoe UI" panose="020B0502040204020203" pitchFamily="34" charset="0"/>
              </a:rPr>
              <a:t>répond</a:t>
            </a:r>
            <a:r>
              <a:rPr sz="930" b="0" i="0" dirty="0">
                <a:solidFill>
                  <a:srgbClr val="1B2433"/>
                </a:solidFill>
                <a:latin typeface="Segoe UI" panose="020B0502040204020203" pitchFamily="34" charset="0"/>
                <a:cs typeface="Segoe UI" panose="020B0502040204020203" pitchFamily="34" charset="0"/>
              </a:rPr>
              <a:t> à un </a:t>
            </a:r>
            <a:r>
              <a:rPr sz="930" b="0" i="0" dirty="0" err="1">
                <a:solidFill>
                  <a:srgbClr val="1B2433"/>
                </a:solidFill>
                <a:latin typeface="Segoe UI" panose="020B0502040204020203" pitchFamily="34" charset="0"/>
                <a:cs typeface="Segoe UI" panose="020B0502040204020203" pitchFamily="34" charset="0"/>
              </a:rPr>
              <a:t>besoin</a:t>
            </a:r>
            <a:r>
              <a:rPr sz="930" b="0" i="0" dirty="0">
                <a:solidFill>
                  <a:srgbClr val="1B2433"/>
                </a:solidFill>
                <a:latin typeface="Segoe UI" panose="020B0502040204020203" pitchFamily="34" charset="0"/>
                <a:cs typeface="Segoe UI" panose="020B0502040204020203" pitchFamily="34" charset="0"/>
              </a:rPr>
              <a:t> métier </a:t>
            </a:r>
            <a:r>
              <a:rPr sz="930" b="0" i="0" dirty="0" err="1">
                <a:solidFill>
                  <a:srgbClr val="1B2433"/>
                </a:solidFill>
                <a:latin typeface="Segoe UI" panose="020B0502040204020203" pitchFamily="34" charset="0"/>
                <a:cs typeface="Segoe UI" panose="020B0502040204020203" pitchFamily="34" charset="0"/>
              </a:rPr>
              <a:t>ciblé</a:t>
            </a:r>
            <a:r>
              <a:rPr sz="930" b="0" i="0" dirty="0">
                <a:solidFill>
                  <a:srgbClr val="1B2433"/>
                </a:solidFill>
                <a:latin typeface="Segoe UI" panose="020B0502040204020203" pitchFamily="34" charset="0"/>
                <a:cs typeface="Segoe UI" panose="020B0502040204020203" pitchFamily="34" charset="0"/>
              </a:rPr>
              <a:t> : par </a:t>
            </a:r>
            <a:r>
              <a:rPr sz="930" b="0" i="0" dirty="0" err="1">
                <a:solidFill>
                  <a:srgbClr val="1B2433"/>
                </a:solidFill>
                <a:latin typeface="Segoe UI" panose="020B0502040204020203" pitchFamily="34" charset="0"/>
                <a:cs typeface="Segoe UI" panose="020B0502040204020203" pitchFamily="34" charset="0"/>
              </a:rPr>
              <a:t>exemple</a:t>
            </a:r>
            <a:r>
              <a:rPr sz="930" b="0" i="0" dirty="0">
                <a:solidFill>
                  <a:srgbClr val="1B2433"/>
                </a:solidFill>
                <a:latin typeface="Segoe UI" panose="020B0502040204020203" pitchFamily="34" charset="0"/>
                <a:cs typeface="Segoe UI" panose="020B0502040204020203" pitchFamily="34" charset="0"/>
              </a:rPr>
              <a:t> SYSWEB pour la consultation de documents </a:t>
            </a:r>
            <a:r>
              <a:rPr sz="930" b="0" i="0" dirty="0" err="1">
                <a:solidFill>
                  <a:srgbClr val="1B2433"/>
                </a:solidFill>
                <a:latin typeface="Segoe UI" panose="020B0502040204020203" pitchFamily="34" charset="0"/>
                <a:cs typeface="Segoe UI" panose="020B0502040204020203" pitchFamily="34" charset="0"/>
              </a:rPr>
              <a:t>numérisés</a:t>
            </a:r>
            <a:r>
              <a:rPr sz="930" b="0" i="0" dirty="0">
                <a:solidFill>
                  <a:srgbClr val="1B2433"/>
                </a:solidFill>
                <a:latin typeface="Segoe UI" panose="020B0502040204020203" pitchFamily="34" charset="0"/>
                <a:cs typeface="Segoe UI" panose="020B0502040204020203" pitchFamily="34" charset="0"/>
              </a:rPr>
              <a:t>. </a:t>
            </a:r>
          </a:p>
        </p:txBody>
      </p:sp>
      <p:pic>
        <p:nvPicPr>
          <p:cNvPr id="6" name="Image 5">
            <a:extLst>
              <a:ext uri="{FF2B5EF4-FFF2-40B4-BE49-F238E27FC236}">
                <a16:creationId xmlns:a16="http://schemas.microsoft.com/office/drawing/2014/main" id="{931BA3FB-1A90-1166-3677-B748FE4C9E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7162" y="901579"/>
            <a:ext cx="7614437" cy="3951733"/>
          </a:xfrm>
          <a:prstGeom prst="rect">
            <a:avLst/>
          </a:prstGeom>
        </p:spPr>
      </p:pic>
    </p:spTree>
    <p:extLst>
      <p:ext uri="{BB962C8B-B14F-4D97-AF65-F5344CB8AC3E}">
        <p14:creationId xmlns:p14="http://schemas.microsoft.com/office/powerpoint/2010/main" val="7898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4F8B5-DD1E-0385-B3E0-C6964CCF96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E9169E3-82DB-AB11-E7CF-64B28ED820C7}"/>
              </a:ext>
            </a:extLst>
          </p:cNvPr>
          <p:cNvSpPr>
            <a:spLocks noGrp="1"/>
          </p:cNvSpPr>
          <p:nvPr>
            <p:ph type="title"/>
          </p:nvPr>
        </p:nvSpPr>
        <p:spPr/>
        <p:txBody>
          <a:bodyPr>
            <a:normAutofit fontScale="90000"/>
          </a:bodyPr>
          <a:lstStyle/>
          <a:p>
            <a:r>
              <a:rPr lang="en-US" sz="3200" dirty="0">
                <a:solidFill>
                  <a:srgbClr val="21295C"/>
                </a:solidFill>
                <a:ea typeface="Calibri" pitchFamily="34" charset="-122"/>
              </a:rPr>
              <a:t>Le </a:t>
            </a:r>
            <a:r>
              <a:rPr lang="en-US" sz="3200" dirty="0" err="1">
                <a:solidFill>
                  <a:srgbClr val="21295C"/>
                </a:solidFill>
                <a:ea typeface="Calibri" pitchFamily="34" charset="-122"/>
              </a:rPr>
              <a:t>portail</a:t>
            </a:r>
            <a:endParaRPr lang="en-US" sz="3200" dirty="0"/>
          </a:p>
        </p:txBody>
      </p:sp>
      <p:sp>
        <p:nvSpPr>
          <p:cNvPr id="3" name="Espace réservé du pied de page 2">
            <a:extLst>
              <a:ext uri="{FF2B5EF4-FFF2-40B4-BE49-F238E27FC236}">
                <a16:creationId xmlns:a16="http://schemas.microsoft.com/office/drawing/2014/main" id="{B62631FF-D706-3C36-0D6A-1EB1A96ABC63}"/>
              </a:ext>
            </a:extLst>
          </p:cNvPr>
          <p:cNvSpPr>
            <a:spLocks noGrp="1"/>
          </p:cNvSpPr>
          <p:nvPr>
            <p:ph type="ftr" sz="quarter" idx="11"/>
          </p:nvPr>
        </p:nvSpPr>
        <p:spPr/>
        <p:txBody>
          <a:bodyPr/>
          <a:lstStyle/>
          <a:p>
            <a:r>
              <a:rPr lang="fr-FR" dirty="0"/>
              <a:t>Nadia – Dossier de pré-cadrage</a:t>
            </a:r>
          </a:p>
        </p:txBody>
      </p:sp>
      <p:sp>
        <p:nvSpPr>
          <p:cNvPr id="5" name="Text 3">
            <a:extLst>
              <a:ext uri="{FF2B5EF4-FFF2-40B4-BE49-F238E27FC236}">
                <a16:creationId xmlns:a16="http://schemas.microsoft.com/office/drawing/2014/main" id="{369F229A-BD36-4656-D921-25FAAD7B1A6E}"/>
              </a:ext>
            </a:extLst>
          </p:cNvPr>
          <p:cNvSpPr/>
          <p:nvPr/>
        </p:nvSpPr>
        <p:spPr>
          <a:xfrm>
            <a:off x="609600" y="796376"/>
            <a:ext cx="5486400" cy="320040"/>
          </a:xfrm>
          <a:prstGeom prst="rect">
            <a:avLst/>
          </a:prstGeom>
          <a:noFill/>
          <a:ln/>
        </p:spPr>
        <p:txBody>
          <a:bodyPr wrap="square" lIns="0" tIns="0" rIns="0" bIns="0" rtlCol="0" anchor="ctr"/>
          <a:lstStyle/>
          <a:p>
            <a:pPr marL="0" indent="0">
              <a:buNone/>
            </a:pPr>
            <a:r>
              <a:rPr lang="en-US" sz="1450" b="1" dirty="0">
                <a:solidFill>
                  <a:srgbClr val="21295C"/>
                </a:solidFill>
                <a:latin typeface="Segoe UI" panose="020B0502040204020203" pitchFamily="34" charset="0"/>
                <a:ea typeface="Calibri" pitchFamily="34" charset="-122"/>
                <a:cs typeface="Segoe UI" panose="020B0502040204020203" pitchFamily="34" charset="0"/>
              </a:rPr>
              <a:t>Quatre briques fonctionnelles</a:t>
            </a:r>
            <a:endParaRPr lang="en-US" sz="1450" dirty="0">
              <a:latin typeface="Segoe UI" panose="020B0502040204020203" pitchFamily="34" charset="0"/>
              <a:cs typeface="Segoe UI" panose="020B0502040204020203" pitchFamily="34" charset="0"/>
            </a:endParaRPr>
          </a:p>
        </p:txBody>
      </p:sp>
      <p:sp>
        <p:nvSpPr>
          <p:cNvPr id="48" name="Shape 4">
            <a:extLst>
              <a:ext uri="{FF2B5EF4-FFF2-40B4-BE49-F238E27FC236}">
                <a16:creationId xmlns:a16="http://schemas.microsoft.com/office/drawing/2014/main" id="{816B4E6E-155F-40B2-B5F7-BE62D9EB94F4}"/>
              </a:ext>
            </a:extLst>
          </p:cNvPr>
          <p:cNvSpPr/>
          <p:nvPr/>
        </p:nvSpPr>
        <p:spPr>
          <a:xfrm>
            <a:off x="609600" y="1189568"/>
            <a:ext cx="5440680" cy="1051560"/>
          </a:xfrm>
          <a:prstGeom prst="roundRect">
            <a:avLst>
              <a:gd name="adj" fmla="val 6957"/>
            </a:avLst>
          </a:prstGeom>
          <a:solidFill>
            <a:srgbClr val="F4F7FB"/>
          </a:solidFill>
          <a:ln/>
        </p:spPr>
        <p:txBody>
          <a:bodyPr/>
          <a:lstStyle/>
          <a:p>
            <a:endParaRPr lang="fr-FR">
              <a:latin typeface="Segoe UI" panose="020B0502040204020203" pitchFamily="34" charset="0"/>
              <a:cs typeface="Segoe UI" panose="020B0502040204020203" pitchFamily="34" charset="0"/>
            </a:endParaRPr>
          </a:p>
        </p:txBody>
      </p:sp>
      <p:sp>
        <p:nvSpPr>
          <p:cNvPr id="49" name="Shape 5">
            <a:extLst>
              <a:ext uri="{FF2B5EF4-FFF2-40B4-BE49-F238E27FC236}">
                <a16:creationId xmlns:a16="http://schemas.microsoft.com/office/drawing/2014/main" id="{DF065CF8-49A8-17BB-244F-02E84F587205}"/>
              </a:ext>
            </a:extLst>
          </p:cNvPr>
          <p:cNvSpPr/>
          <p:nvPr/>
        </p:nvSpPr>
        <p:spPr>
          <a:xfrm>
            <a:off x="810768" y="1409024"/>
            <a:ext cx="603504" cy="603504"/>
          </a:xfrm>
          <a:prstGeom prst="ellipse">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pic>
        <p:nvPicPr>
          <p:cNvPr id="50" name="Image 0" descr="preencoded.png">
            <a:extLst>
              <a:ext uri="{FF2B5EF4-FFF2-40B4-BE49-F238E27FC236}">
                <a16:creationId xmlns:a16="http://schemas.microsoft.com/office/drawing/2014/main" id="{C944E0D1-770B-DF97-B508-753B8E5A7C2E}"/>
              </a:ext>
            </a:extLst>
          </p:cNvPr>
          <p:cNvPicPr>
            <a:picLocks noChangeAspect="1"/>
          </p:cNvPicPr>
          <p:nvPr/>
        </p:nvPicPr>
        <p:blipFill>
          <a:blip r:embed="rId3"/>
          <a:stretch>
            <a:fillRect/>
          </a:stretch>
        </p:blipFill>
        <p:spPr>
          <a:xfrm>
            <a:off x="955609" y="1553865"/>
            <a:ext cx="313822" cy="313822"/>
          </a:xfrm>
          <a:prstGeom prst="rect">
            <a:avLst/>
          </a:prstGeom>
        </p:spPr>
      </p:pic>
      <p:sp>
        <p:nvSpPr>
          <p:cNvPr id="51" name="Text 6">
            <a:extLst>
              <a:ext uri="{FF2B5EF4-FFF2-40B4-BE49-F238E27FC236}">
                <a16:creationId xmlns:a16="http://schemas.microsoft.com/office/drawing/2014/main" id="{26CB6BF6-FA9B-398A-887B-198F88A6ACC5}"/>
              </a:ext>
            </a:extLst>
          </p:cNvPr>
          <p:cNvSpPr/>
          <p:nvPr/>
        </p:nvSpPr>
        <p:spPr>
          <a:xfrm>
            <a:off x="1569720" y="1281008"/>
            <a:ext cx="4297680" cy="384048"/>
          </a:xfrm>
          <a:prstGeom prst="rect">
            <a:avLst/>
          </a:prstGeom>
          <a:noFill/>
          <a:ln/>
        </p:spPr>
        <p:txBody>
          <a:bodyPr wrap="square" lIns="0" tIns="0" rIns="0" bIns="0" rtlCol="0" anchor="ctr"/>
          <a:lstStyle/>
          <a:p>
            <a:pPr marL="0" indent="0">
              <a:buNone/>
            </a:pPr>
            <a:r>
              <a:rPr lang="en-US" sz="1250" b="1" dirty="0">
                <a:solidFill>
                  <a:srgbClr val="21295C"/>
                </a:solidFill>
                <a:latin typeface="Segoe UI" panose="020B0502040204020203" pitchFamily="34" charset="0"/>
                <a:ea typeface="Calibri" pitchFamily="34" charset="-122"/>
                <a:cs typeface="Segoe UI" panose="020B0502040204020203" pitchFamily="34" charset="0"/>
              </a:rPr>
              <a:t>Le catalogue</a:t>
            </a:r>
            <a:endParaRPr lang="en-US" sz="1250" dirty="0">
              <a:latin typeface="Segoe UI" panose="020B0502040204020203" pitchFamily="34" charset="0"/>
              <a:cs typeface="Segoe UI" panose="020B0502040204020203" pitchFamily="34" charset="0"/>
            </a:endParaRPr>
          </a:p>
        </p:txBody>
      </p:sp>
      <p:sp>
        <p:nvSpPr>
          <p:cNvPr id="52" name="Text 7">
            <a:extLst>
              <a:ext uri="{FF2B5EF4-FFF2-40B4-BE49-F238E27FC236}">
                <a16:creationId xmlns:a16="http://schemas.microsoft.com/office/drawing/2014/main" id="{E24D218D-7385-A3A3-0EAF-945A325A4DE8}"/>
              </a:ext>
            </a:extLst>
          </p:cNvPr>
          <p:cNvSpPr/>
          <p:nvPr/>
        </p:nvSpPr>
        <p:spPr>
          <a:xfrm>
            <a:off x="1569720" y="1665056"/>
            <a:ext cx="4297680" cy="530352"/>
          </a:xfrm>
          <a:prstGeom prst="rect">
            <a:avLst/>
          </a:prstGeom>
          <a:noFill/>
          <a:ln/>
        </p:spPr>
        <p:txBody>
          <a:bodyPr wrap="square" lIns="0" tIns="0" rIns="0" bIns="0" rtlCol="0" anchor="ctr"/>
          <a:lstStyle/>
          <a:p>
            <a:pPr marL="0" indent="0">
              <a:lnSpc>
                <a:spcPct val="110000"/>
              </a:lnSpc>
              <a:buNone/>
            </a:pPr>
            <a:r>
              <a:rPr lang="en-US" sz="1050" dirty="0">
                <a:solidFill>
                  <a:srgbClr val="1B2433"/>
                </a:solidFill>
                <a:latin typeface="Segoe UI" panose="020B0502040204020203" pitchFamily="34" charset="0"/>
                <a:ea typeface="Calibri" pitchFamily="34" charset="-122"/>
                <a:cs typeface="Segoe UI" panose="020B0502040204020203" pitchFamily="34" charset="0"/>
              </a:rPr>
              <a:t>Fiche </a:t>
            </a:r>
            <a:r>
              <a:rPr lang="en-US" sz="1050" dirty="0" err="1">
                <a:solidFill>
                  <a:srgbClr val="1B2433"/>
                </a:solidFill>
                <a:latin typeface="Segoe UI" panose="020B0502040204020203" pitchFamily="34" charset="0"/>
                <a:ea typeface="Calibri" pitchFamily="34" charset="-122"/>
                <a:cs typeface="Segoe UI" panose="020B0502040204020203" pitchFamily="34" charset="0"/>
              </a:rPr>
              <a:t>descriptif</a:t>
            </a:r>
            <a:r>
              <a:rPr lang="en-US" sz="1050" dirty="0">
                <a:solidFill>
                  <a:srgbClr val="1B2433"/>
                </a:solidFill>
                <a:latin typeface="Segoe UI" panose="020B0502040204020203" pitchFamily="34" charset="0"/>
                <a:ea typeface="Calibri" pitchFamily="34" charset="-122"/>
                <a:cs typeface="Segoe UI" panose="020B0502040204020203" pitchFamily="34" charset="0"/>
              </a:rPr>
              <a:t> de service, </a:t>
            </a:r>
            <a:r>
              <a:rPr lang="en-US" sz="1050" dirty="0" err="1">
                <a:solidFill>
                  <a:srgbClr val="1B2433"/>
                </a:solidFill>
                <a:latin typeface="Segoe UI" panose="020B0502040204020203" pitchFamily="34" charset="0"/>
                <a:ea typeface="Calibri" pitchFamily="34" charset="-122"/>
                <a:cs typeface="Segoe UI" panose="020B0502040204020203" pitchFamily="34" charset="0"/>
              </a:rPr>
              <a:t>contrat</a:t>
            </a:r>
            <a:r>
              <a:rPr lang="en-US" sz="1050" dirty="0">
                <a:solidFill>
                  <a:srgbClr val="1B2433"/>
                </a:solidFill>
                <a:latin typeface="Segoe UI" panose="020B0502040204020203" pitchFamily="34" charset="0"/>
                <a:ea typeface="Calibri" pitchFamily="34" charset="-122"/>
                <a:cs typeface="Segoe UI" panose="020B0502040204020203" pitchFamily="34" charset="0"/>
              </a:rPr>
              <a:t> </a:t>
            </a:r>
            <a:r>
              <a:rPr lang="en-US" sz="1050" dirty="0" err="1">
                <a:solidFill>
                  <a:srgbClr val="1B2433"/>
                </a:solidFill>
                <a:latin typeface="Segoe UI" panose="020B0502040204020203" pitchFamily="34" charset="0"/>
                <a:ea typeface="Calibri" pitchFamily="34" charset="-122"/>
                <a:cs typeface="Segoe UI" panose="020B0502040204020203" pitchFamily="34" charset="0"/>
              </a:rPr>
              <a:t>d'interface</a:t>
            </a:r>
            <a:r>
              <a:rPr lang="en-US" sz="1050" dirty="0">
                <a:solidFill>
                  <a:srgbClr val="1B2433"/>
                </a:solidFill>
                <a:latin typeface="Segoe UI" panose="020B0502040204020203" pitchFamily="34" charset="0"/>
                <a:ea typeface="Calibri" pitchFamily="34" charset="-122"/>
                <a:cs typeface="Segoe UI" panose="020B0502040204020203" pitchFamily="34" charset="0"/>
              </a:rPr>
              <a:t>, documentation </a:t>
            </a:r>
            <a:r>
              <a:rPr lang="en-US" sz="1050" dirty="0" err="1">
                <a:solidFill>
                  <a:srgbClr val="1B2433"/>
                </a:solidFill>
                <a:latin typeface="Segoe UI" panose="020B0502040204020203" pitchFamily="34" charset="0"/>
                <a:ea typeface="Calibri" pitchFamily="34" charset="-122"/>
                <a:cs typeface="Segoe UI" panose="020B0502040204020203" pitchFamily="34" charset="0"/>
              </a:rPr>
              <a:t>fonctionnelle</a:t>
            </a:r>
            <a:r>
              <a:rPr lang="en-US" sz="1050" dirty="0">
                <a:solidFill>
                  <a:srgbClr val="1B2433"/>
                </a:solidFill>
                <a:latin typeface="Segoe UI" panose="020B0502040204020203" pitchFamily="34" charset="0"/>
                <a:ea typeface="Calibri" pitchFamily="34" charset="-122"/>
                <a:cs typeface="Segoe UI" panose="020B0502040204020203" pitchFamily="34" charset="0"/>
              </a:rPr>
              <a:t> &amp; technique</a:t>
            </a:r>
            <a:endParaRPr lang="en-US" sz="1050" dirty="0">
              <a:latin typeface="Segoe UI" panose="020B0502040204020203" pitchFamily="34" charset="0"/>
              <a:cs typeface="Segoe UI" panose="020B0502040204020203" pitchFamily="34" charset="0"/>
            </a:endParaRPr>
          </a:p>
        </p:txBody>
      </p:sp>
      <p:sp>
        <p:nvSpPr>
          <p:cNvPr id="53" name="Shape 8">
            <a:extLst>
              <a:ext uri="{FF2B5EF4-FFF2-40B4-BE49-F238E27FC236}">
                <a16:creationId xmlns:a16="http://schemas.microsoft.com/office/drawing/2014/main" id="{C89F3FED-E841-F682-98B1-AFBAA57D01B2}"/>
              </a:ext>
            </a:extLst>
          </p:cNvPr>
          <p:cNvSpPr/>
          <p:nvPr/>
        </p:nvSpPr>
        <p:spPr>
          <a:xfrm>
            <a:off x="6443472" y="1189568"/>
            <a:ext cx="5440680" cy="1051560"/>
          </a:xfrm>
          <a:prstGeom prst="roundRect">
            <a:avLst>
              <a:gd name="adj" fmla="val 6957"/>
            </a:avLst>
          </a:prstGeom>
          <a:solidFill>
            <a:srgbClr val="F4F7FB"/>
          </a:solidFill>
          <a:ln/>
        </p:spPr>
        <p:txBody>
          <a:bodyPr/>
          <a:lstStyle/>
          <a:p>
            <a:endParaRPr lang="fr-FR">
              <a:latin typeface="Segoe UI" panose="020B0502040204020203" pitchFamily="34" charset="0"/>
              <a:cs typeface="Segoe UI" panose="020B0502040204020203" pitchFamily="34" charset="0"/>
            </a:endParaRPr>
          </a:p>
        </p:txBody>
      </p:sp>
      <p:sp>
        <p:nvSpPr>
          <p:cNvPr id="54" name="Shape 9">
            <a:extLst>
              <a:ext uri="{FF2B5EF4-FFF2-40B4-BE49-F238E27FC236}">
                <a16:creationId xmlns:a16="http://schemas.microsoft.com/office/drawing/2014/main" id="{C94B28D1-F7B8-F8CE-FD1C-0D5278EC2FEE}"/>
              </a:ext>
            </a:extLst>
          </p:cNvPr>
          <p:cNvSpPr/>
          <p:nvPr/>
        </p:nvSpPr>
        <p:spPr>
          <a:xfrm>
            <a:off x="6644640" y="1409024"/>
            <a:ext cx="603504" cy="603504"/>
          </a:xfrm>
          <a:prstGeom prst="ellipse">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pic>
        <p:nvPicPr>
          <p:cNvPr id="55" name="Image 1" descr="preencoded.png">
            <a:extLst>
              <a:ext uri="{FF2B5EF4-FFF2-40B4-BE49-F238E27FC236}">
                <a16:creationId xmlns:a16="http://schemas.microsoft.com/office/drawing/2014/main" id="{8B793AD1-23BB-233D-9B4B-0D66AB097F0D}"/>
              </a:ext>
            </a:extLst>
          </p:cNvPr>
          <p:cNvPicPr>
            <a:picLocks noChangeAspect="1"/>
          </p:cNvPicPr>
          <p:nvPr/>
        </p:nvPicPr>
        <p:blipFill>
          <a:blip r:embed="rId4"/>
          <a:stretch>
            <a:fillRect/>
          </a:stretch>
        </p:blipFill>
        <p:spPr>
          <a:xfrm>
            <a:off x="6789481" y="1553865"/>
            <a:ext cx="313822" cy="313822"/>
          </a:xfrm>
          <a:prstGeom prst="rect">
            <a:avLst/>
          </a:prstGeom>
        </p:spPr>
      </p:pic>
      <p:sp>
        <p:nvSpPr>
          <p:cNvPr id="56" name="Text 10">
            <a:extLst>
              <a:ext uri="{FF2B5EF4-FFF2-40B4-BE49-F238E27FC236}">
                <a16:creationId xmlns:a16="http://schemas.microsoft.com/office/drawing/2014/main" id="{AA19A6A6-63B3-2FFC-4AD9-09C0E988712F}"/>
              </a:ext>
            </a:extLst>
          </p:cNvPr>
          <p:cNvSpPr/>
          <p:nvPr/>
        </p:nvSpPr>
        <p:spPr>
          <a:xfrm>
            <a:off x="7403592" y="1281008"/>
            <a:ext cx="4297680" cy="384048"/>
          </a:xfrm>
          <a:prstGeom prst="rect">
            <a:avLst/>
          </a:prstGeom>
          <a:noFill/>
          <a:ln/>
        </p:spPr>
        <p:txBody>
          <a:bodyPr wrap="square" lIns="0" tIns="0" rIns="0" bIns="0" rtlCol="0" anchor="ctr"/>
          <a:lstStyle/>
          <a:p>
            <a:pPr marL="0" indent="0">
              <a:buNone/>
            </a:pPr>
            <a:r>
              <a:rPr lang="en-US" sz="1250" b="1" dirty="0">
                <a:solidFill>
                  <a:srgbClr val="21295C"/>
                </a:solidFill>
                <a:latin typeface="Segoe UI" panose="020B0502040204020203" pitchFamily="34" charset="0"/>
                <a:ea typeface="Calibri" pitchFamily="34" charset="-122"/>
                <a:cs typeface="Segoe UI" panose="020B0502040204020203" pitchFamily="34" charset="0"/>
              </a:rPr>
              <a:t>Souscription &amp; provisionnement</a:t>
            </a:r>
            <a:endParaRPr lang="en-US" sz="1250" dirty="0">
              <a:latin typeface="Segoe UI" panose="020B0502040204020203" pitchFamily="34" charset="0"/>
              <a:cs typeface="Segoe UI" panose="020B0502040204020203" pitchFamily="34" charset="0"/>
            </a:endParaRPr>
          </a:p>
        </p:txBody>
      </p:sp>
      <p:sp>
        <p:nvSpPr>
          <p:cNvPr id="57" name="Text 11">
            <a:extLst>
              <a:ext uri="{FF2B5EF4-FFF2-40B4-BE49-F238E27FC236}">
                <a16:creationId xmlns:a16="http://schemas.microsoft.com/office/drawing/2014/main" id="{7CF61F10-913C-260C-FCDE-836E0068F4E3}"/>
              </a:ext>
            </a:extLst>
          </p:cNvPr>
          <p:cNvSpPr/>
          <p:nvPr/>
        </p:nvSpPr>
        <p:spPr>
          <a:xfrm>
            <a:off x="7403592" y="1665056"/>
            <a:ext cx="4297680" cy="530352"/>
          </a:xfrm>
          <a:prstGeom prst="rect">
            <a:avLst/>
          </a:prstGeom>
          <a:noFill/>
          <a:ln/>
        </p:spPr>
        <p:txBody>
          <a:bodyPr wrap="square" lIns="0" tIns="0" rIns="0" bIns="0" rtlCol="0" anchor="ctr"/>
          <a:lstStyle/>
          <a:p>
            <a:pPr marL="0" indent="0">
              <a:lnSpc>
                <a:spcPct val="110000"/>
              </a:lnSpc>
              <a:buNone/>
            </a:pPr>
            <a:r>
              <a:rPr lang="en-US" sz="1050" dirty="0">
                <a:solidFill>
                  <a:srgbClr val="1B2433"/>
                </a:solidFill>
                <a:latin typeface="Segoe UI" panose="020B0502040204020203" pitchFamily="34" charset="0"/>
                <a:ea typeface="Calibri" pitchFamily="34" charset="-122"/>
                <a:cs typeface="Segoe UI" panose="020B0502040204020203" pitchFamily="34" charset="0"/>
              </a:rPr>
              <a:t>Demande d'accès self-service, validation, délivrance des credentials et mise à disposition des environnements (développement, recette, production), </a:t>
            </a:r>
            <a:r>
              <a:rPr lang="en-US" sz="1050" dirty="0" err="1">
                <a:solidFill>
                  <a:srgbClr val="1B2433"/>
                </a:solidFill>
                <a:latin typeface="Segoe UI" panose="020B0502040204020203" pitchFamily="34" charset="0"/>
                <a:ea typeface="Calibri" pitchFamily="34" charset="-122"/>
                <a:cs typeface="Segoe UI" panose="020B0502040204020203" pitchFamily="34" charset="0"/>
              </a:rPr>
              <a:t>exemples</a:t>
            </a:r>
            <a:r>
              <a:rPr lang="en-US" sz="1050" dirty="0">
                <a:solidFill>
                  <a:srgbClr val="1B2433"/>
                </a:solidFill>
                <a:latin typeface="Segoe UI" panose="020B0502040204020203" pitchFamily="34" charset="0"/>
                <a:ea typeface="Calibri" pitchFamily="34" charset="-122"/>
                <a:cs typeface="Segoe UI" panose="020B0502040204020203" pitchFamily="34" charset="0"/>
              </a:rPr>
              <a:t> </a:t>
            </a:r>
            <a:r>
              <a:rPr lang="en-US" sz="1050" dirty="0" err="1">
                <a:solidFill>
                  <a:srgbClr val="1B2433"/>
                </a:solidFill>
                <a:latin typeface="Segoe UI" panose="020B0502040204020203" pitchFamily="34" charset="0"/>
                <a:ea typeface="Calibri" pitchFamily="34" charset="-122"/>
                <a:cs typeface="Segoe UI" panose="020B0502040204020203" pitchFamily="34" charset="0"/>
              </a:rPr>
              <a:t>d'appel</a:t>
            </a:r>
            <a:r>
              <a:rPr lang="en-US" sz="1050" dirty="0">
                <a:solidFill>
                  <a:srgbClr val="1B2433"/>
                </a:solidFill>
                <a:latin typeface="Segoe UI" panose="020B0502040204020203" pitchFamily="34" charset="0"/>
                <a:ea typeface="Calibri" pitchFamily="34" charset="-122"/>
                <a:cs typeface="Segoe UI" panose="020B0502040204020203" pitchFamily="34" charset="0"/>
              </a:rPr>
              <a:t> et sandbox de test. </a:t>
            </a:r>
            <a:endParaRPr lang="en-US" sz="1050" dirty="0">
              <a:latin typeface="Segoe UI" panose="020B0502040204020203" pitchFamily="34" charset="0"/>
              <a:cs typeface="Segoe UI" panose="020B0502040204020203" pitchFamily="34" charset="0"/>
            </a:endParaRPr>
          </a:p>
        </p:txBody>
      </p:sp>
      <p:sp>
        <p:nvSpPr>
          <p:cNvPr id="58" name="Shape 12">
            <a:extLst>
              <a:ext uri="{FF2B5EF4-FFF2-40B4-BE49-F238E27FC236}">
                <a16:creationId xmlns:a16="http://schemas.microsoft.com/office/drawing/2014/main" id="{613B8C87-F73E-1005-EDA7-4BA70F3BC34E}"/>
              </a:ext>
            </a:extLst>
          </p:cNvPr>
          <p:cNvSpPr/>
          <p:nvPr/>
        </p:nvSpPr>
        <p:spPr>
          <a:xfrm>
            <a:off x="609600" y="2405720"/>
            <a:ext cx="5440680" cy="1051560"/>
          </a:xfrm>
          <a:prstGeom prst="roundRect">
            <a:avLst>
              <a:gd name="adj" fmla="val 6957"/>
            </a:avLst>
          </a:prstGeom>
          <a:solidFill>
            <a:srgbClr val="F4F7FB"/>
          </a:solidFill>
          <a:ln/>
        </p:spPr>
        <p:txBody>
          <a:bodyPr/>
          <a:lstStyle/>
          <a:p>
            <a:endParaRPr lang="fr-FR">
              <a:latin typeface="Segoe UI" panose="020B0502040204020203" pitchFamily="34" charset="0"/>
              <a:cs typeface="Segoe UI" panose="020B0502040204020203" pitchFamily="34" charset="0"/>
            </a:endParaRPr>
          </a:p>
        </p:txBody>
      </p:sp>
      <p:sp>
        <p:nvSpPr>
          <p:cNvPr id="59" name="Shape 13">
            <a:extLst>
              <a:ext uri="{FF2B5EF4-FFF2-40B4-BE49-F238E27FC236}">
                <a16:creationId xmlns:a16="http://schemas.microsoft.com/office/drawing/2014/main" id="{995CFA38-0F1F-76A4-229D-3313CA6B9F62}"/>
              </a:ext>
            </a:extLst>
          </p:cNvPr>
          <p:cNvSpPr/>
          <p:nvPr/>
        </p:nvSpPr>
        <p:spPr>
          <a:xfrm>
            <a:off x="810768" y="2625176"/>
            <a:ext cx="603504" cy="603504"/>
          </a:xfrm>
          <a:prstGeom prst="ellipse">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pic>
        <p:nvPicPr>
          <p:cNvPr id="60" name="Image 2" descr="preencoded.png">
            <a:extLst>
              <a:ext uri="{FF2B5EF4-FFF2-40B4-BE49-F238E27FC236}">
                <a16:creationId xmlns:a16="http://schemas.microsoft.com/office/drawing/2014/main" id="{A43E0D76-D929-18D0-A8BF-21441FAF78BC}"/>
              </a:ext>
            </a:extLst>
          </p:cNvPr>
          <p:cNvPicPr>
            <a:picLocks noChangeAspect="1"/>
          </p:cNvPicPr>
          <p:nvPr/>
        </p:nvPicPr>
        <p:blipFill>
          <a:blip r:embed="rId5"/>
          <a:stretch>
            <a:fillRect/>
          </a:stretch>
        </p:blipFill>
        <p:spPr>
          <a:xfrm>
            <a:off x="955609" y="2770017"/>
            <a:ext cx="313822" cy="313822"/>
          </a:xfrm>
          <a:prstGeom prst="rect">
            <a:avLst/>
          </a:prstGeom>
        </p:spPr>
      </p:pic>
      <p:sp>
        <p:nvSpPr>
          <p:cNvPr id="61" name="Text 14">
            <a:extLst>
              <a:ext uri="{FF2B5EF4-FFF2-40B4-BE49-F238E27FC236}">
                <a16:creationId xmlns:a16="http://schemas.microsoft.com/office/drawing/2014/main" id="{AA90A55C-AEE8-9FDE-5749-3C96C13AA86F}"/>
              </a:ext>
            </a:extLst>
          </p:cNvPr>
          <p:cNvSpPr/>
          <p:nvPr/>
        </p:nvSpPr>
        <p:spPr>
          <a:xfrm>
            <a:off x="1569720" y="2497160"/>
            <a:ext cx="4297680" cy="384048"/>
          </a:xfrm>
          <a:prstGeom prst="rect">
            <a:avLst/>
          </a:prstGeom>
          <a:noFill/>
          <a:ln/>
        </p:spPr>
        <p:txBody>
          <a:bodyPr wrap="square" lIns="0" tIns="0" rIns="0" bIns="0" rtlCol="0" anchor="ctr"/>
          <a:lstStyle/>
          <a:p>
            <a:pPr marL="0" indent="0">
              <a:buNone/>
            </a:pPr>
            <a:r>
              <a:rPr lang="en-US" sz="1250" b="1" dirty="0">
                <a:solidFill>
                  <a:srgbClr val="21295C"/>
                </a:solidFill>
                <a:latin typeface="Segoe UI" panose="020B0502040204020203" pitchFamily="34" charset="0"/>
                <a:ea typeface="Calibri" pitchFamily="34" charset="-122"/>
                <a:cs typeface="Segoe UI" panose="020B0502040204020203" pitchFamily="34" charset="0"/>
              </a:rPr>
              <a:t>Contrôle d'accès &amp; quotas</a:t>
            </a:r>
            <a:endParaRPr lang="en-US" sz="1250" dirty="0">
              <a:latin typeface="Segoe UI" panose="020B0502040204020203" pitchFamily="34" charset="0"/>
              <a:cs typeface="Segoe UI" panose="020B0502040204020203" pitchFamily="34" charset="0"/>
            </a:endParaRPr>
          </a:p>
        </p:txBody>
      </p:sp>
      <p:sp>
        <p:nvSpPr>
          <p:cNvPr id="62" name="Text 15">
            <a:extLst>
              <a:ext uri="{FF2B5EF4-FFF2-40B4-BE49-F238E27FC236}">
                <a16:creationId xmlns:a16="http://schemas.microsoft.com/office/drawing/2014/main" id="{17FD7105-A385-B939-841E-E03C52B23A68}"/>
              </a:ext>
            </a:extLst>
          </p:cNvPr>
          <p:cNvSpPr/>
          <p:nvPr/>
        </p:nvSpPr>
        <p:spPr>
          <a:xfrm>
            <a:off x="1569720" y="2881208"/>
            <a:ext cx="4297680" cy="530352"/>
          </a:xfrm>
          <a:prstGeom prst="rect">
            <a:avLst/>
          </a:prstGeom>
          <a:noFill/>
          <a:ln/>
        </p:spPr>
        <p:txBody>
          <a:bodyPr wrap="square" lIns="0" tIns="0" rIns="0" bIns="0" rtlCol="0" anchor="ctr"/>
          <a:lstStyle/>
          <a:p>
            <a:pPr marL="0" indent="0">
              <a:lnSpc>
                <a:spcPct val="110000"/>
              </a:lnSpc>
              <a:buNone/>
            </a:pPr>
            <a:r>
              <a:rPr lang="en-US" sz="1050" dirty="0">
                <a:solidFill>
                  <a:srgbClr val="1B2433"/>
                </a:solidFill>
                <a:latin typeface="Segoe UI" panose="020B0502040204020203" pitchFamily="34" charset="0"/>
                <a:ea typeface="Calibri" pitchFamily="34" charset="-122"/>
                <a:cs typeface="Segoe UI" panose="020B0502040204020203" pitchFamily="34" charset="0"/>
              </a:rPr>
              <a:t>Authentification, habilitations par service, limites d'appels : débit, volume journalier, taille de lot, par consommateur.</a:t>
            </a:r>
            <a:endParaRPr lang="en-US" sz="1050" dirty="0">
              <a:latin typeface="Segoe UI" panose="020B0502040204020203" pitchFamily="34" charset="0"/>
              <a:cs typeface="Segoe UI" panose="020B0502040204020203" pitchFamily="34" charset="0"/>
            </a:endParaRPr>
          </a:p>
        </p:txBody>
      </p:sp>
      <p:sp>
        <p:nvSpPr>
          <p:cNvPr id="63" name="Shape 16">
            <a:extLst>
              <a:ext uri="{FF2B5EF4-FFF2-40B4-BE49-F238E27FC236}">
                <a16:creationId xmlns:a16="http://schemas.microsoft.com/office/drawing/2014/main" id="{ECF6A2EE-3DD6-DC81-5ACF-349DF6C9645F}"/>
              </a:ext>
            </a:extLst>
          </p:cNvPr>
          <p:cNvSpPr/>
          <p:nvPr/>
        </p:nvSpPr>
        <p:spPr>
          <a:xfrm>
            <a:off x="6443472" y="2405720"/>
            <a:ext cx="5440680" cy="1051560"/>
          </a:xfrm>
          <a:prstGeom prst="roundRect">
            <a:avLst>
              <a:gd name="adj" fmla="val 6957"/>
            </a:avLst>
          </a:prstGeom>
          <a:solidFill>
            <a:srgbClr val="F4F7FB"/>
          </a:solidFill>
          <a:ln/>
        </p:spPr>
        <p:txBody>
          <a:bodyPr/>
          <a:lstStyle/>
          <a:p>
            <a:endParaRPr lang="fr-FR">
              <a:latin typeface="Segoe UI" panose="020B0502040204020203" pitchFamily="34" charset="0"/>
              <a:cs typeface="Segoe UI" panose="020B0502040204020203" pitchFamily="34" charset="0"/>
            </a:endParaRPr>
          </a:p>
        </p:txBody>
      </p:sp>
      <p:sp>
        <p:nvSpPr>
          <p:cNvPr id="64" name="Shape 17">
            <a:extLst>
              <a:ext uri="{FF2B5EF4-FFF2-40B4-BE49-F238E27FC236}">
                <a16:creationId xmlns:a16="http://schemas.microsoft.com/office/drawing/2014/main" id="{6E71407E-6B96-CF45-673A-54BAE4F254BF}"/>
              </a:ext>
            </a:extLst>
          </p:cNvPr>
          <p:cNvSpPr/>
          <p:nvPr/>
        </p:nvSpPr>
        <p:spPr>
          <a:xfrm>
            <a:off x="6644640" y="2625176"/>
            <a:ext cx="603504" cy="603504"/>
          </a:xfrm>
          <a:prstGeom prst="ellipse">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pic>
        <p:nvPicPr>
          <p:cNvPr id="65" name="Image 3" descr="preencoded.png">
            <a:extLst>
              <a:ext uri="{FF2B5EF4-FFF2-40B4-BE49-F238E27FC236}">
                <a16:creationId xmlns:a16="http://schemas.microsoft.com/office/drawing/2014/main" id="{F4448B26-9682-1AD1-8656-2A5E7F9982AA}"/>
              </a:ext>
            </a:extLst>
          </p:cNvPr>
          <p:cNvPicPr>
            <a:picLocks noChangeAspect="1"/>
          </p:cNvPicPr>
          <p:nvPr/>
        </p:nvPicPr>
        <p:blipFill>
          <a:blip r:embed="rId6"/>
          <a:stretch>
            <a:fillRect/>
          </a:stretch>
        </p:blipFill>
        <p:spPr>
          <a:xfrm>
            <a:off x="6789481" y="2770017"/>
            <a:ext cx="313822" cy="313822"/>
          </a:xfrm>
          <a:prstGeom prst="rect">
            <a:avLst/>
          </a:prstGeom>
        </p:spPr>
      </p:pic>
      <p:sp>
        <p:nvSpPr>
          <p:cNvPr id="66" name="Text 18">
            <a:extLst>
              <a:ext uri="{FF2B5EF4-FFF2-40B4-BE49-F238E27FC236}">
                <a16:creationId xmlns:a16="http://schemas.microsoft.com/office/drawing/2014/main" id="{8C331933-420C-FB90-25B9-51DB7C7A6D59}"/>
              </a:ext>
            </a:extLst>
          </p:cNvPr>
          <p:cNvSpPr/>
          <p:nvPr/>
        </p:nvSpPr>
        <p:spPr>
          <a:xfrm>
            <a:off x="7403592" y="2497160"/>
            <a:ext cx="4297680" cy="384048"/>
          </a:xfrm>
          <a:prstGeom prst="rect">
            <a:avLst/>
          </a:prstGeom>
          <a:noFill/>
          <a:ln/>
        </p:spPr>
        <p:txBody>
          <a:bodyPr wrap="square" lIns="0" tIns="0" rIns="0" bIns="0" rtlCol="0" anchor="ctr"/>
          <a:lstStyle/>
          <a:p>
            <a:pPr marL="0" indent="0">
              <a:buNone/>
            </a:pPr>
            <a:r>
              <a:rPr lang="en-US" sz="1250" b="1" dirty="0">
                <a:solidFill>
                  <a:srgbClr val="21295C"/>
                </a:solidFill>
                <a:latin typeface="Segoe UI" panose="020B0502040204020203" pitchFamily="34" charset="0"/>
                <a:ea typeface="Calibri" pitchFamily="34" charset="-122"/>
                <a:cs typeface="Segoe UI" panose="020B0502040204020203" pitchFamily="34" charset="0"/>
              </a:rPr>
              <a:t>Observabilité &amp; consommation</a:t>
            </a:r>
            <a:endParaRPr lang="en-US" sz="1250" dirty="0">
              <a:latin typeface="Segoe UI" panose="020B0502040204020203" pitchFamily="34" charset="0"/>
              <a:cs typeface="Segoe UI" panose="020B0502040204020203" pitchFamily="34" charset="0"/>
            </a:endParaRPr>
          </a:p>
        </p:txBody>
      </p:sp>
      <p:sp>
        <p:nvSpPr>
          <p:cNvPr id="67" name="Text 19">
            <a:extLst>
              <a:ext uri="{FF2B5EF4-FFF2-40B4-BE49-F238E27FC236}">
                <a16:creationId xmlns:a16="http://schemas.microsoft.com/office/drawing/2014/main" id="{C51F4B0D-D140-220A-C069-E4BE460542E5}"/>
              </a:ext>
            </a:extLst>
          </p:cNvPr>
          <p:cNvSpPr/>
          <p:nvPr/>
        </p:nvSpPr>
        <p:spPr>
          <a:xfrm>
            <a:off x="7403592" y="2881208"/>
            <a:ext cx="4297680" cy="530352"/>
          </a:xfrm>
          <a:prstGeom prst="rect">
            <a:avLst/>
          </a:prstGeom>
          <a:noFill/>
          <a:ln/>
        </p:spPr>
        <p:txBody>
          <a:bodyPr wrap="square" lIns="0" tIns="0" rIns="0" bIns="0" rtlCol="0" anchor="ctr"/>
          <a:lstStyle/>
          <a:p>
            <a:pPr marL="0" indent="0">
              <a:lnSpc>
                <a:spcPct val="110000"/>
              </a:lnSpc>
              <a:buNone/>
            </a:pPr>
            <a:r>
              <a:rPr lang="en-US" sz="1050" dirty="0">
                <a:solidFill>
                  <a:srgbClr val="1B2433"/>
                </a:solidFill>
                <a:latin typeface="Segoe UI" panose="020B0502040204020203" pitchFamily="34" charset="0"/>
                <a:ea typeface="Calibri" pitchFamily="34" charset="-122"/>
                <a:cs typeface="Segoe UI" panose="020B0502040204020203" pitchFamily="34" charset="0"/>
              </a:rPr>
              <a:t>Métriques d'usage par consommateur et par service, alimentant le suivi de production et le modèle de refacturation.</a:t>
            </a:r>
            <a:endParaRPr lang="en-US" sz="1050" dirty="0">
              <a:latin typeface="Segoe UI" panose="020B0502040204020203" pitchFamily="34" charset="0"/>
              <a:cs typeface="Segoe UI" panose="020B0502040204020203" pitchFamily="34" charset="0"/>
            </a:endParaRPr>
          </a:p>
        </p:txBody>
      </p:sp>
      <p:sp>
        <p:nvSpPr>
          <p:cNvPr id="68" name="Text 20">
            <a:extLst>
              <a:ext uri="{FF2B5EF4-FFF2-40B4-BE49-F238E27FC236}">
                <a16:creationId xmlns:a16="http://schemas.microsoft.com/office/drawing/2014/main" id="{EBF9F354-AE59-6941-F7C7-ABB4328EFDB3}"/>
              </a:ext>
            </a:extLst>
          </p:cNvPr>
          <p:cNvSpPr/>
          <p:nvPr/>
        </p:nvSpPr>
        <p:spPr>
          <a:xfrm>
            <a:off x="609600" y="3539576"/>
            <a:ext cx="6400800" cy="320040"/>
          </a:xfrm>
          <a:prstGeom prst="rect">
            <a:avLst/>
          </a:prstGeom>
          <a:noFill/>
          <a:ln/>
        </p:spPr>
        <p:txBody>
          <a:bodyPr wrap="square" lIns="0" tIns="0" rIns="0" bIns="0" rtlCol="0" anchor="ctr"/>
          <a:lstStyle/>
          <a:p>
            <a:pPr marL="0" indent="0">
              <a:buNone/>
            </a:pPr>
            <a:r>
              <a:rPr lang="en-US" sz="1450" b="1" dirty="0">
                <a:solidFill>
                  <a:srgbClr val="21295C"/>
                </a:solidFill>
                <a:latin typeface="Segoe UI" panose="020B0502040204020203" pitchFamily="34" charset="0"/>
                <a:ea typeface="Calibri" pitchFamily="34" charset="-122"/>
                <a:cs typeface="Segoe UI" panose="020B0502040204020203" pitchFamily="34" charset="0"/>
              </a:rPr>
              <a:t>Règles de gestion à cadrer</a:t>
            </a:r>
            <a:endParaRPr lang="en-US" sz="1450" dirty="0">
              <a:latin typeface="Segoe UI" panose="020B0502040204020203" pitchFamily="34" charset="0"/>
              <a:cs typeface="Segoe UI" panose="020B0502040204020203" pitchFamily="34" charset="0"/>
            </a:endParaRPr>
          </a:p>
        </p:txBody>
      </p:sp>
      <p:sp>
        <p:nvSpPr>
          <p:cNvPr id="69" name="Shape 21">
            <a:extLst>
              <a:ext uri="{FF2B5EF4-FFF2-40B4-BE49-F238E27FC236}">
                <a16:creationId xmlns:a16="http://schemas.microsoft.com/office/drawing/2014/main" id="{6D18BE6E-F16D-3840-8551-2D097686E563}"/>
              </a:ext>
            </a:extLst>
          </p:cNvPr>
          <p:cNvSpPr/>
          <p:nvPr/>
        </p:nvSpPr>
        <p:spPr>
          <a:xfrm>
            <a:off x="609600" y="3932768"/>
            <a:ext cx="3611880" cy="1417320"/>
          </a:xfrm>
          <a:prstGeom prst="roundRect">
            <a:avLst>
              <a:gd name="adj" fmla="val 5161"/>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sp>
        <p:nvSpPr>
          <p:cNvPr id="70" name="Shape 22">
            <a:extLst>
              <a:ext uri="{FF2B5EF4-FFF2-40B4-BE49-F238E27FC236}">
                <a16:creationId xmlns:a16="http://schemas.microsoft.com/office/drawing/2014/main" id="{CF160DE3-F748-373A-8622-3F06F83574F8}"/>
              </a:ext>
            </a:extLst>
          </p:cNvPr>
          <p:cNvSpPr/>
          <p:nvPr/>
        </p:nvSpPr>
        <p:spPr>
          <a:xfrm>
            <a:off x="838200" y="4133936"/>
            <a:ext cx="512064" cy="512064"/>
          </a:xfrm>
          <a:prstGeom prst="ellipse">
            <a:avLst/>
          </a:prstGeom>
          <a:solidFill>
            <a:srgbClr val="F2A516"/>
          </a:solidFill>
          <a:ln/>
        </p:spPr>
        <p:txBody>
          <a:bodyPr/>
          <a:lstStyle/>
          <a:p>
            <a:endParaRPr lang="fr-FR">
              <a:latin typeface="Segoe UI" panose="020B0502040204020203" pitchFamily="34" charset="0"/>
              <a:cs typeface="Segoe UI" panose="020B0502040204020203" pitchFamily="34" charset="0"/>
            </a:endParaRPr>
          </a:p>
        </p:txBody>
      </p:sp>
      <p:pic>
        <p:nvPicPr>
          <p:cNvPr id="71" name="Image 4" descr="preencoded.png">
            <a:extLst>
              <a:ext uri="{FF2B5EF4-FFF2-40B4-BE49-F238E27FC236}">
                <a16:creationId xmlns:a16="http://schemas.microsoft.com/office/drawing/2014/main" id="{9FDDCC3B-110A-DB22-4817-57FB3875215F}"/>
              </a:ext>
            </a:extLst>
          </p:cNvPr>
          <p:cNvPicPr>
            <a:picLocks noChangeAspect="1"/>
          </p:cNvPicPr>
          <p:nvPr/>
        </p:nvPicPr>
        <p:blipFill>
          <a:blip r:embed="rId7"/>
          <a:stretch>
            <a:fillRect/>
          </a:stretch>
        </p:blipFill>
        <p:spPr>
          <a:xfrm>
            <a:off x="961095" y="4256831"/>
            <a:ext cx="266273" cy="266273"/>
          </a:xfrm>
          <a:prstGeom prst="rect">
            <a:avLst/>
          </a:prstGeom>
        </p:spPr>
      </p:pic>
      <p:sp>
        <p:nvSpPr>
          <p:cNvPr id="72" name="Text 23">
            <a:extLst>
              <a:ext uri="{FF2B5EF4-FFF2-40B4-BE49-F238E27FC236}">
                <a16:creationId xmlns:a16="http://schemas.microsoft.com/office/drawing/2014/main" id="{F6BCE322-7C36-84A7-A901-9BD2EC0F29FE}"/>
              </a:ext>
            </a:extLst>
          </p:cNvPr>
          <p:cNvSpPr/>
          <p:nvPr/>
        </p:nvSpPr>
        <p:spPr>
          <a:xfrm>
            <a:off x="838200" y="4719152"/>
            <a:ext cx="3154680" cy="320040"/>
          </a:xfrm>
          <a:prstGeom prst="rect">
            <a:avLst/>
          </a:prstGeom>
          <a:noFill/>
          <a:ln/>
        </p:spPr>
        <p:txBody>
          <a:bodyPr wrap="square" lIns="0" tIns="0" rIns="0" bIns="0" rtlCol="0" anchor="ctr"/>
          <a:lstStyle/>
          <a:p>
            <a:pPr marL="0" indent="0">
              <a:buNone/>
            </a:pPr>
            <a:r>
              <a:rPr lang="en-US" sz="1200" b="1" dirty="0">
                <a:solidFill>
                  <a:srgbClr val="FFFFFF"/>
                </a:solidFill>
                <a:latin typeface="Segoe UI" panose="020B0502040204020203" pitchFamily="34" charset="0"/>
                <a:ea typeface="Calibri" pitchFamily="34" charset="-122"/>
                <a:cs typeface="Segoe UI" panose="020B0502040204020203" pitchFamily="34" charset="0"/>
              </a:rPr>
              <a:t>Limites d'appels</a:t>
            </a:r>
            <a:endParaRPr lang="en-US" sz="1200" dirty="0">
              <a:latin typeface="Segoe UI" panose="020B0502040204020203" pitchFamily="34" charset="0"/>
              <a:cs typeface="Segoe UI" panose="020B0502040204020203" pitchFamily="34" charset="0"/>
            </a:endParaRPr>
          </a:p>
        </p:txBody>
      </p:sp>
      <p:sp>
        <p:nvSpPr>
          <p:cNvPr id="73" name="Text 24">
            <a:extLst>
              <a:ext uri="{FF2B5EF4-FFF2-40B4-BE49-F238E27FC236}">
                <a16:creationId xmlns:a16="http://schemas.microsoft.com/office/drawing/2014/main" id="{921EC26F-E26B-1C4F-0022-F72BEEAE80DF}"/>
              </a:ext>
            </a:extLst>
          </p:cNvPr>
          <p:cNvSpPr/>
          <p:nvPr/>
        </p:nvSpPr>
        <p:spPr>
          <a:xfrm>
            <a:off x="838200" y="5011760"/>
            <a:ext cx="3154680" cy="320040"/>
          </a:xfrm>
          <a:prstGeom prst="rect">
            <a:avLst/>
          </a:prstGeom>
          <a:noFill/>
          <a:ln/>
        </p:spPr>
        <p:txBody>
          <a:bodyPr wrap="square" lIns="0" tIns="0" rIns="0" bIns="0" rtlCol="0" anchor="ctr"/>
          <a:lstStyle/>
          <a:p>
            <a:pPr marL="0" indent="0">
              <a:lnSpc>
                <a:spcPct val="110000"/>
              </a:lnSpc>
              <a:buNone/>
            </a:pPr>
            <a:r>
              <a:rPr lang="en-US" sz="980" dirty="0">
                <a:solidFill>
                  <a:srgbClr val="CADCFC"/>
                </a:solidFill>
                <a:latin typeface="Segoe UI" panose="020B0502040204020203" pitchFamily="34" charset="0"/>
                <a:ea typeface="Calibri" pitchFamily="34" charset="-122"/>
                <a:cs typeface="Segoe UI" panose="020B0502040204020203" pitchFamily="34" charset="0"/>
              </a:rPr>
              <a:t>Quota par consommateur et par service, et politique de dépassement associée.</a:t>
            </a:r>
            <a:endParaRPr lang="en-US" sz="980" dirty="0">
              <a:latin typeface="Segoe UI" panose="020B0502040204020203" pitchFamily="34" charset="0"/>
              <a:cs typeface="Segoe UI" panose="020B0502040204020203" pitchFamily="34" charset="0"/>
            </a:endParaRPr>
          </a:p>
        </p:txBody>
      </p:sp>
      <p:sp>
        <p:nvSpPr>
          <p:cNvPr id="74" name="Shape 25">
            <a:extLst>
              <a:ext uri="{FF2B5EF4-FFF2-40B4-BE49-F238E27FC236}">
                <a16:creationId xmlns:a16="http://schemas.microsoft.com/office/drawing/2014/main" id="{942C4910-096E-6F2D-1F56-C66257B5C56A}"/>
              </a:ext>
            </a:extLst>
          </p:cNvPr>
          <p:cNvSpPr/>
          <p:nvPr/>
        </p:nvSpPr>
        <p:spPr>
          <a:xfrm>
            <a:off x="4440936" y="3932768"/>
            <a:ext cx="3611880" cy="1417320"/>
          </a:xfrm>
          <a:prstGeom prst="roundRect">
            <a:avLst>
              <a:gd name="adj" fmla="val 5161"/>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sp>
        <p:nvSpPr>
          <p:cNvPr id="75" name="Shape 26">
            <a:extLst>
              <a:ext uri="{FF2B5EF4-FFF2-40B4-BE49-F238E27FC236}">
                <a16:creationId xmlns:a16="http://schemas.microsoft.com/office/drawing/2014/main" id="{CDAEB231-E118-AA31-5AD4-EFCAD7C97F36}"/>
              </a:ext>
            </a:extLst>
          </p:cNvPr>
          <p:cNvSpPr/>
          <p:nvPr/>
        </p:nvSpPr>
        <p:spPr>
          <a:xfrm>
            <a:off x="4669536" y="4133936"/>
            <a:ext cx="512064" cy="512064"/>
          </a:xfrm>
          <a:prstGeom prst="ellipse">
            <a:avLst/>
          </a:prstGeom>
          <a:solidFill>
            <a:srgbClr val="F2A516"/>
          </a:solidFill>
          <a:ln/>
        </p:spPr>
        <p:txBody>
          <a:bodyPr/>
          <a:lstStyle/>
          <a:p>
            <a:endParaRPr lang="fr-FR">
              <a:latin typeface="Segoe UI" panose="020B0502040204020203" pitchFamily="34" charset="0"/>
              <a:cs typeface="Segoe UI" panose="020B0502040204020203" pitchFamily="34" charset="0"/>
            </a:endParaRPr>
          </a:p>
        </p:txBody>
      </p:sp>
      <p:pic>
        <p:nvPicPr>
          <p:cNvPr id="76" name="Image 5" descr="preencoded.png">
            <a:extLst>
              <a:ext uri="{FF2B5EF4-FFF2-40B4-BE49-F238E27FC236}">
                <a16:creationId xmlns:a16="http://schemas.microsoft.com/office/drawing/2014/main" id="{F3050CF3-31EC-24D1-26CF-8B816135C80F}"/>
              </a:ext>
            </a:extLst>
          </p:cNvPr>
          <p:cNvPicPr>
            <a:picLocks noChangeAspect="1"/>
          </p:cNvPicPr>
          <p:nvPr/>
        </p:nvPicPr>
        <p:blipFill>
          <a:blip r:embed="rId5"/>
          <a:stretch>
            <a:fillRect/>
          </a:stretch>
        </p:blipFill>
        <p:spPr>
          <a:xfrm>
            <a:off x="4792431" y="4256831"/>
            <a:ext cx="266273" cy="266273"/>
          </a:xfrm>
          <a:prstGeom prst="rect">
            <a:avLst/>
          </a:prstGeom>
        </p:spPr>
      </p:pic>
      <p:sp>
        <p:nvSpPr>
          <p:cNvPr id="77" name="Text 27">
            <a:extLst>
              <a:ext uri="{FF2B5EF4-FFF2-40B4-BE49-F238E27FC236}">
                <a16:creationId xmlns:a16="http://schemas.microsoft.com/office/drawing/2014/main" id="{067A3D61-B1D0-17AA-A23E-07E1DC65E668}"/>
              </a:ext>
            </a:extLst>
          </p:cNvPr>
          <p:cNvSpPr/>
          <p:nvPr/>
        </p:nvSpPr>
        <p:spPr>
          <a:xfrm>
            <a:off x="4669536" y="4719152"/>
            <a:ext cx="3154680" cy="320040"/>
          </a:xfrm>
          <a:prstGeom prst="rect">
            <a:avLst/>
          </a:prstGeom>
          <a:noFill/>
          <a:ln/>
        </p:spPr>
        <p:txBody>
          <a:bodyPr wrap="square" lIns="0" tIns="0" rIns="0" bIns="0" rtlCol="0" anchor="ctr"/>
          <a:lstStyle/>
          <a:p>
            <a:pPr marL="0" indent="0">
              <a:buNone/>
            </a:pPr>
            <a:r>
              <a:rPr lang="en-US" sz="1200" b="1" dirty="0">
                <a:solidFill>
                  <a:srgbClr val="FFFFFF"/>
                </a:solidFill>
                <a:latin typeface="Segoe UI" panose="020B0502040204020203" pitchFamily="34" charset="0"/>
                <a:ea typeface="Calibri" pitchFamily="34" charset="-122"/>
                <a:cs typeface="Segoe UI" panose="020B0502040204020203" pitchFamily="34" charset="0"/>
              </a:rPr>
              <a:t>Modèle de refacturation</a:t>
            </a:r>
            <a:endParaRPr lang="en-US" sz="1200" dirty="0">
              <a:latin typeface="Segoe UI" panose="020B0502040204020203" pitchFamily="34" charset="0"/>
              <a:cs typeface="Segoe UI" panose="020B0502040204020203" pitchFamily="34" charset="0"/>
            </a:endParaRPr>
          </a:p>
        </p:txBody>
      </p:sp>
      <p:sp>
        <p:nvSpPr>
          <p:cNvPr id="78" name="Text 28">
            <a:extLst>
              <a:ext uri="{FF2B5EF4-FFF2-40B4-BE49-F238E27FC236}">
                <a16:creationId xmlns:a16="http://schemas.microsoft.com/office/drawing/2014/main" id="{B140AC87-32DC-D744-A8CD-502D8AFBB462}"/>
              </a:ext>
            </a:extLst>
          </p:cNvPr>
          <p:cNvSpPr/>
          <p:nvPr/>
        </p:nvSpPr>
        <p:spPr>
          <a:xfrm>
            <a:off x="4669536" y="5011760"/>
            <a:ext cx="3154680" cy="320040"/>
          </a:xfrm>
          <a:prstGeom prst="rect">
            <a:avLst/>
          </a:prstGeom>
          <a:noFill/>
          <a:ln/>
        </p:spPr>
        <p:txBody>
          <a:bodyPr wrap="square" lIns="0" tIns="0" rIns="0" bIns="0" rtlCol="0" anchor="ctr"/>
          <a:lstStyle/>
          <a:p>
            <a:pPr marL="0" indent="0">
              <a:lnSpc>
                <a:spcPct val="110000"/>
              </a:lnSpc>
              <a:buNone/>
            </a:pPr>
            <a:r>
              <a:rPr lang="en-US" sz="980" dirty="0">
                <a:solidFill>
                  <a:srgbClr val="CADCFC"/>
                </a:solidFill>
                <a:latin typeface="Segoe UI" panose="020B0502040204020203" pitchFamily="34" charset="0"/>
                <a:ea typeface="Calibri" pitchFamily="34" charset="-122"/>
                <a:cs typeface="Segoe UI" panose="020B0502040204020203" pitchFamily="34" charset="0"/>
              </a:rPr>
              <a:t>Hypothèse de travail : forfait par consommateur et par palier d'usage, plutôt qu'une facturation à l'appel.</a:t>
            </a:r>
            <a:endParaRPr lang="en-US" sz="980" dirty="0">
              <a:latin typeface="Segoe UI" panose="020B0502040204020203" pitchFamily="34" charset="0"/>
              <a:cs typeface="Segoe UI" panose="020B0502040204020203" pitchFamily="34" charset="0"/>
            </a:endParaRPr>
          </a:p>
        </p:txBody>
      </p:sp>
      <p:sp>
        <p:nvSpPr>
          <p:cNvPr id="79" name="Shape 29">
            <a:extLst>
              <a:ext uri="{FF2B5EF4-FFF2-40B4-BE49-F238E27FC236}">
                <a16:creationId xmlns:a16="http://schemas.microsoft.com/office/drawing/2014/main" id="{7AA94736-6C44-2F0F-4032-3B099604549A}"/>
              </a:ext>
            </a:extLst>
          </p:cNvPr>
          <p:cNvSpPr/>
          <p:nvPr/>
        </p:nvSpPr>
        <p:spPr>
          <a:xfrm>
            <a:off x="8272272" y="3932768"/>
            <a:ext cx="3611880" cy="1417320"/>
          </a:xfrm>
          <a:prstGeom prst="roundRect">
            <a:avLst>
              <a:gd name="adj" fmla="val 5161"/>
            </a:avLst>
          </a:prstGeom>
          <a:solidFill>
            <a:srgbClr val="21295C"/>
          </a:solidFill>
          <a:ln/>
        </p:spPr>
        <p:txBody>
          <a:bodyPr/>
          <a:lstStyle/>
          <a:p>
            <a:endParaRPr lang="fr-FR">
              <a:latin typeface="Segoe UI" panose="020B0502040204020203" pitchFamily="34" charset="0"/>
              <a:cs typeface="Segoe UI" panose="020B0502040204020203" pitchFamily="34" charset="0"/>
            </a:endParaRPr>
          </a:p>
        </p:txBody>
      </p:sp>
      <p:sp>
        <p:nvSpPr>
          <p:cNvPr id="80" name="Shape 30">
            <a:extLst>
              <a:ext uri="{FF2B5EF4-FFF2-40B4-BE49-F238E27FC236}">
                <a16:creationId xmlns:a16="http://schemas.microsoft.com/office/drawing/2014/main" id="{119EA7A0-2F7C-4B06-90D3-5B6C5CEEF60D}"/>
              </a:ext>
            </a:extLst>
          </p:cNvPr>
          <p:cNvSpPr/>
          <p:nvPr/>
        </p:nvSpPr>
        <p:spPr>
          <a:xfrm>
            <a:off x="8500872" y="4133936"/>
            <a:ext cx="512064" cy="512064"/>
          </a:xfrm>
          <a:prstGeom prst="ellipse">
            <a:avLst/>
          </a:prstGeom>
          <a:solidFill>
            <a:srgbClr val="F2A516"/>
          </a:solidFill>
          <a:ln/>
        </p:spPr>
        <p:txBody>
          <a:bodyPr/>
          <a:lstStyle/>
          <a:p>
            <a:endParaRPr lang="fr-FR">
              <a:latin typeface="Segoe UI" panose="020B0502040204020203" pitchFamily="34" charset="0"/>
              <a:cs typeface="Segoe UI" panose="020B0502040204020203" pitchFamily="34" charset="0"/>
            </a:endParaRPr>
          </a:p>
        </p:txBody>
      </p:sp>
      <p:pic>
        <p:nvPicPr>
          <p:cNvPr id="81" name="Image 6" descr="preencoded.png">
            <a:extLst>
              <a:ext uri="{FF2B5EF4-FFF2-40B4-BE49-F238E27FC236}">
                <a16:creationId xmlns:a16="http://schemas.microsoft.com/office/drawing/2014/main" id="{10C9CC06-FFFB-AC2E-3F94-1DAC0208F162}"/>
              </a:ext>
            </a:extLst>
          </p:cNvPr>
          <p:cNvPicPr>
            <a:picLocks noChangeAspect="1"/>
          </p:cNvPicPr>
          <p:nvPr/>
        </p:nvPicPr>
        <p:blipFill>
          <a:blip r:embed="rId8"/>
          <a:stretch>
            <a:fillRect/>
          </a:stretch>
        </p:blipFill>
        <p:spPr>
          <a:xfrm>
            <a:off x="8623767" y="4256831"/>
            <a:ext cx="266273" cy="266273"/>
          </a:xfrm>
          <a:prstGeom prst="rect">
            <a:avLst/>
          </a:prstGeom>
        </p:spPr>
      </p:pic>
      <p:sp>
        <p:nvSpPr>
          <p:cNvPr id="82" name="Text 31">
            <a:extLst>
              <a:ext uri="{FF2B5EF4-FFF2-40B4-BE49-F238E27FC236}">
                <a16:creationId xmlns:a16="http://schemas.microsoft.com/office/drawing/2014/main" id="{84C6BF38-67F5-E110-4C5F-37A62AF9C421}"/>
              </a:ext>
            </a:extLst>
          </p:cNvPr>
          <p:cNvSpPr/>
          <p:nvPr/>
        </p:nvSpPr>
        <p:spPr>
          <a:xfrm>
            <a:off x="8500872" y="4719152"/>
            <a:ext cx="3154680" cy="320040"/>
          </a:xfrm>
          <a:prstGeom prst="rect">
            <a:avLst/>
          </a:prstGeom>
          <a:noFill/>
          <a:ln/>
        </p:spPr>
        <p:txBody>
          <a:bodyPr wrap="square" lIns="0" tIns="0" rIns="0" bIns="0" rtlCol="0" anchor="ctr"/>
          <a:lstStyle/>
          <a:p>
            <a:pPr marL="0" indent="0">
              <a:buNone/>
            </a:pPr>
            <a:r>
              <a:rPr lang="en-US" sz="1200" b="1" dirty="0">
                <a:solidFill>
                  <a:srgbClr val="FFFFFF"/>
                </a:solidFill>
                <a:latin typeface="Segoe UI" panose="020B0502040204020203" pitchFamily="34" charset="0"/>
                <a:ea typeface="Calibri" pitchFamily="34" charset="-122"/>
                <a:cs typeface="Segoe UI" panose="020B0502040204020203" pitchFamily="34" charset="0"/>
              </a:rPr>
              <a:t>Niveaux de service</a:t>
            </a:r>
            <a:endParaRPr lang="en-US" sz="1200" dirty="0">
              <a:latin typeface="Segoe UI" panose="020B0502040204020203" pitchFamily="34" charset="0"/>
              <a:cs typeface="Segoe UI" panose="020B0502040204020203" pitchFamily="34" charset="0"/>
            </a:endParaRPr>
          </a:p>
        </p:txBody>
      </p:sp>
      <p:sp>
        <p:nvSpPr>
          <p:cNvPr id="83" name="Text 32">
            <a:extLst>
              <a:ext uri="{FF2B5EF4-FFF2-40B4-BE49-F238E27FC236}">
                <a16:creationId xmlns:a16="http://schemas.microsoft.com/office/drawing/2014/main" id="{57D0A74B-2560-7BC7-7B51-627E6A08F238}"/>
              </a:ext>
            </a:extLst>
          </p:cNvPr>
          <p:cNvSpPr/>
          <p:nvPr/>
        </p:nvSpPr>
        <p:spPr>
          <a:xfrm>
            <a:off x="8500872" y="5011760"/>
            <a:ext cx="3154680" cy="320040"/>
          </a:xfrm>
          <a:prstGeom prst="rect">
            <a:avLst/>
          </a:prstGeom>
          <a:noFill/>
          <a:ln/>
        </p:spPr>
        <p:txBody>
          <a:bodyPr wrap="square" lIns="0" tIns="0" rIns="0" bIns="0" rtlCol="0" anchor="ctr"/>
          <a:lstStyle/>
          <a:p>
            <a:pPr marL="0" indent="0">
              <a:lnSpc>
                <a:spcPct val="110000"/>
              </a:lnSpc>
              <a:buNone/>
            </a:pPr>
            <a:r>
              <a:rPr lang="en-US" sz="980" dirty="0" err="1">
                <a:solidFill>
                  <a:srgbClr val="CADCFC"/>
                </a:solidFill>
                <a:latin typeface="Segoe UI" panose="020B0502040204020203" pitchFamily="34" charset="0"/>
                <a:ea typeface="Calibri" pitchFamily="34" charset="-122"/>
                <a:cs typeface="Segoe UI" panose="020B0502040204020203" pitchFamily="34" charset="0"/>
              </a:rPr>
              <a:t>Niveaux</a:t>
            </a:r>
            <a:r>
              <a:rPr lang="en-US" sz="980" dirty="0">
                <a:solidFill>
                  <a:srgbClr val="CADCFC"/>
                </a:solidFill>
                <a:latin typeface="Segoe UI" panose="020B0502040204020203" pitchFamily="34" charset="0"/>
                <a:ea typeface="Calibri" pitchFamily="34" charset="-122"/>
                <a:cs typeface="Segoe UI" panose="020B0502040204020203" pitchFamily="34" charset="0"/>
              </a:rPr>
              <a:t> de service différenciés selon le mode d'exposition : synchrone, asynchrone, activité humaine.</a:t>
            </a:r>
            <a:endParaRPr lang="en-US" sz="980" dirty="0">
              <a:latin typeface="Segoe UI" panose="020B0502040204020203" pitchFamily="34" charset="0"/>
              <a:cs typeface="Segoe UI" panose="020B0502040204020203" pitchFamily="34" charset="0"/>
            </a:endParaRPr>
          </a:p>
        </p:txBody>
      </p:sp>
      <p:sp>
        <p:nvSpPr>
          <p:cNvPr id="85" name="Rounded Rectangle 41">
            <a:extLst>
              <a:ext uri="{FF2B5EF4-FFF2-40B4-BE49-F238E27FC236}">
                <a16:creationId xmlns:a16="http://schemas.microsoft.com/office/drawing/2014/main" id="{835EDEA8-01E3-5972-B392-5C205DE8328B}"/>
              </a:ext>
            </a:extLst>
          </p:cNvPr>
          <p:cNvSpPr/>
          <p:nvPr/>
        </p:nvSpPr>
        <p:spPr>
          <a:xfrm>
            <a:off x="591312" y="5410967"/>
            <a:ext cx="11292840" cy="718901"/>
          </a:xfrm>
          <a:prstGeom prst="roundRect">
            <a:avLst>
              <a:gd name="adj" fmla="val 7000"/>
            </a:avLst>
          </a:prstGeom>
          <a:solidFill>
            <a:srgbClr val="CFE3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Segoe UI" panose="020B0502040204020203" pitchFamily="34" charset="0"/>
              <a:cs typeface="Segoe UI" panose="020B0502040204020203" pitchFamily="34" charset="0"/>
            </a:endParaRPr>
          </a:p>
        </p:txBody>
      </p:sp>
      <p:sp>
        <p:nvSpPr>
          <p:cNvPr id="86" name="TextBox 42">
            <a:extLst>
              <a:ext uri="{FF2B5EF4-FFF2-40B4-BE49-F238E27FC236}">
                <a16:creationId xmlns:a16="http://schemas.microsoft.com/office/drawing/2014/main" id="{7B30A497-F8E4-D688-FE8C-1B0230C89BAD}"/>
              </a:ext>
            </a:extLst>
          </p:cNvPr>
          <p:cNvSpPr txBox="1"/>
          <p:nvPr/>
        </p:nvSpPr>
        <p:spPr>
          <a:xfrm>
            <a:off x="847344" y="5431579"/>
            <a:ext cx="10853928" cy="543995"/>
          </a:xfrm>
          <a:prstGeom prst="rect">
            <a:avLst/>
          </a:prstGeom>
          <a:noFill/>
        </p:spPr>
        <p:txBody>
          <a:bodyPr wrap="square" lIns="0" tIns="0" rIns="0" bIns="0" anchor="ctr">
            <a:spAutoFit/>
          </a:bodyPr>
          <a:lstStyle/>
          <a:p>
            <a:pPr algn="l">
              <a:lnSpc>
                <a:spcPct val="110000"/>
              </a:lnSpc>
            </a:pPr>
            <a:r>
              <a:rPr sz="1100" b="1" i="0" dirty="0">
                <a:solidFill>
                  <a:srgbClr val="21295C"/>
                </a:solidFill>
                <a:latin typeface="Segoe UI" panose="020B0502040204020203" pitchFamily="34" charset="0"/>
                <a:cs typeface="Segoe UI" panose="020B0502040204020203" pitchFamily="34" charset="0"/>
              </a:rPr>
              <a:t>Structure </a:t>
            </a:r>
            <a:r>
              <a:rPr sz="1100" b="1" i="0" dirty="0" err="1">
                <a:solidFill>
                  <a:srgbClr val="21295C"/>
                </a:solidFill>
                <a:latin typeface="Segoe UI" panose="020B0502040204020203" pitchFamily="34" charset="0"/>
                <a:cs typeface="Segoe UI" panose="020B0502040204020203" pitchFamily="34" charset="0"/>
              </a:rPr>
              <a:t>conforme</a:t>
            </a:r>
            <a:r>
              <a:rPr sz="1100" b="1" i="0" dirty="0">
                <a:solidFill>
                  <a:srgbClr val="21295C"/>
                </a:solidFill>
                <a:latin typeface="Segoe UI" panose="020B0502040204020203" pitchFamily="34" charset="0"/>
                <a:cs typeface="Segoe UI" panose="020B0502040204020203" pitchFamily="34" charset="0"/>
              </a:rPr>
              <a:t> aux pratiques du </a:t>
            </a:r>
            <a:r>
              <a:rPr sz="1100" b="1" i="0" dirty="0" err="1">
                <a:solidFill>
                  <a:srgbClr val="21295C"/>
                </a:solidFill>
                <a:latin typeface="Segoe UI" panose="020B0502040204020203" pitchFamily="34" charset="0"/>
                <a:cs typeface="Segoe UI" panose="020B0502040204020203" pitchFamily="34" charset="0"/>
              </a:rPr>
              <a:t>marché</a:t>
            </a:r>
            <a:r>
              <a:rPr sz="1100" b="1" i="0" dirty="0">
                <a:solidFill>
                  <a:srgbClr val="21295C"/>
                </a:solidFill>
                <a:latin typeface="Segoe UI" panose="020B0502040204020203" pitchFamily="34" charset="0"/>
                <a:cs typeface="Segoe UI" panose="020B0502040204020203" pitchFamily="34" charset="0"/>
              </a:rPr>
              <a:t> : </a:t>
            </a:r>
            <a:r>
              <a:rPr sz="1100" b="0" i="0" dirty="0" err="1">
                <a:solidFill>
                  <a:srgbClr val="21295C"/>
                </a:solidFill>
                <a:latin typeface="Segoe UI" panose="020B0502040204020203" pitchFamily="34" charset="0"/>
                <a:cs typeface="Segoe UI" panose="020B0502040204020203" pitchFamily="34" charset="0"/>
              </a:rPr>
              <a:t>briques</a:t>
            </a:r>
            <a:r>
              <a:rPr sz="1100" b="0" i="0" dirty="0">
                <a:solidFill>
                  <a:srgbClr val="21295C"/>
                </a:solidFill>
                <a:latin typeface="Segoe UI" panose="020B0502040204020203" pitchFamily="34" charset="0"/>
                <a:cs typeface="Segoe UI" panose="020B0502040204020203" pitchFamily="34" charset="0"/>
              </a:rPr>
              <a:t> </a:t>
            </a:r>
            <a:r>
              <a:rPr sz="1100" b="0" i="0" dirty="0" err="1">
                <a:solidFill>
                  <a:srgbClr val="21295C"/>
                </a:solidFill>
                <a:latin typeface="Segoe UI" panose="020B0502040204020203" pitchFamily="34" charset="0"/>
                <a:cs typeface="Segoe UI" panose="020B0502040204020203" pitchFamily="34" charset="0"/>
              </a:rPr>
              <a:t>classiques</a:t>
            </a:r>
            <a:r>
              <a:rPr sz="1100" b="0" i="0" dirty="0">
                <a:solidFill>
                  <a:srgbClr val="21295C"/>
                </a:solidFill>
                <a:latin typeface="Segoe UI" panose="020B0502040204020203" pitchFamily="34" charset="0"/>
                <a:cs typeface="Segoe UI" panose="020B0502040204020203" pitchFamily="34" charset="0"/>
              </a:rPr>
              <a:t> </a:t>
            </a:r>
            <a:r>
              <a:rPr sz="1100" b="0" i="0" dirty="0" err="1">
                <a:solidFill>
                  <a:srgbClr val="21295C"/>
                </a:solidFill>
                <a:latin typeface="Segoe UI" panose="020B0502040204020203" pitchFamily="34" charset="0"/>
                <a:cs typeface="Segoe UI" panose="020B0502040204020203" pitchFamily="34" charset="0"/>
              </a:rPr>
              <a:t>d'API</a:t>
            </a:r>
            <a:r>
              <a:rPr sz="1100" b="0" i="0" dirty="0">
                <a:solidFill>
                  <a:srgbClr val="21295C"/>
                </a:solidFill>
                <a:latin typeface="Segoe UI" panose="020B0502040204020203" pitchFamily="34" charset="0"/>
                <a:cs typeface="Segoe UI" panose="020B0502040204020203" pitchFamily="34" charset="0"/>
              </a:rPr>
              <a:t> Management, </a:t>
            </a:r>
            <a:r>
              <a:rPr sz="1100" b="0" i="0" dirty="0" err="1">
                <a:solidFill>
                  <a:srgbClr val="21295C"/>
                </a:solidFill>
                <a:latin typeface="Segoe UI" panose="020B0502040204020203" pitchFamily="34" charset="0"/>
                <a:cs typeface="Segoe UI" panose="020B0502040204020203" pitchFamily="34" charset="0"/>
              </a:rPr>
              <a:t>complétées</a:t>
            </a:r>
            <a:r>
              <a:rPr sz="1100" b="0" i="0" dirty="0">
                <a:solidFill>
                  <a:srgbClr val="21295C"/>
                </a:solidFill>
                <a:latin typeface="Segoe UI" panose="020B0502040204020203" pitchFamily="34" charset="0"/>
                <a:cs typeface="Segoe UI" panose="020B0502040204020203" pitchFamily="34" charset="0"/>
              </a:rPr>
              <a:t> par les usages des </a:t>
            </a:r>
            <a:r>
              <a:rPr sz="1100" b="0" i="0" dirty="0" err="1">
                <a:solidFill>
                  <a:srgbClr val="21295C"/>
                </a:solidFill>
                <a:latin typeface="Segoe UI" panose="020B0502040204020203" pitchFamily="34" charset="0"/>
                <a:cs typeface="Segoe UI" panose="020B0502040204020203" pitchFamily="34" charset="0"/>
              </a:rPr>
              <a:t>portails</a:t>
            </a:r>
            <a:r>
              <a:rPr sz="1100" b="0" i="0" dirty="0">
                <a:solidFill>
                  <a:srgbClr val="21295C"/>
                </a:solidFill>
                <a:latin typeface="Segoe UI" panose="020B0502040204020203" pitchFamily="34" charset="0"/>
                <a:cs typeface="Segoe UI" panose="020B0502040204020203" pitchFamily="34" charset="0"/>
              </a:rPr>
              <a:t> de </a:t>
            </a:r>
            <a:r>
              <a:rPr sz="1100" b="0" i="0" dirty="0" err="1">
                <a:solidFill>
                  <a:srgbClr val="21295C"/>
                </a:solidFill>
                <a:latin typeface="Segoe UI" panose="020B0502040204020203" pitchFamily="34" charset="0"/>
                <a:cs typeface="Segoe UI" panose="020B0502040204020203" pitchFamily="34" charset="0"/>
              </a:rPr>
              <a:t>modèles</a:t>
            </a:r>
            <a:r>
              <a:rPr sz="1100" b="0" i="0" dirty="0">
                <a:solidFill>
                  <a:srgbClr val="21295C"/>
                </a:solidFill>
                <a:latin typeface="Segoe UI" panose="020B0502040204020203" pitchFamily="34" charset="0"/>
                <a:cs typeface="Segoe UI" panose="020B0502040204020203" pitchFamily="34" charset="0"/>
              </a:rPr>
              <a:t> (</a:t>
            </a:r>
            <a:r>
              <a:rPr sz="1100" b="0" i="0" dirty="0" err="1">
                <a:solidFill>
                  <a:srgbClr val="21295C"/>
                </a:solidFill>
                <a:latin typeface="Segoe UI" panose="020B0502040204020203" pitchFamily="34" charset="0"/>
                <a:cs typeface="Segoe UI" panose="020B0502040204020203" pitchFamily="34" charset="0"/>
              </a:rPr>
              <a:t>fournisseurs</a:t>
            </a:r>
            <a:r>
              <a:rPr sz="1100" b="0" i="0" dirty="0">
                <a:solidFill>
                  <a:srgbClr val="21295C"/>
                </a:solidFill>
                <a:latin typeface="Segoe UI" panose="020B0502040204020203" pitchFamily="34" charset="0"/>
                <a:cs typeface="Segoe UI" panose="020B0502040204020203" pitchFamily="34" charset="0"/>
              </a:rPr>
              <a:t> Cloud, Hugging Face) et </a:t>
            </a:r>
            <a:r>
              <a:rPr sz="1100" b="1" i="0" dirty="0">
                <a:latin typeface="Segoe UI" panose="020B0502040204020203" pitchFamily="34" charset="0"/>
                <a:cs typeface="Segoe UI" panose="020B0502040204020203" pitchFamily="34" charset="0"/>
              </a:rPr>
              <a:t>les </a:t>
            </a:r>
            <a:r>
              <a:rPr sz="1100" b="1" i="0" dirty="0" err="1">
                <a:latin typeface="Segoe UI" panose="020B0502040204020203" pitchFamily="34" charset="0"/>
                <a:cs typeface="Segoe UI" panose="020B0502040204020203" pitchFamily="34" charset="0"/>
              </a:rPr>
              <a:t>briques</a:t>
            </a:r>
            <a:r>
              <a:rPr sz="1100" b="1" i="0" dirty="0">
                <a:latin typeface="Segoe UI" panose="020B0502040204020203" pitchFamily="34" charset="0"/>
                <a:cs typeface="Segoe UI" panose="020B0502040204020203" pitchFamily="34" charset="0"/>
              </a:rPr>
              <a:t> communes avec la CF.</a:t>
            </a:r>
            <a:endParaRPr lang="fr-FR" sz="1100" b="1" i="0" dirty="0">
              <a:latin typeface="Segoe UI" panose="020B0502040204020203" pitchFamily="34" charset="0"/>
              <a:cs typeface="Segoe UI" panose="020B0502040204020203" pitchFamily="34" charset="0"/>
            </a:endParaRPr>
          </a:p>
          <a:p>
            <a:pPr algn="l">
              <a:lnSpc>
                <a:spcPct val="110000"/>
              </a:lnSpc>
            </a:pPr>
            <a:r>
              <a:rPr lang="fr-FR" sz="1100" b="1" dirty="0">
                <a:latin typeface="Segoe UI" panose="020B0502040204020203" pitchFamily="34" charset="0"/>
                <a:cs typeface="Segoe UI" panose="020B0502040204020203" pitchFamily="34" charset="0"/>
              </a:rPr>
              <a:t>Dans le cadrage de ce sous-sujet, il faudra définir ce qui est commun et ce qui devra être dissocié avec IADEV</a:t>
            </a:r>
            <a:endParaRPr sz="1100" b="1" i="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60125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274B9-FC80-6C89-586C-9429A2E585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DE853AA-40D3-E653-9F3D-DDB7646F277E}"/>
              </a:ext>
            </a:extLst>
          </p:cNvPr>
          <p:cNvSpPr>
            <a:spLocks noGrp="1"/>
          </p:cNvSpPr>
          <p:nvPr>
            <p:ph type="title"/>
          </p:nvPr>
        </p:nvSpPr>
        <p:spPr/>
        <p:txBody>
          <a:bodyPr/>
          <a:lstStyle/>
          <a:p>
            <a:r>
              <a:rPr lang="fr-FR" dirty="0"/>
              <a:t>Macro-planning</a:t>
            </a:r>
          </a:p>
        </p:txBody>
      </p:sp>
      <p:sp>
        <p:nvSpPr>
          <p:cNvPr id="4" name="TextBox 3"/>
          <p:cNvSpPr txBox="1"/>
          <p:nvPr/>
        </p:nvSpPr>
        <p:spPr>
          <a:xfrm>
            <a:off x="457200" y="841248"/>
            <a:ext cx="10515600" cy="200055"/>
          </a:xfrm>
          <a:prstGeom prst="rect">
            <a:avLst/>
          </a:prstGeom>
          <a:noFill/>
        </p:spPr>
        <p:txBody>
          <a:bodyPr wrap="square" lIns="0" tIns="0" rIns="0" bIns="0" anchor="t">
            <a:spAutoFit/>
          </a:bodyPr>
          <a:lstStyle/>
          <a:p>
            <a:pPr algn="l"/>
            <a:r>
              <a:rPr sz="1300" b="1" i="0" dirty="0">
                <a:solidFill>
                  <a:srgbClr val="0C4392"/>
                </a:solidFill>
                <a:latin typeface="Segoe UI"/>
              </a:rPr>
              <a:t>Quatre </a:t>
            </a:r>
            <a:r>
              <a:rPr sz="1300" b="1" i="0" dirty="0" err="1">
                <a:solidFill>
                  <a:srgbClr val="0C4392"/>
                </a:solidFill>
                <a:latin typeface="Segoe UI"/>
              </a:rPr>
              <a:t>chantiers</a:t>
            </a:r>
            <a:r>
              <a:rPr sz="1300" b="1" i="0" dirty="0">
                <a:solidFill>
                  <a:srgbClr val="0C4392"/>
                </a:solidFill>
                <a:latin typeface="Segoe UI"/>
              </a:rPr>
              <a:t>, un </a:t>
            </a:r>
            <a:r>
              <a:rPr sz="1300" b="1" i="0" dirty="0" err="1">
                <a:solidFill>
                  <a:srgbClr val="0C4392"/>
                </a:solidFill>
                <a:latin typeface="Segoe UI"/>
              </a:rPr>
              <a:t>déroulé</a:t>
            </a:r>
            <a:r>
              <a:rPr sz="1300" b="1" i="0" dirty="0">
                <a:solidFill>
                  <a:srgbClr val="0C4392"/>
                </a:solidFill>
                <a:latin typeface="Segoe UI"/>
              </a:rPr>
              <a:t> </a:t>
            </a:r>
            <a:r>
              <a:rPr sz="1300" b="1" i="0" dirty="0" err="1">
                <a:solidFill>
                  <a:srgbClr val="0C4392"/>
                </a:solidFill>
                <a:latin typeface="Segoe UI"/>
              </a:rPr>
              <a:t>séquentiel</a:t>
            </a:r>
            <a:r>
              <a:rPr sz="1300" b="1" i="0" dirty="0">
                <a:solidFill>
                  <a:srgbClr val="0C4392"/>
                </a:solidFill>
                <a:latin typeface="Segoe UI"/>
              </a:rPr>
              <a:t> au sein de </a:t>
            </a:r>
            <a:r>
              <a:rPr lang="fr-FR" sz="1300" b="1" i="0" dirty="0">
                <a:solidFill>
                  <a:srgbClr val="0C4392"/>
                </a:solidFill>
                <a:latin typeface="Segoe UI"/>
              </a:rPr>
              <a:t>chaque équipe</a:t>
            </a:r>
            <a:r>
              <a:rPr sz="1300" b="1" i="0" dirty="0">
                <a:solidFill>
                  <a:srgbClr val="0C4392"/>
                </a:solidFill>
                <a:latin typeface="Segoe UI"/>
              </a:rPr>
              <a:t>, </a:t>
            </a:r>
          </a:p>
        </p:txBody>
      </p:sp>
      <p:sp>
        <p:nvSpPr>
          <p:cNvPr id="5" name="Rounded Rectangle 4"/>
          <p:cNvSpPr/>
          <p:nvPr/>
        </p:nvSpPr>
        <p:spPr>
          <a:xfrm>
            <a:off x="457200" y="1417320"/>
            <a:ext cx="2286000" cy="1188720"/>
          </a:xfrm>
          <a:prstGeom prst="roundRect">
            <a:avLst>
              <a:gd name="adj" fmla="val 8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3504" y="1508760"/>
            <a:ext cx="274320" cy="274320"/>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FFFFFF"/>
                </a:solidFill>
                <a:latin typeface="Calibri"/>
              </a:rPr>
              <a:t>01</a:t>
            </a:r>
          </a:p>
        </p:txBody>
      </p:sp>
      <p:sp>
        <p:nvSpPr>
          <p:cNvPr id="7" name="TextBox 6"/>
          <p:cNvSpPr txBox="1"/>
          <p:nvPr/>
        </p:nvSpPr>
        <p:spPr>
          <a:xfrm>
            <a:off x="969264" y="1508760"/>
            <a:ext cx="1627632" cy="274320"/>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Calibri"/>
              </a:rPr>
              <a:t>Le catalogue</a:t>
            </a:r>
          </a:p>
        </p:txBody>
      </p:sp>
      <p:sp>
        <p:nvSpPr>
          <p:cNvPr id="8" name="TextBox 7"/>
          <p:cNvSpPr txBox="1"/>
          <p:nvPr/>
        </p:nvSpPr>
        <p:spPr>
          <a:xfrm>
            <a:off x="603504" y="1847088"/>
            <a:ext cx="1993392" cy="415498"/>
          </a:xfrm>
          <a:prstGeom prst="rect">
            <a:avLst/>
          </a:prstGeom>
          <a:noFill/>
        </p:spPr>
        <p:txBody>
          <a:bodyPr wrap="square" lIns="0" tIns="0" rIns="0" bIns="0" anchor="t">
            <a:spAutoFit/>
          </a:bodyPr>
          <a:lstStyle/>
          <a:p>
            <a:pPr algn="l">
              <a:lnSpc>
                <a:spcPct val="100000"/>
              </a:lnSpc>
            </a:pPr>
            <a:r>
              <a:rPr lang="fr-FR" sz="900" b="0" i="1" dirty="0">
                <a:solidFill>
                  <a:srgbClr val="FFFFFF"/>
                </a:solidFill>
                <a:latin typeface="Calibri"/>
              </a:rPr>
              <a:t>Fiche descriptif de service, contrat d'interface, documentation fonctionnelle &amp; technique</a:t>
            </a:r>
          </a:p>
        </p:txBody>
      </p:sp>
      <p:sp>
        <p:nvSpPr>
          <p:cNvPr id="9" name="TextBox 8"/>
          <p:cNvSpPr txBox="1"/>
          <p:nvPr/>
        </p:nvSpPr>
        <p:spPr>
          <a:xfrm>
            <a:off x="603504" y="2327148"/>
            <a:ext cx="1993392" cy="261610"/>
          </a:xfrm>
          <a:prstGeom prst="rect">
            <a:avLst/>
          </a:prstGeom>
          <a:noFill/>
        </p:spPr>
        <p:txBody>
          <a:bodyPr wrap="square" lIns="0" tIns="0" rIns="0" bIns="0" anchor="t">
            <a:spAutoFit/>
          </a:bodyPr>
          <a:lstStyle/>
          <a:p>
            <a:pPr algn="l">
              <a:lnSpc>
                <a:spcPct val="100000"/>
              </a:lnSpc>
            </a:pPr>
            <a:r>
              <a:rPr sz="850" b="1" i="0" dirty="0" err="1">
                <a:solidFill>
                  <a:srgbClr val="FFFFFF"/>
                </a:solidFill>
                <a:latin typeface="Calibri"/>
              </a:rPr>
              <a:t>Responsable</a:t>
            </a:r>
            <a:r>
              <a:rPr sz="850" b="1" i="0" dirty="0">
                <a:solidFill>
                  <a:srgbClr val="FFFFFF"/>
                </a:solidFill>
                <a:latin typeface="Calibri"/>
              </a:rPr>
              <a:t> : H510</a:t>
            </a:r>
            <a:r>
              <a:rPr lang="fr-FR" sz="850" b="1" i="0" dirty="0">
                <a:solidFill>
                  <a:srgbClr val="FFFFFF"/>
                </a:solidFill>
                <a:latin typeface="Calibri"/>
              </a:rPr>
              <a:t>. Se coordonne avec les équipes </a:t>
            </a:r>
            <a:r>
              <a:rPr lang="fr-FR" sz="850" b="1" i="0" dirty="0" err="1">
                <a:solidFill>
                  <a:srgbClr val="FFFFFF"/>
                </a:solidFill>
                <a:latin typeface="Calibri"/>
              </a:rPr>
              <a:t>owner</a:t>
            </a:r>
            <a:r>
              <a:rPr lang="fr-FR" sz="850" b="1" i="0" dirty="0">
                <a:solidFill>
                  <a:srgbClr val="FFFFFF"/>
                </a:solidFill>
                <a:latin typeface="Calibri"/>
              </a:rPr>
              <a:t> du service</a:t>
            </a:r>
            <a:endParaRPr sz="850" b="1" i="0" dirty="0">
              <a:solidFill>
                <a:srgbClr val="FFFFFF"/>
              </a:solidFill>
              <a:latin typeface="Calibri"/>
            </a:endParaRPr>
          </a:p>
        </p:txBody>
      </p:sp>
      <p:sp>
        <p:nvSpPr>
          <p:cNvPr id="10" name="Rectangle 9"/>
          <p:cNvSpPr/>
          <p:nvPr/>
        </p:nvSpPr>
        <p:spPr>
          <a:xfrm>
            <a:off x="2880360" y="1417320"/>
            <a:ext cx="2694432" cy="118872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00" dirty="0">
                <a:solidFill>
                  <a:srgbClr val="003A8D"/>
                </a:solidFill>
                <a:latin typeface="Calibri"/>
              </a:rPr>
              <a:t>Services</a:t>
            </a:r>
            <a:r>
              <a:rPr lang="fr-FR" sz="1100" dirty="0">
                <a:solidFill>
                  <a:srgbClr val="003A8D"/>
                </a:solidFill>
                <a:latin typeface="Calibri"/>
              </a:rPr>
              <a:t> unitaires</a:t>
            </a:r>
            <a:r>
              <a:rPr sz="1100" dirty="0">
                <a:solidFill>
                  <a:srgbClr val="003A8D"/>
                </a:solidFill>
                <a:latin typeface="Calibri"/>
              </a:rPr>
              <a:t> </a:t>
            </a:r>
            <a:r>
              <a:rPr sz="1100" dirty="0" err="1">
                <a:solidFill>
                  <a:srgbClr val="003A8D"/>
                </a:solidFill>
                <a:latin typeface="Calibri"/>
              </a:rPr>
              <a:t>APIsés</a:t>
            </a:r>
            <a:r>
              <a:rPr sz="1100" dirty="0">
                <a:solidFill>
                  <a:srgbClr val="003A8D"/>
                </a:solidFill>
                <a:latin typeface="Calibri"/>
              </a:rPr>
              <a:t> </a:t>
            </a:r>
            <a:r>
              <a:rPr sz="1100" dirty="0" err="1">
                <a:solidFill>
                  <a:srgbClr val="003A8D"/>
                </a:solidFill>
                <a:latin typeface="Calibri"/>
              </a:rPr>
              <a:t>existants</a:t>
            </a:r>
            <a:endParaRPr sz="1100" dirty="0">
              <a:solidFill>
                <a:srgbClr val="003A8D"/>
              </a:solidFill>
              <a:latin typeface="Calibri"/>
            </a:endParaRPr>
          </a:p>
        </p:txBody>
      </p:sp>
      <p:sp>
        <p:nvSpPr>
          <p:cNvPr id="11" name="Rounded Rectangle 10"/>
          <p:cNvSpPr/>
          <p:nvPr/>
        </p:nvSpPr>
        <p:spPr>
          <a:xfrm>
            <a:off x="2834640" y="1388183"/>
            <a:ext cx="342618" cy="338328"/>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P1</a:t>
            </a:r>
            <a:endParaRPr sz="1050" b="1" dirty="0">
              <a:solidFill>
                <a:srgbClr val="FFFFFF"/>
              </a:solidFill>
              <a:latin typeface="Calibri"/>
            </a:endParaRPr>
          </a:p>
        </p:txBody>
      </p:sp>
      <p:cxnSp>
        <p:nvCxnSpPr>
          <p:cNvPr id="12" name="Connector 11"/>
          <p:cNvCxnSpPr/>
          <p:nvPr/>
        </p:nvCxnSpPr>
        <p:spPr>
          <a:xfrm>
            <a:off x="5620512" y="2011680"/>
            <a:ext cx="292608" cy="0"/>
          </a:xfrm>
          <a:prstGeom prst="line">
            <a:avLst/>
          </a:prstGeom>
          <a:ln w="1905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958840" y="1417320"/>
            <a:ext cx="2694432" cy="118872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00" dirty="0">
                <a:solidFill>
                  <a:srgbClr val="003A8D"/>
                </a:solidFill>
                <a:latin typeface="Calibri"/>
              </a:rPr>
              <a:t>Services </a:t>
            </a:r>
            <a:r>
              <a:rPr lang="fr-FR" sz="1100" dirty="0">
                <a:solidFill>
                  <a:srgbClr val="003A8D"/>
                </a:solidFill>
                <a:latin typeface="Calibri"/>
              </a:rPr>
              <a:t>unitaires </a:t>
            </a:r>
            <a:r>
              <a:rPr sz="1100" dirty="0">
                <a:solidFill>
                  <a:srgbClr val="003A8D"/>
                </a:solidFill>
                <a:latin typeface="Calibri"/>
              </a:rPr>
              <a:t>non </a:t>
            </a:r>
            <a:r>
              <a:rPr sz="1100" dirty="0" err="1">
                <a:solidFill>
                  <a:srgbClr val="003A8D"/>
                </a:solidFill>
                <a:latin typeface="Calibri"/>
              </a:rPr>
              <a:t>APIsés</a:t>
            </a:r>
            <a:r>
              <a:rPr sz="1100" dirty="0">
                <a:solidFill>
                  <a:srgbClr val="003A8D"/>
                </a:solidFill>
                <a:latin typeface="Calibri"/>
              </a:rPr>
              <a:t> </a:t>
            </a:r>
            <a:r>
              <a:rPr sz="1100" dirty="0" err="1">
                <a:solidFill>
                  <a:srgbClr val="003A8D"/>
                </a:solidFill>
                <a:latin typeface="Calibri"/>
              </a:rPr>
              <a:t>actuellement</a:t>
            </a:r>
            <a:endParaRPr sz="1100" dirty="0">
              <a:solidFill>
                <a:srgbClr val="003A8D"/>
              </a:solidFill>
              <a:latin typeface="Calibri"/>
            </a:endParaRPr>
          </a:p>
        </p:txBody>
      </p:sp>
      <p:sp>
        <p:nvSpPr>
          <p:cNvPr id="14" name="Rounded Rectangle 13"/>
          <p:cNvSpPr/>
          <p:nvPr/>
        </p:nvSpPr>
        <p:spPr>
          <a:xfrm>
            <a:off x="5913120" y="1399032"/>
            <a:ext cx="342618" cy="338328"/>
          </a:xfrm>
          <a:prstGeom prst="roundRect">
            <a:avLst>
              <a:gd name="adj" fmla="val 35000"/>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a:t>
            </a:r>
            <a:r>
              <a:rPr sz="1050" b="1" dirty="0">
                <a:solidFill>
                  <a:srgbClr val="FFFFFF"/>
                </a:solidFill>
                <a:latin typeface="Calibri"/>
              </a:rPr>
              <a:t>2</a:t>
            </a:r>
          </a:p>
        </p:txBody>
      </p:sp>
      <p:cxnSp>
        <p:nvCxnSpPr>
          <p:cNvPr id="15" name="Connector 14"/>
          <p:cNvCxnSpPr/>
          <p:nvPr/>
        </p:nvCxnSpPr>
        <p:spPr>
          <a:xfrm>
            <a:off x="8698992" y="2011680"/>
            <a:ext cx="292607" cy="0"/>
          </a:xfrm>
          <a:prstGeom prst="line">
            <a:avLst/>
          </a:prstGeom>
          <a:ln w="1905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037320" y="1417320"/>
            <a:ext cx="2694432" cy="118872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100" dirty="0">
                <a:solidFill>
                  <a:srgbClr val="003A8D"/>
                </a:solidFill>
                <a:latin typeface="Calibri"/>
              </a:rPr>
              <a:t>Service </a:t>
            </a:r>
            <a:r>
              <a:rPr sz="1100" dirty="0">
                <a:solidFill>
                  <a:srgbClr val="003A8D"/>
                </a:solidFill>
                <a:latin typeface="Calibri"/>
              </a:rPr>
              <a:t>Cas </a:t>
            </a:r>
            <a:r>
              <a:rPr sz="1100" dirty="0" err="1">
                <a:solidFill>
                  <a:srgbClr val="003A8D"/>
                </a:solidFill>
                <a:latin typeface="Calibri"/>
              </a:rPr>
              <a:t>d'usages</a:t>
            </a:r>
            <a:r>
              <a:rPr sz="1100" dirty="0">
                <a:solidFill>
                  <a:srgbClr val="003A8D"/>
                </a:solidFill>
                <a:latin typeface="Calibri"/>
              </a:rPr>
              <a:t> </a:t>
            </a:r>
            <a:endParaRPr lang="fr-FR" sz="1100" dirty="0">
              <a:solidFill>
                <a:srgbClr val="003A8D"/>
              </a:solidFill>
              <a:latin typeface="Calibri"/>
            </a:endParaRPr>
          </a:p>
          <a:p>
            <a:pPr algn="ctr"/>
            <a:r>
              <a:rPr lang="fr-FR" sz="1100" dirty="0">
                <a:solidFill>
                  <a:srgbClr val="003A8D"/>
                </a:solidFill>
                <a:latin typeface="Calibri"/>
              </a:rPr>
              <a:t>Solutions </a:t>
            </a:r>
            <a:r>
              <a:rPr sz="1100" dirty="0">
                <a:solidFill>
                  <a:srgbClr val="003A8D"/>
                </a:solidFill>
                <a:latin typeface="Calibri"/>
              </a:rPr>
              <a:t>standard</a:t>
            </a:r>
            <a:r>
              <a:rPr lang="fr-FR" sz="1100" dirty="0">
                <a:solidFill>
                  <a:srgbClr val="003A8D"/>
                </a:solidFill>
                <a:latin typeface="Calibri"/>
              </a:rPr>
              <a:t>s</a:t>
            </a:r>
            <a:endParaRPr sz="1100" dirty="0">
              <a:solidFill>
                <a:srgbClr val="003A8D"/>
              </a:solidFill>
              <a:latin typeface="Calibri"/>
            </a:endParaRPr>
          </a:p>
        </p:txBody>
      </p:sp>
      <p:sp>
        <p:nvSpPr>
          <p:cNvPr id="17" name="Rounded Rectangle 16"/>
          <p:cNvSpPr/>
          <p:nvPr/>
        </p:nvSpPr>
        <p:spPr>
          <a:xfrm>
            <a:off x="9128760" y="1508760"/>
            <a:ext cx="342618" cy="338328"/>
          </a:xfrm>
          <a:prstGeom prst="roundRect">
            <a:avLst>
              <a:gd name="adj" fmla="val 35000"/>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a:t>
            </a:r>
            <a:r>
              <a:rPr sz="1050" b="1" dirty="0">
                <a:solidFill>
                  <a:srgbClr val="FFFFFF"/>
                </a:solidFill>
                <a:latin typeface="Calibri"/>
              </a:rPr>
              <a:t>3</a:t>
            </a:r>
          </a:p>
        </p:txBody>
      </p:sp>
      <p:sp>
        <p:nvSpPr>
          <p:cNvPr id="18" name="Rounded Rectangle 17"/>
          <p:cNvSpPr/>
          <p:nvPr/>
        </p:nvSpPr>
        <p:spPr>
          <a:xfrm>
            <a:off x="457200" y="2880360"/>
            <a:ext cx="2286000" cy="914400"/>
          </a:xfrm>
          <a:prstGeom prst="roundRect">
            <a:avLst>
              <a:gd name="adj" fmla="val 8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03504" y="2971800"/>
            <a:ext cx="274320" cy="274320"/>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FFFFFF"/>
                </a:solidFill>
                <a:latin typeface="Calibri"/>
              </a:rPr>
              <a:t>02</a:t>
            </a:r>
          </a:p>
        </p:txBody>
      </p:sp>
      <p:sp>
        <p:nvSpPr>
          <p:cNvPr id="20" name="TextBox 19"/>
          <p:cNvSpPr txBox="1"/>
          <p:nvPr/>
        </p:nvSpPr>
        <p:spPr>
          <a:xfrm>
            <a:off x="969264" y="2971800"/>
            <a:ext cx="1627632" cy="274320"/>
          </a:xfrm>
          <a:prstGeom prst="rect">
            <a:avLst/>
          </a:prstGeom>
          <a:noFill/>
        </p:spPr>
        <p:txBody>
          <a:bodyPr wrap="square" lIns="0" tIns="0" rIns="0" bIns="0" anchor="t">
            <a:spAutoFit/>
          </a:bodyPr>
          <a:lstStyle/>
          <a:p>
            <a:pPr algn="l">
              <a:lnSpc>
                <a:spcPct val="100000"/>
              </a:lnSpc>
            </a:pPr>
            <a:r>
              <a:rPr sz="1200" b="1" i="0" dirty="0" err="1">
                <a:solidFill>
                  <a:srgbClr val="FFFFFF"/>
                </a:solidFill>
                <a:latin typeface="Calibri"/>
              </a:rPr>
              <a:t>L'APIsation</a:t>
            </a:r>
            <a:endParaRPr sz="1200" b="1" i="0" dirty="0">
              <a:solidFill>
                <a:srgbClr val="FFFFFF"/>
              </a:solidFill>
              <a:latin typeface="Calibri"/>
            </a:endParaRPr>
          </a:p>
        </p:txBody>
      </p:sp>
      <p:sp>
        <p:nvSpPr>
          <p:cNvPr id="21" name="TextBox 20"/>
          <p:cNvSpPr txBox="1"/>
          <p:nvPr/>
        </p:nvSpPr>
        <p:spPr>
          <a:xfrm>
            <a:off x="603504" y="3310127"/>
            <a:ext cx="1993392" cy="187452"/>
          </a:xfrm>
          <a:prstGeom prst="rect">
            <a:avLst/>
          </a:prstGeom>
          <a:noFill/>
        </p:spPr>
        <p:txBody>
          <a:bodyPr wrap="square" lIns="0" tIns="0" rIns="0" bIns="0" anchor="t">
            <a:spAutoFit/>
          </a:bodyPr>
          <a:lstStyle/>
          <a:p>
            <a:pPr algn="l">
              <a:lnSpc>
                <a:spcPct val="100000"/>
              </a:lnSpc>
            </a:pPr>
            <a:r>
              <a:rPr sz="900" b="0" i="1">
                <a:solidFill>
                  <a:srgbClr val="FFFFFF"/>
                </a:solidFill>
                <a:latin typeface="Calibri"/>
              </a:rPr>
              <a:t>Exposition en API des services.</a:t>
            </a:r>
          </a:p>
        </p:txBody>
      </p:sp>
      <p:sp>
        <p:nvSpPr>
          <p:cNvPr id="22" name="TextBox 21"/>
          <p:cNvSpPr txBox="1"/>
          <p:nvPr/>
        </p:nvSpPr>
        <p:spPr>
          <a:xfrm>
            <a:off x="603504" y="3506723"/>
            <a:ext cx="1993392" cy="329184"/>
          </a:xfrm>
          <a:prstGeom prst="rect">
            <a:avLst/>
          </a:prstGeom>
          <a:noFill/>
        </p:spPr>
        <p:txBody>
          <a:bodyPr wrap="square" lIns="0" tIns="0" rIns="0" bIns="0" anchor="t">
            <a:spAutoFit/>
          </a:bodyPr>
          <a:lstStyle/>
          <a:p>
            <a:pPr algn="l">
              <a:lnSpc>
                <a:spcPct val="100000"/>
              </a:lnSpc>
            </a:pPr>
            <a:r>
              <a:rPr sz="850" b="1" i="0" dirty="0" err="1">
                <a:solidFill>
                  <a:srgbClr val="FFFFFF"/>
                </a:solidFill>
                <a:latin typeface="Calibri"/>
              </a:rPr>
              <a:t>Responsable</a:t>
            </a:r>
            <a:r>
              <a:rPr sz="850" b="1" i="0" dirty="0">
                <a:solidFill>
                  <a:srgbClr val="FFFFFF"/>
                </a:solidFill>
                <a:latin typeface="Calibri"/>
              </a:rPr>
              <a:t> : </a:t>
            </a:r>
            <a:r>
              <a:rPr sz="850" b="1" i="0" dirty="0" err="1">
                <a:solidFill>
                  <a:srgbClr val="FFFFFF"/>
                </a:solidFill>
                <a:latin typeface="Calibri"/>
              </a:rPr>
              <a:t>Chaque</a:t>
            </a:r>
            <a:r>
              <a:rPr sz="850" b="1" i="0" dirty="0">
                <a:solidFill>
                  <a:srgbClr val="FFFFFF"/>
                </a:solidFill>
                <a:latin typeface="Calibri"/>
              </a:rPr>
              <a:t> équipe, pour </a:t>
            </a:r>
            <a:r>
              <a:rPr sz="850" b="1" i="0" dirty="0" err="1">
                <a:solidFill>
                  <a:srgbClr val="FFFFFF"/>
                </a:solidFill>
                <a:latin typeface="Calibri"/>
              </a:rPr>
              <a:t>ses</a:t>
            </a:r>
            <a:r>
              <a:rPr sz="850" b="1" i="0" dirty="0">
                <a:solidFill>
                  <a:srgbClr val="FFFFFF"/>
                </a:solidFill>
                <a:latin typeface="Calibri"/>
              </a:rPr>
              <a:t> </a:t>
            </a:r>
            <a:r>
              <a:rPr sz="850" b="1" i="0" dirty="0" err="1">
                <a:solidFill>
                  <a:srgbClr val="FFFFFF"/>
                </a:solidFill>
                <a:latin typeface="Calibri"/>
              </a:rPr>
              <a:t>propres</a:t>
            </a:r>
            <a:r>
              <a:rPr sz="850" b="1" i="0" dirty="0">
                <a:solidFill>
                  <a:srgbClr val="FFFFFF"/>
                </a:solidFill>
                <a:latin typeface="Calibri"/>
              </a:rPr>
              <a:t> services</a:t>
            </a:r>
          </a:p>
        </p:txBody>
      </p:sp>
      <p:sp>
        <p:nvSpPr>
          <p:cNvPr id="25" name="Rounded Rectangle 24"/>
          <p:cNvSpPr/>
          <p:nvPr/>
        </p:nvSpPr>
        <p:spPr>
          <a:xfrm>
            <a:off x="457200" y="4023360"/>
            <a:ext cx="2286000" cy="2331720"/>
          </a:xfrm>
          <a:prstGeom prst="roundRect">
            <a:avLst>
              <a:gd name="adj" fmla="val 8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03504" y="4114800"/>
            <a:ext cx="274320" cy="274320"/>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FFFFFF"/>
                </a:solidFill>
                <a:latin typeface="Calibri"/>
              </a:rPr>
              <a:t>03</a:t>
            </a:r>
          </a:p>
        </p:txBody>
      </p:sp>
      <p:sp>
        <p:nvSpPr>
          <p:cNvPr id="27" name="TextBox 26"/>
          <p:cNvSpPr txBox="1"/>
          <p:nvPr/>
        </p:nvSpPr>
        <p:spPr>
          <a:xfrm>
            <a:off x="969264" y="4114800"/>
            <a:ext cx="1627632" cy="184666"/>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Calibri"/>
              </a:rPr>
              <a:t>Le </a:t>
            </a:r>
            <a:r>
              <a:rPr lang="fr-FR" sz="1200" b="1" i="0" dirty="0">
                <a:solidFill>
                  <a:srgbClr val="FFFFFF"/>
                </a:solidFill>
                <a:latin typeface="Calibri"/>
              </a:rPr>
              <a:t>portail </a:t>
            </a:r>
            <a:endParaRPr sz="1200" b="1" i="0" dirty="0">
              <a:solidFill>
                <a:srgbClr val="FFFFFF"/>
              </a:solidFill>
              <a:latin typeface="Calibri"/>
            </a:endParaRPr>
          </a:p>
        </p:txBody>
      </p:sp>
      <p:sp>
        <p:nvSpPr>
          <p:cNvPr id="28" name="TextBox 27"/>
          <p:cNvSpPr txBox="1"/>
          <p:nvPr/>
        </p:nvSpPr>
        <p:spPr>
          <a:xfrm>
            <a:off x="603504" y="4453128"/>
            <a:ext cx="1993392" cy="276999"/>
          </a:xfrm>
          <a:prstGeom prst="rect">
            <a:avLst/>
          </a:prstGeom>
          <a:noFill/>
        </p:spPr>
        <p:txBody>
          <a:bodyPr wrap="square" lIns="0" tIns="0" rIns="0" bIns="0" anchor="t">
            <a:spAutoFit/>
          </a:bodyPr>
          <a:lstStyle/>
          <a:p>
            <a:pPr algn="l">
              <a:lnSpc>
                <a:spcPct val="100000"/>
              </a:lnSpc>
            </a:pPr>
            <a:r>
              <a:rPr sz="900" b="0" i="1" dirty="0">
                <a:solidFill>
                  <a:srgbClr val="FFFFFF"/>
                </a:solidFill>
                <a:latin typeface="Calibri"/>
              </a:rPr>
              <a:t>Mise </a:t>
            </a:r>
            <a:r>
              <a:rPr sz="900" b="0" i="1" dirty="0" err="1">
                <a:solidFill>
                  <a:srgbClr val="FFFFFF"/>
                </a:solidFill>
                <a:latin typeface="Calibri"/>
              </a:rPr>
              <a:t>en</a:t>
            </a:r>
            <a:r>
              <a:rPr sz="900" b="0" i="1" dirty="0">
                <a:solidFill>
                  <a:srgbClr val="FFFFFF"/>
                </a:solidFill>
                <a:latin typeface="Calibri"/>
              </a:rPr>
              <a:t> place du socle technique de </a:t>
            </a:r>
            <a:r>
              <a:rPr sz="900" b="0" i="1" dirty="0" err="1">
                <a:solidFill>
                  <a:srgbClr val="FFFFFF"/>
                </a:solidFill>
                <a:latin typeface="Calibri"/>
              </a:rPr>
              <a:t>l'exposition</a:t>
            </a:r>
            <a:r>
              <a:rPr sz="900" b="0" i="1" dirty="0">
                <a:solidFill>
                  <a:srgbClr val="FFFFFF"/>
                </a:solidFill>
                <a:latin typeface="Calibri"/>
              </a:rPr>
              <a:t> (</a:t>
            </a:r>
            <a:r>
              <a:rPr sz="900" b="0" i="1" dirty="0" err="1">
                <a:solidFill>
                  <a:srgbClr val="FFFFFF"/>
                </a:solidFill>
                <a:latin typeface="Calibri"/>
              </a:rPr>
              <a:t>Portail</a:t>
            </a:r>
            <a:r>
              <a:rPr sz="900" b="0" i="1" dirty="0">
                <a:solidFill>
                  <a:srgbClr val="FFFFFF"/>
                </a:solidFill>
                <a:latin typeface="Calibri"/>
              </a:rPr>
              <a:t>)</a:t>
            </a:r>
          </a:p>
        </p:txBody>
      </p:sp>
      <p:sp>
        <p:nvSpPr>
          <p:cNvPr id="29" name="Rectangle 28"/>
          <p:cNvSpPr/>
          <p:nvPr/>
        </p:nvSpPr>
        <p:spPr>
          <a:xfrm>
            <a:off x="603504" y="4791456"/>
            <a:ext cx="1128369" cy="201168"/>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8368" y="4830193"/>
            <a:ext cx="1036929" cy="130805"/>
          </a:xfrm>
          <a:prstGeom prst="rect">
            <a:avLst/>
          </a:prstGeom>
          <a:noFill/>
        </p:spPr>
        <p:txBody>
          <a:bodyPr wrap="square" lIns="0" tIns="0" rIns="0" bIns="0" anchor="ctr">
            <a:spAutoFit/>
          </a:bodyPr>
          <a:lstStyle/>
          <a:p>
            <a:pPr algn="l"/>
            <a:r>
              <a:rPr sz="850" b="1" i="0" dirty="0">
                <a:solidFill>
                  <a:srgbClr val="21295C"/>
                </a:solidFill>
                <a:latin typeface="Calibri"/>
              </a:rPr>
              <a:t>H630 ? </a:t>
            </a:r>
            <a:r>
              <a:rPr lang="fr-FR" sz="850" b="1" i="0" dirty="0">
                <a:solidFill>
                  <a:srgbClr val="21295C"/>
                </a:solidFill>
                <a:latin typeface="Calibri"/>
              </a:rPr>
              <a:t>H580</a:t>
            </a:r>
            <a:r>
              <a:rPr sz="850" b="1" i="0" dirty="0">
                <a:solidFill>
                  <a:srgbClr val="21295C"/>
                </a:solidFill>
                <a:latin typeface="Calibri"/>
              </a:rPr>
              <a:t> ?</a:t>
            </a:r>
            <a:r>
              <a:rPr lang="fr-FR" sz="850" b="1" i="0" dirty="0">
                <a:solidFill>
                  <a:srgbClr val="21295C"/>
                </a:solidFill>
                <a:latin typeface="Calibri"/>
              </a:rPr>
              <a:t> H620 ?</a:t>
            </a:r>
            <a:endParaRPr sz="850" b="1" i="0" dirty="0">
              <a:solidFill>
                <a:srgbClr val="21295C"/>
              </a:solidFill>
              <a:latin typeface="Calibri"/>
            </a:endParaRPr>
          </a:p>
        </p:txBody>
      </p:sp>
      <p:sp>
        <p:nvSpPr>
          <p:cNvPr id="45" name="Rectangle 44"/>
          <p:cNvSpPr/>
          <p:nvPr/>
        </p:nvSpPr>
        <p:spPr>
          <a:xfrm>
            <a:off x="2880360" y="5440680"/>
            <a:ext cx="6612266" cy="91440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200" dirty="0">
                <a:solidFill>
                  <a:srgbClr val="003A8D"/>
                </a:solidFill>
                <a:latin typeface="Calibri"/>
              </a:rPr>
              <a:t>Outillage API (</a:t>
            </a:r>
            <a:r>
              <a:rPr lang="fr-FR" sz="1200" dirty="0">
                <a:solidFill>
                  <a:srgbClr val="21295C"/>
                </a:solidFill>
                <a:latin typeface="Calibri" pitchFamily="34" charset="0"/>
                <a:ea typeface="Calibri" pitchFamily="34" charset="-122"/>
                <a:cs typeface="Calibri" pitchFamily="34" charset="-120"/>
              </a:rPr>
              <a:t>Contrôle d'accès &amp; quotas, </a:t>
            </a:r>
            <a:endParaRPr lang="fr-FR" sz="1200" dirty="0"/>
          </a:p>
          <a:p>
            <a:pPr algn="ctr"/>
            <a:r>
              <a:rPr lang="en-US" sz="1200" dirty="0">
                <a:ea typeface="Calibri" pitchFamily="34" charset="-122"/>
                <a:cs typeface="Calibri" pitchFamily="34" charset="-120"/>
              </a:rPr>
              <a:t>,</a:t>
            </a:r>
            <a:r>
              <a:rPr lang="en-US" sz="1200" dirty="0">
                <a:solidFill>
                  <a:srgbClr val="21295C"/>
                </a:solidFill>
                <a:latin typeface="Calibri" pitchFamily="34" charset="0"/>
                <a:ea typeface="Calibri" pitchFamily="34" charset="-122"/>
                <a:cs typeface="Calibri" pitchFamily="34" charset="-120"/>
              </a:rPr>
              <a:t> </a:t>
            </a:r>
            <a:r>
              <a:rPr lang="en-US" sz="1200" dirty="0" err="1">
                <a:solidFill>
                  <a:srgbClr val="21295C"/>
                </a:solidFill>
                <a:latin typeface="Calibri" pitchFamily="34" charset="0"/>
                <a:ea typeface="Calibri" pitchFamily="34" charset="-122"/>
                <a:cs typeface="Calibri" pitchFamily="34" charset="-120"/>
              </a:rPr>
              <a:t>Observabilité</a:t>
            </a:r>
            <a:r>
              <a:rPr lang="en-US" sz="1200" dirty="0">
                <a:solidFill>
                  <a:srgbClr val="21295C"/>
                </a:solidFill>
                <a:latin typeface="Calibri" pitchFamily="34" charset="0"/>
                <a:ea typeface="Calibri" pitchFamily="34" charset="-122"/>
                <a:cs typeface="Calibri" pitchFamily="34" charset="-120"/>
              </a:rPr>
              <a:t> &amp; consummation, cycle de vie des versions </a:t>
            </a:r>
            <a:r>
              <a:rPr lang="en-US" sz="1200" dirty="0" err="1">
                <a:solidFill>
                  <a:srgbClr val="21295C"/>
                </a:solidFill>
                <a:latin typeface="Calibri" pitchFamily="34" charset="0"/>
                <a:ea typeface="Calibri" pitchFamily="34" charset="-122"/>
                <a:cs typeface="Calibri" pitchFamily="34" charset="-120"/>
              </a:rPr>
              <a:t>déployés</a:t>
            </a:r>
            <a:r>
              <a:rPr lang="fr-FR" sz="1200" dirty="0">
                <a:solidFill>
                  <a:srgbClr val="003A8D"/>
                </a:solidFill>
                <a:latin typeface="Calibri"/>
              </a:rPr>
              <a:t>)</a:t>
            </a:r>
            <a:endParaRPr sz="1200" dirty="0">
              <a:solidFill>
                <a:srgbClr val="003A8D"/>
              </a:solidFill>
              <a:latin typeface="Calibri"/>
            </a:endParaRPr>
          </a:p>
        </p:txBody>
      </p:sp>
      <p:cxnSp>
        <p:nvCxnSpPr>
          <p:cNvPr id="51" name="Connecteur : en angle 50">
            <a:extLst>
              <a:ext uri="{FF2B5EF4-FFF2-40B4-BE49-F238E27FC236}">
                <a16:creationId xmlns:a16="http://schemas.microsoft.com/office/drawing/2014/main" id="{F966525E-6B4E-0536-B567-CF49C4E328B2}"/>
              </a:ext>
            </a:extLst>
          </p:cNvPr>
          <p:cNvCxnSpPr>
            <a:cxnSpLocks/>
            <a:stCxn id="10" idx="2"/>
            <a:endCxn id="31" idx="0"/>
          </p:cNvCxnSpPr>
          <p:nvPr/>
        </p:nvCxnSpPr>
        <p:spPr>
          <a:xfrm rot="5400000">
            <a:off x="3348514" y="3144298"/>
            <a:ext cx="1417320" cy="340804"/>
          </a:xfrm>
          <a:prstGeom prst="bentConnector3">
            <a:avLst>
              <a:gd name="adj1" fmla="val 50000"/>
            </a:avLst>
          </a:prstGeom>
          <a:ln w="12700">
            <a:solidFill>
              <a:srgbClr val="002060"/>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50" name="Rounded Rectangle 37">
            <a:extLst>
              <a:ext uri="{FF2B5EF4-FFF2-40B4-BE49-F238E27FC236}">
                <a16:creationId xmlns:a16="http://schemas.microsoft.com/office/drawing/2014/main" id="{BFABF198-0AC2-CC4F-8F6B-28B5A549249A}"/>
              </a:ext>
            </a:extLst>
          </p:cNvPr>
          <p:cNvSpPr/>
          <p:nvPr/>
        </p:nvSpPr>
        <p:spPr>
          <a:xfrm>
            <a:off x="2841325" y="5404104"/>
            <a:ext cx="299283" cy="338328"/>
          </a:xfrm>
          <a:prstGeom prst="roundRect">
            <a:avLst>
              <a:gd name="adj" fmla="val 35000"/>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P5</a:t>
            </a:r>
            <a:endParaRPr sz="1050" b="1" dirty="0">
              <a:solidFill>
                <a:srgbClr val="FFFFFF"/>
              </a:solidFill>
              <a:latin typeface="Calibri"/>
            </a:endParaRPr>
          </a:p>
        </p:txBody>
      </p:sp>
      <p:sp>
        <p:nvSpPr>
          <p:cNvPr id="31" name="Rectangle 30"/>
          <p:cNvSpPr/>
          <p:nvPr/>
        </p:nvSpPr>
        <p:spPr>
          <a:xfrm>
            <a:off x="2880360" y="4023360"/>
            <a:ext cx="2012824" cy="118872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00" dirty="0">
                <a:solidFill>
                  <a:srgbClr val="003A8D"/>
                </a:solidFill>
                <a:latin typeface="Calibri"/>
              </a:rPr>
              <a:t>Page </a:t>
            </a:r>
            <a:r>
              <a:rPr lang="fr-FR" sz="1100" dirty="0">
                <a:solidFill>
                  <a:srgbClr val="003A8D"/>
                </a:solidFill>
                <a:latin typeface="Calibri"/>
              </a:rPr>
              <a:t>exposant aux MOE et MOA les définitions </a:t>
            </a:r>
          </a:p>
          <a:p>
            <a:pPr algn="ctr"/>
            <a:r>
              <a:rPr lang="fr-FR" sz="1100" dirty="0">
                <a:solidFill>
                  <a:srgbClr val="003A8D"/>
                </a:solidFill>
                <a:latin typeface="Calibri"/>
              </a:rPr>
              <a:t>fonctionnelles des services</a:t>
            </a:r>
            <a:endParaRPr sz="1100" dirty="0">
              <a:solidFill>
                <a:srgbClr val="003A8D"/>
              </a:solidFill>
              <a:latin typeface="Calibri"/>
            </a:endParaRPr>
          </a:p>
        </p:txBody>
      </p:sp>
      <p:sp>
        <p:nvSpPr>
          <p:cNvPr id="32" name="Rounded Rectangle 31"/>
          <p:cNvSpPr/>
          <p:nvPr/>
        </p:nvSpPr>
        <p:spPr>
          <a:xfrm>
            <a:off x="2884661" y="4007612"/>
            <a:ext cx="255947" cy="338328"/>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P1</a:t>
            </a:r>
            <a:endParaRPr sz="1050" b="1" dirty="0">
              <a:solidFill>
                <a:srgbClr val="FFFFFF"/>
              </a:solidFill>
              <a:latin typeface="Calibri"/>
            </a:endParaRPr>
          </a:p>
        </p:txBody>
      </p:sp>
      <p:cxnSp>
        <p:nvCxnSpPr>
          <p:cNvPr id="33" name="Connector 32"/>
          <p:cNvCxnSpPr/>
          <p:nvPr/>
        </p:nvCxnSpPr>
        <p:spPr>
          <a:xfrm>
            <a:off x="4927339" y="4617720"/>
            <a:ext cx="218587" cy="0"/>
          </a:xfrm>
          <a:prstGeom prst="line">
            <a:avLst/>
          </a:prstGeom>
          <a:ln w="1905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180081" y="4023360"/>
            <a:ext cx="2012824" cy="118872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100" dirty="0">
                <a:solidFill>
                  <a:srgbClr val="003A8D"/>
                </a:solidFill>
                <a:latin typeface="Calibri"/>
              </a:rPr>
              <a:t>Page exposant aux MOE le </a:t>
            </a:r>
            <a:r>
              <a:rPr lang="fr-FR" sz="1100" dirty="0" err="1">
                <a:solidFill>
                  <a:srgbClr val="003A8D"/>
                </a:solidFill>
                <a:latin typeface="Calibri"/>
              </a:rPr>
              <a:t>swagger</a:t>
            </a:r>
            <a:r>
              <a:rPr lang="fr-FR" sz="1100" dirty="0">
                <a:solidFill>
                  <a:srgbClr val="003A8D"/>
                </a:solidFill>
                <a:latin typeface="Calibri"/>
              </a:rPr>
              <a:t> (</a:t>
            </a:r>
            <a:r>
              <a:rPr lang="fr-FR" sz="1100" dirty="0" err="1">
                <a:solidFill>
                  <a:srgbClr val="003A8D"/>
                </a:solidFill>
                <a:latin typeface="Calibri"/>
              </a:rPr>
              <a:t>Contract</a:t>
            </a:r>
            <a:r>
              <a:rPr lang="fr-FR" sz="1100" dirty="0">
                <a:solidFill>
                  <a:srgbClr val="003A8D"/>
                </a:solidFill>
                <a:latin typeface="Calibri"/>
              </a:rPr>
              <a:t> </a:t>
            </a:r>
            <a:r>
              <a:rPr lang="fr-FR" sz="1100" dirty="0" err="1">
                <a:solidFill>
                  <a:srgbClr val="003A8D"/>
                </a:solidFill>
                <a:latin typeface="Calibri"/>
              </a:rPr>
              <a:t>Json</a:t>
            </a:r>
            <a:r>
              <a:rPr lang="fr-FR" sz="1100" dirty="0">
                <a:solidFill>
                  <a:srgbClr val="003A8D"/>
                </a:solidFill>
                <a:latin typeface="Calibri"/>
              </a:rPr>
              <a:t> input / Output)</a:t>
            </a:r>
            <a:endParaRPr sz="1100" dirty="0">
              <a:solidFill>
                <a:srgbClr val="003A8D"/>
              </a:solidFill>
              <a:latin typeface="Calibri"/>
            </a:endParaRPr>
          </a:p>
        </p:txBody>
      </p:sp>
      <p:sp>
        <p:nvSpPr>
          <p:cNvPr id="35" name="Rounded Rectangle 34"/>
          <p:cNvSpPr/>
          <p:nvPr/>
        </p:nvSpPr>
        <p:spPr>
          <a:xfrm>
            <a:off x="5184382" y="4007612"/>
            <a:ext cx="255947" cy="338328"/>
          </a:xfrm>
          <a:prstGeom prst="roundRect">
            <a:avLst>
              <a:gd name="adj" fmla="val 35000"/>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P4</a:t>
            </a:r>
            <a:endParaRPr sz="1050" b="1" dirty="0">
              <a:solidFill>
                <a:srgbClr val="FFFFFF"/>
              </a:solidFill>
              <a:latin typeface="Calibri"/>
            </a:endParaRPr>
          </a:p>
        </p:txBody>
      </p:sp>
      <p:cxnSp>
        <p:nvCxnSpPr>
          <p:cNvPr id="36" name="Connector 35"/>
          <p:cNvCxnSpPr>
            <a:cxnSpLocks/>
          </p:cNvCxnSpPr>
          <p:nvPr/>
        </p:nvCxnSpPr>
        <p:spPr>
          <a:xfrm>
            <a:off x="7227059" y="4617720"/>
            <a:ext cx="218587" cy="0"/>
          </a:xfrm>
          <a:prstGeom prst="line">
            <a:avLst/>
          </a:prstGeom>
          <a:ln w="1905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479802" y="4023360"/>
            <a:ext cx="2012824" cy="118872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100" dirty="0">
                <a:solidFill>
                  <a:srgbClr val="003A8D"/>
                </a:solidFill>
                <a:latin typeface="Calibri"/>
              </a:rPr>
              <a:t>Gestion </a:t>
            </a:r>
            <a:r>
              <a:rPr lang="fr-FR" sz="1100" dirty="0">
                <a:solidFill>
                  <a:srgbClr val="21295C"/>
                </a:solidFill>
                <a:latin typeface="Calibri" pitchFamily="34" charset="0"/>
                <a:ea typeface="Calibri" pitchFamily="34" charset="-122"/>
                <a:cs typeface="Calibri" pitchFamily="34" charset="-120"/>
              </a:rPr>
              <a:t>Souscription &amp; provisionnement</a:t>
            </a:r>
            <a:endParaRPr sz="1100" dirty="0">
              <a:solidFill>
                <a:srgbClr val="003A8D"/>
              </a:solidFill>
              <a:latin typeface="Calibri"/>
            </a:endParaRPr>
          </a:p>
        </p:txBody>
      </p:sp>
      <p:sp>
        <p:nvSpPr>
          <p:cNvPr id="38" name="Rounded Rectangle 37"/>
          <p:cNvSpPr/>
          <p:nvPr/>
        </p:nvSpPr>
        <p:spPr>
          <a:xfrm>
            <a:off x="7484101" y="4007612"/>
            <a:ext cx="255947" cy="338328"/>
          </a:xfrm>
          <a:prstGeom prst="roundRect">
            <a:avLst>
              <a:gd name="adj" fmla="val 35000"/>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P5</a:t>
            </a:r>
            <a:endParaRPr sz="1050" b="1" dirty="0">
              <a:solidFill>
                <a:srgbClr val="FFFFFF"/>
              </a:solidFill>
              <a:latin typeface="Calibri"/>
            </a:endParaRPr>
          </a:p>
        </p:txBody>
      </p:sp>
      <p:sp>
        <p:nvSpPr>
          <p:cNvPr id="57" name="Rectangle 56">
            <a:extLst>
              <a:ext uri="{FF2B5EF4-FFF2-40B4-BE49-F238E27FC236}">
                <a16:creationId xmlns:a16="http://schemas.microsoft.com/office/drawing/2014/main" id="{E724DC3D-6C14-A1A6-A442-C567EF1CE20F}"/>
              </a:ext>
            </a:extLst>
          </p:cNvPr>
          <p:cNvSpPr/>
          <p:nvPr/>
        </p:nvSpPr>
        <p:spPr>
          <a:xfrm>
            <a:off x="9718928" y="4023360"/>
            <a:ext cx="2012824" cy="118872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100" dirty="0">
                <a:solidFill>
                  <a:srgbClr val="003A8D"/>
                </a:solidFill>
                <a:latin typeface="Calibri"/>
              </a:rPr>
              <a:t>Ouverture du portail ou d’une partie du portail à la MOA (Niveaux de service, bac à sable, etc.)</a:t>
            </a:r>
            <a:endParaRPr sz="1100" dirty="0">
              <a:solidFill>
                <a:srgbClr val="003A8D"/>
              </a:solidFill>
              <a:latin typeface="Calibri"/>
            </a:endParaRPr>
          </a:p>
        </p:txBody>
      </p:sp>
      <p:cxnSp>
        <p:nvCxnSpPr>
          <p:cNvPr id="58" name="Connector 35">
            <a:extLst>
              <a:ext uri="{FF2B5EF4-FFF2-40B4-BE49-F238E27FC236}">
                <a16:creationId xmlns:a16="http://schemas.microsoft.com/office/drawing/2014/main" id="{B9ECB370-0E38-E5D9-1D6D-392DCCEC41A1}"/>
              </a:ext>
            </a:extLst>
          </p:cNvPr>
          <p:cNvCxnSpPr>
            <a:cxnSpLocks/>
          </p:cNvCxnSpPr>
          <p:nvPr/>
        </p:nvCxnSpPr>
        <p:spPr>
          <a:xfrm>
            <a:off x="9514071" y="4617720"/>
            <a:ext cx="218587" cy="0"/>
          </a:xfrm>
          <a:prstGeom prst="line">
            <a:avLst/>
          </a:prstGeom>
          <a:ln w="1905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37">
            <a:extLst>
              <a:ext uri="{FF2B5EF4-FFF2-40B4-BE49-F238E27FC236}">
                <a16:creationId xmlns:a16="http://schemas.microsoft.com/office/drawing/2014/main" id="{628DB0E6-995C-EC8E-6A76-A3A21632B817}"/>
              </a:ext>
            </a:extLst>
          </p:cNvPr>
          <p:cNvSpPr/>
          <p:nvPr/>
        </p:nvSpPr>
        <p:spPr>
          <a:xfrm>
            <a:off x="9730981" y="4007612"/>
            <a:ext cx="255947" cy="338328"/>
          </a:xfrm>
          <a:prstGeom prst="roundRect">
            <a:avLst>
              <a:gd name="adj" fmla="val 35000"/>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P6</a:t>
            </a:r>
            <a:endParaRPr sz="1050" b="1" dirty="0">
              <a:solidFill>
                <a:srgbClr val="FFFFFF"/>
              </a:solidFill>
              <a:latin typeface="Calibri"/>
            </a:endParaRPr>
          </a:p>
        </p:txBody>
      </p:sp>
      <p:sp>
        <p:nvSpPr>
          <p:cNvPr id="48" name="TextBox 47"/>
          <p:cNvSpPr txBox="1"/>
          <p:nvPr/>
        </p:nvSpPr>
        <p:spPr>
          <a:xfrm>
            <a:off x="3910584" y="2651534"/>
            <a:ext cx="2048256" cy="138499"/>
          </a:xfrm>
          <a:prstGeom prst="rect">
            <a:avLst/>
          </a:prstGeom>
          <a:solidFill>
            <a:schemeClr val="bg1"/>
          </a:solidFill>
        </p:spPr>
        <p:txBody>
          <a:bodyPr wrap="square" lIns="0" tIns="0" rIns="0" bIns="0" anchor="t">
            <a:spAutoFit/>
          </a:bodyPr>
          <a:lstStyle/>
          <a:p>
            <a:pPr algn="l"/>
            <a:r>
              <a:rPr sz="900" b="1" i="1" dirty="0" err="1">
                <a:solidFill>
                  <a:srgbClr val="1C7293"/>
                </a:solidFill>
                <a:latin typeface="Calibri"/>
              </a:rPr>
              <a:t>Dépendance</a:t>
            </a:r>
            <a:r>
              <a:rPr sz="900" b="1" i="1" dirty="0">
                <a:solidFill>
                  <a:srgbClr val="1C7293"/>
                </a:solidFill>
                <a:latin typeface="Calibri"/>
              </a:rPr>
              <a:t> </a:t>
            </a:r>
            <a:r>
              <a:rPr lang="fr-FR" sz="900" b="1" i="1" dirty="0">
                <a:solidFill>
                  <a:srgbClr val="1C7293"/>
                </a:solidFill>
                <a:latin typeface="Calibri"/>
              </a:rPr>
              <a:t>sur la fin des deux étapes</a:t>
            </a:r>
            <a:endParaRPr sz="900" b="1" i="1" dirty="0">
              <a:solidFill>
                <a:srgbClr val="1C7293"/>
              </a:solidFill>
              <a:latin typeface="Calibri"/>
            </a:endParaRPr>
          </a:p>
        </p:txBody>
      </p:sp>
      <p:sp>
        <p:nvSpPr>
          <p:cNvPr id="3" name="Rectangle 2">
            <a:extLst>
              <a:ext uri="{FF2B5EF4-FFF2-40B4-BE49-F238E27FC236}">
                <a16:creationId xmlns:a16="http://schemas.microsoft.com/office/drawing/2014/main" id="{A2A5096F-E668-E2EE-D371-D3A0375DB8B0}"/>
              </a:ext>
            </a:extLst>
          </p:cNvPr>
          <p:cNvSpPr/>
          <p:nvPr/>
        </p:nvSpPr>
        <p:spPr>
          <a:xfrm>
            <a:off x="9743597" y="5424445"/>
            <a:ext cx="2012824" cy="930635"/>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100" dirty="0">
                <a:solidFill>
                  <a:srgbClr val="003A8D"/>
                </a:solidFill>
                <a:latin typeface="Calibri"/>
              </a:rPr>
              <a:t>Bac à sable</a:t>
            </a:r>
            <a:endParaRPr sz="1100" dirty="0">
              <a:solidFill>
                <a:srgbClr val="003A8D"/>
              </a:solidFill>
              <a:latin typeface="Calibri"/>
            </a:endParaRPr>
          </a:p>
        </p:txBody>
      </p:sp>
      <p:sp>
        <p:nvSpPr>
          <p:cNvPr id="46" name="Rounded Rectangle 37">
            <a:extLst>
              <a:ext uri="{FF2B5EF4-FFF2-40B4-BE49-F238E27FC236}">
                <a16:creationId xmlns:a16="http://schemas.microsoft.com/office/drawing/2014/main" id="{0CFA77E5-545C-94AE-76FC-0700AE9747CF}"/>
              </a:ext>
            </a:extLst>
          </p:cNvPr>
          <p:cNvSpPr/>
          <p:nvPr/>
        </p:nvSpPr>
        <p:spPr>
          <a:xfrm>
            <a:off x="9755650" y="5408697"/>
            <a:ext cx="255947" cy="338328"/>
          </a:xfrm>
          <a:prstGeom prst="roundRect">
            <a:avLst>
              <a:gd name="adj" fmla="val 35000"/>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P6</a:t>
            </a:r>
            <a:endParaRPr sz="1050" b="1" dirty="0">
              <a:solidFill>
                <a:srgbClr val="FFFFFF"/>
              </a:solidFill>
              <a:latin typeface="Calibri"/>
            </a:endParaRPr>
          </a:p>
        </p:txBody>
      </p:sp>
      <p:sp>
        <p:nvSpPr>
          <p:cNvPr id="49" name="ZoneTexte 48">
            <a:extLst>
              <a:ext uri="{FF2B5EF4-FFF2-40B4-BE49-F238E27FC236}">
                <a16:creationId xmlns:a16="http://schemas.microsoft.com/office/drawing/2014/main" id="{04965B79-1D98-888F-51AB-82754AFE4FAB}"/>
              </a:ext>
            </a:extLst>
          </p:cNvPr>
          <p:cNvSpPr txBox="1"/>
          <p:nvPr/>
        </p:nvSpPr>
        <p:spPr>
          <a:xfrm>
            <a:off x="991036" y="6439681"/>
            <a:ext cx="11200963" cy="261610"/>
          </a:xfrm>
          <a:prstGeom prst="rect">
            <a:avLst/>
          </a:prstGeom>
          <a:noFill/>
        </p:spPr>
        <p:txBody>
          <a:bodyPr wrap="square">
            <a:spAutoFit/>
          </a:bodyPr>
          <a:lstStyle/>
          <a:p>
            <a:r>
              <a:rPr lang="fr-FR" sz="1100" dirty="0">
                <a:solidFill>
                  <a:srgbClr val="000000"/>
                </a:solidFill>
                <a:latin typeface="Arial" panose="020B0604020202020204" pitchFamily="34" charset="0"/>
              </a:rPr>
              <a:t>L’API REST</a:t>
            </a:r>
            <a:r>
              <a:rPr lang="fr-FR" sz="1100" b="0" i="0" dirty="0">
                <a:solidFill>
                  <a:srgbClr val="000000"/>
                </a:solidFill>
                <a:effectLst/>
                <a:latin typeface="Arial" panose="020B0604020202020204" pitchFamily="34" charset="0"/>
              </a:rPr>
              <a:t> </a:t>
            </a:r>
            <a:r>
              <a:rPr lang="fr-FR" sz="1100" b="1" i="0" dirty="0">
                <a:solidFill>
                  <a:srgbClr val="000000"/>
                </a:solidFill>
                <a:effectLst/>
                <a:latin typeface="Arial" panose="020B0604020202020204" pitchFamily="34" charset="0"/>
              </a:rPr>
              <a:t>découple</a:t>
            </a:r>
            <a:r>
              <a:rPr lang="fr-FR" sz="1100" b="0" i="0" dirty="0">
                <a:solidFill>
                  <a:srgbClr val="000000"/>
                </a:solidFill>
                <a:effectLst/>
                <a:latin typeface="Arial" panose="020B0604020202020204" pitchFamily="34" charset="0"/>
              </a:rPr>
              <a:t> le fournisseur (vous) du consommateur (eux) : évolutions côté serveur n’impactent pas les clients tant que le contrat (</a:t>
            </a:r>
            <a:r>
              <a:rPr lang="fr-FR" sz="1100" b="0" i="0" dirty="0" err="1">
                <a:solidFill>
                  <a:srgbClr val="000000"/>
                </a:solidFill>
                <a:effectLst/>
                <a:latin typeface="Arial" panose="020B0604020202020204" pitchFamily="34" charset="0"/>
              </a:rPr>
              <a:t>endpoints</a:t>
            </a:r>
            <a:r>
              <a:rPr lang="fr-FR" sz="1100" b="0" i="0" dirty="0">
                <a:solidFill>
                  <a:srgbClr val="000000"/>
                </a:solidFill>
                <a:effectLst/>
                <a:latin typeface="Arial" panose="020B0604020202020204" pitchFamily="34" charset="0"/>
              </a:rPr>
              <a:t>, </a:t>
            </a:r>
            <a:r>
              <a:rPr lang="fr-FR" sz="1100" b="0" i="0" dirty="0" err="1">
                <a:solidFill>
                  <a:srgbClr val="000000"/>
                </a:solidFill>
                <a:effectLst/>
                <a:latin typeface="Arial" panose="020B0604020202020204" pitchFamily="34" charset="0"/>
              </a:rPr>
              <a:t>payloads</a:t>
            </a:r>
            <a:r>
              <a:rPr lang="fr-FR" sz="1100" b="0" i="0" dirty="0">
                <a:solidFill>
                  <a:srgbClr val="000000"/>
                </a:solidFill>
                <a:effectLst/>
                <a:latin typeface="Arial" panose="020B0604020202020204" pitchFamily="34" charset="0"/>
              </a:rPr>
              <a:t>) reste stable.</a:t>
            </a:r>
            <a:endParaRPr lang="fr-FR" sz="1100" dirty="0"/>
          </a:p>
        </p:txBody>
      </p:sp>
      <p:cxnSp>
        <p:nvCxnSpPr>
          <p:cNvPr id="53" name="Connecteur : en angle 52">
            <a:extLst>
              <a:ext uri="{FF2B5EF4-FFF2-40B4-BE49-F238E27FC236}">
                <a16:creationId xmlns:a16="http://schemas.microsoft.com/office/drawing/2014/main" id="{5B79E1C6-1D23-33E9-384B-501CA97339AB}"/>
              </a:ext>
            </a:extLst>
          </p:cNvPr>
          <p:cNvCxnSpPr>
            <a:cxnSpLocks/>
            <a:stCxn id="10" idx="2"/>
            <a:endCxn id="34" idx="0"/>
          </p:cNvCxnSpPr>
          <p:nvPr/>
        </p:nvCxnSpPr>
        <p:spPr>
          <a:xfrm rot="16200000" flipH="1">
            <a:off x="4498374" y="2335241"/>
            <a:ext cx="1417320" cy="1958917"/>
          </a:xfrm>
          <a:prstGeom prst="bentConnector3">
            <a:avLst>
              <a:gd name="adj1" fmla="val 50000"/>
            </a:avLst>
          </a:prstGeom>
          <a:ln w="12700">
            <a:solidFill>
              <a:srgbClr val="002060"/>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169916" y="2880360"/>
            <a:ext cx="6561836" cy="91440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200" dirty="0">
                <a:solidFill>
                  <a:srgbClr val="003A8D"/>
                </a:solidFill>
                <a:latin typeface="Calibri"/>
              </a:rPr>
              <a:t>Pour les services non </a:t>
            </a:r>
            <a:r>
              <a:rPr lang="fr-FR" sz="1200" dirty="0" err="1">
                <a:solidFill>
                  <a:srgbClr val="003A8D"/>
                </a:solidFill>
                <a:latin typeface="Calibri"/>
              </a:rPr>
              <a:t>APIsés</a:t>
            </a:r>
            <a:r>
              <a:rPr lang="fr-FR" sz="1200" dirty="0">
                <a:solidFill>
                  <a:srgbClr val="003A8D"/>
                </a:solidFill>
                <a:latin typeface="Calibri"/>
              </a:rPr>
              <a:t> encore, et qui peuvent/doivent l’être, </a:t>
            </a:r>
            <a:r>
              <a:rPr lang="fr-FR" sz="1200" dirty="0" err="1">
                <a:solidFill>
                  <a:srgbClr val="003A8D"/>
                </a:solidFill>
                <a:latin typeface="Calibri"/>
              </a:rPr>
              <a:t>APIsation</a:t>
            </a:r>
            <a:r>
              <a:rPr lang="fr-FR" sz="1200" dirty="0">
                <a:solidFill>
                  <a:srgbClr val="003A8D"/>
                </a:solidFill>
                <a:latin typeface="Calibri"/>
              </a:rPr>
              <a:t> en REST</a:t>
            </a:r>
            <a:endParaRPr sz="1200" dirty="0">
              <a:solidFill>
                <a:srgbClr val="003A8D"/>
              </a:solidFill>
              <a:latin typeface="Calibri"/>
            </a:endParaRPr>
          </a:p>
        </p:txBody>
      </p:sp>
      <p:sp>
        <p:nvSpPr>
          <p:cNvPr id="52" name="Rectangle 51">
            <a:extLst>
              <a:ext uri="{FF2B5EF4-FFF2-40B4-BE49-F238E27FC236}">
                <a16:creationId xmlns:a16="http://schemas.microsoft.com/office/drawing/2014/main" id="{CBF60B63-DBF6-3B4A-84CE-6548A75CD70A}"/>
              </a:ext>
            </a:extLst>
          </p:cNvPr>
          <p:cNvSpPr/>
          <p:nvPr/>
        </p:nvSpPr>
        <p:spPr>
          <a:xfrm>
            <a:off x="2880360" y="2880360"/>
            <a:ext cx="2143252" cy="914400"/>
          </a:xfrm>
          <a:prstGeom prst="rect">
            <a:avLst/>
          </a:prstGeom>
          <a:solidFill>
            <a:srgbClr val="F4F7FB"/>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FR" sz="1200" dirty="0">
                <a:solidFill>
                  <a:srgbClr val="003A8D"/>
                </a:solidFill>
                <a:latin typeface="Calibri"/>
              </a:rPr>
              <a:t>Pour les services déjà </a:t>
            </a:r>
            <a:r>
              <a:rPr lang="fr-FR" sz="1200" dirty="0" err="1">
                <a:solidFill>
                  <a:srgbClr val="003A8D"/>
                </a:solidFill>
                <a:latin typeface="Calibri"/>
              </a:rPr>
              <a:t>APIsés</a:t>
            </a:r>
            <a:r>
              <a:rPr lang="fr-FR" sz="1200" baseline="30000" dirty="0">
                <a:solidFill>
                  <a:srgbClr val="003A8D"/>
                </a:solidFill>
                <a:latin typeface="Calibri"/>
              </a:rPr>
              <a:t>(1)</a:t>
            </a:r>
            <a:r>
              <a:rPr lang="fr-FR" sz="1200" dirty="0">
                <a:solidFill>
                  <a:srgbClr val="003A8D"/>
                </a:solidFill>
                <a:latin typeface="Calibri"/>
              </a:rPr>
              <a:t>, </a:t>
            </a:r>
            <a:r>
              <a:rPr lang="fr-FR" sz="1200" dirty="0" err="1">
                <a:solidFill>
                  <a:srgbClr val="003A8D"/>
                </a:solidFill>
                <a:latin typeface="Calibri"/>
              </a:rPr>
              <a:t>APIsation</a:t>
            </a:r>
            <a:r>
              <a:rPr lang="fr-FR" sz="1200" dirty="0">
                <a:solidFill>
                  <a:srgbClr val="003A8D"/>
                </a:solidFill>
                <a:latin typeface="Calibri"/>
              </a:rPr>
              <a:t> en REST</a:t>
            </a:r>
            <a:endParaRPr sz="1200" dirty="0">
              <a:solidFill>
                <a:srgbClr val="003A8D"/>
              </a:solidFill>
              <a:latin typeface="Calibri"/>
            </a:endParaRPr>
          </a:p>
        </p:txBody>
      </p:sp>
      <p:sp>
        <p:nvSpPr>
          <p:cNvPr id="24" name="Rounded Rectangle 23"/>
          <p:cNvSpPr/>
          <p:nvPr/>
        </p:nvSpPr>
        <p:spPr>
          <a:xfrm>
            <a:off x="5118833" y="2853815"/>
            <a:ext cx="342618" cy="338328"/>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a:t>
            </a:r>
            <a:r>
              <a:rPr sz="1050" b="1" dirty="0">
                <a:solidFill>
                  <a:srgbClr val="FFFFFF"/>
                </a:solidFill>
                <a:latin typeface="Calibri"/>
              </a:rPr>
              <a:t>1</a:t>
            </a:r>
            <a:r>
              <a:rPr lang="fr-FR" sz="1050" b="1" dirty="0">
                <a:solidFill>
                  <a:srgbClr val="FFFFFF"/>
                </a:solidFill>
                <a:latin typeface="Calibri"/>
              </a:rPr>
              <a:t>.2</a:t>
            </a:r>
            <a:endParaRPr sz="1050" b="1" dirty="0">
              <a:solidFill>
                <a:srgbClr val="FFFFFF"/>
              </a:solidFill>
              <a:latin typeface="Calibri"/>
            </a:endParaRPr>
          </a:p>
        </p:txBody>
      </p:sp>
      <p:sp>
        <p:nvSpPr>
          <p:cNvPr id="54" name="Rounded Rectangle 23">
            <a:extLst>
              <a:ext uri="{FF2B5EF4-FFF2-40B4-BE49-F238E27FC236}">
                <a16:creationId xmlns:a16="http://schemas.microsoft.com/office/drawing/2014/main" id="{D9AF3B8F-C26A-D3CC-F9AC-FFDEA646D610}"/>
              </a:ext>
            </a:extLst>
          </p:cNvPr>
          <p:cNvSpPr/>
          <p:nvPr/>
        </p:nvSpPr>
        <p:spPr>
          <a:xfrm>
            <a:off x="2824875" y="2851791"/>
            <a:ext cx="342618" cy="338328"/>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fr-FR" sz="1050" b="1" dirty="0">
                <a:solidFill>
                  <a:srgbClr val="FFFFFF"/>
                </a:solidFill>
                <a:latin typeface="Calibri"/>
              </a:rPr>
              <a:t>P</a:t>
            </a:r>
            <a:r>
              <a:rPr sz="1050" b="1" dirty="0">
                <a:solidFill>
                  <a:srgbClr val="FFFFFF"/>
                </a:solidFill>
                <a:latin typeface="Calibri"/>
              </a:rPr>
              <a:t>1</a:t>
            </a:r>
            <a:r>
              <a:rPr lang="fr-FR" sz="1050" b="1" dirty="0">
                <a:solidFill>
                  <a:srgbClr val="FFFFFF"/>
                </a:solidFill>
                <a:latin typeface="Calibri"/>
              </a:rPr>
              <a:t>.1</a:t>
            </a:r>
            <a:endParaRPr sz="1050" b="1" dirty="0">
              <a:solidFill>
                <a:srgbClr val="FFFFFF"/>
              </a:solidFill>
              <a:latin typeface="Calibri"/>
            </a:endParaRPr>
          </a:p>
        </p:txBody>
      </p:sp>
    </p:spTree>
    <p:extLst>
      <p:ext uri="{BB962C8B-B14F-4D97-AF65-F5344CB8AC3E}">
        <p14:creationId xmlns:p14="http://schemas.microsoft.com/office/powerpoint/2010/main" val="373288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645DB-0327-9D5A-7B29-A2A9E0A977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85C54E-919D-D6BB-6719-B98474DE77B6}"/>
              </a:ext>
            </a:extLst>
          </p:cNvPr>
          <p:cNvSpPr>
            <a:spLocks noGrp="1"/>
          </p:cNvSpPr>
          <p:nvPr>
            <p:ph type="title"/>
          </p:nvPr>
        </p:nvSpPr>
        <p:spPr/>
        <p:txBody>
          <a:bodyPr>
            <a:normAutofit/>
          </a:bodyPr>
          <a:lstStyle/>
          <a:p>
            <a:r>
              <a:rPr lang="fr-FR" dirty="0"/>
              <a:t>Priorisation des services à </a:t>
            </a:r>
            <a:r>
              <a:rPr lang="fr-FR" dirty="0" err="1"/>
              <a:t>APIser</a:t>
            </a:r>
            <a:r>
              <a:rPr lang="fr-FR" dirty="0"/>
              <a:t> en REST</a:t>
            </a:r>
          </a:p>
        </p:txBody>
      </p:sp>
      <p:sp>
        <p:nvSpPr>
          <p:cNvPr id="3" name="Espace réservé du pied de page 2">
            <a:extLst>
              <a:ext uri="{FF2B5EF4-FFF2-40B4-BE49-F238E27FC236}">
                <a16:creationId xmlns:a16="http://schemas.microsoft.com/office/drawing/2014/main" id="{4DF1B1EF-B92B-0B65-F2E2-630129EBAF5D}"/>
              </a:ext>
            </a:extLst>
          </p:cNvPr>
          <p:cNvSpPr>
            <a:spLocks noGrp="1"/>
          </p:cNvSpPr>
          <p:nvPr>
            <p:ph type="ftr" sz="quarter" idx="11"/>
          </p:nvPr>
        </p:nvSpPr>
        <p:spPr/>
        <p:txBody>
          <a:bodyPr/>
          <a:lstStyle/>
          <a:p>
            <a:r>
              <a:rPr lang="fr-FR" dirty="0"/>
              <a:t>Nadia – Dossier de pré-cadrage</a:t>
            </a:r>
          </a:p>
        </p:txBody>
      </p:sp>
      <p:graphicFrame>
        <p:nvGraphicFramePr>
          <p:cNvPr id="4" name="Table 0">
            <a:extLst>
              <a:ext uri="{FF2B5EF4-FFF2-40B4-BE49-F238E27FC236}">
                <a16:creationId xmlns:a16="http://schemas.microsoft.com/office/drawing/2014/main" id="{84D29659-692B-F3D4-F457-21DBA0FD9286}"/>
              </a:ext>
            </a:extLst>
          </p:cNvPr>
          <p:cNvGraphicFramePr>
            <a:graphicFrameLocks noGrp="1"/>
          </p:cNvGraphicFramePr>
          <p:nvPr>
            <p:extLst>
              <p:ext uri="{D42A27DB-BD31-4B8C-83A1-F6EECF244321}">
                <p14:modId xmlns:p14="http://schemas.microsoft.com/office/powerpoint/2010/main" val="2768650961"/>
              </p:ext>
            </p:extLst>
          </p:nvPr>
        </p:nvGraphicFramePr>
        <p:xfrm>
          <a:off x="457200" y="765968"/>
          <a:ext cx="11274552" cy="5038344"/>
        </p:xfrm>
        <a:graphic>
          <a:graphicData uri="http://schemas.openxmlformats.org/drawingml/2006/table">
            <a:tbl>
              <a:tblPr>
                <a:tableStyleId>{BDBED569-4797-4DF1-A0F4-6AAB3CD982D8}</a:tableStyleId>
              </a:tblPr>
              <a:tblGrid>
                <a:gridCol w="3017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Service</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Statut</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Justification</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Priorité (préco)</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0"/>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Classification ML classique</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950" dirty="0" err="1">
                          <a:solidFill>
                            <a:schemeClr val="tx1"/>
                          </a:solidFill>
                          <a:latin typeface="Segoe UI" panose="020B0502040204020203" pitchFamily="34" charset="0"/>
                          <a:cs typeface="Segoe UI" panose="020B0502040204020203" pitchFamily="34" charset="0"/>
                        </a:rPr>
                        <a:t>Existant</a:t>
                      </a:r>
                      <a:endParaRPr lang="en-US" sz="95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Mature, fiable, déjà en production — service </a:t>
                      </a:r>
                      <a:r>
                        <a:rPr lang="en-US" sz="1000" dirty="0" err="1">
                          <a:solidFill>
                            <a:schemeClr val="tx1"/>
                          </a:solidFill>
                          <a:latin typeface="Segoe UI" panose="020B0502040204020203" pitchFamily="34" charset="0"/>
                          <a:cs typeface="Segoe UI" panose="020B0502040204020203" pitchFamily="34" charset="0"/>
                        </a:rPr>
                        <a:t>atomique</a:t>
                      </a:r>
                      <a:r>
                        <a:rPr lang="en-US" sz="1000" dirty="0">
                          <a:solidFill>
                            <a:schemeClr val="tx1"/>
                          </a:solidFill>
                          <a:latin typeface="Segoe UI" panose="020B0502040204020203" pitchFamily="34" charset="0"/>
                          <a:cs typeface="Segoe UI" panose="020B0502040204020203" pitchFamily="34" charset="0"/>
                        </a:rPr>
                        <a:t>.</a:t>
                      </a:r>
                    </a:p>
                    <a:p>
                      <a:pPr marL="0" indent="0">
                        <a:buNone/>
                      </a:pPr>
                      <a:r>
                        <a:rPr lang="en-US" sz="1000" dirty="0">
                          <a:solidFill>
                            <a:schemeClr val="tx1"/>
                          </a:solidFill>
                          <a:latin typeface="Segoe UI" panose="020B0502040204020203" pitchFamily="34" charset="0"/>
                          <a:ea typeface="Calibri" charset="0"/>
                          <a:cs typeface="Segoe UI" panose="020B0502040204020203" pitchFamily="34" charset="0"/>
                        </a:rPr>
                        <a:t>(Exposer un service avec param : Multi label / </a:t>
                      </a:r>
                      <a:r>
                        <a:rPr lang="en-US" sz="1000" dirty="0" err="1">
                          <a:solidFill>
                            <a:schemeClr val="tx1"/>
                          </a:solidFill>
                          <a:latin typeface="Segoe UI" panose="020B0502040204020203" pitchFamily="34" charset="0"/>
                          <a:ea typeface="Calibri" charset="0"/>
                          <a:cs typeface="Segoe UI" panose="020B0502040204020203" pitchFamily="34" charset="0"/>
                        </a:rPr>
                        <a:t>Binaire</a:t>
                      </a:r>
                      <a:r>
                        <a:rPr lang="en-US" sz="1000" dirty="0">
                          <a:solidFill>
                            <a:schemeClr val="tx1"/>
                          </a:solidFill>
                          <a:latin typeface="Segoe UI" panose="020B0502040204020203" pitchFamily="34" charset="0"/>
                          <a:ea typeface="Calibri" charset="0"/>
                          <a:cs typeface="Segoe UI" panose="020B0502040204020203" pitchFamily="34" charset="0"/>
                        </a:rPr>
                        <a:t>)</a:t>
                      </a:r>
                    </a:p>
                  </a:txBody>
                  <a:tcPr marL="76200" marR="76200" marT="38100" marB="38100" anchor="ctr"/>
                </a:tc>
                <a:tc>
                  <a:txBody>
                    <a:bodyPr/>
                    <a:lstStyle/>
                    <a:p>
                      <a:pPr marL="0" indent="0" algn="ctr">
                        <a:buNone/>
                      </a:pPr>
                      <a:r>
                        <a:rPr lang="en-US" sz="1000" b="1" dirty="0">
                          <a:solidFill>
                            <a:srgbClr val="00B050"/>
                          </a:solidFill>
                          <a:latin typeface="Segoe UI" panose="020B0502040204020203" pitchFamily="34" charset="0"/>
                          <a:cs typeface="Segoe UI" panose="020B0502040204020203" pitchFamily="34" charset="0"/>
                        </a:rPr>
                        <a:t>P1</a:t>
                      </a:r>
                      <a:endParaRPr lang="en-US" sz="1000" b="1" dirty="0">
                        <a:solidFill>
                          <a:srgbClr val="00B050"/>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1"/>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Extraction ML classique</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950" dirty="0" err="1">
                          <a:solidFill>
                            <a:schemeClr val="tx1"/>
                          </a:solidFill>
                          <a:latin typeface="Segoe UI" panose="020B0502040204020203" pitchFamily="34" charset="0"/>
                          <a:cs typeface="Segoe UI" panose="020B0502040204020203" pitchFamily="34" charset="0"/>
                        </a:rPr>
                        <a:t>Existant</a:t>
                      </a:r>
                      <a:endParaRPr lang="en-US" sz="95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Mature, fiable, déjà en production — service </a:t>
                      </a:r>
                      <a:r>
                        <a:rPr lang="en-US" sz="1000" dirty="0" err="1">
                          <a:solidFill>
                            <a:schemeClr val="tx1"/>
                          </a:solidFill>
                          <a:latin typeface="Segoe UI" panose="020B0502040204020203" pitchFamily="34" charset="0"/>
                          <a:cs typeface="Segoe UI" panose="020B0502040204020203" pitchFamily="34" charset="0"/>
                        </a:rPr>
                        <a:t>atomique</a:t>
                      </a:r>
                      <a:r>
                        <a:rPr lang="en-US" sz="1000" dirty="0">
                          <a:solidFill>
                            <a:schemeClr val="tx1"/>
                          </a:solidFill>
                          <a:latin typeface="Segoe UI" panose="020B0502040204020203" pitchFamily="34" charset="0"/>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Segoe UI" panose="020B0502040204020203" pitchFamily="34" charset="0"/>
                          <a:ea typeface="Calibri" charset="0"/>
                          <a:cs typeface="Segoe UI" panose="020B0502040204020203" pitchFamily="34" charset="0"/>
                        </a:rPr>
                        <a:t>(Exposer un service avec param : Extraction par type de document, extraction </a:t>
                      </a:r>
                      <a:r>
                        <a:rPr lang="en-US" sz="1000" dirty="0" err="1">
                          <a:solidFill>
                            <a:schemeClr val="tx1"/>
                          </a:solidFill>
                          <a:latin typeface="Segoe UI" panose="020B0502040204020203" pitchFamily="34" charset="0"/>
                          <a:ea typeface="Calibri" charset="0"/>
                          <a:cs typeface="Segoe UI" panose="020B0502040204020203" pitchFamily="34" charset="0"/>
                        </a:rPr>
                        <a:t>d’information</a:t>
                      </a:r>
                      <a:r>
                        <a:rPr lang="en-US" sz="1000" dirty="0">
                          <a:solidFill>
                            <a:schemeClr val="tx1"/>
                          </a:solidFill>
                          <a:latin typeface="Segoe UI" panose="020B0502040204020203" pitchFamily="34" charset="0"/>
                          <a:ea typeface="Calibri" charset="0"/>
                          <a:cs typeface="Segoe UI" panose="020B0502040204020203" pitchFamily="34" charset="0"/>
                        </a:rPr>
                        <a:t> </a:t>
                      </a:r>
                      <a:r>
                        <a:rPr lang="en-US" sz="1000" dirty="0" err="1">
                          <a:solidFill>
                            <a:schemeClr val="tx1"/>
                          </a:solidFill>
                          <a:latin typeface="Segoe UI" panose="020B0502040204020203" pitchFamily="34" charset="0"/>
                          <a:ea typeface="Calibri" charset="0"/>
                          <a:cs typeface="Segoe UI" panose="020B0502040204020203" pitchFamily="34" charset="0"/>
                        </a:rPr>
                        <a:t>générique</a:t>
                      </a:r>
                      <a:r>
                        <a:rPr lang="en-US" sz="1000" dirty="0">
                          <a:solidFill>
                            <a:schemeClr val="tx1"/>
                          </a:solidFill>
                          <a:latin typeface="Segoe UI" panose="020B0502040204020203" pitchFamily="34" charset="0"/>
                          <a:ea typeface="Calibri" charset="0"/>
                          <a:cs typeface="Segoe UI" panose="020B0502040204020203" pitchFamily="34" charset="0"/>
                        </a:rPr>
                        <a:t>)</a:t>
                      </a:r>
                    </a:p>
                  </a:txBody>
                  <a:tcPr marL="76200" marR="76200" marT="38100" marB="38100" anchor="ctr"/>
                </a:tc>
                <a:tc>
                  <a:txBody>
                    <a:bodyPr/>
                    <a:lstStyle/>
                    <a:p>
                      <a:pPr marL="0" indent="0" algn="ctr">
                        <a:buNone/>
                      </a:pPr>
                      <a:r>
                        <a:rPr lang="en-US" sz="1000" b="1" dirty="0">
                          <a:solidFill>
                            <a:srgbClr val="00B050"/>
                          </a:solidFill>
                          <a:latin typeface="Segoe UI" panose="020B0502040204020203" pitchFamily="34" charset="0"/>
                          <a:cs typeface="Segoe UI" panose="020B0502040204020203" pitchFamily="34" charset="0"/>
                        </a:rPr>
                        <a:t>P1</a:t>
                      </a:r>
                      <a:endParaRPr lang="en-US" sz="1000" b="1" dirty="0">
                        <a:solidFill>
                          <a:srgbClr val="00B050"/>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2"/>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Identification humaine</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950" dirty="0" err="1">
                          <a:solidFill>
                            <a:schemeClr val="tx1"/>
                          </a:solidFill>
                          <a:latin typeface="Segoe UI" panose="020B0502040204020203" pitchFamily="34" charset="0"/>
                          <a:cs typeface="Segoe UI" panose="020B0502040204020203" pitchFamily="34" charset="0"/>
                        </a:rPr>
                        <a:t>Existant</a:t>
                      </a:r>
                      <a:endParaRPr lang="en-US" sz="95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Mature et en production, mais service non atomique : dépend du projet de transformation Modélisation 3 Camunda.</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1000" dirty="0">
                          <a:solidFill>
                            <a:schemeClr val="tx1"/>
                          </a:solidFill>
                          <a:latin typeface="Segoe UI" panose="020B0502040204020203" pitchFamily="34" charset="0"/>
                          <a:cs typeface="Segoe UI" panose="020B0502040204020203" pitchFamily="34" charset="0"/>
                        </a:rPr>
                        <a:t>P2</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3"/>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Extraction et saisie humaine</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950" dirty="0" err="1">
                          <a:solidFill>
                            <a:schemeClr val="tx1"/>
                          </a:solidFill>
                          <a:latin typeface="Segoe UI" panose="020B0502040204020203" pitchFamily="34" charset="0"/>
                          <a:cs typeface="Segoe UI" panose="020B0502040204020203" pitchFamily="34" charset="0"/>
                        </a:rPr>
                        <a:t>Existant</a:t>
                      </a:r>
                      <a:endParaRPr lang="en-US" sz="95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Mature et en production, mais service non atomique : dépend du projet de transformation Modélisation 3 Camunda.</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1000" dirty="0">
                          <a:solidFill>
                            <a:schemeClr val="tx1"/>
                          </a:solidFill>
                          <a:latin typeface="Segoe UI" panose="020B0502040204020203" pitchFamily="34" charset="0"/>
                          <a:cs typeface="Segoe UI" panose="020B0502040204020203" pitchFamily="34" charset="0"/>
                        </a:rPr>
                        <a:t>P2</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4"/>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Validation et contrôle humains</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950" dirty="0" err="1">
                          <a:solidFill>
                            <a:schemeClr val="tx1"/>
                          </a:solidFill>
                          <a:latin typeface="Segoe UI" panose="020B0502040204020203" pitchFamily="34" charset="0"/>
                          <a:cs typeface="Segoe UI" panose="020B0502040204020203" pitchFamily="34" charset="0"/>
                        </a:rPr>
                        <a:t>Existant</a:t>
                      </a:r>
                      <a:endParaRPr lang="en-US" sz="95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Mature et en production, mais service non atomique : dépend du projet de transformation Modélisation 3 Camunda.</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1000" dirty="0">
                          <a:solidFill>
                            <a:schemeClr val="tx1"/>
                          </a:solidFill>
                          <a:latin typeface="Segoe UI" panose="020B0502040204020203" pitchFamily="34" charset="0"/>
                          <a:cs typeface="Segoe UI" panose="020B0502040204020203" pitchFamily="34" charset="0"/>
                        </a:rPr>
                        <a:t>P2</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5"/>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Détection fraude 2D-DOC</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950" dirty="0" err="1">
                          <a:solidFill>
                            <a:schemeClr val="tx1"/>
                          </a:solidFill>
                          <a:latin typeface="Segoe UI" panose="020B0502040204020203" pitchFamily="34" charset="0"/>
                          <a:cs typeface="Segoe UI" panose="020B0502040204020203" pitchFamily="34" charset="0"/>
                        </a:rPr>
                        <a:t>Existant</a:t>
                      </a:r>
                      <a:endParaRPr lang="en-US" sz="95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Fiable et atomique, mais impact fort en cas d'erreur : nécessite un cadrage du niveau de preuve.</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1000" dirty="0">
                          <a:solidFill>
                            <a:schemeClr val="tx1"/>
                          </a:solidFill>
                          <a:latin typeface="Segoe UI" panose="020B0502040204020203" pitchFamily="34" charset="0"/>
                          <a:cs typeface="Segoe UI" panose="020B0502040204020203" pitchFamily="34" charset="0"/>
                        </a:rPr>
                        <a:t>P2</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6"/>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Classification GenAI</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defTabSz="914400" rtl="0" eaLnBrk="1" latinLnBrk="0" hangingPunct="1">
                        <a:buNone/>
                      </a:pPr>
                      <a:r>
                        <a:rPr lang="en-US" sz="950" kern="1200" dirty="0" err="1">
                          <a:solidFill>
                            <a:schemeClr val="tx1"/>
                          </a:solidFill>
                          <a:latin typeface="Segoe UI" panose="020B0502040204020203" pitchFamily="34" charset="0"/>
                          <a:cs typeface="Segoe UI" panose="020B0502040204020203" pitchFamily="34" charset="0"/>
                        </a:rPr>
                        <a:t>Existant</a:t>
                      </a:r>
                      <a:endParaRPr lang="en-US" sz="950" kern="1200" dirty="0">
                        <a:solidFill>
                          <a:schemeClr val="tx1"/>
                        </a:solidFill>
                        <a:latin typeface="Segoe UI" panose="020B0502040204020203" pitchFamily="34" charset="0"/>
                        <a:ea typeface="Calibri" pitchFamily="34" charset="-122"/>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Flexible, atomique depuis OCR Studio ; l'appel API reste à créer et la fiabilité à </a:t>
                      </a:r>
                      <a:r>
                        <a:rPr lang="en-US" sz="1000" dirty="0" err="1">
                          <a:solidFill>
                            <a:schemeClr val="tx1"/>
                          </a:solidFill>
                          <a:latin typeface="Segoe UI" panose="020B0502040204020203" pitchFamily="34" charset="0"/>
                          <a:cs typeface="Segoe UI" panose="020B0502040204020203" pitchFamily="34" charset="0"/>
                        </a:rPr>
                        <a:t>cadrer</a:t>
                      </a:r>
                      <a:r>
                        <a:rPr lang="en-US" sz="1000" dirty="0">
                          <a:solidFill>
                            <a:schemeClr val="tx1"/>
                          </a:solidFill>
                          <a:latin typeface="Segoe UI" panose="020B0502040204020203" pitchFamily="34" charset="0"/>
                          <a:cs typeface="Segoe UI" panose="020B0502040204020203" pitchFamily="34" charset="0"/>
                        </a:rPr>
                        <a:t>.</a:t>
                      </a:r>
                    </a:p>
                    <a:p>
                      <a:pPr marL="0" indent="0">
                        <a:buNone/>
                      </a:pPr>
                      <a:r>
                        <a:rPr lang="en-US" sz="1000" dirty="0">
                          <a:solidFill>
                            <a:schemeClr val="tx1"/>
                          </a:solidFill>
                          <a:latin typeface="Segoe UI" panose="020B0502040204020203" pitchFamily="34" charset="0"/>
                          <a:ea typeface="Calibri" charset="0"/>
                          <a:cs typeface="Segoe UI" panose="020B0502040204020203" pitchFamily="34" charset="0"/>
                        </a:rPr>
                        <a:t>(A </a:t>
                      </a:r>
                      <a:r>
                        <a:rPr lang="en-US" sz="1000" dirty="0" err="1">
                          <a:solidFill>
                            <a:schemeClr val="tx1"/>
                          </a:solidFill>
                          <a:latin typeface="Segoe UI" panose="020B0502040204020203" pitchFamily="34" charset="0"/>
                          <a:ea typeface="Calibri" charset="0"/>
                          <a:cs typeface="Segoe UI" panose="020B0502040204020203" pitchFamily="34" charset="0"/>
                        </a:rPr>
                        <a:t>cadrer</a:t>
                      </a:r>
                      <a:r>
                        <a:rPr lang="en-US" sz="1000" dirty="0">
                          <a:solidFill>
                            <a:schemeClr val="tx1"/>
                          </a:solidFill>
                          <a:latin typeface="Segoe UI" panose="020B0502040204020203" pitchFamily="34" charset="0"/>
                          <a:ea typeface="Calibri" charset="0"/>
                          <a:cs typeface="Segoe UI" panose="020B0502040204020203" pitchFamily="34" charset="0"/>
                        </a:rPr>
                        <a:t> : </a:t>
                      </a:r>
                      <a:r>
                        <a:rPr lang="en-US" sz="1000" dirty="0" err="1">
                          <a:solidFill>
                            <a:schemeClr val="tx1"/>
                          </a:solidFill>
                          <a:latin typeface="Segoe UI" panose="020B0502040204020203" pitchFamily="34" charset="0"/>
                          <a:ea typeface="Calibri" charset="0"/>
                          <a:cs typeface="Segoe UI" panose="020B0502040204020203" pitchFamily="34" charset="0"/>
                        </a:rPr>
                        <a:t>Adhérences</a:t>
                      </a:r>
                      <a:r>
                        <a:rPr lang="en-US" sz="1000" dirty="0">
                          <a:solidFill>
                            <a:schemeClr val="tx1"/>
                          </a:solidFill>
                          <a:latin typeface="Segoe UI" panose="020B0502040204020203" pitchFamily="34" charset="0"/>
                          <a:ea typeface="Calibri" charset="0"/>
                          <a:cs typeface="Segoe UI" panose="020B0502040204020203" pitchFamily="34" charset="0"/>
                        </a:rPr>
                        <a:t> avec le </a:t>
                      </a:r>
                      <a:r>
                        <a:rPr lang="en-US" sz="1000" dirty="0" err="1">
                          <a:solidFill>
                            <a:schemeClr val="tx1"/>
                          </a:solidFill>
                          <a:latin typeface="Segoe UI" panose="020B0502040204020203" pitchFamily="34" charset="0"/>
                          <a:ea typeface="Calibri" charset="0"/>
                          <a:cs typeface="Segoe UI" panose="020B0502040204020203" pitchFamily="34" charset="0"/>
                        </a:rPr>
                        <a:t>référentiel</a:t>
                      </a:r>
                      <a:r>
                        <a:rPr lang="en-US" sz="1000" dirty="0">
                          <a:solidFill>
                            <a:schemeClr val="tx1"/>
                          </a:solidFill>
                          <a:latin typeface="Segoe UI" panose="020B0502040204020203" pitchFamily="34" charset="0"/>
                          <a:ea typeface="Calibri" charset="0"/>
                          <a:cs typeface="Segoe UI" panose="020B0502040204020203" pitchFamily="34" charset="0"/>
                        </a:rPr>
                        <a:t> des prompts)</a:t>
                      </a:r>
                    </a:p>
                  </a:txBody>
                  <a:tcPr marL="76200" marR="76200" marT="38100" marB="38100" anchor="ctr"/>
                </a:tc>
                <a:tc>
                  <a:txBody>
                    <a:bodyPr/>
                    <a:lstStyle/>
                    <a:p>
                      <a:pPr marL="0" indent="0" algn="ctr">
                        <a:buNone/>
                      </a:pPr>
                      <a:r>
                        <a:rPr lang="en-US" sz="1000" b="1" dirty="0">
                          <a:solidFill>
                            <a:srgbClr val="00B050"/>
                          </a:solidFill>
                          <a:latin typeface="Segoe UI" panose="020B0502040204020203" pitchFamily="34" charset="0"/>
                          <a:cs typeface="Segoe UI" panose="020B0502040204020203" pitchFamily="34" charset="0"/>
                        </a:rPr>
                        <a:t>P1</a:t>
                      </a:r>
                      <a:endParaRPr lang="en-US" sz="1000" b="1" dirty="0">
                        <a:solidFill>
                          <a:srgbClr val="00B050"/>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7"/>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Extraction GenAI</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defTabSz="914400" rtl="0" eaLnBrk="1" latinLnBrk="0" hangingPunct="1">
                        <a:buNone/>
                      </a:pPr>
                      <a:r>
                        <a:rPr lang="en-US" sz="950" kern="1200" dirty="0" err="1">
                          <a:solidFill>
                            <a:schemeClr val="tx1"/>
                          </a:solidFill>
                          <a:latin typeface="Segoe UI" panose="020B0502040204020203" pitchFamily="34" charset="0"/>
                          <a:cs typeface="Segoe UI" panose="020B0502040204020203" pitchFamily="34" charset="0"/>
                        </a:rPr>
                        <a:t>Existant</a:t>
                      </a:r>
                      <a:endParaRPr lang="en-US" sz="950" kern="1200" dirty="0">
                        <a:solidFill>
                          <a:schemeClr val="tx1"/>
                        </a:solidFill>
                        <a:latin typeface="Segoe UI" panose="020B0502040204020203" pitchFamily="34" charset="0"/>
                        <a:ea typeface="Calibri" pitchFamily="34" charset="-122"/>
                        <a:cs typeface="Segoe UI" panose="020B0502040204020203" pitchFamily="34" charset="0"/>
                      </a:endParaRPr>
                    </a:p>
                  </a:txBody>
                  <a:tcPr marL="76200" marR="76200" marT="38100" marB="381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Segoe UI" panose="020B0502040204020203" pitchFamily="34" charset="0"/>
                          <a:cs typeface="Segoe UI" panose="020B0502040204020203" pitchFamily="34" charset="0"/>
                        </a:rPr>
                        <a:t>Flexible, atomique depuis OCR Studio ; l'appel API reste à créer et la fiabilité à </a:t>
                      </a:r>
                      <a:r>
                        <a:rPr lang="en-US" sz="1000" dirty="0" err="1">
                          <a:solidFill>
                            <a:schemeClr val="tx1"/>
                          </a:solidFill>
                          <a:latin typeface="Segoe UI" panose="020B0502040204020203" pitchFamily="34" charset="0"/>
                          <a:cs typeface="Segoe UI" panose="020B0502040204020203" pitchFamily="34" charset="0"/>
                        </a:rPr>
                        <a:t>cadrer</a:t>
                      </a:r>
                      <a:r>
                        <a:rPr lang="en-US" sz="1000" dirty="0">
                          <a:solidFill>
                            <a:schemeClr val="tx1"/>
                          </a:solidFill>
                          <a:latin typeface="Segoe UI" panose="020B0502040204020203" pitchFamily="34" charset="0"/>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Segoe UI" panose="020B0502040204020203" pitchFamily="34" charset="0"/>
                          <a:ea typeface="Calibri" charset="0"/>
                          <a:cs typeface="Segoe UI" panose="020B0502040204020203" pitchFamily="34" charset="0"/>
                        </a:rPr>
                        <a:t>(A </a:t>
                      </a:r>
                      <a:r>
                        <a:rPr lang="en-US" sz="1000" dirty="0" err="1">
                          <a:solidFill>
                            <a:schemeClr val="tx1"/>
                          </a:solidFill>
                          <a:latin typeface="Segoe UI" panose="020B0502040204020203" pitchFamily="34" charset="0"/>
                          <a:ea typeface="Calibri" charset="0"/>
                          <a:cs typeface="Segoe UI" panose="020B0502040204020203" pitchFamily="34" charset="0"/>
                        </a:rPr>
                        <a:t>cadrer</a:t>
                      </a:r>
                      <a:r>
                        <a:rPr lang="en-US" sz="1000" dirty="0">
                          <a:solidFill>
                            <a:schemeClr val="tx1"/>
                          </a:solidFill>
                          <a:latin typeface="Segoe UI" panose="020B0502040204020203" pitchFamily="34" charset="0"/>
                          <a:ea typeface="Calibri" charset="0"/>
                          <a:cs typeface="Segoe UI" panose="020B0502040204020203" pitchFamily="34" charset="0"/>
                        </a:rPr>
                        <a:t> : </a:t>
                      </a:r>
                      <a:r>
                        <a:rPr lang="en-US" sz="1000" dirty="0" err="1">
                          <a:solidFill>
                            <a:schemeClr val="tx1"/>
                          </a:solidFill>
                          <a:latin typeface="Segoe UI" panose="020B0502040204020203" pitchFamily="34" charset="0"/>
                          <a:ea typeface="Calibri" charset="0"/>
                          <a:cs typeface="Segoe UI" panose="020B0502040204020203" pitchFamily="34" charset="0"/>
                        </a:rPr>
                        <a:t>Adhérences</a:t>
                      </a:r>
                      <a:r>
                        <a:rPr lang="en-US" sz="1000" dirty="0">
                          <a:solidFill>
                            <a:schemeClr val="tx1"/>
                          </a:solidFill>
                          <a:latin typeface="Segoe UI" panose="020B0502040204020203" pitchFamily="34" charset="0"/>
                          <a:ea typeface="Calibri" charset="0"/>
                          <a:cs typeface="Segoe UI" panose="020B0502040204020203" pitchFamily="34" charset="0"/>
                        </a:rPr>
                        <a:t> avec le </a:t>
                      </a:r>
                      <a:r>
                        <a:rPr lang="en-US" sz="1000" dirty="0" err="1">
                          <a:solidFill>
                            <a:schemeClr val="tx1"/>
                          </a:solidFill>
                          <a:latin typeface="Segoe UI" panose="020B0502040204020203" pitchFamily="34" charset="0"/>
                          <a:ea typeface="Calibri" charset="0"/>
                          <a:cs typeface="Segoe UI" panose="020B0502040204020203" pitchFamily="34" charset="0"/>
                        </a:rPr>
                        <a:t>référentiel</a:t>
                      </a:r>
                      <a:r>
                        <a:rPr lang="en-US" sz="1000" dirty="0">
                          <a:solidFill>
                            <a:schemeClr val="tx1"/>
                          </a:solidFill>
                          <a:latin typeface="Segoe UI" panose="020B0502040204020203" pitchFamily="34" charset="0"/>
                          <a:ea typeface="Calibri" charset="0"/>
                          <a:cs typeface="Segoe UI" panose="020B0502040204020203" pitchFamily="34" charset="0"/>
                        </a:rPr>
                        <a:t> des prompts)</a:t>
                      </a:r>
                    </a:p>
                  </a:txBody>
                  <a:tcPr marL="76200" marR="76200" marT="38100" marB="38100" anchor="ctr"/>
                </a:tc>
                <a:tc>
                  <a:txBody>
                    <a:bodyPr/>
                    <a:lstStyle/>
                    <a:p>
                      <a:pPr marL="0" indent="0" algn="ctr">
                        <a:buNone/>
                      </a:pPr>
                      <a:r>
                        <a:rPr lang="en-US" sz="1000" b="1" dirty="0">
                          <a:solidFill>
                            <a:srgbClr val="00B050"/>
                          </a:solidFill>
                          <a:latin typeface="Segoe UI" panose="020B0502040204020203" pitchFamily="34" charset="0"/>
                          <a:cs typeface="Segoe UI" panose="020B0502040204020203" pitchFamily="34" charset="0"/>
                        </a:rPr>
                        <a:t>P1</a:t>
                      </a:r>
                      <a:endParaRPr lang="en-US" sz="1000" b="1" dirty="0">
                        <a:solidFill>
                          <a:srgbClr val="00B050"/>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8"/>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Détection d'altération d'image</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defTabSz="914400" rtl="0" eaLnBrk="1" latinLnBrk="0" hangingPunct="1">
                        <a:buNone/>
                      </a:pPr>
                      <a:r>
                        <a:rPr lang="en-US" sz="950" kern="1200" dirty="0">
                          <a:solidFill>
                            <a:schemeClr val="tx1"/>
                          </a:solidFill>
                          <a:latin typeface="Segoe UI" panose="020B0502040204020203" pitchFamily="34" charset="0"/>
                          <a:cs typeface="Segoe UI" panose="020B0502040204020203" pitchFamily="34" charset="0"/>
                        </a:rPr>
                        <a:t>Avenir</a:t>
                      </a:r>
                      <a:endParaRPr lang="en-US" sz="950" kern="1200" dirty="0">
                        <a:solidFill>
                          <a:schemeClr val="tx1"/>
                        </a:solidFill>
                        <a:latin typeface="Segoe UI" panose="020B0502040204020203" pitchFamily="34" charset="0"/>
                        <a:ea typeface="Calibri" pitchFamily="34" charset="-122"/>
                        <a:cs typeface="Segoe UI" panose="020B0502040204020203" pitchFamily="34" charset="0"/>
                      </a:endParaRPr>
                    </a:p>
                  </a:txBody>
                  <a:tcPr marL="76200" marR="76200" marT="38100" marB="38100" anchor="ctr"/>
                </a:tc>
                <a:tc>
                  <a:txBody>
                    <a:bodyPr/>
                    <a:lstStyle/>
                    <a:p>
                      <a:pPr marL="0" indent="0">
                        <a:buNone/>
                      </a:pPr>
                      <a:r>
                        <a:rPr lang="en-US" sz="1000" dirty="0" err="1">
                          <a:solidFill>
                            <a:schemeClr val="tx1"/>
                          </a:solidFill>
                          <a:latin typeface="Segoe UI" panose="020B0502040204020203" pitchFamily="34" charset="0"/>
                          <a:cs typeface="Segoe UI" panose="020B0502040204020203" pitchFamily="34" charset="0"/>
                        </a:rPr>
                        <a:t>Périmètre encore en construction — pas de contrat d'interface stabilisé.</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1000" dirty="0">
                          <a:solidFill>
                            <a:schemeClr val="tx1"/>
                          </a:solidFill>
                          <a:latin typeface="Segoe UI" panose="020B0502040204020203" pitchFamily="34" charset="0"/>
                          <a:cs typeface="Segoe UI" panose="020B0502040204020203" pitchFamily="34" charset="0"/>
                        </a:rPr>
                        <a:t>P3</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09"/>
                  </a:ext>
                </a:extLst>
              </a:tr>
              <a:tr h="429768">
                <a:tc>
                  <a:txBody>
                    <a:bodyPr/>
                    <a:lstStyle/>
                    <a:p>
                      <a:pPr marL="0" indent="0">
                        <a:buNone/>
                      </a:pPr>
                      <a:r>
                        <a:rPr lang="en-US" sz="1000" b="1" dirty="0">
                          <a:solidFill>
                            <a:schemeClr val="tx1"/>
                          </a:solidFill>
                          <a:latin typeface="Segoe UI" panose="020B0502040204020203" pitchFamily="34" charset="0"/>
                          <a:cs typeface="Segoe UI" panose="020B0502040204020203" pitchFamily="34" charset="0"/>
                        </a:rPr>
                        <a:t>Service </a:t>
                      </a:r>
                      <a:r>
                        <a:rPr lang="en-US" sz="1000" b="1" dirty="0" err="1">
                          <a:solidFill>
                            <a:schemeClr val="tx1"/>
                          </a:solidFill>
                          <a:latin typeface="Segoe UI" panose="020B0502040204020203" pitchFamily="34" charset="0"/>
                          <a:cs typeface="Segoe UI" panose="020B0502040204020203" pitchFamily="34" charset="0"/>
                        </a:rPr>
                        <a:t>d'orchestration</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defTabSz="914400" rtl="0" eaLnBrk="1" latinLnBrk="0" hangingPunct="1">
                        <a:buNone/>
                      </a:pPr>
                      <a:r>
                        <a:rPr lang="en-US" sz="950" kern="1200" dirty="0">
                          <a:solidFill>
                            <a:schemeClr val="tx1"/>
                          </a:solidFill>
                          <a:latin typeface="Segoe UI" panose="020B0502040204020203" pitchFamily="34" charset="0"/>
                          <a:cs typeface="Segoe UI" panose="020B0502040204020203" pitchFamily="34" charset="0"/>
                        </a:rPr>
                        <a:t>Avenir</a:t>
                      </a:r>
                      <a:endParaRPr lang="en-US" sz="950" kern="1200" dirty="0">
                        <a:solidFill>
                          <a:schemeClr val="tx1"/>
                        </a:solidFill>
                        <a:latin typeface="Segoe UI" panose="020B0502040204020203" pitchFamily="34" charset="0"/>
                        <a:ea typeface="Calibri" pitchFamily="34" charset="-122"/>
                        <a:cs typeface="Segoe UI" panose="020B0502040204020203" pitchFamily="34" charset="0"/>
                      </a:endParaRPr>
                    </a:p>
                  </a:txBody>
                  <a:tcPr marL="76200" marR="76200" marT="38100" marB="38100" anchor="ctr"/>
                </a:tc>
                <a:tc>
                  <a:txBody>
                    <a:bodyPr/>
                    <a:lstStyle/>
                    <a:p>
                      <a:pPr marL="0" indent="0">
                        <a:buNone/>
                      </a:pPr>
                      <a:r>
                        <a:rPr lang="en-US" sz="1000" dirty="0">
                          <a:solidFill>
                            <a:schemeClr val="tx1"/>
                          </a:solidFill>
                          <a:latin typeface="Segoe UI" panose="020B0502040204020203" pitchFamily="34" charset="0"/>
                          <a:cs typeface="Segoe UI" panose="020B0502040204020203" pitchFamily="34" charset="0"/>
                        </a:rPr>
                        <a:t>Différenciant mais complexe : dépend de la maturité du socle </a:t>
                      </a:r>
                      <a:r>
                        <a:rPr lang="en-US" sz="1000" dirty="0" err="1">
                          <a:solidFill>
                            <a:schemeClr val="tx1"/>
                          </a:solidFill>
                          <a:latin typeface="Segoe UI" panose="020B0502040204020203" pitchFamily="34" charset="0"/>
                          <a:cs typeface="Segoe UI" panose="020B0502040204020203" pitchFamily="34" charset="0"/>
                        </a:rPr>
                        <a:t>mutualisé</a:t>
                      </a:r>
                      <a:r>
                        <a:rPr lang="en-US" sz="1000" dirty="0">
                          <a:solidFill>
                            <a:schemeClr val="tx1"/>
                          </a:solidFill>
                          <a:latin typeface="Segoe UI" panose="020B0502040204020203" pitchFamily="34" charset="0"/>
                          <a:cs typeface="Segoe UI" panose="020B0502040204020203" pitchFamily="34" charset="0"/>
                        </a:rPr>
                        <a:t>.</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tc>
                  <a:txBody>
                    <a:bodyPr/>
                    <a:lstStyle/>
                    <a:p>
                      <a:pPr marL="0" indent="0" algn="ctr">
                        <a:buNone/>
                      </a:pPr>
                      <a:r>
                        <a:rPr lang="en-US" sz="1000" dirty="0">
                          <a:solidFill>
                            <a:schemeClr val="tx1"/>
                          </a:solidFill>
                          <a:latin typeface="Segoe UI" panose="020B0502040204020203" pitchFamily="34" charset="0"/>
                          <a:cs typeface="Segoe UI" panose="020B0502040204020203" pitchFamily="34" charset="0"/>
                        </a:rPr>
                        <a:t>P4</a:t>
                      </a:r>
                      <a:endParaRPr lang="en-US" sz="1000" dirty="0">
                        <a:solidFill>
                          <a:schemeClr val="tx1"/>
                        </a:solidFill>
                        <a:latin typeface="Segoe UI" panose="020B0502040204020203" pitchFamily="34" charset="0"/>
                        <a:ea typeface="Calibri" charset="0"/>
                        <a:cs typeface="Segoe UI" panose="020B0502040204020203" pitchFamily="34" charset="0"/>
                      </a:endParaRPr>
                    </a:p>
                  </a:txBody>
                  <a:tcPr marL="76200" marR="76200" marT="38100" marB="38100" anchor="ctr"/>
                </a:tc>
                <a:extLst>
                  <a:ext uri="{0D108BD9-81ED-4DB2-BD59-A6C34878D82A}">
                    <a16:rowId xmlns:a16="http://schemas.microsoft.com/office/drawing/2014/main" val="10010"/>
                  </a:ext>
                </a:extLst>
              </a:tr>
            </a:tbl>
          </a:graphicData>
        </a:graphic>
      </p:graphicFrame>
      <p:sp>
        <p:nvSpPr>
          <p:cNvPr id="6" name="ZoneTexte 5">
            <a:extLst>
              <a:ext uri="{FF2B5EF4-FFF2-40B4-BE49-F238E27FC236}">
                <a16:creationId xmlns:a16="http://schemas.microsoft.com/office/drawing/2014/main" id="{4CC3EC6A-C784-D76D-0732-5056474ADCE6}"/>
              </a:ext>
            </a:extLst>
          </p:cNvPr>
          <p:cNvSpPr txBox="1"/>
          <p:nvPr/>
        </p:nvSpPr>
        <p:spPr>
          <a:xfrm>
            <a:off x="379132" y="5815033"/>
            <a:ext cx="11040386" cy="276999"/>
          </a:xfrm>
          <a:prstGeom prst="rect">
            <a:avLst/>
          </a:prstGeom>
          <a:noFill/>
        </p:spPr>
        <p:txBody>
          <a:bodyPr wrap="square" rtlCol="0">
            <a:spAutoFit/>
          </a:bodyPr>
          <a:lstStyle/>
          <a:p>
            <a:r>
              <a:rPr lang="fr-FR" sz="1200" u="sng" dirty="0">
                <a:latin typeface="Segoe UI" panose="020B0502040204020203" pitchFamily="34" charset="0"/>
                <a:cs typeface="Segoe UI" panose="020B0502040204020203" pitchFamily="34" charset="0"/>
              </a:rPr>
              <a:t>Remarque</a:t>
            </a:r>
            <a:r>
              <a:rPr lang="fr-FR" sz="1200" dirty="0">
                <a:latin typeface="Segoe UI" panose="020B0502040204020203" pitchFamily="34" charset="0"/>
                <a:cs typeface="Segoe UI" panose="020B0502040204020203" pitchFamily="34" charset="0"/>
              </a:rPr>
              <a:t> : Une fois le cadrage de l’exposition auprès des services </a:t>
            </a:r>
            <a:r>
              <a:rPr lang="fr-FR" sz="1200" b="1" dirty="0">
                <a:latin typeface="Segoe UI" panose="020B0502040204020203" pitchFamily="34" charset="0"/>
                <a:cs typeface="Segoe UI" panose="020B0502040204020203" pitchFamily="34" charset="0"/>
              </a:rPr>
              <a:t>agentiques, cette liste et les formats d’exposition pourront être complétés</a:t>
            </a:r>
          </a:p>
        </p:txBody>
      </p:sp>
    </p:spTree>
    <p:extLst>
      <p:ext uri="{BB962C8B-B14F-4D97-AF65-F5344CB8AC3E}">
        <p14:creationId xmlns:p14="http://schemas.microsoft.com/office/powerpoint/2010/main" val="440392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Maquette — la fiche de service</a:t>
            </a:r>
          </a:p>
        </p:txBody>
      </p:sp>
      <p:sp>
        <p:nvSpPr>
          <p:cNvPr id="3" name="TextBox 2"/>
          <p:cNvSpPr txBox="1"/>
          <p:nvPr/>
        </p:nvSpPr>
        <p:spPr>
          <a:xfrm>
            <a:off x="822960" y="896112"/>
            <a:ext cx="10972800" cy="310896"/>
          </a:xfrm>
          <a:prstGeom prst="rect">
            <a:avLst/>
          </a:prstGeom>
          <a:noFill/>
        </p:spPr>
        <p:txBody>
          <a:bodyPr wrap="square" lIns="0" tIns="0" rIns="0" bIns="0" anchor="t">
            <a:spAutoFit/>
          </a:bodyPr>
          <a:lstStyle/>
          <a:p>
            <a:pPr algn="l">
              <a:lnSpc>
                <a:spcPct val="110000"/>
              </a:lnSpc>
            </a:pPr>
            <a:r>
              <a:rPr sz="1100" b="0" i="1" dirty="0">
                <a:solidFill>
                  <a:srgbClr val="5B6472"/>
                </a:solidFill>
                <a:latin typeface="Calibri"/>
              </a:rPr>
              <a:t>Un </a:t>
            </a:r>
            <a:r>
              <a:rPr sz="1100" b="0" i="1" dirty="0" err="1">
                <a:solidFill>
                  <a:srgbClr val="5B6472"/>
                </a:solidFill>
                <a:latin typeface="Calibri"/>
              </a:rPr>
              <a:t>même</a:t>
            </a:r>
            <a:r>
              <a:rPr sz="1100" b="0" i="1" dirty="0">
                <a:solidFill>
                  <a:srgbClr val="5B6472"/>
                </a:solidFill>
                <a:latin typeface="Calibri"/>
              </a:rPr>
              <a:t> </a:t>
            </a:r>
            <a:r>
              <a:rPr sz="1100" b="0" i="1" dirty="0" err="1">
                <a:solidFill>
                  <a:srgbClr val="5B6472"/>
                </a:solidFill>
                <a:latin typeface="Calibri"/>
              </a:rPr>
              <a:t>gabarit</a:t>
            </a:r>
            <a:r>
              <a:rPr sz="1100" b="0" i="1" dirty="0">
                <a:solidFill>
                  <a:srgbClr val="5B6472"/>
                </a:solidFill>
                <a:latin typeface="Calibri"/>
              </a:rPr>
              <a:t> de fiche pour </a:t>
            </a:r>
            <a:r>
              <a:rPr sz="1100" b="0" i="1" dirty="0" err="1">
                <a:solidFill>
                  <a:srgbClr val="5B6472"/>
                </a:solidFill>
                <a:latin typeface="Calibri"/>
              </a:rPr>
              <a:t>tous</a:t>
            </a:r>
            <a:r>
              <a:rPr sz="1100" b="0" i="1" dirty="0">
                <a:solidFill>
                  <a:srgbClr val="5B6472"/>
                </a:solidFill>
                <a:latin typeface="Calibri"/>
              </a:rPr>
              <a:t> les services, </a:t>
            </a:r>
            <a:r>
              <a:rPr sz="1100" b="0" i="1" dirty="0" err="1">
                <a:solidFill>
                  <a:srgbClr val="5B6472"/>
                </a:solidFill>
                <a:latin typeface="Calibri"/>
              </a:rPr>
              <a:t>qu'ils</a:t>
            </a:r>
            <a:r>
              <a:rPr sz="1100" b="0" i="1" dirty="0">
                <a:solidFill>
                  <a:srgbClr val="5B6472"/>
                </a:solidFill>
                <a:latin typeface="Calibri"/>
              </a:rPr>
              <a:t> </a:t>
            </a:r>
            <a:r>
              <a:rPr sz="1100" b="0" i="1" dirty="0" err="1">
                <a:solidFill>
                  <a:srgbClr val="5B6472"/>
                </a:solidFill>
                <a:latin typeface="Calibri"/>
              </a:rPr>
              <a:t>soient</a:t>
            </a:r>
            <a:r>
              <a:rPr sz="1100" b="0" i="1" dirty="0">
                <a:solidFill>
                  <a:srgbClr val="5B6472"/>
                </a:solidFill>
                <a:latin typeface="Calibri"/>
              </a:rPr>
              <a:t> </a:t>
            </a:r>
            <a:r>
              <a:rPr sz="1100" b="0" i="1" dirty="0" err="1">
                <a:solidFill>
                  <a:srgbClr val="5B6472"/>
                </a:solidFill>
                <a:latin typeface="Calibri"/>
              </a:rPr>
              <a:t>APIsés</a:t>
            </a:r>
            <a:r>
              <a:rPr sz="1100" b="0" i="1" dirty="0">
                <a:solidFill>
                  <a:srgbClr val="5B6472"/>
                </a:solidFill>
                <a:latin typeface="Calibri"/>
              </a:rPr>
              <a:t> </a:t>
            </a:r>
            <a:r>
              <a:rPr sz="1100" b="0" i="1" dirty="0" err="1">
                <a:solidFill>
                  <a:srgbClr val="5B6472"/>
                </a:solidFill>
                <a:latin typeface="Calibri"/>
              </a:rPr>
              <a:t>ou</a:t>
            </a:r>
            <a:r>
              <a:rPr sz="1100" b="0" i="1" dirty="0">
                <a:solidFill>
                  <a:srgbClr val="5B6472"/>
                </a:solidFill>
                <a:latin typeface="Calibri"/>
              </a:rPr>
              <a:t> non.</a:t>
            </a:r>
          </a:p>
        </p:txBody>
      </p:sp>
      <p:pic>
        <p:nvPicPr>
          <p:cNvPr id="4" name="Picture 3" descr="04_service_apise.png"/>
          <p:cNvPicPr>
            <a:picLocks noChangeAspect="1"/>
          </p:cNvPicPr>
          <p:nvPr/>
        </p:nvPicPr>
        <p:blipFill>
          <a:blip r:embed="rId2"/>
          <a:stretch>
            <a:fillRect/>
          </a:stretch>
        </p:blipFill>
        <p:spPr>
          <a:xfrm>
            <a:off x="457200" y="1389888"/>
            <a:ext cx="5422392" cy="3424668"/>
          </a:xfrm>
          <a:prstGeom prst="rect">
            <a:avLst/>
          </a:prstGeom>
          <a:ln w="9525">
            <a:solidFill>
              <a:srgbClr val="DFE6F0"/>
            </a:solidFill>
          </a:ln>
        </p:spPr>
      </p:pic>
      <p:sp>
        <p:nvSpPr>
          <p:cNvPr id="5" name="TextBox 4"/>
          <p:cNvSpPr txBox="1"/>
          <p:nvPr/>
        </p:nvSpPr>
        <p:spPr>
          <a:xfrm>
            <a:off x="457200" y="4901184"/>
            <a:ext cx="5422392" cy="285206"/>
          </a:xfrm>
          <a:prstGeom prst="rect">
            <a:avLst/>
          </a:prstGeom>
          <a:noFill/>
        </p:spPr>
        <p:txBody>
          <a:bodyPr wrap="square" lIns="0" tIns="0" rIns="0" bIns="0" anchor="t">
            <a:spAutoFit/>
          </a:bodyPr>
          <a:lstStyle/>
          <a:p>
            <a:pPr algn="l">
              <a:lnSpc>
                <a:spcPct val="112000"/>
              </a:lnSpc>
            </a:pPr>
            <a:r>
              <a:rPr sz="850" b="0" i="0" dirty="0">
                <a:solidFill>
                  <a:srgbClr val="1B2433"/>
                </a:solidFill>
                <a:latin typeface="Calibri"/>
              </a:rPr>
              <a:t>Service </a:t>
            </a:r>
            <a:r>
              <a:rPr sz="850" b="0" i="0" dirty="0" err="1">
                <a:solidFill>
                  <a:srgbClr val="1B2433"/>
                </a:solidFill>
                <a:latin typeface="Calibri"/>
              </a:rPr>
              <a:t>APIsé</a:t>
            </a:r>
            <a:r>
              <a:rPr sz="850" b="0" i="0" dirty="0">
                <a:solidFill>
                  <a:srgbClr val="1B2433"/>
                </a:solidFill>
                <a:latin typeface="Calibri"/>
              </a:rPr>
              <a:t> — </a:t>
            </a:r>
            <a:r>
              <a:rPr sz="850" b="0" i="0" dirty="0" err="1">
                <a:solidFill>
                  <a:srgbClr val="1B2433"/>
                </a:solidFill>
                <a:latin typeface="Calibri"/>
              </a:rPr>
              <a:t>contrat</a:t>
            </a:r>
            <a:r>
              <a:rPr sz="850" b="0" i="0" dirty="0">
                <a:solidFill>
                  <a:srgbClr val="1B2433"/>
                </a:solidFill>
                <a:latin typeface="Calibri"/>
              </a:rPr>
              <a:t> </a:t>
            </a:r>
            <a:r>
              <a:rPr sz="850" b="0" i="0" dirty="0" err="1">
                <a:solidFill>
                  <a:srgbClr val="1B2433"/>
                </a:solidFill>
                <a:latin typeface="Calibri"/>
              </a:rPr>
              <a:t>d'interface</a:t>
            </a:r>
            <a:r>
              <a:rPr sz="850" b="0" i="0" dirty="0">
                <a:solidFill>
                  <a:srgbClr val="1B2433"/>
                </a:solidFill>
                <a:latin typeface="Calibri"/>
              </a:rPr>
              <a:t>, version, </a:t>
            </a:r>
            <a:r>
              <a:rPr sz="850" b="0" i="0" dirty="0" err="1">
                <a:solidFill>
                  <a:srgbClr val="1B2433"/>
                </a:solidFill>
                <a:latin typeface="Calibri"/>
              </a:rPr>
              <a:t>seuil</a:t>
            </a:r>
            <a:r>
              <a:rPr sz="850" b="0" i="0" dirty="0">
                <a:solidFill>
                  <a:srgbClr val="1B2433"/>
                </a:solidFill>
                <a:latin typeface="Calibri"/>
              </a:rPr>
              <a:t> de </a:t>
            </a:r>
            <a:r>
              <a:rPr sz="850" b="0" i="0" dirty="0" err="1">
                <a:solidFill>
                  <a:srgbClr val="1B2433"/>
                </a:solidFill>
                <a:latin typeface="Calibri"/>
              </a:rPr>
              <a:t>confiance</a:t>
            </a:r>
            <a:r>
              <a:rPr sz="850" b="0" i="0" dirty="0">
                <a:solidFill>
                  <a:srgbClr val="1B2433"/>
                </a:solidFill>
                <a:latin typeface="Calibri"/>
              </a:rPr>
              <a:t>, </a:t>
            </a:r>
            <a:r>
              <a:rPr lang="fr-FR" sz="850" b="0" i="0" dirty="0">
                <a:solidFill>
                  <a:srgbClr val="1B2433"/>
                </a:solidFill>
                <a:latin typeface="Calibri"/>
              </a:rPr>
              <a:t>niveaux de services</a:t>
            </a:r>
            <a:r>
              <a:rPr sz="850" b="0" i="0" dirty="0">
                <a:solidFill>
                  <a:srgbClr val="1B2433"/>
                </a:solidFill>
                <a:latin typeface="Calibri"/>
              </a:rPr>
              <a:t> et quotas, </a:t>
            </a:r>
            <a:r>
              <a:rPr sz="850" b="0" i="0" dirty="0" err="1">
                <a:solidFill>
                  <a:srgbClr val="1B2433"/>
                </a:solidFill>
                <a:latin typeface="Calibri"/>
              </a:rPr>
              <a:t>accès</a:t>
            </a:r>
            <a:r>
              <a:rPr sz="850" b="0" i="0" dirty="0">
                <a:solidFill>
                  <a:srgbClr val="1B2433"/>
                </a:solidFill>
                <a:latin typeface="Calibri"/>
              </a:rPr>
              <a:t> direct au bac à sable et à la </a:t>
            </a:r>
            <a:r>
              <a:rPr sz="850" b="0" i="0" dirty="0" err="1">
                <a:solidFill>
                  <a:srgbClr val="1B2433"/>
                </a:solidFill>
                <a:latin typeface="Calibri"/>
              </a:rPr>
              <a:t>souscription</a:t>
            </a:r>
            <a:r>
              <a:rPr sz="850" b="0" i="0" dirty="0">
                <a:solidFill>
                  <a:srgbClr val="1B2433"/>
                </a:solidFill>
                <a:latin typeface="Calibri"/>
              </a:rPr>
              <a:t>.</a:t>
            </a:r>
          </a:p>
        </p:txBody>
      </p:sp>
      <p:pic>
        <p:nvPicPr>
          <p:cNvPr id="6" name="Picture 5" descr="05_service_prestation.png"/>
          <p:cNvPicPr>
            <a:picLocks noChangeAspect="1"/>
          </p:cNvPicPr>
          <p:nvPr/>
        </p:nvPicPr>
        <p:blipFill>
          <a:blip r:embed="rId3"/>
          <a:stretch>
            <a:fillRect/>
          </a:stretch>
        </p:blipFill>
        <p:spPr>
          <a:xfrm>
            <a:off x="6327648" y="1389888"/>
            <a:ext cx="5422392" cy="3424668"/>
          </a:xfrm>
          <a:prstGeom prst="rect">
            <a:avLst/>
          </a:prstGeom>
          <a:ln w="9525">
            <a:solidFill>
              <a:srgbClr val="DFE6F0"/>
            </a:solidFill>
          </a:ln>
        </p:spPr>
      </p:pic>
      <p:sp>
        <p:nvSpPr>
          <p:cNvPr id="7" name="TextBox 6"/>
          <p:cNvSpPr txBox="1"/>
          <p:nvPr/>
        </p:nvSpPr>
        <p:spPr>
          <a:xfrm>
            <a:off x="6327648" y="4901184"/>
            <a:ext cx="5422392" cy="685800"/>
          </a:xfrm>
          <a:prstGeom prst="rect">
            <a:avLst/>
          </a:prstGeom>
          <a:noFill/>
        </p:spPr>
        <p:txBody>
          <a:bodyPr wrap="square" lIns="0" tIns="0" rIns="0" bIns="0" anchor="t">
            <a:spAutoFit/>
          </a:bodyPr>
          <a:lstStyle/>
          <a:p>
            <a:pPr algn="l">
              <a:lnSpc>
                <a:spcPct val="112000"/>
              </a:lnSpc>
            </a:pPr>
            <a:r>
              <a:rPr sz="850" b="0" i="0" dirty="0">
                <a:solidFill>
                  <a:srgbClr val="1B2433"/>
                </a:solidFill>
                <a:latin typeface="Calibri"/>
              </a:rPr>
              <a:t>Service non </a:t>
            </a:r>
            <a:r>
              <a:rPr sz="850" b="0" i="0" dirty="0" err="1">
                <a:solidFill>
                  <a:srgbClr val="1B2433"/>
                </a:solidFill>
                <a:latin typeface="Calibri"/>
              </a:rPr>
              <a:t>APIsable</a:t>
            </a:r>
            <a:r>
              <a:rPr sz="850" b="0" i="0" dirty="0">
                <a:solidFill>
                  <a:srgbClr val="1B2433"/>
                </a:solidFill>
                <a:latin typeface="Calibri"/>
              </a:rPr>
              <a:t> — la </a:t>
            </a:r>
            <a:r>
              <a:rPr sz="850" b="0" i="0" dirty="0" err="1">
                <a:solidFill>
                  <a:srgbClr val="1B2433"/>
                </a:solidFill>
                <a:latin typeface="Calibri"/>
              </a:rPr>
              <a:t>même</a:t>
            </a:r>
            <a:r>
              <a:rPr sz="850" b="0" i="0" dirty="0">
                <a:solidFill>
                  <a:srgbClr val="1B2433"/>
                </a:solidFill>
                <a:latin typeface="Calibri"/>
              </a:rPr>
              <a:t> fiche, </a:t>
            </a:r>
            <a:r>
              <a:rPr sz="850" b="0" i="0" dirty="0" err="1">
                <a:solidFill>
                  <a:srgbClr val="1B2433"/>
                </a:solidFill>
                <a:latin typeface="Calibri"/>
              </a:rPr>
              <a:t>mais</a:t>
            </a:r>
            <a:r>
              <a:rPr sz="850" b="0" i="0" dirty="0">
                <a:solidFill>
                  <a:srgbClr val="1B2433"/>
                </a:solidFill>
                <a:latin typeface="Calibri"/>
              </a:rPr>
              <a:t> le </a:t>
            </a:r>
            <a:r>
              <a:rPr sz="850" b="0" i="0" dirty="0" err="1">
                <a:solidFill>
                  <a:srgbClr val="1B2433"/>
                </a:solidFill>
                <a:latin typeface="Calibri"/>
              </a:rPr>
              <a:t>contrat</a:t>
            </a:r>
            <a:r>
              <a:rPr sz="850" b="0" i="0" dirty="0">
                <a:solidFill>
                  <a:srgbClr val="1B2433"/>
                </a:solidFill>
                <a:latin typeface="Calibri"/>
              </a:rPr>
              <a:t> </a:t>
            </a:r>
            <a:r>
              <a:rPr sz="850" b="0" i="0" dirty="0" err="1">
                <a:solidFill>
                  <a:srgbClr val="1B2433"/>
                </a:solidFill>
                <a:latin typeface="Calibri"/>
              </a:rPr>
              <a:t>d'interface</a:t>
            </a:r>
            <a:r>
              <a:rPr sz="850" b="0" i="0" dirty="0">
                <a:solidFill>
                  <a:srgbClr val="1B2433"/>
                </a:solidFill>
                <a:latin typeface="Calibri"/>
              </a:rPr>
              <a:t> </a:t>
            </a:r>
            <a:r>
              <a:rPr sz="850" b="0" i="0" dirty="0" err="1">
                <a:solidFill>
                  <a:srgbClr val="1B2433"/>
                </a:solidFill>
                <a:latin typeface="Calibri"/>
              </a:rPr>
              <a:t>est</a:t>
            </a:r>
            <a:r>
              <a:rPr sz="850" b="0" i="0" dirty="0">
                <a:solidFill>
                  <a:srgbClr val="1B2433"/>
                </a:solidFill>
                <a:latin typeface="Calibri"/>
              </a:rPr>
              <a:t> </a:t>
            </a:r>
            <a:r>
              <a:rPr sz="850" b="0" i="0" dirty="0" err="1">
                <a:solidFill>
                  <a:srgbClr val="1B2433"/>
                </a:solidFill>
                <a:latin typeface="Calibri"/>
              </a:rPr>
              <a:t>remplacé</a:t>
            </a:r>
            <a:r>
              <a:rPr sz="850" b="0" i="0" dirty="0">
                <a:solidFill>
                  <a:srgbClr val="1B2433"/>
                </a:solidFill>
                <a:latin typeface="Calibri"/>
              </a:rPr>
              <a:t> par les </a:t>
            </a:r>
            <a:r>
              <a:rPr sz="850" b="0" i="0" dirty="0" err="1">
                <a:solidFill>
                  <a:srgbClr val="1B2433"/>
                </a:solidFill>
                <a:latin typeface="Calibri"/>
              </a:rPr>
              <a:t>modalités</a:t>
            </a:r>
            <a:r>
              <a:rPr sz="850" b="0" i="0" dirty="0">
                <a:solidFill>
                  <a:srgbClr val="1B2433"/>
                </a:solidFill>
                <a:latin typeface="Calibri"/>
              </a:rPr>
              <a:t> de la prestation : </a:t>
            </a:r>
            <a:r>
              <a:rPr sz="850" b="0" i="0" dirty="0" err="1">
                <a:solidFill>
                  <a:srgbClr val="1B2433"/>
                </a:solidFill>
                <a:latin typeface="Calibri"/>
              </a:rPr>
              <a:t>commande</a:t>
            </a:r>
            <a:r>
              <a:rPr sz="850" b="0" i="0" dirty="0">
                <a:solidFill>
                  <a:srgbClr val="1B2433"/>
                </a:solidFill>
                <a:latin typeface="Calibri"/>
              </a:rPr>
              <a:t>, </a:t>
            </a:r>
            <a:r>
              <a:rPr sz="850" b="0" i="0" dirty="0" err="1">
                <a:solidFill>
                  <a:srgbClr val="1B2433"/>
                </a:solidFill>
                <a:latin typeface="Calibri"/>
              </a:rPr>
              <a:t>interlocuteur</a:t>
            </a:r>
            <a:r>
              <a:rPr sz="850" b="0" i="0" dirty="0">
                <a:solidFill>
                  <a:srgbClr val="1B2433"/>
                </a:solidFill>
                <a:latin typeface="Calibri"/>
              </a:rPr>
              <a:t>, </a:t>
            </a:r>
            <a:r>
              <a:rPr sz="850" b="0" i="0" dirty="0" err="1">
                <a:solidFill>
                  <a:srgbClr val="1B2433"/>
                </a:solidFill>
                <a:latin typeface="Calibri"/>
              </a:rPr>
              <a:t>délai</a:t>
            </a:r>
            <a:r>
              <a:rPr sz="850" b="0" i="0" dirty="0">
                <a:solidFill>
                  <a:srgbClr val="1B2433"/>
                </a:solidFill>
                <a:latin typeface="Calibri"/>
              </a:rPr>
              <a:t> de mise </a:t>
            </a:r>
            <a:r>
              <a:rPr sz="850" b="0" i="0" dirty="0" err="1">
                <a:solidFill>
                  <a:srgbClr val="1B2433"/>
                </a:solidFill>
                <a:latin typeface="Calibri"/>
              </a:rPr>
              <a:t>en</a:t>
            </a:r>
            <a:r>
              <a:rPr sz="850" b="0" i="0" dirty="0">
                <a:solidFill>
                  <a:srgbClr val="1B2433"/>
                </a:solidFill>
                <a:latin typeface="Calibri"/>
              </a:rPr>
              <a:t> service, restitution.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Maquette — le bac à sable</a:t>
            </a:r>
          </a:p>
        </p:txBody>
      </p:sp>
      <p:sp>
        <p:nvSpPr>
          <p:cNvPr id="3" name="TextBox 2"/>
          <p:cNvSpPr txBox="1"/>
          <p:nvPr/>
        </p:nvSpPr>
        <p:spPr>
          <a:xfrm>
            <a:off x="822960" y="896112"/>
            <a:ext cx="10972800" cy="310896"/>
          </a:xfrm>
          <a:prstGeom prst="rect">
            <a:avLst/>
          </a:prstGeom>
          <a:noFill/>
        </p:spPr>
        <p:txBody>
          <a:bodyPr wrap="square" lIns="0" tIns="0" rIns="0" bIns="0" anchor="t">
            <a:spAutoFit/>
          </a:bodyPr>
          <a:lstStyle/>
          <a:p>
            <a:pPr algn="l">
              <a:lnSpc>
                <a:spcPct val="110000"/>
              </a:lnSpc>
            </a:pPr>
            <a:r>
              <a:rPr sz="1100" b="0" i="1">
                <a:solidFill>
                  <a:srgbClr val="5B6472"/>
                </a:solidFill>
                <a:latin typeface="Calibri"/>
              </a:rPr>
              <a:t>Tester un service sans intégration préalable, et voir concrètement le mécanisme de reprise humaine.</a:t>
            </a:r>
          </a:p>
        </p:txBody>
      </p:sp>
      <p:pic>
        <p:nvPicPr>
          <p:cNvPr id="4" name="Picture 3" descr="06_sandbox_reponse.png"/>
          <p:cNvPicPr>
            <a:picLocks noChangeAspect="1"/>
          </p:cNvPicPr>
          <p:nvPr/>
        </p:nvPicPr>
        <p:blipFill>
          <a:blip r:embed="rId2"/>
          <a:stretch>
            <a:fillRect/>
          </a:stretch>
        </p:blipFill>
        <p:spPr>
          <a:xfrm>
            <a:off x="457200" y="1389888"/>
            <a:ext cx="5422392" cy="3424668"/>
          </a:xfrm>
          <a:prstGeom prst="rect">
            <a:avLst/>
          </a:prstGeom>
          <a:ln w="9525">
            <a:solidFill>
              <a:srgbClr val="DFE6F0"/>
            </a:solidFill>
          </a:ln>
        </p:spPr>
      </p:pic>
      <p:sp>
        <p:nvSpPr>
          <p:cNvPr id="5" name="TextBox 4"/>
          <p:cNvSpPr txBox="1"/>
          <p:nvPr/>
        </p:nvSpPr>
        <p:spPr>
          <a:xfrm>
            <a:off x="457200" y="4901184"/>
            <a:ext cx="5422392" cy="685800"/>
          </a:xfrm>
          <a:prstGeom prst="rect">
            <a:avLst/>
          </a:prstGeom>
          <a:noFill/>
        </p:spPr>
        <p:txBody>
          <a:bodyPr wrap="square" lIns="0" tIns="0" rIns="0" bIns="0" anchor="t">
            <a:spAutoFit/>
          </a:bodyPr>
          <a:lstStyle/>
          <a:p>
            <a:pPr algn="l">
              <a:lnSpc>
                <a:spcPct val="112000"/>
              </a:lnSpc>
            </a:pPr>
            <a:r>
              <a:rPr sz="850" b="0" i="0">
                <a:solidFill>
                  <a:srgbClr val="1B2433"/>
                </a:solidFill>
                <a:latin typeface="Calibri"/>
              </a:rPr>
              <a:t>Appel nominal — le consommateur choisit un service, dépose un document de test et obtient la réponse dans le format de sortie commun, sans avoir rien intégré ni consommé de quota.</a:t>
            </a:r>
          </a:p>
        </p:txBody>
      </p:sp>
      <p:pic>
        <p:nvPicPr>
          <p:cNvPr id="6" name="Picture 5" descr="07_sandbox_tache.png"/>
          <p:cNvPicPr>
            <a:picLocks noChangeAspect="1"/>
          </p:cNvPicPr>
          <p:nvPr/>
        </p:nvPicPr>
        <p:blipFill>
          <a:blip r:embed="rId3"/>
          <a:stretch>
            <a:fillRect/>
          </a:stretch>
        </p:blipFill>
        <p:spPr>
          <a:xfrm>
            <a:off x="6327648" y="1389888"/>
            <a:ext cx="5422392" cy="3424668"/>
          </a:xfrm>
          <a:prstGeom prst="rect">
            <a:avLst/>
          </a:prstGeom>
          <a:ln w="9525">
            <a:solidFill>
              <a:srgbClr val="DFE6F0"/>
            </a:solidFill>
          </a:ln>
        </p:spPr>
      </p:pic>
      <p:sp>
        <p:nvSpPr>
          <p:cNvPr id="7" name="TextBox 6"/>
          <p:cNvSpPr txBox="1"/>
          <p:nvPr/>
        </p:nvSpPr>
        <p:spPr>
          <a:xfrm>
            <a:off x="6327648" y="4901184"/>
            <a:ext cx="5422392" cy="685800"/>
          </a:xfrm>
          <a:prstGeom prst="rect">
            <a:avLst/>
          </a:prstGeom>
          <a:noFill/>
        </p:spPr>
        <p:txBody>
          <a:bodyPr wrap="square" lIns="0" tIns="0" rIns="0" bIns="0" anchor="t">
            <a:spAutoFit/>
          </a:bodyPr>
          <a:lstStyle/>
          <a:p>
            <a:pPr algn="l">
              <a:lnSpc>
                <a:spcPct val="112000"/>
              </a:lnSpc>
            </a:pPr>
            <a:r>
              <a:rPr sz="850" b="0" i="0">
                <a:solidFill>
                  <a:srgbClr val="1B2433"/>
                </a:solidFill>
                <a:latin typeface="Calibri"/>
              </a:rPr>
              <a:t>Score sous le seuil — l'appel bascule automatiquement en tâche humaine : le portail crée la tâche, annonce la file et le délai estimé, et rend la main par callback.</a:t>
            </a:r>
          </a:p>
        </p:txBody>
      </p:sp>
      <p:sp>
        <p:nvSpPr>
          <p:cNvPr id="8" name="Rounded Rectangle 7"/>
          <p:cNvSpPr/>
          <p:nvPr/>
        </p:nvSpPr>
        <p:spPr>
          <a:xfrm>
            <a:off x="457200" y="5468112"/>
            <a:ext cx="11292840" cy="530352"/>
          </a:xfrm>
          <a:prstGeom prst="roundRect">
            <a:avLst>
              <a:gd name="adj" fmla="val 7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13232" y="5541264"/>
            <a:ext cx="10789920" cy="384048"/>
          </a:xfrm>
          <a:prstGeom prst="rect">
            <a:avLst/>
          </a:prstGeom>
          <a:noFill/>
        </p:spPr>
        <p:txBody>
          <a:bodyPr wrap="square" lIns="0" tIns="0" rIns="0" bIns="0" anchor="ctr">
            <a:spAutoFit/>
          </a:bodyPr>
          <a:lstStyle/>
          <a:p>
            <a:pPr algn="l">
              <a:lnSpc>
                <a:spcPct val="110000"/>
              </a:lnSpc>
            </a:pPr>
            <a:r>
              <a:rPr sz="950" b="1" i="0">
                <a:solidFill>
                  <a:srgbClr val="FFFFFF"/>
                </a:solidFill>
                <a:latin typeface="Calibri"/>
              </a:rPr>
              <a:t>Ce que l'écran fixe : </a:t>
            </a:r>
            <a:r>
              <a:rPr sz="950" b="0" i="0">
                <a:solidFill>
                  <a:srgbClr val="FFFFFF"/>
                </a:solidFill>
                <a:latin typeface="Calibri"/>
              </a:rPr>
              <a:t>un contrat de sortie unique quel que soit l'exécutant, machine ou opérateur. Le champ « suite » indique au consommateur si le traitement est terminé ou repris — c'est le prérequis du lot P1.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4F8B5-DD1E-0385-B3E0-C6964CCF96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E9169E3-82DB-AB11-E7CF-64B28ED820C7}"/>
              </a:ext>
            </a:extLst>
          </p:cNvPr>
          <p:cNvSpPr>
            <a:spLocks noGrp="1"/>
          </p:cNvSpPr>
          <p:nvPr>
            <p:ph type="title"/>
          </p:nvPr>
        </p:nvSpPr>
        <p:spPr/>
        <p:txBody>
          <a:bodyPr>
            <a:normAutofit fontScale="90000"/>
          </a:bodyPr>
          <a:lstStyle/>
          <a:p>
            <a:r>
              <a:rPr lang="en-US" sz="3200" dirty="0" err="1">
                <a:solidFill>
                  <a:srgbClr val="21295C"/>
                </a:solidFill>
                <a:latin typeface="Calibri" pitchFamily="34" charset="0"/>
                <a:ea typeface="Calibri" pitchFamily="34" charset="-122"/>
                <a:cs typeface="Calibri" pitchFamily="34" charset="-120"/>
              </a:rPr>
              <a:t>Prochaines étapes &amp; décisions attendues</a:t>
            </a:r>
            <a:endParaRPr lang="en-US" sz="3200" dirty="0"/>
          </a:p>
        </p:txBody>
      </p:sp>
      <p:sp>
        <p:nvSpPr>
          <p:cNvPr id="3" name="Espace réservé du pied de page 2">
            <a:extLst>
              <a:ext uri="{FF2B5EF4-FFF2-40B4-BE49-F238E27FC236}">
                <a16:creationId xmlns:a16="http://schemas.microsoft.com/office/drawing/2014/main" id="{B62631FF-D706-3C36-0D6A-1EB1A96ABC63}"/>
              </a:ext>
            </a:extLst>
          </p:cNvPr>
          <p:cNvSpPr>
            <a:spLocks noGrp="1"/>
          </p:cNvSpPr>
          <p:nvPr>
            <p:ph type="ftr" sz="quarter" idx="11"/>
          </p:nvPr>
        </p:nvSpPr>
        <p:spPr/>
        <p:txBody>
          <a:bodyPr/>
          <a:lstStyle/>
          <a:p>
            <a:r>
              <a:rPr lang="fr-FR" dirty="0"/>
              <a:t>Nadia – Dossier de pré-cadrage</a:t>
            </a:r>
          </a:p>
        </p:txBody>
      </p:sp>
      <p:sp>
        <p:nvSpPr>
          <p:cNvPr id="4" name="Text 3">
            <a:extLst>
              <a:ext uri="{FF2B5EF4-FFF2-40B4-BE49-F238E27FC236}">
                <a16:creationId xmlns:a16="http://schemas.microsoft.com/office/drawing/2014/main" id="{13B3A2DE-DF80-6C91-1565-1B0488D97854}"/>
              </a:ext>
            </a:extLst>
          </p:cNvPr>
          <p:cNvSpPr/>
          <p:nvPr/>
        </p:nvSpPr>
        <p:spPr>
          <a:xfrm>
            <a:off x="457200" y="1417320"/>
            <a:ext cx="5486400" cy="320040"/>
          </a:xfrm>
          <a:prstGeom prst="rect">
            <a:avLst/>
          </a:prstGeom>
          <a:noFill/>
          <a:ln/>
        </p:spPr>
        <p:txBody>
          <a:bodyPr wrap="square" lIns="0" tIns="0" rIns="0" bIns="0" rtlCol="0" anchor="ctr"/>
          <a:lstStyle/>
          <a:p>
            <a:pPr marL="0" indent="0">
              <a:buNone/>
            </a:pPr>
            <a:r>
              <a:rPr lang="en-US" sz="1450" b="1" dirty="0" err="1">
                <a:solidFill>
                  <a:srgbClr val="21295C"/>
                </a:solidFill>
                <a:latin typeface="Calibri" pitchFamily="34" charset="0"/>
                <a:ea typeface="Calibri" pitchFamily="34" charset="-122"/>
                <a:cs typeface="Calibri" pitchFamily="34" charset="-120"/>
              </a:rPr>
              <a:t>Décisions</a:t>
            </a:r>
            <a:r>
              <a:rPr lang="en-US" sz="1450" b="1" dirty="0">
                <a:solidFill>
                  <a:srgbClr val="21295C"/>
                </a:solidFill>
                <a:latin typeface="Calibri" pitchFamily="34" charset="0"/>
                <a:ea typeface="Calibri" pitchFamily="34" charset="-122"/>
                <a:cs typeface="Calibri" pitchFamily="34" charset="-120"/>
              </a:rPr>
              <a:t> à prendre sur </a:t>
            </a:r>
            <a:r>
              <a:rPr lang="en-US" sz="1450" b="1" dirty="0" err="1">
                <a:solidFill>
                  <a:srgbClr val="21295C"/>
                </a:solidFill>
                <a:latin typeface="Calibri" pitchFamily="34" charset="0"/>
                <a:ea typeface="Calibri" pitchFamily="34" charset="-122"/>
                <a:cs typeface="Calibri" pitchFamily="34" charset="-120"/>
              </a:rPr>
              <a:t>ce</a:t>
            </a:r>
            <a:r>
              <a:rPr lang="en-US" sz="1450" b="1" dirty="0">
                <a:solidFill>
                  <a:srgbClr val="21295C"/>
                </a:solidFill>
                <a:latin typeface="Calibri" pitchFamily="34" charset="0"/>
                <a:ea typeface="Calibri" pitchFamily="34" charset="-122"/>
                <a:cs typeface="Calibri" pitchFamily="34" charset="-120"/>
              </a:rPr>
              <a:t> </a:t>
            </a:r>
            <a:r>
              <a:rPr lang="en-US" sz="1450" b="1" dirty="0" err="1">
                <a:solidFill>
                  <a:srgbClr val="21295C"/>
                </a:solidFill>
                <a:latin typeface="Calibri" pitchFamily="34" charset="0"/>
                <a:ea typeface="Calibri" pitchFamily="34" charset="-122"/>
                <a:cs typeface="Calibri" pitchFamily="34" charset="-120"/>
              </a:rPr>
              <a:t>précadrage</a:t>
            </a:r>
            <a:endParaRPr lang="en-US" sz="1450" dirty="0"/>
          </a:p>
        </p:txBody>
      </p:sp>
      <p:sp>
        <p:nvSpPr>
          <p:cNvPr id="6" name="Shape 4">
            <a:extLst>
              <a:ext uri="{FF2B5EF4-FFF2-40B4-BE49-F238E27FC236}">
                <a16:creationId xmlns:a16="http://schemas.microsoft.com/office/drawing/2014/main" id="{F4DBF46F-E11F-9B32-EC42-41680F10858F}"/>
              </a:ext>
            </a:extLst>
          </p:cNvPr>
          <p:cNvSpPr/>
          <p:nvPr/>
        </p:nvSpPr>
        <p:spPr>
          <a:xfrm>
            <a:off x="457200" y="1810512"/>
            <a:ext cx="10833100" cy="1005840"/>
          </a:xfrm>
          <a:prstGeom prst="roundRect">
            <a:avLst>
              <a:gd name="adj" fmla="val 6957"/>
            </a:avLst>
          </a:prstGeom>
          <a:solidFill>
            <a:srgbClr val="F4F7FB"/>
          </a:solidFill>
          <a:ln/>
        </p:spPr>
        <p:txBody>
          <a:bodyPr/>
          <a:lstStyle/>
          <a:p>
            <a:endParaRPr lang="fr-FR"/>
          </a:p>
        </p:txBody>
      </p:sp>
      <p:sp>
        <p:nvSpPr>
          <p:cNvPr id="7" name="Shape 5">
            <a:extLst>
              <a:ext uri="{FF2B5EF4-FFF2-40B4-BE49-F238E27FC236}">
                <a16:creationId xmlns:a16="http://schemas.microsoft.com/office/drawing/2014/main" id="{3DD6032B-12B1-6770-33E0-275A528DCF50}"/>
              </a:ext>
            </a:extLst>
          </p:cNvPr>
          <p:cNvSpPr/>
          <p:nvPr/>
        </p:nvSpPr>
        <p:spPr>
          <a:xfrm>
            <a:off x="658368" y="2011680"/>
            <a:ext cx="603504" cy="603504"/>
          </a:xfrm>
          <a:prstGeom prst="ellipse">
            <a:avLst/>
          </a:prstGeom>
          <a:solidFill>
            <a:srgbClr val="21295C"/>
          </a:solidFill>
          <a:ln/>
        </p:spPr>
        <p:txBody>
          <a:bodyPr/>
          <a:lstStyle/>
          <a:p>
            <a:endParaRPr lang="fr-FR"/>
          </a:p>
        </p:txBody>
      </p:sp>
      <p:pic>
        <p:nvPicPr>
          <p:cNvPr id="8" name="Image 0" descr="preencoded.png">
            <a:extLst>
              <a:ext uri="{FF2B5EF4-FFF2-40B4-BE49-F238E27FC236}">
                <a16:creationId xmlns:a16="http://schemas.microsoft.com/office/drawing/2014/main" id="{D8CBC719-74EC-EBB7-3DF6-410675FF87D0}"/>
              </a:ext>
            </a:extLst>
          </p:cNvPr>
          <p:cNvPicPr>
            <a:picLocks noChangeAspect="1"/>
          </p:cNvPicPr>
          <p:nvPr/>
        </p:nvPicPr>
        <p:blipFill>
          <a:blip r:embed="rId2"/>
          <a:stretch>
            <a:fillRect/>
          </a:stretch>
        </p:blipFill>
        <p:spPr>
          <a:xfrm>
            <a:off x="804672" y="2157984"/>
            <a:ext cx="313822" cy="313822"/>
          </a:xfrm>
          <a:prstGeom prst="rect">
            <a:avLst/>
          </a:prstGeom>
        </p:spPr>
      </p:pic>
      <p:sp>
        <p:nvSpPr>
          <p:cNvPr id="9" name="Text 6">
            <a:extLst>
              <a:ext uri="{FF2B5EF4-FFF2-40B4-BE49-F238E27FC236}">
                <a16:creationId xmlns:a16="http://schemas.microsoft.com/office/drawing/2014/main" id="{BA9BC602-D2CD-EF42-E1C4-27BFB8847823}"/>
              </a:ext>
            </a:extLst>
          </p:cNvPr>
          <p:cNvSpPr/>
          <p:nvPr/>
        </p:nvSpPr>
        <p:spPr>
          <a:xfrm>
            <a:off x="1408176" y="1956816"/>
            <a:ext cx="8418056" cy="603504"/>
          </a:xfrm>
          <a:prstGeom prst="rect">
            <a:avLst/>
          </a:prstGeom>
          <a:noFill/>
          <a:ln/>
        </p:spPr>
        <p:txBody>
          <a:bodyPr wrap="square" lIns="0" tIns="0" rIns="0" bIns="0" rtlCol="0" anchor="ctr"/>
          <a:lstStyle/>
          <a:p>
            <a:pPr marL="0" indent="0">
              <a:buNone/>
            </a:pPr>
            <a:r>
              <a:rPr lang="en-US" sz="1200" dirty="0" err="1">
                <a:solidFill>
                  <a:srgbClr val="21295C"/>
                </a:solidFill>
                <a:latin typeface="Segoe UI" panose="020B0502040204020203" pitchFamily="34" charset="0"/>
                <a:ea typeface="Calibri" pitchFamily="34" charset="-122"/>
                <a:cs typeface="Segoe UI" panose="020B0502040204020203" pitchFamily="34" charset="0"/>
              </a:rPr>
              <a:t>Valider</a:t>
            </a:r>
            <a:r>
              <a:rPr lang="en-US" sz="1200" dirty="0">
                <a:solidFill>
                  <a:srgbClr val="21295C"/>
                </a:solidFill>
                <a:latin typeface="Segoe UI" panose="020B0502040204020203" pitchFamily="34" charset="0"/>
                <a:ea typeface="Calibri" pitchFamily="34" charset="-122"/>
                <a:cs typeface="Segoe UI" panose="020B0502040204020203" pitchFamily="34" charset="0"/>
              </a:rPr>
              <a:t> le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principe</a:t>
            </a:r>
            <a:r>
              <a:rPr lang="en-US" sz="1200" dirty="0">
                <a:solidFill>
                  <a:srgbClr val="21295C"/>
                </a:solidFill>
                <a:latin typeface="Segoe UI" panose="020B0502040204020203" pitchFamily="34" charset="0"/>
                <a:ea typeface="Calibri" pitchFamily="34" charset="-122"/>
                <a:cs typeface="Segoe UI" panose="020B0502040204020203" pitchFamily="34" charset="0"/>
              </a:rPr>
              <a:t> : 1) les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chantiers</a:t>
            </a:r>
            <a:r>
              <a:rPr lang="en-US" sz="1200" dirty="0">
                <a:solidFill>
                  <a:srgbClr val="21295C"/>
                </a:solidFill>
                <a:latin typeface="Segoe UI" panose="020B0502040204020203" pitchFamily="34" charset="0"/>
                <a:ea typeface="Calibri" pitchFamily="34" charset="-122"/>
                <a:cs typeface="Segoe UI" panose="020B0502040204020203" pitchFamily="34" charset="0"/>
              </a:rPr>
              <a:t> et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leur</a:t>
            </a:r>
            <a:r>
              <a:rPr lang="en-US" sz="1200" dirty="0">
                <a:solidFill>
                  <a:srgbClr val="21295C"/>
                </a:solidFill>
                <a:latin typeface="Segoe UI" panose="020B0502040204020203" pitchFamily="34" charset="0"/>
                <a:ea typeface="Calibri" pitchFamily="34" charset="-122"/>
                <a:cs typeface="Segoe UI" panose="020B0502040204020203" pitchFamily="34" charset="0"/>
              </a:rPr>
              <a:t> subdivision, 2) les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priorités</a:t>
            </a:r>
            <a:r>
              <a:rPr lang="en-US" sz="1200" dirty="0">
                <a:solidFill>
                  <a:srgbClr val="21295C"/>
                </a:solidFill>
                <a:latin typeface="Segoe UI" panose="020B0502040204020203" pitchFamily="34" charset="0"/>
                <a:ea typeface="Calibri" pitchFamily="34" charset="-122"/>
                <a:cs typeface="Segoe UI" panose="020B0502040204020203" pitchFamily="34" charset="0"/>
              </a:rPr>
              <a:t>, 3) les équipes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impactées</a:t>
            </a:r>
            <a:endParaRPr lang="en-US" sz="1200" dirty="0">
              <a:solidFill>
                <a:srgbClr val="21295C"/>
              </a:solidFill>
              <a:latin typeface="Segoe UI" panose="020B0502040204020203" pitchFamily="34" charset="0"/>
              <a:ea typeface="Calibri" pitchFamily="34" charset="-122"/>
              <a:cs typeface="Segoe UI" panose="020B0502040204020203" pitchFamily="34" charset="0"/>
            </a:endParaRPr>
          </a:p>
          <a:p>
            <a:pPr marL="0" indent="0">
              <a:buNone/>
            </a:pPr>
            <a:r>
              <a:rPr lang="en-US" sz="1200" dirty="0">
                <a:solidFill>
                  <a:srgbClr val="21295C"/>
                </a:solidFill>
                <a:latin typeface="Segoe UI" panose="020B0502040204020203" pitchFamily="34" charset="0"/>
                <a:ea typeface="Calibri" pitchFamily="34" charset="-122"/>
                <a:cs typeface="Segoe UI" panose="020B0502040204020203" pitchFamily="34" charset="0"/>
              </a:rPr>
              <a:t>Lancer les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cadrages</a:t>
            </a:r>
            <a:r>
              <a:rPr lang="en-US" sz="1200" dirty="0">
                <a:solidFill>
                  <a:srgbClr val="21295C"/>
                </a:solidFill>
                <a:latin typeface="Segoe UI" panose="020B0502040204020203" pitchFamily="34" charset="0"/>
                <a:ea typeface="Calibri" pitchFamily="34" charset="-122"/>
                <a:cs typeface="Segoe UI" panose="020B0502040204020203" pitchFamily="34" charset="0"/>
              </a:rPr>
              <a:t> des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chantiers</a:t>
            </a:r>
            <a:r>
              <a:rPr lang="en-US" sz="1200" dirty="0">
                <a:solidFill>
                  <a:srgbClr val="21295C"/>
                </a:solidFill>
                <a:latin typeface="Segoe UI" panose="020B0502040204020203" pitchFamily="34" charset="0"/>
                <a:ea typeface="Calibri" pitchFamily="34" charset="-122"/>
                <a:cs typeface="Segoe UI" panose="020B0502040204020203" pitchFamily="34" charset="0"/>
              </a:rPr>
              <a:t> 1, 2 et 3.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Suivi</a:t>
            </a:r>
            <a:r>
              <a:rPr lang="en-US" sz="1200" dirty="0">
                <a:solidFill>
                  <a:srgbClr val="21295C"/>
                </a:solidFill>
                <a:latin typeface="Segoe UI" panose="020B0502040204020203" pitchFamily="34" charset="0"/>
                <a:ea typeface="Calibri" pitchFamily="34" charset="-122"/>
                <a:cs typeface="Segoe UI" panose="020B0502040204020203" pitchFamily="34" charset="0"/>
              </a:rPr>
              <a:t> à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réaliser</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en</a:t>
            </a:r>
            <a:r>
              <a:rPr lang="en-US" sz="1200" dirty="0">
                <a:solidFill>
                  <a:srgbClr val="21295C"/>
                </a:solidFill>
                <a:latin typeface="Segoe UI" panose="020B0502040204020203" pitchFamily="34" charset="0"/>
                <a:ea typeface="Calibri" pitchFamily="34" charset="-122"/>
                <a:cs typeface="Segoe UI" panose="020B0502040204020203" pitchFamily="34" charset="0"/>
              </a:rPr>
              <a:t> transverse</a:t>
            </a:r>
            <a:endParaRPr lang="en-US" sz="1200" dirty="0">
              <a:latin typeface="Segoe UI" panose="020B0502040204020203" pitchFamily="34" charset="0"/>
              <a:cs typeface="Segoe UI" panose="020B0502040204020203" pitchFamily="34" charset="0"/>
            </a:endParaRPr>
          </a:p>
        </p:txBody>
      </p:sp>
      <p:sp>
        <p:nvSpPr>
          <p:cNvPr id="10" name="Text 7">
            <a:extLst>
              <a:ext uri="{FF2B5EF4-FFF2-40B4-BE49-F238E27FC236}">
                <a16:creationId xmlns:a16="http://schemas.microsoft.com/office/drawing/2014/main" id="{D6DF845E-62E3-3FD9-4651-1232DD072B72}"/>
              </a:ext>
            </a:extLst>
          </p:cNvPr>
          <p:cNvSpPr/>
          <p:nvPr/>
        </p:nvSpPr>
        <p:spPr>
          <a:xfrm>
            <a:off x="1417320" y="2249424"/>
            <a:ext cx="4297680" cy="530352"/>
          </a:xfrm>
          <a:prstGeom prst="rect">
            <a:avLst/>
          </a:prstGeom>
          <a:noFill/>
          <a:ln/>
        </p:spPr>
        <p:txBody>
          <a:bodyPr wrap="square" lIns="0" tIns="0" rIns="0" bIns="0" rtlCol="0" anchor="ctr"/>
          <a:lstStyle/>
          <a:p>
            <a:pPr marL="0" indent="0">
              <a:lnSpc>
                <a:spcPct val="110000"/>
              </a:lnSpc>
              <a:buNone/>
            </a:pPr>
            <a:endParaRPr lang="en-US" sz="1050" dirty="0"/>
          </a:p>
        </p:txBody>
      </p:sp>
      <p:sp>
        <p:nvSpPr>
          <p:cNvPr id="16" name="Shape 12">
            <a:extLst>
              <a:ext uri="{FF2B5EF4-FFF2-40B4-BE49-F238E27FC236}">
                <a16:creationId xmlns:a16="http://schemas.microsoft.com/office/drawing/2014/main" id="{9474932F-6055-71B5-4222-027AD59322D0}"/>
              </a:ext>
            </a:extLst>
          </p:cNvPr>
          <p:cNvSpPr/>
          <p:nvPr/>
        </p:nvSpPr>
        <p:spPr>
          <a:xfrm>
            <a:off x="457200" y="3439646"/>
            <a:ext cx="10833100" cy="1005840"/>
          </a:xfrm>
          <a:prstGeom prst="roundRect">
            <a:avLst>
              <a:gd name="adj" fmla="val 6957"/>
            </a:avLst>
          </a:prstGeom>
          <a:solidFill>
            <a:srgbClr val="F4F7FB"/>
          </a:solidFill>
          <a:ln/>
        </p:spPr>
        <p:txBody>
          <a:bodyPr/>
          <a:lstStyle/>
          <a:p>
            <a:endParaRPr lang="fr-FR"/>
          </a:p>
        </p:txBody>
      </p:sp>
      <p:sp>
        <p:nvSpPr>
          <p:cNvPr id="17" name="Shape 13">
            <a:extLst>
              <a:ext uri="{FF2B5EF4-FFF2-40B4-BE49-F238E27FC236}">
                <a16:creationId xmlns:a16="http://schemas.microsoft.com/office/drawing/2014/main" id="{9EBA1EF1-C23F-4985-D350-7F9682B44589}"/>
              </a:ext>
            </a:extLst>
          </p:cNvPr>
          <p:cNvSpPr/>
          <p:nvPr/>
        </p:nvSpPr>
        <p:spPr>
          <a:xfrm>
            <a:off x="658368" y="3640814"/>
            <a:ext cx="603504" cy="603504"/>
          </a:xfrm>
          <a:prstGeom prst="ellipse">
            <a:avLst/>
          </a:prstGeom>
          <a:solidFill>
            <a:srgbClr val="21295C"/>
          </a:solidFill>
          <a:ln/>
        </p:spPr>
        <p:txBody>
          <a:bodyPr/>
          <a:lstStyle/>
          <a:p>
            <a:endParaRPr lang="fr-FR"/>
          </a:p>
        </p:txBody>
      </p:sp>
      <p:pic>
        <p:nvPicPr>
          <p:cNvPr id="18" name="Image 2" descr="preencoded.png">
            <a:extLst>
              <a:ext uri="{FF2B5EF4-FFF2-40B4-BE49-F238E27FC236}">
                <a16:creationId xmlns:a16="http://schemas.microsoft.com/office/drawing/2014/main" id="{92DF25ED-CEDD-F871-F977-265547624586}"/>
              </a:ext>
            </a:extLst>
          </p:cNvPr>
          <p:cNvPicPr>
            <a:picLocks noChangeAspect="1"/>
          </p:cNvPicPr>
          <p:nvPr/>
        </p:nvPicPr>
        <p:blipFill>
          <a:blip r:embed="rId3"/>
          <a:stretch>
            <a:fillRect/>
          </a:stretch>
        </p:blipFill>
        <p:spPr>
          <a:xfrm>
            <a:off x="804672" y="3787118"/>
            <a:ext cx="313822" cy="313822"/>
          </a:xfrm>
          <a:prstGeom prst="rect">
            <a:avLst/>
          </a:prstGeom>
        </p:spPr>
      </p:pic>
      <p:sp>
        <p:nvSpPr>
          <p:cNvPr id="21" name="Shape 16">
            <a:extLst>
              <a:ext uri="{FF2B5EF4-FFF2-40B4-BE49-F238E27FC236}">
                <a16:creationId xmlns:a16="http://schemas.microsoft.com/office/drawing/2014/main" id="{6B2BC4EA-E8A9-AF18-C43C-1531BB78B7AE}"/>
              </a:ext>
            </a:extLst>
          </p:cNvPr>
          <p:cNvSpPr/>
          <p:nvPr/>
        </p:nvSpPr>
        <p:spPr>
          <a:xfrm>
            <a:off x="457200" y="4882414"/>
            <a:ext cx="10833100" cy="1005840"/>
          </a:xfrm>
          <a:prstGeom prst="roundRect">
            <a:avLst>
              <a:gd name="adj" fmla="val 6957"/>
            </a:avLst>
          </a:prstGeom>
          <a:solidFill>
            <a:srgbClr val="F4F7FB"/>
          </a:solidFill>
          <a:ln/>
        </p:spPr>
        <p:txBody>
          <a:bodyPr/>
          <a:lstStyle/>
          <a:p>
            <a:endParaRPr lang="fr-FR"/>
          </a:p>
        </p:txBody>
      </p:sp>
      <p:sp>
        <p:nvSpPr>
          <p:cNvPr id="22" name="Shape 17">
            <a:extLst>
              <a:ext uri="{FF2B5EF4-FFF2-40B4-BE49-F238E27FC236}">
                <a16:creationId xmlns:a16="http://schemas.microsoft.com/office/drawing/2014/main" id="{D49CB67C-277D-231B-1542-65B2F03B3C85}"/>
              </a:ext>
            </a:extLst>
          </p:cNvPr>
          <p:cNvSpPr/>
          <p:nvPr/>
        </p:nvSpPr>
        <p:spPr>
          <a:xfrm>
            <a:off x="658368" y="5120158"/>
            <a:ext cx="603504" cy="603504"/>
          </a:xfrm>
          <a:prstGeom prst="ellipse">
            <a:avLst/>
          </a:prstGeom>
          <a:solidFill>
            <a:srgbClr val="21295C"/>
          </a:solidFill>
          <a:ln/>
        </p:spPr>
        <p:txBody>
          <a:bodyPr/>
          <a:lstStyle/>
          <a:p>
            <a:endParaRPr lang="fr-FR"/>
          </a:p>
        </p:txBody>
      </p:sp>
      <p:pic>
        <p:nvPicPr>
          <p:cNvPr id="23" name="Image 3" descr="preencoded.png">
            <a:extLst>
              <a:ext uri="{FF2B5EF4-FFF2-40B4-BE49-F238E27FC236}">
                <a16:creationId xmlns:a16="http://schemas.microsoft.com/office/drawing/2014/main" id="{DC17ED0E-D5DD-997C-3CF3-13EBA18483E6}"/>
              </a:ext>
            </a:extLst>
          </p:cNvPr>
          <p:cNvPicPr>
            <a:picLocks noChangeAspect="1"/>
          </p:cNvPicPr>
          <p:nvPr/>
        </p:nvPicPr>
        <p:blipFill>
          <a:blip r:embed="rId4"/>
          <a:stretch>
            <a:fillRect/>
          </a:stretch>
        </p:blipFill>
        <p:spPr>
          <a:xfrm>
            <a:off x="804672" y="5266462"/>
            <a:ext cx="313822" cy="313822"/>
          </a:xfrm>
          <a:prstGeom prst="rect">
            <a:avLst/>
          </a:prstGeom>
        </p:spPr>
      </p:pic>
      <p:sp>
        <p:nvSpPr>
          <p:cNvPr id="11" name="Text 6">
            <a:extLst>
              <a:ext uri="{FF2B5EF4-FFF2-40B4-BE49-F238E27FC236}">
                <a16:creationId xmlns:a16="http://schemas.microsoft.com/office/drawing/2014/main" id="{609B238A-307D-C60F-6F3C-A9B99BF93BF3}"/>
              </a:ext>
            </a:extLst>
          </p:cNvPr>
          <p:cNvSpPr/>
          <p:nvPr/>
        </p:nvSpPr>
        <p:spPr>
          <a:xfrm>
            <a:off x="1417320" y="3491020"/>
            <a:ext cx="9568006" cy="897427"/>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200" dirty="0" err="1">
                <a:solidFill>
                  <a:srgbClr val="21295C"/>
                </a:solidFill>
                <a:latin typeface="Segoe UI" panose="020B0502040204020203" pitchFamily="34" charset="0"/>
                <a:ea typeface="Calibri" pitchFamily="34" charset="-122"/>
                <a:cs typeface="Segoe UI" panose="020B0502040204020203" pitchFamily="34" charset="0"/>
              </a:rPr>
              <a:t>Chantier</a:t>
            </a:r>
            <a:r>
              <a:rPr lang="en-US" sz="1200" dirty="0">
                <a:solidFill>
                  <a:srgbClr val="21295C"/>
                </a:solidFill>
                <a:latin typeface="Segoe UI" panose="020B0502040204020203" pitchFamily="34" charset="0"/>
                <a:ea typeface="Calibri" pitchFamily="34" charset="-122"/>
                <a:cs typeface="Segoe UI" panose="020B0502040204020203" pitchFamily="34" charset="0"/>
              </a:rPr>
              <a:t> 1 et 3 : Liens entre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l’exposition</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en</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cours</a:t>
            </a:r>
            <a:r>
              <a:rPr lang="en-US" sz="1200" dirty="0">
                <a:solidFill>
                  <a:srgbClr val="21295C"/>
                </a:solidFill>
                <a:latin typeface="Segoe UI" panose="020B0502040204020203" pitchFamily="34" charset="0"/>
                <a:ea typeface="Calibri" pitchFamily="34" charset="-122"/>
                <a:cs typeface="Segoe UI" panose="020B0502040204020203" pitchFamily="34" charset="0"/>
              </a:rPr>
              <a:t> du catalogue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vers</a:t>
            </a:r>
            <a:r>
              <a:rPr lang="en-US" sz="1200" dirty="0">
                <a:solidFill>
                  <a:srgbClr val="21295C"/>
                </a:solidFill>
                <a:latin typeface="Segoe UI" panose="020B0502040204020203" pitchFamily="34" charset="0"/>
                <a:ea typeface="Calibri" pitchFamily="34" charset="-122"/>
                <a:cs typeface="Segoe UI" panose="020B0502040204020203" pitchFamily="34" charset="0"/>
              </a:rPr>
              <a:t> les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collaborateurs</a:t>
            </a:r>
            <a:r>
              <a:rPr lang="en-US" sz="1200" dirty="0">
                <a:solidFill>
                  <a:srgbClr val="21295C"/>
                </a:solidFill>
                <a:latin typeface="Segoe UI" panose="020B0502040204020203" pitchFamily="34" charset="0"/>
                <a:ea typeface="Calibri" pitchFamily="34" charset="-122"/>
                <a:cs typeface="Segoe UI" panose="020B0502040204020203" pitchFamily="34" charset="0"/>
              </a:rPr>
              <a:t> OCRF / ETVS.  Les deux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projets</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avancent</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en</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parallèle</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en</a:t>
            </a:r>
            <a:r>
              <a:rPr lang="en-US" sz="1200" dirty="0">
                <a:solidFill>
                  <a:srgbClr val="21295C"/>
                </a:solidFill>
                <a:latin typeface="Segoe UI" panose="020B0502040204020203" pitchFamily="34" charset="0"/>
                <a:ea typeface="Calibri" pitchFamily="34" charset="-122"/>
                <a:cs typeface="Segoe UI" panose="020B0502040204020203" pitchFamily="34" charset="0"/>
              </a:rPr>
              <a:t> attendant</a:t>
            </a:r>
          </a:p>
          <a:p>
            <a:pPr marL="171450" indent="-171450">
              <a:buFont typeface="Arial" panose="020B0604020202020204" pitchFamily="34" charset="0"/>
              <a:buChar char="•"/>
            </a:pPr>
            <a:r>
              <a:rPr lang="en-US" sz="1200" dirty="0" err="1">
                <a:solidFill>
                  <a:srgbClr val="21295C"/>
                </a:solidFill>
                <a:latin typeface="Segoe UI" panose="020B0502040204020203" pitchFamily="34" charset="0"/>
                <a:ea typeface="Calibri" pitchFamily="34" charset="-122"/>
                <a:cs typeface="Segoe UI" panose="020B0502040204020203" pitchFamily="34" charset="0"/>
              </a:rPr>
              <a:t>Chantier</a:t>
            </a:r>
            <a:r>
              <a:rPr lang="en-US" sz="1200" dirty="0">
                <a:solidFill>
                  <a:srgbClr val="21295C"/>
                </a:solidFill>
                <a:latin typeface="Segoe UI" panose="020B0502040204020203" pitchFamily="34" charset="0"/>
                <a:ea typeface="Calibri" pitchFamily="34" charset="-122"/>
                <a:cs typeface="Segoe UI" panose="020B0502040204020203" pitchFamily="34" charset="0"/>
              </a:rPr>
              <a:t> 3 : Identifier les adherences avec la CF (Au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niveau</a:t>
            </a:r>
            <a:r>
              <a:rPr lang="en-US" sz="1200" dirty="0">
                <a:solidFill>
                  <a:srgbClr val="21295C"/>
                </a:solidFill>
                <a:latin typeface="Segoe UI" panose="020B0502040204020203" pitchFamily="34" charset="0"/>
                <a:ea typeface="Calibri" pitchFamily="34" charset="-122"/>
                <a:cs typeface="Segoe UI" panose="020B0502040204020203" pitchFamily="34" charset="0"/>
              </a:rPr>
              <a:t> du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portail</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d’exposition</a:t>
            </a:r>
            <a:r>
              <a:rPr lang="en-US" sz="1200" dirty="0">
                <a:solidFill>
                  <a:srgbClr val="21295C"/>
                </a:solidFill>
                <a:latin typeface="Segoe UI" panose="020B0502040204020203" pitchFamily="34" charset="0"/>
                <a:ea typeface="Calibri" pitchFamily="34" charset="-122"/>
                <a:cs typeface="Segoe UI" panose="020B0502040204020203" pitchFamily="34" charset="0"/>
              </a:rPr>
              <a:t> et au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niveau</a:t>
            </a:r>
            <a:r>
              <a:rPr lang="en-US" sz="1200" dirty="0">
                <a:solidFill>
                  <a:srgbClr val="21295C"/>
                </a:solidFill>
                <a:latin typeface="Segoe UI" panose="020B0502040204020203" pitchFamily="34" charset="0"/>
                <a:ea typeface="Calibri" pitchFamily="34" charset="-122"/>
                <a:cs typeface="Segoe UI" panose="020B0502040204020203" pitchFamily="34" charset="0"/>
              </a:rPr>
              <a:t> du périmètre Agentic)</a:t>
            </a:r>
          </a:p>
          <a:p>
            <a:pPr marL="171450" indent="-171450">
              <a:buFont typeface="Arial" panose="020B0604020202020204" pitchFamily="34" charset="0"/>
              <a:buChar char="•"/>
            </a:pPr>
            <a:r>
              <a:rPr lang="en-US" sz="1200" dirty="0">
                <a:solidFill>
                  <a:srgbClr val="21295C"/>
                </a:solidFill>
                <a:latin typeface="Segoe UI" panose="020B0502040204020203" pitchFamily="34" charset="0"/>
                <a:ea typeface="Calibri" pitchFamily="34" charset="-122"/>
                <a:cs typeface="Segoe UI" panose="020B0502040204020203" pitchFamily="34" charset="0"/>
              </a:rPr>
              <a:t>Tous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chantiers</a:t>
            </a:r>
            <a:r>
              <a:rPr lang="en-US" sz="1200" dirty="0">
                <a:solidFill>
                  <a:srgbClr val="21295C"/>
                </a:solidFill>
                <a:latin typeface="Segoe UI" panose="020B0502040204020203" pitchFamily="34" charset="0"/>
                <a:ea typeface="Calibri" pitchFamily="34" charset="-122"/>
                <a:cs typeface="Segoe UI" panose="020B0502040204020203" pitchFamily="34" charset="0"/>
              </a:rPr>
              <a:t> : 1) ok avec les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priorités</a:t>
            </a:r>
            <a:r>
              <a:rPr lang="en-US" sz="1200" dirty="0">
                <a:solidFill>
                  <a:srgbClr val="21295C"/>
                </a:solidFill>
                <a:latin typeface="Segoe UI" panose="020B0502040204020203" pitchFamily="34" charset="0"/>
                <a:ea typeface="Calibri" pitchFamily="34" charset="-122"/>
                <a:cs typeface="Segoe UI" panose="020B0502040204020203" pitchFamily="34" charset="0"/>
              </a:rPr>
              <a:t>/lot, 2) équipe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retenue</a:t>
            </a:r>
            <a:r>
              <a:rPr lang="en-US" sz="1200" dirty="0">
                <a:solidFill>
                  <a:srgbClr val="21295C"/>
                </a:solidFill>
                <a:latin typeface="Segoe UI" panose="020B0502040204020203" pitchFamily="34" charset="0"/>
                <a:ea typeface="Calibri" pitchFamily="34" charset="-122"/>
                <a:cs typeface="Segoe UI" panose="020B0502040204020203" pitchFamily="34" charset="0"/>
              </a:rPr>
              <a:t>, charge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estimée</a:t>
            </a:r>
            <a:r>
              <a:rPr lang="en-US" sz="1200" dirty="0">
                <a:solidFill>
                  <a:srgbClr val="21295C"/>
                </a:solidFill>
                <a:latin typeface="Segoe UI" panose="020B0502040204020203" pitchFamily="34" charset="0"/>
                <a:ea typeface="Calibri" pitchFamily="34" charset="-122"/>
                <a:cs typeface="Segoe UI" panose="020B0502040204020203" pitchFamily="34" charset="0"/>
              </a:rPr>
              <a:t>, planning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estimé</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p>
        </p:txBody>
      </p:sp>
      <p:sp>
        <p:nvSpPr>
          <p:cNvPr id="12" name="Text 6">
            <a:extLst>
              <a:ext uri="{FF2B5EF4-FFF2-40B4-BE49-F238E27FC236}">
                <a16:creationId xmlns:a16="http://schemas.microsoft.com/office/drawing/2014/main" id="{9ABAF626-DBD3-C01B-DFAB-97363B48EA13}"/>
              </a:ext>
            </a:extLst>
          </p:cNvPr>
          <p:cNvSpPr/>
          <p:nvPr/>
        </p:nvSpPr>
        <p:spPr>
          <a:xfrm>
            <a:off x="1408176" y="5080416"/>
            <a:ext cx="8418056" cy="603504"/>
          </a:xfrm>
          <a:prstGeom prst="rect">
            <a:avLst/>
          </a:prstGeom>
          <a:noFill/>
          <a:ln/>
        </p:spPr>
        <p:txBody>
          <a:bodyPr wrap="square" lIns="0" tIns="0" rIns="0" bIns="0" rtlCol="0" anchor="ctr"/>
          <a:lstStyle/>
          <a:p>
            <a:r>
              <a:rPr lang="en-US" sz="1200" dirty="0" err="1">
                <a:solidFill>
                  <a:srgbClr val="21295C"/>
                </a:solidFill>
                <a:latin typeface="Segoe UI" panose="020B0502040204020203" pitchFamily="34" charset="0"/>
                <a:ea typeface="Calibri" pitchFamily="34" charset="-122"/>
                <a:cs typeface="Segoe UI" panose="020B0502040204020203" pitchFamily="34" charset="0"/>
              </a:rPr>
              <a:t>Dès</a:t>
            </a:r>
            <a:r>
              <a:rPr lang="en-US" sz="1200" dirty="0">
                <a:solidFill>
                  <a:srgbClr val="21295C"/>
                </a:solidFill>
                <a:latin typeface="Segoe UI" panose="020B0502040204020203" pitchFamily="34" charset="0"/>
                <a:ea typeface="Calibri" pitchFamily="34" charset="-122"/>
                <a:cs typeface="Segoe UI" panose="020B0502040204020203" pitchFamily="34" charset="0"/>
              </a:rPr>
              <a:t> le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cadrage</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chantier</a:t>
            </a:r>
            <a:r>
              <a:rPr lang="en-US" sz="1200" dirty="0">
                <a:solidFill>
                  <a:srgbClr val="21295C"/>
                </a:solidFill>
                <a:latin typeface="Segoe UI" panose="020B0502040204020203" pitchFamily="34" charset="0"/>
                <a:ea typeface="Calibri" pitchFamily="34" charset="-122"/>
                <a:cs typeface="Segoe UI" panose="020B0502040204020203" pitchFamily="34" charset="0"/>
              </a:rPr>
              <a:t> 4 :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Faisabilité</a:t>
            </a:r>
            <a:r>
              <a:rPr lang="en-US" sz="1200" dirty="0">
                <a:solidFill>
                  <a:srgbClr val="21295C"/>
                </a:solidFill>
                <a:latin typeface="Segoe UI" panose="020B0502040204020203" pitchFamily="34" charset="0"/>
                <a:ea typeface="Calibri" pitchFamily="34" charset="-122"/>
                <a:cs typeface="Segoe UI" panose="020B0502040204020203" pitchFamily="34" charset="0"/>
              </a:rPr>
              <a:t> du Bac à Sable (avec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L’innovation</a:t>
            </a:r>
            <a:r>
              <a:rPr lang="en-US" sz="1200" dirty="0">
                <a:solidFill>
                  <a:srgbClr val="21295C"/>
                </a:solidFill>
                <a:latin typeface="Segoe UI" panose="020B0502040204020203" pitchFamily="34" charset="0"/>
                <a:ea typeface="Calibri" pitchFamily="34" charset="-122"/>
                <a:cs typeface="Segoe UI" panose="020B0502040204020203" pitchFamily="34" charset="0"/>
              </a:rPr>
              <a:t> Factory) </a:t>
            </a:r>
          </a:p>
          <a:p>
            <a:pPr marL="0" indent="0">
              <a:buNone/>
            </a:pPr>
            <a:r>
              <a:rPr lang="en-US" sz="1200" dirty="0">
                <a:solidFill>
                  <a:srgbClr val="21295C"/>
                </a:solidFill>
                <a:latin typeface="Segoe UI" panose="020B0502040204020203" pitchFamily="34" charset="0"/>
                <a:ea typeface="Calibri" pitchFamily="34" charset="-122"/>
                <a:cs typeface="Segoe UI" panose="020B0502040204020203" pitchFamily="34" charset="0"/>
              </a:rPr>
              <a:t>Dans le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cadrage</a:t>
            </a:r>
            <a:r>
              <a:rPr lang="en-US" sz="1200" dirty="0">
                <a:solidFill>
                  <a:srgbClr val="21295C"/>
                </a:solidFill>
                <a:latin typeface="Segoe UI" panose="020B0502040204020203" pitchFamily="34" charset="0"/>
                <a:ea typeface="Calibri" pitchFamily="34" charset="-122"/>
                <a:cs typeface="Segoe UI" panose="020B0502040204020203" pitchFamily="34" charset="0"/>
              </a:rPr>
              <a:t> du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chantier</a:t>
            </a:r>
            <a:r>
              <a:rPr lang="en-US" sz="1200" dirty="0">
                <a:solidFill>
                  <a:srgbClr val="21295C"/>
                </a:solidFill>
                <a:latin typeface="Segoe UI" panose="020B0502040204020203" pitchFamily="34" charset="0"/>
                <a:ea typeface="Calibri" pitchFamily="34" charset="-122"/>
                <a:cs typeface="Segoe UI" panose="020B0502040204020203" pitchFamily="34" charset="0"/>
              </a:rPr>
              <a:t> 3 lot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ultérieur</a:t>
            </a:r>
            <a:r>
              <a:rPr lang="en-US" sz="1200" dirty="0">
                <a:solidFill>
                  <a:srgbClr val="21295C"/>
                </a:solidFill>
                <a:latin typeface="Segoe UI" panose="020B0502040204020203" pitchFamily="34" charset="0"/>
                <a:ea typeface="Calibri" pitchFamily="34" charset="-122"/>
                <a:cs typeface="Segoe UI" panose="020B0502040204020203" pitchFamily="34" charset="0"/>
              </a:rPr>
              <a:t> : faut-il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élargir</a:t>
            </a:r>
            <a:r>
              <a:rPr lang="en-US" sz="1200" dirty="0">
                <a:solidFill>
                  <a:srgbClr val="21295C"/>
                </a:solidFill>
                <a:latin typeface="Segoe UI" panose="020B0502040204020203" pitchFamily="34" charset="0"/>
                <a:ea typeface="Calibri" pitchFamily="34" charset="-122"/>
                <a:cs typeface="Segoe UI" panose="020B0502040204020203" pitchFamily="34" charset="0"/>
              </a:rPr>
              <a:t>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l’accès</a:t>
            </a:r>
            <a:r>
              <a:rPr lang="en-US" sz="1200" dirty="0">
                <a:solidFill>
                  <a:srgbClr val="21295C"/>
                </a:solidFill>
                <a:latin typeface="Segoe UI" panose="020B0502040204020203" pitchFamily="34" charset="0"/>
                <a:ea typeface="Calibri" pitchFamily="34" charset="-122"/>
                <a:cs typeface="Segoe UI" panose="020B0502040204020203" pitchFamily="34" charset="0"/>
              </a:rPr>
              <a:t> à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autres</a:t>
            </a:r>
            <a:r>
              <a:rPr lang="en-US" sz="1200" dirty="0">
                <a:solidFill>
                  <a:srgbClr val="21295C"/>
                </a:solidFill>
                <a:latin typeface="Segoe UI" panose="020B0502040204020203" pitchFamily="34" charset="0"/>
                <a:ea typeface="Calibri" pitchFamily="34" charset="-122"/>
                <a:cs typeface="Segoe UI" panose="020B0502040204020203" pitchFamily="34" charset="0"/>
              </a:rPr>
              <a:t> que MOE ? </a:t>
            </a:r>
          </a:p>
          <a:p>
            <a:pPr marL="0" indent="0">
              <a:buNone/>
            </a:pPr>
            <a:r>
              <a:rPr lang="en-US" sz="1200" dirty="0">
                <a:solidFill>
                  <a:srgbClr val="21295C"/>
                </a:solidFill>
                <a:latin typeface="Segoe UI" panose="020B0502040204020203" pitchFamily="34" charset="0"/>
                <a:ea typeface="Calibri" pitchFamily="34" charset="-122"/>
                <a:cs typeface="Segoe UI" panose="020B0502040204020203" pitchFamily="34" charset="0"/>
              </a:rPr>
              <a:t>Après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une</a:t>
            </a:r>
            <a:r>
              <a:rPr lang="en-US" sz="1200" dirty="0">
                <a:solidFill>
                  <a:srgbClr val="21295C"/>
                </a:solidFill>
                <a:latin typeface="Segoe UI" panose="020B0502040204020203" pitchFamily="34" charset="0"/>
                <a:ea typeface="Calibri" pitchFamily="34" charset="-122"/>
                <a:cs typeface="Segoe UI" panose="020B0502040204020203" pitchFamily="34" charset="0"/>
              </a:rPr>
              <a:t> phase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d’experimentation</a:t>
            </a:r>
            <a:r>
              <a:rPr lang="en-US" sz="1200" dirty="0">
                <a:solidFill>
                  <a:srgbClr val="21295C"/>
                </a:solidFill>
                <a:latin typeface="Segoe UI" panose="020B0502040204020203" pitchFamily="34" charset="0"/>
                <a:ea typeface="Calibri" pitchFamily="34" charset="-122"/>
                <a:cs typeface="Segoe UI" panose="020B0502040204020203" pitchFamily="34" charset="0"/>
              </a:rPr>
              <a:t>, il </a:t>
            </a:r>
            <a:r>
              <a:rPr lang="en-US" sz="1200" dirty="0" err="1">
                <a:solidFill>
                  <a:srgbClr val="21295C"/>
                </a:solidFill>
                <a:latin typeface="Segoe UI" panose="020B0502040204020203" pitchFamily="34" charset="0"/>
                <a:ea typeface="Calibri" pitchFamily="34" charset="-122"/>
                <a:cs typeface="Segoe UI" panose="020B0502040204020203" pitchFamily="34" charset="0"/>
              </a:rPr>
              <a:t>faudra</a:t>
            </a:r>
            <a:r>
              <a:rPr lang="en-US" sz="1200" dirty="0">
                <a:solidFill>
                  <a:srgbClr val="21295C"/>
                </a:solidFill>
                <a:latin typeface="Segoe UI" panose="020B0502040204020203" pitchFamily="34" charset="0"/>
                <a:ea typeface="Calibri" pitchFamily="34" charset="-122"/>
                <a:cs typeface="Segoe UI" panose="020B0502040204020203" pitchFamily="34" charset="0"/>
              </a:rPr>
              <a:t> proposer un Operating Model</a:t>
            </a:r>
          </a:p>
        </p:txBody>
      </p:sp>
      <p:sp>
        <p:nvSpPr>
          <p:cNvPr id="5" name="Text 3">
            <a:extLst>
              <a:ext uri="{FF2B5EF4-FFF2-40B4-BE49-F238E27FC236}">
                <a16:creationId xmlns:a16="http://schemas.microsoft.com/office/drawing/2014/main" id="{40BD25D6-0CBF-EAD0-3B07-640A5E6F83E1}"/>
              </a:ext>
            </a:extLst>
          </p:cNvPr>
          <p:cNvSpPr/>
          <p:nvPr/>
        </p:nvSpPr>
        <p:spPr>
          <a:xfrm>
            <a:off x="457200" y="3051384"/>
            <a:ext cx="5486400" cy="320040"/>
          </a:xfrm>
          <a:prstGeom prst="rect">
            <a:avLst/>
          </a:prstGeom>
          <a:noFill/>
          <a:ln/>
        </p:spPr>
        <p:txBody>
          <a:bodyPr wrap="square" lIns="0" tIns="0" rIns="0" bIns="0" rtlCol="0" anchor="ctr"/>
          <a:lstStyle/>
          <a:p>
            <a:r>
              <a:rPr lang="en-US" sz="1450" b="1" dirty="0">
                <a:solidFill>
                  <a:srgbClr val="21295C"/>
                </a:solidFill>
                <a:latin typeface="Calibri" pitchFamily="34" charset="0"/>
                <a:ea typeface="Calibri" pitchFamily="34" charset="-122"/>
                <a:cs typeface="Calibri" pitchFamily="34" charset="-120"/>
              </a:rPr>
              <a:t>A </a:t>
            </a:r>
            <a:r>
              <a:rPr lang="en-US" sz="1450" b="1" dirty="0" err="1">
                <a:solidFill>
                  <a:srgbClr val="21295C"/>
                </a:solidFill>
                <a:latin typeface="Calibri" pitchFamily="34" charset="0"/>
                <a:ea typeface="Calibri" pitchFamily="34" charset="-122"/>
                <a:cs typeface="Calibri" pitchFamily="34" charset="-120"/>
              </a:rPr>
              <a:t>préciser</a:t>
            </a:r>
            <a:r>
              <a:rPr lang="en-US" sz="1450" b="1" dirty="0">
                <a:solidFill>
                  <a:srgbClr val="21295C"/>
                </a:solidFill>
                <a:latin typeface="Calibri" pitchFamily="34" charset="0"/>
                <a:ea typeface="Calibri" pitchFamily="34" charset="-122"/>
                <a:cs typeface="Calibri" pitchFamily="34" charset="-120"/>
              </a:rPr>
              <a:t> dans les </a:t>
            </a:r>
            <a:r>
              <a:rPr lang="en-US" sz="1450" b="1" dirty="0" err="1">
                <a:solidFill>
                  <a:srgbClr val="21295C"/>
                </a:solidFill>
                <a:latin typeface="Calibri" pitchFamily="34" charset="0"/>
                <a:ea typeface="Calibri" pitchFamily="34" charset="-122"/>
                <a:cs typeface="Calibri" pitchFamily="34" charset="-120"/>
              </a:rPr>
              <a:t>cadrages</a:t>
            </a:r>
            <a:endParaRPr lang="en-US" sz="1450" b="1" dirty="0">
              <a:solidFill>
                <a:srgbClr val="21295C"/>
              </a:solidFill>
              <a:latin typeface="Calibri" pitchFamily="34" charset="0"/>
              <a:ea typeface="Calibri" pitchFamily="34" charset="-122"/>
              <a:cs typeface="Calibri" pitchFamily="34" charset="-120"/>
            </a:endParaRPr>
          </a:p>
        </p:txBody>
      </p:sp>
      <p:sp>
        <p:nvSpPr>
          <p:cNvPr id="13" name="Text 3">
            <a:extLst>
              <a:ext uri="{FF2B5EF4-FFF2-40B4-BE49-F238E27FC236}">
                <a16:creationId xmlns:a16="http://schemas.microsoft.com/office/drawing/2014/main" id="{7C93B170-8019-129E-28A2-63DB92FEE408}"/>
              </a:ext>
            </a:extLst>
          </p:cNvPr>
          <p:cNvSpPr/>
          <p:nvPr/>
        </p:nvSpPr>
        <p:spPr>
          <a:xfrm>
            <a:off x="457200" y="4558624"/>
            <a:ext cx="5486400" cy="320040"/>
          </a:xfrm>
          <a:prstGeom prst="rect">
            <a:avLst/>
          </a:prstGeom>
          <a:noFill/>
          <a:ln/>
        </p:spPr>
        <p:txBody>
          <a:bodyPr wrap="square" lIns="0" tIns="0" rIns="0" bIns="0" rtlCol="0" anchor="ctr"/>
          <a:lstStyle/>
          <a:p>
            <a:pPr indent="0">
              <a:buNone/>
            </a:pPr>
            <a:r>
              <a:rPr lang="en-US" sz="1450" b="1" dirty="0">
                <a:solidFill>
                  <a:srgbClr val="21295C"/>
                </a:solidFill>
                <a:latin typeface="Calibri" pitchFamily="34" charset="0"/>
                <a:ea typeface="Calibri" pitchFamily="34" charset="-122"/>
                <a:cs typeface="Calibri" pitchFamily="34" charset="-120"/>
              </a:rPr>
              <a:t>A </a:t>
            </a:r>
            <a:r>
              <a:rPr lang="en-US" sz="1450" b="1" dirty="0" err="1">
                <a:solidFill>
                  <a:srgbClr val="21295C"/>
                </a:solidFill>
                <a:latin typeface="Calibri" pitchFamily="34" charset="0"/>
                <a:ea typeface="Calibri" pitchFamily="34" charset="-122"/>
                <a:cs typeface="Calibri" pitchFamily="34" charset="-120"/>
              </a:rPr>
              <a:t>préciser</a:t>
            </a:r>
            <a:r>
              <a:rPr lang="en-US" sz="1450" b="1" dirty="0">
                <a:solidFill>
                  <a:srgbClr val="21295C"/>
                </a:solidFill>
                <a:latin typeface="Calibri" pitchFamily="34" charset="0"/>
                <a:ea typeface="Calibri" pitchFamily="34" charset="-122"/>
                <a:cs typeface="Calibri" pitchFamily="34" charset="-120"/>
              </a:rPr>
              <a:t> </a:t>
            </a:r>
            <a:r>
              <a:rPr lang="en-US" sz="1450" b="1" dirty="0" err="1">
                <a:solidFill>
                  <a:srgbClr val="21295C"/>
                </a:solidFill>
                <a:latin typeface="Calibri" pitchFamily="34" charset="0"/>
                <a:ea typeface="Calibri" pitchFamily="34" charset="-122"/>
                <a:cs typeface="Calibri" pitchFamily="34" charset="-120"/>
              </a:rPr>
              <a:t>ultérieurement</a:t>
            </a:r>
            <a:endParaRPr lang="en-US" sz="1450" b="1" dirty="0">
              <a:solidFill>
                <a:srgbClr val="21295C"/>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826038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60C5A-DFC9-4E6A-8597-36B478C8101C}"/>
              </a:ext>
            </a:extLst>
          </p:cNvPr>
          <p:cNvSpPr>
            <a:spLocks noGrp="1"/>
          </p:cNvSpPr>
          <p:nvPr>
            <p:ph type="ctrTitle"/>
          </p:nvPr>
        </p:nvSpPr>
        <p:spPr>
          <a:xfrm>
            <a:off x="3202004" y="1550015"/>
            <a:ext cx="5787992" cy="2145456"/>
          </a:xfrm>
        </p:spPr>
        <p:txBody>
          <a:bodyPr/>
          <a:lstStyle/>
          <a:p>
            <a:r>
              <a:rPr lang="fr-FR" b="1" dirty="0"/>
              <a:t>Fin du document</a:t>
            </a:r>
            <a:endParaRPr lang="fr-FR" sz="4000" b="1" dirty="0"/>
          </a:p>
        </p:txBody>
      </p:sp>
    </p:spTree>
    <p:extLst>
      <p:ext uri="{BB962C8B-B14F-4D97-AF65-F5344CB8AC3E}">
        <p14:creationId xmlns:p14="http://schemas.microsoft.com/office/powerpoint/2010/main" val="2527759971"/>
      </p:ext>
    </p:extLst>
  </p:cSld>
  <p:clrMapOvr>
    <a:masterClrMapping/>
  </p:clrMapOvr>
</p:sld>
</file>

<file path=ppt/theme/theme1.xml><?xml version="1.0" encoding="utf-8"?>
<a:theme xmlns:a="http://schemas.openxmlformats.org/drawingml/2006/main" name="9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presentation_avec_sigle_EI.pptx" id="{B99EAE91-1054-4C9C-80B9-DCEBA3F2C693}" vid="{809C3AEC-4C68-4DCA-96C7-544C83173E81}"/>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PJQFUVHKSAJQ-1373287592-275512</_dlc_DocId>
    <_dlc_DocIdUrl xmlns="9da6f561-6c40-462f-af3e-6833fe74929f">
      <Url>https://moss-si.cm-cic.fr/Sites/D00116/Documentation/_layouts/15/DocIdRedir.aspx?ID=PJQFUVHKSAJQ-1373287592-275512</Url>
      <Description>PJQFUVHKSAJQ-1373287592-275512</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76B7B-DEE3-47D2-A92E-B47AF02955AC}">
  <ds:schemaRefs>
    <ds:schemaRef ds:uri="http://schemas.microsoft.com/office/2006/metadata/properties"/>
    <ds:schemaRef ds:uri="http://schemas.microsoft.com/office/infopath/2007/PartnerControls"/>
    <ds:schemaRef ds:uri="http://purl.org/dc/elements/1.1/"/>
    <ds:schemaRef ds:uri="http://purl.org/dc/dcmitype/"/>
    <ds:schemaRef ds:uri="8ff6ca53-9990-4cf6-aa9b-81190a5c5371"/>
    <ds:schemaRef ds:uri="http://purl.org/dc/terms/"/>
    <ds:schemaRef ds:uri="http://schemas.openxmlformats.org/package/2006/metadata/core-properties"/>
    <ds:schemaRef ds:uri="99cee9d7-070e-44dd-ab97-3503062ab504"/>
    <ds:schemaRef ds:uri="http://schemas.microsoft.com/office/2006/documentManagement/types"/>
    <ds:schemaRef ds:uri="http://schemas.microsoft.com/sharepoint/v4"/>
    <ds:schemaRef ds:uri="9da6f561-6c40-462f-af3e-6833fe74929f"/>
    <ds:schemaRef ds:uri="http://schemas.microsoft.com/sharepoint/v3"/>
    <ds:schemaRef ds:uri="http://www.w3.org/XML/1998/namespace"/>
  </ds:schemaRefs>
</ds:datastoreItem>
</file>

<file path=customXml/itemProps2.xml><?xml version="1.0" encoding="utf-8"?>
<ds:datastoreItem xmlns:ds="http://schemas.openxmlformats.org/officeDocument/2006/customXml" ds:itemID="{14BDAD69-8D02-46F2-AAEF-AB5B9560E0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05F62B-875A-44DA-9C24-ECFA753B3086}">
  <ds:schemaRefs>
    <ds:schemaRef ds:uri="http://schemas.microsoft.com/sharepoint/events"/>
  </ds:schemaRefs>
</ds:datastoreItem>
</file>

<file path=customXml/itemProps4.xml><?xml version="1.0" encoding="utf-8"?>
<ds:datastoreItem xmlns:ds="http://schemas.openxmlformats.org/officeDocument/2006/customXml" ds:itemID="{878C9C5E-DE36-419C-A811-BD5853BD94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18255</TotalTime>
  <Words>1746</Words>
  <Application>Microsoft Office PowerPoint</Application>
  <PresentationFormat>Grand écran</PresentationFormat>
  <Paragraphs>192</Paragraphs>
  <Slides>10</Slides>
  <Notes>6</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10</vt:i4>
      </vt:variant>
    </vt:vector>
  </HeadingPairs>
  <TitlesOfParts>
    <vt:vector size="18" baseType="lpstr">
      <vt:lpstr>Arial</vt:lpstr>
      <vt:lpstr>Calibri</vt:lpstr>
      <vt:lpstr>Segoe UI</vt:lpstr>
      <vt:lpstr>Segoe UI Light</vt:lpstr>
      <vt:lpstr>Symbol</vt:lpstr>
      <vt:lpstr>Wingdings 3</vt:lpstr>
      <vt:lpstr>9_Thème Office</vt:lpstr>
      <vt:lpstr>Thème Office</vt:lpstr>
      <vt:lpstr>Pré cadrage NADIA Mise à disposition des services OCRF</vt:lpstr>
      <vt:lpstr>Contexte &amp; objectifs</vt:lpstr>
      <vt:lpstr>Objectifs &amp; démarche</vt:lpstr>
      <vt:lpstr>Le portail</vt:lpstr>
      <vt:lpstr>Macro-planning</vt:lpstr>
      <vt:lpstr>Priorisation des services à APIser en REST</vt:lpstr>
      <vt:lpstr>Maquette — la fiche de service</vt:lpstr>
      <vt:lpstr>Maquette — le bac à sable</vt:lpstr>
      <vt:lpstr>Prochaines étapes &amp; décisions attendues</vt:lpstr>
      <vt:lpstr>Fin du document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ISSOULGHANE Morad (PRESTA EXT)</dc:creator>
  <cp:lastModifiedBy>PAGE Bastien (PRESTA EXT)</cp:lastModifiedBy>
  <cp:revision>199</cp:revision>
  <dcterms:created xsi:type="dcterms:W3CDTF">2024-11-29T08:59:48Z</dcterms:created>
  <dcterms:modified xsi:type="dcterms:W3CDTF">2026-09-09T10:16:07Z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Nature du document">
    <vt:lpwstr>1;#Document|f926a2be-6740-4577-ba49-e4b230c74a1c</vt:lpwstr>
  </property>
  <property fmtid="{D5CDD505-2E9C-101B-9397-08002B2CF9AE}" pid="5" name="Classification">
    <vt:lpwstr>2;#10 - Interne|88571201-3d77-41d7-bf2a-abb247897d97</vt:lpwstr>
  </property>
  <property fmtid="{D5CDD505-2E9C-101B-9397-08002B2CF9AE}" pid="6" name="ROBIN">
    <vt:lpwstr/>
  </property>
  <property fmtid="{D5CDD505-2E9C-101B-9397-08002B2CF9AE}" pid="7" name="_dlc_DocIdItemGuid">
    <vt:lpwstr>5e6376b7-6b89-43d7-8ce1-b32e625e89e3</vt:lpwstr>
  </property>
</Properties>
</file>