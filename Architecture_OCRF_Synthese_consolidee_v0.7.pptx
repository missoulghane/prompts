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5"/>
  </p:sldMasterIdLst>
  <p:notesMasterIdLst>
    <p:notesMasterId r:id="rId21"/>
  </p:notesMasterIdLst>
  <p:handoutMasterIdLst>
    <p:handoutMasterId r:id="rId22"/>
  </p:handoutMasterIdLst>
  <p:sldIdLst>
    <p:sldId id="256" r:id="rId6"/>
    <p:sldId id="2147375292" r:id="rId15"/>
    <p:sldId id="2147375293" r:id="rId19"/>
    <p:sldId id="2147375294" r:id="rId14"/>
    <p:sldId id="2147375295" r:id="rId13"/>
    <p:sldId id="2147375296" r:id="rId11"/>
    <p:sldId id="2147375297" r:id="rId10"/>
    <p:sldId id="2147375298" r:id="rId9"/>
    <p:sldId id="2147375299" r:id="rId8"/>
    <p:sldId id="2147375300" r:id="rId7"/>
    <p:sldId id="2147375301" r:id="rId27"/>
    <p:sldId id="2147375302" r:id="rId28"/>
    <p:sldId id="2147375303" r:id="rId29"/>
    <p:sldId id="2147375304" r:id="rId30"/>
    <p:sldId id="2147375305" r:id="rId31"/>
    <p:sldId id="2147375306" r:id="rId32"/>
    <p:sldId id="2147375307" r:id="rId33"/>
    <p:sldId id="2147375308" r:id="rId34"/>
    <p:sldId id="2147375309" r:id="rId35"/>
    <p:sldId id="2147375310" r:id="rId36"/>
    <p:sldId id="2147375311" r:id="rId37"/>
    <p:sldId id="2147375312" r:id="rId38"/>
    <p:sldId id="2147375313" r:id="rId39"/>
    <p:sldId id="2147375314" r:id="rId40"/>
    <p:sldId id="2147375291" r:id="rId12"/>
    <p:sldId id="2147375315" r:id="rId41"/>
    <p:sldId id="385" r:id="rId16"/>
    <p:sldId id="382" r:id="rId17"/>
    <p:sldId id="374" r:id="rId18"/>
    <p:sldId id="270" r:id="rId20"/>
  </p:sldIdLst>
  <p:sldSz cx="24384000" cy="13716000"/>
  <p:notesSz cx="6858000" cy="9144000"/>
  <p:defaultTextStyle>
    <a:defPPr>
      <a:defRPr lang="fr-F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2447"/>
    <a:srgbClr val="F3F4F4"/>
    <a:srgbClr val="E06206"/>
    <a:srgbClr val="173456"/>
    <a:srgbClr val="E4E5E6"/>
    <a:srgbClr val="F1F1F2"/>
    <a:srgbClr val="E7473D"/>
    <a:srgbClr val="003A8D"/>
    <a:srgbClr val="0C4392"/>
    <a:srgbClr val="F252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86219" autoAdjust="0"/>
  </p:normalViewPr>
  <p:slideViewPr>
    <p:cSldViewPr snapToGrid="0">
      <p:cViewPr varScale="1">
        <p:scale>
          <a:sx n="50" d="100"/>
          <a:sy n="50" d="100"/>
        </p:scale>
        <p:origin x="1050" y="78"/>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87" d="100"/>
          <a:sy n="87" d="100"/>
        </p:scale>
        <p:origin x="3764" y="4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15.xml"/><Relationship Id="rId8" Type="http://schemas.openxmlformats.org/officeDocument/2006/relationships/slide" Target="slides/slide14.xml"/><Relationship Id="rId9" Type="http://schemas.openxmlformats.org/officeDocument/2006/relationships/slide" Target="slides/slide13.xml"/><Relationship Id="rId10" Type="http://schemas.openxmlformats.org/officeDocument/2006/relationships/slide" Target="slides/slide12.xml"/><Relationship Id="rId11" Type="http://schemas.openxmlformats.org/officeDocument/2006/relationships/slide" Target="slides/slide11.xml"/><Relationship Id="rId12" Type="http://schemas.openxmlformats.org/officeDocument/2006/relationships/slide" Target="slides/slide2.xml"/><Relationship Id="rId13" Type="http://schemas.openxmlformats.org/officeDocument/2006/relationships/slide" Target="slides/slide10.xml"/><Relationship Id="rId14" Type="http://schemas.openxmlformats.org/officeDocument/2006/relationships/slide" Target="slides/slide9.xml"/><Relationship Id="rId15" Type="http://schemas.openxmlformats.org/officeDocument/2006/relationships/slide" Target="slides/slide7.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8.xml"/><Relationship Id="rId20" Type="http://schemas.openxmlformats.org/officeDocument/2006/relationships/slide" Target="slides/slide6.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E7FAA41-04A4-4F23-9A5A-315CEFE51309}" type="datetimeFigureOut">
              <a:rPr lang="fr-FR" smtClean="0"/>
              <a:t>03/09/2026</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93FF8F-81A3-4133-BC52-824576C0FAB7}" type="slidenum">
              <a:rPr lang="fr-FR" smtClean="0"/>
              <a:t>‹N°›</a:t>
            </a:fld>
            <a:endParaRPr lang="fr-FR"/>
          </a:p>
        </p:txBody>
      </p:sp>
    </p:spTree>
    <p:extLst>
      <p:ext uri="{BB962C8B-B14F-4D97-AF65-F5344CB8AC3E}">
        <p14:creationId xmlns:p14="http://schemas.microsoft.com/office/powerpoint/2010/main" val="2429991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Espace réservé des commentaires 4"/>
          <p:cNvSpPr>
            <a:spLocks noGrp="1"/>
          </p:cNvSpPr>
          <p:nvPr>
            <p:ph type="body" sz="quarter" idx="3"/>
          </p:nvPr>
        </p:nvSpPr>
        <p:spPr>
          <a:xfrm>
            <a:off x="228600" y="2883984"/>
            <a:ext cx="6428678" cy="5970084"/>
          </a:xfrm>
          <a:prstGeom prst="rect">
            <a:avLst/>
          </a:prstGeom>
        </p:spPr>
        <p:txBody>
          <a:bodyPr vert="horz" lIns="91440" tIns="45720" rIns="91440" bIns="45720" rtlCol="0"/>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7" name="Espace réservé du numéro de diapositive 6"/>
          <p:cNvSpPr>
            <a:spLocks noGrp="1"/>
          </p:cNvSpPr>
          <p:nvPr>
            <p:ph type="sldNum" sz="quarter" idx="5"/>
          </p:nvPr>
        </p:nvSpPr>
        <p:spPr>
          <a:xfrm>
            <a:off x="3884613" y="8854068"/>
            <a:ext cx="2971800" cy="289932"/>
          </a:xfrm>
          <a:prstGeom prst="rect">
            <a:avLst/>
          </a:prstGeom>
        </p:spPr>
        <p:txBody>
          <a:bodyPr vert="horz" lIns="91440" tIns="45720" rIns="91440" bIns="45720" rtlCol="0" anchor="b"/>
          <a:lstStyle>
            <a:lvl1pPr algn="r">
              <a:defRPr sz="1100"/>
            </a:lvl1pPr>
          </a:lstStyle>
          <a:p>
            <a:fld id="{B69D4CE5-1A0E-49ED-AA3E-F82EEF3E7B76}" type="slidenum">
              <a:rPr lang="fr-FR" smtClean="0"/>
              <a:pPr/>
              <a:t>‹N°›</a:t>
            </a:fld>
            <a:endParaRPr lang="fr-FR" dirty="0"/>
          </a:p>
        </p:txBody>
      </p:sp>
      <p:sp>
        <p:nvSpPr>
          <p:cNvPr id="8" name="Espace réservé de l'image des diapositives 7"/>
          <p:cNvSpPr>
            <a:spLocks noGrp="1" noRot="1" noChangeAspect="1"/>
          </p:cNvSpPr>
          <p:nvPr>
            <p:ph type="sldImg" idx="2"/>
          </p:nvPr>
        </p:nvSpPr>
        <p:spPr>
          <a:xfrm>
            <a:off x="1076093" y="250902"/>
            <a:ext cx="4510668" cy="2537251"/>
          </a:xfrm>
          <a:prstGeom prst="rect">
            <a:avLst/>
          </a:prstGeom>
          <a:noFill/>
          <a:ln w="12700">
            <a:solidFill>
              <a:prstClr val="black"/>
            </a:solidFill>
          </a:ln>
        </p:spPr>
        <p:txBody>
          <a:bodyPr vert="horz" lIns="91440" tIns="45720" rIns="91440" bIns="45720" rtlCol="0" anchor="ctr"/>
          <a:lstStyle/>
          <a:p>
            <a:endParaRPr lang="fr-FR"/>
          </a:p>
        </p:txBody>
      </p:sp>
    </p:spTree>
    <p:extLst>
      <p:ext uri="{BB962C8B-B14F-4D97-AF65-F5344CB8AC3E}">
        <p14:creationId xmlns:p14="http://schemas.microsoft.com/office/powerpoint/2010/main" val="3817531586"/>
      </p:ext>
    </p:extLst>
  </p:cSld>
  <p:clrMap bg1="lt1" tx1="dk1" bg2="lt2" tx2="dk2" accent1="accent1" accent2="accent2" accent3="accent3" accent4="accent4" accent5="accent5" accent6="accent6" hlink="hlink" folHlink="folHlink"/>
  <p:hf hdr="0" ftr="0" dt="0"/>
  <p:notesStyle>
    <a:lvl1pPr marL="0" algn="l" defTabSz="1828800" rtl="0" eaLnBrk="1" latinLnBrk="0" hangingPunct="1">
      <a:defRPr sz="1100" kern="1200">
        <a:solidFill>
          <a:schemeClr val="tx1"/>
        </a:solidFill>
        <a:latin typeface="+mn-lt"/>
        <a:ea typeface="+mn-ea"/>
        <a:cs typeface="Arial" panose="020B0604020202020204" pitchFamily="34" charset="0"/>
      </a:defRPr>
    </a:lvl1pPr>
    <a:lvl2pPr marL="177800" indent="0" algn="l" defTabSz="1828800" rtl="0" eaLnBrk="1" latinLnBrk="0" hangingPunct="1">
      <a:defRPr sz="1100" kern="1200">
        <a:solidFill>
          <a:schemeClr val="tx1"/>
        </a:solidFill>
        <a:latin typeface="+mn-lt"/>
        <a:ea typeface="+mn-ea"/>
        <a:cs typeface="Arial" panose="020B0604020202020204" pitchFamily="34" charset="0"/>
      </a:defRPr>
    </a:lvl2pPr>
    <a:lvl3pPr marL="357188" indent="0" algn="l" defTabSz="1828800" rtl="0" eaLnBrk="1" latinLnBrk="0" hangingPunct="1">
      <a:defRPr sz="1100" kern="1200">
        <a:solidFill>
          <a:schemeClr val="tx1"/>
        </a:solidFill>
        <a:latin typeface="+mn-lt"/>
        <a:ea typeface="+mn-ea"/>
        <a:cs typeface="Arial" panose="020B0604020202020204" pitchFamily="34" charset="0"/>
      </a:defRPr>
    </a:lvl3pPr>
    <a:lvl4pPr marL="534988" indent="0" algn="l" defTabSz="1828800" rtl="0" eaLnBrk="1" latinLnBrk="0" hangingPunct="1">
      <a:defRPr sz="1100" kern="1200">
        <a:solidFill>
          <a:schemeClr val="tx1"/>
        </a:solidFill>
        <a:latin typeface="+mn-lt"/>
        <a:ea typeface="+mn-ea"/>
        <a:cs typeface="Arial" panose="020B0604020202020204" pitchFamily="34" charset="0"/>
      </a:defRPr>
    </a:lvl4pPr>
    <a:lvl5pPr marL="714375" indent="0" algn="l" defTabSz="1828800" rtl="0" eaLnBrk="1" latinLnBrk="0" hangingPunct="1">
      <a:defRPr sz="1100" kern="1200">
        <a:solidFill>
          <a:schemeClr val="tx1"/>
        </a:solidFill>
        <a:latin typeface="+mn-lt"/>
        <a:ea typeface="+mn-ea"/>
        <a:cs typeface="Arial" panose="020B0604020202020204" pitchFamily="34" charset="0"/>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0"/>
          </p:nvPr>
        </p:nvSpPr>
        <p:spPr/>
        <p:txBody>
          <a:bodyPr/>
          <a:lstStyle/>
          <a:p>
            <a:fld id="{B69D4CE5-1A0E-49ED-AA3E-F82EEF3E7B76}" type="slidenum">
              <a:rPr lang="fr-FR" smtClean="0"/>
              <a:pPr/>
              <a:t>1</a:t>
            </a:fld>
            <a:endParaRPr lang="fr-FR"/>
          </a:p>
        </p:txBody>
      </p:sp>
      <p:sp>
        <p:nvSpPr>
          <p:cNvPr id="6" name="Espace réservé de l'image des diapositives 5"/>
          <p:cNvSpPr>
            <a:spLocks noGrp="1" noRot="1" noChangeAspect="1"/>
          </p:cNvSpPr>
          <p:nvPr>
            <p:ph type="sldImg"/>
          </p:nvPr>
        </p:nvSpPr>
        <p:spPr>
          <a:xfrm>
            <a:off x="1076325" y="250825"/>
            <a:ext cx="4510088" cy="2536825"/>
          </a:xfrm>
        </p:spPr>
      </p:sp>
      <p:sp>
        <p:nvSpPr>
          <p:cNvPr id="7" name="Espace réservé des commentaires 6"/>
          <p:cNvSpPr>
            <a:spLocks noGrp="1"/>
          </p:cNvSpPr>
          <p:nvPr>
            <p:ph type="body" idx="1"/>
          </p:nvPr>
        </p:nvSpPr>
        <p:spPr/>
        <p:txBody>
          <a:bodyPr/>
          <a:lstStyle/>
          <a:p>
            <a:endParaRPr lang="fr-FR"/>
          </a:p>
        </p:txBody>
      </p:sp>
    </p:spTree>
    <p:extLst>
      <p:ext uri="{BB962C8B-B14F-4D97-AF65-F5344CB8AC3E}">
        <p14:creationId xmlns:p14="http://schemas.microsoft.com/office/powerpoint/2010/main" val="748336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076325" y="250825"/>
            <a:ext cx="4510088" cy="2536825"/>
          </a:xfrm>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D0782E-EA2B-4512-8042-862CE0D644E6}"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3029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076325" y="250825"/>
            <a:ext cx="4510088" cy="2536825"/>
          </a:xfrm>
        </p:spPr>
      </p:sp>
      <p:sp>
        <p:nvSpPr>
          <p:cNvPr id="3" name="Espace réservé des notes 2"/>
          <p:cNvSpPr>
            <a:spLocks noGrp="1"/>
          </p:cNvSpPr>
          <p:nvPr>
            <p:ph type="body" idx="1"/>
          </p:nvPr>
        </p:nvSpPr>
        <p:spPr/>
        <p:txBody>
          <a:bodyPr/>
          <a:lstStyle/>
          <a:p>
            <a:r>
              <a:rPr lang="fr-FR" dirty="0"/>
              <a:t>Jérémy</a:t>
            </a:r>
          </a:p>
        </p:txBody>
      </p:sp>
      <p:sp>
        <p:nvSpPr>
          <p:cNvPr id="4" name="Espace réservé du numéro de diapositive 3"/>
          <p:cNvSpPr>
            <a:spLocks noGrp="1"/>
          </p:cNvSpPr>
          <p:nvPr>
            <p:ph type="sldNum" sz="quarter" idx="10"/>
          </p:nvPr>
        </p:nvSpPr>
        <p:spPr/>
        <p:txBody>
          <a:bodyPr/>
          <a:lstStyle/>
          <a:p>
            <a:pPr marL="0" marR="0" lvl="0" indent="0" algn="r" defTabSz="1828800" rtl="0" eaLnBrk="1" fontAlgn="auto" latinLnBrk="0" hangingPunct="1">
              <a:lnSpc>
                <a:spcPct val="100000"/>
              </a:lnSpc>
              <a:spcBef>
                <a:spcPts val="0"/>
              </a:spcBef>
              <a:spcAft>
                <a:spcPts val="0"/>
              </a:spcAft>
              <a:buClrTx/>
              <a:buSzTx/>
              <a:buFontTx/>
              <a:buNone/>
              <a:tabLst/>
              <a:defRPr/>
            </a:pPr>
            <a:fld id="{B69D4CE5-1A0E-49ED-AA3E-F82EEF3E7B76}" type="slidenum">
              <a:rPr kumimoji="0" lang="fr-FR" sz="11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828800" rtl="0" eaLnBrk="1" fontAlgn="auto" latinLnBrk="0" hangingPunct="1">
                <a:lnSpc>
                  <a:spcPct val="100000"/>
                </a:lnSpc>
                <a:spcBef>
                  <a:spcPts val="0"/>
                </a:spcBef>
                <a:spcAft>
                  <a:spcPts val="0"/>
                </a:spcAft>
                <a:buClrTx/>
                <a:buSzTx/>
                <a:buFontTx/>
                <a:buNone/>
                <a:tabLst/>
                <a:defRPr/>
              </a:pPr>
              <a:t>11</a:t>
            </a:fld>
            <a:endParaRPr kumimoji="0" lang="fr-FR"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8383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076325" y="250825"/>
            <a:ext cx="4510088" cy="2536825"/>
          </a:xfrm>
        </p:spPr>
      </p:sp>
      <p:sp>
        <p:nvSpPr>
          <p:cNvPr id="3" name="Espace réservé des commentaires 2"/>
          <p:cNvSpPr>
            <a:spLocks noGrp="1"/>
          </p:cNvSpPr>
          <p:nvPr>
            <p:ph type="body" idx="1"/>
          </p:nvPr>
        </p:nvSpPr>
        <p:spPr/>
        <p:txBody>
          <a:bodyPr/>
          <a:lstStyle/>
          <a:p>
            <a:r>
              <a:rPr lang="fr-FR" dirty="0"/>
              <a:t>Jérémy</a:t>
            </a:r>
          </a:p>
        </p:txBody>
      </p:sp>
    </p:spTree>
    <p:extLst>
      <p:ext uri="{BB962C8B-B14F-4D97-AF65-F5344CB8AC3E}">
        <p14:creationId xmlns:p14="http://schemas.microsoft.com/office/powerpoint/2010/main" val="3977898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076325" y="250825"/>
            <a:ext cx="4510088" cy="2536825"/>
          </a:xfrm>
        </p:spPr>
      </p:sp>
      <p:sp>
        <p:nvSpPr>
          <p:cNvPr id="3" name="Espace réservé des notes 2"/>
          <p:cNvSpPr>
            <a:spLocks noGrp="1"/>
          </p:cNvSpPr>
          <p:nvPr>
            <p:ph type="body" idx="1"/>
          </p:nvPr>
        </p:nvSpPr>
        <p:spPr/>
        <p:txBody>
          <a:bodyPr/>
          <a:lstStyle/>
          <a:p>
            <a:r>
              <a:rPr lang="fr-FR" dirty="0"/>
              <a:t>Jérémy</a:t>
            </a:r>
          </a:p>
        </p:txBody>
      </p:sp>
      <p:sp>
        <p:nvSpPr>
          <p:cNvPr id="4" name="Espace réservé du numéro de diapositive 3"/>
          <p:cNvSpPr>
            <a:spLocks noGrp="1"/>
          </p:cNvSpPr>
          <p:nvPr>
            <p:ph type="sldNum" sz="quarter" idx="10"/>
          </p:nvPr>
        </p:nvSpPr>
        <p:spPr/>
        <p:txBody>
          <a:bodyPr/>
          <a:lstStyle/>
          <a:p>
            <a:fld id="{B69D4CE5-1A0E-49ED-AA3E-F82EEF3E7B76}" type="slidenum">
              <a:rPr lang="fr-FR" smtClean="0"/>
              <a:pPr/>
              <a:t>13</a:t>
            </a:fld>
            <a:endParaRPr lang="fr-FR" dirty="0"/>
          </a:p>
        </p:txBody>
      </p:sp>
    </p:spTree>
    <p:extLst>
      <p:ext uri="{BB962C8B-B14F-4D97-AF65-F5344CB8AC3E}">
        <p14:creationId xmlns:p14="http://schemas.microsoft.com/office/powerpoint/2010/main" val="1658015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076325" y="250825"/>
            <a:ext cx="4510088" cy="2536825"/>
          </a:xfrm>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69D4CE5-1A0E-49ED-AA3E-F82EEF3E7B76}" type="slidenum">
              <a:rPr lang="fr-FR" smtClean="0"/>
              <a:t>15</a:t>
            </a:fld>
            <a:endParaRPr lang="fr-FR" dirty="0"/>
          </a:p>
        </p:txBody>
      </p:sp>
    </p:spTree>
    <p:extLst>
      <p:ext uri="{BB962C8B-B14F-4D97-AF65-F5344CB8AC3E}">
        <p14:creationId xmlns:p14="http://schemas.microsoft.com/office/powerpoint/2010/main" val="32084493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jpeg"/><Relationship Id="rId4" Type="http://schemas.openxmlformats.org/officeDocument/2006/relationships/image" Target="../media/image6.png"/><Relationship Id="rId5"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pic>
        <p:nvPicPr>
          <p:cNvPr id="4" name="Imag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3399" y="381001"/>
            <a:ext cx="23318910" cy="11099801"/>
          </a:xfrm>
          <a:prstGeom prst="rect">
            <a:avLst/>
          </a:prstGeom>
        </p:spPr>
      </p:pic>
      <p:sp>
        <p:nvSpPr>
          <p:cNvPr id="8" name="Rectangle à coins arrondis 7"/>
          <p:cNvSpPr/>
          <p:nvPr userDrawn="1"/>
        </p:nvSpPr>
        <p:spPr>
          <a:xfrm>
            <a:off x="533399" y="381001"/>
            <a:ext cx="23317200" cy="110998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sp>
        <p:nvSpPr>
          <p:cNvPr id="2" name="Title 1"/>
          <p:cNvSpPr>
            <a:spLocks noGrp="1"/>
          </p:cNvSpPr>
          <p:nvPr>
            <p:ph type="ctrTitle"/>
          </p:nvPr>
        </p:nvSpPr>
        <p:spPr>
          <a:xfrm>
            <a:off x="9760016" y="3305128"/>
            <a:ext cx="11575983" cy="4290912"/>
          </a:xfrm>
          <a:prstGeom prst="rect">
            <a:avLst/>
          </a:prstGeom>
        </p:spPr>
        <p:txBody>
          <a:bodyPr anchor="b"/>
          <a:lstStyle>
            <a:lvl1pPr algn="l">
              <a:defRPr sz="12000">
                <a:solidFill>
                  <a:schemeClr val="bg1">
                    <a:lumMod val="95000"/>
                  </a:schemeClr>
                </a:solidFill>
              </a:defRPr>
            </a:lvl1pPr>
          </a:lstStyle>
          <a:p>
            <a:r>
              <a:rPr lang="fr-FR" dirty="0"/>
              <a:t>Modifiez le style du titre</a:t>
            </a:r>
            <a:endParaRPr lang="en-US" dirty="0"/>
          </a:p>
        </p:txBody>
      </p:sp>
      <p:sp>
        <p:nvSpPr>
          <p:cNvPr id="3" name="Subtitle 2"/>
          <p:cNvSpPr>
            <a:spLocks noGrp="1"/>
          </p:cNvSpPr>
          <p:nvPr>
            <p:ph type="subTitle" idx="1"/>
          </p:nvPr>
        </p:nvSpPr>
        <p:spPr>
          <a:xfrm>
            <a:off x="9760016" y="7939448"/>
            <a:ext cx="11575983" cy="2576152"/>
          </a:xfrm>
          <a:prstGeom prst="rect">
            <a:avLst/>
          </a:prstGeom>
        </p:spPr>
        <p:txBody>
          <a:bodyPr/>
          <a:lstStyle>
            <a:lvl1pPr marL="0" indent="0" algn="l">
              <a:buNone/>
              <a:defRPr sz="4800">
                <a:solidFill>
                  <a:schemeClr val="bg1">
                    <a:lumMod val="95000"/>
                  </a:schemeClr>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fr-FR" dirty="0"/>
              <a:t>Modifiez le style des sous-titres du masque</a:t>
            </a:r>
            <a:endParaRPr lang="en-US" dirty="0"/>
          </a:p>
        </p:txBody>
      </p:sp>
      <p:sp>
        <p:nvSpPr>
          <p:cNvPr id="9" name="Rectangle 13"/>
          <p:cNvSpPr/>
          <p:nvPr userDrawn="1"/>
        </p:nvSpPr>
        <p:spPr>
          <a:xfrm>
            <a:off x="9760017" y="7717371"/>
            <a:ext cx="10750718" cy="91438"/>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03989" y="11611441"/>
            <a:ext cx="2037210" cy="1882818"/>
          </a:xfrm>
          <a:prstGeom prst="rect">
            <a:avLst/>
          </a:prstGeom>
        </p:spPr>
      </p:pic>
      <p:pic>
        <p:nvPicPr>
          <p:cNvPr id="11" name="Imag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47292" y="12699754"/>
            <a:ext cx="3019608" cy="378968"/>
          </a:xfrm>
          <a:prstGeom prst="rect">
            <a:avLst/>
          </a:prstGeom>
        </p:spPr>
      </p:pic>
      <p:pic>
        <p:nvPicPr>
          <p:cNvPr id="12" name="Image 1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886213" y="12614543"/>
            <a:ext cx="1062950" cy="549390"/>
          </a:xfrm>
          <a:prstGeom prst="rect">
            <a:avLst/>
          </a:prstGeom>
        </p:spPr>
      </p:pic>
    </p:spTree>
    <p:extLst>
      <p:ext uri="{BB962C8B-B14F-4D97-AF65-F5344CB8AC3E}">
        <p14:creationId xmlns:p14="http://schemas.microsoft.com/office/powerpoint/2010/main" val="2862874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pied de page 4"/>
          <p:cNvSpPr>
            <a:spLocks noGrp="1"/>
          </p:cNvSpPr>
          <p:nvPr>
            <p:ph type="ftr" sz="quarter" idx="11"/>
          </p:nvPr>
        </p:nvSpPr>
        <p:spPr>
          <a:xfrm>
            <a:off x="2675466" y="12886262"/>
            <a:ext cx="21031199" cy="450851"/>
          </a:xfrm>
          <a:prstGeom prst="rect">
            <a:avLst/>
          </a:prstGeom>
        </p:spPr>
        <p:txBody>
          <a:bodyPr anchor="ctr"/>
          <a:lstStyle>
            <a:lvl1pPr algn="ctr">
              <a:defRPr sz="1800" spc="30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22"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124305" y="12306828"/>
            <a:ext cx="1260000" cy="126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1643063" y="2961748"/>
            <a:ext cx="22063075" cy="9622365"/>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6" name="Espace réservé du texte 5"/>
          <p:cNvSpPr>
            <a:spLocks noGrp="1"/>
          </p:cNvSpPr>
          <p:nvPr>
            <p:ph type="body" sz="quarter" idx="14" hasCustomPrompt="1"/>
          </p:nvPr>
        </p:nvSpPr>
        <p:spPr>
          <a:xfrm>
            <a:off x="1643063" y="1737805"/>
            <a:ext cx="22063075" cy="705913"/>
          </a:xfrm>
          <a:prstGeom prst="rect">
            <a:avLst/>
          </a:prstGeom>
        </p:spPr>
        <p:txBody>
          <a:bodyPr/>
          <a:lstStyle>
            <a:lvl1pPr>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768023860"/>
      </p:ext>
    </p:extLst>
  </p:cSld>
  <p:clrMapOvr>
    <a:masterClrMapping/>
  </p:clrMapOvr>
  <p:extLst>
    <p:ext uri="{DCECCB84-F9BA-43D5-87BE-67443E8EF086}">
      <p15:sldGuideLst xmlns:p15="http://schemas.microsoft.com/office/powerpoint/2012/main">
        <p15:guide id="1" orient="horz" pos="102" userDrawn="1">
          <p15:clr>
            <a:srgbClr val="FBAE40"/>
          </p15:clr>
        </p15:guide>
        <p15:guide id="2" pos="1035"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contenu 2 colonnes">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124305" y="12306828"/>
            <a:ext cx="1260000" cy="126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2675467" y="12886262"/>
            <a:ext cx="21031200" cy="450851"/>
          </a:xfrm>
          <a:prstGeom prst="rect">
            <a:avLst/>
          </a:prstGeom>
        </p:spPr>
        <p:txBody>
          <a:bodyPr anchor="ctr"/>
          <a:lstStyle>
            <a:lvl1pPr>
              <a:defRPr sz="1800" spc="30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18"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0"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texte 5"/>
          <p:cNvSpPr>
            <a:spLocks noGrp="1"/>
          </p:cNvSpPr>
          <p:nvPr>
            <p:ph type="body" sz="quarter" idx="14" hasCustomPrompt="1"/>
          </p:nvPr>
        </p:nvSpPr>
        <p:spPr>
          <a:xfrm>
            <a:off x="1643063" y="1737805"/>
            <a:ext cx="22063075"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
        <p:nvSpPr>
          <p:cNvPr id="12" name="Espace réservé du texte 3"/>
          <p:cNvSpPr>
            <a:spLocks noGrp="1"/>
          </p:cNvSpPr>
          <p:nvPr>
            <p:ph type="body" sz="quarter" idx="13"/>
          </p:nvPr>
        </p:nvSpPr>
        <p:spPr>
          <a:xfrm>
            <a:off x="1643064" y="2961748"/>
            <a:ext cx="10752136" cy="9622365"/>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2" name="Espace réservé du texte 3"/>
          <p:cNvSpPr>
            <a:spLocks noGrp="1"/>
          </p:cNvSpPr>
          <p:nvPr>
            <p:ph type="body" sz="quarter" idx="15"/>
          </p:nvPr>
        </p:nvSpPr>
        <p:spPr>
          <a:xfrm>
            <a:off x="12954002" y="2961748"/>
            <a:ext cx="10752136" cy="9622365"/>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Tree>
    <p:extLst>
      <p:ext uri="{BB962C8B-B14F-4D97-AF65-F5344CB8AC3E}">
        <p14:creationId xmlns:p14="http://schemas.microsoft.com/office/powerpoint/2010/main" val="264910231"/>
      </p:ext>
    </p:extLst>
  </p:cSld>
  <p:clrMapOvr>
    <a:masterClrMapping/>
  </p:clrMapOvr>
  <p:extLst>
    <p:ext uri="{DCECCB84-F9BA-43D5-87BE-67443E8EF086}">
      <p15:sldGuideLst xmlns:p15="http://schemas.microsoft.com/office/powerpoint/2012/main">
        <p15:guide id="1" orient="horz" pos="4456"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254000" y="2478828"/>
            <a:ext cx="23892934" cy="4336838"/>
          </a:xfrm>
          <a:prstGeom prst="rect">
            <a:avLst/>
          </a:prstGeom>
        </p:spPr>
        <p:txBody>
          <a:bodyPr/>
          <a:lstStyle/>
          <a:p>
            <a:r>
              <a:rPr lang="fr-FR"/>
              <a:t>Cliquez sur l'icône pour ajouter une image</a:t>
            </a:r>
          </a:p>
        </p:txBody>
      </p:sp>
      <p:grpSp>
        <p:nvGrpSpPr>
          <p:cNvPr id="14" name="Groupe 13"/>
          <p:cNvGrpSpPr/>
          <p:nvPr userDrawn="1"/>
        </p:nvGrpSpPr>
        <p:grpSpPr>
          <a:xfrm>
            <a:off x="124305" y="12306828"/>
            <a:ext cx="1260000" cy="126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2675466" y="12886262"/>
            <a:ext cx="21014265" cy="450851"/>
          </a:xfrm>
          <a:prstGeom prst="rect">
            <a:avLst/>
          </a:prstGeom>
        </p:spPr>
        <p:txBody>
          <a:bodyPr anchor="ctr"/>
          <a:lstStyle>
            <a:lvl1pPr>
              <a:defRPr sz="1800" spc="30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18"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6" name="Espace réservé du texte 5"/>
          <p:cNvSpPr>
            <a:spLocks noGrp="1"/>
          </p:cNvSpPr>
          <p:nvPr>
            <p:ph type="body" sz="quarter" idx="18"/>
          </p:nvPr>
        </p:nvSpPr>
        <p:spPr>
          <a:xfrm>
            <a:off x="1822450" y="7031036"/>
            <a:ext cx="21867281" cy="5376862"/>
          </a:xfrm>
          <a:prstGeom prst="rect">
            <a:avLst/>
          </a:prstGeo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1643063" y="1737805"/>
            <a:ext cx="22063075"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4038710184"/>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
    <p:bg>
      <p:bgPr>
        <a:solidFill>
          <a:srgbClr val="003A8D"/>
        </a:solidFill>
        <a:effectLst/>
      </p:bgPr>
    </p:bg>
    <p:spTree>
      <p:nvGrpSpPr>
        <p:cNvPr id="1" name=""/>
        <p:cNvGrpSpPr/>
        <p:nvPr/>
      </p:nvGrpSpPr>
      <p:grpSpPr>
        <a:xfrm>
          <a:off x="0" y="0"/>
          <a:ext cx="0" cy="0"/>
          <a:chOff x="0" y="0"/>
          <a:chExt cx="0" cy="0"/>
        </a:xfrm>
      </p:grpSpPr>
      <p:grpSp>
        <p:nvGrpSpPr>
          <p:cNvPr id="16" name="Groupe 15"/>
          <p:cNvGrpSpPr/>
          <p:nvPr userDrawn="1"/>
        </p:nvGrpSpPr>
        <p:grpSpPr>
          <a:xfrm>
            <a:off x="124305" y="12306828"/>
            <a:ext cx="1260000" cy="1260000"/>
            <a:chOff x="11254317" y="5942649"/>
            <a:chExt cx="630000" cy="630000"/>
          </a:xfrm>
        </p:grpSpPr>
        <p:sp>
          <p:nvSpPr>
            <p:cNvPr id="17"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254000" y="222249"/>
            <a:ext cx="8513763" cy="13259913"/>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endParaRPr lang="fr-FR"/>
          </a:p>
        </p:txBody>
      </p:sp>
      <p:sp>
        <p:nvSpPr>
          <p:cNvPr id="23"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4" name="Espace réservé du pied de page 4"/>
          <p:cNvSpPr>
            <a:spLocks noGrp="1"/>
          </p:cNvSpPr>
          <p:nvPr>
            <p:ph type="ftr" sz="quarter" idx="11"/>
          </p:nvPr>
        </p:nvSpPr>
        <p:spPr>
          <a:xfrm>
            <a:off x="9296399" y="12886262"/>
            <a:ext cx="14393333" cy="450851"/>
          </a:xfrm>
          <a:prstGeom prst="rect">
            <a:avLst/>
          </a:prstGeom>
        </p:spPr>
        <p:txBody>
          <a:bodyPr anchor="ctr"/>
          <a:lstStyle>
            <a:lvl1pPr algn="l">
              <a:defRPr sz="1800" spc="30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12" name="Espace réservé du texte 3"/>
          <p:cNvSpPr>
            <a:spLocks noGrp="1"/>
          </p:cNvSpPr>
          <p:nvPr>
            <p:ph type="body" sz="quarter" idx="13"/>
          </p:nvPr>
        </p:nvSpPr>
        <p:spPr>
          <a:xfrm>
            <a:off x="9296399" y="3118849"/>
            <a:ext cx="14393333" cy="8892814"/>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5" name="Espace réservé du texte 5"/>
          <p:cNvSpPr>
            <a:spLocks noGrp="1"/>
          </p:cNvSpPr>
          <p:nvPr>
            <p:ph type="body" sz="quarter" idx="18" hasCustomPrompt="1"/>
          </p:nvPr>
        </p:nvSpPr>
        <p:spPr>
          <a:xfrm>
            <a:off x="9276798" y="1737805"/>
            <a:ext cx="14429340"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
        <p:nvSpPr>
          <p:cNvPr id="26" name="Titre 1"/>
          <p:cNvSpPr>
            <a:spLocks noGrp="1"/>
          </p:cNvSpPr>
          <p:nvPr>
            <p:ph type="title"/>
          </p:nvPr>
        </p:nvSpPr>
        <p:spPr>
          <a:xfrm>
            <a:off x="9296399" y="590025"/>
            <a:ext cx="14410267"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Tree>
    <p:extLst>
      <p:ext uri="{BB962C8B-B14F-4D97-AF65-F5344CB8AC3E}">
        <p14:creationId xmlns:p14="http://schemas.microsoft.com/office/powerpoint/2010/main" val="1394916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vide">
    <p:bg>
      <p:bgPr>
        <a:solidFill>
          <a:srgbClr val="003A8D"/>
        </a:solidFill>
        <a:effectLst/>
      </p:bgPr>
    </p:bg>
    <p:spTree>
      <p:nvGrpSpPr>
        <p:cNvPr id="1" name=""/>
        <p:cNvGrpSpPr/>
        <p:nvPr/>
      </p:nvGrpSpPr>
      <p:grpSpPr>
        <a:xfrm>
          <a:off x="0" y="0"/>
          <a:ext cx="0" cy="0"/>
          <a:chOff x="0" y="0"/>
          <a:chExt cx="0" cy="0"/>
        </a:xfrm>
      </p:grpSpPr>
      <p:grpSp>
        <p:nvGrpSpPr>
          <p:cNvPr id="13" name="Groupe 12"/>
          <p:cNvGrpSpPr/>
          <p:nvPr userDrawn="1"/>
        </p:nvGrpSpPr>
        <p:grpSpPr>
          <a:xfrm>
            <a:off x="124305" y="12306828"/>
            <a:ext cx="1260000" cy="1260000"/>
            <a:chOff x="11254317" y="5942649"/>
            <a:chExt cx="630000" cy="630000"/>
          </a:xfrm>
        </p:grpSpPr>
        <p:sp>
          <p:nvSpPr>
            <p:cNvPr id="14"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2675465" y="12886262"/>
            <a:ext cx="21031201" cy="450851"/>
          </a:xfrm>
          <a:prstGeom prst="rect">
            <a:avLst/>
          </a:prstGeom>
        </p:spPr>
        <p:txBody>
          <a:bodyPr anchor="ctr"/>
          <a:lstStyle>
            <a:lvl1pPr>
              <a:defRPr sz="1800" spc="30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20"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11"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16" name="Espace réservé du texte 5"/>
          <p:cNvSpPr>
            <a:spLocks noGrp="1"/>
          </p:cNvSpPr>
          <p:nvPr>
            <p:ph type="body" sz="quarter" idx="14" hasCustomPrompt="1"/>
          </p:nvPr>
        </p:nvSpPr>
        <p:spPr>
          <a:xfrm>
            <a:off x="1643063" y="1737805"/>
            <a:ext cx="22063075"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3316614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24384000" cy="13716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24384000" cy="13716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dirty="0"/>
              <a:t>Cliquer sur l'icône pour insérer une image OU supprimer cette zone si non utilisée</a:t>
            </a:r>
          </a:p>
        </p:txBody>
      </p:sp>
      <p:sp>
        <p:nvSpPr>
          <p:cNvPr id="2" name="Titre 1"/>
          <p:cNvSpPr>
            <a:spLocks noGrp="1"/>
          </p:cNvSpPr>
          <p:nvPr>
            <p:ph type="title"/>
          </p:nvPr>
        </p:nvSpPr>
        <p:spPr>
          <a:xfrm>
            <a:off x="0" y="8720665"/>
            <a:ext cx="24384000" cy="2844804"/>
          </a:xfrm>
          <a:prstGeom prst="rect">
            <a:avLst/>
          </a:prstGeom>
          <a:solidFill>
            <a:srgbClr val="0C4392"/>
          </a:solidFill>
        </p:spPr>
        <p:txBody>
          <a:bodyPr anchor="ctr"/>
          <a:lstStyle>
            <a:lvl1pPr algn="ctr">
              <a:defRPr sz="12000">
                <a:solidFill>
                  <a:schemeClr val="bg1"/>
                </a:solidFill>
              </a:defRPr>
            </a:lvl1pPr>
          </a:lstStyle>
          <a:p>
            <a:r>
              <a:rPr lang="fr-FR" dirty="0"/>
              <a:t>Modifiez le style du titre</a:t>
            </a:r>
          </a:p>
        </p:txBody>
      </p:sp>
    </p:spTree>
    <p:extLst>
      <p:ext uri="{BB962C8B-B14F-4D97-AF65-F5344CB8AC3E}">
        <p14:creationId xmlns:p14="http://schemas.microsoft.com/office/powerpoint/2010/main" val="434974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itre fond blanc">
    <p:bg>
      <p:bgPr>
        <a:solidFill>
          <a:srgbClr val="003A8D"/>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24384000" cy="13716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24384000" cy="13716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dirty="0"/>
              <a:t>Cliquer sur l'icône pour insérer une image OU supprimer cette zone si non utilisée</a:t>
            </a:r>
          </a:p>
          <a:p>
            <a:pPr lvl="0"/>
            <a:endParaRPr lang="fr-FR" dirty="0"/>
          </a:p>
        </p:txBody>
      </p:sp>
      <p:sp>
        <p:nvSpPr>
          <p:cNvPr id="4" name="Titre 1"/>
          <p:cNvSpPr>
            <a:spLocks noGrp="1"/>
          </p:cNvSpPr>
          <p:nvPr>
            <p:ph type="title"/>
          </p:nvPr>
        </p:nvSpPr>
        <p:spPr>
          <a:xfrm>
            <a:off x="0" y="8720665"/>
            <a:ext cx="24384000" cy="2844804"/>
          </a:xfrm>
          <a:prstGeom prst="rect">
            <a:avLst/>
          </a:prstGeom>
          <a:solidFill>
            <a:schemeClr val="bg1">
              <a:alpha val="95000"/>
            </a:schemeClr>
          </a:solidFill>
        </p:spPr>
        <p:txBody>
          <a:bodyPr anchor="ctr"/>
          <a:lstStyle>
            <a:lvl1pPr algn="ctr">
              <a:defRPr sz="12000">
                <a:solidFill>
                  <a:srgbClr val="003A8D"/>
                </a:solidFill>
              </a:defRPr>
            </a:lvl1pPr>
          </a:lstStyle>
          <a:p>
            <a:r>
              <a:rPr lang="fr-FR" dirty="0"/>
              <a:t>Modifiez le style du titre</a:t>
            </a:r>
          </a:p>
        </p:txBody>
      </p:sp>
    </p:spTree>
    <p:extLst>
      <p:ext uri="{BB962C8B-B14F-4D97-AF65-F5344CB8AC3E}">
        <p14:creationId xmlns:p14="http://schemas.microsoft.com/office/powerpoint/2010/main" val="3839059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onclusion">
    <p:bg>
      <p:bgPr>
        <a:solidFill>
          <a:schemeClr val="bg1"/>
        </a:solidFill>
        <a:effectLst/>
      </p:bgPr>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3399" y="381001"/>
            <a:ext cx="23318910" cy="11099801"/>
          </a:xfrm>
          <a:prstGeom prst="rect">
            <a:avLst/>
          </a:prstGeom>
        </p:spPr>
      </p:pic>
      <p:sp>
        <p:nvSpPr>
          <p:cNvPr id="11" name="Rectangle à coins arrondis 10"/>
          <p:cNvSpPr/>
          <p:nvPr userDrawn="1"/>
        </p:nvSpPr>
        <p:spPr>
          <a:xfrm>
            <a:off x="533399" y="381001"/>
            <a:ext cx="23317200" cy="110998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sp>
        <p:nvSpPr>
          <p:cNvPr id="2" name="Titre 1"/>
          <p:cNvSpPr>
            <a:spLocks noGrp="1"/>
          </p:cNvSpPr>
          <p:nvPr>
            <p:ph type="ctrTitle" hasCustomPrompt="1"/>
          </p:nvPr>
        </p:nvSpPr>
        <p:spPr>
          <a:xfrm>
            <a:off x="9601200" y="2942170"/>
            <a:ext cx="12801600" cy="4775200"/>
          </a:xfrm>
          <a:prstGeom prst="rect">
            <a:avLst/>
          </a:prstGeom>
        </p:spPr>
        <p:txBody>
          <a:bodyPr anchor="b"/>
          <a:lstStyle>
            <a:lvl1pPr algn="l">
              <a:defRPr sz="12000">
                <a:solidFill>
                  <a:schemeClr val="bg1"/>
                </a:solidFill>
              </a:defRPr>
            </a:lvl1pPr>
          </a:lstStyle>
          <a:p>
            <a:r>
              <a:rPr lang="fr-FR" dirty="0"/>
              <a:t>Diapositive de conclusion</a:t>
            </a:r>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03989" y="11611441"/>
            <a:ext cx="2037210" cy="1882818"/>
          </a:xfrm>
          <a:prstGeom prst="rect">
            <a:avLst/>
          </a:prstGeom>
        </p:spPr>
      </p:pic>
      <p:pic>
        <p:nvPicPr>
          <p:cNvPr id="12" name="Image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389539" y="12305416"/>
            <a:ext cx="3938794" cy="494328"/>
          </a:xfrm>
          <a:prstGeom prst="rect">
            <a:avLst/>
          </a:prstGeom>
        </p:spPr>
      </p:pic>
      <p:pic>
        <p:nvPicPr>
          <p:cNvPr id="13" name="Image 1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598482" y="12252211"/>
            <a:ext cx="1386516" cy="716626"/>
          </a:xfrm>
          <a:prstGeom prst="rect">
            <a:avLst/>
          </a:prstGeom>
        </p:spPr>
      </p:pic>
    </p:spTree>
    <p:extLst>
      <p:ext uri="{BB962C8B-B14F-4D97-AF65-F5344CB8AC3E}">
        <p14:creationId xmlns:p14="http://schemas.microsoft.com/office/powerpoint/2010/main" val="36464020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à coins arrondis 5"/>
          <p:cNvSpPr/>
          <p:nvPr userDrawn="1"/>
        </p:nvSpPr>
        <p:spPr>
          <a:xfrm>
            <a:off x="254000" y="203200"/>
            <a:ext cx="23892934" cy="13278963"/>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sp>
        <p:nvSpPr>
          <p:cNvPr id="4" name="Espace réservé du pied de page 4"/>
          <p:cNvSpPr>
            <a:spLocks noGrp="1"/>
          </p:cNvSpPr>
          <p:nvPr>
            <p:ph type="ftr" sz="quarter" idx="3"/>
          </p:nvPr>
        </p:nvSpPr>
        <p:spPr>
          <a:xfrm>
            <a:off x="2675466" y="12886262"/>
            <a:ext cx="21031199" cy="450851"/>
          </a:xfrm>
          <a:prstGeom prst="rect">
            <a:avLst/>
          </a:prstGeom>
        </p:spPr>
        <p:txBody>
          <a:bodyPr anchor="ctr"/>
          <a:lstStyle>
            <a:lvl1pPr algn="ctr">
              <a:defRPr sz="1800" spc="30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5" name="Espace réservé du numéro de diapositive 5"/>
          <p:cNvSpPr>
            <a:spLocks noGrp="1"/>
          </p:cNvSpPr>
          <p:nvPr>
            <p:ph type="sldNum" sz="quarter" idx="4"/>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spTree>
    <p:extLst>
      <p:ext uri="{BB962C8B-B14F-4D97-AF65-F5344CB8AC3E}">
        <p14:creationId xmlns:p14="http://schemas.microsoft.com/office/powerpoint/2010/main" val="15497144"/>
      </p:ext>
    </p:extLst>
  </p:cSld>
  <p:clrMap bg1="lt1" tx1="dk1" bg2="lt2" tx2="dk2" accent1="accent1" accent2="accent2" accent3="accent3" accent4="accent4" accent5="accent5" accent6="accent6" hlink="hlink" folHlink="folHlink"/>
  <p:sldLayoutIdLst>
    <p:sldLayoutId id="2147483695" r:id="rId1"/>
    <p:sldLayoutId id="2147483742" r:id="rId2"/>
    <p:sldLayoutId id="2147483745" r:id="rId3"/>
    <p:sldLayoutId id="2147483748" r:id="rId4"/>
    <p:sldLayoutId id="2147483734" r:id="rId5"/>
    <p:sldLayoutId id="2147483736" r:id="rId6"/>
    <p:sldLayoutId id="2147483739" r:id="rId7"/>
    <p:sldLayoutId id="2147483746" r:id="rId8"/>
    <p:sldLayoutId id="2147483718" r:id="rId9"/>
  </p:sldLayoutIdLst>
  <p:hf hdr="0" dt="0"/>
  <p:txStyles>
    <p:titleStyle>
      <a:lvl1pPr algn="l" defTabSz="1828800" rtl="0" eaLnBrk="1" latinLnBrk="0" hangingPunct="1">
        <a:lnSpc>
          <a:spcPct val="90000"/>
        </a:lnSpc>
        <a:spcBef>
          <a:spcPct val="0"/>
        </a:spcBef>
        <a:buNone/>
        <a:defRPr sz="66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1828800" rtl="0" eaLnBrk="1" latinLnBrk="0" hangingPunct="1">
        <a:lnSpc>
          <a:spcPct val="100000"/>
        </a:lnSpc>
        <a:spcBef>
          <a:spcPts val="0"/>
        </a:spcBef>
        <a:buFont typeface="Arial" panose="020B0604020202020204" pitchFamily="34" charset="0"/>
        <a:buNone/>
        <a:defRPr lang="fr-FR" sz="4000" kern="1200" dirty="0" smtClean="0">
          <a:solidFill>
            <a:srgbClr val="003A8D"/>
          </a:solidFill>
          <a:latin typeface="Segoe UI" panose="020B0502040204020203" pitchFamily="34" charset="0"/>
          <a:ea typeface="+mn-ea"/>
          <a:cs typeface="Segoe UI" panose="020B0502040204020203" pitchFamily="34" charset="0"/>
        </a:defRPr>
      </a:lvl1pPr>
      <a:lvl2pPr marL="457200" indent="-457200" algn="l" defTabSz="1828800" rtl="0" eaLnBrk="1" latinLnBrk="0" hangingPunct="1">
        <a:lnSpc>
          <a:spcPct val="100000"/>
        </a:lnSpc>
        <a:spcBef>
          <a:spcPts val="0"/>
        </a:spcBef>
        <a:buClr>
          <a:srgbClr val="E7473D"/>
        </a:buClr>
        <a:buFont typeface="Wingdings 3" panose="05040102010807070707" pitchFamily="18" charset="2"/>
        <a:buChar char=""/>
        <a:defRPr lang="fr-FR" sz="3200" kern="1200" dirty="0" smtClean="0">
          <a:solidFill>
            <a:srgbClr val="285C99"/>
          </a:solidFill>
          <a:latin typeface="Segoe UI" panose="020B0502040204020203" pitchFamily="34" charset="0"/>
          <a:ea typeface="+mn-ea"/>
          <a:cs typeface="Segoe UI" panose="020B0502040204020203" pitchFamily="34" charset="0"/>
        </a:defRPr>
      </a:lvl2pPr>
      <a:lvl3pPr marL="896938" indent="-457200" algn="l" defTabSz="1828800" rtl="0" eaLnBrk="1" latinLnBrk="0" hangingPunct="1">
        <a:lnSpc>
          <a:spcPct val="100000"/>
        </a:lnSpc>
        <a:spcBef>
          <a:spcPts val="0"/>
        </a:spcBef>
        <a:buClr>
          <a:srgbClr val="003A8D"/>
        </a:buClr>
        <a:buFont typeface="Wingdings 3" panose="05040102010807070707" pitchFamily="18" charset="2"/>
        <a:buChar char="}"/>
        <a:defRPr lang="fr-FR" sz="24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1524000" indent="-541338" algn="l" defTabSz="1828800" rtl="0" eaLnBrk="1" latinLnBrk="0" hangingPunct="1">
        <a:lnSpc>
          <a:spcPct val="100000"/>
        </a:lnSpc>
        <a:spcBef>
          <a:spcPts val="0"/>
        </a:spcBef>
        <a:buClr>
          <a:srgbClr val="E7473D"/>
        </a:buClr>
        <a:buFont typeface="Wingdings 3" panose="05040102010807070707" pitchFamily="18" charset="2"/>
        <a:buChar char="}"/>
        <a:defRPr lang="fr-FR" sz="2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3.png"/><Relationship Id="rId4" Type="http://schemas.openxmlformats.org/officeDocument/2006/relationships/hyperlink" Target="https://moss-si.cm-cic.fr/sites/d00341/Documents%20partages/Forms/AllItems.aspx?RootFolder=%2fsites%2fd00341%2fDocuments%20partages%2fDocumentation%20g%c3%a9n%c3%a9rale%2fCatalogue%20de%20Services&amp;FolderCTID=0x0120002E551F9298F25A46B8D39926416B183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5.png"/><Relationship Id="rId4" Type="http://schemas.openxmlformats.org/officeDocument/2006/relationships/image" Target="../media/image3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7.png"/><Relationship Id="rId4" Type="http://schemas.openxmlformats.org/officeDocument/2006/relationships/image" Target="../media/image3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3155576" y="3305128"/>
            <a:ext cx="18180423" cy="4290912"/>
          </a:xfrm>
        </p:spPr>
        <p:txBody>
          <a:bodyPr/>
          <a:lstStyle/>
          <a:p>
            <a:r>
              <a:rPr lang="fr-FR" sz="6000"/>
              <a:t>Architecture fonctionnelle et applicative</a:t>
            </a:r>
            <a:br>
              <a:rPr lang="fr-FR" sz="6000"/>
            </a:br>
            <a:r>
              <a:rPr lang="fr-FR" sz="6000"/>
              <a:t>de l’OCR F — Niveaux 2 et 3</a:t>
            </a:r>
            <a:br>
              <a:rPr lang="fr-FR" sz="6000"/>
            </a:br>
            <a:r>
              <a:rPr lang="fr-FR" sz="6000"/>
              <a:t>Synthèse consolidée et propositions</a:t>
            </a:r>
            <a:endParaRPr lang="fr-FR" sz="8800" dirty="0"/>
          </a:p>
        </p:txBody>
      </p:sp>
      <p:sp>
        <p:nvSpPr>
          <p:cNvPr id="3" name="Sous-titre 2"/>
          <p:cNvSpPr>
            <a:spLocks noGrp="1"/>
          </p:cNvSpPr>
          <p:nvPr>
            <p:ph type="subTitle" idx="1"/>
          </p:nvPr>
        </p:nvSpPr>
        <p:spPr/>
        <p:txBody>
          <a:bodyPr/>
          <a:lstStyle/>
          <a:p>
            <a:r>
              <a:rPr lang="fr-FR" dirty="0"/>
              <a:t>v0.7 — 09/2026 — Document de travail</a:t>
            </a:r>
          </a:p>
        </p:txBody>
      </p:sp>
    </p:spTree>
    <p:extLst>
      <p:ext uri="{BB962C8B-B14F-4D97-AF65-F5344CB8AC3E}">
        <p14:creationId xmlns:p14="http://schemas.microsoft.com/office/powerpoint/2010/main" val="4271853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957E322D-41FC-423F-9D1D-7CD264CF2BC3}"/>
              </a:ext>
            </a:extLst>
          </p:cNvPr>
          <p:cNvSpPr/>
          <p:nvPr/>
        </p:nvSpPr>
        <p:spPr>
          <a:xfrm>
            <a:off x="15472900" y="2092058"/>
            <a:ext cx="7714514" cy="2753492"/>
          </a:xfrm>
          <a:prstGeom prst="roundRect">
            <a:avLst>
              <a:gd name="adj" fmla="val 4295"/>
            </a:avLst>
          </a:prstGeom>
          <a:solidFill>
            <a:schemeClr val="bg1"/>
          </a:solidFill>
          <a:ln>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4" name="Espace réservé du numéro de diapositive 3">
            <a:extLst>
              <a:ext uri="{FF2B5EF4-FFF2-40B4-BE49-F238E27FC236}">
                <a16:creationId xmlns:a16="http://schemas.microsoft.com/office/drawing/2014/main" id="{9FCB6B3B-D192-4194-BBD6-686E0C3AAFE5}"/>
              </a:ext>
            </a:extLst>
          </p:cNvPr>
          <p:cNvSpPr>
            <a:spLocks noGrp="1"/>
          </p:cNvSpPr>
          <p:nvPr>
            <p:ph type="sldNum" sz="quarter" idx="12"/>
          </p:nvPr>
        </p:nvSpPr>
        <p:spPr/>
        <p:txBody>
          <a:bodyPr/>
          <a:lstStyle/>
          <a:p>
            <a:pPr defTabSz="1828800"/>
            <a:fld id="{3EE1DE5A-27D4-4895-8E04-340D57AD09FB}" type="slidenum">
              <a:rPr lang="fr-FR"/>
              <a:pPr defTabSz="1828800"/>
              <a:t>7</a:t>
            </a:fld>
            <a:endParaRPr lang="fr-FR"/>
          </a:p>
        </p:txBody>
      </p:sp>
      <p:sp>
        <p:nvSpPr>
          <p:cNvPr id="6" name="Rectangle 1">
            <a:extLst>
              <a:ext uri="{FF2B5EF4-FFF2-40B4-BE49-F238E27FC236}">
                <a16:creationId xmlns:a16="http://schemas.microsoft.com/office/drawing/2014/main" id="{A52E14D6-1C02-42C3-9DB0-E026D1606E57}"/>
              </a:ext>
            </a:extLst>
          </p:cNvPr>
          <p:cNvSpPr>
            <a:spLocks noChangeArrowheads="1"/>
          </p:cNvSpPr>
          <p:nvPr/>
        </p:nvSpPr>
        <p:spPr bwMode="auto">
          <a:xfrm>
            <a:off x="1" y="-369330"/>
            <a:ext cx="36939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82880" tIns="91440" rIns="182880" bIns="91440" numCol="1" anchor="ctr" anchorCtr="0" compatLnSpc="1">
            <a:prstTxWarp prst="textNoShape">
              <a:avLst/>
            </a:prstTxWarp>
            <a:spAutoFit/>
          </a:bodyPr>
          <a:lstStyle/>
          <a:p>
            <a:pPr defTabSz="1828800"/>
            <a:endParaRPr lang="fr-FR" sz="3600">
              <a:solidFill>
                <a:prstClr val="black"/>
              </a:solidFill>
              <a:latin typeface="Calibri" panose="020F0502020204030204"/>
            </a:endParaRPr>
          </a:p>
        </p:txBody>
      </p:sp>
      <p:sp>
        <p:nvSpPr>
          <p:cNvPr id="15" name="Rectangle : coins arrondis 14">
            <a:extLst>
              <a:ext uri="{FF2B5EF4-FFF2-40B4-BE49-F238E27FC236}">
                <a16:creationId xmlns:a16="http://schemas.microsoft.com/office/drawing/2014/main" id="{716ABBA3-F977-4288-B7D5-433B9596EF22}"/>
              </a:ext>
            </a:extLst>
          </p:cNvPr>
          <p:cNvSpPr/>
          <p:nvPr/>
        </p:nvSpPr>
        <p:spPr>
          <a:xfrm>
            <a:off x="15472900" y="10780622"/>
            <a:ext cx="8028495" cy="1376807"/>
          </a:xfrm>
          <a:prstGeom prst="roundRect">
            <a:avLst/>
          </a:prstGeom>
          <a:solidFill>
            <a:schemeClr val="bg1">
              <a:lumMod val="95000"/>
            </a:schemeClr>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defTabSz="1828800"/>
            <a:r>
              <a:rPr lang="fr-FR" sz="2400" dirty="0">
                <a:solidFill>
                  <a:srgbClr val="4472C4">
                    <a:lumMod val="75000"/>
                  </a:srgbClr>
                </a:solidFill>
                <a:latin typeface="Segoe UI" panose="020B0502040204020203" pitchFamily="34" charset="0"/>
                <a:cs typeface="Segoe UI" panose="020B0502040204020203" pitchFamily="34" charset="0"/>
              </a:rPr>
              <a:t>x</a:t>
            </a:r>
          </a:p>
        </p:txBody>
      </p:sp>
      <p:grpSp>
        <p:nvGrpSpPr>
          <p:cNvPr id="20" name="Groupe 19">
            <a:extLst>
              <a:ext uri="{FF2B5EF4-FFF2-40B4-BE49-F238E27FC236}">
                <a16:creationId xmlns:a16="http://schemas.microsoft.com/office/drawing/2014/main" id="{CD7605DE-8087-4908-B2C6-CCA142D5B291}"/>
              </a:ext>
            </a:extLst>
          </p:cNvPr>
          <p:cNvGrpSpPr/>
          <p:nvPr/>
        </p:nvGrpSpPr>
        <p:grpSpPr>
          <a:xfrm>
            <a:off x="10343015" y="474376"/>
            <a:ext cx="4693390" cy="1425514"/>
            <a:chOff x="7883999" y="144434"/>
            <a:chExt cx="2346695" cy="712757"/>
          </a:xfrm>
        </p:grpSpPr>
        <p:sp>
          <p:nvSpPr>
            <p:cNvPr id="43" name="Rectangle à coins arrondis 16">
              <a:extLst>
                <a:ext uri="{FF2B5EF4-FFF2-40B4-BE49-F238E27FC236}">
                  <a16:creationId xmlns:a16="http://schemas.microsoft.com/office/drawing/2014/main" id="{8B5AA266-82DD-4892-9754-0688D8C6427B}"/>
                </a:ext>
              </a:extLst>
            </p:cNvPr>
            <p:cNvSpPr/>
            <p:nvPr/>
          </p:nvSpPr>
          <p:spPr>
            <a:xfrm>
              <a:off x="7883999" y="144434"/>
              <a:ext cx="2346695" cy="712757"/>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endParaRPr lang="fr-FR" sz="1800" i="1" dirty="0">
                <a:solidFill>
                  <a:prstClr val="white">
                    <a:lumMod val="50000"/>
                  </a:prstClr>
                </a:solidFill>
                <a:latin typeface="Segoe UI" panose="020B0502040204020203" pitchFamily="34" charset="0"/>
                <a:cs typeface="Segoe UI" panose="020B0502040204020203" pitchFamily="34" charset="0"/>
              </a:endParaRPr>
            </a:p>
            <a:p>
              <a:pPr algn="ctr" defTabSz="1828800"/>
              <a:endParaRPr lang="fr-FR" sz="1800" i="1" dirty="0">
                <a:solidFill>
                  <a:prstClr val="white">
                    <a:lumMod val="50000"/>
                  </a:prstClr>
                </a:solidFill>
                <a:latin typeface="Segoe UI" panose="020B0502040204020203" pitchFamily="34" charset="0"/>
                <a:cs typeface="Segoe UI" panose="020B0502040204020203" pitchFamily="34" charset="0"/>
              </a:endParaRPr>
            </a:p>
            <a:p>
              <a:pPr algn="ctr" defTabSz="1828800"/>
              <a:r>
                <a:rPr lang="fr-FR" sz="1800" i="1" dirty="0">
                  <a:solidFill>
                    <a:prstClr val="white">
                      <a:lumMod val="50000"/>
                    </a:prstClr>
                  </a:solidFill>
                  <a:latin typeface="Segoe UI" panose="020B0502040204020203" pitchFamily="34" charset="0"/>
                  <a:cs typeface="Segoe UI" panose="020B0502040204020203" pitchFamily="34" charset="0"/>
                </a:rPr>
                <a:t>Les rectangles jaunes vous aident à remplir le document. </a:t>
              </a:r>
              <a:r>
                <a:rPr lang="fr-FR" sz="1800" b="1" i="1" dirty="0">
                  <a:solidFill>
                    <a:prstClr val="white">
                      <a:lumMod val="50000"/>
                    </a:prstClr>
                  </a:solidFill>
                  <a:latin typeface="Segoe UI" panose="020B0502040204020203" pitchFamily="34" charset="0"/>
                  <a:cs typeface="Segoe UI" panose="020B0502040204020203" pitchFamily="34" charset="0"/>
                </a:rPr>
                <a:t>Supprimez-les dans la version finalisée du document.</a:t>
              </a:r>
            </a:p>
          </p:txBody>
        </p:sp>
        <p:pic>
          <p:nvPicPr>
            <p:cNvPr id="44" name="Image 43">
              <a:extLst>
                <a:ext uri="{FF2B5EF4-FFF2-40B4-BE49-F238E27FC236}">
                  <a16:creationId xmlns:a16="http://schemas.microsoft.com/office/drawing/2014/main" id="{D9486E57-A186-4A20-B707-A0D72AFFEFB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5095" t="27707" r="48975" b="28753"/>
            <a:stretch/>
          </p:blipFill>
          <p:spPr>
            <a:xfrm>
              <a:off x="8916294" y="150122"/>
              <a:ext cx="216784" cy="305141"/>
            </a:xfrm>
            <a:prstGeom prst="rect">
              <a:avLst/>
            </a:prstGeom>
          </p:spPr>
        </p:pic>
      </p:grpSp>
      <p:sp>
        <p:nvSpPr>
          <p:cNvPr id="47" name="Titre 1">
            <a:extLst>
              <a:ext uri="{FF2B5EF4-FFF2-40B4-BE49-F238E27FC236}">
                <a16:creationId xmlns:a16="http://schemas.microsoft.com/office/drawing/2014/main" id="{0290000D-E6A3-4D0E-9B16-B9D43538F455}"/>
              </a:ext>
            </a:extLst>
          </p:cNvPr>
          <p:cNvSpPr>
            <a:spLocks noGrp="1"/>
          </p:cNvSpPr>
          <p:nvPr>
            <p:ph type="title"/>
          </p:nvPr>
        </p:nvSpPr>
        <p:spPr>
          <a:xfrm>
            <a:off x="1672754" y="590026"/>
            <a:ext cx="22033912" cy="1052508"/>
          </a:xfrm>
        </p:spPr>
        <p:txBody>
          <a:bodyPr/>
          <a:lstStyle/>
          <a:p>
            <a:r>
              <a:rPr lang="fr-FR" dirty="0"/>
              <a:t>[nom de l’application]</a:t>
            </a:r>
          </a:p>
        </p:txBody>
      </p:sp>
      <p:grpSp>
        <p:nvGrpSpPr>
          <p:cNvPr id="64" name="Groupe 63">
            <a:extLst>
              <a:ext uri="{FF2B5EF4-FFF2-40B4-BE49-F238E27FC236}">
                <a16:creationId xmlns:a16="http://schemas.microsoft.com/office/drawing/2014/main" id="{32B632E8-121D-4320-B552-528DA3296C70}"/>
              </a:ext>
            </a:extLst>
          </p:cNvPr>
          <p:cNvGrpSpPr/>
          <p:nvPr/>
        </p:nvGrpSpPr>
        <p:grpSpPr>
          <a:xfrm>
            <a:off x="17997201" y="2566699"/>
            <a:ext cx="2979891" cy="1425514"/>
            <a:chOff x="7883999" y="144434"/>
            <a:chExt cx="2346695" cy="712757"/>
          </a:xfrm>
        </p:grpSpPr>
        <p:sp>
          <p:nvSpPr>
            <p:cNvPr id="65" name="Rectangle à coins arrondis 16">
              <a:extLst>
                <a:ext uri="{FF2B5EF4-FFF2-40B4-BE49-F238E27FC236}">
                  <a16:creationId xmlns:a16="http://schemas.microsoft.com/office/drawing/2014/main" id="{5CD17D12-E9AB-49E3-B6F0-E8B92ABA02D1}"/>
                </a:ext>
              </a:extLst>
            </p:cNvPr>
            <p:cNvSpPr/>
            <p:nvPr/>
          </p:nvSpPr>
          <p:spPr>
            <a:xfrm>
              <a:off x="7883999" y="144434"/>
              <a:ext cx="2346695" cy="712757"/>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endParaRPr lang="fr-FR" sz="1800" i="1" dirty="0">
                <a:solidFill>
                  <a:prstClr val="white">
                    <a:lumMod val="50000"/>
                  </a:prstClr>
                </a:solidFill>
                <a:latin typeface="Segoe UI" panose="020B0502040204020203" pitchFamily="34" charset="0"/>
                <a:cs typeface="Segoe UI" panose="020B0502040204020203" pitchFamily="34" charset="0"/>
              </a:endParaRPr>
            </a:p>
            <a:p>
              <a:pPr algn="ctr" defTabSz="1828800"/>
              <a:endParaRPr lang="fr-FR" sz="1800" i="1" dirty="0">
                <a:solidFill>
                  <a:prstClr val="white">
                    <a:lumMod val="50000"/>
                  </a:prstClr>
                </a:solidFill>
                <a:latin typeface="Segoe UI" panose="020B0502040204020203" pitchFamily="34" charset="0"/>
                <a:cs typeface="Segoe UI" panose="020B0502040204020203" pitchFamily="34" charset="0"/>
              </a:endParaRPr>
            </a:p>
            <a:p>
              <a:pPr algn="ctr" defTabSz="1828800"/>
              <a:r>
                <a:rPr lang="fr-FR" sz="1800" b="1" i="1" dirty="0">
                  <a:solidFill>
                    <a:prstClr val="white">
                      <a:lumMod val="50000"/>
                    </a:prstClr>
                  </a:solidFill>
                  <a:latin typeface="Segoe UI" panose="020B0502040204020203" pitchFamily="34" charset="0"/>
                  <a:cs typeface="Segoe UI" panose="020B0502040204020203" pitchFamily="34" charset="0"/>
                </a:rPr>
                <a:t>Capture d’écran / illustration optionnelle</a:t>
              </a:r>
            </a:p>
          </p:txBody>
        </p:sp>
        <p:pic>
          <p:nvPicPr>
            <p:cNvPr id="66" name="Image 65">
              <a:extLst>
                <a:ext uri="{FF2B5EF4-FFF2-40B4-BE49-F238E27FC236}">
                  <a16:creationId xmlns:a16="http://schemas.microsoft.com/office/drawing/2014/main" id="{7CCB8F6F-6248-46ED-BEC2-0C1D8D5A2A9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5095" t="27707" r="48975" b="28753"/>
            <a:stretch/>
          </p:blipFill>
          <p:spPr>
            <a:xfrm>
              <a:off x="8866254" y="265496"/>
              <a:ext cx="330965" cy="213354"/>
            </a:xfrm>
            <a:prstGeom prst="rect">
              <a:avLst/>
            </a:prstGeom>
          </p:spPr>
        </p:pic>
      </p:grpSp>
      <p:sp>
        <p:nvSpPr>
          <p:cNvPr id="7" name="Rectangle : avec coins arrondis en haut 6">
            <a:extLst>
              <a:ext uri="{FF2B5EF4-FFF2-40B4-BE49-F238E27FC236}">
                <a16:creationId xmlns:a16="http://schemas.microsoft.com/office/drawing/2014/main" id="{75C53B9B-A533-433A-8A15-753FE5546FDC}"/>
              </a:ext>
            </a:extLst>
          </p:cNvPr>
          <p:cNvSpPr/>
          <p:nvPr/>
        </p:nvSpPr>
        <p:spPr>
          <a:xfrm>
            <a:off x="15482180" y="10351712"/>
            <a:ext cx="8019050"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DOCUMENTATION PIXIS DISPONIBLE</a:t>
            </a:r>
          </a:p>
        </p:txBody>
      </p:sp>
      <p:sp>
        <p:nvSpPr>
          <p:cNvPr id="53" name="Rectangle : coins arrondis 52">
            <a:extLst>
              <a:ext uri="{FF2B5EF4-FFF2-40B4-BE49-F238E27FC236}">
                <a16:creationId xmlns:a16="http://schemas.microsoft.com/office/drawing/2014/main" id="{6A0ED574-1D2E-42AD-8F87-18BFBECA67B8}"/>
              </a:ext>
            </a:extLst>
          </p:cNvPr>
          <p:cNvSpPr/>
          <p:nvPr/>
        </p:nvSpPr>
        <p:spPr>
          <a:xfrm>
            <a:off x="9177867" y="2586040"/>
            <a:ext cx="5156469" cy="724932"/>
          </a:xfrm>
          <a:prstGeom prst="roundRect">
            <a:avLst/>
          </a:prstGeom>
          <a:solidFill>
            <a:schemeClr val="bg1">
              <a:lumMod val="95000"/>
            </a:schemeClr>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defTabSz="1828800"/>
            <a:r>
              <a:rPr lang="fr-FR" sz="2400" dirty="0">
                <a:solidFill>
                  <a:srgbClr val="4472C4">
                    <a:lumMod val="75000"/>
                  </a:srgbClr>
                </a:solidFill>
                <a:latin typeface="Segoe UI" panose="020B0502040204020203" pitchFamily="34" charset="0"/>
                <a:cs typeface="Segoe UI" panose="020B0502040204020203" pitchFamily="34" charset="0"/>
              </a:rPr>
              <a:t>x</a:t>
            </a:r>
          </a:p>
        </p:txBody>
      </p:sp>
      <p:sp>
        <p:nvSpPr>
          <p:cNvPr id="56" name="Rectangle : avec coins arrondis en haut 55">
            <a:extLst>
              <a:ext uri="{FF2B5EF4-FFF2-40B4-BE49-F238E27FC236}">
                <a16:creationId xmlns:a16="http://schemas.microsoft.com/office/drawing/2014/main" id="{636E7100-1996-4D25-93EB-58FAAE118161}"/>
              </a:ext>
            </a:extLst>
          </p:cNvPr>
          <p:cNvSpPr/>
          <p:nvPr/>
        </p:nvSpPr>
        <p:spPr>
          <a:xfrm>
            <a:off x="9188724" y="2080986"/>
            <a:ext cx="5150403"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UTILISATEURS</a:t>
            </a:r>
          </a:p>
        </p:txBody>
      </p:sp>
      <p:sp>
        <p:nvSpPr>
          <p:cNvPr id="57" name="Rectangle à coins arrondis 16">
            <a:extLst>
              <a:ext uri="{FF2B5EF4-FFF2-40B4-BE49-F238E27FC236}">
                <a16:creationId xmlns:a16="http://schemas.microsoft.com/office/drawing/2014/main" id="{689F41E9-FDC9-4B86-B9E6-856DFFA22259}"/>
              </a:ext>
            </a:extLst>
          </p:cNvPr>
          <p:cNvSpPr/>
          <p:nvPr/>
        </p:nvSpPr>
        <p:spPr>
          <a:xfrm>
            <a:off x="10293624" y="2808824"/>
            <a:ext cx="2924954" cy="105936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Renseigner les utilisateurs de l’application : La CF, les clients, ETVS, l’OCR F</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58" name="Rectangle : coins arrondis 57">
            <a:extLst>
              <a:ext uri="{FF2B5EF4-FFF2-40B4-BE49-F238E27FC236}">
                <a16:creationId xmlns:a16="http://schemas.microsoft.com/office/drawing/2014/main" id="{C45F9DE3-1B7F-4E3A-A98B-8CE59695A6DE}"/>
              </a:ext>
            </a:extLst>
          </p:cNvPr>
          <p:cNvSpPr/>
          <p:nvPr/>
        </p:nvSpPr>
        <p:spPr>
          <a:xfrm>
            <a:off x="1036578" y="4649468"/>
            <a:ext cx="13425871" cy="724932"/>
          </a:xfrm>
          <a:prstGeom prst="roundRect">
            <a:avLst/>
          </a:prstGeom>
          <a:solidFill>
            <a:schemeClr val="accent4">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r>
              <a:rPr lang="fr-FR" sz="2000" b="1" dirty="0">
                <a:solidFill>
                  <a:srgbClr val="002060"/>
                </a:solidFill>
                <a:latin typeface="Segoe UI" panose="020B0502040204020203" pitchFamily="34" charset="0"/>
                <a:cs typeface="Segoe UI" panose="020B0502040204020203" pitchFamily="34" charset="0"/>
              </a:rPr>
              <a:t>x</a:t>
            </a:r>
          </a:p>
        </p:txBody>
      </p:sp>
      <p:sp>
        <p:nvSpPr>
          <p:cNvPr id="60" name="Rectangle : avec coins arrondis en haut 59">
            <a:extLst>
              <a:ext uri="{FF2B5EF4-FFF2-40B4-BE49-F238E27FC236}">
                <a16:creationId xmlns:a16="http://schemas.microsoft.com/office/drawing/2014/main" id="{CCD0CBC3-FF89-4C3A-AFA0-DDF439CE8E0A}"/>
              </a:ext>
            </a:extLst>
          </p:cNvPr>
          <p:cNvSpPr/>
          <p:nvPr/>
        </p:nvSpPr>
        <p:spPr>
          <a:xfrm>
            <a:off x="1045858" y="4069770"/>
            <a:ext cx="13410076"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OBJECTIF DE L’APPLICATION</a:t>
            </a:r>
          </a:p>
        </p:txBody>
      </p:sp>
      <p:sp>
        <p:nvSpPr>
          <p:cNvPr id="61" name="Rectangle à coins arrondis 16">
            <a:extLst>
              <a:ext uri="{FF2B5EF4-FFF2-40B4-BE49-F238E27FC236}">
                <a16:creationId xmlns:a16="http://schemas.microsoft.com/office/drawing/2014/main" id="{F8EE4742-F97A-415B-B072-018A75D4402F}"/>
              </a:ext>
            </a:extLst>
          </p:cNvPr>
          <p:cNvSpPr/>
          <p:nvPr/>
        </p:nvSpPr>
        <p:spPr>
          <a:xfrm>
            <a:off x="2316812" y="8470169"/>
            <a:ext cx="2924954" cy="105936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Indiquer si le composant est en « En cadrage », « En développement », « En production »</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63" name="Rectangle : avec coins arrondis en haut 62">
            <a:extLst>
              <a:ext uri="{FF2B5EF4-FFF2-40B4-BE49-F238E27FC236}">
                <a16:creationId xmlns:a16="http://schemas.microsoft.com/office/drawing/2014/main" id="{2A53A2F3-BC77-4A6F-A615-9C91E45C06BB}"/>
              </a:ext>
            </a:extLst>
          </p:cNvPr>
          <p:cNvSpPr/>
          <p:nvPr/>
        </p:nvSpPr>
        <p:spPr>
          <a:xfrm>
            <a:off x="1045858" y="5651583"/>
            <a:ext cx="13434110"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PRINCIPALES FONCTIONNALITÉS COUVERTES</a:t>
            </a:r>
          </a:p>
        </p:txBody>
      </p:sp>
      <p:sp>
        <p:nvSpPr>
          <p:cNvPr id="12" name="Rectangle 11">
            <a:extLst>
              <a:ext uri="{FF2B5EF4-FFF2-40B4-BE49-F238E27FC236}">
                <a16:creationId xmlns:a16="http://schemas.microsoft.com/office/drawing/2014/main" id="{C3E3F160-A3CB-4CB4-A38E-84C342ECD411}"/>
              </a:ext>
            </a:extLst>
          </p:cNvPr>
          <p:cNvSpPr/>
          <p:nvPr/>
        </p:nvSpPr>
        <p:spPr>
          <a:xfrm>
            <a:off x="1045858" y="6203747"/>
            <a:ext cx="13425871" cy="378293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360000" rIns="180000" bIns="180000" rtlCol="0" anchor="t"/>
          <a:lstStyle/>
          <a:p>
            <a:r>
              <a:rPr lang="fr-FR" sz="2000" dirty="0">
                <a:solidFill>
                  <a:srgbClr val="002060"/>
                </a:solidFill>
                <a:latin typeface="Segoe UI" panose="020B0502040204020203" pitchFamily="34" charset="0"/>
                <a:cs typeface="Segoe UI" panose="020B0502040204020203" pitchFamily="34" charset="0"/>
              </a:rPr>
              <a:t>Les principales fonctionnalités couvertes par l’outil sont :</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Service 1</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Service 2</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Service 3</a:t>
            </a:r>
          </a:p>
          <a:p>
            <a:pPr marL="342900" indent="-342900">
              <a:buFont typeface="Arial" panose="020B0604020202020204" pitchFamily="34" charset="0"/>
              <a:buChar char="•"/>
            </a:pPr>
            <a:r>
              <a:rPr lang="fr-FR" sz="2000" dirty="0" err="1">
                <a:solidFill>
                  <a:srgbClr val="002060"/>
                </a:solidFill>
                <a:latin typeface="Segoe UI" panose="020B0502040204020203" pitchFamily="34" charset="0"/>
                <a:cs typeface="Segoe UI" panose="020B0502040204020203" pitchFamily="34" charset="0"/>
              </a:rPr>
              <a:t>etc</a:t>
            </a:r>
            <a:endParaRPr lang="fr-FR" sz="2000" dirty="0">
              <a:solidFill>
                <a:srgbClr val="002060"/>
              </a:solidFill>
              <a:latin typeface="Segoe UI" panose="020B0502040204020203" pitchFamily="34" charset="0"/>
              <a:cs typeface="Segoe UI" panose="020B0502040204020203" pitchFamily="34" charset="0"/>
            </a:endParaRPr>
          </a:p>
        </p:txBody>
      </p:sp>
      <p:sp>
        <p:nvSpPr>
          <p:cNvPr id="67" name="Rectangle à coins arrondis 16">
            <a:extLst>
              <a:ext uri="{FF2B5EF4-FFF2-40B4-BE49-F238E27FC236}">
                <a16:creationId xmlns:a16="http://schemas.microsoft.com/office/drawing/2014/main" id="{06C66D1A-405B-4201-AE84-E6E3709F08DE}"/>
              </a:ext>
            </a:extLst>
          </p:cNvPr>
          <p:cNvSpPr/>
          <p:nvPr/>
        </p:nvSpPr>
        <p:spPr>
          <a:xfrm>
            <a:off x="4419184" y="7479085"/>
            <a:ext cx="6544857" cy="1889673"/>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Reprenez tout ou partie des services de rang 2 du catalogue couverts par le composant quand celui-ci est mentionné dans le catalogue</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Apportez des compléments d’information si nécessaire</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hlinkClick r:id="rId4"/>
              </a:rPr>
              <a:t>Lien vers le catalogue de service</a:t>
            </a:r>
            <a:endParaRPr lang="fr-FR" sz="1600" i="1" dirty="0">
              <a:solidFill>
                <a:prstClr val="white">
                  <a:lumMod val="50000"/>
                </a:prstClr>
              </a:solidFill>
              <a:latin typeface="Segoe UI" panose="020B0502040204020203" pitchFamily="34" charset="0"/>
              <a:cs typeface="Segoe UI" panose="020B0502040204020203" pitchFamily="34" charset="0"/>
            </a:endParaRP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68" name="Rectangle : coins arrondis 67">
            <a:extLst>
              <a:ext uri="{FF2B5EF4-FFF2-40B4-BE49-F238E27FC236}">
                <a16:creationId xmlns:a16="http://schemas.microsoft.com/office/drawing/2014/main" id="{C8D41EA9-E961-441D-947B-D312F8608EC9}"/>
              </a:ext>
            </a:extLst>
          </p:cNvPr>
          <p:cNvSpPr/>
          <p:nvPr/>
        </p:nvSpPr>
        <p:spPr>
          <a:xfrm>
            <a:off x="1130978" y="2586040"/>
            <a:ext cx="4961579" cy="724932"/>
          </a:xfrm>
          <a:prstGeom prst="roundRect">
            <a:avLst/>
          </a:prstGeom>
          <a:solidFill>
            <a:schemeClr val="bg1">
              <a:lumMod val="95000"/>
            </a:schemeClr>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defTabSz="1828800"/>
            <a:r>
              <a:rPr lang="fr-FR" sz="2400" dirty="0">
                <a:solidFill>
                  <a:srgbClr val="4472C4">
                    <a:lumMod val="75000"/>
                  </a:srgbClr>
                </a:solidFill>
                <a:latin typeface="Segoe UI" panose="020B0502040204020203" pitchFamily="34" charset="0"/>
                <a:cs typeface="Segoe UI" panose="020B0502040204020203" pitchFamily="34" charset="0"/>
              </a:rPr>
              <a:t>x</a:t>
            </a:r>
          </a:p>
        </p:txBody>
      </p:sp>
      <p:sp>
        <p:nvSpPr>
          <p:cNvPr id="69" name="Rectangle : avec coins arrondis en haut 68">
            <a:extLst>
              <a:ext uri="{FF2B5EF4-FFF2-40B4-BE49-F238E27FC236}">
                <a16:creationId xmlns:a16="http://schemas.microsoft.com/office/drawing/2014/main" id="{84AB77D7-CC47-4A16-962C-C97F5BB54437}"/>
              </a:ext>
            </a:extLst>
          </p:cNvPr>
          <p:cNvSpPr/>
          <p:nvPr/>
        </p:nvSpPr>
        <p:spPr>
          <a:xfrm>
            <a:off x="1140258" y="2080986"/>
            <a:ext cx="4955742"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CODE ROBIN</a:t>
            </a:r>
          </a:p>
        </p:txBody>
      </p:sp>
      <p:sp>
        <p:nvSpPr>
          <p:cNvPr id="70" name="Rectangle à coins arrondis 16">
            <a:extLst>
              <a:ext uri="{FF2B5EF4-FFF2-40B4-BE49-F238E27FC236}">
                <a16:creationId xmlns:a16="http://schemas.microsoft.com/office/drawing/2014/main" id="{DF7749AD-B6FC-452D-9875-2C8F9B3218FC}"/>
              </a:ext>
            </a:extLst>
          </p:cNvPr>
          <p:cNvSpPr/>
          <p:nvPr/>
        </p:nvSpPr>
        <p:spPr>
          <a:xfrm>
            <a:off x="1590462" y="2644358"/>
            <a:ext cx="2924954" cy="105936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Indiquer le code robin auquel est rattaché l’application</a:t>
            </a:r>
          </a:p>
        </p:txBody>
      </p:sp>
      <p:sp>
        <p:nvSpPr>
          <p:cNvPr id="71" name="Rectangle à coins arrondis 16">
            <a:extLst>
              <a:ext uri="{FF2B5EF4-FFF2-40B4-BE49-F238E27FC236}">
                <a16:creationId xmlns:a16="http://schemas.microsoft.com/office/drawing/2014/main" id="{DF5818AB-E78F-43A3-A437-1F9677028CC5}"/>
              </a:ext>
            </a:extLst>
          </p:cNvPr>
          <p:cNvSpPr/>
          <p:nvPr/>
        </p:nvSpPr>
        <p:spPr>
          <a:xfrm>
            <a:off x="4486364" y="4722206"/>
            <a:ext cx="6544857" cy="576792"/>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En quelques mots, à quoi sert l’outil</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72" name="Rectangle : avec coins arrondis en haut 71">
            <a:extLst>
              <a:ext uri="{FF2B5EF4-FFF2-40B4-BE49-F238E27FC236}">
                <a16:creationId xmlns:a16="http://schemas.microsoft.com/office/drawing/2014/main" id="{ADDA173F-2211-4F1D-ADAE-1CFFCF57AF80}"/>
              </a:ext>
            </a:extLst>
          </p:cNvPr>
          <p:cNvSpPr/>
          <p:nvPr/>
        </p:nvSpPr>
        <p:spPr>
          <a:xfrm>
            <a:off x="15472900" y="5095776"/>
            <a:ext cx="8028496"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CARACTERISTIQUES TECHNIQUES</a:t>
            </a:r>
          </a:p>
        </p:txBody>
      </p:sp>
      <p:sp>
        <p:nvSpPr>
          <p:cNvPr id="73" name="Rectangle 72">
            <a:extLst>
              <a:ext uri="{FF2B5EF4-FFF2-40B4-BE49-F238E27FC236}">
                <a16:creationId xmlns:a16="http://schemas.microsoft.com/office/drawing/2014/main" id="{4AA1214B-2ECA-484B-8A83-EEC068A5E25B}"/>
              </a:ext>
            </a:extLst>
          </p:cNvPr>
          <p:cNvSpPr/>
          <p:nvPr/>
        </p:nvSpPr>
        <p:spPr>
          <a:xfrm>
            <a:off x="15472900" y="5647939"/>
            <a:ext cx="8028495" cy="2025852"/>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360000" rIns="180000" bIns="180000" rtlCol="0" anchor="t"/>
          <a:lstStyle/>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A </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B</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C</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D</a:t>
            </a:r>
          </a:p>
        </p:txBody>
      </p:sp>
      <p:sp>
        <p:nvSpPr>
          <p:cNvPr id="76" name="Rectangle à coins arrondis 16">
            <a:extLst>
              <a:ext uri="{FF2B5EF4-FFF2-40B4-BE49-F238E27FC236}">
                <a16:creationId xmlns:a16="http://schemas.microsoft.com/office/drawing/2014/main" id="{24364494-C0B8-4B84-9F9C-48355E9A997C}"/>
              </a:ext>
            </a:extLst>
          </p:cNvPr>
          <p:cNvSpPr/>
          <p:nvPr/>
        </p:nvSpPr>
        <p:spPr>
          <a:xfrm>
            <a:off x="16739201" y="6097463"/>
            <a:ext cx="6451052" cy="105936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highlight>
                  <a:srgbClr val="FFFF00"/>
                </a:highlight>
                <a:latin typeface="Segoe UI" panose="020B0502040204020203" pitchFamily="34" charset="0"/>
                <a:cs typeface="Segoe UI" panose="020B0502040204020203" pitchFamily="34" charset="0"/>
              </a:rPr>
              <a:t>A COMPLETER</a:t>
            </a:r>
          </a:p>
          <a:p>
            <a:pPr algn="ctr" defTabSz="1828800"/>
            <a:r>
              <a:rPr lang="fr-FR" sz="1600" i="1" dirty="0">
                <a:solidFill>
                  <a:prstClr val="white">
                    <a:lumMod val="50000"/>
                  </a:prstClr>
                </a:solidFill>
                <a:highlight>
                  <a:srgbClr val="FFFF00"/>
                </a:highlight>
                <a:latin typeface="Segoe UI" panose="020B0502040204020203" pitchFamily="34" charset="0"/>
                <a:cs typeface="Segoe UI" panose="020B0502040204020203" pitchFamily="34" charset="0"/>
              </a:rPr>
              <a:t>Api et son utilité, Webservice, webcomponent, les protocoles, ressources SAS nécessaires</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81" name="Rectangle : coins arrondis 80">
            <a:extLst>
              <a:ext uri="{FF2B5EF4-FFF2-40B4-BE49-F238E27FC236}">
                <a16:creationId xmlns:a16="http://schemas.microsoft.com/office/drawing/2014/main" id="{67013385-87B0-4F8E-85C9-F264CC8C401F}"/>
              </a:ext>
            </a:extLst>
          </p:cNvPr>
          <p:cNvSpPr/>
          <p:nvPr/>
        </p:nvSpPr>
        <p:spPr>
          <a:xfrm>
            <a:off x="15472900" y="12886269"/>
            <a:ext cx="8028495" cy="492332"/>
          </a:xfrm>
          <a:prstGeom prst="roundRect">
            <a:avLst/>
          </a:prstGeom>
          <a:solidFill>
            <a:schemeClr val="bg1"/>
          </a:solidFill>
          <a:ln w="12700">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defTabSz="1828800"/>
            <a:r>
              <a:rPr lang="fr-FR" sz="2000" i="1" dirty="0">
                <a:solidFill>
                  <a:schemeClr val="bg1">
                    <a:lumMod val="50000"/>
                  </a:schemeClr>
                </a:solidFill>
                <a:latin typeface="Segoe UI" panose="020B0502040204020203" pitchFamily="34" charset="0"/>
                <a:cs typeface="Segoe UI" panose="020B0502040204020203" pitchFamily="34" charset="0"/>
              </a:rPr>
              <a:t>Date de la dernière mise à jour : jj/mm/</a:t>
            </a:r>
            <a:r>
              <a:rPr lang="fr-FR" sz="2000" i="1" dirty="0" err="1">
                <a:solidFill>
                  <a:schemeClr val="bg1">
                    <a:lumMod val="50000"/>
                  </a:schemeClr>
                </a:solidFill>
                <a:latin typeface="Segoe UI" panose="020B0502040204020203" pitchFamily="34" charset="0"/>
                <a:cs typeface="Segoe UI" panose="020B0502040204020203" pitchFamily="34" charset="0"/>
              </a:rPr>
              <a:t>aaaa</a:t>
            </a:r>
            <a:endParaRPr lang="fr-FR" sz="2000" i="1" dirty="0">
              <a:solidFill>
                <a:schemeClr val="bg1">
                  <a:lumMod val="50000"/>
                </a:schemeClr>
              </a:solidFill>
              <a:latin typeface="Segoe UI" panose="020B0502040204020203" pitchFamily="34" charset="0"/>
              <a:cs typeface="Segoe UI" panose="020B0502040204020203" pitchFamily="34" charset="0"/>
            </a:endParaRPr>
          </a:p>
        </p:txBody>
      </p:sp>
      <p:sp>
        <p:nvSpPr>
          <p:cNvPr id="37" name="Rectangle à coins arrondis 16">
            <a:extLst>
              <a:ext uri="{FF2B5EF4-FFF2-40B4-BE49-F238E27FC236}">
                <a16:creationId xmlns:a16="http://schemas.microsoft.com/office/drawing/2014/main" id="{91D4901A-FDE5-4B6D-B268-FBB8D5C17052}"/>
              </a:ext>
            </a:extLst>
          </p:cNvPr>
          <p:cNvSpPr/>
          <p:nvPr/>
        </p:nvSpPr>
        <p:spPr>
          <a:xfrm>
            <a:off x="16403802" y="11636062"/>
            <a:ext cx="6544857" cy="407647"/>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Insérer les liens vers la documentation </a:t>
            </a:r>
            <a:r>
              <a:rPr lang="fr-FR" sz="1600" i="1" dirty="0" err="1">
                <a:solidFill>
                  <a:prstClr val="white">
                    <a:lumMod val="50000"/>
                  </a:prstClr>
                </a:solidFill>
                <a:latin typeface="Segoe UI" panose="020B0502040204020203" pitchFamily="34" charset="0"/>
                <a:cs typeface="Segoe UI" panose="020B0502040204020203" pitchFamily="34" charset="0"/>
              </a:rPr>
              <a:t>Pixis</a:t>
            </a:r>
            <a:r>
              <a:rPr lang="fr-FR" sz="1600" i="1" dirty="0">
                <a:solidFill>
                  <a:prstClr val="white">
                    <a:lumMod val="50000"/>
                  </a:prstClr>
                </a:solidFill>
                <a:latin typeface="Segoe UI" panose="020B0502040204020203" pitchFamily="34" charset="0"/>
                <a:cs typeface="Segoe UI" panose="020B0502040204020203" pitchFamily="34" charset="0"/>
              </a:rPr>
              <a:t> disponible</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33" name="Rectangle 32">
            <a:extLst>
              <a:ext uri="{FF2B5EF4-FFF2-40B4-BE49-F238E27FC236}">
                <a16:creationId xmlns:a16="http://schemas.microsoft.com/office/drawing/2014/main" id="{AAD78116-DE3B-4A98-A063-A27E0AE6AC16}"/>
              </a:ext>
            </a:extLst>
          </p:cNvPr>
          <p:cNvSpPr/>
          <p:nvPr/>
        </p:nvSpPr>
        <p:spPr>
          <a:xfrm>
            <a:off x="15472900" y="8086340"/>
            <a:ext cx="8028495" cy="2025852"/>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360000" rIns="180000" bIns="180000" rtlCol="0" anchor="t"/>
          <a:lstStyle/>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A </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B</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C</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D</a:t>
            </a:r>
          </a:p>
        </p:txBody>
      </p:sp>
      <p:sp>
        <p:nvSpPr>
          <p:cNvPr id="34" name="Rectangle : avec coins arrondis en haut 33">
            <a:extLst>
              <a:ext uri="{FF2B5EF4-FFF2-40B4-BE49-F238E27FC236}">
                <a16:creationId xmlns:a16="http://schemas.microsoft.com/office/drawing/2014/main" id="{FE85F10D-AE0D-4C6C-AAF5-EBDE0EDCD6B6}"/>
              </a:ext>
            </a:extLst>
          </p:cNvPr>
          <p:cNvSpPr/>
          <p:nvPr/>
        </p:nvSpPr>
        <p:spPr>
          <a:xfrm>
            <a:off x="15472900" y="7874838"/>
            <a:ext cx="8028496"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DIFFICULTES TECHNIQUES RENCONTREES</a:t>
            </a:r>
          </a:p>
        </p:txBody>
      </p:sp>
      <p:sp>
        <p:nvSpPr>
          <p:cNvPr id="35" name="Rectangle à coins arrondis 16">
            <a:extLst>
              <a:ext uri="{FF2B5EF4-FFF2-40B4-BE49-F238E27FC236}">
                <a16:creationId xmlns:a16="http://schemas.microsoft.com/office/drawing/2014/main" id="{6BAE45BE-65BA-419A-801A-2E0FBED485CF}"/>
              </a:ext>
            </a:extLst>
          </p:cNvPr>
          <p:cNvSpPr/>
          <p:nvPr/>
        </p:nvSpPr>
        <p:spPr>
          <a:xfrm>
            <a:off x="16739201" y="8607584"/>
            <a:ext cx="6451052" cy="105936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highlight>
                  <a:srgbClr val="FFFF00"/>
                </a:highlight>
                <a:latin typeface="Segoe UI" panose="020B0502040204020203" pitchFamily="34" charset="0"/>
                <a:cs typeface="Segoe UI" panose="020B0502040204020203" pitchFamily="34" charset="0"/>
              </a:rPr>
              <a:t>A COMPLETER</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36" name="Rectangle : coins arrondis 35">
            <a:extLst>
              <a:ext uri="{FF2B5EF4-FFF2-40B4-BE49-F238E27FC236}">
                <a16:creationId xmlns:a16="http://schemas.microsoft.com/office/drawing/2014/main" id="{B0AA37C0-3704-4676-AFF2-08CCC66FD345}"/>
              </a:ext>
            </a:extLst>
          </p:cNvPr>
          <p:cNvSpPr/>
          <p:nvPr/>
        </p:nvSpPr>
        <p:spPr>
          <a:xfrm>
            <a:off x="1021795" y="10780622"/>
            <a:ext cx="13449934" cy="1376807"/>
          </a:xfrm>
          <a:prstGeom prst="roundRect">
            <a:avLst/>
          </a:prstGeom>
          <a:solidFill>
            <a:schemeClr val="bg1">
              <a:lumMod val="95000"/>
            </a:schemeClr>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defTabSz="1828800"/>
            <a:r>
              <a:rPr lang="fr-FR" sz="2400" dirty="0">
                <a:solidFill>
                  <a:srgbClr val="4472C4">
                    <a:lumMod val="75000"/>
                  </a:srgbClr>
                </a:solidFill>
                <a:latin typeface="Segoe UI" panose="020B0502040204020203" pitchFamily="34" charset="0"/>
                <a:cs typeface="Segoe UI" panose="020B0502040204020203" pitchFamily="34" charset="0"/>
              </a:rPr>
              <a:t>x</a:t>
            </a:r>
          </a:p>
        </p:txBody>
      </p:sp>
      <p:sp>
        <p:nvSpPr>
          <p:cNvPr id="38" name="Rectangle : avec coins arrondis en haut 37">
            <a:extLst>
              <a:ext uri="{FF2B5EF4-FFF2-40B4-BE49-F238E27FC236}">
                <a16:creationId xmlns:a16="http://schemas.microsoft.com/office/drawing/2014/main" id="{678D5816-B31B-4A34-9A1E-356CBE264524}"/>
              </a:ext>
            </a:extLst>
          </p:cNvPr>
          <p:cNvSpPr/>
          <p:nvPr/>
        </p:nvSpPr>
        <p:spPr>
          <a:xfrm>
            <a:off x="1031074" y="10351712"/>
            <a:ext cx="13434111"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EXEMPLES DE CLIENT UTILISATEURS</a:t>
            </a:r>
          </a:p>
        </p:txBody>
      </p:sp>
      <p:sp>
        <p:nvSpPr>
          <p:cNvPr id="39" name="Rectangle à coins arrondis 16">
            <a:extLst>
              <a:ext uri="{FF2B5EF4-FFF2-40B4-BE49-F238E27FC236}">
                <a16:creationId xmlns:a16="http://schemas.microsoft.com/office/drawing/2014/main" id="{F8856002-15D1-4AEE-86B3-91FF89FBF3CA}"/>
              </a:ext>
            </a:extLst>
          </p:cNvPr>
          <p:cNvSpPr/>
          <p:nvPr/>
        </p:nvSpPr>
        <p:spPr>
          <a:xfrm>
            <a:off x="4669002" y="11299952"/>
            <a:ext cx="6544857" cy="743757"/>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Si applicable. Renseigner l’entité-métier – nom du projet</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Exemple : </a:t>
            </a:r>
            <a:r>
              <a:rPr lang="fr-FR" sz="1600" i="1" dirty="0" err="1">
                <a:solidFill>
                  <a:prstClr val="white">
                    <a:lumMod val="50000"/>
                  </a:prstClr>
                </a:solidFill>
                <a:latin typeface="Segoe UI" panose="020B0502040204020203" pitchFamily="34" charset="0"/>
                <a:cs typeface="Segoe UI" panose="020B0502040204020203" pitchFamily="34" charset="0"/>
              </a:rPr>
              <a:t>Beobank</a:t>
            </a:r>
            <a:r>
              <a:rPr lang="fr-FR" sz="1600" i="1" dirty="0">
                <a:solidFill>
                  <a:prstClr val="white">
                    <a:lumMod val="50000"/>
                  </a:prstClr>
                </a:solidFill>
                <a:latin typeface="Segoe UI" panose="020B0502040204020203" pitchFamily="34" charset="0"/>
                <a:cs typeface="Segoe UI" panose="020B0502040204020203" pitchFamily="34" charset="0"/>
              </a:rPr>
              <a:t> – Bulletin de salaire </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14247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Briques fonctionnelles CADI</a:t>
            </a:r>
          </a:p>
        </p:txBody>
      </p:sp>
      <p:sp>
        <p:nvSpPr>
          <p:cNvPr id="3" name="Espace réservé du pied de page 2"/>
          <p:cNvSpPr>
            <a:spLocks noGrp="1"/>
          </p:cNvSpPr>
          <p:nvPr>
            <p:ph type="ftr" sz="quarter" idx="11"/>
          </p:nvPr>
        </p:nvSpPr>
        <p:spPr/>
        <p:txBody>
          <a:bodyPr/>
          <a:lstStyle/>
          <a:p>
            <a:r>
              <a:rPr lang="fr-FR"/>
              <a:t>Présentation fonctionnelle de CADI – Classification : Interne</a:t>
            </a:r>
            <a:endParaRPr lang="fr-FR" dirty="0"/>
          </a:p>
        </p:txBody>
      </p:sp>
      <p:sp>
        <p:nvSpPr>
          <p:cNvPr id="4" name="Espace réservé du numéro de diapositive 3"/>
          <p:cNvSpPr>
            <a:spLocks noGrp="1"/>
          </p:cNvSpPr>
          <p:nvPr>
            <p:ph type="sldNum" sz="quarter" idx="12"/>
          </p:nvPr>
        </p:nvSpPr>
        <p:spPr/>
        <p:txBody>
          <a:bodyPr/>
          <a:lstStyle/>
          <a:p>
            <a:fld id="{3EE1DE5A-27D4-4895-8E04-340D57AD09FB}" type="slidenum">
              <a:rPr lang="fr-FR"/>
              <a:pPr/>
              <a:t>11</a:t>
            </a:fld>
            <a:endParaRPr lang="fr-FR"/>
          </a:p>
        </p:txBody>
      </p:sp>
      <p:sp>
        <p:nvSpPr>
          <p:cNvPr id="6" name="Espace réservé du texte 5"/>
          <p:cNvSpPr>
            <a:spLocks noGrp="1"/>
          </p:cNvSpPr>
          <p:nvPr>
            <p:ph type="body" sz="quarter" idx="14"/>
          </p:nvPr>
        </p:nvSpPr>
        <p:spPr/>
        <p:txBody>
          <a:bodyPr/>
          <a:lstStyle/>
          <a:p>
            <a:endParaRPr lang="fr-FR" dirty="0"/>
          </a:p>
        </p:txBody>
      </p:sp>
      <p:grpSp>
        <p:nvGrpSpPr>
          <p:cNvPr id="11" name="Groupe 10"/>
          <p:cNvGrpSpPr/>
          <p:nvPr/>
        </p:nvGrpSpPr>
        <p:grpSpPr>
          <a:xfrm>
            <a:off x="4764025" y="3765753"/>
            <a:ext cx="15412153" cy="7188913"/>
            <a:chOff x="4764025" y="3765753"/>
            <a:chExt cx="15412153" cy="7188913"/>
          </a:xfrm>
        </p:grpSpPr>
        <p:sp>
          <p:nvSpPr>
            <p:cNvPr id="91" name="Organigramme : Délai 90"/>
            <p:cNvSpPr/>
            <p:nvPr/>
          </p:nvSpPr>
          <p:spPr>
            <a:xfrm flipH="1">
              <a:off x="15875260" y="4450219"/>
              <a:ext cx="444313" cy="782948"/>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nvGrpSpPr>
            <p:cNvPr id="7" name="Groupe 6"/>
            <p:cNvGrpSpPr/>
            <p:nvPr/>
          </p:nvGrpSpPr>
          <p:grpSpPr>
            <a:xfrm>
              <a:off x="12453676" y="3785332"/>
              <a:ext cx="3871390" cy="3436553"/>
              <a:chOff x="12453676" y="3785332"/>
              <a:chExt cx="3871390" cy="3436553"/>
            </a:xfrm>
          </p:grpSpPr>
          <p:sp>
            <p:nvSpPr>
              <p:cNvPr id="43" name="Rectangle 42"/>
              <p:cNvSpPr/>
              <p:nvPr/>
            </p:nvSpPr>
            <p:spPr>
              <a:xfrm>
                <a:off x="12453676" y="3791305"/>
                <a:ext cx="3866726" cy="341421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dirty="0">
                    <a:solidFill>
                      <a:schemeClr val="bg1"/>
                    </a:solidFill>
                    <a:latin typeface="Segoe UI" panose="020B0502040204020203" pitchFamily="34" charset="0"/>
                    <a:cs typeface="Segoe UI" panose="020B0502040204020203" pitchFamily="34" charset="0"/>
                  </a:rPr>
                  <a:t>Monitoring &amp; </a:t>
                </a:r>
                <a:r>
                  <a:rPr lang="fr-FR" sz="4000" dirty="0" err="1">
                    <a:solidFill>
                      <a:schemeClr val="bg1"/>
                    </a:solidFill>
                    <a:latin typeface="Segoe UI" panose="020B0502040204020203" pitchFamily="34" charset="0"/>
                    <a:cs typeface="Segoe UI" panose="020B0502040204020203" pitchFamily="34" charset="0"/>
                  </a:rPr>
                  <a:t>Alerting</a:t>
                </a:r>
                <a:endParaRPr lang="fr-FR" sz="4000" dirty="0">
                  <a:solidFill>
                    <a:schemeClr val="bg1"/>
                  </a:solidFill>
                  <a:latin typeface="Segoe UI" panose="020B0502040204020203" pitchFamily="34" charset="0"/>
                  <a:cs typeface="Segoe UI" panose="020B0502040204020203" pitchFamily="34" charset="0"/>
                </a:endParaRPr>
              </a:p>
            </p:txBody>
          </p:sp>
          <p:sp>
            <p:nvSpPr>
              <p:cNvPr id="44" name="Organigramme : Délai 43"/>
              <p:cNvSpPr/>
              <p:nvPr/>
            </p:nvSpPr>
            <p:spPr>
              <a:xfrm flipH="1">
                <a:off x="15880752" y="4424757"/>
                <a:ext cx="444314" cy="782948"/>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89" name="Organigramme : Délai 88"/>
              <p:cNvSpPr/>
              <p:nvPr/>
            </p:nvSpPr>
            <p:spPr>
              <a:xfrm rot="16200000" flipH="1">
                <a:off x="14125415" y="3455935"/>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92" name="Organigramme : Délai 91"/>
              <p:cNvSpPr/>
              <p:nvPr/>
            </p:nvSpPr>
            <p:spPr>
              <a:xfrm>
                <a:off x="12464591" y="4468507"/>
                <a:ext cx="444313" cy="782949"/>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93" name="Organigramme : Délai 92"/>
              <p:cNvSpPr/>
              <p:nvPr/>
            </p:nvSpPr>
            <p:spPr>
              <a:xfrm rot="5400000" flipH="1" flipV="1">
                <a:off x="14148994" y="6546329"/>
                <a:ext cx="346160" cy="1004952"/>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14" name="Groupe 13"/>
            <p:cNvGrpSpPr/>
            <p:nvPr/>
          </p:nvGrpSpPr>
          <p:grpSpPr>
            <a:xfrm>
              <a:off x="4764025" y="3785329"/>
              <a:ext cx="3871390" cy="3443396"/>
              <a:chOff x="4764025" y="3785329"/>
              <a:chExt cx="3871390" cy="3443396"/>
            </a:xfrm>
          </p:grpSpPr>
          <p:grpSp>
            <p:nvGrpSpPr>
              <p:cNvPr id="31" name="Groupe 30"/>
              <p:cNvGrpSpPr/>
              <p:nvPr/>
            </p:nvGrpSpPr>
            <p:grpSpPr>
              <a:xfrm>
                <a:off x="4764025" y="3796777"/>
                <a:ext cx="3871390" cy="3427340"/>
                <a:chOff x="3529712" y="1995292"/>
                <a:chExt cx="1310717" cy="1481171"/>
              </a:xfrm>
            </p:grpSpPr>
            <p:sp>
              <p:nvSpPr>
                <p:cNvPr id="33" name="Rectangle 32"/>
                <p:cNvSpPr/>
                <p:nvPr/>
              </p:nvSpPr>
              <p:spPr>
                <a:xfrm>
                  <a:off x="3529712" y="1995292"/>
                  <a:ext cx="1309138" cy="1481171"/>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dirty="0">
                      <a:solidFill>
                        <a:schemeClr val="bg1"/>
                      </a:solidFill>
                      <a:latin typeface="Segoe UI" panose="020B0502040204020203" pitchFamily="34" charset="0"/>
                      <a:cs typeface="Segoe UI" panose="020B0502040204020203" pitchFamily="34" charset="0"/>
                    </a:rPr>
                    <a:t>IHM</a:t>
                  </a:r>
                </a:p>
              </p:txBody>
            </p:sp>
            <p:sp>
              <p:nvSpPr>
                <p:cNvPr id="34" name="Organigramme : Délai 33"/>
                <p:cNvSpPr/>
                <p:nvPr/>
              </p:nvSpPr>
              <p:spPr>
                <a:xfrm flipH="1">
                  <a:off x="4690000" y="2270569"/>
                  <a:ext cx="150429" cy="340242"/>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87" name="Organigramme : Délai 86"/>
              <p:cNvSpPr/>
              <p:nvPr/>
            </p:nvSpPr>
            <p:spPr>
              <a:xfrm rot="16200000" flipH="1">
                <a:off x="6440573" y="3455932"/>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96" name="Organigramme : Délai 95"/>
              <p:cNvSpPr/>
              <p:nvPr/>
            </p:nvSpPr>
            <p:spPr>
              <a:xfrm rot="5400000" flipH="1" flipV="1">
                <a:off x="6507499" y="6553169"/>
                <a:ext cx="346160" cy="1004952"/>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97" name="Organigramme : Délai 96"/>
            <p:cNvSpPr/>
            <p:nvPr/>
          </p:nvSpPr>
          <p:spPr>
            <a:xfrm rot="5400000" flipH="1" flipV="1">
              <a:off x="17998737" y="10243190"/>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nvGrpSpPr>
            <p:cNvPr id="16" name="Groupe 15"/>
            <p:cNvGrpSpPr/>
            <p:nvPr/>
          </p:nvGrpSpPr>
          <p:grpSpPr>
            <a:xfrm>
              <a:off x="12453676" y="6872191"/>
              <a:ext cx="3877710" cy="4050226"/>
              <a:chOff x="12453676" y="6872191"/>
              <a:chExt cx="3877710" cy="4050226"/>
            </a:xfrm>
          </p:grpSpPr>
          <p:grpSp>
            <p:nvGrpSpPr>
              <p:cNvPr id="9" name="Groupe 8"/>
              <p:cNvGrpSpPr/>
              <p:nvPr/>
            </p:nvGrpSpPr>
            <p:grpSpPr>
              <a:xfrm>
                <a:off x="12453676" y="6872191"/>
                <a:ext cx="3871390" cy="4050226"/>
                <a:chOff x="6588233" y="3439965"/>
                <a:chExt cx="1508080" cy="2025113"/>
              </a:xfrm>
            </p:grpSpPr>
            <p:grpSp>
              <p:nvGrpSpPr>
                <p:cNvPr id="73" name="Groupe 72"/>
                <p:cNvGrpSpPr/>
                <p:nvPr/>
              </p:nvGrpSpPr>
              <p:grpSpPr>
                <a:xfrm>
                  <a:off x="6588233" y="3601918"/>
                  <a:ext cx="1508080" cy="1863160"/>
                  <a:chOff x="3529712" y="1715496"/>
                  <a:chExt cx="1310717" cy="1619328"/>
                </a:xfrm>
                <a:solidFill>
                  <a:schemeClr val="accent1">
                    <a:lumMod val="75000"/>
                  </a:schemeClr>
                </a:solidFill>
              </p:grpSpPr>
              <p:sp>
                <p:nvSpPr>
                  <p:cNvPr id="74" name="Rectangle 73"/>
                  <p:cNvSpPr/>
                  <p:nvPr/>
                </p:nvSpPr>
                <p:spPr>
                  <a:xfrm>
                    <a:off x="3529712" y="1715496"/>
                    <a:ext cx="1309138" cy="16193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a:p>
                    <a:pPr algn="ctr"/>
                    <a:r>
                      <a:rPr lang="fr-FR" sz="4000" dirty="0">
                        <a:solidFill>
                          <a:schemeClr val="bg1"/>
                        </a:solidFill>
                        <a:latin typeface="Segoe UI" panose="020B0502040204020203" pitchFamily="34" charset="0"/>
                        <a:cs typeface="Segoe UI" panose="020B0502040204020203" pitchFamily="34" charset="0"/>
                      </a:rPr>
                      <a:t>Décisionnel (SIDU)</a:t>
                    </a:r>
                  </a:p>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75" name="Organigramme : Délai 74"/>
                  <p:cNvSpPr/>
                  <p:nvPr/>
                </p:nvSpPr>
                <p:spPr>
                  <a:xfrm flipH="1">
                    <a:off x="4690000" y="2270569"/>
                    <a:ext cx="150429" cy="340242"/>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84" name="Organigramme : Délai 83"/>
                <p:cNvSpPr/>
                <p:nvPr/>
              </p:nvSpPr>
              <p:spPr>
                <a:xfrm rot="5400000" flipH="1" flipV="1">
                  <a:off x="7226681" y="3324419"/>
                  <a:ext cx="173080" cy="404171"/>
                </a:xfrm>
                <a:prstGeom prst="flowChartDelay">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98" name="Organigramme : Délai 97"/>
              <p:cNvSpPr/>
              <p:nvPr/>
            </p:nvSpPr>
            <p:spPr>
              <a:xfrm flipH="1">
                <a:off x="15887073" y="8481887"/>
                <a:ext cx="444313" cy="782949"/>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99" name="Organigramme : Délai 98"/>
              <p:cNvSpPr/>
              <p:nvPr/>
            </p:nvSpPr>
            <p:spPr>
              <a:xfrm>
                <a:off x="12461952" y="8442401"/>
                <a:ext cx="444313" cy="801397"/>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100" name="Organigramme : Délai 99"/>
              <p:cNvSpPr/>
              <p:nvPr/>
            </p:nvSpPr>
            <p:spPr>
              <a:xfrm rot="5400000" flipH="1" flipV="1">
                <a:off x="14174018" y="10238709"/>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18" name="Groupe 17"/>
            <p:cNvGrpSpPr/>
            <p:nvPr/>
          </p:nvGrpSpPr>
          <p:grpSpPr>
            <a:xfrm>
              <a:off x="4764025" y="6865059"/>
              <a:ext cx="3871390" cy="4062830"/>
              <a:chOff x="4764025" y="6865059"/>
              <a:chExt cx="3871390" cy="4062830"/>
            </a:xfrm>
          </p:grpSpPr>
          <p:grpSp>
            <p:nvGrpSpPr>
              <p:cNvPr id="8" name="Groupe 7"/>
              <p:cNvGrpSpPr/>
              <p:nvPr/>
            </p:nvGrpSpPr>
            <p:grpSpPr>
              <a:xfrm>
                <a:off x="4764025" y="6865059"/>
                <a:ext cx="3871390" cy="4062830"/>
                <a:chOff x="3592769" y="3436399"/>
                <a:chExt cx="1508080" cy="2031415"/>
              </a:xfrm>
            </p:grpSpPr>
            <p:grpSp>
              <p:nvGrpSpPr>
                <p:cNvPr id="70" name="Groupe 69"/>
                <p:cNvGrpSpPr/>
                <p:nvPr/>
              </p:nvGrpSpPr>
              <p:grpSpPr>
                <a:xfrm>
                  <a:off x="3592769" y="3606630"/>
                  <a:ext cx="1508080" cy="1861184"/>
                  <a:chOff x="3529712" y="1717213"/>
                  <a:chExt cx="1310717" cy="1617611"/>
                </a:xfrm>
                <a:solidFill>
                  <a:schemeClr val="accent1">
                    <a:lumMod val="40000"/>
                    <a:lumOff val="60000"/>
                  </a:schemeClr>
                </a:solidFill>
              </p:grpSpPr>
              <p:sp>
                <p:nvSpPr>
                  <p:cNvPr id="71" name="Rectangle 70"/>
                  <p:cNvSpPr/>
                  <p:nvPr/>
                </p:nvSpPr>
                <p:spPr>
                  <a:xfrm>
                    <a:off x="3529712" y="1717213"/>
                    <a:ext cx="1309138" cy="161761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dirty="0">
                        <a:solidFill>
                          <a:schemeClr val="bg1"/>
                        </a:solidFill>
                        <a:latin typeface="Segoe UI" panose="020B0502040204020203" pitchFamily="34" charset="0"/>
                        <a:cs typeface="Segoe UI" panose="020B0502040204020203" pitchFamily="34" charset="0"/>
                      </a:rPr>
                      <a:t>Statistiques</a:t>
                    </a:r>
                  </a:p>
                </p:txBody>
              </p:sp>
              <p:sp>
                <p:nvSpPr>
                  <p:cNvPr id="72" name="Organigramme : Délai 71"/>
                  <p:cNvSpPr/>
                  <p:nvPr/>
                </p:nvSpPr>
                <p:spPr>
                  <a:xfrm flipH="1">
                    <a:off x="4690000" y="2270569"/>
                    <a:ext cx="150429" cy="340242"/>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83" name="Organigramme : Délai 82"/>
                <p:cNvSpPr/>
                <p:nvPr/>
              </p:nvSpPr>
              <p:spPr>
                <a:xfrm rot="5400000" flipH="1" flipV="1">
                  <a:off x="4252429" y="3323306"/>
                  <a:ext cx="173080" cy="399265"/>
                </a:xfrm>
                <a:prstGeom prst="flowChartDelay">
                  <a:avLst/>
                </a:prstGeom>
                <a:solidFill>
                  <a:srgbClr val="BDD7E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102" name="Organigramme : Délai 101"/>
              <p:cNvSpPr/>
              <p:nvPr/>
            </p:nvSpPr>
            <p:spPr>
              <a:xfrm rot="5400000" flipH="1" flipV="1">
                <a:off x="6530261" y="10241371"/>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103" name="Organigramme : Délai 102"/>
              <p:cNvSpPr/>
              <p:nvPr/>
            </p:nvSpPr>
            <p:spPr>
              <a:xfrm flipH="1">
                <a:off x="8153570" y="8411224"/>
                <a:ext cx="444313" cy="801397"/>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20" name="Groupe 19"/>
            <p:cNvGrpSpPr/>
            <p:nvPr/>
          </p:nvGrpSpPr>
          <p:grpSpPr>
            <a:xfrm>
              <a:off x="8146247" y="7224459"/>
              <a:ext cx="4773640" cy="3703088"/>
              <a:chOff x="8146247" y="7224459"/>
              <a:chExt cx="4773640" cy="3703088"/>
            </a:xfrm>
          </p:grpSpPr>
          <p:grpSp>
            <p:nvGrpSpPr>
              <p:cNvPr id="19" name="Groupe 18"/>
              <p:cNvGrpSpPr/>
              <p:nvPr/>
            </p:nvGrpSpPr>
            <p:grpSpPr>
              <a:xfrm>
                <a:off x="8146247" y="7224459"/>
                <a:ext cx="4773640" cy="3703088"/>
                <a:chOff x="8146247" y="7224459"/>
                <a:chExt cx="4773640" cy="3703088"/>
              </a:xfrm>
            </p:grpSpPr>
            <p:grpSp>
              <p:nvGrpSpPr>
                <p:cNvPr id="76" name="Groupe 75"/>
                <p:cNvGrpSpPr/>
                <p:nvPr/>
              </p:nvGrpSpPr>
              <p:grpSpPr>
                <a:xfrm>
                  <a:off x="8146247" y="7224459"/>
                  <a:ext cx="4773640" cy="3703088"/>
                  <a:chOff x="3373091" y="1762637"/>
                  <a:chExt cx="1616188" cy="1572187"/>
                </a:xfrm>
                <a:solidFill>
                  <a:schemeClr val="accent1">
                    <a:lumMod val="60000"/>
                    <a:lumOff val="40000"/>
                  </a:schemeClr>
                </a:solidFill>
              </p:grpSpPr>
              <p:sp>
                <p:nvSpPr>
                  <p:cNvPr id="77" name="Rectangle 76"/>
                  <p:cNvSpPr/>
                  <p:nvPr/>
                </p:nvSpPr>
                <p:spPr>
                  <a:xfrm>
                    <a:off x="3529712" y="1762637"/>
                    <a:ext cx="1309138" cy="157218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dirty="0">
                        <a:solidFill>
                          <a:schemeClr val="bg1"/>
                        </a:solidFill>
                        <a:latin typeface="Segoe UI" panose="020B0502040204020203" pitchFamily="34" charset="0"/>
                        <a:cs typeface="Segoe UI" panose="020B0502040204020203" pitchFamily="34" charset="0"/>
                      </a:rPr>
                      <a:t>Facturation</a:t>
                    </a:r>
                  </a:p>
                </p:txBody>
              </p:sp>
              <p:sp>
                <p:nvSpPr>
                  <p:cNvPr id="78" name="Organigramme : Délai 77"/>
                  <p:cNvSpPr/>
                  <p:nvPr/>
                </p:nvSpPr>
                <p:spPr>
                  <a:xfrm flipH="1">
                    <a:off x="3373091" y="2267105"/>
                    <a:ext cx="156634" cy="340242"/>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79" name="Organigramme : Délai 78"/>
                  <p:cNvSpPr/>
                  <p:nvPr/>
                </p:nvSpPr>
                <p:spPr>
                  <a:xfrm>
                    <a:off x="4838850" y="2275039"/>
                    <a:ext cx="150429" cy="352584"/>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101" name="Organigramme : Délai 100"/>
                <p:cNvSpPr/>
                <p:nvPr/>
              </p:nvSpPr>
              <p:spPr>
                <a:xfrm rot="5400000" flipH="1" flipV="1">
                  <a:off x="10339176" y="10246067"/>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95" name="Organigramme : Délai 94"/>
              <p:cNvSpPr/>
              <p:nvPr/>
            </p:nvSpPr>
            <p:spPr>
              <a:xfrm rot="16200000" flipH="1">
                <a:off x="10352046" y="6916678"/>
                <a:ext cx="346160" cy="1004952"/>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21" name="Groupe 20"/>
            <p:cNvGrpSpPr/>
            <p:nvPr/>
          </p:nvGrpSpPr>
          <p:grpSpPr>
            <a:xfrm>
              <a:off x="8187399" y="3765754"/>
              <a:ext cx="4732495" cy="3835456"/>
              <a:chOff x="8187399" y="3765754"/>
              <a:chExt cx="4732495" cy="3835456"/>
            </a:xfrm>
          </p:grpSpPr>
          <p:grpSp>
            <p:nvGrpSpPr>
              <p:cNvPr id="10" name="Groupe 9"/>
              <p:cNvGrpSpPr/>
              <p:nvPr/>
            </p:nvGrpSpPr>
            <p:grpSpPr>
              <a:xfrm>
                <a:off x="8187399" y="3772940"/>
                <a:ext cx="4732495" cy="3828270"/>
                <a:chOff x="4917422" y="1890659"/>
                <a:chExt cx="1843519" cy="1914135"/>
              </a:xfrm>
            </p:grpSpPr>
            <p:grpSp>
              <p:nvGrpSpPr>
                <p:cNvPr id="57" name="Groupe 56"/>
                <p:cNvGrpSpPr/>
                <p:nvPr/>
              </p:nvGrpSpPr>
              <p:grpSpPr>
                <a:xfrm>
                  <a:off x="4917422" y="1890659"/>
                  <a:ext cx="1843519" cy="1724577"/>
                  <a:chOff x="3379283" y="1985360"/>
                  <a:chExt cx="1602257" cy="1498881"/>
                </a:xfrm>
                <a:solidFill>
                  <a:schemeClr val="accent1">
                    <a:lumMod val="75000"/>
                  </a:schemeClr>
                </a:solidFill>
              </p:grpSpPr>
              <p:sp>
                <p:nvSpPr>
                  <p:cNvPr id="59" name="Organigramme : Délai 58"/>
                  <p:cNvSpPr/>
                  <p:nvPr/>
                </p:nvSpPr>
                <p:spPr>
                  <a:xfrm flipH="1">
                    <a:off x="3379283" y="2271634"/>
                    <a:ext cx="150429" cy="356236"/>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60" name="Organigramme : Délai 59"/>
                  <p:cNvSpPr/>
                  <p:nvPr/>
                </p:nvSpPr>
                <p:spPr>
                  <a:xfrm>
                    <a:off x="4831111" y="2287628"/>
                    <a:ext cx="150429" cy="3472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58" name="Rectangle 57"/>
                  <p:cNvSpPr/>
                  <p:nvPr/>
                </p:nvSpPr>
                <p:spPr>
                  <a:xfrm>
                    <a:off x="3529712" y="1985360"/>
                    <a:ext cx="1309138" cy="149888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dirty="0">
                        <a:solidFill>
                          <a:schemeClr val="bg1"/>
                        </a:solidFill>
                        <a:latin typeface="Segoe UI" panose="020B0502040204020203" pitchFamily="34" charset="0"/>
                        <a:cs typeface="Segoe UI" panose="020B0502040204020203" pitchFamily="34" charset="0"/>
                      </a:rPr>
                      <a:t>Cohérence/ conformité / Arbre de décision</a:t>
                    </a:r>
                  </a:p>
                </p:txBody>
              </p:sp>
            </p:grpSp>
            <p:sp>
              <p:nvSpPr>
                <p:cNvPr id="85" name="Organigramme : Délai 84"/>
                <p:cNvSpPr/>
                <p:nvPr/>
              </p:nvSpPr>
              <p:spPr>
                <a:xfrm rot="16200000" flipH="1">
                  <a:off x="5728729" y="3509419"/>
                  <a:ext cx="199277" cy="391474"/>
                </a:xfrm>
                <a:prstGeom prst="flowChartDelay">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88" name="Organigramme : Délai 87"/>
              <p:cNvSpPr/>
              <p:nvPr/>
            </p:nvSpPr>
            <p:spPr>
              <a:xfrm rot="16200000" flipH="1">
                <a:off x="10333036" y="3436357"/>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22" name="Groupe 21"/>
            <p:cNvGrpSpPr/>
            <p:nvPr/>
          </p:nvGrpSpPr>
          <p:grpSpPr>
            <a:xfrm>
              <a:off x="15865139" y="7210922"/>
              <a:ext cx="4311036" cy="3743744"/>
              <a:chOff x="15865139" y="7209760"/>
              <a:chExt cx="4311036" cy="3743744"/>
            </a:xfrm>
          </p:grpSpPr>
          <p:grpSp>
            <p:nvGrpSpPr>
              <p:cNvPr id="80" name="Groupe 79"/>
              <p:cNvGrpSpPr/>
              <p:nvPr/>
            </p:nvGrpSpPr>
            <p:grpSpPr>
              <a:xfrm>
                <a:off x="15865139" y="7213294"/>
                <a:ext cx="4311036" cy="3726318"/>
                <a:chOff x="3379283" y="1715497"/>
                <a:chExt cx="1459566" cy="1619327"/>
              </a:xfrm>
              <a:solidFill>
                <a:schemeClr val="accent1">
                  <a:lumMod val="50000"/>
                </a:schemeClr>
              </a:solidFill>
            </p:grpSpPr>
            <p:sp>
              <p:nvSpPr>
                <p:cNvPr id="81" name="Rectangle 80"/>
                <p:cNvSpPr/>
                <p:nvPr/>
              </p:nvSpPr>
              <p:spPr>
                <a:xfrm>
                  <a:off x="3529711" y="1715497"/>
                  <a:ext cx="1309138" cy="161932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dirty="0">
                      <a:solidFill>
                        <a:schemeClr val="bg1"/>
                      </a:solidFill>
                      <a:latin typeface="Segoe UI" panose="020B0502040204020203" pitchFamily="34" charset="0"/>
                      <a:cs typeface="Segoe UI" panose="020B0502040204020203" pitchFamily="34" charset="0"/>
                    </a:rPr>
                    <a:t>Interfaçage applications groupe</a:t>
                  </a:r>
                </a:p>
              </p:txBody>
            </p:sp>
            <p:sp>
              <p:nvSpPr>
                <p:cNvPr id="82" name="Organigramme : Délai 81"/>
                <p:cNvSpPr/>
                <p:nvPr/>
              </p:nvSpPr>
              <p:spPr>
                <a:xfrm flipH="1">
                  <a:off x="3379283" y="2261699"/>
                  <a:ext cx="150429" cy="344821"/>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104" name="Organigramme : Délai 103"/>
              <p:cNvSpPr/>
              <p:nvPr/>
            </p:nvSpPr>
            <p:spPr>
              <a:xfrm rot="16200000" flipH="1">
                <a:off x="18027064" y="6880364"/>
                <a:ext cx="346160" cy="1004952"/>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105" name="Organigramme : Délai 104"/>
              <p:cNvSpPr/>
              <p:nvPr/>
            </p:nvSpPr>
            <p:spPr>
              <a:xfrm rot="5400000" flipH="1" flipV="1">
                <a:off x="18000984" y="10277947"/>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5" name="Groupe 4"/>
            <p:cNvGrpSpPr/>
            <p:nvPr/>
          </p:nvGrpSpPr>
          <p:grpSpPr>
            <a:xfrm>
              <a:off x="15865139" y="3765753"/>
              <a:ext cx="4311039" cy="3783064"/>
              <a:chOff x="15869768" y="3753377"/>
              <a:chExt cx="4311039" cy="3783064"/>
            </a:xfrm>
          </p:grpSpPr>
          <p:grpSp>
            <p:nvGrpSpPr>
              <p:cNvPr id="12" name="Groupe 11"/>
              <p:cNvGrpSpPr/>
              <p:nvPr/>
            </p:nvGrpSpPr>
            <p:grpSpPr>
              <a:xfrm>
                <a:off x="15869768" y="3753377"/>
                <a:ext cx="4311039" cy="3783064"/>
                <a:chOff x="7918954" y="1880558"/>
                <a:chExt cx="1679343" cy="1891532"/>
              </a:xfrm>
            </p:grpSpPr>
            <p:grpSp>
              <p:nvGrpSpPr>
                <p:cNvPr id="61" name="Groupe 60"/>
                <p:cNvGrpSpPr/>
                <p:nvPr/>
              </p:nvGrpSpPr>
              <p:grpSpPr>
                <a:xfrm>
                  <a:off x="7918954" y="1880558"/>
                  <a:ext cx="1679343" cy="1727976"/>
                  <a:chOff x="3379283" y="1978811"/>
                  <a:chExt cx="1459567" cy="1501836"/>
                </a:xfrm>
                <a:solidFill>
                  <a:schemeClr val="accent1">
                    <a:lumMod val="40000"/>
                    <a:lumOff val="60000"/>
                  </a:schemeClr>
                </a:solidFill>
              </p:grpSpPr>
              <p:sp>
                <p:nvSpPr>
                  <p:cNvPr id="62" name="Rectangle 61"/>
                  <p:cNvSpPr/>
                  <p:nvPr/>
                </p:nvSpPr>
                <p:spPr>
                  <a:xfrm>
                    <a:off x="3529712" y="1978811"/>
                    <a:ext cx="1309138" cy="150183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dirty="0">
                        <a:solidFill>
                          <a:schemeClr val="bg1"/>
                        </a:solidFill>
                        <a:latin typeface="Segoe UI" panose="020B0502040204020203" pitchFamily="34" charset="0"/>
                        <a:cs typeface="Segoe UI" panose="020B0502040204020203" pitchFamily="34" charset="0"/>
                      </a:rPr>
                      <a:t>Purge des données</a:t>
                    </a:r>
                  </a:p>
                </p:txBody>
              </p:sp>
              <p:sp>
                <p:nvSpPr>
                  <p:cNvPr id="63" name="Organigramme : Délai 62"/>
                  <p:cNvSpPr/>
                  <p:nvPr/>
                </p:nvSpPr>
                <p:spPr>
                  <a:xfrm flipH="1">
                    <a:off x="3379283" y="2261699"/>
                    <a:ext cx="150429" cy="362747"/>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86" name="Organigramme : Délai 85"/>
                <p:cNvSpPr/>
                <p:nvPr/>
              </p:nvSpPr>
              <p:spPr>
                <a:xfrm rot="16200000" flipH="1">
                  <a:off x="8736816" y="3480714"/>
                  <a:ext cx="173080" cy="409672"/>
                </a:xfrm>
                <a:prstGeom prst="flowChartDelay">
                  <a:avLst/>
                </a:prstGeom>
                <a:solidFill>
                  <a:srgbClr val="BDD7E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90" name="Organigramme : Délai 89"/>
              <p:cNvSpPr/>
              <p:nvPr/>
            </p:nvSpPr>
            <p:spPr>
              <a:xfrm rot="16200000" flipH="1">
                <a:off x="17995019" y="3436999"/>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grpSp>
        <p:nvGrpSpPr>
          <p:cNvPr id="56" name="Groupe 55"/>
          <p:cNvGrpSpPr/>
          <p:nvPr/>
        </p:nvGrpSpPr>
        <p:grpSpPr>
          <a:xfrm>
            <a:off x="4764025" y="2195748"/>
            <a:ext cx="15416782" cy="1949618"/>
            <a:chOff x="3802981" y="1807092"/>
            <a:chExt cx="5219584" cy="847236"/>
          </a:xfrm>
        </p:grpSpPr>
        <p:sp>
          <p:nvSpPr>
            <p:cNvPr id="28" name="Rectangle 27"/>
            <p:cNvSpPr/>
            <p:nvPr/>
          </p:nvSpPr>
          <p:spPr>
            <a:xfrm>
              <a:off x="3802981" y="1807092"/>
              <a:ext cx="5219584" cy="700657"/>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b="1" u="sng" dirty="0">
                  <a:solidFill>
                    <a:schemeClr val="bg1"/>
                  </a:solidFill>
                  <a:latin typeface="Segoe UI" panose="020B0502040204020203" pitchFamily="34" charset="0"/>
                  <a:cs typeface="Segoe UI" panose="020B0502040204020203" pitchFamily="34" charset="0"/>
                </a:rPr>
                <a:t>Une</a:t>
              </a:r>
              <a:r>
                <a:rPr lang="fr-FR" sz="4000" dirty="0">
                  <a:solidFill>
                    <a:schemeClr val="bg1"/>
                  </a:solidFill>
                  <a:latin typeface="Segoe UI" panose="020B0502040204020203" pitchFamily="34" charset="0"/>
                  <a:cs typeface="Segoe UI" panose="020B0502040204020203" pitchFamily="34" charset="0"/>
                </a:rPr>
                <a:t> analyse OCR</a:t>
              </a:r>
            </a:p>
          </p:txBody>
        </p:sp>
        <p:sp>
          <p:nvSpPr>
            <p:cNvPr id="27" name="Organigramme : Délai 26"/>
            <p:cNvSpPr/>
            <p:nvPr/>
          </p:nvSpPr>
          <p:spPr>
            <a:xfrm rot="16200000" flipH="1">
              <a:off x="4354229" y="2408991"/>
              <a:ext cx="150429" cy="340242"/>
            </a:xfrm>
            <a:prstGeom prst="flowChartDelay">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53" name="Organigramme : Délai 52"/>
            <p:cNvSpPr/>
            <p:nvPr/>
          </p:nvSpPr>
          <p:spPr>
            <a:xfrm rot="16200000" flipH="1">
              <a:off x="5672082" y="2400762"/>
              <a:ext cx="150429" cy="340242"/>
            </a:xfrm>
            <a:prstGeom prst="flowChartDelay">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54" name="Organigramme : Délai 53"/>
            <p:cNvSpPr/>
            <p:nvPr/>
          </p:nvSpPr>
          <p:spPr>
            <a:xfrm rot="16200000" flipH="1">
              <a:off x="6958185" y="2403389"/>
              <a:ext cx="150429" cy="351450"/>
            </a:xfrm>
            <a:prstGeom prst="flowChartDelay">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55" name="Organigramme : Délai 54"/>
            <p:cNvSpPr/>
            <p:nvPr/>
          </p:nvSpPr>
          <p:spPr>
            <a:xfrm rot="16200000" flipH="1">
              <a:off x="8267514" y="2397600"/>
              <a:ext cx="150429" cy="346567"/>
            </a:xfrm>
            <a:prstGeom prst="flowChartDelay">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69" name="Groupe 68"/>
          <p:cNvGrpSpPr/>
          <p:nvPr/>
        </p:nvGrpSpPr>
        <p:grpSpPr>
          <a:xfrm>
            <a:off x="4764025" y="10562289"/>
            <a:ext cx="15416782" cy="1944412"/>
            <a:chOff x="4071160" y="3632872"/>
            <a:chExt cx="5219584" cy="844973"/>
          </a:xfrm>
          <a:solidFill>
            <a:schemeClr val="accent1"/>
          </a:solidFill>
        </p:grpSpPr>
        <p:sp>
          <p:nvSpPr>
            <p:cNvPr id="51" name="Rectangle 50"/>
            <p:cNvSpPr/>
            <p:nvPr/>
          </p:nvSpPr>
          <p:spPr>
            <a:xfrm>
              <a:off x="4071160" y="3777188"/>
              <a:ext cx="5219584" cy="70065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dirty="0">
                  <a:solidFill>
                    <a:schemeClr val="bg1"/>
                  </a:solidFill>
                  <a:latin typeface="Segoe UI" panose="020B0502040204020203" pitchFamily="34" charset="0"/>
                  <a:cs typeface="Segoe UI" panose="020B0502040204020203" pitchFamily="34" charset="0"/>
                </a:rPr>
                <a:t>Levée De Doute (LDD)</a:t>
              </a:r>
            </a:p>
          </p:txBody>
        </p:sp>
        <p:sp>
          <p:nvSpPr>
            <p:cNvPr id="65" name="Organigramme : Délai 64"/>
            <p:cNvSpPr/>
            <p:nvPr/>
          </p:nvSpPr>
          <p:spPr>
            <a:xfrm rot="5400000" flipH="1" flipV="1">
              <a:off x="4650516" y="3537967"/>
              <a:ext cx="150429" cy="340242"/>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66" name="Organigramme : Délai 65"/>
            <p:cNvSpPr/>
            <p:nvPr/>
          </p:nvSpPr>
          <p:spPr>
            <a:xfrm rot="5400000" flipH="1" flipV="1">
              <a:off x="5940262" y="3540494"/>
              <a:ext cx="150429" cy="340242"/>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67" name="Organigramme : Délai 66"/>
            <p:cNvSpPr/>
            <p:nvPr/>
          </p:nvSpPr>
          <p:spPr>
            <a:xfrm rot="5400000" flipH="1" flipV="1">
              <a:off x="7243152" y="3533188"/>
              <a:ext cx="150429" cy="349798"/>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68" name="Organigramme : Délai 67"/>
            <p:cNvSpPr/>
            <p:nvPr/>
          </p:nvSpPr>
          <p:spPr>
            <a:xfrm rot="5400000" flipH="1" flipV="1">
              <a:off x="8541222" y="3533368"/>
              <a:ext cx="150429" cy="354492"/>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15" name="ZoneTexte 14">
            <a:extLst>
              <a:ext uri="{FF2B5EF4-FFF2-40B4-BE49-F238E27FC236}">
                <a16:creationId xmlns:a16="http://schemas.microsoft.com/office/drawing/2014/main" id="{F0CAB4E0-4FD8-411A-AFED-5AE36A7F7EF8}"/>
              </a:ext>
            </a:extLst>
          </p:cNvPr>
          <p:cNvSpPr txBox="1"/>
          <p:nvPr/>
        </p:nvSpPr>
        <p:spPr>
          <a:xfrm>
            <a:off x="8281245" y="12570478"/>
            <a:ext cx="15835172" cy="400110"/>
          </a:xfrm>
          <a:prstGeom prst="rect">
            <a:avLst/>
          </a:prstGeom>
          <a:noFill/>
        </p:spPr>
        <p:txBody>
          <a:bodyPr wrap="square" rtlCol="0">
            <a:spAutoFit/>
          </a:bodyPr>
          <a:lstStyle/>
          <a:p>
            <a:r>
              <a:rPr lang="fr-FR" sz="2000" dirty="0">
                <a:solidFill>
                  <a:srgbClr val="0C4392"/>
                </a:solidFill>
                <a:latin typeface="Segoe UI" panose="020B0502040204020203" pitchFamily="34" charset="0"/>
                <a:cs typeface="Segoe UI" panose="020B0502040204020203" pitchFamily="34" charset="0"/>
              </a:rPr>
              <a:t>https://moss-si.cm-cic.fr/Sites/D00116/Documentation/_layouts/15/DocIdRedir.aspx?ID=PJQFUVHKSAJQ-1373287592-186912</a:t>
            </a:r>
          </a:p>
        </p:txBody>
      </p:sp>
    </p:spTree>
    <p:extLst>
      <p:ext uri="{BB962C8B-B14F-4D97-AF65-F5344CB8AC3E}">
        <p14:creationId xmlns:p14="http://schemas.microsoft.com/office/powerpoint/2010/main" val="78886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p:cNvSpPr>
            <a:spLocks noGrp="1"/>
          </p:cNvSpPr>
          <p:nvPr>
            <p:ph type="ftr" sz="quarter" idx="11"/>
          </p:nvPr>
        </p:nvSpPr>
        <p:spPr/>
        <p:txBody>
          <a:bodyPr/>
          <a:lstStyle/>
          <a:p>
            <a:r>
              <a:rPr lang="fr-FR"/>
              <a:t>Présentation fonctionnelle de CADI – Classification : Interne</a:t>
            </a:r>
            <a:endParaRPr lang="fr-FR" dirty="0"/>
          </a:p>
        </p:txBody>
      </p:sp>
      <p:sp>
        <p:nvSpPr>
          <p:cNvPr id="7" name="Espace réservé du numéro de diapositive 6"/>
          <p:cNvSpPr>
            <a:spLocks noGrp="1"/>
          </p:cNvSpPr>
          <p:nvPr>
            <p:ph type="sldNum" sz="quarter" idx="12"/>
          </p:nvPr>
        </p:nvSpPr>
        <p:spPr/>
        <p:txBody>
          <a:bodyPr/>
          <a:lstStyle/>
          <a:p>
            <a:fld id="{86CB4B4D-7CA3-9044-876B-883B54F8677D}" type="slidenum">
              <a:rPr lang="fr-FR" smtClean="0"/>
              <a:pPr/>
              <a:t>12</a:t>
            </a:fld>
            <a:endParaRPr lang="fr-FR" dirty="0"/>
          </a:p>
        </p:txBody>
      </p:sp>
      <p:sp>
        <p:nvSpPr>
          <p:cNvPr id="3" name="Titre 2"/>
          <p:cNvSpPr>
            <a:spLocks noGrp="1"/>
          </p:cNvSpPr>
          <p:nvPr>
            <p:ph type="title"/>
          </p:nvPr>
        </p:nvSpPr>
        <p:spPr/>
        <p:txBody>
          <a:bodyPr/>
          <a:lstStyle/>
          <a:p>
            <a:r>
              <a:rPr lang="fr-FR" dirty="0"/>
              <a:t>Ecosystème CADI</a:t>
            </a:r>
          </a:p>
        </p:txBody>
      </p:sp>
      <p:sp>
        <p:nvSpPr>
          <p:cNvPr id="2" name="Espace réservé du texte 1"/>
          <p:cNvSpPr>
            <a:spLocks noGrp="1"/>
          </p:cNvSpPr>
          <p:nvPr>
            <p:ph type="body" sz="quarter" idx="14"/>
          </p:nvPr>
        </p:nvSpPr>
        <p:spPr/>
        <p:txBody>
          <a:bodyPr/>
          <a:lstStyle/>
          <a:p>
            <a:r>
              <a:rPr lang="fr-FR" dirty="0"/>
              <a:t>Flux</a:t>
            </a:r>
          </a:p>
        </p:txBody>
      </p:sp>
      <p:grpSp>
        <p:nvGrpSpPr>
          <p:cNvPr id="13" name="Groupe 12"/>
          <p:cNvGrpSpPr/>
          <p:nvPr/>
        </p:nvGrpSpPr>
        <p:grpSpPr>
          <a:xfrm>
            <a:off x="678425" y="1783610"/>
            <a:ext cx="23021102" cy="10199402"/>
            <a:chOff x="678425" y="1783610"/>
            <a:chExt cx="23021102" cy="10199402"/>
          </a:xfrm>
        </p:grpSpPr>
        <p:sp>
          <p:nvSpPr>
            <p:cNvPr id="4" name="Rectangle 3"/>
            <p:cNvSpPr/>
            <p:nvPr/>
          </p:nvSpPr>
          <p:spPr>
            <a:xfrm>
              <a:off x="678425" y="11017405"/>
              <a:ext cx="17536123" cy="959005"/>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CADI - Base données (SQL Server)</a:t>
              </a:r>
            </a:p>
          </p:txBody>
        </p:sp>
        <p:sp>
          <p:nvSpPr>
            <p:cNvPr id="17" name="Rectangle 16"/>
            <p:cNvSpPr/>
            <p:nvPr/>
          </p:nvSpPr>
          <p:spPr>
            <a:xfrm>
              <a:off x="10676228" y="3940799"/>
              <a:ext cx="1638031" cy="1382752"/>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SUPJUG</a:t>
              </a:r>
            </a:p>
          </p:txBody>
        </p:sp>
        <p:sp>
          <p:nvSpPr>
            <p:cNvPr id="18" name="Rectangle 17"/>
            <p:cNvSpPr/>
            <p:nvPr/>
          </p:nvSpPr>
          <p:spPr>
            <a:xfrm>
              <a:off x="8317178" y="7092482"/>
              <a:ext cx="3715663" cy="1382752"/>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CADI - DLL</a:t>
              </a:r>
            </a:p>
          </p:txBody>
        </p:sp>
        <p:sp>
          <p:nvSpPr>
            <p:cNvPr id="19" name="Rectangle 18"/>
            <p:cNvSpPr/>
            <p:nvPr/>
          </p:nvSpPr>
          <p:spPr>
            <a:xfrm>
              <a:off x="18214549" y="3940799"/>
              <a:ext cx="3715663" cy="1382752"/>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CADI - Levée de doutes</a:t>
              </a:r>
            </a:p>
          </p:txBody>
        </p:sp>
        <p:cxnSp>
          <p:nvCxnSpPr>
            <p:cNvPr id="21" name="Connecteur droit avec flèche 20"/>
            <p:cNvCxnSpPr>
              <a:stCxn id="17" idx="2"/>
            </p:cNvCxnSpPr>
            <p:nvPr/>
          </p:nvCxnSpPr>
          <p:spPr>
            <a:xfrm>
              <a:off x="11495244" y="5323551"/>
              <a:ext cx="23038" cy="1768931"/>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sp>
          <p:nvSpPr>
            <p:cNvPr id="24" name="Rectangle 23"/>
            <p:cNvSpPr/>
            <p:nvPr/>
          </p:nvSpPr>
          <p:spPr>
            <a:xfrm>
              <a:off x="13862661" y="3940799"/>
              <a:ext cx="2130760" cy="1382752"/>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GJUG</a:t>
              </a:r>
            </a:p>
          </p:txBody>
        </p:sp>
        <p:cxnSp>
          <p:nvCxnSpPr>
            <p:cNvPr id="25" name="Connecteur droit avec flèche 24"/>
            <p:cNvCxnSpPr>
              <a:stCxn id="17" idx="3"/>
              <a:endCxn id="24" idx="1"/>
            </p:cNvCxnSpPr>
            <p:nvPr/>
          </p:nvCxnSpPr>
          <p:spPr>
            <a:xfrm>
              <a:off x="12314259" y="4632175"/>
              <a:ext cx="1548402" cy="0"/>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sp>
          <p:nvSpPr>
            <p:cNvPr id="26" name="Rectangle 25"/>
            <p:cNvSpPr/>
            <p:nvPr/>
          </p:nvSpPr>
          <p:spPr>
            <a:xfrm>
              <a:off x="19007001" y="1911348"/>
              <a:ext cx="2130760" cy="121138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TRTA / CFA</a:t>
              </a:r>
            </a:p>
          </p:txBody>
        </p:sp>
        <p:cxnSp>
          <p:nvCxnSpPr>
            <p:cNvPr id="27" name="Connecteur droit avec flèche 26"/>
            <p:cNvCxnSpPr>
              <a:stCxn id="19" idx="0"/>
              <a:endCxn id="26" idx="2"/>
            </p:cNvCxnSpPr>
            <p:nvPr/>
          </p:nvCxnSpPr>
          <p:spPr>
            <a:xfrm flipV="1">
              <a:off x="20072381" y="3122735"/>
              <a:ext cx="0" cy="818064"/>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sp>
          <p:nvSpPr>
            <p:cNvPr id="36" name="Rectangle 35"/>
            <p:cNvSpPr/>
            <p:nvPr/>
          </p:nvSpPr>
          <p:spPr>
            <a:xfrm>
              <a:off x="8351484" y="1783610"/>
              <a:ext cx="3523381" cy="1382752"/>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Application cliente</a:t>
              </a:r>
            </a:p>
          </p:txBody>
        </p:sp>
        <p:sp>
          <p:nvSpPr>
            <p:cNvPr id="62" name="Rectangle 61"/>
            <p:cNvSpPr/>
            <p:nvPr/>
          </p:nvSpPr>
          <p:spPr>
            <a:xfrm>
              <a:off x="1085779" y="5919241"/>
              <a:ext cx="2552700" cy="1371600"/>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GED / GNF</a:t>
              </a:r>
            </a:p>
          </p:txBody>
        </p:sp>
        <p:sp>
          <p:nvSpPr>
            <p:cNvPr id="64" name="Rectangle 63"/>
            <p:cNvSpPr/>
            <p:nvPr/>
          </p:nvSpPr>
          <p:spPr>
            <a:xfrm>
              <a:off x="1085779" y="7709935"/>
              <a:ext cx="2552700" cy="1927316"/>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Moteurs OCR</a:t>
              </a:r>
            </a:p>
            <a:p>
              <a:pPr algn="ctr"/>
              <a:r>
                <a:rPr lang="fr-FR" sz="2000" b="1" dirty="0">
                  <a:solidFill>
                    <a:schemeClr val="bg1"/>
                  </a:solidFill>
                  <a:latin typeface="Segoe UI" panose="020B0502040204020203" pitchFamily="34" charset="0"/>
                  <a:cs typeface="Segoe UI" panose="020B0502040204020203" pitchFamily="34" charset="0"/>
                </a:rPr>
                <a:t>(</a:t>
              </a:r>
              <a:r>
                <a:rPr lang="fr-FR" sz="2000" b="1" dirty="0" err="1">
                  <a:solidFill>
                    <a:schemeClr val="bg1"/>
                  </a:solidFill>
                  <a:latin typeface="Segoe UI" panose="020B0502040204020203" pitchFamily="34" charset="0"/>
                  <a:cs typeface="Segoe UI" panose="020B0502040204020203" pitchFamily="34" charset="0"/>
                </a:rPr>
                <a:t>IDnow</a:t>
              </a:r>
              <a:r>
                <a:rPr lang="fr-FR" sz="2000" b="1" dirty="0">
                  <a:solidFill>
                    <a:schemeClr val="bg1"/>
                  </a:solidFill>
                  <a:latin typeface="Segoe UI" panose="020B0502040204020203" pitchFamily="34" charset="0"/>
                  <a:cs typeface="Segoe UI" panose="020B0502040204020203" pitchFamily="34" charset="0"/>
                </a:rPr>
                <a:t>, ITC, Analyseur Générique, </a:t>
              </a:r>
              <a:r>
                <a:rPr lang="fr-FR" sz="2000" b="1" dirty="0" err="1">
                  <a:solidFill>
                    <a:schemeClr val="bg1"/>
                  </a:solidFill>
                  <a:latin typeface="Segoe UI" panose="020B0502040204020203" pitchFamily="34" charset="0"/>
                  <a:cs typeface="Segoe UI" panose="020B0502040204020203" pitchFamily="34" charset="0"/>
                </a:rPr>
                <a:t>Ws</a:t>
              </a:r>
              <a:r>
                <a:rPr lang="fr-FR" sz="2000" b="1" dirty="0">
                  <a:solidFill>
                    <a:schemeClr val="bg1"/>
                  </a:solidFill>
                  <a:latin typeface="Segoe UI" panose="020B0502040204020203" pitchFamily="34" charset="0"/>
                  <a:cs typeface="Segoe UI" panose="020B0502040204020203" pitchFamily="34" charset="0"/>
                </a:rPr>
                <a:t> </a:t>
              </a:r>
              <a:r>
                <a:rPr lang="fr-FR" sz="2000" b="1" dirty="0" err="1">
                  <a:solidFill>
                    <a:schemeClr val="bg1"/>
                  </a:solidFill>
                  <a:latin typeface="Segoe UI" panose="020B0502040204020203" pitchFamily="34" charset="0"/>
                  <a:cs typeface="Segoe UI" panose="020B0502040204020203" pitchFamily="34" charset="0"/>
                </a:rPr>
                <a:t>SyoReader</a:t>
              </a:r>
              <a:r>
                <a:rPr lang="fr-FR" sz="2000" b="1" dirty="0">
                  <a:solidFill>
                    <a:schemeClr val="bg1"/>
                  </a:solidFill>
                  <a:latin typeface="Segoe UI" panose="020B0502040204020203" pitchFamily="34" charset="0"/>
                  <a:cs typeface="Segoe UI" panose="020B0502040204020203" pitchFamily="34" charset="0"/>
                </a:rPr>
                <a:t> </a:t>
              </a:r>
              <a:r>
                <a:rPr lang="fr-FR" sz="2000" b="1" dirty="0" err="1">
                  <a:solidFill>
                    <a:schemeClr val="bg1"/>
                  </a:solidFill>
                  <a:latin typeface="Segoe UI" panose="020B0502040204020203" pitchFamily="34" charset="0"/>
                  <a:cs typeface="Segoe UI" panose="020B0502040204020203" pitchFamily="34" charset="0"/>
                </a:rPr>
                <a:t>Skapánê</a:t>
              </a:r>
              <a:r>
                <a:rPr lang="fr-FR" sz="2000" b="1" dirty="0">
                  <a:solidFill>
                    <a:schemeClr val="bg1"/>
                  </a:solidFill>
                  <a:latin typeface="Segoe UI" panose="020B0502040204020203" pitchFamily="34" charset="0"/>
                  <a:cs typeface="Segoe UI" panose="020B0502040204020203" pitchFamily="34" charset="0"/>
                </a:rPr>
                <a:t>) </a:t>
              </a:r>
            </a:p>
          </p:txBody>
        </p:sp>
        <p:cxnSp>
          <p:nvCxnSpPr>
            <p:cNvPr id="69" name="Connecteur en angle 68"/>
            <p:cNvCxnSpPr>
              <a:stCxn id="18" idx="1"/>
              <a:endCxn id="64" idx="3"/>
            </p:cNvCxnSpPr>
            <p:nvPr/>
          </p:nvCxnSpPr>
          <p:spPr>
            <a:xfrm rot="10800000" flipV="1">
              <a:off x="3638480" y="7783857"/>
              <a:ext cx="4678699" cy="889735"/>
            </a:xfrm>
            <a:prstGeom prst="bentConnector3">
              <a:avLst/>
            </a:prstGeom>
            <a:ln w="76200">
              <a:headEnd type="triangle" w="med" len="med"/>
              <a:tailEnd type="triangle" w="med" len="med"/>
            </a:ln>
          </p:spPr>
          <p:style>
            <a:lnRef idx="3">
              <a:schemeClr val="accent3"/>
            </a:lnRef>
            <a:fillRef idx="0">
              <a:schemeClr val="accent3"/>
            </a:fillRef>
            <a:effectRef idx="2">
              <a:schemeClr val="accent3"/>
            </a:effectRef>
            <a:fontRef idx="minor">
              <a:schemeClr val="tx1"/>
            </a:fontRef>
          </p:style>
        </p:cxnSp>
        <p:cxnSp>
          <p:nvCxnSpPr>
            <p:cNvPr id="73" name="Connecteur en angle 72"/>
            <p:cNvCxnSpPr>
              <a:stCxn id="62" idx="3"/>
              <a:endCxn id="18" idx="1"/>
            </p:cNvCxnSpPr>
            <p:nvPr/>
          </p:nvCxnSpPr>
          <p:spPr>
            <a:xfrm>
              <a:off x="3638479" y="6605041"/>
              <a:ext cx="4678699" cy="1178817"/>
            </a:xfrm>
            <a:prstGeom prst="bentConnector3">
              <a:avLst/>
            </a:prstGeom>
            <a:ln w="76200">
              <a:headEnd type="triangle" w="med" len="med"/>
              <a:tailEnd type="triangle" w="med" len="med"/>
            </a:ln>
          </p:spPr>
          <p:style>
            <a:lnRef idx="3">
              <a:schemeClr val="accent3"/>
            </a:lnRef>
            <a:fillRef idx="0">
              <a:schemeClr val="accent3"/>
            </a:fillRef>
            <a:effectRef idx="2">
              <a:schemeClr val="accent3"/>
            </a:effectRef>
            <a:fontRef idx="minor">
              <a:schemeClr val="tx1"/>
            </a:fontRef>
          </p:style>
        </p:cxnSp>
        <p:cxnSp>
          <p:nvCxnSpPr>
            <p:cNvPr id="81" name="Connecteur droit avec flèche 80"/>
            <p:cNvCxnSpPr>
              <a:stCxn id="18" idx="2"/>
            </p:cNvCxnSpPr>
            <p:nvPr/>
          </p:nvCxnSpPr>
          <p:spPr>
            <a:xfrm>
              <a:off x="10175010" y="8475234"/>
              <a:ext cx="12908" cy="2548773"/>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sp>
          <p:nvSpPr>
            <p:cNvPr id="86" name="Rectangle 85"/>
            <p:cNvSpPr/>
            <p:nvPr/>
          </p:nvSpPr>
          <p:spPr>
            <a:xfrm>
              <a:off x="8767032" y="3951879"/>
              <a:ext cx="1638031" cy="1382752"/>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GEDA</a:t>
              </a:r>
            </a:p>
          </p:txBody>
        </p:sp>
        <p:cxnSp>
          <p:nvCxnSpPr>
            <p:cNvPr id="91" name="Connecteur droit avec flèche 90"/>
            <p:cNvCxnSpPr>
              <a:stCxn id="86" idx="2"/>
            </p:cNvCxnSpPr>
            <p:nvPr/>
          </p:nvCxnSpPr>
          <p:spPr>
            <a:xfrm flipH="1">
              <a:off x="9584793" y="5334631"/>
              <a:ext cx="1255" cy="1757851"/>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cxnSp>
          <p:nvCxnSpPr>
            <p:cNvPr id="94" name="Connecteur droit avec flèche 93"/>
            <p:cNvCxnSpPr>
              <a:endCxn id="86" idx="0"/>
            </p:cNvCxnSpPr>
            <p:nvPr/>
          </p:nvCxnSpPr>
          <p:spPr>
            <a:xfrm>
              <a:off x="9584793" y="3166362"/>
              <a:ext cx="1255" cy="785517"/>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cxnSp>
          <p:nvCxnSpPr>
            <p:cNvPr id="96" name="Connecteur droit avec flèche 95"/>
            <p:cNvCxnSpPr>
              <a:endCxn id="17" idx="0"/>
            </p:cNvCxnSpPr>
            <p:nvPr/>
          </p:nvCxnSpPr>
          <p:spPr>
            <a:xfrm>
              <a:off x="11495243" y="3177442"/>
              <a:ext cx="1" cy="763357"/>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cxnSp>
          <p:nvCxnSpPr>
            <p:cNvPr id="99" name="Connecteur en angle 98"/>
            <p:cNvCxnSpPr>
              <a:stCxn id="36" idx="1"/>
            </p:cNvCxnSpPr>
            <p:nvPr/>
          </p:nvCxnSpPr>
          <p:spPr>
            <a:xfrm rot="10800000" flipH="1" flipV="1">
              <a:off x="8351484" y="2474986"/>
              <a:ext cx="167930" cy="4617496"/>
            </a:xfrm>
            <a:prstGeom prst="bentConnector4">
              <a:avLst>
                <a:gd name="adj1" fmla="val -492536"/>
                <a:gd name="adj2" fmla="val 72968"/>
              </a:avLst>
            </a:prstGeom>
            <a:ln w="76200">
              <a:headEnd type="triangle" w="med" len="med"/>
              <a:tailEnd type="triangle" w="med" len="med"/>
            </a:ln>
          </p:spPr>
          <p:style>
            <a:lnRef idx="3">
              <a:schemeClr val="accent3"/>
            </a:lnRef>
            <a:fillRef idx="0">
              <a:schemeClr val="accent3"/>
            </a:fillRef>
            <a:effectRef idx="2">
              <a:schemeClr val="accent3"/>
            </a:effectRef>
            <a:fontRef idx="minor">
              <a:schemeClr val="tx1"/>
            </a:fontRef>
          </p:style>
        </p:cxnSp>
        <p:cxnSp>
          <p:nvCxnSpPr>
            <p:cNvPr id="106" name="Connecteur droit avec flèche 105"/>
            <p:cNvCxnSpPr>
              <a:stCxn id="24" idx="3"/>
              <a:endCxn id="19" idx="1"/>
            </p:cNvCxnSpPr>
            <p:nvPr/>
          </p:nvCxnSpPr>
          <p:spPr>
            <a:xfrm>
              <a:off x="15993421" y="4632175"/>
              <a:ext cx="2221128" cy="0"/>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sp>
          <p:nvSpPr>
            <p:cNvPr id="115" name="Rectangle 114"/>
            <p:cNvSpPr/>
            <p:nvPr/>
          </p:nvSpPr>
          <p:spPr>
            <a:xfrm>
              <a:off x="13888907" y="5784974"/>
              <a:ext cx="2130760" cy="1382752"/>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TIERS</a:t>
              </a:r>
            </a:p>
          </p:txBody>
        </p:sp>
        <p:sp>
          <p:nvSpPr>
            <p:cNvPr id="116" name="Rectangle 115"/>
            <p:cNvSpPr/>
            <p:nvPr/>
          </p:nvSpPr>
          <p:spPr>
            <a:xfrm>
              <a:off x="13888907" y="7574081"/>
              <a:ext cx="2130760" cy="1382752"/>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FRAUDE</a:t>
              </a:r>
            </a:p>
          </p:txBody>
        </p:sp>
        <p:cxnSp>
          <p:nvCxnSpPr>
            <p:cNvPr id="120" name="Connecteur en angle 119"/>
            <p:cNvCxnSpPr>
              <a:stCxn id="19" idx="2"/>
              <a:endCxn id="115" idx="3"/>
            </p:cNvCxnSpPr>
            <p:nvPr/>
          </p:nvCxnSpPr>
          <p:spPr>
            <a:xfrm rot="5400000">
              <a:off x="17469625" y="3873593"/>
              <a:ext cx="1152799" cy="4052714"/>
            </a:xfrm>
            <a:prstGeom prst="bentConnector2">
              <a:avLst/>
            </a:prstGeom>
            <a:ln w="76200">
              <a:tailEnd type="triangle"/>
            </a:ln>
          </p:spPr>
          <p:style>
            <a:lnRef idx="3">
              <a:schemeClr val="accent3"/>
            </a:lnRef>
            <a:fillRef idx="0">
              <a:schemeClr val="accent3"/>
            </a:fillRef>
            <a:effectRef idx="2">
              <a:schemeClr val="accent3"/>
            </a:effectRef>
            <a:fontRef idx="minor">
              <a:schemeClr val="tx1"/>
            </a:fontRef>
          </p:style>
        </p:cxnSp>
        <p:cxnSp>
          <p:nvCxnSpPr>
            <p:cNvPr id="122" name="Connecteur en angle 121"/>
            <p:cNvCxnSpPr>
              <a:stCxn id="19" idx="2"/>
              <a:endCxn id="116" idx="3"/>
            </p:cNvCxnSpPr>
            <p:nvPr/>
          </p:nvCxnSpPr>
          <p:spPr>
            <a:xfrm rot="5400000">
              <a:off x="16575071" y="4768147"/>
              <a:ext cx="2941906" cy="4052714"/>
            </a:xfrm>
            <a:prstGeom prst="bentConnector2">
              <a:avLst/>
            </a:prstGeom>
            <a:ln w="76200">
              <a:tailEnd type="triangle"/>
            </a:ln>
          </p:spPr>
          <p:style>
            <a:lnRef idx="3">
              <a:schemeClr val="accent3"/>
            </a:lnRef>
            <a:fillRef idx="0">
              <a:schemeClr val="accent3"/>
            </a:fillRef>
            <a:effectRef idx="2">
              <a:schemeClr val="accent3"/>
            </a:effectRef>
            <a:fontRef idx="minor">
              <a:schemeClr val="tx1"/>
            </a:fontRef>
          </p:style>
        </p:cxnSp>
        <p:sp>
          <p:nvSpPr>
            <p:cNvPr id="41" name="Rectangle 40"/>
            <p:cNvSpPr/>
            <p:nvPr/>
          </p:nvSpPr>
          <p:spPr>
            <a:xfrm>
              <a:off x="19025634" y="11024007"/>
              <a:ext cx="4673893" cy="959005"/>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CADI - SIDU, Statistiques, Facturation, Purge</a:t>
              </a:r>
            </a:p>
          </p:txBody>
        </p:sp>
        <p:cxnSp>
          <p:nvCxnSpPr>
            <p:cNvPr id="23" name="Connecteur en angle 22"/>
            <p:cNvCxnSpPr/>
            <p:nvPr/>
          </p:nvCxnSpPr>
          <p:spPr>
            <a:xfrm rot="5400000">
              <a:off x="16363022" y="5717458"/>
              <a:ext cx="5682771" cy="4917120"/>
            </a:xfrm>
            <a:prstGeom prst="bentConnector3">
              <a:avLst>
                <a:gd name="adj1" fmla="val 60532"/>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cxnSp>
          <p:nvCxnSpPr>
            <p:cNvPr id="54" name="Connecteur droit avec flèche 53"/>
            <p:cNvCxnSpPr>
              <a:stCxn id="4" idx="3"/>
              <a:endCxn id="41" idx="1"/>
            </p:cNvCxnSpPr>
            <p:nvPr/>
          </p:nvCxnSpPr>
          <p:spPr>
            <a:xfrm>
              <a:off x="18214548" y="11496908"/>
              <a:ext cx="811086" cy="6602"/>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cxnSp>
          <p:nvCxnSpPr>
            <p:cNvPr id="43" name="Connecteur droit avec flèche 42"/>
            <p:cNvCxnSpPr>
              <a:stCxn id="36" idx="3"/>
              <a:endCxn id="26" idx="1"/>
            </p:cNvCxnSpPr>
            <p:nvPr/>
          </p:nvCxnSpPr>
          <p:spPr>
            <a:xfrm>
              <a:off x="11874865" y="2474986"/>
              <a:ext cx="7132136" cy="42056"/>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grpSp>
      <p:pic>
        <p:nvPicPr>
          <p:cNvPr id="8" name="Image 7"/>
          <p:cNvPicPr>
            <a:picLocks noChangeAspect="1"/>
          </p:cNvPicPr>
          <p:nvPr/>
        </p:nvPicPr>
        <p:blipFill>
          <a:blip r:embed="rId3">
            <a:clrChange>
              <a:clrFrom>
                <a:srgbClr val="FFFFFF"/>
              </a:clrFrom>
              <a:clrTo>
                <a:srgbClr val="FFFFFF">
                  <a:alpha val="0"/>
                </a:srgbClr>
              </a:clrTo>
            </a:clrChange>
          </a:blip>
          <a:stretch>
            <a:fillRect/>
          </a:stretch>
        </p:blipFill>
        <p:spPr>
          <a:xfrm>
            <a:off x="16546303" y="3775574"/>
            <a:ext cx="797867" cy="797867"/>
          </a:xfrm>
          <a:prstGeom prst="rect">
            <a:avLst/>
          </a:prstGeom>
        </p:spPr>
      </p:pic>
      <p:pic>
        <p:nvPicPr>
          <p:cNvPr id="42" name="Image 41"/>
          <p:cNvPicPr>
            <a:picLocks noChangeAspect="1"/>
          </p:cNvPicPr>
          <p:nvPr/>
        </p:nvPicPr>
        <p:blipFill>
          <a:blip r:embed="rId3">
            <a:clrChange>
              <a:clrFrom>
                <a:srgbClr val="FFFFFF"/>
              </a:clrFrom>
              <a:clrTo>
                <a:srgbClr val="FFFFFF">
                  <a:alpha val="0"/>
                </a:srgbClr>
              </a:clrTo>
            </a:clrChange>
          </a:blip>
          <a:stretch>
            <a:fillRect/>
          </a:stretch>
        </p:blipFill>
        <p:spPr>
          <a:xfrm>
            <a:off x="16563813" y="5625238"/>
            <a:ext cx="797867" cy="797867"/>
          </a:xfrm>
          <a:prstGeom prst="rect">
            <a:avLst/>
          </a:prstGeom>
        </p:spPr>
      </p:pic>
      <p:pic>
        <p:nvPicPr>
          <p:cNvPr id="5" name="Image 4"/>
          <p:cNvPicPr>
            <a:picLocks noChangeAspect="1"/>
          </p:cNvPicPr>
          <p:nvPr/>
        </p:nvPicPr>
        <p:blipFill>
          <a:blip r:embed="rId4"/>
          <a:stretch>
            <a:fillRect/>
          </a:stretch>
        </p:blipFill>
        <p:spPr>
          <a:xfrm>
            <a:off x="21926492" y="396711"/>
            <a:ext cx="1744053" cy="1514637"/>
          </a:xfrm>
          <a:prstGeom prst="rect">
            <a:avLst/>
          </a:prstGeom>
        </p:spPr>
      </p:pic>
      <p:sp>
        <p:nvSpPr>
          <p:cNvPr id="39" name="ZoneTexte 38">
            <a:extLst>
              <a:ext uri="{FF2B5EF4-FFF2-40B4-BE49-F238E27FC236}">
                <a16:creationId xmlns:a16="http://schemas.microsoft.com/office/drawing/2014/main" id="{F9EB69CE-2285-4733-A143-AC157C9DACE1}"/>
              </a:ext>
            </a:extLst>
          </p:cNvPr>
          <p:cNvSpPr txBox="1"/>
          <p:nvPr/>
        </p:nvSpPr>
        <p:spPr>
          <a:xfrm>
            <a:off x="8281245" y="12570478"/>
            <a:ext cx="15835172" cy="400110"/>
          </a:xfrm>
          <a:prstGeom prst="rect">
            <a:avLst/>
          </a:prstGeom>
          <a:noFill/>
        </p:spPr>
        <p:txBody>
          <a:bodyPr wrap="square" rtlCol="0">
            <a:spAutoFit/>
          </a:bodyPr>
          <a:lstStyle/>
          <a:p>
            <a:r>
              <a:rPr lang="fr-FR" sz="2000" dirty="0">
                <a:solidFill>
                  <a:srgbClr val="0C4392"/>
                </a:solidFill>
                <a:latin typeface="Segoe UI" panose="020B0502040204020203" pitchFamily="34" charset="0"/>
                <a:cs typeface="Segoe UI" panose="020B0502040204020203" pitchFamily="34" charset="0"/>
              </a:rPr>
              <a:t>https://moss-si.cm-cic.fr/Sites/D00116/Documentation/_layouts/15/DocIdRedir.aspx?ID=PJQFUVHKSAJQ-1373287592-186912</a:t>
            </a:r>
          </a:p>
        </p:txBody>
      </p:sp>
    </p:spTree>
    <p:extLst>
      <p:ext uri="{BB962C8B-B14F-4D97-AF65-F5344CB8AC3E}">
        <p14:creationId xmlns:p14="http://schemas.microsoft.com/office/powerpoint/2010/main" val="2729593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fontAlgn="ctr"/>
            <a:r>
              <a:rPr lang="fr-FR" dirty="0">
                <a:solidFill>
                  <a:srgbClr val="01398C"/>
                </a:solidFill>
              </a:rPr>
              <a:t>Ecosystème CADI</a:t>
            </a:r>
            <a:endParaRPr lang="fr-FR" sz="3200" dirty="0"/>
          </a:p>
        </p:txBody>
      </p:sp>
      <p:sp>
        <p:nvSpPr>
          <p:cNvPr id="3" name="Espace réservé du pied de page 2"/>
          <p:cNvSpPr>
            <a:spLocks noGrp="1"/>
          </p:cNvSpPr>
          <p:nvPr>
            <p:ph type="ftr" sz="quarter" idx="11"/>
          </p:nvPr>
        </p:nvSpPr>
        <p:spPr/>
        <p:txBody>
          <a:bodyPr/>
          <a:lstStyle/>
          <a:p>
            <a:r>
              <a:rPr lang="fr-FR"/>
              <a:t>Présentation fonctionnelle de CADI – Classification : Interne</a:t>
            </a:r>
            <a:endParaRPr lang="fr-FR" dirty="0"/>
          </a:p>
        </p:txBody>
      </p:sp>
      <p:sp>
        <p:nvSpPr>
          <p:cNvPr id="4" name="Espace réservé du numéro de diapositive 3"/>
          <p:cNvSpPr>
            <a:spLocks noGrp="1"/>
          </p:cNvSpPr>
          <p:nvPr>
            <p:ph type="sldNum" sz="quarter" idx="12"/>
          </p:nvPr>
        </p:nvSpPr>
        <p:spPr/>
        <p:txBody>
          <a:bodyPr/>
          <a:lstStyle/>
          <a:p>
            <a:fld id="{3EE1DE5A-27D4-4895-8E04-340D57AD09FB}" type="slidenum">
              <a:rPr lang="fr-FR" smtClean="0"/>
              <a:pPr/>
              <a:t>13</a:t>
            </a:fld>
            <a:endParaRPr lang="fr-FR"/>
          </a:p>
        </p:txBody>
      </p:sp>
      <p:sp>
        <p:nvSpPr>
          <p:cNvPr id="5" name="Espace réservé du texte 4"/>
          <p:cNvSpPr>
            <a:spLocks noGrp="1"/>
          </p:cNvSpPr>
          <p:nvPr>
            <p:ph type="body" sz="quarter" idx="13"/>
          </p:nvPr>
        </p:nvSpPr>
        <p:spPr>
          <a:xfrm>
            <a:off x="1426932" y="2348446"/>
            <a:ext cx="22063075" cy="9622365"/>
          </a:xfrm>
        </p:spPr>
        <p:txBody>
          <a:bodyPr/>
          <a:lstStyle/>
          <a:p>
            <a:pPr lvl="1"/>
            <a:r>
              <a:rPr lang="fr-FR" dirty="0"/>
              <a:t>GJUG = </a:t>
            </a:r>
            <a:r>
              <a:rPr lang="fr-FR" b="1" dirty="0"/>
              <a:t>G</a:t>
            </a:r>
            <a:r>
              <a:rPr lang="fr-FR" dirty="0"/>
              <a:t>estion des </a:t>
            </a:r>
            <a:r>
              <a:rPr lang="fr-FR" b="1" dirty="0" err="1"/>
              <a:t>JU</a:t>
            </a:r>
            <a:r>
              <a:rPr lang="fr-FR" dirty="0" err="1"/>
              <a:t>stificatifs</a:t>
            </a:r>
            <a:r>
              <a:rPr lang="fr-FR" dirty="0"/>
              <a:t> en </a:t>
            </a:r>
            <a:r>
              <a:rPr lang="fr-FR" b="1" dirty="0" err="1"/>
              <a:t>G</a:t>
            </a:r>
            <a:r>
              <a:rPr lang="fr-FR" dirty="0" err="1"/>
              <a:t>ed</a:t>
            </a:r>
            <a:endParaRPr lang="fr-FR" dirty="0"/>
          </a:p>
          <a:p>
            <a:pPr lvl="2"/>
            <a:r>
              <a:rPr lang="fr-FR" dirty="0"/>
              <a:t>Dossier créé au début du parcours de souscription client.</a:t>
            </a:r>
          </a:p>
          <a:p>
            <a:pPr lvl="2"/>
            <a:r>
              <a:rPr lang="fr-FR" dirty="0"/>
              <a:t>Il contient toutes les informations relatives aux justificatifs nécessaires à l’instruction en cours.</a:t>
            </a:r>
          </a:p>
          <a:p>
            <a:pPr lvl="2"/>
            <a:r>
              <a:rPr lang="fr-FR" dirty="0"/>
              <a:t>GJUG est l’un des appelants de CADI pour déclencher la LDD pour les agents d’acceptation de Cofidis.</a:t>
            </a:r>
          </a:p>
          <a:p>
            <a:pPr lvl="2"/>
            <a:r>
              <a:rPr lang="fr-FR" dirty="0"/>
              <a:t>Suite à la LDD, la conformité des justificatifs présents dans le dossier GJUG est mise à jour.</a:t>
            </a:r>
          </a:p>
          <a:p>
            <a:pPr lvl="2"/>
            <a:endParaRPr lang="fr-FR" dirty="0"/>
          </a:p>
          <a:p>
            <a:pPr lvl="1"/>
            <a:r>
              <a:rPr lang="fr-FR" dirty="0"/>
              <a:t>SUPJUG = </a:t>
            </a:r>
            <a:r>
              <a:rPr lang="fr-FR" b="1" dirty="0"/>
              <a:t>S</a:t>
            </a:r>
            <a:r>
              <a:rPr lang="fr-FR" dirty="0"/>
              <a:t>uivi et </a:t>
            </a:r>
            <a:r>
              <a:rPr lang="fr-FR" b="1" dirty="0" err="1"/>
              <a:t>UP</a:t>
            </a:r>
            <a:r>
              <a:rPr lang="fr-FR" dirty="0" err="1"/>
              <a:t>load</a:t>
            </a:r>
            <a:r>
              <a:rPr lang="fr-FR" dirty="0"/>
              <a:t> des </a:t>
            </a:r>
            <a:r>
              <a:rPr lang="fr-FR" b="1" dirty="0" err="1"/>
              <a:t>JU</a:t>
            </a:r>
            <a:r>
              <a:rPr lang="fr-FR" dirty="0" err="1"/>
              <a:t>stificatifs</a:t>
            </a:r>
            <a:r>
              <a:rPr lang="fr-FR" dirty="0"/>
              <a:t> en </a:t>
            </a:r>
            <a:r>
              <a:rPr lang="fr-FR" b="1" dirty="0" err="1"/>
              <a:t>G</a:t>
            </a:r>
            <a:r>
              <a:rPr lang="fr-FR" dirty="0" err="1"/>
              <a:t>ed</a:t>
            </a:r>
            <a:r>
              <a:rPr lang="fr-FR" dirty="0"/>
              <a:t> par le client via Internet</a:t>
            </a:r>
          </a:p>
          <a:p>
            <a:pPr lvl="2"/>
            <a:r>
              <a:rPr lang="fr-FR" dirty="0"/>
              <a:t>Le composant SUPJUG va permettre au client d’</a:t>
            </a:r>
            <a:r>
              <a:rPr lang="fr-FR" dirty="0" err="1"/>
              <a:t>uplaoder</a:t>
            </a:r>
            <a:r>
              <a:rPr lang="fr-FR" dirty="0"/>
              <a:t> le ou les documents par le client.</a:t>
            </a:r>
          </a:p>
          <a:p>
            <a:pPr lvl="2"/>
            <a:r>
              <a:rPr lang="fr-FR" dirty="0"/>
              <a:t>SUPJUG est l’un des appelants de CADI pour déclencher des analyses OCR.</a:t>
            </a:r>
          </a:p>
          <a:p>
            <a:pPr lvl="2"/>
            <a:r>
              <a:rPr lang="fr-FR" dirty="0"/>
              <a:t>SUPJUG utilise le motif de conformité retourné par l’analyse pour faire poursuivre le parcours ou demander un nouvel </a:t>
            </a:r>
            <a:r>
              <a:rPr lang="fr-FR" dirty="0" err="1"/>
              <a:t>upload</a:t>
            </a:r>
            <a:r>
              <a:rPr lang="fr-FR" dirty="0"/>
              <a:t> de document au client.</a:t>
            </a:r>
          </a:p>
          <a:p>
            <a:pPr lvl="2"/>
            <a:endParaRPr lang="fr-FR" dirty="0"/>
          </a:p>
          <a:p>
            <a:pPr lvl="1"/>
            <a:r>
              <a:rPr lang="fr-FR" dirty="0"/>
              <a:t>Tiers = Référentiels des clients</a:t>
            </a:r>
          </a:p>
          <a:p>
            <a:pPr lvl="2"/>
            <a:r>
              <a:rPr lang="fr-FR" dirty="0"/>
              <a:t>Utilisé lors des analyses pour récupérer les données du tiers (si l’identifiant a été transmis en entrée de l’appel). Permet d’effectuer les contrôles de cohérence entre ces données et les données lues par l’OCR.</a:t>
            </a:r>
          </a:p>
          <a:p>
            <a:pPr lvl="2"/>
            <a:r>
              <a:rPr lang="fr-FR" dirty="0"/>
              <a:t>Utilisé par l’intermédiaire de la base de validation pour mettre à jour les données des tiers suite à ce qui a été renseigné dans la LDD.</a:t>
            </a:r>
          </a:p>
          <a:p>
            <a:pPr lvl="2"/>
            <a:endParaRPr lang="fr-FR" dirty="0"/>
          </a:p>
          <a:p>
            <a:pPr lvl="1"/>
            <a:r>
              <a:rPr lang="fr-FR" dirty="0"/>
              <a:t>TRTA = Traitement Action</a:t>
            </a:r>
          </a:p>
          <a:p>
            <a:pPr lvl="2"/>
            <a:r>
              <a:rPr lang="fr-FR" dirty="0"/>
              <a:t>Regroupe l’ensemble des actions à réaliser par un conseiller.</a:t>
            </a:r>
          </a:p>
          <a:p>
            <a:pPr lvl="2"/>
            <a:r>
              <a:rPr lang="fr-FR" dirty="0"/>
              <a:t>Permet d’accéder aux LDD en attente d’analyse.</a:t>
            </a:r>
          </a:p>
          <a:p>
            <a:pPr lvl="2"/>
            <a:endParaRPr lang="fr-FR" dirty="0"/>
          </a:p>
          <a:p>
            <a:pPr lvl="1"/>
            <a:r>
              <a:rPr lang="fr-FR" dirty="0"/>
              <a:t>FRD2 = Référentiel des alertes fraudes</a:t>
            </a:r>
          </a:p>
          <a:p>
            <a:pPr lvl="2"/>
            <a:r>
              <a:rPr lang="fr-FR" dirty="0"/>
              <a:t>Cette application recense toutes alertes de suspicion de fraude dans tous les </a:t>
            </a:r>
            <a:r>
              <a:rPr lang="fr-FR" dirty="0" err="1"/>
              <a:t>process</a:t>
            </a:r>
            <a:r>
              <a:rPr lang="fr-FR" dirty="0"/>
              <a:t> EI.</a:t>
            </a:r>
          </a:p>
          <a:p>
            <a:pPr lvl="2"/>
            <a:r>
              <a:rPr lang="fr-FR" dirty="0"/>
              <a:t>Pour CADI c’est au niveau de la LDD que des alertes peuvent être positionnées si le motif « Fraude » est saisi par le conseiller d’acceptation</a:t>
            </a:r>
          </a:p>
          <a:p>
            <a:pPr lvl="2"/>
            <a:endParaRPr lang="fr-FR" dirty="0"/>
          </a:p>
          <a:p>
            <a:pPr lvl="2"/>
            <a:endParaRPr lang="fr-FR" dirty="0"/>
          </a:p>
          <a:p>
            <a:pPr lvl="1"/>
            <a:endParaRPr lang="fr-FR" dirty="0"/>
          </a:p>
          <a:p>
            <a:pPr lvl="1"/>
            <a:endParaRPr lang="fr-FR" dirty="0"/>
          </a:p>
          <a:p>
            <a:pPr lvl="1"/>
            <a:endParaRPr lang="fr-FR" dirty="0"/>
          </a:p>
          <a:p>
            <a:pPr lvl="1"/>
            <a:endParaRPr lang="fr-FR" dirty="0"/>
          </a:p>
          <a:p>
            <a:pPr lvl="1"/>
            <a:endParaRPr lang="fr-FR" dirty="0"/>
          </a:p>
          <a:p>
            <a:pPr lvl="1"/>
            <a:endParaRPr lang="fr-FR" dirty="0"/>
          </a:p>
          <a:p>
            <a:pPr lvl="1"/>
            <a:endParaRPr lang="fr-FR" dirty="0"/>
          </a:p>
          <a:p>
            <a:pPr marL="982662" lvl="3" indent="0">
              <a:buNone/>
            </a:pPr>
            <a:endParaRPr lang="fr-FR" dirty="0"/>
          </a:p>
          <a:p>
            <a:pPr lvl="2"/>
            <a:endParaRPr lang="fr-FR" dirty="0"/>
          </a:p>
          <a:p>
            <a:pPr lvl="3"/>
            <a:endParaRPr lang="fr-FR" dirty="0"/>
          </a:p>
          <a:p>
            <a:pPr lvl="3"/>
            <a:endParaRPr lang="fr-FR" dirty="0"/>
          </a:p>
        </p:txBody>
      </p:sp>
      <p:sp>
        <p:nvSpPr>
          <p:cNvPr id="6" name="Espace réservé du texte 5"/>
          <p:cNvSpPr>
            <a:spLocks noGrp="1"/>
          </p:cNvSpPr>
          <p:nvPr>
            <p:ph type="body" sz="quarter" idx="14"/>
          </p:nvPr>
        </p:nvSpPr>
        <p:spPr>
          <a:xfrm>
            <a:off x="1672755" y="1642533"/>
            <a:ext cx="22063075" cy="705913"/>
          </a:xfrm>
        </p:spPr>
        <p:txBody>
          <a:bodyPr/>
          <a:lstStyle/>
          <a:p>
            <a:r>
              <a:rPr lang="fr-FR" dirty="0"/>
              <a:t>Les applications autour de CADI</a:t>
            </a:r>
          </a:p>
        </p:txBody>
      </p:sp>
      <p:pic>
        <p:nvPicPr>
          <p:cNvPr id="10" name="Image 9"/>
          <p:cNvPicPr>
            <a:picLocks noChangeAspect="1"/>
          </p:cNvPicPr>
          <p:nvPr/>
        </p:nvPicPr>
        <p:blipFill>
          <a:blip r:embed="rId3"/>
          <a:stretch>
            <a:fillRect/>
          </a:stretch>
        </p:blipFill>
        <p:spPr>
          <a:xfrm>
            <a:off x="16924535" y="1995489"/>
            <a:ext cx="7057118" cy="3127778"/>
          </a:xfrm>
          <a:prstGeom prst="rect">
            <a:avLst/>
          </a:prstGeom>
        </p:spPr>
      </p:pic>
      <p:pic>
        <p:nvPicPr>
          <p:cNvPr id="9" name="Image 8"/>
          <p:cNvPicPr>
            <a:picLocks noChangeAspect="1"/>
          </p:cNvPicPr>
          <p:nvPr/>
        </p:nvPicPr>
        <p:blipFill>
          <a:blip r:embed="rId4"/>
          <a:stretch>
            <a:fillRect/>
          </a:stretch>
        </p:blipFill>
        <p:spPr>
          <a:xfrm>
            <a:off x="21926492" y="396711"/>
            <a:ext cx="1744053" cy="1514637"/>
          </a:xfrm>
          <a:prstGeom prst="rect">
            <a:avLst/>
          </a:prstGeom>
        </p:spPr>
      </p:pic>
      <p:sp>
        <p:nvSpPr>
          <p:cNvPr id="11" name="ZoneTexte 10">
            <a:extLst>
              <a:ext uri="{FF2B5EF4-FFF2-40B4-BE49-F238E27FC236}">
                <a16:creationId xmlns:a16="http://schemas.microsoft.com/office/drawing/2014/main" id="{F60CE915-E5C1-46C2-8B26-298AAF3779EB}"/>
              </a:ext>
            </a:extLst>
          </p:cNvPr>
          <p:cNvSpPr txBox="1"/>
          <p:nvPr/>
        </p:nvSpPr>
        <p:spPr>
          <a:xfrm>
            <a:off x="8281245" y="12570478"/>
            <a:ext cx="15835172" cy="400110"/>
          </a:xfrm>
          <a:prstGeom prst="rect">
            <a:avLst/>
          </a:prstGeom>
          <a:noFill/>
        </p:spPr>
        <p:txBody>
          <a:bodyPr wrap="square" rtlCol="0">
            <a:spAutoFit/>
          </a:bodyPr>
          <a:lstStyle/>
          <a:p>
            <a:r>
              <a:rPr lang="fr-FR" sz="2000" dirty="0">
                <a:solidFill>
                  <a:srgbClr val="0C4392"/>
                </a:solidFill>
                <a:latin typeface="Segoe UI" panose="020B0502040204020203" pitchFamily="34" charset="0"/>
                <a:cs typeface="Segoe UI" panose="020B0502040204020203" pitchFamily="34" charset="0"/>
              </a:rPr>
              <a:t>https://moss-si.cm-cic.fr/Sites/D00116/Documentation/_layouts/15/DocIdRedir.aspx?ID=PJQFUVHKSAJQ-1373287592-186912</a:t>
            </a:r>
          </a:p>
        </p:txBody>
      </p:sp>
    </p:spTree>
    <p:extLst>
      <p:ext uri="{BB962C8B-B14F-4D97-AF65-F5344CB8AC3E}">
        <p14:creationId xmlns:p14="http://schemas.microsoft.com/office/powerpoint/2010/main" val="831158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ctrTitle"/>
          </p:nvPr>
        </p:nvSpPr>
        <p:spPr/>
        <p:txBody>
          <a:bodyPr/>
          <a:lstStyle/>
          <a:p>
            <a:r>
              <a:rPr lang="fr-FR" dirty="0"/>
              <a:t>Merci.</a:t>
            </a:r>
          </a:p>
        </p:txBody>
      </p:sp>
    </p:spTree>
    <p:extLst>
      <p:ext uri="{BB962C8B-B14F-4D97-AF65-F5344CB8AC3E}">
        <p14:creationId xmlns:p14="http://schemas.microsoft.com/office/powerpoint/2010/main" val="1080970537"/>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Sommaire</a:t>
            </a:r>
          </a:p>
        </p:txBody>
      </p:sp>
      <p:sp>
        <p:nvSpPr>
          <p:cNvPr id="4" name="Text Placeholder 3"/>
          <p:cNvSpPr>
            <a:spLocks noGrp="1"/>
          </p:cNvSpPr>
          <p:nvPr>
            <p:ph type="body" idx="14" sz="quarter"/>
          </p:nvPr>
        </p:nvSpPr>
        <p:spPr/>
        <p:txBody>
          <a:bodyPr/>
          <a:lstStyle/>
          <a:p>
            <a:r>
              <a:t>Fusion du support d’atelier (v0.6) et de la synthèse des entretiens REs</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834640"/>
            <a:ext cx="13350240" cy="16002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Oval 45"/>
          <p:cNvSpPr/>
          <p:nvPr/>
        </p:nvSpPr>
        <p:spPr>
          <a:xfrm>
            <a:off x="2057400" y="3246120"/>
            <a:ext cx="777240" cy="77724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400" b="1" i="0">
                <a:solidFill>
                  <a:srgbClr val="FFFFFF"/>
                </a:solidFill>
                <a:latin typeface="Segoe UI"/>
              </a:rPr>
              <a:t>01</a:t>
            </a:r>
          </a:p>
        </p:txBody>
      </p:sp>
      <p:sp>
        <p:nvSpPr>
          <p:cNvPr id="47" name="TextBox 46"/>
          <p:cNvSpPr txBox="1"/>
          <p:nvPr/>
        </p:nvSpPr>
        <p:spPr>
          <a:xfrm>
            <a:off x="3200400" y="3063240"/>
            <a:ext cx="11521440" cy="1188720"/>
          </a:xfrm>
          <a:prstGeom prst="rect">
            <a:avLst/>
          </a:prstGeom>
          <a:noFill/>
        </p:spPr>
        <p:txBody>
          <a:bodyPr wrap="square" lIns="45720" rIns="45720" anchor="ctr">
            <a:noAutofit/>
          </a:bodyPr>
          <a:lstStyle/>
          <a:p>
            <a:pPr algn="l">
              <a:spcAft>
                <a:spcPts val="200"/>
              </a:spcAft>
              <a:buNone/>
            </a:pPr>
            <a:r>
              <a:rPr sz="2900" b="1" i="0">
                <a:solidFill>
                  <a:srgbClr val="002060"/>
                </a:solidFill>
                <a:latin typeface="Segoe UI"/>
              </a:rPr>
              <a:t>Contexte et analyse des drafts</a:t>
            </a:r>
          </a:p>
          <a:p>
            <a:pPr algn="l">
              <a:spcAft>
                <a:spcPts val="400"/>
              </a:spcAft>
              <a:buNone/>
            </a:pPr>
            <a:r>
              <a:rPr sz="2200" b="0" i="0">
                <a:solidFill>
                  <a:srgbClr val="7F7F7F"/>
                </a:solidFill>
                <a:latin typeface="Segoe UI"/>
              </a:rPr>
              <a:t>Pourquoi documenter, limites de ROBIN, analyse croisée des deux supports</a:t>
            </a:r>
          </a:p>
        </p:txBody>
      </p:sp>
      <p:sp>
        <p:nvSpPr>
          <p:cNvPr id="48" name="Rounded Rectangle 47"/>
          <p:cNvSpPr/>
          <p:nvPr/>
        </p:nvSpPr>
        <p:spPr>
          <a:xfrm>
            <a:off x="1673352" y="4709160"/>
            <a:ext cx="13350240" cy="16002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9" name="Oval 48"/>
          <p:cNvSpPr/>
          <p:nvPr/>
        </p:nvSpPr>
        <p:spPr>
          <a:xfrm>
            <a:off x="2057400" y="5120640"/>
            <a:ext cx="777240" cy="77724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400" b="1" i="0">
                <a:solidFill>
                  <a:srgbClr val="FFFFFF"/>
                </a:solidFill>
                <a:latin typeface="Segoe UI"/>
              </a:rPr>
              <a:t>02</a:t>
            </a:r>
          </a:p>
        </p:txBody>
      </p:sp>
      <p:sp>
        <p:nvSpPr>
          <p:cNvPr id="50" name="TextBox 49"/>
          <p:cNvSpPr txBox="1"/>
          <p:nvPr/>
        </p:nvSpPr>
        <p:spPr>
          <a:xfrm>
            <a:off x="3200400" y="4937760"/>
            <a:ext cx="11521440" cy="1188720"/>
          </a:xfrm>
          <a:prstGeom prst="rect">
            <a:avLst/>
          </a:prstGeom>
          <a:noFill/>
        </p:spPr>
        <p:txBody>
          <a:bodyPr wrap="square" lIns="45720" rIns="45720" anchor="ctr">
            <a:noAutofit/>
          </a:bodyPr>
          <a:lstStyle/>
          <a:p>
            <a:pPr algn="l">
              <a:spcAft>
                <a:spcPts val="200"/>
              </a:spcAft>
              <a:buNone/>
            </a:pPr>
            <a:r>
              <a:rPr sz="2900" b="1" i="0">
                <a:solidFill>
                  <a:srgbClr val="002060"/>
                </a:solidFill>
                <a:latin typeface="Segoe UI"/>
              </a:rPr>
              <a:t>Besoins exprimés</a:t>
            </a:r>
          </a:p>
          <a:p>
            <a:pPr algn="l">
              <a:spcAft>
                <a:spcPts val="400"/>
              </a:spcAft>
              <a:buNone/>
            </a:pPr>
            <a:r>
              <a:rPr sz="2200" b="0" i="0">
                <a:solidFill>
                  <a:srgbClr val="7F7F7F"/>
                </a:solidFill>
                <a:latin typeface="Segoe UI"/>
              </a:rPr>
              <a:t>Cas d’usage, informations à rendre visibles, consensus et points à arbitrer</a:t>
            </a:r>
          </a:p>
        </p:txBody>
      </p:sp>
      <p:sp>
        <p:nvSpPr>
          <p:cNvPr id="51" name="Rounded Rectangle 50"/>
          <p:cNvSpPr/>
          <p:nvPr/>
        </p:nvSpPr>
        <p:spPr>
          <a:xfrm>
            <a:off x="1673352" y="6583680"/>
            <a:ext cx="13350240" cy="16002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2" name="Oval 51"/>
          <p:cNvSpPr/>
          <p:nvPr/>
        </p:nvSpPr>
        <p:spPr>
          <a:xfrm>
            <a:off x="2057400" y="6995160"/>
            <a:ext cx="777240" cy="77724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400" b="1" i="0">
                <a:solidFill>
                  <a:srgbClr val="FFFFFF"/>
                </a:solidFill>
                <a:latin typeface="Segoe UI"/>
              </a:rPr>
              <a:t>03</a:t>
            </a:r>
          </a:p>
        </p:txBody>
      </p:sp>
      <p:sp>
        <p:nvSpPr>
          <p:cNvPr id="53" name="TextBox 52"/>
          <p:cNvSpPr txBox="1"/>
          <p:nvPr/>
        </p:nvSpPr>
        <p:spPr>
          <a:xfrm>
            <a:off x="3200400" y="6812280"/>
            <a:ext cx="11521440" cy="1188720"/>
          </a:xfrm>
          <a:prstGeom prst="rect">
            <a:avLst/>
          </a:prstGeom>
          <a:noFill/>
        </p:spPr>
        <p:txBody>
          <a:bodyPr wrap="square" lIns="45720" rIns="45720" anchor="ctr">
            <a:noAutofit/>
          </a:bodyPr>
          <a:lstStyle/>
          <a:p>
            <a:pPr algn="l">
              <a:spcAft>
                <a:spcPts val="200"/>
              </a:spcAft>
              <a:buNone/>
            </a:pPr>
            <a:r>
              <a:rPr sz="2900" b="1" i="0">
                <a:solidFill>
                  <a:srgbClr val="002060"/>
                </a:solidFill>
                <a:latin typeface="Segoe UI"/>
              </a:rPr>
              <a:t>Dispositif cible</a:t>
            </a:r>
          </a:p>
          <a:p>
            <a:pPr algn="l">
              <a:spcAft>
                <a:spcPts val="400"/>
              </a:spcAft>
              <a:buNone/>
            </a:pPr>
            <a:r>
              <a:rPr sz="2200" b="0" i="0">
                <a:solidFill>
                  <a:srgbClr val="7F7F7F"/>
                </a:solidFill>
                <a:latin typeface="Segoe UI"/>
              </a:rPr>
              <a:t>Modèle unifié, vue statique, vue dynamique, vue technique, règles communes</a:t>
            </a:r>
          </a:p>
        </p:txBody>
      </p:sp>
      <p:sp>
        <p:nvSpPr>
          <p:cNvPr id="54" name="Rounded Rectangle 53"/>
          <p:cNvSpPr/>
          <p:nvPr/>
        </p:nvSpPr>
        <p:spPr>
          <a:xfrm>
            <a:off x="1673352" y="8458200"/>
            <a:ext cx="13350240" cy="16002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5" name="Oval 54"/>
          <p:cNvSpPr/>
          <p:nvPr/>
        </p:nvSpPr>
        <p:spPr>
          <a:xfrm>
            <a:off x="2057400" y="8869680"/>
            <a:ext cx="777240" cy="77724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400" b="1" i="0">
                <a:solidFill>
                  <a:srgbClr val="FFFFFF"/>
                </a:solidFill>
                <a:latin typeface="Segoe UI"/>
              </a:rPr>
              <a:t>04</a:t>
            </a:r>
          </a:p>
        </p:txBody>
      </p:sp>
      <p:sp>
        <p:nvSpPr>
          <p:cNvPr id="56" name="TextBox 55"/>
          <p:cNvSpPr txBox="1"/>
          <p:nvPr/>
        </p:nvSpPr>
        <p:spPr>
          <a:xfrm>
            <a:off x="3200400" y="8686800"/>
            <a:ext cx="11521440" cy="1188720"/>
          </a:xfrm>
          <a:prstGeom prst="rect">
            <a:avLst/>
          </a:prstGeom>
          <a:noFill/>
        </p:spPr>
        <p:txBody>
          <a:bodyPr wrap="square" lIns="45720" rIns="45720" anchor="ctr">
            <a:noAutofit/>
          </a:bodyPr>
          <a:lstStyle/>
          <a:p>
            <a:pPr algn="l">
              <a:spcAft>
                <a:spcPts val="200"/>
              </a:spcAft>
              <a:buNone/>
            </a:pPr>
            <a:r>
              <a:rPr sz="2900" b="1" i="0">
                <a:solidFill>
                  <a:srgbClr val="002060"/>
                </a:solidFill>
                <a:latin typeface="Segoe UI"/>
              </a:rPr>
              <a:t>Gouvernance et trajectoire</a:t>
            </a:r>
          </a:p>
          <a:p>
            <a:pPr algn="l">
              <a:spcAft>
                <a:spcPts val="400"/>
              </a:spcAft>
              <a:buNone/>
            </a:pPr>
            <a:r>
              <a:rPr sz="2200" b="0" i="0">
                <a:solidFill>
                  <a:srgbClr val="7F7F7F"/>
                </a:solidFill>
                <a:latin typeface="Segoe UI"/>
              </a:rPr>
              <a:t>Référents, RACI, cycle de mise à jour, feuille de route, vigilances</a:t>
            </a:r>
          </a:p>
        </p:txBody>
      </p:sp>
      <p:sp>
        <p:nvSpPr>
          <p:cNvPr id="57" name="Rounded Rectangle 56"/>
          <p:cNvSpPr/>
          <p:nvPr/>
        </p:nvSpPr>
        <p:spPr>
          <a:xfrm>
            <a:off x="1673352" y="10332720"/>
            <a:ext cx="13350240" cy="16002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8" name="Oval 57"/>
          <p:cNvSpPr/>
          <p:nvPr/>
        </p:nvSpPr>
        <p:spPr>
          <a:xfrm>
            <a:off x="2057400" y="10744200"/>
            <a:ext cx="777240" cy="777240"/>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400" b="1" i="0">
                <a:solidFill>
                  <a:srgbClr val="FFFFFF"/>
                </a:solidFill>
                <a:latin typeface="Segoe UI"/>
              </a:rPr>
              <a:t>A</a:t>
            </a:r>
          </a:p>
        </p:txBody>
      </p:sp>
      <p:sp>
        <p:nvSpPr>
          <p:cNvPr id="59" name="TextBox 58"/>
          <p:cNvSpPr txBox="1"/>
          <p:nvPr/>
        </p:nvSpPr>
        <p:spPr>
          <a:xfrm>
            <a:off x="3200400" y="10561320"/>
            <a:ext cx="11521440" cy="1188720"/>
          </a:xfrm>
          <a:prstGeom prst="rect">
            <a:avLst/>
          </a:prstGeom>
          <a:noFill/>
        </p:spPr>
        <p:txBody>
          <a:bodyPr wrap="square" lIns="45720" rIns="45720" anchor="ctr">
            <a:noAutofit/>
          </a:bodyPr>
          <a:lstStyle/>
          <a:p>
            <a:pPr algn="l">
              <a:spcAft>
                <a:spcPts val="200"/>
              </a:spcAft>
              <a:buNone/>
            </a:pPr>
            <a:r>
              <a:rPr sz="2900" b="1" i="0">
                <a:solidFill>
                  <a:srgbClr val="002060"/>
                </a:solidFill>
                <a:latin typeface="Segoe UI"/>
              </a:rPr>
              <a:t>Annexes</a:t>
            </a:r>
          </a:p>
          <a:p>
            <a:pPr algn="l">
              <a:spcAft>
                <a:spcPts val="400"/>
              </a:spcAft>
              <a:buNone/>
            </a:pPr>
            <a:r>
              <a:rPr sz="2200" b="0" i="0">
                <a:solidFill>
                  <a:srgbClr val="7F7F7F"/>
                </a:solidFill>
                <a:latin typeface="Segoe UI"/>
              </a:rPr>
              <a:t>Corrections apportées, template onepager, exemple CADI</a:t>
            </a:r>
          </a:p>
        </p:txBody>
      </p:sp>
      <p:sp>
        <p:nvSpPr>
          <p:cNvPr id="60" name="Rounded Rectangle 59"/>
          <p:cNvSpPr/>
          <p:nvPr/>
        </p:nvSpPr>
        <p:spPr>
          <a:xfrm>
            <a:off x="15636240" y="2834640"/>
            <a:ext cx="8074152" cy="9144000"/>
          </a:xfrm>
          <a:prstGeom prst="roundRect">
            <a:avLst>
              <a:gd name="adj" fmla="val 4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61" name="Picture 60" descr="s6_Image_4.png"/>
          <p:cNvPicPr>
            <a:picLocks noChangeAspect="1"/>
          </p:cNvPicPr>
          <p:nvPr/>
        </p:nvPicPr>
        <p:blipFill>
          <a:blip r:embed="rId2"/>
          <a:stretch>
            <a:fillRect/>
          </a:stretch>
        </p:blipFill>
        <p:spPr>
          <a:xfrm>
            <a:off x="16093440" y="3291840"/>
            <a:ext cx="868680" cy="595955"/>
          </a:xfrm>
          <a:prstGeom prst="rect">
            <a:avLst/>
          </a:prstGeom>
        </p:spPr>
      </p:pic>
      <p:sp>
        <p:nvSpPr>
          <p:cNvPr id="62" name="TextBox 61"/>
          <p:cNvSpPr txBox="1"/>
          <p:nvPr/>
        </p:nvSpPr>
        <p:spPr>
          <a:xfrm>
            <a:off x="17145000" y="3246120"/>
            <a:ext cx="6309360" cy="731520"/>
          </a:xfrm>
          <a:prstGeom prst="rect">
            <a:avLst/>
          </a:prstGeom>
          <a:noFill/>
        </p:spPr>
        <p:txBody>
          <a:bodyPr wrap="square" lIns="45720" rIns="45720" anchor="ctr">
            <a:noAutofit/>
          </a:bodyPr>
          <a:lstStyle/>
          <a:p>
            <a:pPr algn="l">
              <a:spcAft>
                <a:spcPts val="400"/>
              </a:spcAft>
              <a:buNone/>
            </a:pPr>
            <a:r>
              <a:rPr sz="2900" b="1" i="0">
                <a:solidFill>
                  <a:srgbClr val="FFFFFF"/>
                </a:solidFill>
                <a:latin typeface="Segoe UI"/>
              </a:rPr>
              <a:t>Objet du document</a:t>
            </a:r>
          </a:p>
        </p:txBody>
      </p:sp>
      <p:sp>
        <p:nvSpPr>
          <p:cNvPr id="63" name="TextBox 62"/>
          <p:cNvSpPr txBox="1"/>
          <p:nvPr/>
        </p:nvSpPr>
        <p:spPr>
          <a:xfrm>
            <a:off x="16093440" y="4389120"/>
            <a:ext cx="7223760" cy="7406640"/>
          </a:xfrm>
          <a:prstGeom prst="rect">
            <a:avLst/>
          </a:prstGeom>
          <a:noFill/>
        </p:spPr>
        <p:txBody>
          <a:bodyPr wrap="square" lIns="45720" rIns="45720" anchor="t">
            <a:noAutofit/>
          </a:bodyPr>
          <a:lstStyle/>
          <a:p>
            <a:pPr algn="l">
              <a:spcAft>
                <a:spcPts val="800"/>
              </a:spcAft>
              <a:buNone/>
            </a:pPr>
            <a:r>
              <a:rPr sz="2200" b="0" i="0">
                <a:solidFill>
                  <a:srgbClr val="FFFFFF"/>
                </a:solidFill>
                <a:latin typeface="Segoe UI"/>
              </a:rPr>
              <a:t>Ce document fusionne deux drafts de travail :</a:t>
            </a:r>
          </a:p>
          <a:p>
            <a:pPr algn="l" marL="292608" indent="-256032">
              <a:spcAft>
                <a:spcPts val="600"/>
              </a:spcAft>
              <a:buClr>
                <a:srgbClr val="E06206"/>
              </a:buClr>
              <a:buFont typeface="Arial"/>
              <a:buChar char="•"/>
            </a:pPr>
            <a:r>
              <a:rPr sz="2200" b="1" i="0">
                <a:solidFill>
                  <a:srgbClr val="F4B183"/>
                </a:solidFill>
                <a:latin typeface="Segoe UI"/>
              </a:rPr>
              <a:t>Doc 1 — </a:t>
            </a:r>
            <a:r>
              <a:rPr sz="2200" b="0" i="0">
                <a:solidFill>
                  <a:srgbClr val="FFFFFF"/>
                </a:solidFill>
                <a:latin typeface="Segoe UI"/>
              </a:rPr>
              <a:t>support d’atelier « Architecture OCRF », v0.6 du 31/08/2026</a:t>
            </a:r>
          </a:p>
          <a:p>
            <a:pPr algn="l" marL="292608" indent="-256032">
              <a:spcAft>
                <a:spcPts val="1400"/>
              </a:spcAft>
              <a:buClr>
                <a:srgbClr val="E06206"/>
              </a:buClr>
              <a:buFont typeface="Arial"/>
              <a:buChar char="•"/>
            </a:pPr>
            <a:r>
              <a:rPr sz="2200" b="1" i="0">
                <a:solidFill>
                  <a:srgbClr val="F4B183"/>
                </a:solidFill>
                <a:latin typeface="Segoe UI"/>
              </a:rPr>
              <a:t>Doc 2 — </a:t>
            </a:r>
            <a:r>
              <a:rPr sz="2200" b="0" i="0">
                <a:solidFill>
                  <a:srgbClr val="FFFFFF"/>
                </a:solidFill>
                <a:latin typeface="Segoe UI"/>
              </a:rPr>
              <a:t>cadrage des besoins niveaux 2 et 3, synthèse des entretiens REs, 08/2026</a:t>
            </a:r>
          </a:p>
          <a:p>
            <a:pPr algn="l">
              <a:spcAft>
                <a:spcPts val="1400"/>
              </a:spcAft>
              <a:buNone/>
            </a:pPr>
            <a:r>
              <a:rPr sz="2200" b="0" i="0">
                <a:solidFill>
                  <a:srgbClr val="FFFFFF"/>
                </a:solidFill>
                <a:latin typeface="Segoe UI"/>
              </a:rPr>
              <a:t>Il consolide les constats, lève les incohérences entre les deux supports et formule des propositions d’amélioration.</a:t>
            </a:r>
          </a:p>
          <a:p>
            <a:pPr algn="l">
              <a:spcAft>
                <a:spcPts val="400"/>
              </a:spcAft>
              <a:buNone/>
            </a:pPr>
            <a:r>
              <a:rPr sz="2200" b="0" i="0">
                <a:solidFill>
                  <a:srgbClr val="FFFFFF"/>
                </a:solidFill>
                <a:latin typeface="Segoe UI"/>
              </a:rPr>
              <a:t>Les propositions sont signalées par le repère orange :</a:t>
            </a:r>
          </a:p>
        </p:txBody>
      </p:sp>
      <p:sp>
        <p:nvSpPr>
          <p:cNvPr id="64" name="Rounded Rectangle 63"/>
          <p:cNvSpPr/>
          <p:nvPr/>
        </p:nvSpPr>
        <p:spPr>
          <a:xfrm>
            <a:off x="16139159" y="8778240"/>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sp>
        <p:nvSpPr>
          <p:cNvPr id="65" name="Rounded Rectangle 64"/>
          <p:cNvSpPr/>
          <p:nvPr/>
        </p:nvSpPr>
        <p:spPr>
          <a:xfrm>
            <a:off x="16093440" y="9692640"/>
            <a:ext cx="7223760" cy="1920240"/>
          </a:xfrm>
          <a:prstGeom prst="roundRect">
            <a:avLst>
              <a:gd name="adj" fmla="val 8000"/>
            </a:avLst>
          </a:prstGeom>
          <a:solidFill>
            <a:srgbClr val="173456"/>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tIns="228600" bIns="228600" wrap="square">
            <a:noAutofit/>
          </a:bodyPr>
          <a:lstStyle/>
          <a:p>
            <a:pPr algn="l">
              <a:spcAft>
                <a:spcPts val="400"/>
              </a:spcAft>
              <a:buNone/>
            </a:pPr>
            <a:r>
              <a:rPr sz="2000" b="1" i="0">
                <a:solidFill>
                  <a:srgbClr val="F4B183"/>
                </a:solidFill>
                <a:latin typeface="Segoe UI"/>
              </a:rPr>
              <a:t>Statut : </a:t>
            </a:r>
            <a:r>
              <a:rPr sz="2000" b="0" i="0">
                <a:solidFill>
                  <a:srgbClr val="FFFFFF"/>
                </a:solidFill>
                <a:latin typeface="Segoe UI"/>
              </a:rPr>
              <a:t>document de travail, à valider en réunion de synthèse avec les 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01  Contexte et analyse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Pourquoi ROBIN ne suffit pas</a:t>
            </a:r>
          </a:p>
        </p:txBody>
      </p:sp>
      <p:sp>
        <p:nvSpPr>
          <p:cNvPr id="4" name="Text Placeholder 3"/>
          <p:cNvSpPr>
            <a:spLocks noGrp="1"/>
          </p:cNvSpPr>
          <p:nvPr>
            <p:ph type="body" idx="14" sz="quarter"/>
          </p:nvPr>
        </p:nvSpPr>
        <p:spPr/>
        <p:txBody>
          <a:bodyPr/>
          <a:lstStyle/>
          <a:p>
            <a:r>
              <a:t>ROBIN est un référentiel de patrimoine, pas une description d’architecture</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834640"/>
            <a:ext cx="13624560" cy="292608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46" name="Picture 45" descr="s6_Image_12.png"/>
          <p:cNvPicPr>
            <a:picLocks noChangeAspect="1"/>
          </p:cNvPicPr>
          <p:nvPr/>
        </p:nvPicPr>
        <p:blipFill>
          <a:blip r:embed="rId2"/>
          <a:stretch>
            <a:fillRect/>
          </a:stretch>
        </p:blipFill>
        <p:spPr>
          <a:xfrm>
            <a:off x="2103120" y="3794760"/>
            <a:ext cx="1005840" cy="985922"/>
          </a:xfrm>
          <a:prstGeom prst="rect">
            <a:avLst/>
          </a:prstGeom>
        </p:spPr>
      </p:pic>
      <p:sp>
        <p:nvSpPr>
          <p:cNvPr id="47" name="TextBox 46"/>
          <p:cNvSpPr txBox="1"/>
          <p:nvPr/>
        </p:nvSpPr>
        <p:spPr>
          <a:xfrm>
            <a:off x="3566160" y="3108960"/>
            <a:ext cx="11430000" cy="2468880"/>
          </a:xfrm>
          <a:prstGeom prst="rect">
            <a:avLst/>
          </a:prstGeom>
          <a:noFill/>
        </p:spPr>
        <p:txBody>
          <a:bodyPr wrap="square" lIns="45720" rIns="45720" anchor="ctr">
            <a:noAutofit/>
          </a:bodyPr>
          <a:lstStyle/>
          <a:p>
            <a:pPr algn="l">
              <a:spcAft>
                <a:spcPts val="600"/>
              </a:spcAft>
              <a:buNone/>
            </a:pPr>
            <a:r>
              <a:rPr sz="2600" b="1" i="0">
                <a:solidFill>
                  <a:srgbClr val="002060"/>
                </a:solidFill>
                <a:latin typeface="Segoe UI"/>
              </a:rPr>
              <a:t>Une granularité inadaptée</a:t>
            </a:r>
          </a:p>
          <a:p>
            <a:pPr algn="l">
              <a:spcAft>
                <a:spcPts val="400"/>
              </a:spcAft>
              <a:buNone/>
            </a:pPr>
            <a:r>
              <a:rPr sz="2200" b="0" i="0">
                <a:solidFill>
                  <a:srgbClr val="404040"/>
                </a:solidFill>
                <a:latin typeface="Segoe UI"/>
              </a:rPr>
              <a:t>Un même code ROBIN regroupe parfois plusieurs applications pour faciliter la gestion du patrimoine : le découpage fonctionnel n’y est pas porté. Revoir la granularité par domaine applicatif aurait trop d’impacts pour les équipes.</a:t>
            </a:r>
          </a:p>
        </p:txBody>
      </p:sp>
      <p:sp>
        <p:nvSpPr>
          <p:cNvPr id="48" name="Rounded Rectangle 47"/>
          <p:cNvSpPr/>
          <p:nvPr/>
        </p:nvSpPr>
        <p:spPr>
          <a:xfrm>
            <a:off x="1673352" y="5989320"/>
            <a:ext cx="13624560" cy="292608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49" name="Picture 48" descr="s6_Image_18.png"/>
          <p:cNvPicPr>
            <a:picLocks noChangeAspect="1"/>
          </p:cNvPicPr>
          <p:nvPr/>
        </p:nvPicPr>
        <p:blipFill>
          <a:blip r:embed="rId3"/>
          <a:stretch>
            <a:fillRect/>
          </a:stretch>
        </p:blipFill>
        <p:spPr>
          <a:xfrm>
            <a:off x="2103120" y="6949440"/>
            <a:ext cx="1005840" cy="938784"/>
          </a:xfrm>
          <a:prstGeom prst="rect">
            <a:avLst/>
          </a:prstGeom>
        </p:spPr>
      </p:pic>
      <p:sp>
        <p:nvSpPr>
          <p:cNvPr id="50" name="TextBox 49"/>
          <p:cNvSpPr txBox="1"/>
          <p:nvPr/>
        </p:nvSpPr>
        <p:spPr>
          <a:xfrm>
            <a:off x="3566160" y="6263640"/>
            <a:ext cx="11430000" cy="2468880"/>
          </a:xfrm>
          <a:prstGeom prst="rect">
            <a:avLst/>
          </a:prstGeom>
          <a:noFill/>
        </p:spPr>
        <p:txBody>
          <a:bodyPr wrap="square" lIns="45720" rIns="45720" anchor="ctr">
            <a:noAutofit/>
          </a:bodyPr>
          <a:lstStyle/>
          <a:p>
            <a:pPr algn="l">
              <a:spcAft>
                <a:spcPts val="600"/>
              </a:spcAft>
              <a:buNone/>
            </a:pPr>
            <a:r>
              <a:rPr sz="2600" b="1" i="0">
                <a:solidFill>
                  <a:srgbClr val="002060"/>
                </a:solidFill>
                <a:latin typeface="Segoe UI"/>
              </a:rPr>
              <a:t>Des dépendances partielles</a:t>
            </a:r>
          </a:p>
          <a:p>
            <a:pPr algn="l">
              <a:spcAft>
                <a:spcPts val="400"/>
              </a:spcAft>
              <a:buNone/>
            </a:pPr>
            <a:r>
              <a:rPr sz="2200" b="0" i="0">
                <a:solidFill>
                  <a:srgbClr val="404040"/>
                </a:solidFill>
                <a:latin typeface="Segoe UI"/>
              </a:rPr>
              <a:t>Seules remontent les dépendances ATEL et les accès directs aux bases. Cloud, flux fichiers, batchs et dépendances hors norme restent invisibles, et aucune dépendance ne peut être saisie manuellement.</a:t>
            </a:r>
          </a:p>
        </p:txBody>
      </p:sp>
      <p:sp>
        <p:nvSpPr>
          <p:cNvPr id="51" name="Rounded Rectangle 50"/>
          <p:cNvSpPr/>
          <p:nvPr/>
        </p:nvSpPr>
        <p:spPr>
          <a:xfrm>
            <a:off x="1673352" y="9144000"/>
            <a:ext cx="13624560" cy="292608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52" name="Picture 51" descr="s6_Image_54.png"/>
          <p:cNvPicPr>
            <a:picLocks noChangeAspect="1"/>
          </p:cNvPicPr>
          <p:nvPr/>
        </p:nvPicPr>
        <p:blipFill>
          <a:blip r:embed="rId4"/>
          <a:stretch>
            <a:fillRect/>
          </a:stretch>
        </p:blipFill>
        <p:spPr>
          <a:xfrm>
            <a:off x="2103120" y="10104120"/>
            <a:ext cx="1005840" cy="1005840"/>
          </a:xfrm>
          <a:prstGeom prst="rect">
            <a:avLst/>
          </a:prstGeom>
        </p:spPr>
      </p:pic>
      <p:sp>
        <p:nvSpPr>
          <p:cNvPr id="53" name="TextBox 52"/>
          <p:cNvSpPr txBox="1"/>
          <p:nvPr/>
        </p:nvSpPr>
        <p:spPr>
          <a:xfrm>
            <a:off x="3566160" y="9418320"/>
            <a:ext cx="11430000" cy="2468880"/>
          </a:xfrm>
          <a:prstGeom prst="rect">
            <a:avLst/>
          </a:prstGeom>
          <a:noFill/>
        </p:spPr>
        <p:txBody>
          <a:bodyPr wrap="square" lIns="45720" rIns="45720" anchor="ctr">
            <a:noAutofit/>
          </a:bodyPr>
          <a:lstStyle/>
          <a:p>
            <a:pPr algn="l">
              <a:spcAft>
                <a:spcPts val="600"/>
              </a:spcAft>
              <a:buNone/>
            </a:pPr>
            <a:r>
              <a:rPr sz="2600" b="1" i="0">
                <a:solidFill>
                  <a:srgbClr val="002060"/>
                </a:solidFill>
                <a:latin typeface="Segoe UI"/>
              </a:rPr>
              <a:t>Aucune norme groupe de modélisation</a:t>
            </a:r>
          </a:p>
          <a:p>
            <a:pPr algn="l">
              <a:spcAft>
                <a:spcPts val="400"/>
              </a:spcAft>
              <a:buNone/>
            </a:pPr>
            <a:r>
              <a:rPr sz="2200" b="0" i="0">
                <a:solidFill>
                  <a:srgbClr val="404040"/>
                </a:solidFill>
                <a:latin typeface="Segoe UI"/>
              </a:rPr>
              <a:t>Aucun outil ni formalisme n’est préconisé au niveau groupe (confirmé par l’i-archi du secteur H). Il revient à chaque équipe de maintenir son architecture pour gouverner son patrimoine.</a:t>
            </a:r>
          </a:p>
        </p:txBody>
      </p:sp>
      <p:sp>
        <p:nvSpPr>
          <p:cNvPr id="54" name="Rounded Rectangle 53"/>
          <p:cNvSpPr/>
          <p:nvPr/>
        </p:nvSpPr>
        <p:spPr>
          <a:xfrm>
            <a:off x="15819120" y="2834640"/>
            <a:ext cx="7891272" cy="9235440"/>
          </a:xfrm>
          <a:prstGeom prst="roundRect">
            <a:avLst>
              <a:gd name="adj" fmla="val 4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55" name="Picture 54" descr="s6_Image_10.png"/>
          <p:cNvPicPr>
            <a:picLocks noChangeAspect="1"/>
          </p:cNvPicPr>
          <p:nvPr/>
        </p:nvPicPr>
        <p:blipFill>
          <a:blip r:embed="rId5"/>
          <a:stretch>
            <a:fillRect/>
          </a:stretch>
        </p:blipFill>
        <p:spPr>
          <a:xfrm>
            <a:off x="16230600" y="3200400"/>
            <a:ext cx="822960" cy="822960"/>
          </a:xfrm>
          <a:prstGeom prst="rect">
            <a:avLst/>
          </a:prstGeom>
        </p:spPr>
      </p:pic>
      <p:sp>
        <p:nvSpPr>
          <p:cNvPr id="56" name="TextBox 55"/>
          <p:cNvSpPr txBox="1"/>
          <p:nvPr/>
        </p:nvSpPr>
        <p:spPr>
          <a:xfrm>
            <a:off x="17236440" y="3200400"/>
            <a:ext cx="6217920" cy="822960"/>
          </a:xfrm>
          <a:prstGeom prst="rect">
            <a:avLst/>
          </a:prstGeom>
          <a:noFill/>
        </p:spPr>
        <p:txBody>
          <a:bodyPr wrap="square" lIns="45720" rIns="45720" anchor="ctr">
            <a:noAutofit/>
          </a:bodyPr>
          <a:lstStyle/>
          <a:p>
            <a:pPr algn="l">
              <a:spcAft>
                <a:spcPts val="400"/>
              </a:spcAft>
              <a:buNone/>
            </a:pPr>
            <a:r>
              <a:rPr sz="2900" b="1" i="0">
                <a:solidFill>
                  <a:srgbClr val="FFFFFF"/>
                </a:solidFill>
                <a:latin typeface="Segoe UI"/>
              </a:rPr>
              <a:t>Conséquence</a:t>
            </a:r>
          </a:p>
        </p:txBody>
      </p:sp>
      <p:sp>
        <p:nvSpPr>
          <p:cNvPr id="57" name="TextBox 56"/>
          <p:cNvSpPr txBox="1"/>
          <p:nvPr/>
        </p:nvSpPr>
        <p:spPr>
          <a:xfrm>
            <a:off x="16230600" y="4297680"/>
            <a:ext cx="7132320" cy="4754880"/>
          </a:xfrm>
          <a:prstGeom prst="rect">
            <a:avLst/>
          </a:prstGeom>
          <a:noFill/>
        </p:spPr>
        <p:txBody>
          <a:bodyPr wrap="square" lIns="45720" rIns="45720" anchor="t">
            <a:noAutofit/>
          </a:bodyPr>
          <a:lstStyle/>
          <a:p>
            <a:pPr algn="l">
              <a:spcAft>
                <a:spcPts val="1000"/>
              </a:spcAft>
              <a:buNone/>
            </a:pPr>
            <a:r>
              <a:rPr sz="2200" b="1" i="0">
                <a:solidFill>
                  <a:srgbClr val="FFFFFF"/>
                </a:solidFill>
                <a:latin typeface="Segoe UI"/>
              </a:rPr>
              <a:t>La documentation d’architecture complète ROBIN sans le dupliquer :</a:t>
            </a:r>
          </a:p>
          <a:p>
            <a:pPr algn="l" marL="292608" indent="-256032">
              <a:spcAft>
                <a:spcPts val="600"/>
              </a:spcAft>
              <a:buClr>
                <a:srgbClr val="E06206"/>
              </a:buClr>
              <a:buFont typeface="Arial"/>
              <a:buChar char="•"/>
            </a:pPr>
            <a:r>
              <a:rPr sz="2200" b="0" i="0">
                <a:solidFill>
                  <a:srgbClr val="FFFFFF"/>
                </a:solidFill>
                <a:latin typeface="Segoe UI"/>
              </a:rPr>
              <a:t>ROBIN reste la source des codes applicatifs et des dépendances ATEL,</a:t>
            </a:r>
          </a:p>
          <a:p>
            <a:pPr algn="l" marL="292608" indent="-256032">
              <a:spcAft>
                <a:spcPts val="1200"/>
              </a:spcAft>
              <a:buClr>
                <a:srgbClr val="E06206"/>
              </a:buClr>
              <a:buFont typeface="Arial"/>
              <a:buChar char="•"/>
            </a:pPr>
            <a:r>
              <a:rPr sz="2200" b="0" i="0">
                <a:solidFill>
                  <a:srgbClr val="FFFFFF"/>
                </a:solidFill>
                <a:latin typeface="Segoe UI"/>
              </a:rPr>
              <a:t>la documentation OCR F porte le découpage fonctionnel, les interactions réelles et les usages.</a:t>
            </a:r>
          </a:p>
          <a:p>
            <a:pPr algn="l">
              <a:spcAft>
                <a:spcPts val="400"/>
              </a:spcAft>
              <a:buNone/>
            </a:pPr>
            <a:r>
              <a:rPr sz="2200" b="0" i="1">
                <a:solidFill>
                  <a:srgbClr val="BFC9D9"/>
                </a:solidFill>
                <a:latin typeface="Segoe UI"/>
              </a:rPr>
              <a:t>L’hypothèse « tout dans ROBIN + schémas générés par IA » est écartée à ce stade.</a:t>
            </a:r>
          </a:p>
        </p:txBody>
      </p:sp>
      <p:sp>
        <p:nvSpPr>
          <p:cNvPr id="58" name="Rounded Rectangle 57"/>
          <p:cNvSpPr/>
          <p:nvPr/>
        </p:nvSpPr>
        <p:spPr>
          <a:xfrm>
            <a:off x="16230600" y="9098280"/>
            <a:ext cx="708660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9" name="Rounded Rectangle 58"/>
          <p:cNvSpPr/>
          <p:nvPr/>
        </p:nvSpPr>
        <p:spPr>
          <a:xfrm>
            <a:off x="16459200" y="9281160"/>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sp>
        <p:nvSpPr>
          <p:cNvPr id="60" name="TextBox 59"/>
          <p:cNvSpPr txBox="1"/>
          <p:nvPr/>
        </p:nvSpPr>
        <p:spPr>
          <a:xfrm>
            <a:off x="16459200" y="9829800"/>
            <a:ext cx="6675120" cy="1828800"/>
          </a:xfrm>
          <a:prstGeom prst="rect">
            <a:avLst/>
          </a:prstGeom>
          <a:noFill/>
        </p:spPr>
        <p:txBody>
          <a:bodyPr wrap="square" lIns="45720" rIns="45720" anchor="t">
            <a:noAutofit/>
          </a:bodyPr>
          <a:lstStyle/>
          <a:p>
            <a:pPr algn="l">
              <a:spcAft>
                <a:spcPts val="400"/>
              </a:spcAft>
              <a:buNone/>
            </a:pPr>
            <a:r>
              <a:rPr sz="2000" b="0" i="0">
                <a:solidFill>
                  <a:srgbClr val="002060"/>
                </a:solidFill>
                <a:latin typeface="Segoe UI"/>
              </a:rPr>
              <a:t>Réévaluer la génération assistée par IA une fois les fiches et le catalogue de services structurés : ils en constituent la matière première.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Analyse croisée des deux drafts</a:t>
            </a:r>
          </a:p>
        </p:txBody>
      </p:sp>
      <p:sp>
        <p:nvSpPr>
          <p:cNvPr id="4" name="Text Placeholder 3"/>
          <p:cNvSpPr>
            <a:spLocks noGrp="1"/>
          </p:cNvSpPr>
          <p:nvPr>
            <p:ph type="body" idx="14" sz="quarter"/>
          </p:nvPr>
        </p:nvSpPr>
        <p:spPr/>
        <p:txBody>
          <a:bodyPr/>
          <a:lstStyle/>
          <a:p>
            <a:r>
              <a:t>Deux supports complémentaires, à consolider en un référentiel unique</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graphicFrame>
        <p:nvGraphicFramePr>
          <p:cNvPr id="45" name="Table 44"/>
          <p:cNvGraphicFramePr>
            <a:graphicFrameLocks noGrp="1"/>
          </p:cNvGraphicFramePr>
          <p:nvPr/>
        </p:nvGraphicFramePr>
        <p:xfrm>
          <a:off x="1673352" y="2788920"/>
          <a:ext cx="22037040" cy="9390888"/>
        </p:xfrm>
        <a:graphic>
          <a:graphicData uri="http://schemas.openxmlformats.org/drawingml/2006/table">
            <a:tbl>
              <a:tblPr firstRow="0" bandRow="0">
                <a:tableStyleId>{5940675A-B579-460E-94D1-54222C63F5DA}</a:tableStyleId>
              </a:tblPr>
              <a:tblGrid>
                <a:gridCol w="3291840"/>
                <a:gridCol w="5943600"/>
                <a:gridCol w="5943600"/>
                <a:gridCol w="6858000"/>
              </a:tblGrid>
              <a:tr h="685800">
                <a:tc>
                  <a:txBody>
                    <a:bodyPr wrap="square" anchor="ctr">
                      <a:noAutofit/>
                    </a:bodyPr>
                    <a:lstStyle/>
                    <a:p>
                      <a:pPr algn="l">
                        <a:spcAft>
                          <a:spcPts val="0"/>
                        </a:spcAft>
                        <a:buNone/>
                      </a:pPr>
                      <a:r>
                        <a:rPr sz="2200" b="1" i="0">
                          <a:solidFill>
                            <a:srgbClr val="FFFFFF"/>
                          </a:solidFill>
                          <a:latin typeface="Segoe UI"/>
                        </a:rPr>
                        <a:t>Thème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Doc 1 — Support d’atelier v0.6</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Doc 2 — Synthèse des entretiens REs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Constat et traitement dans la fusion</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r>
              <a:tr h="1088136">
                <a:tc>
                  <a:txBody>
                    <a:bodyPr wrap="square" anchor="ctr">
                      <a:noAutofit/>
                    </a:bodyPr>
                    <a:lstStyle/>
                    <a:p>
                      <a:pPr algn="l">
                        <a:spcAft>
                          <a:spcPts val="200"/>
                        </a:spcAft>
                        <a:buNone/>
                      </a:pPr>
                      <a:r>
                        <a:rPr sz="1900" b="1" i="0">
                          <a:solidFill>
                            <a:srgbClr val="002060"/>
                          </a:solidFill>
                          <a:latin typeface="Segoe UI"/>
                        </a:rPr>
                        <a:t>Cadre de référence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4 couches TOGAF : métier, fonctionnel, applicatif &amp; données, technique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4 niveaux N0 à N3 : chaîne de valeur, ROBIN, applications, services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Deux grilles non reliées → modèle unifié couches × niveaux</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088136">
                <a:tc>
                  <a:txBody>
                    <a:bodyPr wrap="square" anchor="ctr">
                      <a:noAutofit/>
                    </a:bodyPr>
                    <a:lstStyle/>
                    <a:p>
                      <a:pPr algn="l">
                        <a:spcAft>
                          <a:spcPts val="200"/>
                        </a:spcAft>
                        <a:buNone/>
                      </a:pPr>
                      <a:r>
                        <a:rPr sz="1900" b="1" i="0">
                          <a:solidFill>
                            <a:srgbClr val="002060"/>
                          </a:solidFill>
                          <a:latin typeface="Segoe UI"/>
                        </a:rPr>
                        <a:t>Usages et besoins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4 usages prioritaires, formulés de façon synthétique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4 cas d’usage détaillés, verbatims, besoins de visibilité</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Doc 2 retenu comme base, enrichi du lien usage → vue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088136">
                <a:tc>
                  <a:txBody>
                    <a:bodyPr wrap="square" anchor="ctr">
                      <a:noAutofit/>
                    </a:bodyPr>
                    <a:lstStyle/>
                    <a:p>
                      <a:pPr algn="l">
                        <a:spcAft>
                          <a:spcPts val="200"/>
                        </a:spcAft>
                        <a:buNone/>
                      </a:pPr>
                      <a:r>
                        <a:rPr sz="1900" b="1" i="0">
                          <a:solidFill>
                            <a:srgbClr val="002060"/>
                          </a:solidFill>
                          <a:latin typeface="Segoe UI"/>
                        </a:rPr>
                        <a:t>Vues attendues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Statique / dynamique, 3 strates de dépendances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Onepager et schéma des services ; vue technique en question</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Fusion des deux, ajout d’une vue technique légère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088136">
                <a:tc>
                  <a:txBody>
                    <a:bodyPr wrap="square" anchor="ctr">
                      <a:noAutofit/>
                    </a:bodyPr>
                    <a:lstStyle/>
                    <a:p>
                      <a:pPr algn="l">
                        <a:spcAft>
                          <a:spcPts val="200"/>
                        </a:spcAft>
                        <a:buNone/>
                      </a:pPr>
                      <a:r>
                        <a:rPr sz="1900" b="1" i="0">
                          <a:solidFill>
                            <a:srgbClr val="002060"/>
                          </a:solidFill>
                          <a:latin typeface="Segoe UI"/>
                        </a:rPr>
                        <a:t>Formalisme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Règles et canevas communs « indispensables »</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 Chaque équipe reste libre du niveau de détail, du format et des outils »</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1" i="0">
                          <a:solidFill>
                            <a:srgbClr val="E7473D"/>
                          </a:solidFill>
                          <a:latin typeface="Segoe UI"/>
                        </a:rPr>
                        <a:t>Contradiction</a:t>
                      </a:r>
                      <a:r>
                        <a:rPr sz="1900" b="0" i="0">
                          <a:solidFill>
                            <a:srgbClr val="404040"/>
                          </a:solidFill>
                          <a:latin typeface="Segoe UI"/>
                        </a:rPr>
                        <a:t> → socle commun obligatoire, liberté au-delà</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088136">
                <a:tc>
                  <a:txBody>
                    <a:bodyPr wrap="square" anchor="ctr">
                      <a:noAutofit/>
                    </a:bodyPr>
                    <a:lstStyle/>
                    <a:p>
                      <a:pPr algn="l">
                        <a:spcAft>
                          <a:spcPts val="200"/>
                        </a:spcAft>
                        <a:buNone/>
                      </a:pPr>
                      <a:r>
                        <a:rPr sz="1900" b="1" i="0">
                          <a:solidFill>
                            <a:srgbClr val="002060"/>
                          </a:solidFill>
                          <a:latin typeface="Segoe UI"/>
                        </a:rPr>
                        <a:t>Rôles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Référents par équipe : H550, H630, H620, H560</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Templates par Morad / Anna, mise en œuvre par les responsables de pôle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Consolidation dans un RACI</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088136">
                <a:tc>
                  <a:txBody>
                    <a:bodyPr wrap="square" anchor="ctr">
                      <a:noAutofit/>
                    </a:bodyPr>
                    <a:lstStyle/>
                    <a:p>
                      <a:pPr algn="l">
                        <a:spcAft>
                          <a:spcPts val="200"/>
                        </a:spcAft>
                        <a:buNone/>
                      </a:pPr>
                      <a:r>
                        <a:rPr sz="1900" b="1" i="0">
                          <a:solidFill>
                            <a:srgbClr val="002060"/>
                          </a:solidFill>
                          <a:latin typeface="Segoe UI"/>
                        </a:rPr>
                        <a:t>Maintenance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Déclencheurs : événement, jalon projet, revue périodique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Non traitée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Reprise et complétée par des indicateurs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088136">
                <a:tc>
                  <a:txBody>
                    <a:bodyPr wrap="square" anchor="ctr">
                      <a:noAutofit/>
                    </a:bodyPr>
                    <a:lstStyle/>
                    <a:p>
                      <a:pPr algn="l">
                        <a:spcAft>
                          <a:spcPts val="200"/>
                        </a:spcAft>
                        <a:buNone/>
                      </a:pPr>
                      <a:r>
                        <a:rPr sz="1900" b="1" i="0">
                          <a:solidFill>
                            <a:srgbClr val="002060"/>
                          </a:solidFill>
                          <a:latin typeface="Segoe UI"/>
                        </a:rPr>
                        <a:t>Trajectoire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Arbitrages listés, sans calendrier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Question « Quel délai ? » restée ouverte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Feuille de route par pilote proposée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088136">
                <a:tc>
                  <a:txBody>
                    <a:bodyPr wrap="square" anchor="ctr">
                      <a:noAutofit/>
                    </a:bodyPr>
                    <a:lstStyle/>
                    <a:p>
                      <a:pPr algn="l">
                        <a:spcAft>
                          <a:spcPts val="200"/>
                        </a:spcAft>
                        <a:buNone/>
                      </a:pPr>
                      <a:r>
                        <a:rPr sz="1900" b="1" i="0">
                          <a:solidFill>
                            <a:srgbClr val="002060"/>
                          </a:solidFill>
                          <a:latin typeface="Segoe UI"/>
                        </a:rPr>
                        <a:t>Qualité du support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Sommaire vide, pied de page « Nadia », slide dupliquée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Deux versions du onepager, slide sans titre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Corrections tracées en annexe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02  Besoins exprimés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Les cas d’usage de la documentation</a:t>
            </a:r>
          </a:p>
        </p:txBody>
      </p:sp>
      <p:sp>
        <p:nvSpPr>
          <p:cNvPr id="4" name="Text Placeholder 3"/>
          <p:cNvSpPr>
            <a:spLocks noGrp="1"/>
          </p:cNvSpPr>
          <p:nvPr>
            <p:ph type="body" idx="14" sz="quarter"/>
          </p:nvPr>
        </p:nvSpPr>
        <p:spPr/>
        <p:txBody>
          <a:bodyPr/>
          <a:lstStyle/>
          <a:p>
            <a:r>
              <a:t>Quatre usages partagés par les REs et confirmés en atelier</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743200"/>
            <a:ext cx="5303520" cy="96926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Round Same Side Corner Rectangle 45"/>
          <p:cNvSpPr/>
          <p:nvPr/>
        </p:nvSpPr>
        <p:spPr>
          <a:xfrm>
            <a:off x="1673352" y="2743200"/>
            <a:ext cx="5303520" cy="1600200"/>
          </a:xfrm>
          <a:prstGeom prst="round2SameRect">
            <a:avLst>
              <a:gd name="adj1" fmla="val 12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7" name="Oval 46"/>
          <p:cNvSpPr/>
          <p:nvPr/>
        </p:nvSpPr>
        <p:spPr>
          <a:xfrm>
            <a:off x="1947672" y="3200400"/>
            <a:ext cx="713232" cy="713232"/>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1</a:t>
            </a:r>
          </a:p>
        </p:txBody>
      </p:sp>
      <p:sp>
        <p:nvSpPr>
          <p:cNvPr id="48" name="TextBox 47"/>
          <p:cNvSpPr txBox="1"/>
          <p:nvPr/>
        </p:nvSpPr>
        <p:spPr>
          <a:xfrm>
            <a:off x="2816352" y="2834640"/>
            <a:ext cx="3977639" cy="1417320"/>
          </a:xfrm>
          <a:prstGeom prst="rect">
            <a:avLst/>
          </a:prstGeom>
          <a:noFill/>
        </p:spPr>
        <p:txBody>
          <a:bodyPr wrap="square" lIns="45720" rIns="45720" anchor="ctr">
            <a:noAutofit/>
          </a:bodyPr>
          <a:lstStyle/>
          <a:p>
            <a:pPr algn="l">
              <a:spcAft>
                <a:spcPts val="400"/>
              </a:spcAft>
              <a:buNone/>
            </a:pPr>
            <a:r>
              <a:rPr sz="2400" b="1" i="0">
                <a:solidFill>
                  <a:srgbClr val="FFFFFF"/>
                </a:solidFill>
                <a:latin typeface="Segoe UI"/>
              </a:rPr>
              <a:t>Onboarder les nouveaux arrivants</a:t>
            </a:r>
          </a:p>
        </p:txBody>
      </p:sp>
      <p:pic>
        <p:nvPicPr>
          <p:cNvPr id="49" name="Picture 48" descr="s4_Image_28.png"/>
          <p:cNvPicPr>
            <a:picLocks noChangeAspect="1"/>
          </p:cNvPicPr>
          <p:nvPr/>
        </p:nvPicPr>
        <p:blipFill>
          <a:blip r:embed="rId2"/>
          <a:stretch>
            <a:fillRect/>
          </a:stretch>
        </p:blipFill>
        <p:spPr>
          <a:xfrm>
            <a:off x="3148476" y="4526280"/>
            <a:ext cx="2353271" cy="2103120"/>
          </a:xfrm>
          <a:prstGeom prst="rect">
            <a:avLst/>
          </a:prstGeom>
        </p:spPr>
      </p:pic>
      <p:sp>
        <p:nvSpPr>
          <p:cNvPr id="50" name="TextBox 49"/>
          <p:cNvSpPr txBox="1"/>
          <p:nvPr/>
        </p:nvSpPr>
        <p:spPr>
          <a:xfrm>
            <a:off x="1947672" y="6812280"/>
            <a:ext cx="4800600" cy="310896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2000" b="0" i="0">
                <a:solidFill>
                  <a:srgbClr val="404040"/>
                </a:solidFill>
                <a:latin typeface="Segoe UI"/>
              </a:rPr>
              <a:t>Faciliter la prise en main</a:t>
            </a:r>
          </a:p>
          <a:p>
            <a:pPr algn="l" marL="292608" indent="-256032">
              <a:spcAft>
                <a:spcPts val="600"/>
              </a:spcAft>
              <a:buClr>
                <a:srgbClr val="E06206"/>
              </a:buClr>
              <a:buFont typeface="Arial"/>
              <a:buChar char="•"/>
            </a:pPr>
            <a:r>
              <a:rPr sz="2000" b="0" i="0">
                <a:solidFill>
                  <a:srgbClr val="404040"/>
                </a:solidFill>
                <a:latin typeface="Segoe UI"/>
              </a:rPr>
              <a:t>Comprendre le contexte et l’architecture de l’OCR F</a:t>
            </a:r>
          </a:p>
          <a:p>
            <a:pPr algn="l" marL="292608" indent="-256032">
              <a:spcAft>
                <a:spcPts val="600"/>
              </a:spcAft>
              <a:buClr>
                <a:srgbClr val="E06206"/>
              </a:buClr>
              <a:buFont typeface="Arial"/>
              <a:buChar char="•"/>
            </a:pPr>
            <a:r>
              <a:rPr sz="2000" b="0" i="0">
                <a:solidFill>
                  <a:srgbClr val="404040"/>
                </a:solidFill>
                <a:latin typeface="Segoe UI"/>
              </a:rPr>
              <a:t>Identifier les dépendances entre applications et équipes</a:t>
            </a:r>
          </a:p>
        </p:txBody>
      </p:sp>
      <p:sp>
        <p:nvSpPr>
          <p:cNvPr id="51" name="Rounded Rectangle 50"/>
          <p:cNvSpPr/>
          <p:nvPr/>
        </p:nvSpPr>
        <p:spPr>
          <a:xfrm>
            <a:off x="1901952" y="10012680"/>
            <a:ext cx="4846320" cy="2194560"/>
          </a:xfrm>
          <a:prstGeom prst="roundRect">
            <a:avLst>
              <a:gd name="adj" fmla="val 8000"/>
            </a:avLst>
          </a:prstGeom>
          <a:solidFill>
            <a:srgbClr val="FFFFFF"/>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2" name="TextBox 51"/>
          <p:cNvSpPr txBox="1"/>
          <p:nvPr/>
        </p:nvSpPr>
        <p:spPr>
          <a:xfrm>
            <a:off x="2084832" y="10104120"/>
            <a:ext cx="4480559" cy="2011680"/>
          </a:xfrm>
          <a:prstGeom prst="rect">
            <a:avLst/>
          </a:prstGeom>
          <a:noFill/>
        </p:spPr>
        <p:txBody>
          <a:bodyPr wrap="square" lIns="45720" rIns="45720" anchor="ctr">
            <a:noAutofit/>
          </a:bodyPr>
          <a:lstStyle/>
          <a:p>
            <a:pPr algn="l">
              <a:spcAft>
                <a:spcPts val="400"/>
              </a:spcAft>
              <a:buNone/>
            </a:pPr>
            <a:r>
              <a:rPr sz="1800" b="1" i="0">
                <a:solidFill>
                  <a:srgbClr val="E06206"/>
                </a:solidFill>
                <a:latin typeface="Segoe UI"/>
              </a:rPr>
              <a:t>Vue qui y répond</a:t>
            </a:r>
          </a:p>
          <a:p>
            <a:pPr algn="l">
              <a:spcAft>
                <a:spcPts val="400"/>
              </a:spcAft>
              <a:buNone/>
            </a:pPr>
            <a:r>
              <a:rPr sz="2000" b="1" i="0">
                <a:solidFill>
                  <a:srgbClr val="002060"/>
                </a:solidFill>
                <a:latin typeface="Segoe UI"/>
              </a:rPr>
              <a:t>Chaîne de valeur (N0), cartographie ROBIN (N1), fiches d’identité</a:t>
            </a:r>
          </a:p>
        </p:txBody>
      </p:sp>
      <p:sp>
        <p:nvSpPr>
          <p:cNvPr id="53" name="Rounded Rectangle 52"/>
          <p:cNvSpPr/>
          <p:nvPr/>
        </p:nvSpPr>
        <p:spPr>
          <a:xfrm>
            <a:off x="7251192" y="2743200"/>
            <a:ext cx="5303520" cy="96926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4" name="Round Same Side Corner Rectangle 53"/>
          <p:cNvSpPr/>
          <p:nvPr/>
        </p:nvSpPr>
        <p:spPr>
          <a:xfrm>
            <a:off x="7251192" y="2743200"/>
            <a:ext cx="5303520" cy="1600200"/>
          </a:xfrm>
          <a:prstGeom prst="round2SameRect">
            <a:avLst>
              <a:gd name="adj1" fmla="val 12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5" name="Oval 54"/>
          <p:cNvSpPr/>
          <p:nvPr/>
        </p:nvSpPr>
        <p:spPr>
          <a:xfrm>
            <a:off x="7525512" y="3200400"/>
            <a:ext cx="713232" cy="713232"/>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2</a:t>
            </a:r>
          </a:p>
        </p:txBody>
      </p:sp>
      <p:sp>
        <p:nvSpPr>
          <p:cNvPr id="56" name="TextBox 55"/>
          <p:cNvSpPr txBox="1"/>
          <p:nvPr/>
        </p:nvSpPr>
        <p:spPr>
          <a:xfrm>
            <a:off x="8394192" y="2834640"/>
            <a:ext cx="3977639" cy="1417320"/>
          </a:xfrm>
          <a:prstGeom prst="rect">
            <a:avLst/>
          </a:prstGeom>
          <a:noFill/>
        </p:spPr>
        <p:txBody>
          <a:bodyPr wrap="square" lIns="45720" rIns="45720" anchor="ctr">
            <a:noAutofit/>
          </a:bodyPr>
          <a:lstStyle/>
          <a:p>
            <a:pPr algn="l">
              <a:spcAft>
                <a:spcPts val="400"/>
              </a:spcAft>
              <a:buNone/>
            </a:pPr>
            <a:r>
              <a:rPr sz="2400" b="1" i="0">
                <a:solidFill>
                  <a:srgbClr val="FFFFFF"/>
                </a:solidFill>
                <a:latin typeface="Segoe UI"/>
              </a:rPr>
              <a:t>Analyser l’impact d’un incident en Run</a:t>
            </a:r>
          </a:p>
        </p:txBody>
      </p:sp>
      <p:pic>
        <p:nvPicPr>
          <p:cNvPr id="57" name="Picture 56" descr="s4_Image_32.png"/>
          <p:cNvPicPr>
            <a:picLocks noChangeAspect="1"/>
          </p:cNvPicPr>
          <p:nvPr/>
        </p:nvPicPr>
        <p:blipFill>
          <a:blip r:embed="rId3"/>
          <a:stretch>
            <a:fillRect/>
          </a:stretch>
        </p:blipFill>
        <p:spPr>
          <a:xfrm>
            <a:off x="8476165" y="4526280"/>
            <a:ext cx="2853573" cy="2103120"/>
          </a:xfrm>
          <a:prstGeom prst="rect">
            <a:avLst/>
          </a:prstGeom>
        </p:spPr>
      </p:pic>
      <p:sp>
        <p:nvSpPr>
          <p:cNvPr id="58" name="TextBox 57"/>
          <p:cNvSpPr txBox="1"/>
          <p:nvPr/>
        </p:nvSpPr>
        <p:spPr>
          <a:xfrm>
            <a:off x="7525512" y="6812280"/>
            <a:ext cx="4800600" cy="310896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2000" b="0" i="0">
                <a:solidFill>
                  <a:srgbClr val="404040"/>
                </a:solidFill>
                <a:latin typeface="Segoe UI"/>
              </a:rPr>
              <a:t>Vision d’ensemble pour analyser rapidement les impacts</a:t>
            </a:r>
          </a:p>
          <a:p>
            <a:pPr algn="l" marL="292608" indent="-256032">
              <a:spcAft>
                <a:spcPts val="600"/>
              </a:spcAft>
              <a:buClr>
                <a:srgbClr val="E06206"/>
              </a:buClr>
              <a:buFont typeface="Arial"/>
              <a:buChar char="•"/>
            </a:pPr>
            <a:r>
              <a:rPr sz="2000" b="0" i="0">
                <a:solidFill>
                  <a:srgbClr val="404040"/>
                </a:solidFill>
                <a:latin typeface="Segoe UI"/>
              </a:rPr>
              <a:t>Prioriser les actions</a:t>
            </a:r>
          </a:p>
          <a:p>
            <a:pPr algn="l" marL="292608" indent="-256032">
              <a:spcAft>
                <a:spcPts val="600"/>
              </a:spcAft>
              <a:buClr>
                <a:srgbClr val="E06206"/>
              </a:buClr>
              <a:buFont typeface="Arial"/>
              <a:buChar char="•"/>
            </a:pPr>
            <a:r>
              <a:rPr sz="2000" b="0" i="0">
                <a:solidFill>
                  <a:srgbClr val="404040"/>
                </a:solidFill>
                <a:latin typeface="Segoe UI"/>
              </a:rPr>
              <a:t>Communiquer efficacement</a:t>
            </a:r>
          </a:p>
        </p:txBody>
      </p:sp>
      <p:sp>
        <p:nvSpPr>
          <p:cNvPr id="59" name="Rounded Rectangle 58"/>
          <p:cNvSpPr/>
          <p:nvPr/>
        </p:nvSpPr>
        <p:spPr>
          <a:xfrm>
            <a:off x="7479792" y="10012680"/>
            <a:ext cx="4846320" cy="2194560"/>
          </a:xfrm>
          <a:prstGeom prst="roundRect">
            <a:avLst>
              <a:gd name="adj" fmla="val 8000"/>
            </a:avLst>
          </a:prstGeom>
          <a:solidFill>
            <a:srgbClr val="FFFFFF"/>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0" name="TextBox 59"/>
          <p:cNvSpPr txBox="1"/>
          <p:nvPr/>
        </p:nvSpPr>
        <p:spPr>
          <a:xfrm>
            <a:off x="7662671" y="10104120"/>
            <a:ext cx="4480559" cy="2011680"/>
          </a:xfrm>
          <a:prstGeom prst="rect">
            <a:avLst/>
          </a:prstGeom>
          <a:noFill/>
        </p:spPr>
        <p:txBody>
          <a:bodyPr wrap="square" lIns="45720" rIns="45720" anchor="ctr">
            <a:noAutofit/>
          </a:bodyPr>
          <a:lstStyle/>
          <a:p>
            <a:pPr algn="l">
              <a:spcAft>
                <a:spcPts val="400"/>
              </a:spcAft>
              <a:buNone/>
            </a:pPr>
            <a:r>
              <a:rPr sz="1800" b="1" i="0">
                <a:solidFill>
                  <a:srgbClr val="E06206"/>
                </a:solidFill>
                <a:latin typeface="Segoe UI"/>
              </a:rPr>
              <a:t>Vue qui y répond</a:t>
            </a:r>
          </a:p>
          <a:p>
            <a:pPr algn="l">
              <a:spcAft>
                <a:spcPts val="400"/>
              </a:spcAft>
              <a:buNone/>
            </a:pPr>
            <a:r>
              <a:rPr sz="2000" b="1" i="0">
                <a:solidFill>
                  <a:srgbClr val="002060"/>
                </a:solidFill>
                <a:latin typeface="Segoe UI"/>
              </a:rPr>
              <a:t>Vue dynamique : services et 3 strates de dépendances</a:t>
            </a:r>
          </a:p>
        </p:txBody>
      </p:sp>
      <p:sp>
        <p:nvSpPr>
          <p:cNvPr id="61" name="Rounded Rectangle 60"/>
          <p:cNvSpPr/>
          <p:nvPr/>
        </p:nvSpPr>
        <p:spPr>
          <a:xfrm>
            <a:off x="12829032" y="2743200"/>
            <a:ext cx="5303520" cy="96926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2" name="Round Same Side Corner Rectangle 61"/>
          <p:cNvSpPr/>
          <p:nvPr/>
        </p:nvSpPr>
        <p:spPr>
          <a:xfrm>
            <a:off x="12829032" y="2743200"/>
            <a:ext cx="5303520" cy="1600200"/>
          </a:xfrm>
          <a:prstGeom prst="round2SameRect">
            <a:avLst>
              <a:gd name="adj1" fmla="val 12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3" name="Oval 62"/>
          <p:cNvSpPr/>
          <p:nvPr/>
        </p:nvSpPr>
        <p:spPr>
          <a:xfrm>
            <a:off x="13103352" y="3200400"/>
            <a:ext cx="713232" cy="713232"/>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3</a:t>
            </a:r>
          </a:p>
        </p:txBody>
      </p:sp>
      <p:sp>
        <p:nvSpPr>
          <p:cNvPr id="64" name="TextBox 63"/>
          <p:cNvSpPr txBox="1"/>
          <p:nvPr/>
        </p:nvSpPr>
        <p:spPr>
          <a:xfrm>
            <a:off x="13972032" y="2834640"/>
            <a:ext cx="3977639" cy="1417320"/>
          </a:xfrm>
          <a:prstGeom prst="rect">
            <a:avLst/>
          </a:prstGeom>
          <a:noFill/>
        </p:spPr>
        <p:txBody>
          <a:bodyPr wrap="square" lIns="45720" rIns="45720" anchor="ctr">
            <a:noAutofit/>
          </a:bodyPr>
          <a:lstStyle/>
          <a:p>
            <a:pPr algn="l">
              <a:spcAft>
                <a:spcPts val="400"/>
              </a:spcAft>
              <a:buNone/>
            </a:pPr>
            <a:r>
              <a:rPr sz="2400" b="1" i="0">
                <a:solidFill>
                  <a:srgbClr val="FFFFFF"/>
                </a:solidFill>
                <a:latin typeface="Segoe UI"/>
              </a:rPr>
              <a:t>Communiquer avec les MOA</a:t>
            </a:r>
          </a:p>
        </p:txBody>
      </p:sp>
      <p:pic>
        <p:nvPicPr>
          <p:cNvPr id="65" name="Picture 64" descr="s4_Image_36.png"/>
          <p:cNvPicPr>
            <a:picLocks noChangeAspect="1"/>
          </p:cNvPicPr>
          <p:nvPr/>
        </p:nvPicPr>
        <p:blipFill>
          <a:blip r:embed="rId4"/>
          <a:stretch>
            <a:fillRect/>
          </a:stretch>
        </p:blipFill>
        <p:spPr>
          <a:xfrm>
            <a:off x="14089426" y="4526280"/>
            <a:ext cx="2782731" cy="2103120"/>
          </a:xfrm>
          <a:prstGeom prst="rect">
            <a:avLst/>
          </a:prstGeom>
        </p:spPr>
      </p:pic>
      <p:sp>
        <p:nvSpPr>
          <p:cNvPr id="66" name="TextBox 65"/>
          <p:cNvSpPr txBox="1"/>
          <p:nvPr/>
        </p:nvSpPr>
        <p:spPr>
          <a:xfrm>
            <a:off x="13103352" y="6812280"/>
            <a:ext cx="4800600" cy="310896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2000" b="0" i="0">
                <a:solidFill>
                  <a:srgbClr val="404040"/>
                </a:solidFill>
                <a:latin typeface="Segoe UI"/>
              </a:rPr>
              <a:t>Partager un référentiel commun</a:t>
            </a:r>
          </a:p>
          <a:p>
            <a:pPr algn="l" marL="292608" indent="-256032">
              <a:spcAft>
                <a:spcPts val="600"/>
              </a:spcAft>
              <a:buClr>
                <a:srgbClr val="E06206"/>
              </a:buClr>
              <a:buFont typeface="Arial"/>
              <a:buChar char="•"/>
            </a:pPr>
            <a:r>
              <a:rPr sz="2000" b="0" i="0">
                <a:solidFill>
                  <a:srgbClr val="404040"/>
                </a:solidFill>
                <a:latin typeface="Segoe UI"/>
              </a:rPr>
              <a:t>Expliquer les choix</a:t>
            </a:r>
          </a:p>
          <a:p>
            <a:pPr algn="l" marL="292608" indent="-256032">
              <a:spcAft>
                <a:spcPts val="600"/>
              </a:spcAft>
              <a:buClr>
                <a:srgbClr val="E06206"/>
              </a:buClr>
              <a:buFont typeface="Arial"/>
              <a:buChar char="•"/>
            </a:pPr>
            <a:r>
              <a:rPr sz="2000" b="0" i="0">
                <a:solidFill>
                  <a:srgbClr val="404040"/>
                </a:solidFill>
                <a:latin typeface="Segoe UI"/>
              </a:rPr>
              <a:t>Répondre aux questions, aligner les attentes</a:t>
            </a:r>
          </a:p>
        </p:txBody>
      </p:sp>
      <p:sp>
        <p:nvSpPr>
          <p:cNvPr id="67" name="Rounded Rectangle 66"/>
          <p:cNvSpPr/>
          <p:nvPr/>
        </p:nvSpPr>
        <p:spPr>
          <a:xfrm>
            <a:off x="13057632" y="10012680"/>
            <a:ext cx="4846320" cy="2194560"/>
          </a:xfrm>
          <a:prstGeom prst="roundRect">
            <a:avLst>
              <a:gd name="adj" fmla="val 8000"/>
            </a:avLst>
          </a:prstGeom>
          <a:solidFill>
            <a:srgbClr val="FFFFFF"/>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8" name="TextBox 67"/>
          <p:cNvSpPr txBox="1"/>
          <p:nvPr/>
        </p:nvSpPr>
        <p:spPr>
          <a:xfrm>
            <a:off x="13240511" y="10104120"/>
            <a:ext cx="4480559" cy="2011680"/>
          </a:xfrm>
          <a:prstGeom prst="rect">
            <a:avLst/>
          </a:prstGeom>
          <a:noFill/>
        </p:spPr>
        <p:txBody>
          <a:bodyPr wrap="square" lIns="45720" rIns="45720" anchor="ctr">
            <a:noAutofit/>
          </a:bodyPr>
          <a:lstStyle/>
          <a:p>
            <a:pPr algn="l">
              <a:spcAft>
                <a:spcPts val="400"/>
              </a:spcAft>
              <a:buNone/>
            </a:pPr>
            <a:r>
              <a:rPr sz="1800" b="1" i="0">
                <a:solidFill>
                  <a:srgbClr val="E06206"/>
                </a:solidFill>
                <a:latin typeface="Segoe UI"/>
              </a:rPr>
              <a:t>Vue qui y répond</a:t>
            </a:r>
          </a:p>
          <a:p>
            <a:pPr algn="l">
              <a:spcAft>
                <a:spcPts val="400"/>
              </a:spcAft>
              <a:buNone/>
            </a:pPr>
            <a:r>
              <a:rPr sz="2000" b="1" i="0">
                <a:solidFill>
                  <a:srgbClr val="002060"/>
                </a:solidFill>
                <a:latin typeface="Segoe UI"/>
              </a:rPr>
              <a:t>Chaîne de valeur et fiches : usages, limites, clients</a:t>
            </a:r>
          </a:p>
        </p:txBody>
      </p:sp>
      <p:sp>
        <p:nvSpPr>
          <p:cNvPr id="69" name="Rounded Rectangle 68"/>
          <p:cNvSpPr/>
          <p:nvPr/>
        </p:nvSpPr>
        <p:spPr>
          <a:xfrm>
            <a:off x="18406872" y="2743200"/>
            <a:ext cx="5303520" cy="96926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0" name="Round Same Side Corner Rectangle 69"/>
          <p:cNvSpPr/>
          <p:nvPr/>
        </p:nvSpPr>
        <p:spPr>
          <a:xfrm>
            <a:off x="18406872" y="2743200"/>
            <a:ext cx="5303520" cy="1600200"/>
          </a:xfrm>
          <a:prstGeom prst="round2SameRect">
            <a:avLst>
              <a:gd name="adj1" fmla="val 12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1" name="Oval 70"/>
          <p:cNvSpPr/>
          <p:nvPr/>
        </p:nvSpPr>
        <p:spPr>
          <a:xfrm>
            <a:off x="18681192" y="3200400"/>
            <a:ext cx="713232" cy="713232"/>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4</a:t>
            </a:r>
          </a:p>
        </p:txBody>
      </p:sp>
      <p:sp>
        <p:nvSpPr>
          <p:cNvPr id="72" name="TextBox 71"/>
          <p:cNvSpPr txBox="1"/>
          <p:nvPr/>
        </p:nvSpPr>
        <p:spPr>
          <a:xfrm>
            <a:off x="19549872" y="2834640"/>
            <a:ext cx="3977639" cy="1417320"/>
          </a:xfrm>
          <a:prstGeom prst="rect">
            <a:avLst/>
          </a:prstGeom>
          <a:noFill/>
        </p:spPr>
        <p:txBody>
          <a:bodyPr wrap="square" lIns="45720" rIns="45720" anchor="ctr">
            <a:noAutofit/>
          </a:bodyPr>
          <a:lstStyle/>
          <a:p>
            <a:pPr algn="l">
              <a:spcAft>
                <a:spcPts val="400"/>
              </a:spcAft>
              <a:buNone/>
            </a:pPr>
            <a:r>
              <a:rPr sz="2400" b="1" i="0">
                <a:solidFill>
                  <a:srgbClr val="FFFFFF"/>
                </a:solidFill>
                <a:latin typeface="Segoe UI"/>
              </a:rPr>
              <a:t>Capitaliser les connaissances</a:t>
            </a:r>
          </a:p>
        </p:txBody>
      </p:sp>
      <p:pic>
        <p:nvPicPr>
          <p:cNvPr id="73" name="Picture 72" descr="s4_Image_42.png"/>
          <p:cNvPicPr>
            <a:picLocks noChangeAspect="1"/>
          </p:cNvPicPr>
          <p:nvPr/>
        </p:nvPicPr>
        <p:blipFill>
          <a:blip r:embed="rId5"/>
          <a:stretch>
            <a:fillRect/>
          </a:stretch>
        </p:blipFill>
        <p:spPr>
          <a:xfrm>
            <a:off x="20100129" y="4526280"/>
            <a:ext cx="1917003" cy="2103120"/>
          </a:xfrm>
          <a:prstGeom prst="rect">
            <a:avLst/>
          </a:prstGeom>
        </p:spPr>
      </p:pic>
      <p:sp>
        <p:nvSpPr>
          <p:cNvPr id="74" name="TextBox 73"/>
          <p:cNvSpPr txBox="1"/>
          <p:nvPr/>
        </p:nvSpPr>
        <p:spPr>
          <a:xfrm>
            <a:off x="18681192" y="6812280"/>
            <a:ext cx="4800600" cy="310896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2000" b="0" i="0">
                <a:solidFill>
                  <a:srgbClr val="404040"/>
                </a:solidFill>
                <a:latin typeface="Segoe UI"/>
              </a:rPr>
              <a:t>« Éviter que le savoir reste dans la tête d’une seule personne »</a:t>
            </a:r>
          </a:p>
          <a:p>
            <a:pPr algn="l" marL="292608" indent="-256032">
              <a:spcAft>
                <a:spcPts val="600"/>
              </a:spcAft>
              <a:buClr>
                <a:srgbClr val="E06206"/>
              </a:buClr>
              <a:buFont typeface="Arial"/>
              <a:buChar char="•"/>
            </a:pPr>
            <a:r>
              <a:rPr sz="2000" b="0" i="0">
                <a:solidFill>
                  <a:srgbClr val="404040"/>
                </a:solidFill>
                <a:latin typeface="Segoe UI"/>
              </a:rPr>
              <a:t>Documenter le legacy avant une refonte</a:t>
            </a:r>
          </a:p>
          <a:p>
            <a:pPr algn="l" marL="292608" indent="-256032">
              <a:spcAft>
                <a:spcPts val="600"/>
              </a:spcAft>
              <a:buClr>
                <a:srgbClr val="E06206"/>
              </a:buClr>
              <a:buFont typeface="Arial"/>
              <a:buChar char="•"/>
            </a:pPr>
            <a:r>
              <a:rPr sz="2000" b="0" i="0">
                <a:solidFill>
                  <a:srgbClr val="404040"/>
                </a:solidFill>
                <a:latin typeface="Segoe UI"/>
              </a:rPr>
              <a:t>Partager les bonnes pratiques</a:t>
            </a:r>
          </a:p>
        </p:txBody>
      </p:sp>
      <p:sp>
        <p:nvSpPr>
          <p:cNvPr id="75" name="Rounded Rectangle 74"/>
          <p:cNvSpPr/>
          <p:nvPr/>
        </p:nvSpPr>
        <p:spPr>
          <a:xfrm>
            <a:off x="18635472" y="10012680"/>
            <a:ext cx="4846320" cy="2194560"/>
          </a:xfrm>
          <a:prstGeom prst="roundRect">
            <a:avLst>
              <a:gd name="adj" fmla="val 8000"/>
            </a:avLst>
          </a:prstGeom>
          <a:solidFill>
            <a:srgbClr val="FFFFFF"/>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6" name="TextBox 75"/>
          <p:cNvSpPr txBox="1"/>
          <p:nvPr/>
        </p:nvSpPr>
        <p:spPr>
          <a:xfrm>
            <a:off x="18818352" y="10104120"/>
            <a:ext cx="4480559" cy="2011680"/>
          </a:xfrm>
          <a:prstGeom prst="rect">
            <a:avLst/>
          </a:prstGeom>
          <a:noFill/>
        </p:spPr>
        <p:txBody>
          <a:bodyPr wrap="square" lIns="45720" rIns="45720" anchor="ctr">
            <a:noAutofit/>
          </a:bodyPr>
          <a:lstStyle/>
          <a:p>
            <a:pPr algn="l">
              <a:spcAft>
                <a:spcPts val="400"/>
              </a:spcAft>
              <a:buNone/>
            </a:pPr>
            <a:r>
              <a:rPr sz="1800" b="1" i="0">
                <a:solidFill>
                  <a:srgbClr val="E06206"/>
                </a:solidFill>
                <a:latin typeface="Segoe UI"/>
              </a:rPr>
              <a:t>Vue qui y répond</a:t>
            </a:r>
          </a:p>
          <a:p>
            <a:pPr algn="l">
              <a:spcAft>
                <a:spcPts val="400"/>
              </a:spcAft>
              <a:buNone/>
            </a:pPr>
            <a:r>
              <a:rPr sz="2000" b="1" i="0">
                <a:solidFill>
                  <a:srgbClr val="002060"/>
                </a:solidFill>
                <a:latin typeface="Segoe UI"/>
              </a:rPr>
              <a:t>Fiches : difficultés rencontrées, recommandations d’usage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 que la documentation doit rendre visible</a:t>
            </a:r>
          </a:p>
        </p:txBody>
      </p:sp>
      <p:sp>
        <p:nvSpPr>
          <p:cNvPr id="4" name="Text Placeholder 3"/>
          <p:cNvSpPr>
            <a:spLocks noGrp="1"/>
          </p:cNvSpPr>
          <p:nvPr>
            <p:ph type="body" idx="14" sz="quarter"/>
          </p:nvPr>
        </p:nvSpPr>
        <p:spPr/>
        <p:txBody>
          <a:bodyPr/>
          <a:lstStyle/>
          <a:p>
            <a:r>
              <a:t>Quatre besoins d’information exprimés en entretien</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743200"/>
            <a:ext cx="10881360" cy="37033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Oval 45"/>
          <p:cNvSpPr/>
          <p:nvPr/>
        </p:nvSpPr>
        <p:spPr>
          <a:xfrm>
            <a:off x="1993392" y="3063240"/>
            <a:ext cx="713232" cy="713232"/>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1</a:t>
            </a:r>
          </a:p>
        </p:txBody>
      </p:sp>
      <p:sp>
        <p:nvSpPr>
          <p:cNvPr id="47" name="TextBox 46"/>
          <p:cNvSpPr txBox="1"/>
          <p:nvPr/>
        </p:nvSpPr>
        <p:spPr>
          <a:xfrm>
            <a:off x="2953512" y="3017520"/>
            <a:ext cx="9326880" cy="822960"/>
          </a:xfrm>
          <a:prstGeom prst="rect">
            <a:avLst/>
          </a:prstGeom>
          <a:noFill/>
        </p:spPr>
        <p:txBody>
          <a:bodyPr wrap="square" lIns="45720" rIns="45720" anchor="ctr">
            <a:noAutofit/>
          </a:bodyPr>
          <a:lstStyle/>
          <a:p>
            <a:pPr algn="l">
              <a:spcAft>
                <a:spcPts val="400"/>
              </a:spcAft>
              <a:buNone/>
            </a:pPr>
            <a:r>
              <a:rPr sz="2500" b="1" i="0">
                <a:solidFill>
                  <a:srgbClr val="002060"/>
                </a:solidFill>
                <a:latin typeface="Segoe UI"/>
              </a:rPr>
              <a:t>Partager les problématiques techniques et fonctionnelles</a:t>
            </a:r>
          </a:p>
        </p:txBody>
      </p:sp>
      <p:sp>
        <p:nvSpPr>
          <p:cNvPr id="48" name="TextBox 47"/>
          <p:cNvSpPr txBox="1"/>
          <p:nvPr/>
        </p:nvSpPr>
        <p:spPr>
          <a:xfrm>
            <a:off x="2953512" y="3977639"/>
            <a:ext cx="9326880" cy="2377440"/>
          </a:xfrm>
          <a:prstGeom prst="rect">
            <a:avLst/>
          </a:prstGeom>
          <a:noFill/>
        </p:spPr>
        <p:txBody>
          <a:bodyPr wrap="square" lIns="45720" rIns="45720" anchor="t">
            <a:noAutofit/>
          </a:bodyPr>
          <a:lstStyle/>
          <a:p>
            <a:pPr algn="l" marL="292608" indent="-256032">
              <a:spcAft>
                <a:spcPts val="800"/>
              </a:spcAft>
              <a:buClr>
                <a:srgbClr val="E06206"/>
              </a:buClr>
              <a:buFont typeface="Arial"/>
              <a:buChar char="•"/>
            </a:pPr>
            <a:r>
              <a:rPr sz="2200" b="0" i="0">
                <a:solidFill>
                  <a:srgbClr val="404040"/>
                </a:solidFill>
                <a:latin typeface="Segoe UI"/>
              </a:rPr>
              <a:t>Une architecture API Cloud ou un webcomponent produit par une équipe peut en intéresser une autre</a:t>
            </a:r>
          </a:p>
          <a:p>
            <a:pPr algn="l" marL="292608" indent="-256032">
              <a:spcAft>
                <a:spcPts val="800"/>
              </a:spcAft>
              <a:buClr>
                <a:srgbClr val="E06206"/>
              </a:buClr>
              <a:buFont typeface="Arial"/>
              <a:buChar char="•"/>
            </a:pPr>
            <a:r>
              <a:rPr sz="2200" b="0" i="0">
                <a:solidFill>
                  <a:srgbClr val="404040"/>
                </a:solidFill>
                <a:latin typeface="Segoe UI"/>
              </a:rPr>
              <a:t>Exemple : gérer les droits de visualisation basés sur BORG</a:t>
            </a:r>
          </a:p>
        </p:txBody>
      </p:sp>
      <p:sp>
        <p:nvSpPr>
          <p:cNvPr id="49" name="Rounded Rectangle 48"/>
          <p:cNvSpPr/>
          <p:nvPr/>
        </p:nvSpPr>
        <p:spPr>
          <a:xfrm>
            <a:off x="12829032" y="2743200"/>
            <a:ext cx="10881360" cy="37033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0" name="Oval 49"/>
          <p:cNvSpPr/>
          <p:nvPr/>
        </p:nvSpPr>
        <p:spPr>
          <a:xfrm>
            <a:off x="13149072" y="3063240"/>
            <a:ext cx="713232" cy="713232"/>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2</a:t>
            </a:r>
          </a:p>
        </p:txBody>
      </p:sp>
      <p:sp>
        <p:nvSpPr>
          <p:cNvPr id="51" name="TextBox 50"/>
          <p:cNvSpPr txBox="1"/>
          <p:nvPr/>
        </p:nvSpPr>
        <p:spPr>
          <a:xfrm>
            <a:off x="14109192" y="3017520"/>
            <a:ext cx="9326880" cy="822960"/>
          </a:xfrm>
          <a:prstGeom prst="rect">
            <a:avLst/>
          </a:prstGeom>
          <a:noFill/>
        </p:spPr>
        <p:txBody>
          <a:bodyPr wrap="square" lIns="45720" rIns="45720" anchor="ctr">
            <a:noAutofit/>
          </a:bodyPr>
          <a:lstStyle/>
          <a:p>
            <a:pPr algn="l">
              <a:spcAft>
                <a:spcPts val="400"/>
              </a:spcAft>
              <a:buNone/>
            </a:pPr>
            <a:r>
              <a:rPr sz="2500" b="1" i="0">
                <a:solidFill>
                  <a:srgbClr val="002060"/>
                </a:solidFill>
                <a:latin typeface="Segoe UI"/>
              </a:rPr>
              <a:t>Situer chaque équipe dans le processus</a:t>
            </a:r>
          </a:p>
        </p:txBody>
      </p:sp>
      <p:sp>
        <p:nvSpPr>
          <p:cNvPr id="52" name="TextBox 51"/>
          <p:cNvSpPr txBox="1"/>
          <p:nvPr/>
        </p:nvSpPr>
        <p:spPr>
          <a:xfrm>
            <a:off x="14109192" y="3977639"/>
            <a:ext cx="9326880" cy="2377440"/>
          </a:xfrm>
          <a:prstGeom prst="rect">
            <a:avLst/>
          </a:prstGeom>
          <a:noFill/>
        </p:spPr>
        <p:txBody>
          <a:bodyPr wrap="square" lIns="45720" rIns="45720" anchor="t">
            <a:noAutofit/>
          </a:bodyPr>
          <a:lstStyle/>
          <a:p>
            <a:pPr algn="l" marL="292608" indent="-256032">
              <a:spcAft>
                <a:spcPts val="800"/>
              </a:spcAft>
              <a:buClr>
                <a:srgbClr val="E06206"/>
              </a:buClr>
              <a:buFont typeface="Arial"/>
              <a:buChar char="•"/>
            </a:pPr>
            <a:r>
              <a:rPr sz="2200" b="0" i="0">
                <a:solidFill>
                  <a:srgbClr val="404040"/>
                </a:solidFill>
                <a:latin typeface="Segoe UI"/>
              </a:rPr>
              <a:t>À quel niveau du processus chaque équipe intervient-elle ?</a:t>
            </a:r>
          </a:p>
          <a:p>
            <a:pPr algn="l" marL="292608" indent="-256032">
              <a:spcAft>
                <a:spcPts val="800"/>
              </a:spcAft>
              <a:buClr>
                <a:srgbClr val="E06206"/>
              </a:buClr>
              <a:buFont typeface="Arial"/>
              <a:buChar char="•"/>
            </a:pPr>
            <a:r>
              <a:rPr sz="2200" b="0" i="0">
                <a:solidFill>
                  <a:srgbClr val="404040"/>
                </a:solidFill>
                <a:latin typeface="Segoe UI"/>
              </a:rPr>
              <a:t>Où commence un appel et où se termine-t-il ?</a:t>
            </a:r>
          </a:p>
        </p:txBody>
      </p:sp>
      <p:sp>
        <p:nvSpPr>
          <p:cNvPr id="53" name="Rounded Rectangle 52"/>
          <p:cNvSpPr/>
          <p:nvPr/>
        </p:nvSpPr>
        <p:spPr>
          <a:xfrm>
            <a:off x="1673352" y="6720840"/>
            <a:ext cx="10881360" cy="37033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4" name="Oval 53"/>
          <p:cNvSpPr/>
          <p:nvPr/>
        </p:nvSpPr>
        <p:spPr>
          <a:xfrm>
            <a:off x="1993392" y="7040879"/>
            <a:ext cx="713232" cy="713232"/>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3</a:t>
            </a:r>
          </a:p>
        </p:txBody>
      </p:sp>
      <p:sp>
        <p:nvSpPr>
          <p:cNvPr id="55" name="TextBox 54"/>
          <p:cNvSpPr txBox="1"/>
          <p:nvPr/>
        </p:nvSpPr>
        <p:spPr>
          <a:xfrm>
            <a:off x="2953512" y="6995159"/>
            <a:ext cx="9326880" cy="822960"/>
          </a:xfrm>
          <a:prstGeom prst="rect">
            <a:avLst/>
          </a:prstGeom>
          <a:noFill/>
        </p:spPr>
        <p:txBody>
          <a:bodyPr wrap="square" lIns="45720" rIns="45720" anchor="ctr">
            <a:noAutofit/>
          </a:bodyPr>
          <a:lstStyle/>
          <a:p>
            <a:pPr algn="l">
              <a:spcAft>
                <a:spcPts val="400"/>
              </a:spcAft>
              <a:buNone/>
            </a:pPr>
            <a:r>
              <a:rPr sz="2500" b="1" i="0">
                <a:solidFill>
                  <a:srgbClr val="002060"/>
                </a:solidFill>
                <a:latin typeface="Segoe UI"/>
              </a:rPr>
              <a:t>Donner les recommandations d’usage des composants</a:t>
            </a:r>
          </a:p>
        </p:txBody>
      </p:sp>
      <p:sp>
        <p:nvSpPr>
          <p:cNvPr id="56" name="TextBox 55"/>
          <p:cNvSpPr txBox="1"/>
          <p:nvPr/>
        </p:nvSpPr>
        <p:spPr>
          <a:xfrm>
            <a:off x="2953512" y="7955279"/>
            <a:ext cx="9326880" cy="2377440"/>
          </a:xfrm>
          <a:prstGeom prst="rect">
            <a:avLst/>
          </a:prstGeom>
          <a:noFill/>
        </p:spPr>
        <p:txBody>
          <a:bodyPr wrap="square" lIns="45720" rIns="45720" anchor="t">
            <a:noAutofit/>
          </a:bodyPr>
          <a:lstStyle/>
          <a:p>
            <a:pPr algn="l" marL="292608" indent="-256032">
              <a:spcAft>
                <a:spcPts val="800"/>
              </a:spcAft>
              <a:buClr>
                <a:srgbClr val="E06206"/>
              </a:buClr>
              <a:buFont typeface="Arial"/>
              <a:buChar char="•"/>
            </a:pPr>
            <a:r>
              <a:rPr sz="2200" b="0" i="0">
                <a:solidFill>
                  <a:srgbClr val="404040"/>
                </a:solidFill>
                <a:latin typeface="Segoe UI"/>
              </a:rPr>
              <a:t>Bonnes pratiques d’intégration, règles d’usage et de personnalisation</a:t>
            </a:r>
          </a:p>
          <a:p>
            <a:pPr algn="l" marL="292608" indent="-256032">
              <a:spcAft>
                <a:spcPts val="800"/>
              </a:spcAft>
              <a:buClr>
                <a:srgbClr val="E06206"/>
              </a:buClr>
              <a:buFont typeface="Arial"/>
              <a:buChar char="•"/>
            </a:pPr>
            <a:r>
              <a:rPr sz="2200" b="0" i="0">
                <a:solidFill>
                  <a:srgbClr val="404040"/>
                </a:solidFill>
                <a:latin typeface="Segoe UI"/>
              </a:rPr>
              <a:t>Compatibilités et dépendances ; recommandation du Groupe pour un webcomponent</a:t>
            </a:r>
          </a:p>
        </p:txBody>
      </p:sp>
      <p:sp>
        <p:nvSpPr>
          <p:cNvPr id="57" name="Rounded Rectangle 56"/>
          <p:cNvSpPr/>
          <p:nvPr/>
        </p:nvSpPr>
        <p:spPr>
          <a:xfrm>
            <a:off x="12829032" y="6720840"/>
            <a:ext cx="10881360" cy="37033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8" name="Oval 57"/>
          <p:cNvSpPr/>
          <p:nvPr/>
        </p:nvSpPr>
        <p:spPr>
          <a:xfrm>
            <a:off x="13149072" y="7040879"/>
            <a:ext cx="713232" cy="713232"/>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4</a:t>
            </a:r>
          </a:p>
        </p:txBody>
      </p:sp>
      <p:sp>
        <p:nvSpPr>
          <p:cNvPr id="59" name="TextBox 58"/>
          <p:cNvSpPr txBox="1"/>
          <p:nvPr/>
        </p:nvSpPr>
        <p:spPr>
          <a:xfrm>
            <a:off x="14109192" y="6995159"/>
            <a:ext cx="9326880" cy="822960"/>
          </a:xfrm>
          <a:prstGeom prst="rect">
            <a:avLst/>
          </a:prstGeom>
          <a:noFill/>
        </p:spPr>
        <p:txBody>
          <a:bodyPr wrap="square" lIns="45720" rIns="45720" anchor="ctr">
            <a:noAutofit/>
          </a:bodyPr>
          <a:lstStyle/>
          <a:p>
            <a:pPr algn="l">
              <a:spcAft>
                <a:spcPts val="400"/>
              </a:spcAft>
              <a:buNone/>
            </a:pPr>
            <a:r>
              <a:rPr sz="2500" b="1" i="0">
                <a:solidFill>
                  <a:srgbClr val="002060"/>
                </a:solidFill>
                <a:latin typeface="Segoe UI"/>
              </a:rPr>
              <a:t>Rendre visibles les redondances d’outils</a:t>
            </a:r>
          </a:p>
        </p:txBody>
      </p:sp>
      <p:sp>
        <p:nvSpPr>
          <p:cNvPr id="60" name="TextBox 59"/>
          <p:cNvSpPr txBox="1"/>
          <p:nvPr/>
        </p:nvSpPr>
        <p:spPr>
          <a:xfrm>
            <a:off x="14109192" y="7955279"/>
            <a:ext cx="9326880" cy="2377440"/>
          </a:xfrm>
          <a:prstGeom prst="rect">
            <a:avLst/>
          </a:prstGeom>
          <a:noFill/>
        </p:spPr>
        <p:txBody>
          <a:bodyPr wrap="square" lIns="45720" rIns="45720" anchor="t">
            <a:noAutofit/>
          </a:bodyPr>
          <a:lstStyle/>
          <a:p>
            <a:pPr algn="l" marL="292608" indent="-256032">
              <a:spcAft>
                <a:spcPts val="800"/>
              </a:spcAft>
              <a:buClr>
                <a:srgbClr val="E06206"/>
              </a:buClr>
              <a:buFont typeface="Arial"/>
              <a:buChar char="•"/>
            </a:pPr>
            <a:r>
              <a:rPr sz="2200" b="0" i="0">
                <a:solidFill>
                  <a:srgbClr val="404040"/>
                </a:solidFill>
                <a:latin typeface="Segoe UI"/>
              </a:rPr>
              <a:t>Plusieurs outils pour un même usage (annotation, acquisition de documents)</a:t>
            </a:r>
          </a:p>
          <a:p>
            <a:pPr algn="l" marL="292608" indent="-256032">
              <a:spcAft>
                <a:spcPts val="800"/>
              </a:spcAft>
              <a:buClr>
                <a:srgbClr val="E06206"/>
              </a:buClr>
              <a:buFont typeface="Arial"/>
              <a:buChar char="•"/>
            </a:pPr>
            <a:r>
              <a:rPr sz="2200" b="0" i="0">
                <a:solidFill>
                  <a:srgbClr val="404040"/>
                </a:solidFill>
                <a:latin typeface="Segoe UI"/>
              </a:rPr>
              <a:t>Pour chaque outil : usages, limites, périmètre, prérequis, clients utilisateurs</a:t>
            </a:r>
          </a:p>
        </p:txBody>
      </p:sp>
      <p:sp>
        <p:nvSpPr>
          <p:cNvPr id="61" name="Rounded Rectangle 60"/>
          <p:cNvSpPr/>
          <p:nvPr/>
        </p:nvSpPr>
        <p:spPr>
          <a:xfrm>
            <a:off x="1673352" y="10698480"/>
            <a:ext cx="22037040" cy="178308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2" name="Rounded Rectangle 61"/>
          <p:cNvSpPr/>
          <p:nvPr/>
        </p:nvSpPr>
        <p:spPr>
          <a:xfrm>
            <a:off x="1965960" y="10927080"/>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sp>
        <p:nvSpPr>
          <p:cNvPr id="63" name="TextBox 62"/>
          <p:cNvSpPr txBox="1"/>
          <p:nvPr/>
        </p:nvSpPr>
        <p:spPr>
          <a:xfrm>
            <a:off x="4343400" y="10789920"/>
            <a:ext cx="19110960" cy="1600200"/>
          </a:xfrm>
          <a:prstGeom prst="rect">
            <a:avLst/>
          </a:prstGeom>
          <a:noFill/>
        </p:spPr>
        <p:txBody>
          <a:bodyPr wrap="square" lIns="45720" rIns="45720" anchor="ctr">
            <a:noAutofit/>
          </a:bodyPr>
          <a:lstStyle/>
          <a:p>
            <a:pPr algn="l">
              <a:spcAft>
                <a:spcPts val="400"/>
              </a:spcAft>
              <a:buNone/>
            </a:pPr>
            <a:r>
              <a:rPr sz="2200" b="1" i="0">
                <a:solidFill>
                  <a:srgbClr val="002060"/>
                </a:solidFill>
                <a:latin typeface="Segoe UI"/>
              </a:rPr>
              <a:t>Vue capacitaire fonctions → applications </a:t>
            </a:r>
            <a:r>
              <a:rPr sz="2200" b="0" i="0">
                <a:solidFill>
                  <a:srgbClr val="002060"/>
                </a:solidFill>
                <a:latin typeface="Segoe UI"/>
              </a:rPr>
              <a:t>pour objectiver les redondances, et </a:t>
            </a:r>
            <a:r>
              <a:rPr sz="2200" b="1" i="0">
                <a:solidFill>
                  <a:srgbClr val="002060"/>
                </a:solidFill>
                <a:latin typeface="Segoe UI"/>
              </a:rPr>
              <a:t>fiche d’aide au choix </a:t>
            </a:r>
            <a:r>
              <a:rPr sz="2200" b="0" i="0">
                <a:solidFill>
                  <a:srgbClr val="002060"/>
                </a:solidFill>
                <a:latin typeface="Segoe UI"/>
              </a:rPr>
              <a:t>par famille d’outils pour les projets clients.</a:t>
            </a:r>
          </a:p>
          <a:p>
            <a:pPr algn="l">
              <a:spcAft>
                <a:spcPts val="400"/>
              </a:spcAft>
              <a:buNone/>
            </a:pPr>
            <a:r>
              <a:rPr sz="1900" b="0" i="1">
                <a:solidFill>
                  <a:srgbClr val="E7473D"/>
                </a:solidFill>
                <a:latin typeface="Segoe UI"/>
              </a:rPr>
              <a:t>Point à confirmer : les outils d’annotation cités diffèrent entre les drafts (Tagtic, Sysweb dans Doc 2 ; SyoReaderReport, Tagtic dans Doc 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Synthèse des entretiens et ateliers</a:t>
            </a:r>
          </a:p>
        </p:txBody>
      </p:sp>
      <p:sp>
        <p:nvSpPr>
          <p:cNvPr id="4" name="Text Placeholder 3"/>
          <p:cNvSpPr>
            <a:spLocks noGrp="1"/>
          </p:cNvSpPr>
          <p:nvPr>
            <p:ph type="body" idx="14" sz="quarter"/>
          </p:nvPr>
        </p:nvSpPr>
        <p:spPr/>
        <p:txBody>
          <a:bodyPr/>
          <a:lstStyle/>
          <a:p>
            <a:r>
              <a:t>Ce qui fait consensus, ce qui reste à arbitrer</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743200"/>
            <a:ext cx="10881360" cy="7498079"/>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Round Same Side Corner Rectangle 45"/>
          <p:cNvSpPr/>
          <p:nvPr/>
        </p:nvSpPr>
        <p:spPr>
          <a:xfrm>
            <a:off x="1673352" y="2743200"/>
            <a:ext cx="10881360" cy="1097280"/>
          </a:xfrm>
          <a:prstGeom prst="round2SameRect">
            <a:avLst>
              <a:gd name="adj1" fmla="val 12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7" name="TextBox 46"/>
          <p:cNvSpPr txBox="1"/>
          <p:nvPr/>
        </p:nvSpPr>
        <p:spPr>
          <a:xfrm>
            <a:off x="2103120" y="2743200"/>
            <a:ext cx="10058400" cy="1097280"/>
          </a:xfrm>
          <a:prstGeom prst="rect">
            <a:avLst/>
          </a:prstGeom>
          <a:noFill/>
        </p:spPr>
        <p:txBody>
          <a:bodyPr wrap="square" lIns="45720" rIns="45720" anchor="ctr">
            <a:noAutofit/>
          </a:bodyPr>
          <a:lstStyle/>
          <a:p>
            <a:pPr algn="l">
              <a:spcAft>
                <a:spcPts val="400"/>
              </a:spcAft>
              <a:buNone/>
            </a:pPr>
            <a:r>
              <a:rPr sz="2900" b="1" i="0">
                <a:solidFill>
                  <a:srgbClr val="FFFFFF"/>
                </a:solidFill>
                <a:latin typeface="Segoe UI"/>
              </a:rPr>
              <a:t>Ce qui fait consensus</a:t>
            </a:r>
          </a:p>
        </p:txBody>
      </p:sp>
      <p:sp>
        <p:nvSpPr>
          <p:cNvPr id="48" name="TextBox 47"/>
          <p:cNvSpPr txBox="1"/>
          <p:nvPr/>
        </p:nvSpPr>
        <p:spPr>
          <a:xfrm>
            <a:off x="2103120" y="4069080"/>
            <a:ext cx="10149840" cy="6035040"/>
          </a:xfrm>
          <a:prstGeom prst="rect">
            <a:avLst/>
          </a:prstGeom>
          <a:noFill/>
        </p:spPr>
        <p:txBody>
          <a:bodyPr wrap="square" lIns="45720" rIns="45720" anchor="t">
            <a:noAutofit/>
          </a:bodyPr>
          <a:lstStyle/>
          <a:p>
            <a:pPr algn="l" marL="292608" indent="-256032">
              <a:spcAft>
                <a:spcPts val="1000"/>
              </a:spcAft>
              <a:buClr>
                <a:srgbClr val="3E8E57"/>
              </a:buClr>
              <a:buFont typeface="Arial"/>
              <a:buChar char="✓"/>
            </a:pPr>
            <a:r>
              <a:rPr sz="2200" b="1" i="0">
                <a:solidFill>
                  <a:srgbClr val="002060"/>
                </a:solidFill>
                <a:latin typeface="Segoe UI"/>
              </a:rPr>
              <a:t>Un besoin réel et transverse : </a:t>
            </a:r>
            <a:r>
              <a:rPr sz="2200" b="0" i="0">
                <a:solidFill>
                  <a:srgbClr val="404040"/>
                </a:solidFill>
                <a:latin typeface="Segoe UI"/>
              </a:rPr>
              <a:t>documenter l’architecture applicative et données pour gouverner le patrimoine.</a:t>
            </a:r>
          </a:p>
          <a:p>
            <a:pPr algn="l" marL="292608" indent="-256032">
              <a:spcAft>
                <a:spcPts val="1000"/>
              </a:spcAft>
              <a:buClr>
                <a:srgbClr val="3E8E57"/>
              </a:buClr>
              <a:buFont typeface="Arial"/>
              <a:buChar char="✓"/>
            </a:pPr>
            <a:r>
              <a:rPr sz="2200" b="1" i="0">
                <a:solidFill>
                  <a:srgbClr val="002060"/>
                </a:solidFill>
                <a:latin typeface="Segoe UI"/>
              </a:rPr>
              <a:t>Quatre usages prioritaires : </a:t>
            </a:r>
            <a:r>
              <a:rPr sz="2200" b="0" i="0">
                <a:solidFill>
                  <a:srgbClr val="404040"/>
                </a:solidFill>
                <a:latin typeface="Segoe UI"/>
              </a:rPr>
              <a:t>onboarding, analyse d’impact en Run, communication MOA, capitalisation.</a:t>
            </a:r>
          </a:p>
          <a:p>
            <a:pPr algn="l" marL="292608" indent="-256032">
              <a:spcAft>
                <a:spcPts val="1000"/>
              </a:spcAft>
              <a:buClr>
                <a:srgbClr val="3E8E57"/>
              </a:buClr>
              <a:buFont typeface="Arial"/>
              <a:buChar char="✓"/>
            </a:pPr>
            <a:r>
              <a:rPr sz="2200" b="1" i="0">
                <a:solidFill>
                  <a:srgbClr val="002060"/>
                </a:solidFill>
                <a:latin typeface="Segoe UI"/>
              </a:rPr>
              <a:t>Deux vues attendues : </a:t>
            </a:r>
            <a:r>
              <a:rPr sz="2200" b="0" i="0">
                <a:solidFill>
                  <a:srgbClr val="404040"/>
                </a:solidFill>
                <a:latin typeface="Segoe UI"/>
              </a:rPr>
              <a:t>statique (de quoi est fait le patrimoine) et dynamique (comment il interagit).</a:t>
            </a:r>
          </a:p>
          <a:p>
            <a:pPr algn="l" marL="292608" indent="-256032">
              <a:spcAft>
                <a:spcPts val="1000"/>
              </a:spcAft>
              <a:buClr>
                <a:srgbClr val="3E8E57"/>
              </a:buClr>
              <a:buFont typeface="Arial"/>
              <a:buChar char="✓"/>
            </a:pPr>
            <a:r>
              <a:rPr sz="2200" b="1" i="0">
                <a:solidFill>
                  <a:srgbClr val="002060"/>
                </a:solidFill>
                <a:latin typeface="Segoe UI"/>
              </a:rPr>
              <a:t>Un format visuel et lisible : </a:t>
            </a:r>
            <a:r>
              <a:rPr sz="2200" b="0" i="0">
                <a:solidFill>
                  <a:srgbClr val="404040"/>
                </a:solidFill>
                <a:latin typeface="Segoe UI"/>
              </a:rPr>
              <a:t>PowerPoint privilégié à Visio pour la fiche, malgré un effort de maintenance supérieur.</a:t>
            </a:r>
          </a:p>
          <a:p>
            <a:pPr algn="l" marL="292608" indent="-256032">
              <a:spcAft>
                <a:spcPts val="1000"/>
              </a:spcAft>
              <a:buClr>
                <a:srgbClr val="3E8E57"/>
              </a:buClr>
              <a:buFont typeface="Arial"/>
              <a:buChar char="✓"/>
            </a:pPr>
            <a:r>
              <a:rPr sz="2200" b="1" i="0">
                <a:solidFill>
                  <a:srgbClr val="002060"/>
                </a:solidFill>
                <a:latin typeface="Segoe UI"/>
              </a:rPr>
              <a:t>Une production décentralisée : </a:t>
            </a:r>
            <a:r>
              <a:rPr sz="2200" b="0" i="0">
                <a:solidFill>
                  <a:srgbClr val="404040"/>
                </a:solidFill>
                <a:latin typeface="Segoe UI"/>
              </a:rPr>
              <a:t>par les propriétaires d’applications.</a:t>
            </a:r>
          </a:p>
          <a:p>
            <a:pPr algn="l" marL="292608" indent="-256032">
              <a:spcAft>
                <a:spcPts val="1000"/>
              </a:spcAft>
              <a:buClr>
                <a:srgbClr val="3E8E57"/>
              </a:buClr>
              <a:buFont typeface="Arial"/>
              <a:buChar char="✓"/>
            </a:pPr>
            <a:r>
              <a:rPr sz="2200" b="1" i="0">
                <a:solidFill>
                  <a:srgbClr val="002060"/>
                </a:solidFill>
                <a:latin typeface="Segoe UI"/>
              </a:rPr>
              <a:t>Des règles et canevas communs : </a:t>
            </a:r>
            <a:r>
              <a:rPr sz="2200" b="0" i="0">
                <a:solidFill>
                  <a:srgbClr val="404040"/>
                </a:solidFill>
                <a:latin typeface="Segoe UI"/>
              </a:rPr>
              <a:t>pour harmoniser le formalisme.</a:t>
            </a:r>
          </a:p>
        </p:txBody>
      </p:sp>
      <p:sp>
        <p:nvSpPr>
          <p:cNvPr id="49" name="Rounded Rectangle 48"/>
          <p:cNvSpPr/>
          <p:nvPr/>
        </p:nvSpPr>
        <p:spPr>
          <a:xfrm>
            <a:off x="12829032" y="2743200"/>
            <a:ext cx="10881360" cy="7498079"/>
          </a:xfrm>
          <a:prstGeom prst="roundRect">
            <a:avLst>
              <a:gd name="adj" fmla="val 6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0" name="Round Same Side Corner Rectangle 49"/>
          <p:cNvSpPr/>
          <p:nvPr/>
        </p:nvSpPr>
        <p:spPr>
          <a:xfrm>
            <a:off x="12829032" y="2743200"/>
            <a:ext cx="10881360" cy="1097280"/>
          </a:xfrm>
          <a:prstGeom prst="round2SameRect">
            <a:avLst>
              <a:gd name="adj1" fmla="val 12000"/>
              <a:gd name="adj2" fmla="val 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1" name="TextBox 50"/>
          <p:cNvSpPr txBox="1"/>
          <p:nvPr/>
        </p:nvSpPr>
        <p:spPr>
          <a:xfrm>
            <a:off x="13258800" y="2743200"/>
            <a:ext cx="10058400" cy="1097280"/>
          </a:xfrm>
          <a:prstGeom prst="rect">
            <a:avLst/>
          </a:prstGeom>
          <a:noFill/>
        </p:spPr>
        <p:txBody>
          <a:bodyPr wrap="square" lIns="45720" rIns="45720" anchor="ctr">
            <a:noAutofit/>
          </a:bodyPr>
          <a:lstStyle/>
          <a:p>
            <a:pPr algn="l">
              <a:spcAft>
                <a:spcPts val="400"/>
              </a:spcAft>
              <a:buNone/>
            </a:pPr>
            <a:r>
              <a:rPr sz="2900" b="1" i="0">
                <a:solidFill>
                  <a:srgbClr val="FFFFFF"/>
                </a:solidFill>
                <a:latin typeface="Segoe UI"/>
              </a:rPr>
              <a:t>Ce qui reste à arbitrer</a:t>
            </a:r>
          </a:p>
        </p:txBody>
      </p:sp>
      <p:sp>
        <p:nvSpPr>
          <p:cNvPr id="52" name="TextBox 51"/>
          <p:cNvSpPr txBox="1"/>
          <p:nvPr/>
        </p:nvSpPr>
        <p:spPr>
          <a:xfrm>
            <a:off x="13258800" y="4069080"/>
            <a:ext cx="10149840" cy="6035040"/>
          </a:xfrm>
          <a:prstGeom prst="rect">
            <a:avLst/>
          </a:prstGeom>
          <a:noFill/>
        </p:spPr>
        <p:txBody>
          <a:bodyPr wrap="square" lIns="45720" rIns="45720" anchor="t">
            <a:noAutofit/>
          </a:bodyPr>
          <a:lstStyle/>
          <a:p>
            <a:pPr algn="l" marL="292608" indent="-256032">
              <a:spcAft>
                <a:spcPts val="1000"/>
              </a:spcAft>
              <a:buClr>
                <a:srgbClr val="E06206"/>
              </a:buClr>
              <a:buFont typeface="Arial"/>
              <a:buChar char="?"/>
            </a:pPr>
            <a:r>
              <a:rPr sz="2200" b="1" i="0">
                <a:solidFill>
                  <a:srgbClr val="002060"/>
                </a:solidFill>
                <a:latin typeface="Segoe UI"/>
              </a:rPr>
              <a:t>Niveau de vue : </a:t>
            </a:r>
            <a:r>
              <a:rPr sz="2200" b="0" i="0">
                <a:solidFill>
                  <a:srgbClr val="404040"/>
                </a:solidFill>
                <a:latin typeface="Segoe UI"/>
              </a:rPr>
              <a:t>H630 privilégie la vue fonctionnelle ; une vue technique est aussi demandée.</a:t>
            </a:r>
          </a:p>
          <a:p>
            <a:pPr algn="l" marL="292608" indent="-256032">
              <a:spcAft>
                <a:spcPts val="1000"/>
              </a:spcAft>
              <a:buClr>
                <a:srgbClr val="E06206"/>
              </a:buClr>
              <a:buFont typeface="Arial"/>
              <a:buChar char="?"/>
            </a:pPr>
            <a:r>
              <a:rPr sz="2200" b="1" i="0">
                <a:solidFill>
                  <a:srgbClr val="002060"/>
                </a:solidFill>
                <a:latin typeface="Segoe UI"/>
              </a:rPr>
              <a:t>Outillage : </a:t>
            </a:r>
            <a:r>
              <a:rPr sz="2200" b="0" i="0">
                <a:solidFill>
                  <a:srgbClr val="404040"/>
                </a:solidFill>
                <a:latin typeface="Segoe UI"/>
              </a:rPr>
              <a:t>PowerPoint, Visio, ROBIN ou Excalidraw, sans standard groupe.</a:t>
            </a:r>
          </a:p>
          <a:p>
            <a:pPr algn="l" marL="292608" indent="-256032">
              <a:spcAft>
                <a:spcPts val="1000"/>
              </a:spcAft>
              <a:buClr>
                <a:srgbClr val="E06206"/>
              </a:buClr>
              <a:buFont typeface="Arial"/>
              <a:buChar char="?"/>
            </a:pPr>
            <a:r>
              <a:rPr sz="2200" b="1" i="0">
                <a:solidFill>
                  <a:srgbClr val="002060"/>
                </a:solidFill>
                <a:latin typeface="Segoe UI"/>
              </a:rPr>
              <a:t>Source de la vue dynamique : </a:t>
            </a:r>
            <a:r>
              <a:rPr sz="2200" b="0" i="0">
                <a:solidFill>
                  <a:srgbClr val="404040"/>
                </a:solidFill>
                <a:latin typeface="Segoe UI"/>
              </a:rPr>
              <a:t>information ROBIN seule ou représentation graphique complétée.</a:t>
            </a:r>
          </a:p>
          <a:p>
            <a:pPr algn="l" marL="292608" indent="-256032">
              <a:spcAft>
                <a:spcPts val="1000"/>
              </a:spcAft>
              <a:buClr>
                <a:srgbClr val="E06206"/>
              </a:buClr>
              <a:buFont typeface="Arial"/>
              <a:buChar char="?"/>
            </a:pPr>
            <a:r>
              <a:rPr sz="2200" b="1" i="0">
                <a:solidFill>
                  <a:srgbClr val="002060"/>
                </a:solidFill>
                <a:latin typeface="Segoe UI"/>
              </a:rPr>
              <a:t>Granularité : </a:t>
            </a:r>
            <a:r>
              <a:rPr sz="2200" b="0" i="0">
                <a:solidFill>
                  <a:srgbClr val="404040"/>
                </a:solidFill>
                <a:latin typeface="Segoe UI"/>
              </a:rPr>
              <a:t>quel détail pour expliquer « comment ça marche » sans rendre la mise à jour intenable ?</a:t>
            </a:r>
          </a:p>
          <a:p>
            <a:pPr algn="l" marL="292608" indent="-256032">
              <a:spcAft>
                <a:spcPts val="1000"/>
              </a:spcAft>
              <a:buClr>
                <a:srgbClr val="E06206"/>
              </a:buClr>
              <a:buFont typeface="Arial"/>
              <a:buChar char="?"/>
            </a:pPr>
            <a:r>
              <a:rPr sz="2200" b="1" i="0">
                <a:solidFill>
                  <a:srgbClr val="002060"/>
                </a:solidFill>
                <a:latin typeface="Segoe UI"/>
              </a:rPr>
              <a:t>Liberté ou socle commun : </a:t>
            </a:r>
            <a:r>
              <a:rPr sz="2200" b="0" i="0">
                <a:solidFill>
                  <a:srgbClr val="404040"/>
                </a:solidFill>
                <a:latin typeface="Segoe UI"/>
              </a:rPr>
              <a:t>écart de position entre les deux drafts.</a:t>
            </a:r>
          </a:p>
          <a:p>
            <a:pPr algn="l" marL="292608" indent="-256032">
              <a:spcAft>
                <a:spcPts val="1000"/>
              </a:spcAft>
              <a:buClr>
                <a:srgbClr val="E06206"/>
              </a:buClr>
              <a:buFont typeface="Arial"/>
              <a:buChar char="?"/>
            </a:pPr>
            <a:r>
              <a:rPr sz="2200" b="1" i="0">
                <a:solidFill>
                  <a:srgbClr val="002060"/>
                </a:solidFill>
                <a:latin typeface="Segoe UI"/>
              </a:rPr>
              <a:t>Calendrier : </a:t>
            </a:r>
            <a:r>
              <a:rPr sz="2200" b="0" i="0">
                <a:solidFill>
                  <a:srgbClr val="404040"/>
                </a:solidFill>
                <a:latin typeface="Segoe UI"/>
              </a:rPr>
              <a:t>la question « Quel délai ? » reste ouverte.</a:t>
            </a:r>
          </a:p>
        </p:txBody>
      </p:sp>
      <p:sp>
        <p:nvSpPr>
          <p:cNvPr id="53" name="Rounded Rectangle 52"/>
          <p:cNvSpPr/>
          <p:nvPr/>
        </p:nvSpPr>
        <p:spPr>
          <a:xfrm>
            <a:off x="1673352" y="10515600"/>
            <a:ext cx="22037040" cy="1965960"/>
          </a:xfrm>
          <a:prstGeom prst="roundRect">
            <a:avLst>
              <a:gd name="adj" fmla="val 8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54" name="Picture 53" descr="s6_Image_10.png"/>
          <p:cNvPicPr>
            <a:picLocks noChangeAspect="1"/>
          </p:cNvPicPr>
          <p:nvPr/>
        </p:nvPicPr>
        <p:blipFill>
          <a:blip r:embed="rId2"/>
          <a:stretch>
            <a:fillRect/>
          </a:stretch>
        </p:blipFill>
        <p:spPr>
          <a:xfrm>
            <a:off x="2057400" y="10881360"/>
            <a:ext cx="1234440" cy="1234440"/>
          </a:xfrm>
          <a:prstGeom prst="rect">
            <a:avLst/>
          </a:prstGeom>
        </p:spPr>
      </p:pic>
      <p:sp>
        <p:nvSpPr>
          <p:cNvPr id="55" name="TextBox 54"/>
          <p:cNvSpPr txBox="1"/>
          <p:nvPr/>
        </p:nvSpPr>
        <p:spPr>
          <a:xfrm>
            <a:off x="3566160" y="10561320"/>
            <a:ext cx="19842480" cy="1874519"/>
          </a:xfrm>
          <a:prstGeom prst="rect">
            <a:avLst/>
          </a:prstGeom>
          <a:noFill/>
        </p:spPr>
        <p:txBody>
          <a:bodyPr wrap="square" lIns="45720" rIns="45720" anchor="ctr">
            <a:noAutofit/>
          </a:bodyPr>
          <a:lstStyle/>
          <a:p>
            <a:pPr algn="l">
              <a:spcAft>
                <a:spcPts val="400"/>
              </a:spcAft>
              <a:buNone/>
            </a:pPr>
            <a:r>
              <a:rPr sz="2300" b="0" i="0">
                <a:solidFill>
                  <a:srgbClr val="FFFFFF"/>
                </a:solidFill>
                <a:latin typeface="Segoe UI"/>
              </a:rPr>
              <a:t>Ces arbitrages conditionnent le contenu des canevas et le choix de l’outil, donc la capacité des équipes à produire. </a:t>
            </a:r>
            <a:r>
              <a:rPr sz="2300" b="1" i="0">
                <a:solidFill>
                  <a:srgbClr val="F4B183"/>
                </a:solidFill>
                <a:latin typeface="Segoe UI"/>
              </a:rPr>
              <a:t>Ils constituent l’ordre du jour de la réunion de synthèse : nos recommandations en page suivante.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Nos recommandations sur les points à arbitrer</a:t>
            </a:r>
          </a:p>
        </p:txBody>
      </p:sp>
      <p:sp>
        <p:nvSpPr>
          <p:cNvPr id="4" name="Text Placeholder 3"/>
          <p:cNvSpPr>
            <a:spLocks noGrp="1"/>
          </p:cNvSpPr>
          <p:nvPr>
            <p:ph type="body" idx="14" sz="quarter"/>
          </p:nvPr>
        </p:nvSpPr>
        <p:spPr/>
        <p:txBody>
          <a:bodyPr/>
          <a:lstStyle/>
          <a:p>
            <a:r>
              <a:t>Ordre du jour proposé pour la réunion de synthèse</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21579840" y="1874519"/>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graphicFrame>
        <p:nvGraphicFramePr>
          <p:cNvPr id="46" name="Table 45"/>
          <p:cNvGraphicFramePr>
            <a:graphicFrameLocks noGrp="1"/>
          </p:cNvGraphicFramePr>
          <p:nvPr/>
        </p:nvGraphicFramePr>
        <p:xfrm>
          <a:off x="1673352" y="2788920"/>
          <a:ext cx="22037040" cy="9464040"/>
        </p:xfrm>
        <a:graphic>
          <a:graphicData uri="http://schemas.openxmlformats.org/drawingml/2006/table">
            <a:tbl>
              <a:tblPr firstRow="0" bandRow="0">
                <a:tableStyleId>{5940675A-B579-460E-94D1-54222C63F5DA}</a:tableStyleId>
              </a:tblPr>
              <a:tblGrid>
                <a:gridCol w="3840480"/>
                <a:gridCol w="5120640"/>
                <a:gridCol w="7589520"/>
                <a:gridCol w="5486400"/>
              </a:tblGrid>
              <a:tr h="685800">
                <a:tc>
                  <a:txBody>
                    <a:bodyPr wrap="square" anchor="ctr">
                      <a:noAutofit/>
                    </a:bodyPr>
                    <a:lstStyle/>
                    <a:p>
                      <a:pPr algn="l">
                        <a:spcAft>
                          <a:spcPts val="0"/>
                        </a:spcAft>
                        <a:buNone/>
                      </a:pPr>
                      <a:r>
                        <a:rPr sz="2200" b="1" i="0">
                          <a:solidFill>
                            <a:srgbClr val="FFFFFF"/>
                          </a:solidFill>
                          <a:latin typeface="Segoe UI"/>
                        </a:rPr>
                        <a:t>Arbitrage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Options en présence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Recommandation</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Justification</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r>
              <a:tr h="1463040">
                <a:tc>
                  <a:txBody>
                    <a:bodyPr wrap="square" anchor="ctr">
                      <a:noAutofit/>
                    </a:bodyPr>
                    <a:lstStyle/>
                    <a:p>
                      <a:pPr algn="l">
                        <a:spcAft>
                          <a:spcPts val="200"/>
                        </a:spcAft>
                        <a:buNone/>
                      </a:pPr>
                      <a:r>
                        <a:rPr sz="1900" b="1" i="0">
                          <a:solidFill>
                            <a:srgbClr val="002060"/>
                          </a:solidFill>
                          <a:latin typeface="Segoe UI"/>
                        </a:rPr>
                        <a:t>Niveau de vue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Fonctionnel seul / + applicatif / + technique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1" i="0">
                          <a:solidFill>
                            <a:srgbClr val="002060"/>
                          </a:solidFill>
                          <a:latin typeface="Segoe UI"/>
                        </a:rPr>
                        <a:t>Fonctionnel et applicatif obligatoires ; technique en version légère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Le fonctionnel est stable dans le temps ; l’applicatif porte l’analyse d’impact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463040">
                <a:tc>
                  <a:txBody>
                    <a:bodyPr wrap="square" anchor="ctr">
                      <a:noAutofit/>
                    </a:bodyPr>
                    <a:lstStyle/>
                    <a:p>
                      <a:pPr algn="l">
                        <a:spcAft>
                          <a:spcPts val="200"/>
                        </a:spcAft>
                        <a:buNone/>
                      </a:pPr>
                      <a:r>
                        <a:rPr sz="1900" b="1" i="0">
                          <a:solidFill>
                            <a:srgbClr val="002060"/>
                          </a:solidFill>
                          <a:latin typeface="Segoe UI"/>
                        </a:rPr>
                        <a:t>Outil de la vue dynamique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PowerPoint, Visio, ROBIN, Excalidraw</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1" i="0">
                          <a:solidFill>
                            <a:srgbClr val="002060"/>
                          </a:solidFill>
                          <a:latin typeface="Segoe UI"/>
                        </a:rPr>
                        <a:t>Un outil unique retenu après pilote, avec bibliothèque de formes commune ; PowerPoint conservé pour la fiche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Lisibilité inter-équipes et réutilisation des schémas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463040">
                <a:tc>
                  <a:txBody>
                    <a:bodyPr wrap="square" anchor="ctr">
                      <a:noAutofit/>
                    </a:bodyPr>
                    <a:lstStyle/>
                    <a:p>
                      <a:pPr algn="l">
                        <a:spcAft>
                          <a:spcPts val="200"/>
                        </a:spcAft>
                        <a:buNone/>
                      </a:pPr>
                      <a:r>
                        <a:rPr sz="1900" b="1" i="0">
                          <a:solidFill>
                            <a:srgbClr val="002060"/>
                          </a:solidFill>
                          <a:latin typeface="Segoe UI"/>
                        </a:rPr>
                        <a:t>Source de la vue dynamique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ROBIN seul / représentation graphique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1" i="0">
                          <a:solidFill>
                            <a:srgbClr val="002060"/>
                          </a:solidFill>
                          <a:latin typeface="Segoe UI"/>
                        </a:rPr>
                        <a:t>ROBIN comme socle (ATEL, BDD), complété manuellement pour les strates hors ROBIN et Cloud</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Pas de double saisie, dépendances invisibles couvertes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463040">
                <a:tc>
                  <a:txBody>
                    <a:bodyPr wrap="square" anchor="ctr">
                      <a:noAutofit/>
                    </a:bodyPr>
                    <a:lstStyle/>
                    <a:p>
                      <a:pPr algn="l">
                        <a:spcAft>
                          <a:spcPts val="200"/>
                        </a:spcAft>
                        <a:buNone/>
                      </a:pPr>
                      <a:r>
                        <a:rPr sz="1900" b="1" i="0">
                          <a:solidFill>
                            <a:srgbClr val="002060"/>
                          </a:solidFill>
                          <a:latin typeface="Segoe UI"/>
                        </a:rPr>
                        <a:t>Granularité</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Code ROBIN / application / service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1" i="0">
                          <a:solidFill>
                            <a:srgbClr val="002060"/>
                          </a:solidFill>
                          <a:latin typeface="Segoe UI"/>
                        </a:rPr>
                        <a:t>Une fiche par application rattachée à son code ROBIN ; schéma au niveau des services de rang 2</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Alignement sur le catalogue de services et sur le besoin Run</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463040">
                <a:tc>
                  <a:txBody>
                    <a:bodyPr wrap="square" anchor="ctr">
                      <a:noAutofit/>
                    </a:bodyPr>
                    <a:lstStyle/>
                    <a:p>
                      <a:pPr algn="l">
                        <a:spcAft>
                          <a:spcPts val="200"/>
                        </a:spcAft>
                        <a:buNone/>
                      </a:pPr>
                      <a:r>
                        <a:rPr sz="1900" b="1" i="0">
                          <a:solidFill>
                            <a:srgbClr val="002060"/>
                          </a:solidFill>
                          <a:latin typeface="Segoe UI"/>
                        </a:rPr>
                        <a:t>Liberté des équipes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Libre / normé</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1" i="0">
                          <a:solidFill>
                            <a:srgbClr val="002060"/>
                          </a:solidFill>
                          <a:latin typeface="Segoe UI"/>
                        </a:rPr>
                        <a:t>Socle minimal obligatoire, liberté au-delà</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Concilie harmonisation et autonomie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463040">
                <a:tc>
                  <a:txBody>
                    <a:bodyPr wrap="square" anchor="ctr">
                      <a:noAutofit/>
                    </a:bodyPr>
                    <a:lstStyle/>
                    <a:p>
                      <a:pPr algn="l">
                        <a:spcAft>
                          <a:spcPts val="200"/>
                        </a:spcAft>
                        <a:buNone/>
                      </a:pPr>
                      <a:r>
                        <a:rPr sz="1900" b="1" i="0">
                          <a:solidFill>
                            <a:srgbClr val="002060"/>
                          </a:solidFill>
                          <a:latin typeface="Segoe UI"/>
                        </a:rPr>
                        <a:t>Calendrier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Généralisation directe / pilote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1" i="0">
                          <a:solidFill>
                            <a:srgbClr val="002060"/>
                          </a:solidFill>
                          <a:latin typeface="Segoe UI"/>
                        </a:rPr>
                        <a:t>Pilote sur CADI et une application par équipe, puis généralisation par vagues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Valide les templates et mesure l’effort réel avant engagement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03  Dispositif cible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 modèle unifié : couches × niveaux</a:t>
            </a:r>
          </a:p>
        </p:txBody>
      </p:sp>
      <p:sp>
        <p:nvSpPr>
          <p:cNvPr id="4" name="Text Placeholder 3"/>
          <p:cNvSpPr>
            <a:spLocks noGrp="1"/>
          </p:cNvSpPr>
          <p:nvPr>
            <p:ph type="body" idx="14" sz="quarter"/>
          </p:nvPr>
        </p:nvSpPr>
        <p:spPr/>
        <p:txBody>
          <a:bodyPr/>
          <a:lstStyle/>
          <a:p>
            <a:r>
              <a:t>Réconcilier la grille TOGAF (Doc 1) et les niveaux N0 à N3 (Doc 2)</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4721840" y="2670048"/>
            <a:ext cx="9061704" cy="9272016"/>
          </a:xfrm>
          <a:prstGeom prst="roundRect">
            <a:avLst>
              <a:gd name="adj" fmla="val 3000"/>
            </a:avLst>
          </a:prstGeom>
          <a:noFill/>
          <a:ln w="28575">
            <a:solidFill>
              <a:srgbClr val="E0620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Rounded Rectangle 45"/>
          <p:cNvSpPr/>
          <p:nvPr/>
        </p:nvSpPr>
        <p:spPr>
          <a:xfrm>
            <a:off x="5742432" y="2743200"/>
            <a:ext cx="4389120" cy="1188720"/>
          </a:xfrm>
          <a:prstGeom prst="roundRect">
            <a:avLst>
              <a:gd name="adj" fmla="val 1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800" b="1" i="0">
                <a:solidFill>
                  <a:srgbClr val="F4B183"/>
                </a:solidFill>
                <a:latin typeface="Segoe UI"/>
              </a:rPr>
              <a:t>NIVEAU 0</a:t>
            </a:r>
          </a:p>
          <a:p>
            <a:pPr algn="ctr">
              <a:spcAft>
                <a:spcPts val="400"/>
              </a:spcAft>
              <a:buNone/>
            </a:pPr>
            <a:r>
              <a:rPr sz="2000" b="1" i="0">
                <a:solidFill>
                  <a:srgbClr val="FFFFFF"/>
                </a:solidFill>
                <a:latin typeface="Segoe UI"/>
              </a:rPr>
              <a:t>Chaîne de valeur</a:t>
            </a:r>
          </a:p>
        </p:txBody>
      </p:sp>
      <p:sp>
        <p:nvSpPr>
          <p:cNvPr id="47" name="Rounded Rectangle 46"/>
          <p:cNvSpPr/>
          <p:nvPr/>
        </p:nvSpPr>
        <p:spPr>
          <a:xfrm>
            <a:off x="10268712" y="2743200"/>
            <a:ext cx="4389120" cy="1188720"/>
          </a:xfrm>
          <a:prstGeom prst="roundRect">
            <a:avLst>
              <a:gd name="adj" fmla="val 1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800" b="1" i="0">
                <a:solidFill>
                  <a:srgbClr val="F4B183"/>
                </a:solidFill>
                <a:latin typeface="Segoe UI"/>
              </a:rPr>
              <a:t>NIVEAU 1</a:t>
            </a:r>
          </a:p>
          <a:p>
            <a:pPr algn="ctr">
              <a:spcAft>
                <a:spcPts val="400"/>
              </a:spcAft>
              <a:buNone/>
            </a:pPr>
            <a:r>
              <a:rPr sz="2000" b="1" i="0">
                <a:solidFill>
                  <a:srgbClr val="FFFFFF"/>
                </a:solidFill>
                <a:latin typeface="Segoe UI"/>
              </a:rPr>
              <a:t>Cartographie ROBIN</a:t>
            </a:r>
          </a:p>
        </p:txBody>
      </p:sp>
      <p:sp>
        <p:nvSpPr>
          <p:cNvPr id="48" name="Rounded Rectangle 47"/>
          <p:cNvSpPr/>
          <p:nvPr/>
        </p:nvSpPr>
        <p:spPr>
          <a:xfrm>
            <a:off x="14794992" y="2743200"/>
            <a:ext cx="4389120" cy="1188720"/>
          </a:xfrm>
          <a:prstGeom prst="roundRect">
            <a:avLst>
              <a:gd name="adj" fmla="val 1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800" b="1" i="0">
                <a:solidFill>
                  <a:srgbClr val="F4B183"/>
                </a:solidFill>
                <a:latin typeface="Segoe UI"/>
              </a:rPr>
              <a:t>NIVEAU 2</a:t>
            </a:r>
          </a:p>
          <a:p>
            <a:pPr algn="ctr">
              <a:spcAft>
                <a:spcPts val="400"/>
              </a:spcAft>
              <a:buNone/>
            </a:pPr>
            <a:r>
              <a:rPr sz="2000" b="1" i="0">
                <a:solidFill>
                  <a:srgbClr val="FFFFFF"/>
                </a:solidFill>
                <a:latin typeface="Segoe UI"/>
              </a:rPr>
              <a:t>Vue statique : fiche d’identité</a:t>
            </a:r>
          </a:p>
        </p:txBody>
      </p:sp>
      <p:sp>
        <p:nvSpPr>
          <p:cNvPr id="49" name="Rounded Rectangle 48"/>
          <p:cNvSpPr/>
          <p:nvPr/>
        </p:nvSpPr>
        <p:spPr>
          <a:xfrm>
            <a:off x="19321272" y="2743200"/>
            <a:ext cx="4389120" cy="1188720"/>
          </a:xfrm>
          <a:prstGeom prst="roundRect">
            <a:avLst>
              <a:gd name="adj" fmla="val 1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800" b="1" i="0">
                <a:solidFill>
                  <a:srgbClr val="F4B183"/>
                </a:solidFill>
                <a:latin typeface="Segoe UI"/>
              </a:rPr>
              <a:t>NIVEAU 3</a:t>
            </a:r>
          </a:p>
          <a:p>
            <a:pPr algn="ctr">
              <a:spcAft>
                <a:spcPts val="400"/>
              </a:spcAft>
              <a:buNone/>
            </a:pPr>
            <a:r>
              <a:rPr sz="2000" b="1" i="0">
                <a:solidFill>
                  <a:srgbClr val="FFFFFF"/>
                </a:solidFill>
                <a:latin typeface="Segoe UI"/>
              </a:rPr>
              <a:t>Vue dynamique : services et interactions</a:t>
            </a:r>
          </a:p>
        </p:txBody>
      </p:sp>
      <p:sp>
        <p:nvSpPr>
          <p:cNvPr id="50" name="Rounded Rectangle 49"/>
          <p:cNvSpPr/>
          <p:nvPr/>
        </p:nvSpPr>
        <p:spPr>
          <a:xfrm>
            <a:off x="1673352" y="4069080"/>
            <a:ext cx="3931920" cy="1847088"/>
          </a:xfrm>
          <a:prstGeom prst="roundRect">
            <a:avLst>
              <a:gd name="adj" fmla="val 8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noAutofit/>
          </a:bodyPr>
          <a:lstStyle/>
          <a:p>
            <a:pPr algn="l">
              <a:spcAft>
                <a:spcPts val="200"/>
              </a:spcAft>
              <a:buNone/>
            </a:pPr>
            <a:r>
              <a:rPr sz="2300" b="1" i="0">
                <a:solidFill>
                  <a:srgbClr val="002060"/>
                </a:solidFill>
                <a:latin typeface="Segoe UI"/>
              </a:rPr>
              <a:t>Métier</a:t>
            </a:r>
          </a:p>
          <a:p>
            <a:pPr algn="l">
              <a:spcAft>
                <a:spcPts val="400"/>
              </a:spcAft>
              <a:buNone/>
            </a:pPr>
            <a:r>
              <a:rPr sz="1900" b="0" i="1">
                <a:solidFill>
                  <a:srgbClr val="7F7F7F"/>
                </a:solidFill>
                <a:latin typeface="Segoe UI"/>
              </a:rPr>
              <a:t>Pourquoi ?</a:t>
            </a:r>
          </a:p>
        </p:txBody>
      </p:sp>
      <p:sp>
        <p:nvSpPr>
          <p:cNvPr id="51" name="Rounded Rectangle 50"/>
          <p:cNvSpPr/>
          <p:nvPr/>
        </p:nvSpPr>
        <p:spPr>
          <a:xfrm>
            <a:off x="5742432" y="4069080"/>
            <a:ext cx="4389120" cy="1847088"/>
          </a:xfrm>
          <a:prstGeom prst="roundRect">
            <a:avLst>
              <a:gd name="adj" fmla="val 8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2" name="TextBox 51"/>
          <p:cNvSpPr txBox="1"/>
          <p:nvPr/>
        </p:nvSpPr>
        <p:spPr>
          <a:xfrm>
            <a:off x="5925312" y="4178808"/>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Chaîne de valeur et services du catalogue de niveau 0</a:t>
            </a:r>
          </a:p>
        </p:txBody>
      </p:sp>
      <p:sp>
        <p:nvSpPr>
          <p:cNvPr id="53" name="Rounded Rectangle 52"/>
          <p:cNvSpPr/>
          <p:nvPr/>
        </p:nvSpPr>
        <p:spPr>
          <a:xfrm>
            <a:off x="5925312" y="5413248"/>
            <a:ext cx="1463040" cy="365760"/>
          </a:xfrm>
          <a:prstGeom prst="roundRect">
            <a:avLst>
              <a:gd name="adj" fmla="val 50000"/>
            </a:avLst>
          </a:prstGeom>
          <a:solidFill>
            <a:srgbClr val="3E8E57"/>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Existant</a:t>
            </a:r>
          </a:p>
        </p:txBody>
      </p:sp>
      <p:sp>
        <p:nvSpPr>
          <p:cNvPr id="54" name="Rounded Rectangle 53"/>
          <p:cNvSpPr/>
          <p:nvPr/>
        </p:nvSpPr>
        <p:spPr>
          <a:xfrm>
            <a:off x="10268712" y="4069080"/>
            <a:ext cx="4389120" cy="1847088"/>
          </a:xfrm>
          <a:prstGeom prst="roundRect">
            <a:avLst>
              <a:gd name="adj" fmla="val 8000"/>
            </a:avLst>
          </a:prstGeom>
          <a:solidFill>
            <a:srgbClr val="FAFAFA"/>
          </a:solidFill>
          <a:ln w="12700">
            <a:solidFill>
              <a:srgbClr val="E4E5E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noAutofit/>
          </a:bodyPr>
          <a:lstStyle/>
          <a:p>
            <a:pPr algn="ctr">
              <a:spcAft>
                <a:spcPts val="400"/>
              </a:spcAft>
              <a:buNone/>
            </a:pPr>
            <a:r>
              <a:rPr sz="2200" b="0" i="0">
                <a:solidFill>
                  <a:srgbClr val="A6A6A6"/>
                </a:solidFill>
                <a:latin typeface="Segoe UI"/>
              </a:rPr>
              <a:t>—</a:t>
            </a:r>
          </a:p>
        </p:txBody>
      </p:sp>
      <p:sp>
        <p:nvSpPr>
          <p:cNvPr id="55" name="Rounded Rectangle 54"/>
          <p:cNvSpPr/>
          <p:nvPr/>
        </p:nvSpPr>
        <p:spPr>
          <a:xfrm>
            <a:off x="14794992" y="4069080"/>
            <a:ext cx="4389120" cy="1847088"/>
          </a:xfrm>
          <a:prstGeom prst="roundRect">
            <a:avLst>
              <a:gd name="adj" fmla="val 8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6" name="TextBox 55"/>
          <p:cNvSpPr txBox="1"/>
          <p:nvPr/>
        </p:nvSpPr>
        <p:spPr>
          <a:xfrm>
            <a:off x="14977872" y="4178808"/>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Clients utilisateurs et cas d’usage de l’application</a:t>
            </a:r>
          </a:p>
        </p:txBody>
      </p:sp>
      <p:sp>
        <p:nvSpPr>
          <p:cNvPr id="57" name="Rounded Rectangle 56"/>
          <p:cNvSpPr/>
          <p:nvPr/>
        </p:nvSpPr>
        <p:spPr>
          <a:xfrm>
            <a:off x="14977872" y="5413248"/>
            <a:ext cx="1463040" cy="365760"/>
          </a:xfrm>
          <a:prstGeom prst="roundRect">
            <a:avLst>
              <a:gd name="adj" fmla="val 50000"/>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À faire</a:t>
            </a:r>
          </a:p>
        </p:txBody>
      </p:sp>
      <p:sp>
        <p:nvSpPr>
          <p:cNvPr id="58" name="Rounded Rectangle 57"/>
          <p:cNvSpPr/>
          <p:nvPr/>
        </p:nvSpPr>
        <p:spPr>
          <a:xfrm>
            <a:off x="19321272" y="4069080"/>
            <a:ext cx="4389120" cy="1847088"/>
          </a:xfrm>
          <a:prstGeom prst="roundRect">
            <a:avLst>
              <a:gd name="adj" fmla="val 8000"/>
            </a:avLst>
          </a:prstGeom>
          <a:solidFill>
            <a:srgbClr val="FAFAFA"/>
          </a:solidFill>
          <a:ln w="12700">
            <a:solidFill>
              <a:srgbClr val="E4E5E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noAutofit/>
          </a:bodyPr>
          <a:lstStyle/>
          <a:p>
            <a:pPr algn="ctr">
              <a:spcAft>
                <a:spcPts val="400"/>
              </a:spcAft>
              <a:buNone/>
            </a:pPr>
            <a:r>
              <a:rPr sz="2200" b="0" i="0">
                <a:solidFill>
                  <a:srgbClr val="A6A6A6"/>
                </a:solidFill>
                <a:latin typeface="Segoe UI"/>
              </a:rPr>
              <a:t>—</a:t>
            </a:r>
          </a:p>
        </p:txBody>
      </p:sp>
      <p:sp>
        <p:nvSpPr>
          <p:cNvPr id="59" name="Rounded Rectangle 58"/>
          <p:cNvSpPr/>
          <p:nvPr/>
        </p:nvSpPr>
        <p:spPr>
          <a:xfrm>
            <a:off x="1673352" y="6053328"/>
            <a:ext cx="3931920" cy="1847088"/>
          </a:xfrm>
          <a:prstGeom prst="roundRect">
            <a:avLst>
              <a:gd name="adj" fmla="val 8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noAutofit/>
          </a:bodyPr>
          <a:lstStyle/>
          <a:p>
            <a:pPr algn="l">
              <a:spcAft>
                <a:spcPts val="200"/>
              </a:spcAft>
              <a:buNone/>
            </a:pPr>
            <a:r>
              <a:rPr sz="2300" b="1" i="0">
                <a:solidFill>
                  <a:srgbClr val="002060"/>
                </a:solidFill>
                <a:latin typeface="Segoe UI"/>
              </a:rPr>
              <a:t>Fonctionnel</a:t>
            </a:r>
          </a:p>
          <a:p>
            <a:pPr algn="l">
              <a:spcAft>
                <a:spcPts val="400"/>
              </a:spcAft>
              <a:buNone/>
            </a:pPr>
            <a:r>
              <a:rPr sz="1900" b="0" i="1">
                <a:solidFill>
                  <a:srgbClr val="7F7F7F"/>
                </a:solidFill>
                <a:latin typeface="Segoe UI"/>
              </a:rPr>
              <a:t>Quelles capacités ?</a:t>
            </a:r>
          </a:p>
        </p:txBody>
      </p:sp>
      <p:sp>
        <p:nvSpPr>
          <p:cNvPr id="60" name="Rounded Rectangle 59"/>
          <p:cNvSpPr/>
          <p:nvPr/>
        </p:nvSpPr>
        <p:spPr>
          <a:xfrm>
            <a:off x="5742432" y="6053328"/>
            <a:ext cx="4389120" cy="1847088"/>
          </a:xfrm>
          <a:prstGeom prst="roundRect">
            <a:avLst>
              <a:gd name="adj" fmla="val 8000"/>
            </a:avLst>
          </a:prstGeom>
          <a:solidFill>
            <a:srgbClr val="EEF2F8"/>
          </a:solidFill>
          <a:ln w="15875">
            <a:solidFill>
              <a:srgbClr val="003A8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1" name="TextBox 60"/>
          <p:cNvSpPr txBox="1"/>
          <p:nvPr/>
        </p:nvSpPr>
        <p:spPr>
          <a:xfrm>
            <a:off x="5925312" y="6163056"/>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Vue capacitaire fonctions → applications, redondances</a:t>
            </a:r>
          </a:p>
        </p:txBody>
      </p:sp>
      <p:sp>
        <p:nvSpPr>
          <p:cNvPr id="62" name="Rounded Rectangle 61"/>
          <p:cNvSpPr/>
          <p:nvPr/>
        </p:nvSpPr>
        <p:spPr>
          <a:xfrm>
            <a:off x="5925312" y="7397496"/>
            <a:ext cx="1463040" cy="365760"/>
          </a:xfrm>
          <a:prstGeom prst="roundRect">
            <a:avLst>
              <a:gd name="adj" fmla="val 50000"/>
            </a:avLst>
          </a:prstGeom>
          <a:solidFill>
            <a:srgbClr val="003A8D"/>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Proposé</a:t>
            </a:r>
          </a:p>
        </p:txBody>
      </p:sp>
      <p:sp>
        <p:nvSpPr>
          <p:cNvPr id="63" name="Rounded Rectangle 62"/>
          <p:cNvSpPr/>
          <p:nvPr/>
        </p:nvSpPr>
        <p:spPr>
          <a:xfrm>
            <a:off x="10268712" y="6053328"/>
            <a:ext cx="4389120" cy="1847088"/>
          </a:xfrm>
          <a:prstGeom prst="roundRect">
            <a:avLst>
              <a:gd name="adj" fmla="val 8000"/>
            </a:avLst>
          </a:prstGeom>
          <a:solidFill>
            <a:srgbClr val="FAFAFA"/>
          </a:solidFill>
          <a:ln w="12700">
            <a:solidFill>
              <a:srgbClr val="E4E5E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noAutofit/>
          </a:bodyPr>
          <a:lstStyle/>
          <a:p>
            <a:pPr algn="ctr">
              <a:spcAft>
                <a:spcPts val="400"/>
              </a:spcAft>
              <a:buNone/>
            </a:pPr>
            <a:r>
              <a:rPr sz="2200" b="0" i="0">
                <a:solidFill>
                  <a:srgbClr val="A6A6A6"/>
                </a:solidFill>
                <a:latin typeface="Segoe UI"/>
              </a:rPr>
              <a:t>—</a:t>
            </a:r>
          </a:p>
        </p:txBody>
      </p:sp>
      <p:sp>
        <p:nvSpPr>
          <p:cNvPr id="64" name="Rounded Rectangle 63"/>
          <p:cNvSpPr/>
          <p:nvPr/>
        </p:nvSpPr>
        <p:spPr>
          <a:xfrm>
            <a:off x="14794992" y="6053328"/>
            <a:ext cx="4389120" cy="1847088"/>
          </a:xfrm>
          <a:prstGeom prst="roundRect">
            <a:avLst>
              <a:gd name="adj" fmla="val 8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5" name="TextBox 64"/>
          <p:cNvSpPr txBox="1"/>
          <p:nvPr/>
        </p:nvSpPr>
        <p:spPr>
          <a:xfrm>
            <a:off x="14977872" y="6163056"/>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Objectif, fonctionnalités, services de rang 2</a:t>
            </a:r>
          </a:p>
        </p:txBody>
      </p:sp>
      <p:sp>
        <p:nvSpPr>
          <p:cNvPr id="66" name="Rounded Rectangle 65"/>
          <p:cNvSpPr/>
          <p:nvPr/>
        </p:nvSpPr>
        <p:spPr>
          <a:xfrm>
            <a:off x="14977872" y="7397496"/>
            <a:ext cx="1463040" cy="365760"/>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En cours</a:t>
            </a:r>
          </a:p>
        </p:txBody>
      </p:sp>
      <p:sp>
        <p:nvSpPr>
          <p:cNvPr id="67" name="Rounded Rectangle 66"/>
          <p:cNvSpPr/>
          <p:nvPr/>
        </p:nvSpPr>
        <p:spPr>
          <a:xfrm>
            <a:off x="19321272" y="6053328"/>
            <a:ext cx="4389120" cy="1847088"/>
          </a:xfrm>
          <a:prstGeom prst="roundRect">
            <a:avLst>
              <a:gd name="adj" fmla="val 8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8" name="TextBox 67"/>
          <p:cNvSpPr txBox="1"/>
          <p:nvPr/>
        </p:nvSpPr>
        <p:spPr>
          <a:xfrm>
            <a:off x="19504152" y="6163056"/>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Services et interactions entre eux</a:t>
            </a:r>
          </a:p>
        </p:txBody>
      </p:sp>
      <p:sp>
        <p:nvSpPr>
          <p:cNvPr id="69" name="Rounded Rectangle 68"/>
          <p:cNvSpPr/>
          <p:nvPr/>
        </p:nvSpPr>
        <p:spPr>
          <a:xfrm>
            <a:off x="19504152" y="7397496"/>
            <a:ext cx="1463040" cy="365760"/>
          </a:xfrm>
          <a:prstGeom prst="roundRect">
            <a:avLst>
              <a:gd name="adj" fmla="val 50000"/>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À faire</a:t>
            </a:r>
          </a:p>
        </p:txBody>
      </p:sp>
      <p:sp>
        <p:nvSpPr>
          <p:cNvPr id="70" name="Rounded Rectangle 69"/>
          <p:cNvSpPr/>
          <p:nvPr/>
        </p:nvSpPr>
        <p:spPr>
          <a:xfrm>
            <a:off x="1673352" y="8037575"/>
            <a:ext cx="3931920" cy="1847088"/>
          </a:xfrm>
          <a:prstGeom prst="roundRect">
            <a:avLst>
              <a:gd name="adj" fmla="val 8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noAutofit/>
          </a:bodyPr>
          <a:lstStyle/>
          <a:p>
            <a:pPr algn="l">
              <a:spcAft>
                <a:spcPts val="200"/>
              </a:spcAft>
              <a:buNone/>
            </a:pPr>
            <a:r>
              <a:rPr sz="2300" b="1" i="0">
                <a:solidFill>
                  <a:srgbClr val="002060"/>
                </a:solidFill>
                <a:latin typeface="Segoe UI"/>
              </a:rPr>
              <a:t>Applicatif &amp; données</a:t>
            </a:r>
          </a:p>
          <a:p>
            <a:pPr algn="l">
              <a:spcAft>
                <a:spcPts val="400"/>
              </a:spcAft>
              <a:buNone/>
            </a:pPr>
            <a:r>
              <a:rPr sz="1900" b="0" i="1">
                <a:solidFill>
                  <a:srgbClr val="7F7F7F"/>
                </a:solidFill>
                <a:latin typeface="Segoe UI"/>
              </a:rPr>
              <a:t>Avec quoi ?</a:t>
            </a:r>
          </a:p>
        </p:txBody>
      </p:sp>
      <p:sp>
        <p:nvSpPr>
          <p:cNvPr id="71" name="Rounded Rectangle 70"/>
          <p:cNvSpPr/>
          <p:nvPr/>
        </p:nvSpPr>
        <p:spPr>
          <a:xfrm>
            <a:off x="5742432" y="8037575"/>
            <a:ext cx="4389120" cy="1847088"/>
          </a:xfrm>
          <a:prstGeom prst="roundRect">
            <a:avLst>
              <a:gd name="adj" fmla="val 8000"/>
            </a:avLst>
          </a:prstGeom>
          <a:solidFill>
            <a:srgbClr val="FAFAFA"/>
          </a:solidFill>
          <a:ln w="12700">
            <a:solidFill>
              <a:srgbClr val="E4E5E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noAutofit/>
          </a:bodyPr>
          <a:lstStyle/>
          <a:p>
            <a:pPr algn="ctr">
              <a:spcAft>
                <a:spcPts val="400"/>
              </a:spcAft>
              <a:buNone/>
            </a:pPr>
            <a:r>
              <a:rPr sz="2200" b="0" i="0">
                <a:solidFill>
                  <a:srgbClr val="A6A6A6"/>
                </a:solidFill>
                <a:latin typeface="Segoe UI"/>
              </a:rPr>
              <a:t>—</a:t>
            </a:r>
          </a:p>
        </p:txBody>
      </p:sp>
      <p:sp>
        <p:nvSpPr>
          <p:cNvPr id="72" name="Rounded Rectangle 71"/>
          <p:cNvSpPr/>
          <p:nvPr/>
        </p:nvSpPr>
        <p:spPr>
          <a:xfrm>
            <a:off x="10268712" y="8037575"/>
            <a:ext cx="4389120" cy="1847088"/>
          </a:xfrm>
          <a:prstGeom prst="roundRect">
            <a:avLst>
              <a:gd name="adj" fmla="val 8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3" name="TextBox 72"/>
          <p:cNvSpPr txBox="1"/>
          <p:nvPr/>
        </p:nvSpPr>
        <p:spPr>
          <a:xfrm>
            <a:off x="10451592" y="8147303"/>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Cartographie des codes ROBIN (mise à jour audit ETVS déc. 2025)</a:t>
            </a:r>
          </a:p>
        </p:txBody>
      </p:sp>
      <p:sp>
        <p:nvSpPr>
          <p:cNvPr id="74" name="Rounded Rectangle 73"/>
          <p:cNvSpPr/>
          <p:nvPr/>
        </p:nvSpPr>
        <p:spPr>
          <a:xfrm>
            <a:off x="10451592" y="9381743"/>
            <a:ext cx="1463040" cy="365760"/>
          </a:xfrm>
          <a:prstGeom prst="roundRect">
            <a:avLst>
              <a:gd name="adj" fmla="val 50000"/>
            </a:avLst>
          </a:prstGeom>
          <a:solidFill>
            <a:srgbClr val="3E8E57"/>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Existant</a:t>
            </a:r>
          </a:p>
        </p:txBody>
      </p:sp>
      <p:sp>
        <p:nvSpPr>
          <p:cNvPr id="75" name="Rounded Rectangle 74"/>
          <p:cNvSpPr/>
          <p:nvPr/>
        </p:nvSpPr>
        <p:spPr>
          <a:xfrm>
            <a:off x="14794992" y="8037575"/>
            <a:ext cx="4389120" cy="1847088"/>
          </a:xfrm>
          <a:prstGeom prst="roundRect">
            <a:avLst>
              <a:gd name="adj" fmla="val 8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6" name="TextBox 75"/>
          <p:cNvSpPr txBox="1"/>
          <p:nvPr/>
        </p:nvSpPr>
        <p:spPr>
          <a:xfrm>
            <a:off x="14977872" y="8147303"/>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Code ROBIN, API, webservices, données manipulées</a:t>
            </a:r>
          </a:p>
        </p:txBody>
      </p:sp>
      <p:sp>
        <p:nvSpPr>
          <p:cNvPr id="77" name="Rounded Rectangle 76"/>
          <p:cNvSpPr/>
          <p:nvPr/>
        </p:nvSpPr>
        <p:spPr>
          <a:xfrm>
            <a:off x="14977872" y="9381743"/>
            <a:ext cx="1463040" cy="365760"/>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En cours</a:t>
            </a:r>
          </a:p>
        </p:txBody>
      </p:sp>
      <p:sp>
        <p:nvSpPr>
          <p:cNvPr id="78" name="Rounded Rectangle 77"/>
          <p:cNvSpPr/>
          <p:nvPr/>
        </p:nvSpPr>
        <p:spPr>
          <a:xfrm>
            <a:off x="19321272" y="8037575"/>
            <a:ext cx="4389120" cy="1847088"/>
          </a:xfrm>
          <a:prstGeom prst="roundRect">
            <a:avLst>
              <a:gd name="adj" fmla="val 8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9" name="TextBox 78"/>
          <p:cNvSpPr txBox="1"/>
          <p:nvPr/>
        </p:nvSpPr>
        <p:spPr>
          <a:xfrm>
            <a:off x="19504152" y="8147303"/>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Flux et dépendances : ATEL, hors ROBIN, Cloud</a:t>
            </a:r>
          </a:p>
        </p:txBody>
      </p:sp>
      <p:sp>
        <p:nvSpPr>
          <p:cNvPr id="80" name="Rounded Rectangle 79"/>
          <p:cNvSpPr/>
          <p:nvPr/>
        </p:nvSpPr>
        <p:spPr>
          <a:xfrm>
            <a:off x="19504152" y="9381743"/>
            <a:ext cx="1463040" cy="365760"/>
          </a:xfrm>
          <a:prstGeom prst="roundRect">
            <a:avLst>
              <a:gd name="adj" fmla="val 50000"/>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À faire</a:t>
            </a:r>
          </a:p>
        </p:txBody>
      </p:sp>
      <p:sp>
        <p:nvSpPr>
          <p:cNvPr id="81" name="Rounded Rectangle 80"/>
          <p:cNvSpPr/>
          <p:nvPr/>
        </p:nvSpPr>
        <p:spPr>
          <a:xfrm>
            <a:off x="1673352" y="10021824"/>
            <a:ext cx="3931920" cy="1847088"/>
          </a:xfrm>
          <a:prstGeom prst="roundRect">
            <a:avLst>
              <a:gd name="adj" fmla="val 8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noAutofit/>
          </a:bodyPr>
          <a:lstStyle/>
          <a:p>
            <a:pPr algn="l">
              <a:spcAft>
                <a:spcPts val="200"/>
              </a:spcAft>
              <a:buNone/>
            </a:pPr>
            <a:r>
              <a:rPr sz="2300" b="1" i="0">
                <a:solidFill>
                  <a:srgbClr val="002060"/>
                </a:solidFill>
                <a:latin typeface="Segoe UI"/>
              </a:rPr>
              <a:t>Technique</a:t>
            </a:r>
          </a:p>
          <a:p>
            <a:pPr algn="l">
              <a:spcAft>
                <a:spcPts val="400"/>
              </a:spcAft>
              <a:buNone/>
            </a:pPr>
            <a:r>
              <a:rPr sz="1900" b="0" i="1">
                <a:solidFill>
                  <a:srgbClr val="7F7F7F"/>
                </a:solidFill>
                <a:latin typeface="Segoe UI"/>
              </a:rPr>
              <a:t>Sur quoi ça tourne ?</a:t>
            </a:r>
          </a:p>
        </p:txBody>
      </p:sp>
      <p:sp>
        <p:nvSpPr>
          <p:cNvPr id="82" name="Rounded Rectangle 81"/>
          <p:cNvSpPr/>
          <p:nvPr/>
        </p:nvSpPr>
        <p:spPr>
          <a:xfrm>
            <a:off x="5742432" y="10021824"/>
            <a:ext cx="4389120" cy="1847088"/>
          </a:xfrm>
          <a:prstGeom prst="roundRect">
            <a:avLst>
              <a:gd name="adj" fmla="val 8000"/>
            </a:avLst>
          </a:prstGeom>
          <a:solidFill>
            <a:srgbClr val="FAFAFA"/>
          </a:solidFill>
          <a:ln w="12700">
            <a:solidFill>
              <a:srgbClr val="E4E5E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noAutofit/>
          </a:bodyPr>
          <a:lstStyle/>
          <a:p>
            <a:pPr algn="ctr">
              <a:spcAft>
                <a:spcPts val="400"/>
              </a:spcAft>
              <a:buNone/>
            </a:pPr>
            <a:r>
              <a:rPr sz="2200" b="0" i="0">
                <a:solidFill>
                  <a:srgbClr val="A6A6A6"/>
                </a:solidFill>
                <a:latin typeface="Segoe UI"/>
              </a:rPr>
              <a:t>—</a:t>
            </a:r>
          </a:p>
        </p:txBody>
      </p:sp>
      <p:sp>
        <p:nvSpPr>
          <p:cNvPr id="83" name="Rounded Rectangle 82"/>
          <p:cNvSpPr/>
          <p:nvPr/>
        </p:nvSpPr>
        <p:spPr>
          <a:xfrm>
            <a:off x="10268712" y="10021824"/>
            <a:ext cx="4389120" cy="1847088"/>
          </a:xfrm>
          <a:prstGeom prst="roundRect">
            <a:avLst>
              <a:gd name="adj" fmla="val 8000"/>
            </a:avLst>
          </a:prstGeom>
          <a:solidFill>
            <a:srgbClr val="FAFAFA"/>
          </a:solidFill>
          <a:ln w="12700">
            <a:solidFill>
              <a:srgbClr val="E4E5E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noAutofit/>
          </a:bodyPr>
          <a:lstStyle/>
          <a:p>
            <a:pPr algn="ctr">
              <a:spcAft>
                <a:spcPts val="400"/>
              </a:spcAft>
              <a:buNone/>
            </a:pPr>
            <a:r>
              <a:rPr sz="2200" b="0" i="0">
                <a:solidFill>
                  <a:srgbClr val="A6A6A6"/>
                </a:solidFill>
                <a:latin typeface="Segoe UI"/>
              </a:rPr>
              <a:t>—</a:t>
            </a:r>
          </a:p>
        </p:txBody>
      </p:sp>
      <p:sp>
        <p:nvSpPr>
          <p:cNvPr id="84" name="Rounded Rectangle 83"/>
          <p:cNvSpPr/>
          <p:nvPr/>
        </p:nvSpPr>
        <p:spPr>
          <a:xfrm>
            <a:off x="14794992" y="10021824"/>
            <a:ext cx="4389120" cy="1847088"/>
          </a:xfrm>
          <a:prstGeom prst="roundRect">
            <a:avLst>
              <a:gd name="adj" fmla="val 8000"/>
            </a:avLst>
          </a:prstGeom>
          <a:solidFill>
            <a:srgbClr val="EEF2F8"/>
          </a:solidFill>
          <a:ln w="15875">
            <a:solidFill>
              <a:srgbClr val="003A8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85" name="TextBox 84"/>
          <p:cNvSpPr txBox="1"/>
          <p:nvPr/>
        </p:nvSpPr>
        <p:spPr>
          <a:xfrm>
            <a:off x="14977872" y="10131552"/>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Hébergement, socle, protocoles, ressources SAS</a:t>
            </a:r>
          </a:p>
        </p:txBody>
      </p:sp>
      <p:sp>
        <p:nvSpPr>
          <p:cNvPr id="86" name="Rounded Rectangle 85"/>
          <p:cNvSpPr/>
          <p:nvPr/>
        </p:nvSpPr>
        <p:spPr>
          <a:xfrm>
            <a:off x="14977872" y="11365992"/>
            <a:ext cx="1463040" cy="365760"/>
          </a:xfrm>
          <a:prstGeom prst="roundRect">
            <a:avLst>
              <a:gd name="adj" fmla="val 50000"/>
            </a:avLst>
          </a:prstGeom>
          <a:solidFill>
            <a:srgbClr val="003A8D"/>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Proposé</a:t>
            </a:r>
          </a:p>
        </p:txBody>
      </p:sp>
      <p:sp>
        <p:nvSpPr>
          <p:cNvPr id="87" name="Rounded Rectangle 86"/>
          <p:cNvSpPr/>
          <p:nvPr/>
        </p:nvSpPr>
        <p:spPr>
          <a:xfrm>
            <a:off x="19321272" y="10021824"/>
            <a:ext cx="4389120" cy="1847088"/>
          </a:xfrm>
          <a:prstGeom prst="roundRect">
            <a:avLst>
              <a:gd name="adj" fmla="val 8000"/>
            </a:avLst>
          </a:prstGeom>
          <a:solidFill>
            <a:srgbClr val="EEF2F8"/>
          </a:solidFill>
          <a:ln w="15875">
            <a:solidFill>
              <a:srgbClr val="003A8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88" name="TextBox 87"/>
          <p:cNvSpPr txBox="1"/>
          <p:nvPr/>
        </p:nvSpPr>
        <p:spPr>
          <a:xfrm>
            <a:off x="19504152" y="10131552"/>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Intégration, stockage, échanges externes</a:t>
            </a:r>
          </a:p>
        </p:txBody>
      </p:sp>
      <p:sp>
        <p:nvSpPr>
          <p:cNvPr id="89" name="Rounded Rectangle 88"/>
          <p:cNvSpPr/>
          <p:nvPr/>
        </p:nvSpPr>
        <p:spPr>
          <a:xfrm>
            <a:off x="19504152" y="11365992"/>
            <a:ext cx="1463040" cy="365760"/>
          </a:xfrm>
          <a:prstGeom prst="roundRect">
            <a:avLst>
              <a:gd name="adj" fmla="val 50000"/>
            </a:avLst>
          </a:prstGeom>
          <a:solidFill>
            <a:srgbClr val="003A8D"/>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Proposé</a:t>
            </a:r>
          </a:p>
        </p:txBody>
      </p:sp>
      <p:sp>
        <p:nvSpPr>
          <p:cNvPr id="90" name="TextBox 89"/>
          <p:cNvSpPr txBox="1"/>
          <p:nvPr/>
        </p:nvSpPr>
        <p:spPr>
          <a:xfrm>
            <a:off x="14794992" y="12454128"/>
            <a:ext cx="8915400" cy="365760"/>
          </a:xfrm>
          <a:prstGeom prst="rect">
            <a:avLst/>
          </a:prstGeom>
          <a:noFill/>
        </p:spPr>
        <p:txBody>
          <a:bodyPr wrap="square" lIns="0" rIns="0" tIns="0" bIns="0" anchor="t">
            <a:noAutofit/>
          </a:bodyPr>
          <a:lstStyle/>
          <a:p>
            <a:pPr algn="ctr">
              <a:spcAft>
                <a:spcPts val="400"/>
              </a:spcAft>
              <a:buNone/>
            </a:pPr>
            <a:r>
              <a:rPr sz="1700" b="1" i="0">
                <a:solidFill>
                  <a:srgbClr val="E06206"/>
                </a:solidFill>
                <a:latin typeface="Segoe UI"/>
              </a:rPr>
              <a:t>Périmètre du cadrage : niveaux 2 et 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Vue statique : la fiche d’identité</a:t>
            </a:r>
          </a:p>
        </p:txBody>
      </p:sp>
      <p:sp>
        <p:nvSpPr>
          <p:cNvPr id="4" name="Text Placeholder 3"/>
          <p:cNvSpPr>
            <a:spLocks noGrp="1"/>
          </p:cNvSpPr>
          <p:nvPr>
            <p:ph type="body" idx="14" sz="quarter"/>
          </p:nvPr>
        </p:nvSpPr>
        <p:spPr/>
        <p:txBody>
          <a:bodyPr/>
          <a:lstStyle/>
          <a:p>
            <a:r>
              <a:t>Un onepager par application, rattaché à son code ROBIN — V1 consolidée</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743200"/>
            <a:ext cx="10424160" cy="973836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TextBox 45"/>
          <p:cNvSpPr txBox="1"/>
          <p:nvPr/>
        </p:nvSpPr>
        <p:spPr>
          <a:xfrm>
            <a:off x="2011680" y="2834640"/>
            <a:ext cx="9692640" cy="548640"/>
          </a:xfrm>
          <a:prstGeom prst="rect">
            <a:avLst/>
          </a:prstGeom>
          <a:noFill/>
        </p:spPr>
        <p:txBody>
          <a:bodyPr wrap="square" lIns="45720" rIns="45720" anchor="ctr">
            <a:noAutofit/>
          </a:bodyPr>
          <a:lstStyle/>
          <a:p>
            <a:pPr algn="l">
              <a:spcAft>
                <a:spcPts val="400"/>
              </a:spcAft>
              <a:buNone/>
            </a:pPr>
            <a:r>
              <a:rPr sz="2200" b="1" i="0">
                <a:solidFill>
                  <a:srgbClr val="7F7F7F"/>
                </a:solidFill>
                <a:latin typeface="Segoe UI"/>
              </a:rPr>
              <a:t>Structure de la fiche V1</a:t>
            </a:r>
          </a:p>
        </p:txBody>
      </p:sp>
      <p:sp>
        <p:nvSpPr>
          <p:cNvPr id="47" name="Rounded Rectangle 46"/>
          <p:cNvSpPr/>
          <p:nvPr/>
        </p:nvSpPr>
        <p:spPr>
          <a:xfrm>
            <a:off x="2011680" y="3474720"/>
            <a:ext cx="9738360" cy="731520"/>
          </a:xfrm>
          <a:prstGeom prst="roundRect">
            <a:avLst>
              <a:gd name="adj" fmla="val 1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400"/>
              </a:spcAft>
              <a:buNone/>
            </a:pPr>
            <a:r>
              <a:rPr sz="1800" b="1" i="0">
                <a:solidFill>
                  <a:srgbClr val="FFFFFF"/>
                </a:solidFill>
                <a:latin typeface="Segoe UI"/>
              </a:rPr>
              <a:t>[Nom de l’application]  ·  Code ROBIN  ·  Statut</a:t>
            </a:r>
          </a:p>
        </p:txBody>
      </p:sp>
      <p:sp>
        <p:nvSpPr>
          <p:cNvPr id="48" name="Rounded Rectangle 47"/>
          <p:cNvSpPr/>
          <p:nvPr/>
        </p:nvSpPr>
        <p:spPr>
          <a:xfrm>
            <a:off x="2011680" y="4389120"/>
            <a:ext cx="4777740" cy="960120"/>
          </a:xfrm>
          <a:prstGeom prst="roundRect">
            <a:avLst>
              <a:gd name="adj" fmla="val 8000"/>
            </a:avLst>
          </a:prstGeom>
          <a:solidFill>
            <a:srgbClr val="FFFFFF"/>
          </a:solidFill>
          <a:ln w="1270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002060"/>
                </a:solidFill>
                <a:latin typeface="Segoe UI"/>
              </a:rPr>
              <a:t>Utilisateurs</a:t>
            </a:r>
          </a:p>
        </p:txBody>
      </p:sp>
      <p:sp>
        <p:nvSpPr>
          <p:cNvPr id="49" name="Rounded Rectangle 48"/>
          <p:cNvSpPr/>
          <p:nvPr/>
        </p:nvSpPr>
        <p:spPr>
          <a:xfrm>
            <a:off x="6972300" y="4389120"/>
            <a:ext cx="4777740" cy="960120"/>
          </a:xfrm>
          <a:prstGeom prst="roundRect">
            <a:avLst>
              <a:gd name="adj" fmla="val 8000"/>
            </a:avLst>
          </a:prstGeom>
          <a:solidFill>
            <a:srgbClr val="FFFFFF"/>
          </a:solidFill>
          <a:ln w="1270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002060"/>
                </a:solidFill>
                <a:latin typeface="Segoe UI"/>
              </a:rPr>
              <a:t>Objectif de l’application</a:t>
            </a:r>
          </a:p>
        </p:txBody>
      </p:sp>
      <p:sp>
        <p:nvSpPr>
          <p:cNvPr id="50" name="Rounded Rectangle 49"/>
          <p:cNvSpPr/>
          <p:nvPr/>
        </p:nvSpPr>
        <p:spPr>
          <a:xfrm>
            <a:off x="2011680" y="5532120"/>
            <a:ext cx="4777740" cy="1417320"/>
          </a:xfrm>
          <a:prstGeom prst="roundRect">
            <a:avLst>
              <a:gd name="adj" fmla="val 8000"/>
            </a:avLst>
          </a:prstGeom>
          <a:solidFill>
            <a:srgbClr val="FFFFFF"/>
          </a:solidFill>
          <a:ln w="1270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002060"/>
                </a:solidFill>
                <a:latin typeface="Segoe UI"/>
              </a:rPr>
              <a:t>Principales fonctionnalités (services de rang 2)</a:t>
            </a:r>
          </a:p>
        </p:txBody>
      </p:sp>
      <p:sp>
        <p:nvSpPr>
          <p:cNvPr id="51" name="Rounded Rectangle 50"/>
          <p:cNvSpPr/>
          <p:nvPr/>
        </p:nvSpPr>
        <p:spPr>
          <a:xfrm>
            <a:off x="6972300" y="5532120"/>
            <a:ext cx="4777740" cy="1417320"/>
          </a:xfrm>
          <a:prstGeom prst="roundRect">
            <a:avLst>
              <a:gd name="adj" fmla="val 8000"/>
            </a:avLst>
          </a:prstGeom>
          <a:solidFill>
            <a:srgbClr val="FFFFFF"/>
          </a:solidFill>
          <a:ln w="1270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002060"/>
                </a:solidFill>
                <a:latin typeface="Segoe UI"/>
              </a:rPr>
              <a:t>Caractéristiques techniques</a:t>
            </a:r>
          </a:p>
        </p:txBody>
      </p:sp>
      <p:sp>
        <p:nvSpPr>
          <p:cNvPr id="52" name="Rounded Rectangle 51"/>
          <p:cNvSpPr/>
          <p:nvPr/>
        </p:nvSpPr>
        <p:spPr>
          <a:xfrm>
            <a:off x="2011680" y="7132320"/>
            <a:ext cx="4777740" cy="1188720"/>
          </a:xfrm>
          <a:prstGeom prst="roundRect">
            <a:avLst>
              <a:gd name="adj" fmla="val 8000"/>
            </a:avLst>
          </a:prstGeom>
          <a:solidFill>
            <a:srgbClr val="FDEBDD"/>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E06206"/>
                </a:solidFill>
                <a:latin typeface="Segoe UI"/>
              </a:rPr>
              <a:t>Données manipulées</a:t>
            </a:r>
          </a:p>
        </p:txBody>
      </p:sp>
      <p:sp>
        <p:nvSpPr>
          <p:cNvPr id="53" name="Rounded Rectangle 52"/>
          <p:cNvSpPr/>
          <p:nvPr/>
        </p:nvSpPr>
        <p:spPr>
          <a:xfrm>
            <a:off x="6972300" y="7132320"/>
            <a:ext cx="4777740" cy="1188720"/>
          </a:xfrm>
          <a:prstGeom prst="roundRect">
            <a:avLst>
              <a:gd name="adj" fmla="val 8000"/>
            </a:avLst>
          </a:prstGeom>
          <a:solidFill>
            <a:srgbClr val="FDEBDD"/>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E06206"/>
                </a:solidFill>
                <a:latin typeface="Segoe UI"/>
              </a:rPr>
              <a:t>Dépendances clés</a:t>
            </a:r>
          </a:p>
        </p:txBody>
      </p:sp>
      <p:sp>
        <p:nvSpPr>
          <p:cNvPr id="54" name="Rounded Rectangle 53"/>
          <p:cNvSpPr/>
          <p:nvPr/>
        </p:nvSpPr>
        <p:spPr>
          <a:xfrm>
            <a:off x="2011680" y="8503920"/>
            <a:ext cx="4777740" cy="1188720"/>
          </a:xfrm>
          <a:prstGeom prst="roundRect">
            <a:avLst>
              <a:gd name="adj" fmla="val 8000"/>
            </a:avLst>
          </a:prstGeom>
          <a:solidFill>
            <a:srgbClr val="FFFFFF"/>
          </a:solidFill>
          <a:ln w="1270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002060"/>
                </a:solidFill>
                <a:latin typeface="Segoe UI"/>
              </a:rPr>
              <a:t>Difficultés techniques rencontrées</a:t>
            </a:r>
          </a:p>
        </p:txBody>
      </p:sp>
      <p:sp>
        <p:nvSpPr>
          <p:cNvPr id="55" name="Rounded Rectangle 54"/>
          <p:cNvSpPr/>
          <p:nvPr/>
        </p:nvSpPr>
        <p:spPr>
          <a:xfrm>
            <a:off x="6972300" y="8503920"/>
            <a:ext cx="4777740" cy="1188720"/>
          </a:xfrm>
          <a:prstGeom prst="roundRect">
            <a:avLst>
              <a:gd name="adj" fmla="val 8000"/>
            </a:avLst>
          </a:prstGeom>
          <a:solidFill>
            <a:srgbClr val="FFFFFF"/>
          </a:solidFill>
          <a:ln w="1270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002060"/>
                </a:solidFill>
                <a:latin typeface="Segoe UI"/>
              </a:rPr>
              <a:t>Exemples de clients utilisateurs</a:t>
            </a:r>
          </a:p>
        </p:txBody>
      </p:sp>
      <p:sp>
        <p:nvSpPr>
          <p:cNvPr id="56" name="Rounded Rectangle 55"/>
          <p:cNvSpPr/>
          <p:nvPr/>
        </p:nvSpPr>
        <p:spPr>
          <a:xfrm>
            <a:off x="2011680" y="9875520"/>
            <a:ext cx="4777740" cy="1005840"/>
          </a:xfrm>
          <a:prstGeom prst="roundRect">
            <a:avLst>
              <a:gd name="adj" fmla="val 8000"/>
            </a:avLst>
          </a:prstGeom>
          <a:solidFill>
            <a:srgbClr val="FDEBDD"/>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E06206"/>
                </a:solidFill>
                <a:latin typeface="Segoe UI"/>
              </a:rPr>
              <a:t>Alternatives et aide au choix</a:t>
            </a:r>
          </a:p>
        </p:txBody>
      </p:sp>
      <p:sp>
        <p:nvSpPr>
          <p:cNvPr id="57" name="Rounded Rectangle 56"/>
          <p:cNvSpPr/>
          <p:nvPr/>
        </p:nvSpPr>
        <p:spPr>
          <a:xfrm>
            <a:off x="6972300" y="9875520"/>
            <a:ext cx="4777740" cy="1005840"/>
          </a:xfrm>
          <a:prstGeom prst="roundRect">
            <a:avLst>
              <a:gd name="adj" fmla="val 8000"/>
            </a:avLst>
          </a:prstGeom>
          <a:solidFill>
            <a:srgbClr val="FFFFFF"/>
          </a:solidFill>
          <a:ln w="1270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002060"/>
                </a:solidFill>
                <a:latin typeface="Segoe UI"/>
              </a:rPr>
              <a:t>Documentation Pixis</a:t>
            </a:r>
          </a:p>
        </p:txBody>
      </p:sp>
      <p:sp>
        <p:nvSpPr>
          <p:cNvPr id="58" name="Rounded Rectangle 57"/>
          <p:cNvSpPr/>
          <p:nvPr/>
        </p:nvSpPr>
        <p:spPr>
          <a:xfrm>
            <a:off x="2011680" y="11064240"/>
            <a:ext cx="9738360" cy="685800"/>
          </a:xfrm>
          <a:prstGeom prst="roundRect">
            <a:avLst>
              <a:gd name="adj" fmla="val 8000"/>
            </a:avLst>
          </a:prstGeom>
          <a:solidFill>
            <a:srgbClr val="FDEBDD"/>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E06206"/>
                </a:solidFill>
                <a:latin typeface="Segoe UI"/>
              </a:rPr>
              <a:t>Cartouche : propriétaire · version · date de dernière mise à jour</a:t>
            </a:r>
          </a:p>
        </p:txBody>
      </p:sp>
      <p:sp>
        <p:nvSpPr>
          <p:cNvPr id="59" name="Rounded Rectangle 58"/>
          <p:cNvSpPr/>
          <p:nvPr/>
        </p:nvSpPr>
        <p:spPr>
          <a:xfrm>
            <a:off x="2011680" y="11932920"/>
            <a:ext cx="320040" cy="320040"/>
          </a:xfrm>
          <a:prstGeom prst="roundRect">
            <a:avLst>
              <a:gd name="adj" fmla="val 10000"/>
            </a:avLst>
          </a:prstGeom>
          <a:solidFill>
            <a:srgbClr val="FDEBDD"/>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0" name="TextBox 59"/>
          <p:cNvSpPr txBox="1"/>
          <p:nvPr/>
        </p:nvSpPr>
        <p:spPr>
          <a:xfrm>
            <a:off x="2468880" y="11868912"/>
            <a:ext cx="8229600" cy="457200"/>
          </a:xfrm>
          <a:prstGeom prst="rect">
            <a:avLst/>
          </a:prstGeom>
          <a:noFill/>
        </p:spPr>
        <p:txBody>
          <a:bodyPr wrap="square" lIns="0" rIns="0" tIns="0" bIns="0" anchor="ctr">
            <a:noAutofit/>
          </a:bodyPr>
          <a:lstStyle/>
          <a:p>
            <a:pPr algn="l">
              <a:spcAft>
                <a:spcPts val="400"/>
              </a:spcAft>
              <a:buNone/>
            </a:pPr>
            <a:r>
              <a:rPr sz="1700" b="1" i="0">
                <a:solidFill>
                  <a:srgbClr val="E06206"/>
                </a:solidFill>
                <a:latin typeface="Segoe UI"/>
              </a:rPr>
              <a:t>Rubrique ajoutée par rapport au template actuel</a:t>
            </a:r>
          </a:p>
        </p:txBody>
      </p:sp>
      <p:sp>
        <p:nvSpPr>
          <p:cNvPr id="61" name="TextBox 60"/>
          <p:cNvSpPr txBox="1"/>
          <p:nvPr/>
        </p:nvSpPr>
        <p:spPr>
          <a:xfrm>
            <a:off x="12618720" y="2743200"/>
            <a:ext cx="11064240" cy="640080"/>
          </a:xfrm>
          <a:prstGeom prst="rect">
            <a:avLst/>
          </a:prstGeom>
          <a:noFill/>
        </p:spPr>
        <p:txBody>
          <a:bodyPr wrap="square" lIns="45720" rIns="45720" anchor="ctr">
            <a:noAutofit/>
          </a:bodyPr>
          <a:lstStyle/>
          <a:p>
            <a:pPr algn="l">
              <a:spcAft>
                <a:spcPts val="400"/>
              </a:spcAft>
              <a:buNone/>
            </a:pPr>
            <a:r>
              <a:rPr sz="2400" b="1" i="0">
                <a:solidFill>
                  <a:srgbClr val="002060"/>
                </a:solidFill>
                <a:latin typeface="Segoe UI"/>
              </a:rPr>
              <a:t>Base : template proposé par Valérie C. (cf. annexe)</a:t>
            </a:r>
          </a:p>
        </p:txBody>
      </p:sp>
      <p:sp>
        <p:nvSpPr>
          <p:cNvPr id="62" name="TextBox 61"/>
          <p:cNvSpPr txBox="1"/>
          <p:nvPr/>
        </p:nvSpPr>
        <p:spPr>
          <a:xfrm>
            <a:off x="12618720" y="3429000"/>
            <a:ext cx="11064240" cy="1920240"/>
          </a:xfrm>
          <a:prstGeom prst="rect">
            <a:avLst/>
          </a:prstGeom>
          <a:noFill/>
        </p:spPr>
        <p:txBody>
          <a:bodyPr wrap="square" lIns="45720" rIns="45720" anchor="t">
            <a:noAutofit/>
          </a:bodyPr>
          <a:lstStyle/>
          <a:p>
            <a:pPr algn="l">
              <a:spcAft>
                <a:spcPts val="400"/>
              </a:spcAft>
              <a:buNone/>
            </a:pPr>
            <a:r>
              <a:rPr sz="2000" b="0" i="0">
                <a:solidFill>
                  <a:srgbClr val="404040"/>
                </a:solidFill>
                <a:latin typeface="Segoe UI"/>
              </a:rPr>
              <a:t>Rubriques conservées : code ROBIN, utilisateurs, objectif, fonctionnalités reprises du catalogue, caractéristiques techniques, statut (cadrage, développement, production), difficultés, clients, documentation Pixis.</a:t>
            </a:r>
          </a:p>
        </p:txBody>
      </p:sp>
      <p:sp>
        <p:nvSpPr>
          <p:cNvPr id="63" name="Rounded Rectangle 62"/>
          <p:cNvSpPr/>
          <p:nvPr/>
        </p:nvSpPr>
        <p:spPr>
          <a:xfrm>
            <a:off x="12618720" y="5577840"/>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sp>
        <p:nvSpPr>
          <p:cNvPr id="64" name="Oval 63"/>
          <p:cNvSpPr/>
          <p:nvPr/>
        </p:nvSpPr>
        <p:spPr>
          <a:xfrm>
            <a:off x="12664440" y="6291072"/>
            <a:ext cx="502920" cy="50292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1</a:t>
            </a:r>
          </a:p>
        </p:txBody>
      </p:sp>
      <p:sp>
        <p:nvSpPr>
          <p:cNvPr id="65" name="TextBox 64"/>
          <p:cNvSpPr txBox="1"/>
          <p:nvPr/>
        </p:nvSpPr>
        <p:spPr>
          <a:xfrm>
            <a:off x="13395960" y="6199632"/>
            <a:ext cx="10287000" cy="1234440"/>
          </a:xfrm>
          <a:prstGeom prst="rect">
            <a:avLst/>
          </a:prstGeom>
          <a:noFill/>
        </p:spPr>
        <p:txBody>
          <a:bodyPr wrap="square" lIns="45720" rIns="45720" anchor="t">
            <a:noAutofit/>
          </a:bodyPr>
          <a:lstStyle/>
          <a:p>
            <a:pPr algn="l">
              <a:spcAft>
                <a:spcPts val="100"/>
              </a:spcAft>
              <a:buNone/>
            </a:pPr>
            <a:r>
              <a:rPr sz="2200" b="1" i="0">
                <a:solidFill>
                  <a:srgbClr val="002060"/>
                </a:solidFill>
                <a:latin typeface="Segoe UI"/>
              </a:rPr>
              <a:t>Fusionner les deux variantes du template</a:t>
            </a:r>
          </a:p>
          <a:p>
            <a:pPr algn="l">
              <a:spcAft>
                <a:spcPts val="400"/>
              </a:spcAft>
              <a:buNone/>
            </a:pPr>
            <a:r>
              <a:rPr sz="1900" b="0" i="0">
                <a:solidFill>
                  <a:srgbClr val="404040"/>
                </a:solidFill>
                <a:latin typeface="Segoe UI"/>
              </a:rPr>
              <a:t>Doc 2 en contient deux, avec et sans difficultés et exemples clients : la version complète est retenue.</a:t>
            </a:r>
          </a:p>
        </p:txBody>
      </p:sp>
      <p:sp>
        <p:nvSpPr>
          <p:cNvPr id="66" name="Oval 65"/>
          <p:cNvSpPr/>
          <p:nvPr/>
        </p:nvSpPr>
        <p:spPr>
          <a:xfrm>
            <a:off x="12664440" y="7543800"/>
            <a:ext cx="502920" cy="50292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2</a:t>
            </a:r>
          </a:p>
        </p:txBody>
      </p:sp>
      <p:sp>
        <p:nvSpPr>
          <p:cNvPr id="67" name="TextBox 66"/>
          <p:cNvSpPr txBox="1"/>
          <p:nvPr/>
        </p:nvSpPr>
        <p:spPr>
          <a:xfrm>
            <a:off x="13395960" y="7452360"/>
            <a:ext cx="10287000" cy="1234440"/>
          </a:xfrm>
          <a:prstGeom prst="rect">
            <a:avLst/>
          </a:prstGeom>
          <a:noFill/>
        </p:spPr>
        <p:txBody>
          <a:bodyPr wrap="square" lIns="45720" rIns="45720" anchor="t">
            <a:noAutofit/>
          </a:bodyPr>
          <a:lstStyle/>
          <a:p>
            <a:pPr algn="l">
              <a:spcAft>
                <a:spcPts val="100"/>
              </a:spcAft>
              <a:buNone/>
            </a:pPr>
            <a:r>
              <a:rPr sz="2200" b="1" i="0">
                <a:solidFill>
                  <a:srgbClr val="002060"/>
                </a:solidFill>
                <a:latin typeface="Segoe UI"/>
              </a:rPr>
              <a:t>Ajouter « Données manipulées »</a:t>
            </a:r>
          </a:p>
          <a:p>
            <a:pPr algn="l">
              <a:spcAft>
                <a:spcPts val="400"/>
              </a:spcAft>
              <a:buNone/>
            </a:pPr>
            <a:r>
              <a:rPr sz="1900" b="0" i="0">
                <a:solidFill>
                  <a:srgbClr val="404040"/>
                </a:solidFill>
                <a:latin typeface="Segoe UI"/>
              </a:rPr>
              <a:t>Données maîtres, rôle producteur ou consommateur : la couche données TOGAF est absente des drafts.</a:t>
            </a:r>
          </a:p>
        </p:txBody>
      </p:sp>
      <p:sp>
        <p:nvSpPr>
          <p:cNvPr id="68" name="Oval 67"/>
          <p:cNvSpPr/>
          <p:nvPr/>
        </p:nvSpPr>
        <p:spPr>
          <a:xfrm>
            <a:off x="12664440" y="8796528"/>
            <a:ext cx="502920" cy="50292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3</a:t>
            </a:r>
          </a:p>
        </p:txBody>
      </p:sp>
      <p:sp>
        <p:nvSpPr>
          <p:cNvPr id="69" name="TextBox 68"/>
          <p:cNvSpPr txBox="1"/>
          <p:nvPr/>
        </p:nvSpPr>
        <p:spPr>
          <a:xfrm>
            <a:off x="13395960" y="8705088"/>
            <a:ext cx="10287000" cy="1234440"/>
          </a:xfrm>
          <a:prstGeom prst="rect">
            <a:avLst/>
          </a:prstGeom>
          <a:noFill/>
        </p:spPr>
        <p:txBody>
          <a:bodyPr wrap="square" lIns="45720" rIns="45720" anchor="t">
            <a:noAutofit/>
          </a:bodyPr>
          <a:lstStyle/>
          <a:p>
            <a:pPr algn="l">
              <a:spcAft>
                <a:spcPts val="100"/>
              </a:spcAft>
              <a:buNone/>
            </a:pPr>
            <a:r>
              <a:rPr sz="2200" b="1" i="0">
                <a:solidFill>
                  <a:srgbClr val="002060"/>
                </a:solidFill>
                <a:latin typeface="Segoe UI"/>
              </a:rPr>
              <a:t>Ajouter « Dépendances clés »</a:t>
            </a:r>
          </a:p>
          <a:p>
            <a:pPr algn="l">
              <a:spcAft>
                <a:spcPts val="400"/>
              </a:spcAft>
              <a:buNone/>
            </a:pPr>
            <a:r>
              <a:rPr sz="1900" b="0" i="0">
                <a:solidFill>
                  <a:srgbClr val="404040"/>
                </a:solidFill>
                <a:latin typeface="Segoe UI"/>
              </a:rPr>
              <a:t>Trois à cinq dépendances majeures, dont celles hors ROBIN, avec renvoi vers la vue dynamique.</a:t>
            </a:r>
          </a:p>
        </p:txBody>
      </p:sp>
      <p:sp>
        <p:nvSpPr>
          <p:cNvPr id="70" name="Oval 69"/>
          <p:cNvSpPr/>
          <p:nvPr/>
        </p:nvSpPr>
        <p:spPr>
          <a:xfrm>
            <a:off x="12664440" y="10049256"/>
            <a:ext cx="502920" cy="50292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4</a:t>
            </a:r>
          </a:p>
        </p:txBody>
      </p:sp>
      <p:sp>
        <p:nvSpPr>
          <p:cNvPr id="71" name="TextBox 70"/>
          <p:cNvSpPr txBox="1"/>
          <p:nvPr/>
        </p:nvSpPr>
        <p:spPr>
          <a:xfrm>
            <a:off x="13395960" y="9957816"/>
            <a:ext cx="10287000" cy="1234440"/>
          </a:xfrm>
          <a:prstGeom prst="rect">
            <a:avLst/>
          </a:prstGeom>
          <a:noFill/>
        </p:spPr>
        <p:txBody>
          <a:bodyPr wrap="square" lIns="45720" rIns="45720" anchor="t">
            <a:noAutofit/>
          </a:bodyPr>
          <a:lstStyle/>
          <a:p>
            <a:pPr algn="l">
              <a:spcAft>
                <a:spcPts val="100"/>
              </a:spcAft>
              <a:buNone/>
            </a:pPr>
            <a:r>
              <a:rPr sz="2200" b="1" i="0">
                <a:solidFill>
                  <a:srgbClr val="002060"/>
                </a:solidFill>
                <a:latin typeface="Segoe UI"/>
              </a:rPr>
              <a:t>Ajouter « Alternatives et aide au choix »</a:t>
            </a:r>
          </a:p>
          <a:p>
            <a:pPr algn="l">
              <a:spcAft>
                <a:spcPts val="400"/>
              </a:spcAft>
              <a:buNone/>
            </a:pPr>
            <a:r>
              <a:rPr sz="1900" b="0" i="0">
                <a:solidFill>
                  <a:srgbClr val="404040"/>
                </a:solidFill>
                <a:latin typeface="Segoe UI"/>
              </a:rPr>
              <a:t>Applications couvrant un usage proche et recommandation d’usage pour les projets clients.</a:t>
            </a:r>
          </a:p>
        </p:txBody>
      </p:sp>
      <p:sp>
        <p:nvSpPr>
          <p:cNvPr id="72" name="Oval 71"/>
          <p:cNvSpPr/>
          <p:nvPr/>
        </p:nvSpPr>
        <p:spPr>
          <a:xfrm>
            <a:off x="12664440" y="11301984"/>
            <a:ext cx="502920" cy="50292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5</a:t>
            </a:r>
          </a:p>
        </p:txBody>
      </p:sp>
      <p:sp>
        <p:nvSpPr>
          <p:cNvPr id="73" name="TextBox 72"/>
          <p:cNvSpPr txBox="1"/>
          <p:nvPr/>
        </p:nvSpPr>
        <p:spPr>
          <a:xfrm>
            <a:off x="13395960" y="11210544"/>
            <a:ext cx="10287000" cy="1234440"/>
          </a:xfrm>
          <a:prstGeom prst="rect">
            <a:avLst/>
          </a:prstGeom>
          <a:noFill/>
        </p:spPr>
        <p:txBody>
          <a:bodyPr wrap="square" lIns="45720" rIns="45720" anchor="t">
            <a:noAutofit/>
          </a:bodyPr>
          <a:lstStyle/>
          <a:p>
            <a:pPr algn="l">
              <a:spcAft>
                <a:spcPts val="100"/>
              </a:spcAft>
              <a:buNone/>
            </a:pPr>
            <a:r>
              <a:rPr sz="2200" b="1" i="0">
                <a:solidFill>
                  <a:srgbClr val="002060"/>
                </a:solidFill>
                <a:latin typeface="Segoe UI"/>
              </a:rPr>
              <a:t>Ajouter un cartouche de gouvernance</a:t>
            </a:r>
          </a:p>
          <a:p>
            <a:pPr algn="l">
              <a:spcAft>
                <a:spcPts val="400"/>
              </a:spcAft>
              <a:buNone/>
            </a:pPr>
            <a:r>
              <a:rPr sz="1900" b="0" i="0">
                <a:solidFill>
                  <a:srgbClr val="404040"/>
                </a:solidFill>
                <a:latin typeface="Segoe UI"/>
              </a:rPr>
              <a:t>Propriétaire nommé, version et date de revue, pour piloter la fraîcheur.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Vue dynamique : services et dépendances</a:t>
            </a:r>
          </a:p>
        </p:txBody>
      </p:sp>
      <p:sp>
        <p:nvSpPr>
          <p:cNvPr id="4" name="Text Placeholder 3"/>
          <p:cNvSpPr>
            <a:spLocks noGrp="1"/>
          </p:cNvSpPr>
          <p:nvPr>
            <p:ph type="body" idx="14" sz="quarter"/>
          </p:nvPr>
        </p:nvSpPr>
        <p:spPr/>
        <p:txBody>
          <a:bodyPr/>
          <a:lstStyle/>
          <a:p>
            <a:r>
              <a:t>Répondre à la question du Run : si un service tombe, quel périmètre est touché ?</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743200"/>
            <a:ext cx="12070080" cy="973836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Rounded Rectangle 45"/>
          <p:cNvSpPr/>
          <p:nvPr/>
        </p:nvSpPr>
        <p:spPr>
          <a:xfrm>
            <a:off x="5394960" y="6355080"/>
            <a:ext cx="4663440" cy="2103120"/>
          </a:xfrm>
          <a:prstGeom prst="roundRect">
            <a:avLst>
              <a:gd name="adj" fmla="val 8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noAutofit/>
          </a:bodyPr>
          <a:lstStyle/>
          <a:p>
            <a:pPr algn="ctr">
              <a:spcAft>
                <a:spcPts val="200"/>
              </a:spcAft>
              <a:buNone/>
            </a:pPr>
            <a:r>
              <a:rPr sz="2400" b="1" i="0">
                <a:solidFill>
                  <a:srgbClr val="FFFFFF"/>
                </a:solidFill>
                <a:latin typeface="Segoe UI"/>
              </a:rPr>
              <a:t>Application OCR F</a:t>
            </a:r>
          </a:p>
          <a:p>
            <a:pPr algn="ctr">
              <a:spcAft>
                <a:spcPts val="400"/>
              </a:spcAft>
              <a:buNone/>
            </a:pPr>
            <a:r>
              <a:rPr sz="1900" b="0" i="0">
                <a:solidFill>
                  <a:srgbClr val="BFC9D9"/>
                </a:solidFill>
                <a:latin typeface="Segoe UI"/>
              </a:rPr>
              <a:t>services de rang 2</a:t>
            </a:r>
          </a:p>
        </p:txBody>
      </p:sp>
      <p:sp>
        <p:nvSpPr>
          <p:cNvPr id="47" name="Rounded Rectangle 46"/>
          <p:cNvSpPr/>
          <p:nvPr/>
        </p:nvSpPr>
        <p:spPr>
          <a:xfrm>
            <a:off x="2103120" y="3200400"/>
            <a:ext cx="5120640" cy="2194560"/>
          </a:xfrm>
          <a:prstGeom prst="roundRect">
            <a:avLst>
              <a:gd name="adj" fmla="val 8000"/>
            </a:avLst>
          </a:prstGeom>
          <a:solidFill>
            <a:srgbClr val="FFFFFF"/>
          </a:solidFill>
          <a:ln w="25400">
            <a:solidFill>
              <a:srgbClr val="082447"/>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8" name="Oval 47"/>
          <p:cNvSpPr/>
          <p:nvPr/>
        </p:nvSpPr>
        <p:spPr>
          <a:xfrm>
            <a:off x="2286000" y="3383280"/>
            <a:ext cx="548640" cy="548640"/>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1</a:t>
            </a:r>
          </a:p>
        </p:txBody>
      </p:sp>
      <p:sp>
        <p:nvSpPr>
          <p:cNvPr id="49" name="TextBox 48"/>
          <p:cNvSpPr txBox="1"/>
          <p:nvPr/>
        </p:nvSpPr>
        <p:spPr>
          <a:xfrm>
            <a:off x="2971800" y="3310128"/>
            <a:ext cx="4114800" cy="2011679"/>
          </a:xfrm>
          <a:prstGeom prst="rect">
            <a:avLst/>
          </a:prstGeom>
          <a:noFill/>
        </p:spPr>
        <p:txBody>
          <a:bodyPr wrap="square" lIns="45720" rIns="45720" anchor="ctr">
            <a:noAutofit/>
          </a:bodyPr>
          <a:lstStyle/>
          <a:p>
            <a:pPr algn="l">
              <a:spcAft>
                <a:spcPts val="100"/>
              </a:spcAft>
              <a:buNone/>
            </a:pPr>
            <a:r>
              <a:rPr sz="2000" b="1" i="0">
                <a:solidFill>
                  <a:srgbClr val="002060"/>
                </a:solidFill>
                <a:latin typeface="Segoe UI"/>
              </a:rPr>
              <a:t>Dépendances ATEL</a:t>
            </a:r>
          </a:p>
          <a:p>
            <a:pPr algn="l">
              <a:spcAft>
                <a:spcPts val="300"/>
              </a:spcAft>
              <a:buNone/>
            </a:pPr>
            <a:r>
              <a:rPr sz="1700" b="0" i="0">
                <a:solidFill>
                  <a:srgbClr val="404040"/>
                </a:solidFill>
                <a:latin typeface="Segoe UI"/>
              </a:rPr>
              <a:t>Dépendances physiques et accès directs aux bases</a:t>
            </a:r>
          </a:p>
          <a:p>
            <a:pPr algn="l">
              <a:spcAft>
                <a:spcPts val="400"/>
              </a:spcAft>
              <a:buNone/>
            </a:pPr>
            <a:r>
              <a:rPr sz="1600" b="1" i="0">
                <a:solidFill>
                  <a:srgbClr val="082447"/>
                </a:solidFill>
                <a:latin typeface="Segoe UI"/>
              </a:rPr>
              <a:t>Source : ROBIN</a:t>
            </a:r>
          </a:p>
        </p:txBody>
      </p:sp>
      <p:sp>
        <p:nvSpPr>
          <p:cNvPr id="50" name="Rounded Rectangle 49"/>
          <p:cNvSpPr/>
          <p:nvPr/>
        </p:nvSpPr>
        <p:spPr>
          <a:xfrm>
            <a:off x="8229600" y="3200400"/>
            <a:ext cx="5120640" cy="2194560"/>
          </a:xfrm>
          <a:prstGeom prst="roundRect">
            <a:avLst>
              <a:gd name="adj" fmla="val 8000"/>
            </a:avLst>
          </a:prstGeom>
          <a:solidFill>
            <a:srgbClr val="FFFFFF"/>
          </a:solidFill>
          <a:ln w="25400">
            <a:solidFill>
              <a:srgbClr val="E0620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1" name="Oval 50"/>
          <p:cNvSpPr/>
          <p:nvPr/>
        </p:nvSpPr>
        <p:spPr>
          <a:xfrm>
            <a:off x="8412480" y="3383280"/>
            <a:ext cx="548640" cy="54864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2</a:t>
            </a:r>
          </a:p>
        </p:txBody>
      </p:sp>
      <p:sp>
        <p:nvSpPr>
          <p:cNvPr id="52" name="TextBox 51"/>
          <p:cNvSpPr txBox="1"/>
          <p:nvPr/>
        </p:nvSpPr>
        <p:spPr>
          <a:xfrm>
            <a:off x="9098280" y="3310128"/>
            <a:ext cx="4114800" cy="2011679"/>
          </a:xfrm>
          <a:prstGeom prst="rect">
            <a:avLst/>
          </a:prstGeom>
          <a:noFill/>
        </p:spPr>
        <p:txBody>
          <a:bodyPr wrap="square" lIns="45720" rIns="45720" anchor="ctr">
            <a:noAutofit/>
          </a:bodyPr>
          <a:lstStyle/>
          <a:p>
            <a:pPr algn="l">
              <a:spcAft>
                <a:spcPts val="100"/>
              </a:spcAft>
              <a:buNone/>
            </a:pPr>
            <a:r>
              <a:rPr sz="2000" b="1" i="0">
                <a:solidFill>
                  <a:srgbClr val="002060"/>
                </a:solidFill>
                <a:latin typeface="Segoe UI"/>
              </a:rPr>
              <a:t>Hors ROBIN</a:t>
            </a:r>
          </a:p>
          <a:p>
            <a:pPr algn="l">
              <a:spcAft>
                <a:spcPts val="300"/>
              </a:spcAft>
              <a:buNone/>
            </a:pPr>
            <a:r>
              <a:rPr sz="1700" b="0" i="0">
                <a:solidFill>
                  <a:srgbClr val="404040"/>
                </a:solidFill>
                <a:latin typeface="Segoe UI"/>
              </a:rPr>
              <a:t>Bases, flux fichiers, batchs</a:t>
            </a:r>
          </a:p>
          <a:p>
            <a:pPr algn="l">
              <a:spcAft>
                <a:spcPts val="400"/>
              </a:spcAft>
              <a:buNone/>
            </a:pPr>
            <a:r>
              <a:rPr sz="1600" b="1" i="0">
                <a:solidFill>
                  <a:srgbClr val="E06206"/>
                </a:solidFill>
                <a:latin typeface="Segoe UI"/>
              </a:rPr>
              <a:t>Source : saisie de l’équipe</a:t>
            </a:r>
          </a:p>
        </p:txBody>
      </p:sp>
      <p:sp>
        <p:nvSpPr>
          <p:cNvPr id="53" name="Rounded Rectangle 52"/>
          <p:cNvSpPr/>
          <p:nvPr/>
        </p:nvSpPr>
        <p:spPr>
          <a:xfrm>
            <a:off x="5166360" y="9464040"/>
            <a:ext cx="5120640" cy="2194560"/>
          </a:xfrm>
          <a:prstGeom prst="roundRect">
            <a:avLst>
              <a:gd name="adj" fmla="val 8000"/>
            </a:avLst>
          </a:prstGeom>
          <a:solidFill>
            <a:srgbClr val="FFFFFF"/>
          </a:solidFill>
          <a:ln w="25400">
            <a:solidFill>
              <a:srgbClr val="E0620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4" name="Oval 53"/>
          <p:cNvSpPr/>
          <p:nvPr/>
        </p:nvSpPr>
        <p:spPr>
          <a:xfrm>
            <a:off x="5349240" y="9646919"/>
            <a:ext cx="548640" cy="54864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3</a:t>
            </a:r>
          </a:p>
        </p:txBody>
      </p:sp>
      <p:sp>
        <p:nvSpPr>
          <p:cNvPr id="55" name="TextBox 54"/>
          <p:cNvSpPr txBox="1"/>
          <p:nvPr/>
        </p:nvSpPr>
        <p:spPr>
          <a:xfrm>
            <a:off x="6035040" y="9573767"/>
            <a:ext cx="4114800" cy="2011679"/>
          </a:xfrm>
          <a:prstGeom prst="rect">
            <a:avLst/>
          </a:prstGeom>
          <a:noFill/>
        </p:spPr>
        <p:txBody>
          <a:bodyPr wrap="square" lIns="45720" rIns="45720" anchor="ctr">
            <a:noAutofit/>
          </a:bodyPr>
          <a:lstStyle/>
          <a:p>
            <a:pPr algn="l">
              <a:spcAft>
                <a:spcPts val="100"/>
              </a:spcAft>
              <a:buNone/>
            </a:pPr>
            <a:r>
              <a:rPr sz="2000" b="1" i="0">
                <a:solidFill>
                  <a:srgbClr val="002060"/>
                </a:solidFill>
                <a:latin typeface="Segoe UI"/>
              </a:rPr>
              <a:t>Hors ATEL</a:t>
            </a:r>
          </a:p>
          <a:p>
            <a:pPr algn="l">
              <a:spcAft>
                <a:spcPts val="300"/>
              </a:spcAft>
              <a:buNone/>
            </a:pPr>
            <a:r>
              <a:rPr sz="1700" b="0" i="0">
                <a:solidFill>
                  <a:srgbClr val="404040"/>
                </a:solidFill>
                <a:latin typeface="Segoe UI"/>
              </a:rPr>
              <a:t>Services Cloud, dépendances hors norme</a:t>
            </a:r>
          </a:p>
          <a:p>
            <a:pPr algn="l">
              <a:spcAft>
                <a:spcPts val="400"/>
              </a:spcAft>
              <a:buNone/>
            </a:pPr>
            <a:r>
              <a:rPr sz="1600" b="1" i="0">
                <a:solidFill>
                  <a:srgbClr val="E06206"/>
                </a:solidFill>
                <a:latin typeface="Segoe UI"/>
              </a:rPr>
              <a:t>Source : saisie de l’équipe</a:t>
            </a:r>
          </a:p>
        </p:txBody>
      </p:sp>
      <p:cxnSp>
        <p:nvCxnSpPr>
          <p:cNvPr id="56" name="Connector 55"/>
          <p:cNvCxnSpPr/>
          <p:nvPr/>
        </p:nvCxnSpPr>
        <p:spPr>
          <a:xfrm flipH="1" flipV="1">
            <a:off x="5120640" y="5394960"/>
            <a:ext cx="822960" cy="960120"/>
          </a:xfrm>
          <a:prstGeom prst="line">
            <a:avLst/>
          </a:prstGeom>
          <a:ln w="28575">
            <a:solidFill>
              <a:srgbClr val="0824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9509760" y="5394960"/>
            <a:ext cx="822960" cy="960120"/>
          </a:xfrm>
          <a:prstGeom prst="line">
            <a:avLst/>
          </a:prstGeom>
          <a:ln w="28575">
            <a:solidFill>
              <a:srgbClr val="E06206"/>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726679" y="8458200"/>
            <a:ext cx="0" cy="1005840"/>
          </a:xfrm>
          <a:prstGeom prst="line">
            <a:avLst/>
          </a:prstGeom>
          <a:ln w="28575">
            <a:solidFill>
              <a:srgbClr val="E0620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10881360" y="6720840"/>
            <a:ext cx="2560320" cy="1371600"/>
          </a:xfrm>
          <a:prstGeom prst="roundRect">
            <a:avLst>
              <a:gd name="adj" fmla="val 10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spcAft>
                <a:spcPts val="400"/>
              </a:spcAft>
              <a:buNone/>
            </a:pPr>
            <a:r>
              <a:rPr sz="1800" b="1" i="0">
                <a:solidFill>
                  <a:srgbClr val="002060"/>
                </a:solidFill>
                <a:latin typeface="Segoe UI"/>
              </a:rPr>
              <a:t>Autres équipes EI</a:t>
            </a:r>
          </a:p>
        </p:txBody>
      </p:sp>
      <p:cxnSp>
        <p:nvCxnSpPr>
          <p:cNvPr id="60" name="Connector 59"/>
          <p:cNvCxnSpPr/>
          <p:nvPr/>
        </p:nvCxnSpPr>
        <p:spPr>
          <a:xfrm>
            <a:off x="10058400" y="7406640"/>
            <a:ext cx="822960" cy="0"/>
          </a:xfrm>
          <a:prstGeom prst="line">
            <a:avLst/>
          </a:prstGeom>
          <a:ln w="28575">
            <a:solidFill>
              <a:srgbClr val="0824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2011680" y="6720840"/>
            <a:ext cx="2651760" cy="1371600"/>
          </a:xfrm>
          <a:prstGeom prst="roundRect">
            <a:avLst>
              <a:gd name="adj" fmla="val 10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spcAft>
                <a:spcPts val="400"/>
              </a:spcAft>
              <a:buNone/>
            </a:pPr>
            <a:r>
              <a:rPr sz="1800" b="1" i="0">
                <a:solidFill>
                  <a:srgbClr val="002060"/>
                </a:solidFill>
                <a:latin typeface="Segoe UI"/>
              </a:rPr>
              <a:t>Codes ROBIN de l’équipe</a:t>
            </a:r>
          </a:p>
        </p:txBody>
      </p:sp>
      <p:cxnSp>
        <p:nvCxnSpPr>
          <p:cNvPr id="62" name="Connector 61"/>
          <p:cNvCxnSpPr/>
          <p:nvPr/>
        </p:nvCxnSpPr>
        <p:spPr>
          <a:xfrm flipH="1">
            <a:off x="4663440" y="7406640"/>
            <a:ext cx="731520" cy="0"/>
          </a:xfrm>
          <a:prstGeom prst="line">
            <a:avLst/>
          </a:prstGeom>
          <a:ln w="28575">
            <a:solidFill>
              <a:srgbClr val="0824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2103120" y="12070080"/>
            <a:ext cx="914400" cy="0"/>
          </a:xfrm>
          <a:prstGeom prst="line">
            <a:avLst/>
          </a:prstGeom>
          <a:ln w="28575">
            <a:solidFill>
              <a:srgbClr val="082447"/>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3108960" y="11841480"/>
            <a:ext cx="3200400" cy="457200"/>
          </a:xfrm>
          <a:prstGeom prst="rect">
            <a:avLst/>
          </a:prstGeom>
          <a:noFill/>
        </p:spPr>
        <p:txBody>
          <a:bodyPr wrap="square" lIns="0" rIns="0" tIns="0" bIns="0" anchor="ctr">
            <a:noAutofit/>
          </a:bodyPr>
          <a:lstStyle/>
          <a:p>
            <a:pPr algn="l">
              <a:spcAft>
                <a:spcPts val="400"/>
              </a:spcAft>
              <a:buNone/>
            </a:pPr>
            <a:r>
              <a:rPr sz="1600" b="0" i="0">
                <a:solidFill>
                  <a:srgbClr val="404040"/>
                </a:solidFill>
                <a:latin typeface="Segoe UI"/>
              </a:rPr>
              <a:t>Remonté de ROBIN</a:t>
            </a:r>
          </a:p>
        </p:txBody>
      </p:sp>
      <p:cxnSp>
        <p:nvCxnSpPr>
          <p:cNvPr id="65" name="Connector 64"/>
          <p:cNvCxnSpPr/>
          <p:nvPr/>
        </p:nvCxnSpPr>
        <p:spPr>
          <a:xfrm>
            <a:off x="10058400" y="12070080"/>
            <a:ext cx="914400" cy="0"/>
          </a:xfrm>
          <a:prstGeom prst="line">
            <a:avLst/>
          </a:prstGeom>
          <a:ln w="28575">
            <a:solidFill>
              <a:srgbClr val="E06206"/>
            </a:solidFill>
            <a:prstDash val="dash"/>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1064240" y="11841480"/>
            <a:ext cx="2651760" cy="457200"/>
          </a:xfrm>
          <a:prstGeom prst="rect">
            <a:avLst/>
          </a:prstGeom>
          <a:noFill/>
        </p:spPr>
        <p:txBody>
          <a:bodyPr wrap="square" lIns="0" rIns="0" tIns="0" bIns="0" anchor="ctr">
            <a:noAutofit/>
          </a:bodyPr>
          <a:lstStyle/>
          <a:p>
            <a:pPr algn="l">
              <a:spcAft>
                <a:spcPts val="400"/>
              </a:spcAft>
              <a:buNone/>
            </a:pPr>
            <a:r>
              <a:rPr sz="1600" b="0" i="0">
                <a:solidFill>
                  <a:srgbClr val="404040"/>
                </a:solidFill>
                <a:latin typeface="Segoe UI"/>
              </a:rPr>
              <a:t>Complété à la main</a:t>
            </a:r>
          </a:p>
        </p:txBody>
      </p:sp>
      <p:sp>
        <p:nvSpPr>
          <p:cNvPr id="67" name="Rounded Rectangle 66"/>
          <p:cNvSpPr/>
          <p:nvPr/>
        </p:nvSpPr>
        <p:spPr>
          <a:xfrm>
            <a:off x="14173200" y="2743200"/>
            <a:ext cx="9537192" cy="1874519"/>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8" name="TextBox 67"/>
          <p:cNvSpPr txBox="1"/>
          <p:nvPr/>
        </p:nvSpPr>
        <p:spPr>
          <a:xfrm>
            <a:off x="14493240" y="2834640"/>
            <a:ext cx="8961120" cy="1691640"/>
          </a:xfrm>
          <a:prstGeom prst="rect">
            <a:avLst/>
          </a:prstGeom>
          <a:noFill/>
        </p:spPr>
        <p:txBody>
          <a:bodyPr wrap="square" lIns="45720" rIns="45720" anchor="ctr">
            <a:noAutofit/>
          </a:bodyPr>
          <a:lstStyle/>
          <a:p>
            <a:pPr algn="l">
              <a:spcAft>
                <a:spcPts val="300"/>
              </a:spcAft>
              <a:buNone/>
            </a:pPr>
            <a:r>
              <a:rPr sz="2400" b="1" i="0">
                <a:solidFill>
                  <a:srgbClr val="002060"/>
                </a:solidFill>
                <a:latin typeface="Segoe UI"/>
              </a:rPr>
              <a:t>Périmètre</a:t>
            </a:r>
          </a:p>
          <a:p>
            <a:pPr algn="l">
              <a:spcAft>
                <a:spcPts val="400"/>
              </a:spcAft>
              <a:buNone/>
            </a:pPr>
            <a:r>
              <a:rPr sz="2000" b="0" i="0">
                <a:solidFill>
                  <a:srgbClr val="404040"/>
                </a:solidFill>
                <a:latin typeface="Segoe UI"/>
              </a:rPr>
              <a:t>Interactions entre les codes ROBIN de l’équipe et avec les autres équipes EI.</a:t>
            </a:r>
          </a:p>
        </p:txBody>
      </p:sp>
      <p:sp>
        <p:nvSpPr>
          <p:cNvPr id="69" name="Rounded Rectangle 68"/>
          <p:cNvSpPr/>
          <p:nvPr/>
        </p:nvSpPr>
        <p:spPr>
          <a:xfrm>
            <a:off x="14173200" y="4800600"/>
            <a:ext cx="9537192" cy="1874519"/>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0" name="TextBox 69"/>
          <p:cNvSpPr txBox="1"/>
          <p:nvPr/>
        </p:nvSpPr>
        <p:spPr>
          <a:xfrm>
            <a:off x="14493240" y="4892040"/>
            <a:ext cx="8961120" cy="1691640"/>
          </a:xfrm>
          <a:prstGeom prst="rect">
            <a:avLst/>
          </a:prstGeom>
          <a:noFill/>
        </p:spPr>
        <p:txBody>
          <a:bodyPr wrap="square" lIns="45720" rIns="45720" anchor="ctr">
            <a:noAutofit/>
          </a:bodyPr>
          <a:lstStyle/>
          <a:p>
            <a:pPr algn="l">
              <a:spcAft>
                <a:spcPts val="300"/>
              </a:spcAft>
              <a:buNone/>
            </a:pPr>
            <a:r>
              <a:rPr sz="2400" b="1" i="0">
                <a:solidFill>
                  <a:srgbClr val="002060"/>
                </a:solidFill>
                <a:latin typeface="Segoe UI"/>
              </a:rPr>
              <a:t>Source</a:t>
            </a:r>
          </a:p>
          <a:p>
            <a:pPr algn="l">
              <a:spcAft>
                <a:spcPts val="400"/>
              </a:spcAft>
              <a:buNone/>
            </a:pPr>
            <a:r>
              <a:rPr sz="2000" b="0" i="0">
                <a:solidFill>
                  <a:srgbClr val="404040"/>
                </a:solidFill>
                <a:latin typeface="Segoe UI"/>
              </a:rPr>
              <a:t>Colonne « dépendances entre services » du catalogue, croisée avec l’export ROBIN.</a:t>
            </a:r>
          </a:p>
        </p:txBody>
      </p:sp>
      <p:sp>
        <p:nvSpPr>
          <p:cNvPr id="71" name="Rounded Rectangle 70"/>
          <p:cNvSpPr/>
          <p:nvPr/>
        </p:nvSpPr>
        <p:spPr>
          <a:xfrm>
            <a:off x="14173200" y="6858000"/>
            <a:ext cx="9537192" cy="1874519"/>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2" name="TextBox 71"/>
          <p:cNvSpPr txBox="1"/>
          <p:nvPr/>
        </p:nvSpPr>
        <p:spPr>
          <a:xfrm>
            <a:off x="14493240" y="6949440"/>
            <a:ext cx="8961120" cy="1691640"/>
          </a:xfrm>
          <a:prstGeom prst="rect">
            <a:avLst/>
          </a:prstGeom>
          <a:noFill/>
        </p:spPr>
        <p:txBody>
          <a:bodyPr wrap="square" lIns="45720" rIns="45720" anchor="ctr">
            <a:noAutofit/>
          </a:bodyPr>
          <a:lstStyle/>
          <a:p>
            <a:pPr algn="l">
              <a:spcAft>
                <a:spcPts val="300"/>
              </a:spcAft>
              <a:buNone/>
            </a:pPr>
            <a:r>
              <a:rPr sz="2400" b="1" i="0">
                <a:solidFill>
                  <a:srgbClr val="002060"/>
                </a:solidFill>
                <a:latin typeface="Segoe UI"/>
              </a:rPr>
              <a:t>Niveau de détail</a:t>
            </a:r>
          </a:p>
          <a:p>
            <a:pPr algn="l">
              <a:spcAft>
                <a:spcPts val="400"/>
              </a:spcAft>
              <a:buNone/>
            </a:pPr>
            <a:r>
              <a:rPr sz="2000" b="0" i="0">
                <a:solidFill>
                  <a:srgbClr val="404040"/>
                </a:solidFill>
                <a:latin typeface="Segoe UI"/>
              </a:rPr>
              <a:t>Service de rang 2 : où commence un appel, où il se termine, quel périmètre est touché en cas de panne.</a:t>
            </a:r>
          </a:p>
        </p:txBody>
      </p:sp>
      <p:sp>
        <p:nvSpPr>
          <p:cNvPr id="73" name="Rounded Rectangle 72"/>
          <p:cNvSpPr/>
          <p:nvPr/>
        </p:nvSpPr>
        <p:spPr>
          <a:xfrm>
            <a:off x="14173200" y="8961120"/>
            <a:ext cx="9537192" cy="3520440"/>
          </a:xfrm>
          <a:prstGeom prst="roundRect">
            <a:avLst>
              <a:gd name="adj" fmla="val 6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4" name="Rounded Rectangle 73"/>
          <p:cNvSpPr/>
          <p:nvPr/>
        </p:nvSpPr>
        <p:spPr>
          <a:xfrm>
            <a:off x="14493240" y="9189720"/>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sp>
        <p:nvSpPr>
          <p:cNvPr id="75" name="TextBox 74"/>
          <p:cNvSpPr txBox="1"/>
          <p:nvPr/>
        </p:nvSpPr>
        <p:spPr>
          <a:xfrm>
            <a:off x="14493240" y="9738360"/>
            <a:ext cx="8961120" cy="265176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2000" b="0" i="0">
                <a:solidFill>
                  <a:srgbClr val="002060"/>
                </a:solidFill>
                <a:latin typeface="Segoe UI"/>
              </a:rPr>
              <a:t>Légende normalisée des flux : appel synchrone (API, webservice), flux fichier, batch, Cloud.</a:t>
            </a:r>
          </a:p>
          <a:p>
            <a:pPr algn="l" marL="292608" indent="-256032">
              <a:spcAft>
                <a:spcPts val="600"/>
              </a:spcAft>
              <a:buClr>
                <a:srgbClr val="E06206"/>
              </a:buClr>
              <a:buFont typeface="Arial"/>
              <a:buChar char="•"/>
            </a:pPr>
            <a:r>
              <a:rPr sz="2000" b="0" i="0">
                <a:solidFill>
                  <a:srgbClr val="002060"/>
                </a:solidFill>
                <a:latin typeface="Segoe UI"/>
              </a:rPr>
              <a:t>Distinguer visuellement ce qui vient de ROBIN de ce qui est saisi par l’équipe.</a:t>
            </a:r>
          </a:p>
          <a:p>
            <a:pPr algn="l" marL="292608" indent="-256032">
              <a:spcAft>
                <a:spcPts val="400"/>
              </a:spcAft>
              <a:buClr>
                <a:srgbClr val="E06206"/>
              </a:buClr>
              <a:buFont typeface="Arial"/>
              <a:buChar char="•"/>
            </a:pPr>
            <a:r>
              <a:rPr sz="2000" b="0" i="0">
                <a:solidFill>
                  <a:srgbClr val="002060"/>
                </a:solidFill>
                <a:latin typeface="Segoe UI"/>
              </a:rPr>
              <a:t>Exemple de référence : écosystème CADI (annexe).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Vue technique : un niveau léger à ajouter</a:t>
            </a:r>
          </a:p>
        </p:txBody>
      </p:sp>
      <p:sp>
        <p:nvSpPr>
          <p:cNvPr id="4" name="Text Placeholder 3"/>
          <p:cNvSpPr>
            <a:spLocks noGrp="1"/>
          </p:cNvSpPr>
          <p:nvPr>
            <p:ph type="body" idx="14" sz="quarter"/>
          </p:nvPr>
        </p:nvSpPr>
        <p:spPr/>
        <p:txBody>
          <a:bodyPr/>
          <a:lstStyle/>
          <a:p>
            <a:r>
              <a:t>Besoin exprimé en entretien et en atelier, non tranché dans les drafts</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TextBox 44"/>
          <p:cNvSpPr txBox="1"/>
          <p:nvPr/>
        </p:nvSpPr>
        <p:spPr>
          <a:xfrm>
            <a:off x="1673352" y="2743200"/>
            <a:ext cx="10972800" cy="640080"/>
          </a:xfrm>
          <a:prstGeom prst="rect">
            <a:avLst/>
          </a:prstGeom>
          <a:noFill/>
        </p:spPr>
        <p:txBody>
          <a:bodyPr wrap="square" lIns="45720" rIns="45720" anchor="ctr">
            <a:noAutofit/>
          </a:bodyPr>
          <a:lstStyle/>
          <a:p>
            <a:pPr algn="l">
              <a:spcAft>
                <a:spcPts val="400"/>
              </a:spcAft>
              <a:buNone/>
            </a:pPr>
            <a:r>
              <a:rPr sz="2600" b="1" i="0">
                <a:solidFill>
                  <a:srgbClr val="002060"/>
                </a:solidFill>
                <a:latin typeface="Segoe UI"/>
              </a:rPr>
              <a:t>Les questions posées par les équipes</a:t>
            </a:r>
          </a:p>
        </p:txBody>
      </p:sp>
      <p:sp>
        <p:nvSpPr>
          <p:cNvPr id="46" name="Rounded Rectangle 45"/>
          <p:cNvSpPr/>
          <p:nvPr/>
        </p:nvSpPr>
        <p:spPr>
          <a:xfrm>
            <a:off x="1673352" y="3566160"/>
            <a:ext cx="10972800" cy="12344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7" name="Oval 46"/>
          <p:cNvSpPr/>
          <p:nvPr/>
        </p:nvSpPr>
        <p:spPr>
          <a:xfrm>
            <a:off x="1965960" y="3840480"/>
            <a:ext cx="685800" cy="68580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1</a:t>
            </a:r>
          </a:p>
        </p:txBody>
      </p:sp>
      <p:sp>
        <p:nvSpPr>
          <p:cNvPr id="48" name="TextBox 47"/>
          <p:cNvSpPr txBox="1"/>
          <p:nvPr/>
        </p:nvSpPr>
        <p:spPr>
          <a:xfrm>
            <a:off x="2926080" y="3566160"/>
            <a:ext cx="9509760" cy="1234440"/>
          </a:xfrm>
          <a:prstGeom prst="rect">
            <a:avLst/>
          </a:prstGeom>
          <a:noFill/>
        </p:spPr>
        <p:txBody>
          <a:bodyPr wrap="square" lIns="45720" rIns="45720" anchor="ctr">
            <a:noAutofit/>
          </a:bodyPr>
          <a:lstStyle/>
          <a:p>
            <a:pPr algn="l">
              <a:spcAft>
                <a:spcPts val="400"/>
              </a:spcAft>
              <a:buNone/>
            </a:pPr>
            <a:r>
              <a:rPr sz="2300" b="1" i="0">
                <a:solidFill>
                  <a:srgbClr val="002060"/>
                </a:solidFill>
                <a:latin typeface="Segoe UI"/>
              </a:rPr>
              <a:t>Comment sont intégrés les composants développés ?</a:t>
            </a:r>
          </a:p>
        </p:txBody>
      </p:sp>
      <p:sp>
        <p:nvSpPr>
          <p:cNvPr id="49" name="Rounded Rectangle 48"/>
          <p:cNvSpPr/>
          <p:nvPr/>
        </p:nvSpPr>
        <p:spPr>
          <a:xfrm>
            <a:off x="1673352" y="4983480"/>
            <a:ext cx="10972800" cy="12344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0" name="Oval 49"/>
          <p:cNvSpPr/>
          <p:nvPr/>
        </p:nvSpPr>
        <p:spPr>
          <a:xfrm>
            <a:off x="1965960" y="5257800"/>
            <a:ext cx="685800" cy="68580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2</a:t>
            </a:r>
          </a:p>
        </p:txBody>
      </p:sp>
      <p:sp>
        <p:nvSpPr>
          <p:cNvPr id="51" name="TextBox 50"/>
          <p:cNvSpPr txBox="1"/>
          <p:nvPr/>
        </p:nvSpPr>
        <p:spPr>
          <a:xfrm>
            <a:off x="2926080" y="4983480"/>
            <a:ext cx="9509760" cy="1234440"/>
          </a:xfrm>
          <a:prstGeom prst="rect">
            <a:avLst/>
          </a:prstGeom>
          <a:noFill/>
        </p:spPr>
        <p:txBody>
          <a:bodyPr wrap="square" lIns="45720" rIns="45720" anchor="ctr">
            <a:noAutofit/>
          </a:bodyPr>
          <a:lstStyle/>
          <a:p>
            <a:pPr algn="l">
              <a:spcAft>
                <a:spcPts val="400"/>
              </a:spcAft>
              <a:buNone/>
            </a:pPr>
            <a:r>
              <a:rPr sz="2300" b="1" i="0">
                <a:solidFill>
                  <a:srgbClr val="002060"/>
                </a:solidFill>
                <a:latin typeface="Segoe UI"/>
              </a:rPr>
              <a:t>Où sont stockés et hébergés les composants ?</a:t>
            </a:r>
          </a:p>
        </p:txBody>
      </p:sp>
      <p:sp>
        <p:nvSpPr>
          <p:cNvPr id="52" name="Rounded Rectangle 51"/>
          <p:cNvSpPr/>
          <p:nvPr/>
        </p:nvSpPr>
        <p:spPr>
          <a:xfrm>
            <a:off x="1673352" y="6400800"/>
            <a:ext cx="10972800" cy="12344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3" name="Oval 52"/>
          <p:cNvSpPr/>
          <p:nvPr/>
        </p:nvSpPr>
        <p:spPr>
          <a:xfrm>
            <a:off x="1965960" y="6675120"/>
            <a:ext cx="685800" cy="68580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3</a:t>
            </a:r>
          </a:p>
        </p:txBody>
      </p:sp>
      <p:sp>
        <p:nvSpPr>
          <p:cNvPr id="54" name="TextBox 53"/>
          <p:cNvSpPr txBox="1"/>
          <p:nvPr/>
        </p:nvSpPr>
        <p:spPr>
          <a:xfrm>
            <a:off x="2926080" y="6400800"/>
            <a:ext cx="9509760" cy="1234440"/>
          </a:xfrm>
          <a:prstGeom prst="rect">
            <a:avLst/>
          </a:prstGeom>
          <a:noFill/>
        </p:spPr>
        <p:txBody>
          <a:bodyPr wrap="square" lIns="45720" rIns="45720" anchor="ctr">
            <a:noAutofit/>
          </a:bodyPr>
          <a:lstStyle/>
          <a:p>
            <a:pPr algn="l">
              <a:spcAft>
                <a:spcPts val="400"/>
              </a:spcAft>
              <a:buNone/>
            </a:pPr>
            <a:r>
              <a:rPr sz="2300" b="1" i="0">
                <a:solidFill>
                  <a:srgbClr val="002060"/>
                </a:solidFill>
                <a:latin typeface="Segoe UI"/>
              </a:rPr>
              <a:t>Comment échangent-ils avec des composants extérieurs à l’OCR F ?</a:t>
            </a:r>
          </a:p>
        </p:txBody>
      </p:sp>
      <p:sp>
        <p:nvSpPr>
          <p:cNvPr id="55" name="Rounded Rectangle 54"/>
          <p:cNvSpPr/>
          <p:nvPr/>
        </p:nvSpPr>
        <p:spPr>
          <a:xfrm>
            <a:off x="1673352" y="7818120"/>
            <a:ext cx="10972800" cy="12344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6" name="Oval 55"/>
          <p:cNvSpPr/>
          <p:nvPr/>
        </p:nvSpPr>
        <p:spPr>
          <a:xfrm>
            <a:off x="1965960" y="8092440"/>
            <a:ext cx="685800" cy="68580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4</a:t>
            </a:r>
          </a:p>
        </p:txBody>
      </p:sp>
      <p:sp>
        <p:nvSpPr>
          <p:cNvPr id="57" name="TextBox 56"/>
          <p:cNvSpPr txBox="1"/>
          <p:nvPr/>
        </p:nvSpPr>
        <p:spPr>
          <a:xfrm>
            <a:off x="2926080" y="7818120"/>
            <a:ext cx="9509760" cy="1234440"/>
          </a:xfrm>
          <a:prstGeom prst="rect">
            <a:avLst/>
          </a:prstGeom>
          <a:noFill/>
        </p:spPr>
        <p:txBody>
          <a:bodyPr wrap="square" lIns="45720" rIns="45720" anchor="ctr">
            <a:noAutofit/>
          </a:bodyPr>
          <a:lstStyle/>
          <a:p>
            <a:pPr algn="l">
              <a:spcAft>
                <a:spcPts val="400"/>
              </a:spcAft>
              <a:buNone/>
            </a:pPr>
            <a:r>
              <a:rPr sz="2300" b="1" i="0">
                <a:solidFill>
                  <a:srgbClr val="002060"/>
                </a:solidFill>
                <a:latin typeface="Segoe UI"/>
              </a:rPr>
              <a:t>Sur quels serveurs déploie-t-on nos solutions ? (H630)</a:t>
            </a:r>
          </a:p>
        </p:txBody>
      </p:sp>
      <p:sp>
        <p:nvSpPr>
          <p:cNvPr id="58" name="Rounded Rectangle 57"/>
          <p:cNvSpPr/>
          <p:nvPr/>
        </p:nvSpPr>
        <p:spPr>
          <a:xfrm>
            <a:off x="1673352" y="9372600"/>
            <a:ext cx="10972800" cy="3108960"/>
          </a:xfrm>
          <a:prstGeom prst="roundRect">
            <a:avLst>
              <a:gd name="adj" fmla="val 6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59" name="Picture 58" descr="s6_Image_18.png"/>
          <p:cNvPicPr>
            <a:picLocks noChangeAspect="1"/>
          </p:cNvPicPr>
          <p:nvPr/>
        </p:nvPicPr>
        <p:blipFill>
          <a:blip r:embed="rId2"/>
          <a:stretch>
            <a:fillRect/>
          </a:stretch>
        </p:blipFill>
        <p:spPr>
          <a:xfrm>
            <a:off x="2057400" y="9738360"/>
            <a:ext cx="914400" cy="853440"/>
          </a:xfrm>
          <a:prstGeom prst="rect">
            <a:avLst/>
          </a:prstGeom>
        </p:spPr>
      </p:pic>
      <p:sp>
        <p:nvSpPr>
          <p:cNvPr id="60" name="TextBox 59"/>
          <p:cNvSpPr txBox="1"/>
          <p:nvPr/>
        </p:nvSpPr>
        <p:spPr>
          <a:xfrm>
            <a:off x="3246120" y="9555480"/>
            <a:ext cx="9052560" cy="2743200"/>
          </a:xfrm>
          <a:prstGeom prst="rect">
            <a:avLst/>
          </a:prstGeom>
          <a:noFill/>
        </p:spPr>
        <p:txBody>
          <a:bodyPr wrap="square" lIns="45720" rIns="45720" anchor="ctr">
            <a:noAutofit/>
          </a:bodyPr>
          <a:lstStyle/>
          <a:p>
            <a:pPr algn="l">
              <a:spcAft>
                <a:spcPts val="600"/>
              </a:spcAft>
              <a:buNone/>
            </a:pPr>
            <a:r>
              <a:rPr sz="2300" b="1" i="0">
                <a:solidFill>
                  <a:srgbClr val="F4B183"/>
                </a:solidFill>
                <a:latin typeface="Segoe UI"/>
              </a:rPr>
              <a:t>Exemple révélateur</a:t>
            </a:r>
          </a:p>
          <a:p>
            <a:pPr algn="l">
              <a:spcAft>
                <a:spcPts val="400"/>
              </a:spcAft>
              <a:buNone/>
            </a:pPr>
            <a:r>
              <a:rPr sz="2200" b="0" i="0">
                <a:solidFill>
                  <a:srgbClr val="FFFFFF"/>
                </a:solidFill>
                <a:latin typeface="Segoe UI"/>
              </a:rPr>
              <a:t>OSGE est connecté à IDOC et 3D20 : ces interactions existent mais ne sont pas visibles dans ROBIN. La vue technique doit aller au-delà des interactions ATEL et BDD.</a:t>
            </a:r>
          </a:p>
        </p:txBody>
      </p:sp>
      <p:sp>
        <p:nvSpPr>
          <p:cNvPr id="61" name="Rounded Rectangle 60"/>
          <p:cNvSpPr/>
          <p:nvPr/>
        </p:nvSpPr>
        <p:spPr>
          <a:xfrm>
            <a:off x="13075920" y="2743200"/>
            <a:ext cx="10634472" cy="9738360"/>
          </a:xfrm>
          <a:prstGeom prst="roundRect">
            <a:avLst>
              <a:gd name="adj" fmla="val 4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2" name="Rounded Rectangle 61"/>
          <p:cNvSpPr/>
          <p:nvPr/>
        </p:nvSpPr>
        <p:spPr>
          <a:xfrm>
            <a:off x="13441680" y="3063240"/>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sp>
        <p:nvSpPr>
          <p:cNvPr id="63" name="TextBox 62"/>
          <p:cNvSpPr txBox="1"/>
          <p:nvPr/>
        </p:nvSpPr>
        <p:spPr>
          <a:xfrm>
            <a:off x="15727680" y="3017520"/>
            <a:ext cx="7772400" cy="548640"/>
          </a:xfrm>
          <a:prstGeom prst="rect">
            <a:avLst/>
          </a:prstGeom>
          <a:noFill/>
        </p:spPr>
        <p:txBody>
          <a:bodyPr wrap="square" lIns="45720" rIns="45720" anchor="ctr">
            <a:noAutofit/>
          </a:bodyPr>
          <a:lstStyle/>
          <a:p>
            <a:pPr algn="l">
              <a:spcAft>
                <a:spcPts val="400"/>
              </a:spcAft>
              <a:buNone/>
            </a:pPr>
            <a:r>
              <a:rPr sz="2600" b="1" i="0">
                <a:solidFill>
                  <a:srgbClr val="002060"/>
                </a:solidFill>
                <a:latin typeface="Segoe UI"/>
              </a:rPr>
              <a:t>Contenu minimal proposé</a:t>
            </a:r>
          </a:p>
        </p:txBody>
      </p:sp>
      <p:sp>
        <p:nvSpPr>
          <p:cNvPr id="64" name="Rounded Rectangle 63"/>
          <p:cNvSpPr/>
          <p:nvPr/>
        </p:nvSpPr>
        <p:spPr>
          <a:xfrm>
            <a:off x="13441680" y="3931920"/>
            <a:ext cx="990295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5" name="TextBox 64"/>
          <p:cNvSpPr txBox="1"/>
          <p:nvPr/>
        </p:nvSpPr>
        <p:spPr>
          <a:xfrm>
            <a:off x="13761720" y="4023359"/>
            <a:ext cx="9326880" cy="2468880"/>
          </a:xfrm>
          <a:prstGeom prst="rect">
            <a:avLst/>
          </a:prstGeom>
          <a:noFill/>
        </p:spPr>
        <p:txBody>
          <a:bodyPr wrap="square" lIns="45720" rIns="45720" anchor="ctr">
            <a:noAutofit/>
          </a:bodyPr>
          <a:lstStyle/>
          <a:p>
            <a:pPr algn="l">
              <a:spcAft>
                <a:spcPts val="400"/>
              </a:spcAft>
              <a:buNone/>
            </a:pPr>
            <a:r>
              <a:rPr sz="2400" b="1" i="0">
                <a:solidFill>
                  <a:srgbClr val="E06206"/>
                </a:solidFill>
                <a:latin typeface="Segoe UI"/>
              </a:rPr>
              <a:t>Dans la fiche d’identité</a:t>
            </a:r>
          </a:p>
          <a:p>
            <a:pPr algn="l">
              <a:spcAft>
                <a:spcPts val="400"/>
              </a:spcAft>
              <a:buNone/>
            </a:pPr>
            <a:r>
              <a:rPr sz="2200" b="0" i="0">
                <a:solidFill>
                  <a:srgbClr val="404040"/>
                </a:solidFill>
                <a:latin typeface="Segoe UI"/>
              </a:rPr>
              <a:t>Rubrique « Caractéristiques techniques » : hébergement (on-premise ou Cloud), socle et middleware, protocoles, ressources SAS nécessaires.</a:t>
            </a:r>
          </a:p>
        </p:txBody>
      </p:sp>
      <p:sp>
        <p:nvSpPr>
          <p:cNvPr id="66" name="Rounded Rectangle 65"/>
          <p:cNvSpPr/>
          <p:nvPr/>
        </p:nvSpPr>
        <p:spPr>
          <a:xfrm>
            <a:off x="13441680" y="6766560"/>
            <a:ext cx="990295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7" name="TextBox 66"/>
          <p:cNvSpPr txBox="1"/>
          <p:nvPr/>
        </p:nvSpPr>
        <p:spPr>
          <a:xfrm>
            <a:off x="13761720" y="6858000"/>
            <a:ext cx="9326880" cy="2468880"/>
          </a:xfrm>
          <a:prstGeom prst="rect">
            <a:avLst/>
          </a:prstGeom>
          <a:noFill/>
        </p:spPr>
        <p:txBody>
          <a:bodyPr wrap="square" lIns="45720" rIns="45720" anchor="ctr">
            <a:noAutofit/>
          </a:bodyPr>
          <a:lstStyle/>
          <a:p>
            <a:pPr algn="l">
              <a:spcAft>
                <a:spcPts val="400"/>
              </a:spcAft>
              <a:buNone/>
            </a:pPr>
            <a:r>
              <a:rPr sz="2400" b="1" i="0">
                <a:solidFill>
                  <a:srgbClr val="E06206"/>
                </a:solidFill>
                <a:latin typeface="Segoe UI"/>
              </a:rPr>
              <a:t>Dans la vue dynamique</a:t>
            </a:r>
          </a:p>
          <a:p>
            <a:pPr algn="l">
              <a:spcAft>
                <a:spcPts val="400"/>
              </a:spcAft>
              <a:buNone/>
            </a:pPr>
            <a:r>
              <a:rPr sz="2200" b="0" i="0">
                <a:solidFill>
                  <a:srgbClr val="404040"/>
                </a:solidFill>
                <a:latin typeface="Segoe UI"/>
              </a:rPr>
              <a:t>Calque technique optionnel : zones et serveurs de déploiement, pour répondre à la demande de H630 sans créer un livrable supplémentaire.</a:t>
            </a:r>
          </a:p>
        </p:txBody>
      </p:sp>
      <p:sp>
        <p:nvSpPr>
          <p:cNvPr id="68" name="Rounded Rectangle 67"/>
          <p:cNvSpPr/>
          <p:nvPr/>
        </p:nvSpPr>
        <p:spPr>
          <a:xfrm>
            <a:off x="13441680" y="9601200"/>
            <a:ext cx="990295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9" name="TextBox 68"/>
          <p:cNvSpPr txBox="1"/>
          <p:nvPr/>
        </p:nvSpPr>
        <p:spPr>
          <a:xfrm>
            <a:off x="13761720" y="9692640"/>
            <a:ext cx="9326880" cy="2468880"/>
          </a:xfrm>
          <a:prstGeom prst="rect">
            <a:avLst/>
          </a:prstGeom>
          <a:noFill/>
        </p:spPr>
        <p:txBody>
          <a:bodyPr wrap="square" lIns="45720" rIns="45720" anchor="ctr">
            <a:noAutofit/>
          </a:bodyPr>
          <a:lstStyle/>
          <a:p>
            <a:pPr algn="l">
              <a:spcAft>
                <a:spcPts val="400"/>
              </a:spcAft>
              <a:buNone/>
            </a:pPr>
            <a:r>
              <a:rPr sz="2400" b="1" i="0">
                <a:solidFill>
                  <a:srgbClr val="7F7F7F"/>
                </a:solidFill>
                <a:latin typeface="Segoe UI"/>
              </a:rPr>
              <a:t>Hors périmètre</a:t>
            </a:r>
          </a:p>
          <a:p>
            <a:pPr algn="l">
              <a:spcAft>
                <a:spcPts val="400"/>
              </a:spcAft>
              <a:buNone/>
            </a:pPr>
            <a:r>
              <a:rPr sz="2200" b="0" i="0">
                <a:solidFill>
                  <a:srgbClr val="404040"/>
                </a:solidFill>
                <a:latin typeface="Segoe UI"/>
              </a:rPr>
              <a:t>Architecture d’infrastructure détaillée : elle reste dans la documentation détaillée des équipes.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Règles communes : le socle minimal</a:t>
            </a:r>
          </a:p>
        </p:txBody>
      </p:sp>
      <p:sp>
        <p:nvSpPr>
          <p:cNvPr id="4" name="Text Placeholder 3"/>
          <p:cNvSpPr>
            <a:spLocks noGrp="1"/>
          </p:cNvSpPr>
          <p:nvPr>
            <p:ph type="body" idx="14" sz="quarter"/>
          </p:nvPr>
        </p:nvSpPr>
        <p:spPr/>
        <p:txBody>
          <a:bodyPr/>
          <a:lstStyle/>
          <a:p>
            <a:r>
              <a:t>Harmoniser sans alourdir — ce qui est obligatoire, ce qui reste libre</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743200"/>
            <a:ext cx="14081760" cy="75895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Round Same Side Corner Rectangle 45"/>
          <p:cNvSpPr/>
          <p:nvPr/>
        </p:nvSpPr>
        <p:spPr>
          <a:xfrm>
            <a:off x="1673352" y="2743200"/>
            <a:ext cx="14081760" cy="1005840"/>
          </a:xfrm>
          <a:prstGeom prst="round2SameRect">
            <a:avLst>
              <a:gd name="adj1" fmla="val 12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7" name="TextBox 46"/>
          <p:cNvSpPr txBox="1"/>
          <p:nvPr/>
        </p:nvSpPr>
        <p:spPr>
          <a:xfrm>
            <a:off x="2103120" y="2743200"/>
            <a:ext cx="13258800" cy="1005840"/>
          </a:xfrm>
          <a:prstGeom prst="rect">
            <a:avLst/>
          </a:prstGeom>
          <a:noFill/>
        </p:spPr>
        <p:txBody>
          <a:bodyPr wrap="square" lIns="45720" rIns="45720" anchor="ctr">
            <a:noAutofit/>
          </a:bodyPr>
          <a:lstStyle/>
          <a:p>
            <a:pPr algn="l">
              <a:spcAft>
                <a:spcPts val="400"/>
              </a:spcAft>
              <a:buNone/>
            </a:pPr>
            <a:r>
              <a:rPr sz="2600" b="1" i="0">
                <a:solidFill>
                  <a:srgbClr val="FFFFFF"/>
                </a:solidFill>
                <a:latin typeface="Segoe UI"/>
              </a:rPr>
              <a:t>Socle commun obligatoire</a:t>
            </a:r>
          </a:p>
        </p:txBody>
      </p:sp>
      <p:sp>
        <p:nvSpPr>
          <p:cNvPr id="48" name="Oval 47"/>
          <p:cNvSpPr/>
          <p:nvPr/>
        </p:nvSpPr>
        <p:spPr>
          <a:xfrm>
            <a:off x="2011680" y="4114800"/>
            <a:ext cx="566928" cy="566928"/>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1</a:t>
            </a:r>
          </a:p>
        </p:txBody>
      </p:sp>
      <p:sp>
        <p:nvSpPr>
          <p:cNvPr id="49" name="TextBox 48"/>
          <p:cNvSpPr txBox="1"/>
          <p:nvPr/>
        </p:nvSpPr>
        <p:spPr>
          <a:xfrm>
            <a:off x="2743200" y="4023360"/>
            <a:ext cx="5852160" cy="1874519"/>
          </a:xfrm>
          <a:prstGeom prst="rect">
            <a:avLst/>
          </a:prstGeom>
          <a:noFill/>
        </p:spPr>
        <p:txBody>
          <a:bodyPr wrap="square" lIns="45720" rIns="45720" anchor="t">
            <a:noAutofit/>
          </a:bodyPr>
          <a:lstStyle/>
          <a:p>
            <a:pPr algn="l">
              <a:spcAft>
                <a:spcPts val="200"/>
              </a:spcAft>
              <a:buNone/>
            </a:pPr>
            <a:r>
              <a:rPr sz="2300" b="1" i="0">
                <a:solidFill>
                  <a:srgbClr val="002060"/>
                </a:solidFill>
                <a:latin typeface="Segoe UI"/>
              </a:rPr>
              <a:t>Granularité</a:t>
            </a:r>
          </a:p>
          <a:p>
            <a:pPr algn="l">
              <a:spcAft>
                <a:spcPts val="400"/>
              </a:spcAft>
              <a:buNone/>
            </a:pPr>
            <a:r>
              <a:rPr sz="2000" b="0" i="0">
                <a:solidFill>
                  <a:srgbClr val="404040"/>
                </a:solidFill>
                <a:latin typeface="Segoe UI"/>
              </a:rPr>
              <a:t>Une fiche par application, rattachée à un code ROBIN.</a:t>
            </a:r>
          </a:p>
        </p:txBody>
      </p:sp>
      <p:sp>
        <p:nvSpPr>
          <p:cNvPr id="50" name="Oval 49"/>
          <p:cNvSpPr/>
          <p:nvPr/>
        </p:nvSpPr>
        <p:spPr>
          <a:xfrm>
            <a:off x="2011680" y="6126480"/>
            <a:ext cx="566928" cy="566928"/>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2</a:t>
            </a:r>
          </a:p>
        </p:txBody>
      </p:sp>
      <p:sp>
        <p:nvSpPr>
          <p:cNvPr id="51" name="TextBox 50"/>
          <p:cNvSpPr txBox="1"/>
          <p:nvPr/>
        </p:nvSpPr>
        <p:spPr>
          <a:xfrm>
            <a:off x="2743200" y="6035040"/>
            <a:ext cx="5852160" cy="1874519"/>
          </a:xfrm>
          <a:prstGeom prst="rect">
            <a:avLst/>
          </a:prstGeom>
          <a:noFill/>
        </p:spPr>
        <p:txBody>
          <a:bodyPr wrap="square" lIns="45720" rIns="45720" anchor="t">
            <a:noAutofit/>
          </a:bodyPr>
          <a:lstStyle/>
          <a:p>
            <a:pPr algn="l">
              <a:spcAft>
                <a:spcPts val="200"/>
              </a:spcAft>
              <a:buNone/>
            </a:pPr>
            <a:r>
              <a:rPr sz="2300" b="1" i="0">
                <a:solidFill>
                  <a:srgbClr val="002060"/>
                </a:solidFill>
                <a:latin typeface="Segoe UI"/>
              </a:rPr>
              <a:t>Nommage</a:t>
            </a:r>
          </a:p>
          <a:p>
            <a:pPr algn="l">
              <a:spcAft>
                <a:spcPts val="400"/>
              </a:spcAft>
              <a:buNone/>
            </a:pPr>
            <a:r>
              <a:rPr sz="2000" b="0" i="0">
                <a:solidFill>
                  <a:srgbClr val="404040"/>
                </a:solidFill>
                <a:latin typeface="Segoe UI"/>
              </a:rPr>
              <a:t>Codes ROBIN et libellés du catalogue de services, sans alias locaux.</a:t>
            </a:r>
          </a:p>
        </p:txBody>
      </p:sp>
      <p:sp>
        <p:nvSpPr>
          <p:cNvPr id="52" name="Oval 51"/>
          <p:cNvSpPr/>
          <p:nvPr/>
        </p:nvSpPr>
        <p:spPr>
          <a:xfrm>
            <a:off x="2011680" y="8138160"/>
            <a:ext cx="566928" cy="566928"/>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3</a:t>
            </a:r>
          </a:p>
        </p:txBody>
      </p:sp>
      <p:sp>
        <p:nvSpPr>
          <p:cNvPr id="53" name="TextBox 52"/>
          <p:cNvSpPr txBox="1"/>
          <p:nvPr/>
        </p:nvSpPr>
        <p:spPr>
          <a:xfrm>
            <a:off x="2743200" y="8046720"/>
            <a:ext cx="5852160" cy="1874519"/>
          </a:xfrm>
          <a:prstGeom prst="rect">
            <a:avLst/>
          </a:prstGeom>
          <a:noFill/>
        </p:spPr>
        <p:txBody>
          <a:bodyPr wrap="square" lIns="45720" rIns="45720" anchor="t">
            <a:noAutofit/>
          </a:bodyPr>
          <a:lstStyle/>
          <a:p>
            <a:pPr algn="l">
              <a:spcAft>
                <a:spcPts val="200"/>
              </a:spcAft>
              <a:buNone/>
            </a:pPr>
            <a:r>
              <a:rPr sz="2300" b="1" i="0">
                <a:solidFill>
                  <a:srgbClr val="002060"/>
                </a:solidFill>
                <a:latin typeface="Segoe UI"/>
              </a:rPr>
              <a:t>Rubriques</a:t>
            </a:r>
          </a:p>
          <a:p>
            <a:pPr algn="l">
              <a:spcAft>
                <a:spcPts val="400"/>
              </a:spcAft>
              <a:buNone/>
            </a:pPr>
            <a:r>
              <a:rPr sz="2000" b="0" i="0">
                <a:solidFill>
                  <a:srgbClr val="404040"/>
                </a:solidFill>
                <a:latin typeface="Segoe UI"/>
              </a:rPr>
              <a:t>Celles de la fiche V1 renseignées, ou « non applicable » justifié.</a:t>
            </a:r>
          </a:p>
        </p:txBody>
      </p:sp>
      <p:sp>
        <p:nvSpPr>
          <p:cNvPr id="54" name="Oval 53"/>
          <p:cNvSpPr/>
          <p:nvPr/>
        </p:nvSpPr>
        <p:spPr>
          <a:xfrm>
            <a:off x="8915400" y="4114800"/>
            <a:ext cx="566928" cy="566928"/>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4</a:t>
            </a:r>
          </a:p>
        </p:txBody>
      </p:sp>
      <p:sp>
        <p:nvSpPr>
          <p:cNvPr id="55" name="TextBox 54"/>
          <p:cNvSpPr txBox="1"/>
          <p:nvPr/>
        </p:nvSpPr>
        <p:spPr>
          <a:xfrm>
            <a:off x="9646920" y="4023360"/>
            <a:ext cx="5852160" cy="1874519"/>
          </a:xfrm>
          <a:prstGeom prst="rect">
            <a:avLst/>
          </a:prstGeom>
          <a:noFill/>
        </p:spPr>
        <p:txBody>
          <a:bodyPr wrap="square" lIns="45720" rIns="45720" anchor="t">
            <a:noAutofit/>
          </a:bodyPr>
          <a:lstStyle/>
          <a:p>
            <a:pPr algn="l">
              <a:spcAft>
                <a:spcPts val="200"/>
              </a:spcAft>
              <a:buNone/>
            </a:pPr>
            <a:r>
              <a:rPr sz="2300" b="1" i="0">
                <a:solidFill>
                  <a:srgbClr val="002060"/>
                </a:solidFill>
                <a:latin typeface="Segoe UI"/>
              </a:rPr>
              <a:t>Légende</a:t>
            </a:r>
          </a:p>
          <a:p>
            <a:pPr algn="l">
              <a:spcAft>
                <a:spcPts val="400"/>
              </a:spcAft>
              <a:buNone/>
            </a:pPr>
            <a:r>
              <a:rPr sz="2000" b="0" i="0">
                <a:solidFill>
                  <a:srgbClr val="404040"/>
                </a:solidFill>
                <a:latin typeface="Segoe UI"/>
              </a:rPr>
              <a:t>Commune pour les flux et les trois strates de dépendances.</a:t>
            </a:r>
          </a:p>
        </p:txBody>
      </p:sp>
      <p:sp>
        <p:nvSpPr>
          <p:cNvPr id="56" name="Oval 55"/>
          <p:cNvSpPr/>
          <p:nvPr/>
        </p:nvSpPr>
        <p:spPr>
          <a:xfrm>
            <a:off x="8915400" y="6126480"/>
            <a:ext cx="566928" cy="566928"/>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5</a:t>
            </a:r>
          </a:p>
        </p:txBody>
      </p:sp>
      <p:sp>
        <p:nvSpPr>
          <p:cNvPr id="57" name="TextBox 56"/>
          <p:cNvSpPr txBox="1"/>
          <p:nvPr/>
        </p:nvSpPr>
        <p:spPr>
          <a:xfrm>
            <a:off x="9646920" y="6035040"/>
            <a:ext cx="5852160" cy="1874519"/>
          </a:xfrm>
          <a:prstGeom prst="rect">
            <a:avLst/>
          </a:prstGeom>
          <a:noFill/>
        </p:spPr>
        <p:txBody>
          <a:bodyPr wrap="square" lIns="45720" rIns="45720" anchor="t">
            <a:noAutofit/>
          </a:bodyPr>
          <a:lstStyle/>
          <a:p>
            <a:pPr algn="l">
              <a:spcAft>
                <a:spcPts val="200"/>
              </a:spcAft>
              <a:buNone/>
            </a:pPr>
            <a:r>
              <a:rPr sz="2300" b="1" i="0">
                <a:solidFill>
                  <a:srgbClr val="002060"/>
                </a:solidFill>
                <a:latin typeface="Segoe UI"/>
              </a:rPr>
              <a:t>Publication</a:t>
            </a:r>
          </a:p>
          <a:p>
            <a:pPr algn="l">
              <a:spcAft>
                <a:spcPts val="400"/>
              </a:spcAft>
              <a:buNone/>
            </a:pPr>
            <a:r>
              <a:rPr sz="2000" b="0" i="0">
                <a:solidFill>
                  <a:srgbClr val="404040"/>
                </a:solidFill>
                <a:latin typeface="Segoe UI"/>
              </a:rPr>
              <a:t>Un emplacement unique à désigner, lié depuis le catalogue.</a:t>
            </a:r>
          </a:p>
        </p:txBody>
      </p:sp>
      <p:sp>
        <p:nvSpPr>
          <p:cNvPr id="58" name="Oval 57"/>
          <p:cNvSpPr/>
          <p:nvPr/>
        </p:nvSpPr>
        <p:spPr>
          <a:xfrm>
            <a:off x="8915400" y="8138160"/>
            <a:ext cx="566928" cy="566928"/>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6</a:t>
            </a:r>
          </a:p>
        </p:txBody>
      </p:sp>
      <p:sp>
        <p:nvSpPr>
          <p:cNvPr id="59" name="TextBox 58"/>
          <p:cNvSpPr txBox="1"/>
          <p:nvPr/>
        </p:nvSpPr>
        <p:spPr>
          <a:xfrm>
            <a:off x="9646920" y="8046720"/>
            <a:ext cx="5852160" cy="1874519"/>
          </a:xfrm>
          <a:prstGeom prst="rect">
            <a:avLst/>
          </a:prstGeom>
          <a:noFill/>
        </p:spPr>
        <p:txBody>
          <a:bodyPr wrap="square" lIns="45720" rIns="45720" anchor="t">
            <a:noAutofit/>
          </a:bodyPr>
          <a:lstStyle/>
          <a:p>
            <a:pPr algn="l">
              <a:spcAft>
                <a:spcPts val="200"/>
              </a:spcAft>
              <a:buNone/>
            </a:pPr>
            <a:r>
              <a:rPr sz="2300" b="1" i="0">
                <a:solidFill>
                  <a:srgbClr val="002060"/>
                </a:solidFill>
                <a:latin typeface="Segoe UI"/>
              </a:rPr>
              <a:t>Cartouche</a:t>
            </a:r>
          </a:p>
          <a:p>
            <a:pPr algn="l">
              <a:spcAft>
                <a:spcPts val="400"/>
              </a:spcAft>
              <a:buNone/>
            </a:pPr>
            <a:r>
              <a:rPr sz="2000" b="0" i="0">
                <a:solidFill>
                  <a:srgbClr val="404040"/>
                </a:solidFill>
                <a:latin typeface="Segoe UI"/>
              </a:rPr>
              <a:t>Propriétaire, version, date de dernière mise à jour.</a:t>
            </a:r>
          </a:p>
        </p:txBody>
      </p:sp>
      <p:sp>
        <p:nvSpPr>
          <p:cNvPr id="60" name="Rounded Rectangle 59"/>
          <p:cNvSpPr/>
          <p:nvPr/>
        </p:nvSpPr>
        <p:spPr>
          <a:xfrm>
            <a:off x="16120872" y="2743200"/>
            <a:ext cx="7589520" cy="7589520"/>
          </a:xfrm>
          <a:prstGeom prst="roundRect">
            <a:avLst>
              <a:gd name="adj" fmla="val 6000"/>
            </a:avLst>
          </a:prstGeom>
          <a:solidFill>
            <a:srgbClr val="FFFFFF"/>
          </a:solidFill>
          <a:ln w="19050">
            <a:solidFill>
              <a:srgbClr val="E4E5E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1" name="Round Same Side Corner Rectangle 60"/>
          <p:cNvSpPr/>
          <p:nvPr/>
        </p:nvSpPr>
        <p:spPr>
          <a:xfrm>
            <a:off x="16120872" y="2743200"/>
            <a:ext cx="7589520" cy="1005840"/>
          </a:xfrm>
          <a:prstGeom prst="round2SameRect">
            <a:avLst>
              <a:gd name="adj1" fmla="val 12000"/>
              <a:gd name="adj2" fmla="val 0"/>
            </a:avLst>
          </a:prstGeom>
          <a:solidFill>
            <a:srgbClr val="E4E5E6"/>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2" name="TextBox 61"/>
          <p:cNvSpPr txBox="1"/>
          <p:nvPr/>
        </p:nvSpPr>
        <p:spPr>
          <a:xfrm>
            <a:off x="16459200" y="2743200"/>
            <a:ext cx="7040880" cy="1005840"/>
          </a:xfrm>
          <a:prstGeom prst="rect">
            <a:avLst/>
          </a:prstGeom>
          <a:noFill/>
        </p:spPr>
        <p:txBody>
          <a:bodyPr wrap="square" lIns="45720" rIns="45720" anchor="ctr">
            <a:noAutofit/>
          </a:bodyPr>
          <a:lstStyle/>
          <a:p>
            <a:pPr algn="l">
              <a:spcAft>
                <a:spcPts val="400"/>
              </a:spcAft>
              <a:buNone/>
            </a:pPr>
            <a:r>
              <a:rPr sz="2500" b="1" i="0">
                <a:solidFill>
                  <a:srgbClr val="002060"/>
                </a:solidFill>
                <a:latin typeface="Segoe UI"/>
              </a:rPr>
              <a:t>Laissé à l’appréciation des équipes</a:t>
            </a:r>
          </a:p>
        </p:txBody>
      </p:sp>
      <p:sp>
        <p:nvSpPr>
          <p:cNvPr id="63" name="TextBox 62"/>
          <p:cNvSpPr txBox="1"/>
          <p:nvPr/>
        </p:nvSpPr>
        <p:spPr>
          <a:xfrm>
            <a:off x="16459200" y="4023360"/>
            <a:ext cx="6949440" cy="6126480"/>
          </a:xfrm>
          <a:prstGeom prst="rect">
            <a:avLst/>
          </a:prstGeom>
          <a:noFill/>
        </p:spPr>
        <p:txBody>
          <a:bodyPr wrap="square" lIns="45720" rIns="45720" anchor="t">
            <a:noAutofit/>
          </a:bodyPr>
          <a:lstStyle/>
          <a:p>
            <a:pPr algn="l" marL="292608" indent="-256032">
              <a:spcAft>
                <a:spcPts val="1400"/>
              </a:spcAft>
              <a:buClr>
                <a:srgbClr val="E06206"/>
              </a:buClr>
              <a:buFont typeface="Arial"/>
              <a:buChar char="•"/>
            </a:pPr>
            <a:r>
              <a:rPr sz="2200" b="0" i="0">
                <a:solidFill>
                  <a:srgbClr val="404040"/>
                </a:solidFill>
                <a:latin typeface="Segoe UI"/>
              </a:rPr>
              <a:t>Niveau de détail au-delà du socle</a:t>
            </a:r>
          </a:p>
          <a:p>
            <a:pPr algn="l" marL="292608" indent="-256032">
              <a:spcAft>
                <a:spcPts val="1400"/>
              </a:spcAft>
              <a:buClr>
                <a:srgbClr val="E06206"/>
              </a:buClr>
              <a:buFont typeface="Arial"/>
              <a:buChar char="•"/>
            </a:pPr>
            <a:r>
              <a:rPr sz="2200" b="0" i="0">
                <a:solidFill>
                  <a:srgbClr val="404040"/>
                </a:solidFill>
                <a:latin typeface="Segoe UI"/>
              </a:rPr>
              <a:t>Schémas complémentaires : séquence, déploiement, données</a:t>
            </a:r>
          </a:p>
          <a:p>
            <a:pPr algn="l" marL="292608" indent="-256032">
              <a:spcAft>
                <a:spcPts val="1400"/>
              </a:spcAft>
              <a:buClr>
                <a:srgbClr val="E06206"/>
              </a:buClr>
              <a:buFont typeface="Arial"/>
              <a:buChar char="•"/>
            </a:pPr>
            <a:r>
              <a:rPr sz="2200" b="0" i="0">
                <a:solidFill>
                  <a:srgbClr val="404040"/>
                </a:solidFill>
                <a:latin typeface="Segoe UI"/>
              </a:rPr>
              <a:t>Illustrations et captures d’écran</a:t>
            </a:r>
          </a:p>
          <a:p>
            <a:pPr algn="l" marL="292608" indent="-256032">
              <a:spcAft>
                <a:spcPts val="1400"/>
              </a:spcAft>
              <a:buClr>
                <a:srgbClr val="E06206"/>
              </a:buClr>
              <a:buFont typeface="Arial"/>
              <a:buChar char="•"/>
            </a:pPr>
            <a:r>
              <a:rPr sz="2200" b="0" i="0">
                <a:solidFill>
                  <a:srgbClr val="404040"/>
                </a:solidFill>
                <a:latin typeface="Segoe UI"/>
              </a:rPr>
              <a:t>Documentation détaillée des équipes (hors périmètre du cadrage)</a:t>
            </a:r>
          </a:p>
        </p:txBody>
      </p:sp>
      <p:sp>
        <p:nvSpPr>
          <p:cNvPr id="64" name="Rounded Rectangle 63"/>
          <p:cNvSpPr/>
          <p:nvPr/>
        </p:nvSpPr>
        <p:spPr>
          <a:xfrm>
            <a:off x="1673352" y="10607040"/>
            <a:ext cx="22037040" cy="1874519"/>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5" name="Rounded Rectangle 64"/>
          <p:cNvSpPr/>
          <p:nvPr/>
        </p:nvSpPr>
        <p:spPr>
          <a:xfrm>
            <a:off x="1965960" y="10835640"/>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pic>
        <p:nvPicPr>
          <p:cNvPr id="66" name="Picture 65" descr="s9_Image_14.png"/>
          <p:cNvPicPr>
            <a:picLocks noChangeAspect="1"/>
          </p:cNvPicPr>
          <p:nvPr/>
        </p:nvPicPr>
        <p:blipFill>
          <a:blip r:embed="rId2"/>
          <a:stretch>
            <a:fillRect/>
          </a:stretch>
        </p:blipFill>
        <p:spPr>
          <a:xfrm>
            <a:off x="22311360" y="10744200"/>
            <a:ext cx="1400175" cy="1600200"/>
          </a:xfrm>
          <a:prstGeom prst="rect">
            <a:avLst/>
          </a:prstGeom>
        </p:spPr>
      </p:pic>
      <p:sp>
        <p:nvSpPr>
          <p:cNvPr id="67" name="TextBox 66"/>
          <p:cNvSpPr txBox="1"/>
          <p:nvPr/>
        </p:nvSpPr>
        <p:spPr>
          <a:xfrm>
            <a:off x="4343400" y="10698480"/>
            <a:ext cx="17647920" cy="1691640"/>
          </a:xfrm>
          <a:prstGeom prst="rect">
            <a:avLst/>
          </a:prstGeom>
          <a:noFill/>
        </p:spPr>
        <p:txBody>
          <a:bodyPr wrap="square" lIns="45720" rIns="45720" anchor="ctr">
            <a:noAutofit/>
          </a:bodyPr>
          <a:lstStyle/>
          <a:p>
            <a:pPr algn="l">
              <a:spcAft>
                <a:spcPts val="400"/>
              </a:spcAft>
              <a:buNone/>
            </a:pPr>
            <a:r>
              <a:rPr sz="2200" b="1" i="0">
                <a:solidFill>
                  <a:srgbClr val="002060"/>
                </a:solidFill>
                <a:latin typeface="Segoe UI"/>
              </a:rPr>
              <a:t>Kit à produire par Morad et Anna : </a:t>
            </a:r>
            <a:r>
              <a:rPr sz="2200" b="0" i="0">
                <a:solidFill>
                  <a:srgbClr val="002060"/>
                </a:solidFill>
                <a:latin typeface="Segoe UI"/>
              </a:rPr>
              <a:t>template de fiche V1, bibliothèque de formes, guide de modélisation de deux pages et exemple de référence CADI. </a:t>
            </a:r>
            <a:r>
              <a:rPr sz="2200" b="0" i="1">
                <a:solidFill>
                  <a:srgbClr val="002060"/>
                </a:solidFill>
                <a:latin typeface="Segoe UI"/>
              </a:rPr>
              <a:t>Ce kit résout l’écart entre les deux drafts : un socle commun, sans contraindre le reste.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04  Gouvernance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 produit dans chaque équipe ?</a:t>
            </a:r>
          </a:p>
        </p:txBody>
      </p:sp>
      <p:sp>
        <p:nvSpPr>
          <p:cNvPr id="4" name="Text Placeholder 3"/>
          <p:cNvSpPr>
            <a:spLocks noGrp="1"/>
          </p:cNvSpPr>
          <p:nvPr>
            <p:ph type="body" idx="14" sz="quarter"/>
          </p:nvPr>
        </p:nvSpPr>
        <p:spPr/>
        <p:txBody>
          <a:bodyPr/>
          <a:lstStyle/>
          <a:p>
            <a:r>
              <a:t>Référents identifiés en atelier — proposition à valider avec les REs</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743200"/>
            <a:ext cx="22037040" cy="1463040"/>
          </a:xfrm>
          <a:prstGeom prst="roundRect">
            <a:avLst>
              <a:gd name="adj" fmla="val 1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Oval 45"/>
          <p:cNvSpPr/>
          <p:nvPr/>
        </p:nvSpPr>
        <p:spPr>
          <a:xfrm>
            <a:off x="1965960" y="2880360"/>
            <a:ext cx="1188720" cy="1188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47" name="Picture 46" descr="s9_Image_13.png"/>
          <p:cNvPicPr>
            <a:picLocks noChangeAspect="1"/>
          </p:cNvPicPr>
          <p:nvPr/>
        </p:nvPicPr>
        <p:blipFill>
          <a:blip r:embed="rId2"/>
          <a:stretch>
            <a:fillRect/>
          </a:stretch>
        </p:blipFill>
        <p:spPr>
          <a:xfrm>
            <a:off x="2011680" y="2926080"/>
            <a:ext cx="1097280" cy="1097280"/>
          </a:xfrm>
          <a:prstGeom prst="rect">
            <a:avLst/>
          </a:prstGeom>
        </p:spPr>
      </p:pic>
      <p:sp>
        <p:nvSpPr>
          <p:cNvPr id="48" name="TextBox 47"/>
          <p:cNvSpPr txBox="1"/>
          <p:nvPr/>
        </p:nvSpPr>
        <p:spPr>
          <a:xfrm>
            <a:off x="3383280" y="2788920"/>
            <a:ext cx="20025360" cy="1371600"/>
          </a:xfrm>
          <a:prstGeom prst="rect">
            <a:avLst/>
          </a:prstGeom>
          <a:noFill/>
        </p:spPr>
        <p:txBody>
          <a:bodyPr wrap="square" lIns="45720" rIns="45720" anchor="ctr">
            <a:noAutofit/>
          </a:bodyPr>
          <a:lstStyle/>
          <a:p>
            <a:pPr algn="l">
              <a:spcAft>
                <a:spcPts val="400"/>
              </a:spcAft>
              <a:buNone/>
            </a:pPr>
            <a:r>
              <a:rPr sz="2200" b="1" i="0">
                <a:solidFill>
                  <a:srgbClr val="F4B183"/>
                </a:solidFill>
                <a:latin typeface="Segoe UI"/>
              </a:rPr>
              <a:t>Un travail collectif dans la durée : </a:t>
            </a:r>
            <a:r>
              <a:rPr sz="2200" b="0" i="0">
                <a:solidFill>
                  <a:srgbClr val="FFFFFF"/>
                </a:solidFill>
                <a:latin typeface="Segoe UI"/>
              </a:rPr>
              <a:t>templates et règles communes proposés par Morad et Anna ; mise en œuvre par les responsables de pôle, responsables de leurs applications, appuyés par un tech lead ou un aspirant architecte.</a:t>
            </a:r>
          </a:p>
        </p:txBody>
      </p:sp>
      <p:graphicFrame>
        <p:nvGraphicFramePr>
          <p:cNvPr id="49" name="Table 48"/>
          <p:cNvGraphicFramePr>
            <a:graphicFrameLocks noGrp="1"/>
          </p:cNvGraphicFramePr>
          <p:nvPr/>
        </p:nvGraphicFramePr>
        <p:xfrm>
          <a:off x="1673352" y="4526280"/>
          <a:ext cx="22037040" cy="7818120"/>
        </p:xfrm>
        <a:graphic>
          <a:graphicData uri="http://schemas.openxmlformats.org/drawingml/2006/table">
            <a:tbl>
              <a:tblPr firstRow="0" bandRow="0">
                <a:tableStyleId>{5940675A-B579-460E-94D1-54222C63F5DA}</a:tableStyleId>
              </a:tblPr>
              <a:tblGrid>
                <a:gridCol w="2377440"/>
                <a:gridCol w="11430000"/>
                <a:gridCol w="8229600"/>
              </a:tblGrid>
              <a:tr h="685800">
                <a:tc>
                  <a:txBody>
                    <a:bodyPr wrap="square" anchor="ctr">
                      <a:noAutofit/>
                    </a:bodyPr>
                    <a:lstStyle/>
                    <a:p>
                      <a:pPr algn="l">
                        <a:spcAft>
                          <a:spcPts val="0"/>
                        </a:spcAft>
                        <a:buNone/>
                      </a:pPr>
                      <a:r>
                        <a:rPr sz="2300" b="1" i="0">
                          <a:solidFill>
                            <a:srgbClr val="FFFFFF"/>
                          </a:solidFill>
                          <a:latin typeface="Segoe UI"/>
                        </a:rPr>
                        <a:t>Équipe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300" b="1" i="0">
                          <a:solidFill>
                            <a:srgbClr val="FFFFFF"/>
                          </a:solidFill>
                          <a:latin typeface="Segoe UI"/>
                        </a:rPr>
                        <a:t>Production et maintenance des schémas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300" b="1" i="0">
                          <a:solidFill>
                            <a:srgbClr val="FFFFFF"/>
                          </a:solidFill>
                          <a:latin typeface="Segoe UI"/>
                        </a:rPr>
                        <a:t>Point d’attention</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r>
              <a:tr h="1783080">
                <a:tc>
                  <a:txBody>
                    <a:bodyPr wrap="square" anchor="ctr">
                      <a:noAutofit/>
                    </a:bodyPr>
                    <a:lstStyle/>
                    <a:p>
                      <a:pPr algn="l">
                        <a:spcAft>
                          <a:spcPts val="200"/>
                        </a:spcAft>
                        <a:buNone/>
                      </a:pPr>
                      <a:r>
                        <a:rPr sz="2200" b="1" i="0">
                          <a:solidFill>
                            <a:srgbClr val="002060"/>
                          </a:solidFill>
                          <a:latin typeface="Segoe UI"/>
                        </a:rPr>
                        <a:t>H550</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200" b="0" i="0">
                          <a:solidFill>
                            <a:srgbClr val="404040"/>
                          </a:solidFill>
                          <a:latin typeface="Segoe UI"/>
                        </a:rPr>
                        <a:t>Pas d’architecte dans l’équipe : appui transverse H510 / H520, ou architecte à nommer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2200" b="1" i="0">
                          <a:solidFill>
                            <a:srgbClr val="E7473D"/>
                          </a:solidFill>
                          <a:latin typeface="Segoe UI"/>
                        </a:rPr>
                        <a:t>Risque de non-production : </a:t>
                      </a:r>
                      <a:r>
                        <a:rPr sz="2200" b="0" i="0">
                          <a:solidFill>
                            <a:srgbClr val="404040"/>
                          </a:solidFill>
                          <a:latin typeface="Segoe UI"/>
                        </a:rPr>
                        <a:t>nommer un référent avant le pilote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783080">
                <a:tc>
                  <a:txBody>
                    <a:bodyPr wrap="square" anchor="ctr">
                      <a:noAutofit/>
                    </a:bodyPr>
                    <a:lstStyle/>
                    <a:p>
                      <a:pPr algn="l">
                        <a:spcAft>
                          <a:spcPts val="200"/>
                        </a:spcAft>
                        <a:buNone/>
                      </a:pPr>
                      <a:r>
                        <a:rPr sz="2200" b="1" i="0">
                          <a:solidFill>
                            <a:srgbClr val="002060"/>
                          </a:solidFill>
                          <a:latin typeface="Segoe UI"/>
                        </a:rPr>
                        <a:t>H630</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200" b="0" i="0">
                          <a:solidFill>
                            <a:srgbClr val="404040"/>
                          </a:solidFill>
                          <a:latin typeface="Segoe UI"/>
                        </a:rPr>
                        <a:t>Responsables d’application aujourd’hui ; cible : tech lead ou architecte transverse (Franck) pour harmoniser les pratiques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2200" b="0" i="0">
                          <a:solidFill>
                            <a:srgbClr val="404040"/>
                          </a:solidFill>
                          <a:latin typeface="Segoe UI"/>
                        </a:rPr>
                        <a:t>Privilégie la vue fonctionnelle : valider avec l’équipe le socle applicatif minimal</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783080">
                <a:tc>
                  <a:txBody>
                    <a:bodyPr wrap="square" anchor="ctr">
                      <a:noAutofit/>
                    </a:bodyPr>
                    <a:lstStyle/>
                    <a:p>
                      <a:pPr algn="l">
                        <a:spcAft>
                          <a:spcPts val="200"/>
                        </a:spcAft>
                        <a:buNone/>
                      </a:pPr>
                      <a:r>
                        <a:rPr sz="2200" b="1" i="0">
                          <a:solidFill>
                            <a:srgbClr val="002060"/>
                          </a:solidFill>
                          <a:latin typeface="Segoe UI"/>
                        </a:rPr>
                        <a:t>H620</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200" b="0" i="0">
                          <a:solidFill>
                            <a:srgbClr val="404040"/>
                          </a:solidFill>
                          <a:latin typeface="Segoe UI"/>
                        </a:rPr>
                        <a:t>Responsables de pôle : Louis (Fraude), Tairan (Moteur OCR), Omar (Moteur OCR externe), Jeremy (Points d’entrée externes)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2200" b="0" i="0">
                          <a:solidFill>
                            <a:srgbClr val="404040"/>
                          </a:solidFill>
                          <a:latin typeface="Segoe UI"/>
                        </a:rPr>
                        <a:t>Exemple CADI déjà produit : candidat naturel pour le pilote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783080">
                <a:tc>
                  <a:txBody>
                    <a:bodyPr wrap="square" anchor="ctr">
                      <a:noAutofit/>
                    </a:bodyPr>
                    <a:lstStyle/>
                    <a:p>
                      <a:pPr algn="l">
                        <a:spcAft>
                          <a:spcPts val="200"/>
                        </a:spcAft>
                        <a:buNone/>
                      </a:pPr>
                      <a:r>
                        <a:rPr sz="2200" b="1" i="0">
                          <a:solidFill>
                            <a:srgbClr val="002060"/>
                          </a:solidFill>
                          <a:latin typeface="Segoe UI"/>
                        </a:rPr>
                        <a:t>H560</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200" b="0" i="0">
                          <a:solidFill>
                            <a:srgbClr val="404040"/>
                          </a:solidFill>
                          <a:latin typeface="Segoe UI"/>
                        </a:rPr>
                        <a:t>Par axe : Axel (Outillage AC), Julien (Projet Client)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2200" b="0" i="0">
                          <a:solidFill>
                            <a:srgbClr val="404040"/>
                          </a:solidFill>
                          <a:latin typeface="Segoe UI"/>
                        </a:rPr>
                        <a:t>Porter l’aide au choix des outils pour les projets clients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 fait quoi : RACI proposé</a:t>
            </a:r>
          </a:p>
        </p:txBody>
      </p:sp>
      <p:sp>
        <p:nvSpPr>
          <p:cNvPr id="4" name="Text Placeholder 3"/>
          <p:cNvSpPr>
            <a:spLocks noGrp="1"/>
          </p:cNvSpPr>
          <p:nvPr>
            <p:ph type="body" idx="14" sz="quarter"/>
          </p:nvPr>
        </p:nvSpPr>
        <p:spPr/>
        <p:txBody>
          <a:bodyPr/>
          <a:lstStyle/>
          <a:p>
            <a:r>
              <a:t>Clarifier les responsabilités de production, de revue et d’arbitrage</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21579840" y="1874519"/>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graphicFrame>
        <p:nvGraphicFramePr>
          <p:cNvPr id="46" name="Table 45"/>
          <p:cNvGraphicFramePr>
            <a:graphicFrameLocks noGrp="1"/>
          </p:cNvGraphicFramePr>
          <p:nvPr/>
        </p:nvGraphicFramePr>
        <p:xfrm>
          <a:off x="1673352" y="2788920"/>
          <a:ext cx="22037040" cy="8001000"/>
        </p:xfrm>
        <a:graphic>
          <a:graphicData uri="http://schemas.openxmlformats.org/drawingml/2006/table">
            <a:tbl>
              <a:tblPr firstRow="0" bandRow="0">
                <a:tableStyleId>{5940675A-B579-460E-94D1-54222C63F5DA}</a:tableStyleId>
              </a:tblPr>
              <a:tblGrid>
                <a:gridCol w="7406640"/>
                <a:gridCol w="2926080"/>
                <a:gridCol w="2926080"/>
                <a:gridCol w="2926080"/>
                <a:gridCol w="2926080"/>
                <a:gridCol w="2926080"/>
              </a:tblGrid>
              <a:tr h="868680">
                <a:tc>
                  <a:txBody>
                    <a:bodyPr wrap="square" anchor="ctr">
                      <a:noAutofit/>
                    </a:bodyPr>
                    <a:lstStyle/>
                    <a:p>
                      <a:pPr algn="l">
                        <a:spcAft>
                          <a:spcPts val="0"/>
                        </a:spcAft>
                        <a:buNone/>
                      </a:pPr>
                      <a:r>
                        <a:rPr sz="2200" b="1" i="0">
                          <a:solidFill>
                            <a:srgbClr val="FFFFFF"/>
                          </a:solidFill>
                          <a:latin typeface="Segoe UI"/>
                        </a:rPr>
                        <a:t>Activité</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Morad / Anna</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Responsables de pôle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Tech lead / architecte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i-archi secteur H</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REs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r>
              <a:tr h="1188720">
                <a:tc>
                  <a:txBody>
                    <a:bodyPr wrap="square" anchor="ctr">
                      <a:noAutofit/>
                    </a:bodyPr>
                    <a:lstStyle/>
                    <a:p>
                      <a:pPr algn="l">
                        <a:spcAft>
                          <a:spcPts val="200"/>
                        </a:spcAft>
                        <a:buNone/>
                      </a:pPr>
                      <a:r>
                        <a:rPr sz="2200" b="1" i="0">
                          <a:solidFill>
                            <a:srgbClr val="002060"/>
                          </a:solidFill>
                          <a:latin typeface="Segoe UI"/>
                        </a:rPr>
                        <a:t>Templates, règles communes, bibliothèque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ctr">
                        <a:spcAft>
                          <a:spcPts val="200"/>
                        </a:spcAft>
                        <a:buNone/>
                      </a:pPr>
                      <a:r>
                        <a:rPr sz="2400" b="1" i="0">
                          <a:solidFill>
                            <a:srgbClr val="E06206"/>
                          </a:solidFill>
                          <a:latin typeface="Segoe UI"/>
                        </a:rPr>
                        <a:t>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003A8D"/>
                          </a:solidFill>
                          <a:latin typeface="Segoe UI"/>
                        </a:rPr>
                        <a:t>C</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003A8D"/>
                          </a:solidFill>
                          <a:latin typeface="Segoe UI"/>
                        </a:rPr>
                        <a:t>C</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003A8D"/>
                          </a:solidFill>
                          <a:latin typeface="Segoe UI"/>
                        </a:rPr>
                        <a:t>C</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002060"/>
                          </a:solidFill>
                          <a:latin typeface="Segoe UI"/>
                        </a:rPr>
                        <a:t>A</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188720">
                <a:tc>
                  <a:txBody>
                    <a:bodyPr wrap="square" anchor="ctr">
                      <a:noAutofit/>
                    </a:bodyPr>
                    <a:lstStyle/>
                    <a:p>
                      <a:pPr algn="l">
                        <a:spcAft>
                          <a:spcPts val="200"/>
                        </a:spcAft>
                        <a:buNone/>
                      </a:pPr>
                      <a:r>
                        <a:rPr sz="2200" b="1" i="0">
                          <a:solidFill>
                            <a:srgbClr val="002060"/>
                          </a:solidFill>
                          <a:latin typeface="Segoe UI"/>
                        </a:rPr>
                        <a:t>Production des fiches d’identité</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ctr">
                        <a:spcAft>
                          <a:spcPts val="200"/>
                        </a:spcAft>
                        <a:buNone/>
                      </a:pPr>
                      <a:r>
                        <a:rPr sz="2400" b="1" i="0">
                          <a:solidFill>
                            <a:srgbClr val="003A8D"/>
                          </a:solidFill>
                          <a:latin typeface="Segoe UI"/>
                        </a:rPr>
                        <a:t>C</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002060"/>
                          </a:solidFill>
                          <a:latin typeface="Segoe UI"/>
                        </a:rPr>
                        <a:t>A</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E06206"/>
                          </a:solidFill>
                          <a:latin typeface="Segoe UI"/>
                        </a:rPr>
                        <a:t>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404040"/>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7F7F7F"/>
                          </a:solidFill>
                          <a:latin typeface="Segoe UI"/>
                        </a:rPr>
                        <a:t>I</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188720">
                <a:tc>
                  <a:txBody>
                    <a:bodyPr wrap="square" anchor="ctr">
                      <a:noAutofit/>
                    </a:bodyPr>
                    <a:lstStyle/>
                    <a:p>
                      <a:pPr algn="l">
                        <a:spcAft>
                          <a:spcPts val="200"/>
                        </a:spcAft>
                        <a:buNone/>
                      </a:pPr>
                      <a:r>
                        <a:rPr sz="2200" b="1" i="0">
                          <a:solidFill>
                            <a:srgbClr val="002060"/>
                          </a:solidFill>
                          <a:latin typeface="Segoe UI"/>
                        </a:rPr>
                        <a:t>Schémas de la vue dynamique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ctr">
                        <a:spcAft>
                          <a:spcPts val="200"/>
                        </a:spcAft>
                        <a:buNone/>
                      </a:pPr>
                      <a:r>
                        <a:rPr sz="2400" b="1" i="0">
                          <a:solidFill>
                            <a:srgbClr val="003A8D"/>
                          </a:solidFill>
                          <a:latin typeface="Segoe UI"/>
                        </a:rPr>
                        <a:t>C</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002060"/>
                          </a:solidFill>
                          <a:latin typeface="Segoe UI"/>
                        </a:rPr>
                        <a:t>A</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E06206"/>
                          </a:solidFill>
                          <a:latin typeface="Segoe UI"/>
                        </a:rPr>
                        <a:t>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7F7F7F"/>
                          </a:solidFill>
                          <a:latin typeface="Segoe UI"/>
                        </a:rPr>
                        <a:t>I</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7F7F7F"/>
                          </a:solidFill>
                          <a:latin typeface="Segoe UI"/>
                        </a:rPr>
                        <a:t>I</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188720">
                <a:tc>
                  <a:txBody>
                    <a:bodyPr wrap="square" anchor="ctr">
                      <a:noAutofit/>
                    </a:bodyPr>
                    <a:lstStyle/>
                    <a:p>
                      <a:pPr algn="l">
                        <a:spcAft>
                          <a:spcPts val="200"/>
                        </a:spcAft>
                        <a:buNone/>
                      </a:pPr>
                      <a:r>
                        <a:rPr sz="2200" b="1" i="0">
                          <a:solidFill>
                            <a:srgbClr val="002060"/>
                          </a:solidFill>
                          <a:latin typeface="Segoe UI"/>
                        </a:rPr>
                        <a:t>Mise à jour à l’événement et au jalon</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ctr">
                        <a:spcAft>
                          <a:spcPts val="200"/>
                        </a:spcAft>
                        <a:buNone/>
                      </a:pPr>
                      <a:r>
                        <a:rPr sz="2400" b="1" i="0">
                          <a:solidFill>
                            <a:srgbClr val="7F7F7F"/>
                          </a:solidFill>
                          <a:latin typeface="Segoe UI"/>
                        </a:rPr>
                        <a:t>I</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002060"/>
                          </a:solidFill>
                          <a:latin typeface="Segoe UI"/>
                        </a:rPr>
                        <a:t>A</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E06206"/>
                          </a:solidFill>
                          <a:latin typeface="Segoe UI"/>
                        </a:rPr>
                        <a:t>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404040"/>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7F7F7F"/>
                          </a:solidFill>
                          <a:latin typeface="Segoe UI"/>
                        </a:rPr>
                        <a:t>I</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188720">
                <a:tc>
                  <a:txBody>
                    <a:bodyPr wrap="square" anchor="ctr">
                      <a:noAutofit/>
                    </a:bodyPr>
                    <a:lstStyle/>
                    <a:p>
                      <a:pPr algn="l">
                        <a:spcAft>
                          <a:spcPts val="200"/>
                        </a:spcAft>
                        <a:buNone/>
                      </a:pPr>
                      <a:r>
                        <a:rPr sz="2200" b="1" i="0">
                          <a:solidFill>
                            <a:srgbClr val="002060"/>
                          </a:solidFill>
                          <a:latin typeface="Segoe UI"/>
                        </a:rPr>
                        <a:t>Revue de cohérence semestrielle et annuelle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ctr">
                        <a:spcAft>
                          <a:spcPts val="200"/>
                        </a:spcAft>
                        <a:buNone/>
                      </a:pPr>
                      <a:r>
                        <a:rPr sz="2400" b="1" i="0">
                          <a:solidFill>
                            <a:srgbClr val="E06206"/>
                          </a:solidFill>
                          <a:latin typeface="Segoe UI"/>
                        </a:rPr>
                        <a:t>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003A8D"/>
                          </a:solidFill>
                          <a:latin typeface="Segoe UI"/>
                        </a:rPr>
                        <a:t>C</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003A8D"/>
                          </a:solidFill>
                          <a:latin typeface="Segoe UI"/>
                        </a:rPr>
                        <a:t>C</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7F7F7F"/>
                          </a:solidFill>
                          <a:latin typeface="Segoe UI"/>
                        </a:rPr>
                        <a:t>I</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002060"/>
                          </a:solidFill>
                          <a:latin typeface="Segoe UI"/>
                        </a:rPr>
                        <a:t>A</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188720">
                <a:tc>
                  <a:txBody>
                    <a:bodyPr wrap="square" anchor="ctr">
                      <a:noAutofit/>
                    </a:bodyPr>
                    <a:lstStyle/>
                    <a:p>
                      <a:pPr algn="l">
                        <a:spcAft>
                          <a:spcPts val="200"/>
                        </a:spcAft>
                        <a:buNone/>
                      </a:pPr>
                      <a:r>
                        <a:rPr sz="2200" b="1" i="0">
                          <a:solidFill>
                            <a:srgbClr val="002060"/>
                          </a:solidFill>
                          <a:latin typeface="Segoe UI"/>
                        </a:rPr>
                        <a:t>Alignement avec l’architecture d’entreprise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ctr">
                        <a:spcAft>
                          <a:spcPts val="200"/>
                        </a:spcAft>
                        <a:buNone/>
                      </a:pPr>
                      <a:r>
                        <a:rPr sz="2400" b="1" i="0">
                          <a:solidFill>
                            <a:srgbClr val="E06206"/>
                          </a:solidFill>
                          <a:latin typeface="Segoe UI"/>
                        </a:rPr>
                        <a:t>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7F7F7F"/>
                          </a:solidFill>
                          <a:latin typeface="Segoe UI"/>
                        </a:rPr>
                        <a:t>I</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003A8D"/>
                          </a:solidFill>
                          <a:latin typeface="Segoe UI"/>
                        </a:rPr>
                        <a:t>C</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003A8D"/>
                          </a:solidFill>
                          <a:latin typeface="Segoe UI"/>
                        </a:rPr>
                        <a:t>C</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002060"/>
                          </a:solidFill>
                          <a:latin typeface="Segoe UI"/>
                        </a:rPr>
                        <a:t>A</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bl>
          </a:graphicData>
        </a:graphic>
      </p:graphicFrame>
      <p:sp>
        <p:nvSpPr>
          <p:cNvPr id="47" name="Rounded Rectangle 46"/>
          <p:cNvSpPr/>
          <p:nvPr/>
        </p:nvSpPr>
        <p:spPr>
          <a:xfrm>
            <a:off x="1673352" y="11750040"/>
            <a:ext cx="594360" cy="594360"/>
          </a:xfrm>
          <a:prstGeom prst="roundRect">
            <a:avLst>
              <a:gd name="adj" fmla="val 2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400"/>
              </a:spcAft>
              <a:buNone/>
            </a:pPr>
            <a:r>
              <a:rPr sz="1900" b="1" i="0">
                <a:solidFill>
                  <a:srgbClr val="FFFFFF"/>
                </a:solidFill>
                <a:latin typeface="Segoe UI"/>
              </a:rPr>
              <a:t>R</a:t>
            </a:r>
          </a:p>
        </p:txBody>
      </p:sp>
      <p:sp>
        <p:nvSpPr>
          <p:cNvPr id="48" name="TextBox 47"/>
          <p:cNvSpPr txBox="1"/>
          <p:nvPr/>
        </p:nvSpPr>
        <p:spPr>
          <a:xfrm>
            <a:off x="2404872" y="11750040"/>
            <a:ext cx="4114800" cy="594360"/>
          </a:xfrm>
          <a:prstGeom prst="rect">
            <a:avLst/>
          </a:prstGeom>
          <a:noFill/>
        </p:spPr>
        <p:txBody>
          <a:bodyPr wrap="square" lIns="0" rIns="0" tIns="0" bIns="0" anchor="ctr">
            <a:noAutofit/>
          </a:bodyPr>
          <a:lstStyle/>
          <a:p>
            <a:pPr algn="l">
              <a:spcAft>
                <a:spcPts val="400"/>
              </a:spcAft>
              <a:buNone/>
            </a:pPr>
            <a:r>
              <a:rPr sz="2000" b="0" i="0">
                <a:solidFill>
                  <a:srgbClr val="404040"/>
                </a:solidFill>
                <a:latin typeface="Segoe UI"/>
              </a:rPr>
              <a:t>Réalise</a:t>
            </a:r>
          </a:p>
        </p:txBody>
      </p:sp>
      <p:sp>
        <p:nvSpPr>
          <p:cNvPr id="49" name="Rounded Rectangle 48"/>
          <p:cNvSpPr/>
          <p:nvPr/>
        </p:nvSpPr>
        <p:spPr>
          <a:xfrm>
            <a:off x="6793992" y="11750040"/>
            <a:ext cx="594360" cy="594360"/>
          </a:xfrm>
          <a:prstGeom prst="roundRect">
            <a:avLst>
              <a:gd name="adj" fmla="val 2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400"/>
              </a:spcAft>
              <a:buNone/>
            </a:pPr>
            <a:r>
              <a:rPr sz="1900" b="1" i="0">
                <a:solidFill>
                  <a:srgbClr val="FFFFFF"/>
                </a:solidFill>
                <a:latin typeface="Segoe UI"/>
              </a:rPr>
              <a:t>A</a:t>
            </a:r>
          </a:p>
        </p:txBody>
      </p:sp>
      <p:sp>
        <p:nvSpPr>
          <p:cNvPr id="50" name="TextBox 49"/>
          <p:cNvSpPr txBox="1"/>
          <p:nvPr/>
        </p:nvSpPr>
        <p:spPr>
          <a:xfrm>
            <a:off x="7525512" y="11750040"/>
            <a:ext cx="4114800" cy="594360"/>
          </a:xfrm>
          <a:prstGeom prst="rect">
            <a:avLst/>
          </a:prstGeom>
          <a:noFill/>
        </p:spPr>
        <p:txBody>
          <a:bodyPr wrap="square" lIns="0" rIns="0" tIns="0" bIns="0" anchor="ctr">
            <a:noAutofit/>
          </a:bodyPr>
          <a:lstStyle/>
          <a:p>
            <a:pPr algn="l">
              <a:spcAft>
                <a:spcPts val="400"/>
              </a:spcAft>
              <a:buNone/>
            </a:pPr>
            <a:r>
              <a:rPr sz="2000" b="0" i="0">
                <a:solidFill>
                  <a:srgbClr val="404040"/>
                </a:solidFill>
                <a:latin typeface="Segoe UI"/>
              </a:rPr>
              <a:t>Approuve, rend compte</a:t>
            </a:r>
          </a:p>
        </p:txBody>
      </p:sp>
      <p:sp>
        <p:nvSpPr>
          <p:cNvPr id="51" name="Rounded Rectangle 50"/>
          <p:cNvSpPr/>
          <p:nvPr/>
        </p:nvSpPr>
        <p:spPr>
          <a:xfrm>
            <a:off x="11914632" y="11750040"/>
            <a:ext cx="594360" cy="594360"/>
          </a:xfrm>
          <a:prstGeom prst="roundRect">
            <a:avLst>
              <a:gd name="adj" fmla="val 20000"/>
            </a:avLst>
          </a:prstGeom>
          <a:solidFill>
            <a:srgbClr val="003A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400"/>
              </a:spcAft>
              <a:buNone/>
            </a:pPr>
            <a:r>
              <a:rPr sz="1900" b="1" i="0">
                <a:solidFill>
                  <a:srgbClr val="FFFFFF"/>
                </a:solidFill>
                <a:latin typeface="Segoe UI"/>
              </a:rPr>
              <a:t>C</a:t>
            </a:r>
          </a:p>
        </p:txBody>
      </p:sp>
      <p:sp>
        <p:nvSpPr>
          <p:cNvPr id="52" name="TextBox 51"/>
          <p:cNvSpPr txBox="1"/>
          <p:nvPr/>
        </p:nvSpPr>
        <p:spPr>
          <a:xfrm>
            <a:off x="12646152" y="11750040"/>
            <a:ext cx="4114800" cy="594360"/>
          </a:xfrm>
          <a:prstGeom prst="rect">
            <a:avLst/>
          </a:prstGeom>
          <a:noFill/>
        </p:spPr>
        <p:txBody>
          <a:bodyPr wrap="square" lIns="0" rIns="0" tIns="0" bIns="0" anchor="ctr">
            <a:noAutofit/>
          </a:bodyPr>
          <a:lstStyle/>
          <a:p>
            <a:pPr algn="l">
              <a:spcAft>
                <a:spcPts val="400"/>
              </a:spcAft>
              <a:buNone/>
            </a:pPr>
            <a:r>
              <a:rPr sz="2000" b="0" i="0">
                <a:solidFill>
                  <a:srgbClr val="404040"/>
                </a:solidFill>
                <a:latin typeface="Segoe UI"/>
              </a:rPr>
              <a:t>Consulté</a:t>
            </a:r>
          </a:p>
        </p:txBody>
      </p:sp>
      <p:sp>
        <p:nvSpPr>
          <p:cNvPr id="53" name="Rounded Rectangle 52"/>
          <p:cNvSpPr/>
          <p:nvPr/>
        </p:nvSpPr>
        <p:spPr>
          <a:xfrm>
            <a:off x="17035272" y="11750040"/>
            <a:ext cx="594360" cy="594360"/>
          </a:xfrm>
          <a:prstGeom prst="roundRect">
            <a:avLst>
              <a:gd name="adj" fmla="val 20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400"/>
              </a:spcAft>
              <a:buNone/>
            </a:pPr>
            <a:r>
              <a:rPr sz="1900" b="1" i="0">
                <a:solidFill>
                  <a:srgbClr val="FFFFFF"/>
                </a:solidFill>
                <a:latin typeface="Segoe UI"/>
              </a:rPr>
              <a:t>I</a:t>
            </a:r>
          </a:p>
        </p:txBody>
      </p:sp>
      <p:sp>
        <p:nvSpPr>
          <p:cNvPr id="54" name="TextBox 53"/>
          <p:cNvSpPr txBox="1"/>
          <p:nvPr/>
        </p:nvSpPr>
        <p:spPr>
          <a:xfrm>
            <a:off x="17766792" y="11750040"/>
            <a:ext cx="4114800" cy="594360"/>
          </a:xfrm>
          <a:prstGeom prst="rect">
            <a:avLst/>
          </a:prstGeom>
          <a:noFill/>
        </p:spPr>
        <p:txBody>
          <a:bodyPr wrap="square" lIns="0" rIns="0" tIns="0" bIns="0" anchor="ctr">
            <a:noAutofit/>
          </a:bodyPr>
          <a:lstStyle/>
          <a:p>
            <a:pPr algn="l">
              <a:spcAft>
                <a:spcPts val="400"/>
              </a:spcAft>
              <a:buNone/>
            </a:pPr>
            <a:r>
              <a:rPr sz="2000" b="0" i="0">
                <a:solidFill>
                  <a:srgbClr val="404040"/>
                </a:solidFill>
                <a:latin typeface="Segoe UI"/>
              </a:rPr>
              <a:t>Informé</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Quand mettre à jour ?</a:t>
            </a:r>
          </a:p>
        </p:txBody>
      </p:sp>
      <p:sp>
        <p:nvSpPr>
          <p:cNvPr id="4" name="Text Placeholder 3"/>
          <p:cNvSpPr>
            <a:spLocks noGrp="1"/>
          </p:cNvSpPr>
          <p:nvPr>
            <p:ph type="body" idx="14" sz="quarter"/>
          </p:nvPr>
        </p:nvSpPr>
        <p:spPr/>
        <p:txBody>
          <a:bodyPr/>
          <a:lstStyle/>
          <a:p>
            <a:r>
              <a:t>Garder la documentation vivante : trois déclencheurs, deux garde-fous</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cxnSp>
        <p:nvCxnSpPr>
          <p:cNvPr id="45" name="Connector 44"/>
          <p:cNvCxnSpPr/>
          <p:nvPr/>
        </p:nvCxnSpPr>
        <p:spPr>
          <a:xfrm>
            <a:off x="2103120" y="3977639"/>
            <a:ext cx="21214080" cy="0"/>
          </a:xfrm>
          <a:prstGeom prst="line">
            <a:avLst/>
          </a:prstGeom>
          <a:ln w="50800">
            <a:solidFill>
              <a:srgbClr val="E4E5E6"/>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4782312" y="3520440"/>
            <a:ext cx="914400" cy="91440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900" b="1" i="0">
                <a:solidFill>
                  <a:srgbClr val="FFFFFF"/>
                </a:solidFill>
                <a:latin typeface="Segoe UI"/>
              </a:rPr>
              <a:t>1</a:t>
            </a:r>
          </a:p>
        </p:txBody>
      </p:sp>
      <p:sp>
        <p:nvSpPr>
          <p:cNvPr id="47" name="Rounded Rectangle 46"/>
          <p:cNvSpPr/>
          <p:nvPr/>
        </p:nvSpPr>
        <p:spPr>
          <a:xfrm>
            <a:off x="1673352" y="4754880"/>
            <a:ext cx="7132320" cy="39319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8" name="TextBox 47"/>
          <p:cNvSpPr txBox="1"/>
          <p:nvPr/>
        </p:nvSpPr>
        <p:spPr>
          <a:xfrm>
            <a:off x="1993392" y="4892040"/>
            <a:ext cx="6492240" cy="3657600"/>
          </a:xfrm>
          <a:prstGeom prst="rect">
            <a:avLst/>
          </a:prstGeom>
          <a:noFill/>
        </p:spPr>
        <p:txBody>
          <a:bodyPr wrap="square" lIns="45720" rIns="45720" anchor="ctr">
            <a:noAutofit/>
          </a:bodyPr>
          <a:lstStyle/>
          <a:p>
            <a:pPr algn="ctr">
              <a:spcAft>
                <a:spcPts val="600"/>
              </a:spcAft>
              <a:buNone/>
            </a:pPr>
            <a:r>
              <a:rPr sz="2600" b="1" i="0">
                <a:solidFill>
                  <a:srgbClr val="002060"/>
                </a:solidFill>
                <a:latin typeface="Segoe UI"/>
              </a:rPr>
              <a:t>À l’événement</a:t>
            </a:r>
          </a:p>
          <a:p>
            <a:pPr algn="ctr">
              <a:spcAft>
                <a:spcPts val="400"/>
              </a:spcAft>
              <a:buNone/>
            </a:pPr>
            <a:r>
              <a:rPr sz="2200" b="0" i="0">
                <a:solidFill>
                  <a:srgbClr val="404040"/>
                </a:solidFill>
                <a:latin typeface="Segoe UI"/>
              </a:rPr>
              <a:t>Mise en service ou décommissionnement d’une application, création ou modification d’une interface, d’une dépendance ou d’un flux, bascule Cloud.</a:t>
            </a:r>
          </a:p>
        </p:txBody>
      </p:sp>
      <p:sp>
        <p:nvSpPr>
          <p:cNvPr id="49" name="Oval 48"/>
          <p:cNvSpPr/>
          <p:nvPr/>
        </p:nvSpPr>
        <p:spPr>
          <a:xfrm>
            <a:off x="12234672" y="3520440"/>
            <a:ext cx="914400" cy="91440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900" b="1" i="0">
                <a:solidFill>
                  <a:srgbClr val="FFFFFF"/>
                </a:solidFill>
                <a:latin typeface="Segoe UI"/>
              </a:rPr>
              <a:t>2</a:t>
            </a:r>
          </a:p>
        </p:txBody>
      </p:sp>
      <p:sp>
        <p:nvSpPr>
          <p:cNvPr id="50" name="Rounded Rectangle 49"/>
          <p:cNvSpPr/>
          <p:nvPr/>
        </p:nvSpPr>
        <p:spPr>
          <a:xfrm>
            <a:off x="9125712" y="4754880"/>
            <a:ext cx="7132320" cy="39319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1" name="TextBox 50"/>
          <p:cNvSpPr txBox="1"/>
          <p:nvPr/>
        </p:nvSpPr>
        <p:spPr>
          <a:xfrm>
            <a:off x="9445752" y="4892040"/>
            <a:ext cx="6492240" cy="3657600"/>
          </a:xfrm>
          <a:prstGeom prst="rect">
            <a:avLst/>
          </a:prstGeom>
          <a:noFill/>
        </p:spPr>
        <p:txBody>
          <a:bodyPr wrap="square" lIns="45720" rIns="45720" anchor="ctr">
            <a:noAutofit/>
          </a:bodyPr>
          <a:lstStyle/>
          <a:p>
            <a:pPr algn="ctr">
              <a:spcAft>
                <a:spcPts val="600"/>
              </a:spcAft>
              <a:buNone/>
            </a:pPr>
            <a:r>
              <a:rPr sz="2600" b="1" i="0">
                <a:solidFill>
                  <a:srgbClr val="002060"/>
                </a:solidFill>
                <a:latin typeface="Segoe UI"/>
              </a:rPr>
              <a:t>Au jalon projet</a:t>
            </a:r>
          </a:p>
          <a:p>
            <a:pPr algn="ctr">
              <a:spcAft>
                <a:spcPts val="400"/>
              </a:spcAft>
              <a:buNone/>
            </a:pPr>
            <a:r>
              <a:rPr sz="2200" b="0" i="0">
                <a:solidFill>
                  <a:srgbClr val="404040"/>
                </a:solidFill>
                <a:latin typeface="Segoe UI"/>
              </a:rPr>
              <a:t>La mise à jour de la fiche et du schéma conditionne la clôture du projet.</a:t>
            </a:r>
          </a:p>
        </p:txBody>
      </p:sp>
      <p:sp>
        <p:nvSpPr>
          <p:cNvPr id="52" name="Oval 51"/>
          <p:cNvSpPr/>
          <p:nvPr/>
        </p:nvSpPr>
        <p:spPr>
          <a:xfrm>
            <a:off x="19687032" y="3520440"/>
            <a:ext cx="914400" cy="91440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900" b="1" i="0">
                <a:solidFill>
                  <a:srgbClr val="FFFFFF"/>
                </a:solidFill>
                <a:latin typeface="Segoe UI"/>
              </a:rPr>
              <a:t>3</a:t>
            </a:r>
          </a:p>
        </p:txBody>
      </p:sp>
      <p:sp>
        <p:nvSpPr>
          <p:cNvPr id="53" name="Rounded Rectangle 52"/>
          <p:cNvSpPr/>
          <p:nvPr/>
        </p:nvSpPr>
        <p:spPr>
          <a:xfrm>
            <a:off x="16578072" y="4754880"/>
            <a:ext cx="7132320" cy="39319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4" name="TextBox 53"/>
          <p:cNvSpPr txBox="1"/>
          <p:nvPr/>
        </p:nvSpPr>
        <p:spPr>
          <a:xfrm>
            <a:off x="16898112" y="4892040"/>
            <a:ext cx="6492240" cy="3657600"/>
          </a:xfrm>
          <a:prstGeom prst="rect">
            <a:avLst/>
          </a:prstGeom>
          <a:noFill/>
        </p:spPr>
        <p:txBody>
          <a:bodyPr wrap="square" lIns="45720" rIns="45720" anchor="ctr">
            <a:noAutofit/>
          </a:bodyPr>
          <a:lstStyle/>
          <a:p>
            <a:pPr algn="ctr">
              <a:spcAft>
                <a:spcPts val="600"/>
              </a:spcAft>
              <a:buNone/>
            </a:pPr>
            <a:r>
              <a:rPr sz="2600" b="1" i="0">
                <a:solidFill>
                  <a:srgbClr val="002060"/>
                </a:solidFill>
                <a:latin typeface="Segoe UI"/>
              </a:rPr>
              <a:t>En revue périodique</a:t>
            </a:r>
          </a:p>
          <a:p>
            <a:pPr algn="ctr">
              <a:spcAft>
                <a:spcPts val="400"/>
              </a:spcAft>
              <a:buNone/>
            </a:pPr>
            <a:r>
              <a:rPr sz="2200" b="0" i="0">
                <a:solidFill>
                  <a:srgbClr val="404040"/>
                </a:solidFill>
                <a:latin typeface="Segoe UI"/>
              </a:rPr>
              <a:t>Revue semestrielle par pôle sur la cohérence des schémas ; revue annuelle transverse pour l’alignement inter-équipes.</a:t>
            </a:r>
          </a:p>
        </p:txBody>
      </p:sp>
      <p:sp>
        <p:nvSpPr>
          <p:cNvPr id="55" name="Rounded Rectangle 54"/>
          <p:cNvSpPr/>
          <p:nvPr/>
        </p:nvSpPr>
        <p:spPr>
          <a:xfrm>
            <a:off x="1673352" y="9006840"/>
            <a:ext cx="22037040" cy="3474720"/>
          </a:xfrm>
          <a:prstGeom prst="roundRect">
            <a:avLst>
              <a:gd name="adj" fmla="val 5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6" name="Rounded Rectangle 55"/>
          <p:cNvSpPr/>
          <p:nvPr/>
        </p:nvSpPr>
        <p:spPr>
          <a:xfrm>
            <a:off x="1965960" y="9235440"/>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sp>
        <p:nvSpPr>
          <p:cNvPr id="57" name="Rounded Rectangle 56"/>
          <p:cNvSpPr/>
          <p:nvPr/>
        </p:nvSpPr>
        <p:spPr>
          <a:xfrm>
            <a:off x="1965960" y="9829800"/>
            <a:ext cx="10607040" cy="2377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8" name="TextBox 57"/>
          <p:cNvSpPr txBox="1"/>
          <p:nvPr/>
        </p:nvSpPr>
        <p:spPr>
          <a:xfrm>
            <a:off x="2286000" y="9921240"/>
            <a:ext cx="9966960" cy="2194560"/>
          </a:xfrm>
          <a:prstGeom prst="rect">
            <a:avLst/>
          </a:prstGeom>
          <a:noFill/>
        </p:spPr>
        <p:txBody>
          <a:bodyPr wrap="square" lIns="45720" rIns="45720" anchor="ctr">
            <a:noAutofit/>
          </a:bodyPr>
          <a:lstStyle/>
          <a:p>
            <a:pPr algn="l">
              <a:spcAft>
                <a:spcPts val="400"/>
              </a:spcAft>
              <a:buNone/>
            </a:pPr>
            <a:r>
              <a:rPr sz="2400" b="1" i="0">
                <a:solidFill>
                  <a:srgbClr val="E06206"/>
                </a:solidFill>
                <a:latin typeface="Segoe UI"/>
              </a:rPr>
              <a:t>Indicateur de fraîcheur</a:t>
            </a:r>
          </a:p>
          <a:p>
            <a:pPr algn="l">
              <a:spcAft>
                <a:spcPts val="400"/>
              </a:spcAft>
              <a:buNone/>
            </a:pPr>
            <a:r>
              <a:rPr sz="2200" b="0" i="0">
                <a:solidFill>
                  <a:srgbClr val="404040"/>
                </a:solidFill>
                <a:latin typeface="Segoe UI"/>
              </a:rPr>
              <a:t>Date de mise à jour visible sur chaque fiche ; signalement au-delà de 12 mois sans revue.</a:t>
            </a:r>
          </a:p>
        </p:txBody>
      </p:sp>
      <p:sp>
        <p:nvSpPr>
          <p:cNvPr id="59" name="Rounded Rectangle 58"/>
          <p:cNvSpPr/>
          <p:nvPr/>
        </p:nvSpPr>
        <p:spPr>
          <a:xfrm>
            <a:off x="12893040" y="9829800"/>
            <a:ext cx="10607040" cy="2377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0" name="TextBox 59"/>
          <p:cNvSpPr txBox="1"/>
          <p:nvPr/>
        </p:nvSpPr>
        <p:spPr>
          <a:xfrm>
            <a:off x="13213080" y="9921240"/>
            <a:ext cx="9966960" cy="2194560"/>
          </a:xfrm>
          <a:prstGeom prst="rect">
            <a:avLst/>
          </a:prstGeom>
          <a:noFill/>
        </p:spPr>
        <p:txBody>
          <a:bodyPr wrap="square" lIns="45720" rIns="45720" anchor="ctr">
            <a:noAutofit/>
          </a:bodyPr>
          <a:lstStyle/>
          <a:p>
            <a:pPr algn="l">
              <a:spcAft>
                <a:spcPts val="400"/>
              </a:spcAft>
              <a:buNone/>
            </a:pPr>
            <a:r>
              <a:rPr sz="2400" b="1" i="0">
                <a:solidFill>
                  <a:srgbClr val="E06206"/>
                </a:solidFill>
                <a:latin typeface="Segoe UI"/>
              </a:rPr>
              <a:t>Tableau de couverture</a:t>
            </a:r>
          </a:p>
          <a:p>
            <a:pPr algn="l">
              <a:spcAft>
                <a:spcPts val="400"/>
              </a:spcAft>
              <a:buNone/>
            </a:pPr>
            <a:r>
              <a:rPr sz="2200" b="0" i="0">
                <a:solidFill>
                  <a:srgbClr val="404040"/>
                </a:solidFill>
                <a:latin typeface="Segoe UI"/>
              </a:rPr>
              <a:t>Part des applications disposant d’une fiche et d’un schéma à jour, suivie en revue semestrielle.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Trajectoire proposée</a:t>
            </a:r>
          </a:p>
        </p:txBody>
      </p:sp>
      <p:sp>
        <p:nvSpPr>
          <p:cNvPr id="4" name="Text Placeholder 3"/>
          <p:cNvSpPr>
            <a:spLocks noGrp="1"/>
          </p:cNvSpPr>
          <p:nvPr>
            <p:ph type="body" idx="14" sz="quarter"/>
          </p:nvPr>
        </p:nvSpPr>
        <p:spPr/>
        <p:txBody>
          <a:bodyPr/>
          <a:lstStyle/>
          <a:p>
            <a:r>
              <a:t>Un pilote pour valider templates et effort réel — jalons indicatifs</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21579840" y="1874519"/>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sp>
        <p:nvSpPr>
          <p:cNvPr id="46" name="Pentagon 45"/>
          <p:cNvSpPr/>
          <p:nvPr/>
        </p:nvSpPr>
        <p:spPr>
          <a:xfrm>
            <a:off x="1673352" y="2743200"/>
            <a:ext cx="4526280" cy="1371600"/>
          </a:xfrm>
          <a:prstGeom prst="homePlate">
            <a:avLst>
              <a:gd name="adj" fmla="val 3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spcAft>
                <a:spcPts val="0"/>
              </a:spcAft>
              <a:buNone/>
            </a:pPr>
            <a:r>
              <a:rPr sz="2400" b="1" i="0">
                <a:solidFill>
                  <a:srgbClr val="FFFFFF"/>
                </a:solidFill>
                <a:latin typeface="Segoe UI"/>
              </a:rPr>
              <a:t>Arbitrer</a:t>
            </a:r>
          </a:p>
          <a:p>
            <a:pPr algn="ctr">
              <a:spcAft>
                <a:spcPts val="400"/>
              </a:spcAft>
              <a:buNone/>
            </a:pPr>
            <a:r>
              <a:rPr sz="1800" b="0" i="0">
                <a:solidFill>
                  <a:srgbClr val="F4B183"/>
                </a:solidFill>
                <a:latin typeface="Segoe UI"/>
              </a:rPr>
              <a:t>T0</a:t>
            </a:r>
          </a:p>
        </p:txBody>
      </p:sp>
      <p:sp>
        <p:nvSpPr>
          <p:cNvPr id="47" name="Rounded Rectangle 46"/>
          <p:cNvSpPr/>
          <p:nvPr/>
        </p:nvSpPr>
        <p:spPr>
          <a:xfrm>
            <a:off x="1719072" y="4389120"/>
            <a:ext cx="4160520" cy="32004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8" name="TextBox 47"/>
          <p:cNvSpPr txBox="1"/>
          <p:nvPr/>
        </p:nvSpPr>
        <p:spPr>
          <a:xfrm>
            <a:off x="1947672" y="4572000"/>
            <a:ext cx="3749040" cy="2926080"/>
          </a:xfrm>
          <a:prstGeom prst="rect">
            <a:avLst/>
          </a:prstGeom>
          <a:noFill/>
        </p:spPr>
        <p:txBody>
          <a:bodyPr wrap="square" lIns="45720" rIns="45720" anchor="t">
            <a:noAutofit/>
          </a:bodyPr>
          <a:lstStyle/>
          <a:p>
            <a:pPr algn="l" marL="292608" indent="-256032">
              <a:spcAft>
                <a:spcPts val="800"/>
              </a:spcAft>
              <a:buClr>
                <a:srgbClr val="E06206"/>
              </a:buClr>
              <a:buFont typeface="Arial"/>
              <a:buChar char="•"/>
            </a:pPr>
            <a:r>
              <a:rPr sz="2000" b="0" i="0">
                <a:solidFill>
                  <a:srgbClr val="404040"/>
                </a:solidFill>
                <a:latin typeface="Segoe UI"/>
              </a:rPr>
              <a:t>Réunion de synthèse</a:t>
            </a:r>
          </a:p>
          <a:p>
            <a:pPr algn="l" marL="292608" indent="-256032">
              <a:spcAft>
                <a:spcPts val="800"/>
              </a:spcAft>
              <a:buClr>
                <a:srgbClr val="E06206"/>
              </a:buClr>
              <a:buFont typeface="Arial"/>
              <a:buChar char="•"/>
            </a:pPr>
            <a:r>
              <a:rPr sz="2000" b="0" i="0">
                <a:solidFill>
                  <a:srgbClr val="404040"/>
                </a:solidFill>
                <a:latin typeface="Segoe UI"/>
              </a:rPr>
              <a:t>Valider les recommandations</a:t>
            </a:r>
          </a:p>
          <a:p>
            <a:pPr algn="l" marL="292608" indent="-256032">
              <a:spcAft>
                <a:spcPts val="800"/>
              </a:spcAft>
              <a:buClr>
                <a:srgbClr val="E06206"/>
              </a:buClr>
              <a:buFont typeface="Arial"/>
              <a:buChar char="•"/>
            </a:pPr>
            <a:r>
              <a:rPr sz="2000" b="0" i="0">
                <a:solidFill>
                  <a:srgbClr val="404040"/>
                </a:solidFill>
                <a:latin typeface="Segoe UI"/>
              </a:rPr>
              <a:t>Nommer les référents</a:t>
            </a:r>
          </a:p>
        </p:txBody>
      </p:sp>
      <p:sp>
        <p:nvSpPr>
          <p:cNvPr id="49" name="Chevron 48"/>
          <p:cNvSpPr/>
          <p:nvPr/>
        </p:nvSpPr>
        <p:spPr>
          <a:xfrm>
            <a:off x="6108192" y="2743200"/>
            <a:ext cx="4526280" cy="1371600"/>
          </a:xfrm>
          <a:prstGeom prst="chevron">
            <a:avLst>
              <a:gd name="adj" fmla="val 3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spcAft>
                <a:spcPts val="0"/>
              </a:spcAft>
              <a:buNone/>
            </a:pPr>
            <a:r>
              <a:rPr sz="2400" b="1" i="0">
                <a:solidFill>
                  <a:srgbClr val="FFFFFF"/>
                </a:solidFill>
                <a:latin typeface="Segoe UI"/>
              </a:rPr>
              <a:t>Outiller</a:t>
            </a:r>
          </a:p>
          <a:p>
            <a:pPr algn="ctr">
              <a:spcAft>
                <a:spcPts val="400"/>
              </a:spcAft>
              <a:buNone/>
            </a:pPr>
            <a:r>
              <a:rPr sz="1800" b="0" i="0">
                <a:solidFill>
                  <a:srgbClr val="F4B183"/>
                </a:solidFill>
                <a:latin typeface="Segoe UI"/>
              </a:rPr>
              <a:t>T0 + 1 mois</a:t>
            </a:r>
          </a:p>
        </p:txBody>
      </p:sp>
      <p:sp>
        <p:nvSpPr>
          <p:cNvPr id="50" name="Rounded Rectangle 49"/>
          <p:cNvSpPr/>
          <p:nvPr/>
        </p:nvSpPr>
        <p:spPr>
          <a:xfrm>
            <a:off x="6153912" y="4389120"/>
            <a:ext cx="4160520" cy="32004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1" name="TextBox 50"/>
          <p:cNvSpPr txBox="1"/>
          <p:nvPr/>
        </p:nvSpPr>
        <p:spPr>
          <a:xfrm>
            <a:off x="6382512" y="4572000"/>
            <a:ext cx="3749040" cy="2926080"/>
          </a:xfrm>
          <a:prstGeom prst="rect">
            <a:avLst/>
          </a:prstGeom>
          <a:noFill/>
        </p:spPr>
        <p:txBody>
          <a:bodyPr wrap="square" lIns="45720" rIns="45720" anchor="t">
            <a:noAutofit/>
          </a:bodyPr>
          <a:lstStyle/>
          <a:p>
            <a:pPr algn="l" marL="292608" indent="-256032">
              <a:spcAft>
                <a:spcPts val="800"/>
              </a:spcAft>
              <a:buClr>
                <a:srgbClr val="E06206"/>
              </a:buClr>
              <a:buFont typeface="Arial"/>
              <a:buChar char="•"/>
            </a:pPr>
            <a:r>
              <a:rPr sz="2000" b="0" i="0">
                <a:solidFill>
                  <a:srgbClr val="404040"/>
                </a:solidFill>
                <a:latin typeface="Segoe UI"/>
              </a:rPr>
              <a:t>Template de fiche V1</a:t>
            </a:r>
          </a:p>
          <a:p>
            <a:pPr algn="l" marL="292608" indent="-256032">
              <a:spcAft>
                <a:spcPts val="800"/>
              </a:spcAft>
              <a:buClr>
                <a:srgbClr val="E06206"/>
              </a:buClr>
              <a:buFont typeface="Arial"/>
              <a:buChar char="•"/>
            </a:pPr>
            <a:r>
              <a:rPr sz="2000" b="0" i="0">
                <a:solidFill>
                  <a:srgbClr val="404040"/>
                </a:solidFill>
                <a:latin typeface="Segoe UI"/>
              </a:rPr>
              <a:t>Bibliothèque de formes</a:t>
            </a:r>
          </a:p>
          <a:p>
            <a:pPr algn="l" marL="292608" indent="-256032">
              <a:spcAft>
                <a:spcPts val="800"/>
              </a:spcAft>
              <a:buClr>
                <a:srgbClr val="E06206"/>
              </a:buClr>
              <a:buFont typeface="Arial"/>
              <a:buChar char="•"/>
            </a:pPr>
            <a:r>
              <a:rPr sz="2000" b="0" i="0">
                <a:solidFill>
                  <a:srgbClr val="404040"/>
                </a:solidFill>
                <a:latin typeface="Segoe UI"/>
              </a:rPr>
              <a:t>Guide de modélisation</a:t>
            </a:r>
          </a:p>
          <a:p>
            <a:pPr algn="l" marL="292608" indent="-256032">
              <a:spcAft>
                <a:spcPts val="800"/>
              </a:spcAft>
              <a:buClr>
                <a:srgbClr val="E06206"/>
              </a:buClr>
              <a:buFont typeface="Arial"/>
              <a:buChar char="•"/>
            </a:pPr>
            <a:r>
              <a:rPr sz="2000" b="0" i="0">
                <a:solidFill>
                  <a:srgbClr val="404040"/>
                </a:solidFill>
                <a:latin typeface="Segoe UI"/>
              </a:rPr>
              <a:t>Espace de publication</a:t>
            </a:r>
          </a:p>
        </p:txBody>
      </p:sp>
      <p:sp>
        <p:nvSpPr>
          <p:cNvPr id="52" name="Chevron 51"/>
          <p:cNvSpPr/>
          <p:nvPr/>
        </p:nvSpPr>
        <p:spPr>
          <a:xfrm>
            <a:off x="10543032" y="2743200"/>
            <a:ext cx="4526280" cy="1371600"/>
          </a:xfrm>
          <a:prstGeom prst="chevron">
            <a:avLst>
              <a:gd name="adj" fmla="val 3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spcAft>
                <a:spcPts val="0"/>
              </a:spcAft>
              <a:buNone/>
            </a:pPr>
            <a:r>
              <a:rPr sz="2400" b="1" i="0">
                <a:solidFill>
                  <a:srgbClr val="FFFFFF"/>
                </a:solidFill>
                <a:latin typeface="Segoe UI"/>
              </a:rPr>
              <a:t>Piloter</a:t>
            </a:r>
          </a:p>
          <a:p>
            <a:pPr algn="ctr">
              <a:spcAft>
                <a:spcPts val="400"/>
              </a:spcAft>
              <a:buNone/>
            </a:pPr>
            <a:r>
              <a:rPr sz="1800" b="0" i="0">
                <a:solidFill>
                  <a:srgbClr val="F4B183"/>
                </a:solidFill>
                <a:latin typeface="Segoe UI"/>
              </a:rPr>
              <a:t>T0 + 2 à 3 mois</a:t>
            </a:r>
          </a:p>
        </p:txBody>
      </p:sp>
      <p:sp>
        <p:nvSpPr>
          <p:cNvPr id="53" name="Rounded Rectangle 52"/>
          <p:cNvSpPr/>
          <p:nvPr/>
        </p:nvSpPr>
        <p:spPr>
          <a:xfrm>
            <a:off x="10588752" y="4389120"/>
            <a:ext cx="4160520" cy="32004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4" name="TextBox 53"/>
          <p:cNvSpPr txBox="1"/>
          <p:nvPr/>
        </p:nvSpPr>
        <p:spPr>
          <a:xfrm>
            <a:off x="10817352" y="4572000"/>
            <a:ext cx="3749040" cy="2926080"/>
          </a:xfrm>
          <a:prstGeom prst="rect">
            <a:avLst/>
          </a:prstGeom>
          <a:noFill/>
        </p:spPr>
        <p:txBody>
          <a:bodyPr wrap="square" lIns="45720" rIns="45720" anchor="t">
            <a:noAutofit/>
          </a:bodyPr>
          <a:lstStyle/>
          <a:p>
            <a:pPr algn="l" marL="292608" indent="-256032">
              <a:spcAft>
                <a:spcPts val="800"/>
              </a:spcAft>
              <a:buClr>
                <a:srgbClr val="E06206"/>
              </a:buClr>
              <a:buFont typeface="Arial"/>
              <a:buChar char="•"/>
            </a:pPr>
            <a:r>
              <a:rPr sz="2000" b="0" i="0">
                <a:solidFill>
                  <a:srgbClr val="404040"/>
                </a:solidFill>
                <a:latin typeface="Segoe UI"/>
              </a:rPr>
              <a:t>CADI et une application par équipe</a:t>
            </a:r>
          </a:p>
          <a:p>
            <a:pPr algn="l" marL="292608" indent="-256032">
              <a:spcAft>
                <a:spcPts val="800"/>
              </a:spcAft>
              <a:buClr>
                <a:srgbClr val="E06206"/>
              </a:buClr>
              <a:buFont typeface="Arial"/>
              <a:buChar char="•"/>
            </a:pPr>
            <a:r>
              <a:rPr sz="2000" b="0" i="0">
                <a:solidFill>
                  <a:srgbClr val="404040"/>
                </a:solidFill>
                <a:latin typeface="Segoe UI"/>
              </a:rPr>
              <a:t>Mesure de l’effort</a:t>
            </a:r>
          </a:p>
          <a:p>
            <a:pPr algn="l" marL="292608" indent="-256032">
              <a:spcAft>
                <a:spcPts val="800"/>
              </a:spcAft>
              <a:buClr>
                <a:srgbClr val="E06206"/>
              </a:buClr>
              <a:buFont typeface="Arial"/>
              <a:buChar char="•"/>
            </a:pPr>
            <a:r>
              <a:rPr sz="2000" b="0" i="0">
                <a:solidFill>
                  <a:srgbClr val="404040"/>
                </a:solidFill>
                <a:latin typeface="Segoe UI"/>
              </a:rPr>
              <a:t>Retour d’expérience</a:t>
            </a:r>
          </a:p>
        </p:txBody>
      </p:sp>
      <p:sp>
        <p:nvSpPr>
          <p:cNvPr id="55" name="Chevron 54"/>
          <p:cNvSpPr/>
          <p:nvPr/>
        </p:nvSpPr>
        <p:spPr>
          <a:xfrm>
            <a:off x="14977872" y="2743200"/>
            <a:ext cx="4526280" cy="1371600"/>
          </a:xfrm>
          <a:prstGeom prst="chevron">
            <a:avLst>
              <a:gd name="adj" fmla="val 3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spcAft>
                <a:spcPts val="0"/>
              </a:spcAft>
              <a:buNone/>
            </a:pPr>
            <a:r>
              <a:rPr sz="2400" b="1" i="0">
                <a:solidFill>
                  <a:srgbClr val="FFFFFF"/>
                </a:solidFill>
                <a:latin typeface="Segoe UI"/>
              </a:rPr>
              <a:t>Généraliser</a:t>
            </a:r>
          </a:p>
          <a:p>
            <a:pPr algn="ctr">
              <a:spcAft>
                <a:spcPts val="400"/>
              </a:spcAft>
              <a:buNone/>
            </a:pPr>
            <a:r>
              <a:rPr sz="1800" b="0" i="0">
                <a:solidFill>
                  <a:srgbClr val="F4B183"/>
                </a:solidFill>
                <a:latin typeface="Segoe UI"/>
              </a:rPr>
              <a:t>T0 + 4 à 9 mois</a:t>
            </a:r>
          </a:p>
        </p:txBody>
      </p:sp>
      <p:sp>
        <p:nvSpPr>
          <p:cNvPr id="56" name="Rounded Rectangle 55"/>
          <p:cNvSpPr/>
          <p:nvPr/>
        </p:nvSpPr>
        <p:spPr>
          <a:xfrm>
            <a:off x="15023592" y="4389120"/>
            <a:ext cx="4160520" cy="32004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7" name="TextBox 56"/>
          <p:cNvSpPr txBox="1"/>
          <p:nvPr/>
        </p:nvSpPr>
        <p:spPr>
          <a:xfrm>
            <a:off x="15252192" y="4572000"/>
            <a:ext cx="3749040" cy="2926080"/>
          </a:xfrm>
          <a:prstGeom prst="rect">
            <a:avLst/>
          </a:prstGeom>
          <a:noFill/>
        </p:spPr>
        <p:txBody>
          <a:bodyPr wrap="square" lIns="45720" rIns="45720" anchor="t">
            <a:noAutofit/>
          </a:bodyPr>
          <a:lstStyle/>
          <a:p>
            <a:pPr algn="l" marL="292608" indent="-256032">
              <a:spcAft>
                <a:spcPts val="800"/>
              </a:spcAft>
              <a:buClr>
                <a:srgbClr val="E06206"/>
              </a:buClr>
              <a:buFont typeface="Arial"/>
              <a:buChar char="•"/>
            </a:pPr>
            <a:r>
              <a:rPr sz="2000" b="0" i="0">
                <a:solidFill>
                  <a:srgbClr val="404040"/>
                </a:solidFill>
                <a:latin typeface="Segoe UI"/>
              </a:rPr>
              <a:t>Vagues par équipe</a:t>
            </a:r>
          </a:p>
          <a:p>
            <a:pPr algn="l" marL="292608" indent="-256032">
              <a:spcAft>
                <a:spcPts val="800"/>
              </a:spcAft>
              <a:buClr>
                <a:srgbClr val="E06206"/>
              </a:buClr>
              <a:buFont typeface="Arial"/>
              <a:buChar char="•"/>
            </a:pPr>
            <a:r>
              <a:rPr sz="2000" b="0" i="0">
                <a:solidFill>
                  <a:srgbClr val="404040"/>
                </a:solidFill>
                <a:latin typeface="Segoe UI"/>
              </a:rPr>
              <a:t>Priorité aux applications critiques en Run et aux redondances</a:t>
            </a:r>
          </a:p>
        </p:txBody>
      </p:sp>
      <p:sp>
        <p:nvSpPr>
          <p:cNvPr id="58" name="Chevron 57"/>
          <p:cNvSpPr/>
          <p:nvPr/>
        </p:nvSpPr>
        <p:spPr>
          <a:xfrm>
            <a:off x="19412712" y="2743200"/>
            <a:ext cx="4526280" cy="1371600"/>
          </a:xfrm>
          <a:prstGeom prst="chevron">
            <a:avLst>
              <a:gd name="adj" fmla="val 3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spcAft>
                <a:spcPts val="0"/>
              </a:spcAft>
              <a:buNone/>
            </a:pPr>
            <a:r>
              <a:rPr sz="2400" b="1" i="0">
                <a:solidFill>
                  <a:srgbClr val="FFFFFF"/>
                </a:solidFill>
                <a:latin typeface="Segoe UI"/>
              </a:rPr>
              <a:t>Faire vivre</a:t>
            </a:r>
          </a:p>
          <a:p>
            <a:pPr algn="ctr">
              <a:spcAft>
                <a:spcPts val="400"/>
              </a:spcAft>
              <a:buNone/>
            </a:pPr>
            <a:r>
              <a:rPr sz="1800" b="0" i="0">
                <a:solidFill>
                  <a:srgbClr val="FFFFFF"/>
                </a:solidFill>
                <a:latin typeface="Segoe UI"/>
              </a:rPr>
              <a:t>En continu</a:t>
            </a:r>
          </a:p>
        </p:txBody>
      </p:sp>
      <p:sp>
        <p:nvSpPr>
          <p:cNvPr id="59" name="Rounded Rectangle 58"/>
          <p:cNvSpPr/>
          <p:nvPr/>
        </p:nvSpPr>
        <p:spPr>
          <a:xfrm>
            <a:off x="19458432" y="4389120"/>
            <a:ext cx="4160520" cy="32004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0" name="TextBox 59"/>
          <p:cNvSpPr txBox="1"/>
          <p:nvPr/>
        </p:nvSpPr>
        <p:spPr>
          <a:xfrm>
            <a:off x="19687032" y="4572000"/>
            <a:ext cx="3749040" cy="2926080"/>
          </a:xfrm>
          <a:prstGeom prst="rect">
            <a:avLst/>
          </a:prstGeom>
          <a:noFill/>
        </p:spPr>
        <p:txBody>
          <a:bodyPr wrap="square" lIns="45720" rIns="45720" anchor="t">
            <a:noAutofit/>
          </a:bodyPr>
          <a:lstStyle/>
          <a:p>
            <a:pPr algn="l" marL="292608" indent="-256032">
              <a:spcAft>
                <a:spcPts val="800"/>
              </a:spcAft>
              <a:buClr>
                <a:srgbClr val="E06206"/>
              </a:buClr>
              <a:buFont typeface="Arial"/>
              <a:buChar char="•"/>
            </a:pPr>
            <a:r>
              <a:rPr sz="2000" b="0" i="0">
                <a:solidFill>
                  <a:srgbClr val="404040"/>
                </a:solidFill>
                <a:latin typeface="Segoe UI"/>
              </a:rPr>
              <a:t>Revues semestrielles et annuelles</a:t>
            </a:r>
          </a:p>
          <a:p>
            <a:pPr algn="l" marL="292608" indent="-256032">
              <a:spcAft>
                <a:spcPts val="800"/>
              </a:spcAft>
              <a:buClr>
                <a:srgbClr val="E06206"/>
              </a:buClr>
              <a:buFont typeface="Arial"/>
              <a:buChar char="•"/>
            </a:pPr>
            <a:r>
              <a:rPr sz="2000" b="0" i="0">
                <a:solidFill>
                  <a:srgbClr val="404040"/>
                </a:solidFill>
                <a:latin typeface="Segoe UI"/>
              </a:rPr>
              <a:t>Suivi des indicateurs</a:t>
            </a:r>
          </a:p>
        </p:txBody>
      </p:sp>
      <p:sp>
        <p:nvSpPr>
          <p:cNvPr id="61" name="TextBox 60"/>
          <p:cNvSpPr txBox="1"/>
          <p:nvPr/>
        </p:nvSpPr>
        <p:spPr>
          <a:xfrm>
            <a:off x="1673352" y="7955279"/>
            <a:ext cx="10972800" cy="640080"/>
          </a:xfrm>
          <a:prstGeom prst="rect">
            <a:avLst/>
          </a:prstGeom>
          <a:noFill/>
        </p:spPr>
        <p:txBody>
          <a:bodyPr wrap="square" lIns="45720" rIns="45720" anchor="ctr">
            <a:noAutofit/>
          </a:bodyPr>
          <a:lstStyle/>
          <a:p>
            <a:pPr algn="l">
              <a:spcAft>
                <a:spcPts val="400"/>
              </a:spcAft>
              <a:buNone/>
            </a:pPr>
            <a:r>
              <a:rPr sz="2600" b="1" i="0">
                <a:solidFill>
                  <a:srgbClr val="002060"/>
                </a:solidFill>
                <a:latin typeface="Segoe UI"/>
              </a:rPr>
              <a:t>Prochaines étapes immédiates</a:t>
            </a:r>
          </a:p>
        </p:txBody>
      </p:sp>
      <p:sp>
        <p:nvSpPr>
          <p:cNvPr id="62" name="Rounded Rectangle 61"/>
          <p:cNvSpPr/>
          <p:nvPr/>
        </p:nvSpPr>
        <p:spPr>
          <a:xfrm>
            <a:off x="1673352" y="8823960"/>
            <a:ext cx="10881360" cy="1645920"/>
          </a:xfrm>
          <a:prstGeom prst="roundRect">
            <a:avLst>
              <a:gd name="adj" fmla="val 10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3" name="Oval 62"/>
          <p:cNvSpPr/>
          <p:nvPr/>
        </p:nvSpPr>
        <p:spPr>
          <a:xfrm>
            <a:off x="1947672" y="9281160"/>
            <a:ext cx="731520" cy="731520"/>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1</a:t>
            </a:r>
          </a:p>
        </p:txBody>
      </p:sp>
      <p:sp>
        <p:nvSpPr>
          <p:cNvPr id="64" name="TextBox 63"/>
          <p:cNvSpPr txBox="1"/>
          <p:nvPr/>
        </p:nvSpPr>
        <p:spPr>
          <a:xfrm>
            <a:off x="2953512" y="8823960"/>
            <a:ext cx="9418320" cy="1645920"/>
          </a:xfrm>
          <a:prstGeom prst="rect">
            <a:avLst/>
          </a:prstGeom>
          <a:noFill/>
        </p:spPr>
        <p:txBody>
          <a:bodyPr wrap="square" lIns="45720" rIns="45720" anchor="ctr">
            <a:noAutofit/>
          </a:bodyPr>
          <a:lstStyle/>
          <a:p>
            <a:pPr algn="l">
              <a:spcAft>
                <a:spcPts val="400"/>
              </a:spcAft>
              <a:buNone/>
            </a:pPr>
            <a:r>
              <a:rPr sz="2300" b="1" i="0">
                <a:solidFill>
                  <a:srgbClr val="002060"/>
                </a:solidFill>
                <a:latin typeface="Segoe UI"/>
              </a:rPr>
              <a:t>Partager ce document consolidé avec les REs</a:t>
            </a:r>
          </a:p>
        </p:txBody>
      </p:sp>
      <p:sp>
        <p:nvSpPr>
          <p:cNvPr id="65" name="Rounded Rectangle 64"/>
          <p:cNvSpPr/>
          <p:nvPr/>
        </p:nvSpPr>
        <p:spPr>
          <a:xfrm>
            <a:off x="12829032" y="8823960"/>
            <a:ext cx="10881360" cy="1645920"/>
          </a:xfrm>
          <a:prstGeom prst="roundRect">
            <a:avLst>
              <a:gd name="adj" fmla="val 10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6" name="Oval 65"/>
          <p:cNvSpPr/>
          <p:nvPr/>
        </p:nvSpPr>
        <p:spPr>
          <a:xfrm>
            <a:off x="13103352" y="9281160"/>
            <a:ext cx="731520" cy="731520"/>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2</a:t>
            </a:r>
          </a:p>
        </p:txBody>
      </p:sp>
      <p:sp>
        <p:nvSpPr>
          <p:cNvPr id="67" name="TextBox 66"/>
          <p:cNvSpPr txBox="1"/>
          <p:nvPr/>
        </p:nvSpPr>
        <p:spPr>
          <a:xfrm>
            <a:off x="14109192" y="8823960"/>
            <a:ext cx="9418320" cy="1645920"/>
          </a:xfrm>
          <a:prstGeom prst="rect">
            <a:avLst/>
          </a:prstGeom>
          <a:noFill/>
        </p:spPr>
        <p:txBody>
          <a:bodyPr wrap="square" lIns="45720" rIns="45720" anchor="ctr">
            <a:noAutofit/>
          </a:bodyPr>
          <a:lstStyle/>
          <a:p>
            <a:pPr algn="l">
              <a:spcAft>
                <a:spcPts val="400"/>
              </a:spcAft>
              <a:buNone/>
            </a:pPr>
            <a:r>
              <a:rPr sz="2300" b="1" i="0">
                <a:solidFill>
                  <a:srgbClr val="002060"/>
                </a:solidFill>
                <a:latin typeface="Segoe UI"/>
              </a:rPr>
              <a:t>Tenir la réunion de synthèse sur les six arbitrages</a:t>
            </a:r>
          </a:p>
        </p:txBody>
      </p:sp>
      <p:sp>
        <p:nvSpPr>
          <p:cNvPr id="68" name="Rounded Rectangle 67"/>
          <p:cNvSpPr/>
          <p:nvPr/>
        </p:nvSpPr>
        <p:spPr>
          <a:xfrm>
            <a:off x="1673352" y="10698480"/>
            <a:ext cx="10881360" cy="1645920"/>
          </a:xfrm>
          <a:prstGeom prst="roundRect">
            <a:avLst>
              <a:gd name="adj" fmla="val 10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9" name="Oval 68"/>
          <p:cNvSpPr/>
          <p:nvPr/>
        </p:nvSpPr>
        <p:spPr>
          <a:xfrm>
            <a:off x="1947672" y="11155680"/>
            <a:ext cx="731520" cy="731520"/>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3</a:t>
            </a:r>
          </a:p>
        </p:txBody>
      </p:sp>
      <p:sp>
        <p:nvSpPr>
          <p:cNvPr id="70" name="TextBox 69"/>
          <p:cNvSpPr txBox="1"/>
          <p:nvPr/>
        </p:nvSpPr>
        <p:spPr>
          <a:xfrm>
            <a:off x="2953512" y="10698480"/>
            <a:ext cx="9418320" cy="1645920"/>
          </a:xfrm>
          <a:prstGeom prst="rect">
            <a:avLst/>
          </a:prstGeom>
          <a:noFill/>
        </p:spPr>
        <p:txBody>
          <a:bodyPr wrap="square" lIns="45720" rIns="45720" anchor="ctr">
            <a:noAutofit/>
          </a:bodyPr>
          <a:lstStyle/>
          <a:p>
            <a:pPr algn="l">
              <a:spcAft>
                <a:spcPts val="400"/>
              </a:spcAft>
              <a:buNone/>
            </a:pPr>
            <a:r>
              <a:rPr sz="2300" b="1" i="0">
                <a:solidFill>
                  <a:srgbClr val="002060"/>
                </a:solidFill>
                <a:latin typeface="Segoe UI"/>
              </a:rPr>
              <a:t>Nommer le référent H550 et confirmer les autres</a:t>
            </a:r>
          </a:p>
        </p:txBody>
      </p:sp>
      <p:sp>
        <p:nvSpPr>
          <p:cNvPr id="71" name="Rounded Rectangle 70"/>
          <p:cNvSpPr/>
          <p:nvPr/>
        </p:nvSpPr>
        <p:spPr>
          <a:xfrm>
            <a:off x="12829032" y="10698480"/>
            <a:ext cx="10881360" cy="1645920"/>
          </a:xfrm>
          <a:prstGeom prst="roundRect">
            <a:avLst>
              <a:gd name="adj" fmla="val 10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2" name="Oval 71"/>
          <p:cNvSpPr/>
          <p:nvPr/>
        </p:nvSpPr>
        <p:spPr>
          <a:xfrm>
            <a:off x="13103352" y="11155680"/>
            <a:ext cx="731520" cy="731520"/>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4</a:t>
            </a:r>
          </a:p>
        </p:txBody>
      </p:sp>
      <p:sp>
        <p:nvSpPr>
          <p:cNvPr id="73" name="TextBox 72"/>
          <p:cNvSpPr txBox="1"/>
          <p:nvPr/>
        </p:nvSpPr>
        <p:spPr>
          <a:xfrm>
            <a:off x="14109192" y="10698480"/>
            <a:ext cx="9418320" cy="1645920"/>
          </a:xfrm>
          <a:prstGeom prst="rect">
            <a:avLst/>
          </a:prstGeom>
          <a:noFill/>
        </p:spPr>
        <p:txBody>
          <a:bodyPr wrap="square" lIns="45720" rIns="45720" anchor="ctr">
            <a:noAutofit/>
          </a:bodyPr>
          <a:lstStyle/>
          <a:p>
            <a:pPr algn="l">
              <a:spcAft>
                <a:spcPts val="400"/>
              </a:spcAft>
              <a:buNone/>
            </a:pPr>
            <a:r>
              <a:rPr sz="2300" b="1" i="0">
                <a:solidFill>
                  <a:srgbClr val="002060"/>
                </a:solidFill>
                <a:latin typeface="Segoe UI"/>
              </a:rPr>
              <a:t>Lancer le pilote sur CADI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Points de vigilance et facteurs clés de succès</a:t>
            </a:r>
          </a:p>
        </p:txBody>
      </p:sp>
      <p:sp>
        <p:nvSpPr>
          <p:cNvPr id="4" name="Text Placeholder 3"/>
          <p:cNvSpPr>
            <a:spLocks noGrp="1"/>
          </p:cNvSpPr>
          <p:nvPr>
            <p:ph type="body" idx="14" sz="quarter"/>
          </p:nvPr>
        </p:nvSpPr>
        <p:spPr/>
        <p:txBody>
          <a:bodyPr/>
          <a:lstStyle/>
          <a:p>
            <a:r>
              <a:t>Anticiper ce qui fait échouer les démarches de documentation</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743200"/>
            <a:ext cx="10881360" cy="475488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46" name="Picture 45" descr="s6_Image_12.png"/>
          <p:cNvPicPr>
            <a:picLocks noChangeAspect="1"/>
          </p:cNvPicPr>
          <p:nvPr/>
        </p:nvPicPr>
        <p:blipFill>
          <a:blip r:embed="rId2"/>
          <a:stretch>
            <a:fillRect/>
          </a:stretch>
        </p:blipFill>
        <p:spPr>
          <a:xfrm>
            <a:off x="1993392" y="3063240"/>
            <a:ext cx="1119447" cy="1097280"/>
          </a:xfrm>
          <a:prstGeom prst="rect">
            <a:avLst/>
          </a:prstGeom>
        </p:spPr>
      </p:pic>
      <p:sp>
        <p:nvSpPr>
          <p:cNvPr id="47" name="TextBox 46"/>
          <p:cNvSpPr txBox="1"/>
          <p:nvPr/>
        </p:nvSpPr>
        <p:spPr>
          <a:xfrm>
            <a:off x="3502152" y="3017520"/>
            <a:ext cx="8778240" cy="1188720"/>
          </a:xfrm>
          <a:prstGeom prst="rect">
            <a:avLst/>
          </a:prstGeom>
          <a:noFill/>
        </p:spPr>
        <p:txBody>
          <a:bodyPr wrap="square" lIns="45720" rIns="45720" anchor="ctr">
            <a:noAutofit/>
          </a:bodyPr>
          <a:lstStyle/>
          <a:p>
            <a:pPr algn="l">
              <a:spcAft>
                <a:spcPts val="200"/>
              </a:spcAft>
              <a:buNone/>
            </a:pPr>
            <a:r>
              <a:rPr sz="2600" b="1" i="0">
                <a:solidFill>
                  <a:srgbClr val="002060"/>
                </a:solidFill>
                <a:latin typeface="Segoe UI"/>
              </a:rPr>
              <a:t>Charge perçue par les équipes</a:t>
            </a:r>
          </a:p>
          <a:p>
            <a:pPr algn="l">
              <a:spcAft>
                <a:spcPts val="400"/>
              </a:spcAft>
              <a:buNone/>
            </a:pPr>
            <a:r>
              <a:rPr sz="2000" b="0" i="1">
                <a:solidFill>
                  <a:srgbClr val="7F7F7F"/>
                </a:solidFill>
                <a:latin typeface="Segoe UI"/>
              </a:rPr>
              <a:t>La documentation vécue comme un surcoût est abandonnée.</a:t>
            </a:r>
          </a:p>
        </p:txBody>
      </p:sp>
      <p:sp>
        <p:nvSpPr>
          <p:cNvPr id="48" name="Rounded Rectangle 47"/>
          <p:cNvSpPr/>
          <p:nvPr/>
        </p:nvSpPr>
        <p:spPr>
          <a:xfrm>
            <a:off x="1993392" y="4526280"/>
            <a:ext cx="1024128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9" name="TextBox 48"/>
          <p:cNvSpPr txBox="1"/>
          <p:nvPr/>
        </p:nvSpPr>
        <p:spPr>
          <a:xfrm>
            <a:off x="2267712" y="4617720"/>
            <a:ext cx="9692640" cy="2468880"/>
          </a:xfrm>
          <a:prstGeom prst="rect">
            <a:avLst/>
          </a:prstGeom>
          <a:noFill/>
        </p:spPr>
        <p:txBody>
          <a:bodyPr wrap="square" lIns="45720" rIns="45720" anchor="ctr">
            <a:noAutofit/>
          </a:bodyPr>
          <a:lstStyle/>
          <a:p>
            <a:pPr algn="l">
              <a:spcAft>
                <a:spcPts val="400"/>
              </a:spcAft>
              <a:buNone/>
            </a:pPr>
            <a:r>
              <a:rPr sz="2000" b="1" i="0">
                <a:solidFill>
                  <a:srgbClr val="E06206"/>
                </a:solidFill>
                <a:latin typeface="Segoe UI"/>
              </a:rPr>
              <a:t>Parade</a:t>
            </a:r>
          </a:p>
          <a:p>
            <a:pPr algn="l">
              <a:spcAft>
                <a:spcPts val="400"/>
              </a:spcAft>
              <a:buNone/>
            </a:pPr>
            <a:r>
              <a:rPr sz="2300" b="0" i="0">
                <a:solidFill>
                  <a:srgbClr val="002060"/>
                </a:solidFill>
                <a:latin typeface="Segoe UI"/>
              </a:rPr>
              <a:t>Socle minimal, kit prêt à l’emploi, effort mesuré pendant le pilote.</a:t>
            </a:r>
          </a:p>
        </p:txBody>
      </p:sp>
      <p:sp>
        <p:nvSpPr>
          <p:cNvPr id="50" name="Rounded Rectangle 49"/>
          <p:cNvSpPr/>
          <p:nvPr/>
        </p:nvSpPr>
        <p:spPr>
          <a:xfrm>
            <a:off x="12829032" y="2743200"/>
            <a:ext cx="10881360" cy="475488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51" name="Picture 50" descr="s4_Image_32.png"/>
          <p:cNvPicPr>
            <a:picLocks noChangeAspect="1"/>
          </p:cNvPicPr>
          <p:nvPr/>
        </p:nvPicPr>
        <p:blipFill>
          <a:blip r:embed="rId3"/>
          <a:stretch>
            <a:fillRect/>
          </a:stretch>
        </p:blipFill>
        <p:spPr>
          <a:xfrm>
            <a:off x="13149072" y="3063240"/>
            <a:ext cx="1488820" cy="1097280"/>
          </a:xfrm>
          <a:prstGeom prst="rect">
            <a:avLst/>
          </a:prstGeom>
        </p:spPr>
      </p:pic>
      <p:sp>
        <p:nvSpPr>
          <p:cNvPr id="52" name="TextBox 51"/>
          <p:cNvSpPr txBox="1"/>
          <p:nvPr/>
        </p:nvSpPr>
        <p:spPr>
          <a:xfrm>
            <a:off x="14657832" y="3017520"/>
            <a:ext cx="8778240" cy="1188720"/>
          </a:xfrm>
          <a:prstGeom prst="rect">
            <a:avLst/>
          </a:prstGeom>
          <a:noFill/>
        </p:spPr>
        <p:txBody>
          <a:bodyPr wrap="square" lIns="45720" rIns="45720" anchor="ctr">
            <a:noAutofit/>
          </a:bodyPr>
          <a:lstStyle/>
          <a:p>
            <a:pPr algn="l">
              <a:spcAft>
                <a:spcPts val="200"/>
              </a:spcAft>
              <a:buNone/>
            </a:pPr>
            <a:r>
              <a:rPr sz="2600" b="1" i="0">
                <a:solidFill>
                  <a:srgbClr val="002060"/>
                </a:solidFill>
                <a:latin typeface="Segoe UI"/>
              </a:rPr>
              <a:t>Obsolescence rapide</a:t>
            </a:r>
          </a:p>
          <a:p>
            <a:pPr algn="l">
              <a:spcAft>
                <a:spcPts val="400"/>
              </a:spcAft>
              <a:buNone/>
            </a:pPr>
            <a:r>
              <a:rPr sz="2000" b="0" i="1">
                <a:solidFill>
                  <a:srgbClr val="7F7F7F"/>
                </a:solidFill>
                <a:latin typeface="Segoe UI"/>
              </a:rPr>
              <a:t>Un schéma faux est plus dangereux qu’un schéma absent en Run.</a:t>
            </a:r>
          </a:p>
        </p:txBody>
      </p:sp>
      <p:sp>
        <p:nvSpPr>
          <p:cNvPr id="53" name="Rounded Rectangle 52"/>
          <p:cNvSpPr/>
          <p:nvPr/>
        </p:nvSpPr>
        <p:spPr>
          <a:xfrm>
            <a:off x="13149072" y="4526280"/>
            <a:ext cx="1024128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4" name="TextBox 53"/>
          <p:cNvSpPr txBox="1"/>
          <p:nvPr/>
        </p:nvSpPr>
        <p:spPr>
          <a:xfrm>
            <a:off x="13423392" y="4617720"/>
            <a:ext cx="9692640" cy="2468880"/>
          </a:xfrm>
          <a:prstGeom prst="rect">
            <a:avLst/>
          </a:prstGeom>
          <a:noFill/>
        </p:spPr>
        <p:txBody>
          <a:bodyPr wrap="square" lIns="45720" rIns="45720" anchor="ctr">
            <a:noAutofit/>
          </a:bodyPr>
          <a:lstStyle/>
          <a:p>
            <a:pPr algn="l">
              <a:spcAft>
                <a:spcPts val="400"/>
              </a:spcAft>
              <a:buNone/>
            </a:pPr>
            <a:r>
              <a:rPr sz="2000" b="1" i="0">
                <a:solidFill>
                  <a:srgbClr val="E06206"/>
                </a:solidFill>
                <a:latin typeface="Segoe UI"/>
              </a:rPr>
              <a:t>Parade</a:t>
            </a:r>
          </a:p>
          <a:p>
            <a:pPr algn="l">
              <a:spcAft>
                <a:spcPts val="400"/>
              </a:spcAft>
              <a:buNone/>
            </a:pPr>
            <a:r>
              <a:rPr sz="2300" b="0" i="0">
                <a:solidFill>
                  <a:srgbClr val="002060"/>
                </a:solidFill>
                <a:latin typeface="Segoe UI"/>
              </a:rPr>
              <a:t>Déclencheurs, condition de clôture de projet, indicateur de fraîcheur.</a:t>
            </a:r>
          </a:p>
        </p:txBody>
      </p:sp>
      <p:sp>
        <p:nvSpPr>
          <p:cNvPr id="55" name="Rounded Rectangle 54"/>
          <p:cNvSpPr/>
          <p:nvPr/>
        </p:nvSpPr>
        <p:spPr>
          <a:xfrm>
            <a:off x="1673352" y="7680960"/>
            <a:ext cx="10881360" cy="475488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56" name="Picture 55" descr="s5_Image_42.png"/>
          <p:cNvPicPr>
            <a:picLocks noChangeAspect="1"/>
          </p:cNvPicPr>
          <p:nvPr/>
        </p:nvPicPr>
        <p:blipFill>
          <a:blip r:embed="rId4"/>
          <a:stretch>
            <a:fillRect/>
          </a:stretch>
        </p:blipFill>
        <p:spPr>
          <a:xfrm>
            <a:off x="1993392" y="8001000"/>
            <a:ext cx="1097280" cy="1097280"/>
          </a:xfrm>
          <a:prstGeom prst="rect">
            <a:avLst/>
          </a:prstGeom>
        </p:spPr>
      </p:pic>
      <p:sp>
        <p:nvSpPr>
          <p:cNvPr id="57" name="TextBox 56"/>
          <p:cNvSpPr txBox="1"/>
          <p:nvPr/>
        </p:nvSpPr>
        <p:spPr>
          <a:xfrm>
            <a:off x="3502152" y="7955280"/>
            <a:ext cx="8778240" cy="1188720"/>
          </a:xfrm>
          <a:prstGeom prst="rect">
            <a:avLst/>
          </a:prstGeom>
          <a:noFill/>
        </p:spPr>
        <p:txBody>
          <a:bodyPr wrap="square" lIns="45720" rIns="45720" anchor="ctr">
            <a:noAutofit/>
          </a:bodyPr>
          <a:lstStyle/>
          <a:p>
            <a:pPr algn="l">
              <a:spcAft>
                <a:spcPts val="200"/>
              </a:spcAft>
              <a:buNone/>
            </a:pPr>
            <a:r>
              <a:rPr sz="2600" b="1" i="0">
                <a:solidFill>
                  <a:srgbClr val="002060"/>
                </a:solidFill>
                <a:latin typeface="Segoe UI"/>
              </a:rPr>
              <a:t>Hétérogénéité des formalismes</a:t>
            </a:r>
          </a:p>
          <a:p>
            <a:pPr algn="l">
              <a:spcAft>
                <a:spcPts val="400"/>
              </a:spcAft>
              <a:buNone/>
            </a:pPr>
            <a:r>
              <a:rPr sz="2000" b="0" i="1">
                <a:solidFill>
                  <a:srgbClr val="7F7F7F"/>
                </a:solidFill>
                <a:latin typeface="Segoe UI"/>
              </a:rPr>
              <a:t>Des schémas illisibles d’une équipe à l’autre.</a:t>
            </a:r>
          </a:p>
        </p:txBody>
      </p:sp>
      <p:sp>
        <p:nvSpPr>
          <p:cNvPr id="58" name="Rounded Rectangle 57"/>
          <p:cNvSpPr/>
          <p:nvPr/>
        </p:nvSpPr>
        <p:spPr>
          <a:xfrm>
            <a:off x="1993392" y="9464040"/>
            <a:ext cx="1024128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9" name="TextBox 58"/>
          <p:cNvSpPr txBox="1"/>
          <p:nvPr/>
        </p:nvSpPr>
        <p:spPr>
          <a:xfrm>
            <a:off x="2267712" y="9555480"/>
            <a:ext cx="9692640" cy="2468880"/>
          </a:xfrm>
          <a:prstGeom prst="rect">
            <a:avLst/>
          </a:prstGeom>
          <a:noFill/>
        </p:spPr>
        <p:txBody>
          <a:bodyPr wrap="square" lIns="45720" rIns="45720" anchor="ctr">
            <a:noAutofit/>
          </a:bodyPr>
          <a:lstStyle/>
          <a:p>
            <a:pPr algn="l">
              <a:spcAft>
                <a:spcPts val="400"/>
              </a:spcAft>
              <a:buNone/>
            </a:pPr>
            <a:r>
              <a:rPr sz="2000" b="1" i="0">
                <a:solidFill>
                  <a:srgbClr val="E06206"/>
                </a:solidFill>
                <a:latin typeface="Segoe UI"/>
              </a:rPr>
              <a:t>Parade</a:t>
            </a:r>
          </a:p>
          <a:p>
            <a:pPr algn="l">
              <a:spcAft>
                <a:spcPts val="400"/>
              </a:spcAft>
              <a:buNone/>
            </a:pPr>
            <a:r>
              <a:rPr sz="2300" b="0" i="0">
                <a:solidFill>
                  <a:srgbClr val="002060"/>
                </a:solidFill>
                <a:latin typeface="Segoe UI"/>
              </a:rPr>
              <a:t>Légende et bibliothèque communes, revue transverse annuelle.</a:t>
            </a:r>
          </a:p>
        </p:txBody>
      </p:sp>
      <p:sp>
        <p:nvSpPr>
          <p:cNvPr id="60" name="Rounded Rectangle 59"/>
          <p:cNvSpPr/>
          <p:nvPr/>
        </p:nvSpPr>
        <p:spPr>
          <a:xfrm>
            <a:off x="12829032" y="7680960"/>
            <a:ext cx="10881360" cy="475488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61" name="Picture 60" descr="s6_Image_18.png"/>
          <p:cNvPicPr>
            <a:picLocks noChangeAspect="1"/>
          </p:cNvPicPr>
          <p:nvPr/>
        </p:nvPicPr>
        <p:blipFill>
          <a:blip r:embed="rId5"/>
          <a:stretch>
            <a:fillRect/>
          </a:stretch>
        </p:blipFill>
        <p:spPr>
          <a:xfrm>
            <a:off x="13149072" y="8001000"/>
            <a:ext cx="1175657" cy="1097280"/>
          </a:xfrm>
          <a:prstGeom prst="rect">
            <a:avLst/>
          </a:prstGeom>
        </p:spPr>
      </p:pic>
      <p:sp>
        <p:nvSpPr>
          <p:cNvPr id="62" name="TextBox 61"/>
          <p:cNvSpPr txBox="1"/>
          <p:nvPr/>
        </p:nvSpPr>
        <p:spPr>
          <a:xfrm>
            <a:off x="14657832" y="7955280"/>
            <a:ext cx="8778240" cy="1188720"/>
          </a:xfrm>
          <a:prstGeom prst="rect">
            <a:avLst/>
          </a:prstGeom>
          <a:noFill/>
        </p:spPr>
        <p:txBody>
          <a:bodyPr wrap="square" lIns="45720" rIns="45720" anchor="ctr">
            <a:noAutofit/>
          </a:bodyPr>
          <a:lstStyle/>
          <a:p>
            <a:pPr algn="l">
              <a:spcAft>
                <a:spcPts val="200"/>
              </a:spcAft>
              <a:buNone/>
            </a:pPr>
            <a:r>
              <a:rPr sz="2600" b="1" i="0">
                <a:solidFill>
                  <a:srgbClr val="002060"/>
                </a:solidFill>
                <a:latin typeface="Segoe UI"/>
              </a:rPr>
              <a:t>Doublon avec ROBIN</a:t>
            </a:r>
          </a:p>
          <a:p>
            <a:pPr algn="l">
              <a:spcAft>
                <a:spcPts val="400"/>
              </a:spcAft>
              <a:buNone/>
            </a:pPr>
            <a:r>
              <a:rPr sz="2000" b="0" i="1">
                <a:solidFill>
                  <a:srgbClr val="7F7F7F"/>
                </a:solidFill>
                <a:latin typeface="Segoe UI"/>
              </a:rPr>
              <a:t>Double saisie et informations divergentes.</a:t>
            </a:r>
          </a:p>
        </p:txBody>
      </p:sp>
      <p:sp>
        <p:nvSpPr>
          <p:cNvPr id="63" name="Rounded Rectangle 62"/>
          <p:cNvSpPr/>
          <p:nvPr/>
        </p:nvSpPr>
        <p:spPr>
          <a:xfrm>
            <a:off x="13149072" y="9464040"/>
            <a:ext cx="1024128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4" name="TextBox 63"/>
          <p:cNvSpPr txBox="1"/>
          <p:nvPr/>
        </p:nvSpPr>
        <p:spPr>
          <a:xfrm>
            <a:off x="13423392" y="9555480"/>
            <a:ext cx="9692640" cy="2468880"/>
          </a:xfrm>
          <a:prstGeom prst="rect">
            <a:avLst/>
          </a:prstGeom>
          <a:noFill/>
        </p:spPr>
        <p:txBody>
          <a:bodyPr wrap="square" lIns="45720" rIns="45720" anchor="ctr">
            <a:noAutofit/>
          </a:bodyPr>
          <a:lstStyle/>
          <a:p>
            <a:pPr algn="l">
              <a:spcAft>
                <a:spcPts val="400"/>
              </a:spcAft>
              <a:buNone/>
            </a:pPr>
            <a:r>
              <a:rPr sz="2000" b="1" i="0">
                <a:solidFill>
                  <a:srgbClr val="E06206"/>
                </a:solidFill>
                <a:latin typeface="Segoe UI"/>
              </a:rPr>
              <a:t>Parade</a:t>
            </a:r>
          </a:p>
          <a:p>
            <a:pPr algn="l">
              <a:spcAft>
                <a:spcPts val="400"/>
              </a:spcAft>
              <a:buNone/>
            </a:pPr>
            <a:r>
              <a:rPr sz="2300" b="0" i="0">
                <a:solidFill>
                  <a:srgbClr val="002060"/>
                </a:solidFill>
                <a:latin typeface="Segoe UI"/>
              </a:rPr>
              <a:t>ROBIN reste la source pour les codes et les dépendances ATEL ; seuls les compléments sont saisis.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Annexes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Corrections apportées aux drafts</a:t>
            </a:r>
          </a:p>
        </p:txBody>
      </p:sp>
      <p:sp>
        <p:nvSpPr>
          <p:cNvPr id="4" name="Text Placeholder 3"/>
          <p:cNvSpPr>
            <a:spLocks noGrp="1"/>
          </p:cNvSpPr>
          <p:nvPr>
            <p:ph type="body" idx="14" sz="quarter"/>
          </p:nvPr>
        </p:nvSpPr>
        <p:spPr/>
        <p:txBody>
          <a:bodyPr/>
          <a:lstStyle/>
          <a:p>
            <a:r>
              <a:t>Traçabilité des incohérences relevées lors de la fusion</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graphicFrame>
        <p:nvGraphicFramePr>
          <p:cNvPr id="45" name="Table 44"/>
          <p:cNvGraphicFramePr>
            <a:graphicFrameLocks noGrp="1"/>
          </p:cNvGraphicFramePr>
          <p:nvPr/>
        </p:nvGraphicFramePr>
        <p:xfrm>
          <a:off x="1673352" y="2788920"/>
          <a:ext cx="22037040" cy="9317736"/>
        </p:xfrm>
        <a:graphic>
          <a:graphicData uri="http://schemas.openxmlformats.org/drawingml/2006/table">
            <a:tbl>
              <a:tblPr firstRow="0" bandRow="0">
                <a:tableStyleId>{5940675A-B579-460E-94D1-54222C63F5DA}</a:tableStyleId>
              </a:tblPr>
              <a:tblGrid>
                <a:gridCol w="3017520"/>
                <a:gridCol w="11247120"/>
                <a:gridCol w="7772400"/>
              </a:tblGrid>
              <a:tr h="685800">
                <a:tc>
                  <a:txBody>
                    <a:bodyPr wrap="square" anchor="ctr">
                      <a:noAutofit/>
                    </a:bodyPr>
                    <a:lstStyle/>
                    <a:p>
                      <a:pPr algn="l">
                        <a:spcAft>
                          <a:spcPts val="0"/>
                        </a:spcAft>
                        <a:buNone/>
                      </a:pPr>
                      <a:r>
                        <a:rPr sz="2200" b="1" i="0">
                          <a:solidFill>
                            <a:srgbClr val="FFFFFF"/>
                          </a:solidFill>
                          <a:latin typeface="Segoe UI"/>
                        </a:rPr>
                        <a:t>Source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Constat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Traitement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r>
              <a:tr h="1078992">
                <a:tc>
                  <a:txBody>
                    <a:bodyPr wrap="square" anchor="ctr">
                      <a:noAutofit/>
                    </a:bodyPr>
                    <a:lstStyle/>
                    <a:p>
                      <a:pPr algn="l">
                        <a:spcAft>
                          <a:spcPts val="200"/>
                        </a:spcAft>
                        <a:buNone/>
                      </a:pPr>
                      <a:r>
                        <a:rPr sz="2000" b="1" i="0">
                          <a:solidFill>
                            <a:srgbClr val="002060"/>
                          </a:solidFill>
                          <a:latin typeface="Segoe UI"/>
                        </a:rPr>
                        <a:t>Doc 1</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000" b="0" i="0">
                          <a:solidFill>
                            <a:srgbClr val="404040"/>
                          </a:solidFill>
                          <a:latin typeface="Segoe UI"/>
                        </a:rPr>
                        <a:t>Sommaire non renseigné (« xxx »)</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2000" b="0" i="0">
                          <a:solidFill>
                            <a:srgbClr val="404040"/>
                          </a:solidFill>
                          <a:latin typeface="Segoe UI"/>
                        </a:rPr>
                        <a:t>Sommaire complété</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078992">
                <a:tc>
                  <a:txBody>
                    <a:bodyPr wrap="square" anchor="ctr">
                      <a:noAutofit/>
                    </a:bodyPr>
                    <a:lstStyle/>
                    <a:p>
                      <a:pPr algn="l">
                        <a:spcAft>
                          <a:spcPts val="200"/>
                        </a:spcAft>
                        <a:buNone/>
                      </a:pPr>
                      <a:r>
                        <a:rPr sz="2000" b="1" i="0">
                          <a:solidFill>
                            <a:srgbClr val="002060"/>
                          </a:solidFill>
                          <a:latin typeface="Segoe UI"/>
                        </a:rPr>
                        <a:t>Doc 1</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000" b="0" i="0">
                          <a:solidFill>
                            <a:srgbClr val="404040"/>
                          </a:solidFill>
                          <a:latin typeface="Segoe UI"/>
                        </a:rPr>
                        <a:t>Pied de page « Nadia – Dossier de pré-cadrage » hérité d’un autre dossier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2000" b="0" i="0">
                          <a:solidFill>
                            <a:srgbClr val="404040"/>
                          </a:solidFill>
                          <a:latin typeface="Segoe UI"/>
                        </a:rPr>
                        <a:t>Pied de page aligné sur le chantier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078992">
                <a:tc>
                  <a:txBody>
                    <a:bodyPr wrap="square" anchor="ctr">
                      <a:noAutofit/>
                    </a:bodyPr>
                    <a:lstStyle/>
                    <a:p>
                      <a:pPr algn="l">
                        <a:spcAft>
                          <a:spcPts val="200"/>
                        </a:spcAft>
                        <a:buNone/>
                      </a:pPr>
                      <a:r>
                        <a:rPr sz="2000" b="1" i="0">
                          <a:solidFill>
                            <a:srgbClr val="002060"/>
                          </a:solidFill>
                          <a:latin typeface="Segoe UI"/>
                        </a:rPr>
                        <a:t>Doc 1</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000" b="0" i="0">
                          <a:solidFill>
                            <a:srgbClr val="404040"/>
                          </a:solidFill>
                          <a:latin typeface="Segoe UI"/>
                        </a:rPr>
                        <a:t>Slide « Qui maintient, et à quel moment » dupliquée ; slides de fin redondantes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2000" b="0" i="0">
                          <a:solidFill>
                            <a:srgbClr val="404040"/>
                          </a:solidFill>
                          <a:latin typeface="Segoe UI"/>
                        </a:rPr>
                        <a:t>Dédoublonnage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078992">
                <a:tc>
                  <a:txBody>
                    <a:bodyPr wrap="square" anchor="ctr">
                      <a:noAutofit/>
                    </a:bodyPr>
                    <a:lstStyle/>
                    <a:p>
                      <a:pPr algn="l">
                        <a:spcAft>
                          <a:spcPts val="200"/>
                        </a:spcAft>
                        <a:buNone/>
                      </a:pPr>
                      <a:r>
                        <a:rPr sz="2000" b="1" i="0">
                          <a:solidFill>
                            <a:srgbClr val="002060"/>
                          </a:solidFill>
                          <a:latin typeface="Segoe UI"/>
                        </a:rPr>
                        <a:t>Doc 1 / Doc 2</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000" b="0" i="0">
                          <a:solidFill>
                            <a:srgbClr val="404040"/>
                          </a:solidFill>
                          <a:latin typeface="Segoe UI"/>
                        </a:rPr>
                        <a:t>Libellés « OCRF » et « OCR F » ; titre « Architecture fonctionnelle » alors que le périmètre est aussi applicatif</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2000" b="0" i="0">
                          <a:solidFill>
                            <a:srgbClr val="404040"/>
                          </a:solidFill>
                          <a:latin typeface="Segoe UI"/>
                        </a:rPr>
                        <a:t>Libellé unifié : architecture fonctionnelle et applicative de l’OCR F</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078992">
                <a:tc>
                  <a:txBody>
                    <a:bodyPr wrap="square" anchor="ctr">
                      <a:noAutofit/>
                    </a:bodyPr>
                    <a:lstStyle/>
                    <a:p>
                      <a:pPr algn="l">
                        <a:spcAft>
                          <a:spcPts val="200"/>
                        </a:spcAft>
                        <a:buNone/>
                      </a:pPr>
                      <a:r>
                        <a:rPr sz="2000" b="1" i="0">
                          <a:solidFill>
                            <a:srgbClr val="002060"/>
                          </a:solidFill>
                          <a:latin typeface="Segoe UI"/>
                        </a:rPr>
                        <a:t>Doc 2</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000" b="0" i="0">
                          <a:solidFill>
                            <a:srgbClr val="404040"/>
                          </a:solidFill>
                          <a:latin typeface="Segoe UI"/>
                        </a:rPr>
                        <a:t>Deux versions du template onepager (avec et sans difficultés et exemples clients)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2000" b="0" i="0">
                          <a:solidFill>
                            <a:srgbClr val="404040"/>
                          </a:solidFill>
                          <a:latin typeface="Segoe UI"/>
                        </a:rPr>
                        <a:t>Version complète retenue, enrichie en V1</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078992">
                <a:tc>
                  <a:txBody>
                    <a:bodyPr wrap="square" anchor="ctr">
                      <a:noAutofit/>
                    </a:bodyPr>
                    <a:lstStyle/>
                    <a:p>
                      <a:pPr algn="l">
                        <a:spcAft>
                          <a:spcPts val="200"/>
                        </a:spcAft>
                        <a:buNone/>
                      </a:pPr>
                      <a:r>
                        <a:rPr sz="2000" b="1" i="0">
                          <a:solidFill>
                            <a:srgbClr val="002060"/>
                          </a:solidFill>
                          <a:latin typeface="Segoe UI"/>
                        </a:rPr>
                        <a:t>Doc 2</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000" b="0" i="0">
                          <a:solidFill>
                            <a:srgbClr val="404040"/>
                          </a:solidFill>
                          <a:latin typeface="Segoe UI"/>
                        </a:rPr>
                        <a:t>Slide sur l’architecture technique sans titre ni mise en forme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2000" b="0" i="0">
                          <a:solidFill>
                            <a:srgbClr val="404040"/>
                          </a:solidFill>
                          <a:latin typeface="Segoe UI"/>
                        </a:rPr>
                        <a:t>Intégrée à la vue technique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078992">
                <a:tc>
                  <a:txBody>
                    <a:bodyPr wrap="square" anchor="ctr">
                      <a:noAutofit/>
                    </a:bodyPr>
                    <a:lstStyle/>
                    <a:p>
                      <a:pPr algn="l">
                        <a:spcAft>
                          <a:spcPts val="200"/>
                        </a:spcAft>
                        <a:buNone/>
                      </a:pPr>
                      <a:r>
                        <a:rPr sz="2000" b="1" i="0">
                          <a:solidFill>
                            <a:srgbClr val="002060"/>
                          </a:solidFill>
                          <a:latin typeface="Segoe UI"/>
                        </a:rPr>
                        <a:t>Doc 1 / Doc 2</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000" b="0" i="0">
                          <a:solidFill>
                            <a:srgbClr val="404040"/>
                          </a:solidFill>
                          <a:latin typeface="Segoe UI"/>
                        </a:rPr>
                        <a:t>Liberté des équipes contre règles communes indispensables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2000" b="0" i="0">
                          <a:solidFill>
                            <a:srgbClr val="404040"/>
                          </a:solidFill>
                          <a:latin typeface="Segoe UI"/>
                        </a:rPr>
                        <a:t>Arbitrage proposé : socle commun et liberté au-delà</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078992">
                <a:tc>
                  <a:txBody>
                    <a:bodyPr wrap="square" anchor="ctr">
                      <a:noAutofit/>
                    </a:bodyPr>
                    <a:lstStyle/>
                    <a:p>
                      <a:pPr algn="l">
                        <a:spcAft>
                          <a:spcPts val="200"/>
                        </a:spcAft>
                        <a:buNone/>
                      </a:pPr>
                      <a:r>
                        <a:rPr sz="2000" b="1" i="0">
                          <a:solidFill>
                            <a:srgbClr val="002060"/>
                          </a:solidFill>
                          <a:latin typeface="Segoe UI"/>
                        </a:rPr>
                        <a:t>Doc 1 / Doc 2</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000" b="0" i="0">
                          <a:solidFill>
                            <a:srgbClr val="404040"/>
                          </a:solidFill>
                          <a:latin typeface="Segoe UI"/>
                        </a:rPr>
                        <a:t>Outils d’annotation cités différemment (Sysweb ou SyoReaderReport)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2000" b="1" i="0">
                          <a:solidFill>
                            <a:srgbClr val="E7473D"/>
                          </a:solidFill>
                          <a:latin typeface="Segoe UI"/>
                        </a:rPr>
                        <a:t>À confirmer par les équipes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Exemple CADI</a:t>
            </a:r>
          </a:p>
        </p:txBody>
      </p:sp>
    </p:spTree>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KeywordTaxHTField xmlns="9da6f561-6c40-462f-af3e-6833fe74929f">
      <Terms xmlns="http://schemas.microsoft.com/office/infopath/2007/PartnerControls"/>
    </TaxKeywordTaxHTField>
    <e190d8c788134483bddf2fb4f7159d4b xmlns="8ff6ca53-9990-4cf6-aa9b-81190a5c5371">
      <Terms xmlns="http://schemas.microsoft.com/office/infopath/2007/PartnerControls">
        <TermInfo xmlns="http://schemas.microsoft.com/office/infopath/2007/PartnerControls">
          <TermName xmlns="http://schemas.microsoft.com/office/infopath/2007/PartnerControls">Document</TermName>
          <TermId xmlns="http://schemas.microsoft.com/office/infopath/2007/PartnerControls">f926a2be-6740-4577-ba49-e4b230c74a1c</TermId>
        </TermInfo>
      </Terms>
    </e190d8c788134483bddf2fb4f7159d4b>
    <l1bda498d0704770a9af2e7a0565edaa xmlns="8ff6ca53-9990-4cf6-aa9b-81190a5c5371">
      <Terms xmlns="http://schemas.microsoft.com/office/infopath/2007/PartnerControls">
        <TermInfo xmlns="http://schemas.microsoft.com/office/infopath/2007/PartnerControls">
          <TermName xmlns="http://schemas.microsoft.com/office/infopath/2007/PartnerControls">10 - Interne</TermName>
          <TermId xmlns="http://schemas.microsoft.com/office/infopath/2007/PartnerControls">88571201-3d77-41d7-bf2a-abb247897d97</TermId>
        </TermInfo>
      </Terms>
    </l1bda498d0704770a9af2e7a0565edaa>
    <IconOverlay xmlns="http://schemas.microsoft.com/sharepoint/v4" xsi:nil="true"/>
    <a9e56aaece9b46e58482a8eb4a8cc6ab xmlns="8ff6ca53-9990-4cf6-aa9b-81190a5c5371">
      <Terms xmlns="http://schemas.microsoft.com/office/infopath/2007/PartnerControls">
        <TermInfo xmlns="http://schemas.microsoft.com/office/infopath/2007/PartnerControls">
          <TermName xmlns="http://schemas.microsoft.com/office/infopath/2007/PartnerControls">OCDM</TermName>
          <TermId xmlns="http://schemas.microsoft.com/office/infopath/2007/PartnerControls">8955f7f1-8453-404e-bfde-7215dda84843</TermId>
        </TermInfo>
      </Terms>
    </a9e56aaece9b46e58482a8eb4a8cc6ab>
    <PublishingExpirationDate xmlns="http://schemas.microsoft.com/sharepoint/v3" xsi:nil="true"/>
    <PublishingStartDate xmlns="http://schemas.microsoft.com/sharepoint/v3" xsi:nil="true"/>
    <TaxCatchAll xmlns="9da6f561-6c40-462f-af3e-6833fe74929f">
      <Value>548</Value>
      <Value>1</Value>
      <Value>2</Value>
    </TaxCatchAll>
    <_dlc_DocId xmlns="9da6f561-6c40-462f-af3e-6833fe74929f">PJQFUVHKSAJQ-1373287592-275981</_dlc_DocId>
    <_dlc_DocIdUrl xmlns="9da6f561-6c40-462f-af3e-6833fe74929f">
      <Url>https://moss-si.cm-cic.fr/Sites/D00116/Documentation/_layouts/15/DocIdRedir.aspx?ID=PJQFUVHKSAJQ-1373287592-275981</Url>
      <Description>PJQFUVHKSAJQ-1373287592-275981</Description>
    </_dlc_DocIdUrl>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E2B8597FEB5E34494D505DA208C5F79" ma:contentTypeVersion="12" ma:contentTypeDescription="Crée un document." ma:contentTypeScope="" ma:versionID="9a955d830eb2036938b7573fab7ca669">
  <xsd:schema xmlns:xsd="http://www.w3.org/2001/XMLSchema" xmlns:xs="http://www.w3.org/2001/XMLSchema" xmlns:p="http://schemas.microsoft.com/office/2006/metadata/properties" xmlns:ns1="http://schemas.microsoft.com/sharepoint/v3" xmlns:ns2="9da6f561-6c40-462f-af3e-6833fe74929f" xmlns:ns3="8ff6ca53-9990-4cf6-aa9b-81190a5c5371" xmlns:ns4="99cee9d7-070e-44dd-ab97-3503062ab504" xmlns:ns5="http://schemas.microsoft.com/sharepoint/v4" targetNamespace="http://schemas.microsoft.com/office/2006/metadata/properties" ma:root="true" ma:fieldsID="8f4d48304bd6e109baf3a3f81bd2dacc" ns1:_="" ns2:_="" ns3:_="" ns4:_="" ns5:_="">
    <xsd:import namespace="http://schemas.microsoft.com/sharepoint/v3"/>
    <xsd:import namespace="9da6f561-6c40-462f-af3e-6833fe74929f"/>
    <xsd:import namespace="8ff6ca53-9990-4cf6-aa9b-81190a5c5371"/>
    <xsd:import namespace="99cee9d7-070e-44dd-ab97-3503062ab504"/>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2:TaxKeywordTaxHTField" minOccurs="0"/>
                <xsd:element ref="ns2:TaxCatchAll" minOccurs="0"/>
                <xsd:element ref="ns3:a9e56aaece9b46e58482a8eb4a8cc6ab" minOccurs="0"/>
                <xsd:element ref="ns3:e190d8c788134483bddf2fb4f7159d4b" minOccurs="0"/>
                <xsd:element ref="ns3:l1bda498d0704770a9af2e7a0565edaa" minOccurs="0"/>
                <xsd:element ref="ns1:PublishingStartDate" minOccurs="0"/>
                <xsd:element ref="ns1:PublishingExpirationDate" minOccurs="0"/>
                <xsd:element ref="ns4:SharedWithUsers" minOccurs="0"/>
                <xsd:element ref="ns5: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20"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21"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da6f561-6c40-462f-af3e-6833fe74929f" elementFormDefault="qualified">
    <xsd:import namespace="http://schemas.microsoft.com/office/2006/documentManagement/types"/>
    <xsd:import namespace="http://schemas.microsoft.com/office/infopath/2007/PartnerControls"/>
    <xsd:element name="_dlc_DocId" ma:index="8" nillable="true" ma:displayName="Valeur d’ID de document" ma:description="Valeur de l’ID de document affecté à cet élément." ma:internalName="_dlc_DocId" ma:readOnly="true">
      <xsd:simpleType>
        <xsd:restriction base="dms:Text"/>
      </xsd:simpleType>
    </xsd:element>
    <xsd:element name="_dlc_DocIdUrl" ma:index="9"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KeywordTaxHTField" ma:index="12" nillable="true" ma:taxonomy="true" ma:internalName="TaxKeywordTaxHTField" ma:taxonomyFieldName="TaxKeyword" ma:displayName="Mots clés d’entreprise" ma:fieldId="{23f27201-bee3-471e-b2e7-b64fd8b7ca38}" ma:taxonomyMulti="true" ma:sspId="f6b5f850-50cb-46d6-8dd8-bdb5aeee437c" ma:termSetId="00000000-0000-0000-0000-000000000000" ma:anchorId="00000000-0000-0000-0000-000000000000" ma:open="true" ma:isKeyword="true">
      <xsd:complexType>
        <xsd:sequence>
          <xsd:element ref="pc:Terms" minOccurs="0" maxOccurs="1"/>
        </xsd:sequence>
      </xsd:complexType>
    </xsd:element>
    <xsd:element name="TaxCatchAll" ma:index="13" nillable="true" ma:displayName="Taxonomy Catch All Column" ma:hidden="true" ma:list="{f6065c2a-1385-449e-acd3-90fec65b6338}" ma:internalName="TaxCatchAll" ma:showField="CatchAllData" ma:web="9da6f561-6c40-462f-af3e-6833fe74929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ff6ca53-9990-4cf6-aa9b-81190a5c5371" elementFormDefault="qualified">
    <xsd:import namespace="http://schemas.microsoft.com/office/2006/documentManagement/types"/>
    <xsd:import namespace="http://schemas.microsoft.com/office/infopath/2007/PartnerControls"/>
    <xsd:element name="a9e56aaece9b46e58482a8eb4a8cc6ab" ma:index="15" nillable="true" ma:taxonomy="true" ma:internalName="a9e56aaece9b46e58482a8eb4a8cc6ab" ma:taxonomyFieldName="ROBIN" ma:displayName="ROBIN" ma:indexed="true" ma:fieldId="{a9e56aae-ce9b-46e5-8482-a8eb4a8cc6ab}" ma:sspId="f6b5f850-50cb-46d6-8dd8-bdb5aeee437c" ma:termSetId="8519d0aa-f887-4b22-82ec-06f9900e4831" ma:anchorId="00000000-0000-0000-0000-000000000000" ma:open="false" ma:isKeyword="false">
      <xsd:complexType>
        <xsd:sequence>
          <xsd:element ref="pc:Terms" minOccurs="0" maxOccurs="1"/>
        </xsd:sequence>
      </xsd:complexType>
    </xsd:element>
    <xsd:element name="e190d8c788134483bddf2fb4f7159d4b" ma:index="17" ma:taxonomy="true" ma:internalName="e190d8c788134483bddf2fb4f7159d4b" ma:taxonomyFieldName="Nature_x0020_du_x0020_document" ma:displayName="Nature du document" ma:indexed="true" ma:fieldId="{e190d8c7-8813-4483-bddf-2fb4f7159d4b}" ma:sspId="f6b5f850-50cb-46d6-8dd8-bdb5aeee437c" ma:termSetId="8dbe4afc-678c-4167-a296-bde03c53c5ce" ma:anchorId="00000000-0000-0000-0000-000000000000" ma:open="false" ma:isKeyword="false">
      <xsd:complexType>
        <xsd:sequence>
          <xsd:element ref="pc:Terms" minOccurs="0" maxOccurs="1"/>
        </xsd:sequence>
      </xsd:complexType>
    </xsd:element>
    <xsd:element name="l1bda498d0704770a9af2e7a0565edaa" ma:index="19" ma:taxonomy="true" ma:internalName="l1bda498d0704770a9af2e7a0565edaa" ma:taxonomyFieldName="Classification" ma:displayName="Classification" ma:indexed="true" ma:fieldId="{51bda498-d070-4770-a9af-2e7a0565edaa}" ma:sspId="f6b5f850-50cb-46d6-8dd8-bdb5aeee437c" ma:termSetId="79a668a4-8950-49d8-972b-fe62befceb68"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9cee9d7-070e-44dd-ab97-3503062ab504" elementFormDefault="qualified">
    <xsd:import namespace="http://schemas.microsoft.com/office/2006/documentManagement/types"/>
    <xsd:import namespace="http://schemas.microsoft.com/office/infopath/2007/PartnerControls"/>
    <xsd:element name="SharedWithUsers" ma:index="2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3"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4B5CEC-C8C8-40AA-B6AE-607E208A68A9}">
  <ds:schemaRefs>
    <ds:schemaRef ds:uri="http://www.w3.org/XML/1998/namespace"/>
    <ds:schemaRef ds:uri="http://schemas.microsoft.com/office/2006/metadata/properties"/>
    <ds:schemaRef ds:uri="http://schemas.microsoft.com/office/infopath/2007/PartnerControls"/>
    <ds:schemaRef ds:uri="http://schemas.microsoft.com/office/2006/documentManagement/types"/>
    <ds:schemaRef ds:uri="http://schemas.microsoft.com/sharepoint/v4"/>
    <ds:schemaRef ds:uri="http://purl.org/dc/terms/"/>
    <ds:schemaRef ds:uri="http://schemas.microsoft.com/sharepoint/v3"/>
    <ds:schemaRef ds:uri="http://schemas.openxmlformats.org/package/2006/metadata/core-properties"/>
    <ds:schemaRef ds:uri="99cee9d7-070e-44dd-ab97-3503062ab504"/>
    <ds:schemaRef ds:uri="http://purl.org/dc/elements/1.1/"/>
    <ds:schemaRef ds:uri="8ff6ca53-9990-4cf6-aa9b-81190a5c5371"/>
    <ds:schemaRef ds:uri="9da6f561-6c40-462f-af3e-6833fe74929f"/>
    <ds:schemaRef ds:uri="http://purl.org/dc/dcmitype/"/>
  </ds:schemaRefs>
</ds:datastoreItem>
</file>

<file path=customXml/itemProps2.xml><?xml version="1.0" encoding="utf-8"?>
<ds:datastoreItem xmlns:ds="http://schemas.openxmlformats.org/officeDocument/2006/customXml" ds:itemID="{E9422C3B-75B6-40EA-8BF9-01829C59B6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da6f561-6c40-462f-af3e-6833fe74929f"/>
    <ds:schemaRef ds:uri="8ff6ca53-9990-4cf6-aa9b-81190a5c5371"/>
    <ds:schemaRef ds:uri="99cee9d7-070e-44dd-ab97-3503062ab504"/>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2BAA03-A600-4FE3-BD99-E53EBA2268B5}">
  <ds:schemaRefs>
    <ds:schemaRef ds:uri="http://schemas.microsoft.com/sharepoint/events"/>
  </ds:schemaRefs>
</ds:datastoreItem>
</file>

<file path=customXml/itemProps4.xml><?xml version="1.0" encoding="utf-8"?>
<ds:datastoreItem xmlns:ds="http://schemas.openxmlformats.org/officeDocument/2006/customXml" ds:itemID="{F1825C63-B403-4BB5-BF30-E1D3CA074A2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4418</TotalTime>
  <Words>2116</Words>
  <Application>Microsoft Office PowerPoint</Application>
  <PresentationFormat>Personnalisé</PresentationFormat>
  <Paragraphs>352</Paragraphs>
  <Slides>15</Slides>
  <Notes>9</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15</vt:i4>
      </vt:variant>
    </vt:vector>
  </HeadingPairs>
  <TitlesOfParts>
    <vt:vector size="22" baseType="lpstr">
      <vt:lpstr>Arial</vt:lpstr>
      <vt:lpstr>Calibri</vt:lpstr>
      <vt:lpstr>Segoe UI</vt:lpstr>
      <vt:lpstr>Segoe UI Light</vt:lpstr>
      <vt:lpstr>Wingdings</vt:lpstr>
      <vt:lpstr>Wingdings 3</vt:lpstr>
      <vt:lpstr>Thème Office</vt:lpstr>
      <vt:lpstr>Architecture fonctionnelle de l’OCR F Cadrage des besoins niv 2 et 3 Synthèse des entretiens REs</vt:lpstr>
      <vt:lpstr>Une architecture applicative et fonctionnelle de l’OCR F à 4 niveaux</vt:lpstr>
      <vt:lpstr>Entretiens avec les REs pendant l’été pour cadrer les besoins des niveaux 2 et 3 </vt:lpstr>
      <vt:lpstr>A quels cas d’usage cette documentation répond ?</vt:lpstr>
      <vt:lpstr>Qu’est ce qu’on a besoin de rendre visible dans la documentation ?</vt:lpstr>
      <vt:lpstr>Quelle solution envisager ?</vt:lpstr>
      <vt:lpstr>[nom de l’application]</vt:lpstr>
      <vt:lpstr>Présentation PowerPoint</vt:lpstr>
      <vt:lpstr>Qui met en œuvre et quand ?</vt:lpstr>
      <vt:lpstr>Exemples</vt:lpstr>
      <vt:lpstr>Briques fonctionnelles CADI</vt:lpstr>
      <vt:lpstr>Ecosystème CADI</vt:lpstr>
      <vt:lpstr>Ecosystème CADI</vt:lpstr>
      <vt:lpstr>[nom de l’application]</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DUPIN Hermione</dc:creator>
  <cp:lastModifiedBy>ISSOULGHANE Morad (PRESTA EXT)</cp:lastModifiedBy>
  <cp:revision>235</cp:revision>
  <dcterms:created xsi:type="dcterms:W3CDTF">2021-02-02T09:58:04Z</dcterms:created>
  <dcterms:modified xsi:type="dcterms:W3CDTF">2026-09-03T09:42:44Z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LastKnownPath">
    <vt:lpwstr>\\uf11-a01\ei_communication\00_STRATEGIE COMMUNICATION\Refonte Charte graphique\Modèle charte E-I 2021.pptx</vt:lpwstr>
  </property>
  <property fmtid="{D5CDD505-2E9C-101B-9397-08002B2CF9AE}" pid="3" name="ContentTypeId">
    <vt:lpwstr>0x010100BE2B8597FEB5E34494D505DA208C5F79</vt:lpwstr>
  </property>
  <property fmtid="{D5CDD505-2E9C-101B-9397-08002B2CF9AE}" pid="4" name="TaxKeyword">
    <vt:lpwstr/>
  </property>
  <property fmtid="{D5CDD505-2E9C-101B-9397-08002B2CF9AE}" pid="5" name="ROBIN">
    <vt:lpwstr>548;#OCDM|8955f7f1-8453-404e-bfde-7215dda84843</vt:lpwstr>
  </property>
  <property fmtid="{D5CDD505-2E9C-101B-9397-08002B2CF9AE}" pid="6" name="Classification">
    <vt:lpwstr>2;#10 - Interne|88571201-3d77-41d7-bf2a-abb247897d97</vt:lpwstr>
  </property>
  <property fmtid="{D5CDD505-2E9C-101B-9397-08002B2CF9AE}" pid="7" name="Nature du document">
    <vt:lpwstr>1;#Document|f926a2be-6740-4577-ba49-e4b230c74a1c</vt:lpwstr>
  </property>
  <property fmtid="{D5CDD505-2E9C-101B-9397-08002B2CF9AE}" pid="8" name="_dlc_DocIdItemGuid">
    <vt:lpwstr>f689b65a-ebd1-4509-8772-2d51387722aa</vt:lpwstr>
  </property>
</Properties>
</file>