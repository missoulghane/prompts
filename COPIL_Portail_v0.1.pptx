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76" r:id="rId6"/>
  </p:sldMasterIdLst>
  <p:notesMasterIdLst>
    <p:notesMasterId r:id="rId8"/>
  </p:notesMasterIdLst>
  <p:sldIdLst>
    <p:sldId id="288"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F68DCDE7-8DE5-4817-BDE0-19994DBFD137}">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3A8D"/>
    <a:srgbClr val="BF9000"/>
    <a:srgbClr val="C55A11"/>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79" autoAdjust="0"/>
    <p:restoredTop sz="93447" autoAdjust="0"/>
  </p:normalViewPr>
  <p:slideViewPr>
    <p:cSldViewPr snapToGrid="0">
      <p:cViewPr varScale="1">
        <p:scale>
          <a:sx n="103" d="100"/>
          <a:sy n="103" d="100"/>
        </p:scale>
        <p:origin x="96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100DA-EF6E-43A6-BE42-0328AC92E799}"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E3A16-A2CC-405A-BF79-D9EF9861C593}" type="slidenum">
              <a:rPr lang="fr-FR" smtClean="0"/>
              <a:t>‹N°›</a:t>
            </a:fld>
            <a:endParaRPr lang="fr-FR"/>
          </a:p>
        </p:txBody>
      </p:sp>
    </p:spTree>
    <p:extLst>
      <p:ext uri="{BB962C8B-B14F-4D97-AF65-F5344CB8AC3E}">
        <p14:creationId xmlns:p14="http://schemas.microsoft.com/office/powerpoint/2010/main" val="3472101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a:latin typeface="Calibri"/>
              </a:rPr>
              <a:t>[Accroche – 20 s] L’OCRF a déjà des capacités IA matures. Le sujet n’est pas d’en construire de nouvelles, mais de les rendre accessibles au reste de l’IT.</a:t>
            </a:r>
          </a:p>
          <a:p>
            <a:r>
              <a:rPr lang="fr-FR" sz="1200" dirty="0">
                <a:latin typeface="Calibri"/>
              </a:rPr>
              <a:t>[Constat – 30 s] Aujourd’hui l’accès se fait au cas par cas : sollicitations directes, intégrations point-à-point, un catalogue sous Excel. Résultat : des coûts et délais d’intégration optimisables, et un risque que d’autres secteurs EI redéveloppent l’existant.</a:t>
            </a:r>
          </a:p>
          <a:p>
            <a:r>
              <a:rPr lang="fr-FR" sz="1200" dirty="0">
                <a:latin typeface="Calibri"/>
              </a:rPr>
              <a:t>[Objectifs &amp; bénéfices – 40 s] Trois objectifs : exposer et APIser les services, permettre aux équipes IT de les explorer et tester en autonomie, et préparer l’agentique. Ce qu’on y gagne : une offre lisible, une intégration en mode catalogue plutôt qu’en mode projet, des contrats standard, un pilotage de la consommation et la réutilisation des modèles.</a:t>
            </a:r>
          </a:p>
          <a:p>
            <a:r>
              <a:rPr lang="fr-FR" sz="1200" dirty="0">
                <a:latin typeface="Calibri"/>
              </a:rPr>
              <a:t>[Trajectoire – 45 s] Quatre chantiers, chacun avec un pilote : le catalogue (H510), l’APIsation REST (chaque équipe owner), le portail (pilote à confirmer entre H630, H580 et H620), l’outillage API (à définir avec la CF et l’Innovation Factory). Le déroulé se fait par lots : on commence par les services déjà APIsés.</a:t>
            </a:r>
          </a:p>
          <a:p>
            <a:r>
              <a:rPr lang="fr-FR" sz="1200" dirty="0">
                <a:latin typeface="Calibri"/>
              </a:rPr>
              <a:t>[Prochaines étapes – 30 s] Ce que nous demandons : valider les chantiers et leur découpage, la priorisation des services, les équipes et pilotes, puis lancer les cadrages des chantiers 1, 2 et 3 avec un suivi transverse.</a:t>
            </a:r>
          </a:p>
          <a:p>
            <a:r>
              <a:rPr lang="fr-FR" sz="1200" dirty="0">
                <a:latin typeface="Calibri"/>
              </a:rPr>
              <a:t>[Vigilance – 20 s] Quatre points seront instruits en cadrage : adhérences avec la CF, faisabilité du bac à sable, règles de gestion (quotas, refacturation, niveaux de service), gouvernance et Operating Model.</a:t>
            </a:r>
          </a:p>
          <a:p>
            <a:r>
              <a:rPr lang="fr-FR" sz="1200" dirty="0">
                <a:latin typeface="Calibri"/>
              </a:rPr>
              <a:t>[Conclusion] Demander explicitement le « go » pour lancer les cadrages 1 à 3.</a:t>
            </a: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1</a:t>
            </a:fld>
            <a:endParaRPr lang="fr-FR"/>
          </a:p>
        </p:txBody>
      </p:sp>
    </p:spTree>
    <p:extLst>
      <p:ext uri="{BB962C8B-B14F-4D97-AF65-F5344CB8AC3E}">
        <p14:creationId xmlns:p14="http://schemas.microsoft.com/office/powerpoint/2010/main" val="26298065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endParaRPr lang="en-US" dirty="0"/>
          </a:p>
        </p:txBody>
      </p:sp>
      <p:sp>
        <p:nvSpPr>
          <p:cNvPr id="9" name="Rectangle 13"/>
          <p:cNvSpPr/>
          <p:nvPr userDrawn="1"/>
        </p:nvSpPr>
        <p:spPr>
          <a:xfrm>
            <a:off x="4880008" y="3858688"/>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10" y="6307275"/>
            <a:ext cx="531475" cy="274695"/>
          </a:xfrm>
          <a:prstGeom prst="rect">
            <a:avLst/>
          </a:prstGeom>
        </p:spPr>
      </p:pic>
    </p:spTree>
    <p:extLst>
      <p:ext uri="{BB962C8B-B14F-4D97-AF65-F5344CB8AC3E}">
        <p14:creationId xmlns:p14="http://schemas.microsoft.com/office/powerpoint/2010/main" val="3523622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43365310"/>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IP)">
    <p:bg>
      <p:bgPr>
        <a:solidFill>
          <a:srgbClr val="003A8D"/>
        </a:solidFill>
        <a:effectLst/>
      </p:bgPr>
    </p:bg>
    <p:spTree>
      <p:nvGrpSpPr>
        <p:cNvPr id="1" name=""/>
        <p:cNvGrpSpPr/>
        <p:nvPr/>
      </p:nvGrpSpPr>
      <p:grpSpPr>
        <a:xfrm>
          <a:off x="0" y="0"/>
          <a:ext cx="0" cy="0"/>
          <a:chOff x="0" y="0"/>
          <a:chExt cx="0" cy="0"/>
        </a:xfrm>
      </p:grpSpPr>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4"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5"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00463036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119570270"/>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2 colonnes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6" name="Espace réservé du texte 5"/>
          <p:cNvSpPr>
            <a:spLocks noGrp="1"/>
          </p:cNvSpPr>
          <p:nvPr>
            <p:ph type="body" sz="quarter" idx="15"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0"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3" name="Espace réservé du texte 3"/>
          <p:cNvSpPr>
            <a:spLocks noGrp="1"/>
          </p:cNvSpPr>
          <p:nvPr>
            <p:ph type="body" sz="quarter" idx="16"/>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410802727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8" y="3515521"/>
            <a:ext cx="10933641"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814422790"/>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IP)">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5" y="3515521"/>
            <a:ext cx="10941844"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35745239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24" name="Espace réservé du pied de page 4"/>
          <p:cNvSpPr>
            <a:spLocks noGrp="1"/>
          </p:cNvSpPr>
          <p:nvPr>
            <p:ph type="ftr" sz="quarter" idx="11"/>
          </p:nvPr>
        </p:nvSpPr>
        <p:spPr>
          <a:xfrm>
            <a:off x="4648201"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2"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744012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PIP)">
    <p:bg>
      <p:bgPr>
        <a:solidFill>
          <a:srgbClr val="003A8D"/>
        </a:solidFill>
        <a:effectLst/>
      </p:bgPr>
    </p:bg>
    <p:spTree>
      <p:nvGrpSpPr>
        <p:cNvPr id="1" name=""/>
        <p:cNvGrpSpPr/>
        <p:nvPr/>
      </p:nvGrpSpPr>
      <p:grpSpPr>
        <a:xfrm>
          <a:off x="0" y="0"/>
          <a:ext cx="0" cy="0"/>
          <a:chOff x="0" y="0"/>
          <a:chExt cx="0" cy="0"/>
        </a:xfrm>
      </p:grpSpPr>
      <p:grpSp>
        <p:nvGrpSpPr>
          <p:cNvPr id="35" name="Groupe 34"/>
          <p:cNvGrpSpPr/>
          <p:nvPr userDrawn="1"/>
        </p:nvGrpSpPr>
        <p:grpSpPr>
          <a:xfrm>
            <a:off x="62153" y="6153414"/>
            <a:ext cx="630000" cy="630000"/>
            <a:chOff x="11254317" y="5942649"/>
            <a:chExt cx="630000" cy="630000"/>
          </a:xfrm>
        </p:grpSpPr>
        <p:sp>
          <p:nvSpPr>
            <p:cNvPr id="36"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37" name="Image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55"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56" name="Espace réservé du pied de page 4"/>
          <p:cNvSpPr>
            <a:spLocks noGrp="1"/>
          </p:cNvSpPr>
          <p:nvPr>
            <p:ph type="ftr" sz="quarter" idx="11"/>
          </p:nvPr>
        </p:nvSpPr>
        <p:spPr>
          <a:xfrm>
            <a:off x="4648203" y="6443131"/>
            <a:ext cx="7264401"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6"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577373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5"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0"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63095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vide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0" name="Imag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21000" cy="225426"/>
          </a:xfrm>
          <a:prstGeom prst="rect">
            <a:avLst/>
          </a:prstGeom>
        </p:spPr>
        <p:txBody>
          <a:bodyPr anchor="ctr"/>
          <a:lstStyle>
            <a:lvl1pPr>
              <a:defRPr lang="fr-FR" sz="900" kern="1200" spc="150" dirty="0" smtClean="0">
                <a:solidFill>
                  <a:srgbClr val="003A8D"/>
                </a:solidFill>
                <a:latin typeface="Segoe UI" panose="020B0502040204020203" pitchFamily="34" charset="0"/>
                <a:ea typeface="+mn-ea"/>
                <a:cs typeface="Segoe UI" panose="020B0502040204020203" pitchFamily="34" charset="0"/>
              </a:defRPr>
            </a:lvl1pPr>
          </a:lstStyle>
          <a:p>
            <a:r>
              <a:rPr lang="fr-FR"/>
              <a:t>Atterrissage Alexandrie - Gouvernance et Organisation</a:t>
            </a:r>
            <a:endParaRPr/>
          </a:p>
        </p:txBody>
      </p:sp>
      <p:sp>
        <p:nvSpPr>
          <p:cNvPr id="21"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3"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8"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988982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dirty="0"/>
              <a:t>Modifiez le style du titre</a:t>
            </a:r>
          </a:p>
        </p:txBody>
      </p:sp>
    </p:spTree>
    <p:extLst>
      <p:ext uri="{BB962C8B-B14F-4D97-AF65-F5344CB8AC3E}">
        <p14:creationId xmlns:p14="http://schemas.microsoft.com/office/powerpoint/2010/main" val="3058598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dirty="0"/>
              <a:t>Modifiez le style du titre</a:t>
            </a:r>
          </a:p>
        </p:txBody>
      </p:sp>
    </p:spTree>
    <p:extLst>
      <p:ext uri="{BB962C8B-B14F-4D97-AF65-F5344CB8AC3E}">
        <p14:creationId xmlns:p14="http://schemas.microsoft.com/office/powerpoint/2010/main" val="2322462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pitre image">
    <p:bg>
      <p:bgPr>
        <a:solidFill>
          <a:srgbClr val="003A8D"/>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7262446"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2" name="Titre 1"/>
          <p:cNvSpPr>
            <a:spLocks noGrp="1"/>
          </p:cNvSpPr>
          <p:nvPr>
            <p:ph type="title"/>
          </p:nvPr>
        </p:nvSpPr>
        <p:spPr>
          <a:xfrm>
            <a:off x="7603067" y="1384304"/>
            <a:ext cx="4485216" cy="2362199"/>
          </a:xfrm>
          <a:prstGeom prst="rect">
            <a:avLst/>
          </a:prstGeom>
        </p:spPr>
        <p:txBody>
          <a:bodyPr anchor="b">
            <a:normAutofit/>
          </a:bodyPr>
          <a:lstStyle>
            <a:lvl1pPr algn="l">
              <a:defRPr sz="5500">
                <a:solidFill>
                  <a:schemeClr val="bg1"/>
                </a:solidFill>
              </a:defRPr>
            </a:lvl1pPr>
          </a:lstStyle>
          <a:p>
            <a:r>
              <a:rPr lang="fr-FR" dirty="0"/>
              <a:t>Modifiez le style du titre</a:t>
            </a:r>
          </a:p>
        </p:txBody>
      </p:sp>
      <p:sp>
        <p:nvSpPr>
          <p:cNvPr id="5" name="Rectangle 4"/>
          <p:cNvSpPr/>
          <p:nvPr userDrawn="1"/>
        </p:nvSpPr>
        <p:spPr>
          <a:xfrm>
            <a:off x="9128846" y="3848103"/>
            <a:ext cx="2891704" cy="46893"/>
          </a:xfrm>
          <a:prstGeom prst="rect">
            <a:avLst/>
          </a:prstGeom>
          <a:solidFill>
            <a:schemeClr val="bg1">
              <a:alpha val="9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Tree>
    <p:extLst>
      <p:ext uri="{BB962C8B-B14F-4D97-AF65-F5344CB8AC3E}">
        <p14:creationId xmlns:p14="http://schemas.microsoft.com/office/powerpoint/2010/main" val="3956929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9" name="Rectangle à coins arrondis 8"/>
          <p:cNvSpPr/>
          <p:nvPr userDrawn="1"/>
        </p:nvSpPr>
        <p:spPr>
          <a:xfrm>
            <a:off x="266700" y="190501"/>
            <a:ext cx="11658600" cy="5549900"/>
          </a:xfrm>
          <a:prstGeom prst="roundRect">
            <a:avLst>
              <a:gd name="adj" fmla="val 3479"/>
            </a:avLst>
          </a:prstGeom>
          <a:solidFill>
            <a:srgbClr val="003A8D">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re 1"/>
          <p:cNvSpPr>
            <a:spLocks noGrp="1"/>
          </p:cNvSpPr>
          <p:nvPr>
            <p:ph type="ctrTitle" hasCustomPrompt="1"/>
          </p:nvPr>
        </p:nvSpPr>
        <p:spPr>
          <a:xfrm>
            <a:off x="4800600" y="1471085"/>
            <a:ext cx="6400800" cy="2387600"/>
          </a:xfrm>
          <a:prstGeom prst="rect">
            <a:avLst/>
          </a:prstGeom>
        </p:spPr>
        <p:txBody>
          <a:bodyPr anchor="b"/>
          <a:lstStyle>
            <a:lvl1pPr algn="l">
              <a:defRPr sz="6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4772" y="6152708"/>
            <a:ext cx="1969397" cy="247164"/>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99241" y="6126109"/>
            <a:ext cx="693258" cy="358313"/>
          </a:xfrm>
          <a:prstGeom prst="rect">
            <a:avLst/>
          </a:prstGeom>
        </p:spPr>
      </p:pic>
    </p:spTree>
    <p:extLst>
      <p:ext uri="{BB962C8B-B14F-4D97-AF65-F5344CB8AC3E}">
        <p14:creationId xmlns:p14="http://schemas.microsoft.com/office/powerpoint/2010/main" val="1756363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700" y="190501"/>
            <a:ext cx="11659455" cy="5549901"/>
          </a:xfrm>
          <a:prstGeom prst="rect">
            <a:avLst/>
          </a:prstGeom>
        </p:spPr>
      </p:pic>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9" name="Rectangle 13"/>
          <p:cNvSpPr/>
          <p:nvPr userDrawn="1"/>
        </p:nvSpPr>
        <p:spPr>
          <a:xfrm>
            <a:off x="4880008" y="3858686"/>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5" y="5805721"/>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07" y="6307272"/>
            <a:ext cx="531475" cy="274695"/>
          </a:xfrm>
          <a:prstGeom prst="rect">
            <a:avLst/>
          </a:prstGeom>
        </p:spPr>
      </p:pic>
    </p:spTree>
    <p:extLst>
      <p:ext uri="{BB962C8B-B14F-4D97-AF65-F5344CB8AC3E}">
        <p14:creationId xmlns:p14="http://schemas.microsoft.com/office/powerpoint/2010/main" val="3009374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172750918"/>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2314374591"/>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33641"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529653675"/>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4648200"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12"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Tree>
    <p:extLst>
      <p:ext uri="{BB962C8B-B14F-4D97-AF65-F5344CB8AC3E}">
        <p14:creationId xmlns:p14="http://schemas.microsoft.com/office/powerpoint/2010/main" val="2294287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20"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2886674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1174611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endParaRPr lang="fr-FR" dirty="0"/>
          </a:p>
        </p:txBody>
      </p:sp>
    </p:spTree>
    <p:extLst>
      <p:ext uri="{BB962C8B-B14F-4D97-AF65-F5344CB8AC3E}">
        <p14:creationId xmlns:p14="http://schemas.microsoft.com/office/powerpoint/2010/main" val="3978373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3"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5" name="Espace réservé du numéro de diapositive 5"/>
          <p:cNvSpPr>
            <a:spLocks noGrp="1"/>
          </p:cNvSpPr>
          <p:nvPr>
            <p:ph type="sldNum" sz="quarter" idx="4"/>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7876364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0"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5" name="Espace réservé du numéro de diapositive 5"/>
          <p:cNvSpPr>
            <a:spLocks noGrp="1"/>
          </p:cNvSpPr>
          <p:nvPr>
            <p:ph type="sldNum" sz="quarter" idx="4"/>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224549937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Lst>
  <p:hf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DF8-50A6-3127-AAFB-9FAA76D74D9B}"/>
            </a:ext>
          </a:extLst>
        </p:cNvPr>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800" dirty="0"/>
              <a:t>NADIA — Mise à disposition des services OCRF</a:t>
            </a:r>
          </a:p>
        </p:txBody>
      </p:sp>
      <p:sp>
        <p:nvSpPr>
          <p:cNvPr id="3" name="Sous-titre"/>
          <p:cNvSpPr>
            <a:spLocks noGrp="1"/>
          </p:cNvSpPr>
          <p:nvPr>
            <p:ph type="body" sz="quarter" idx="14"/>
          </p:nvPr>
        </p:nvSpPr>
        <p:spPr>
          <a:xfrm>
            <a:off x="836377" y="860000"/>
            <a:ext cx="10895375" cy="352957"/>
          </a:xfrm>
        </p:spPr>
        <p:txBody>
          <a:bodyPr>
            <a:noAutofit/>
          </a:bodyPr>
          <a:lstStyle/>
          <a:p>
            <a:r>
              <a:rPr lang="fr-FR" sz="1400" b="1" dirty="0"/>
              <a:t>Passer d’un accès ad hoc à un mode libre service : exposer, APIser, outiller, préparer l’agentique</a:t>
            </a:r>
          </a:p>
        </p:txBody>
      </p:sp>
      <p:sp>
        <p:nvSpPr>
          <p:cNvPr id="4" name="Pied de page"/>
          <p:cNvSpPr>
            <a:spLocks noGrp="1"/>
          </p:cNvSpPr>
          <p:nvPr>
            <p:ph type="ftr" sz="quarter" idx="11"/>
          </p:nvPr>
        </p:nvSpPr>
        <p:spPr/>
        <p:txBody>
          <a:bodyPr/>
          <a:lstStyle/>
          <a:p>
            <a:r>
              <a:rPr lang="fr-FR" dirty="0"/>
              <a:t>Nadia – One-slider COPIL – Pré-cadrage v0.7</a:t>
            </a:r>
          </a:p>
        </p:txBody>
      </p:sp>
      <p:sp>
        <p:nvSpPr>
          <p:cNvPr id="11" name="Shape 11"/>
          <p:cNvSpPr/>
          <p:nvPr/>
        </p:nvSpPr>
        <p:spPr>
          <a:xfrm>
            <a:off x="600000" y="1280000"/>
            <a:ext cx="3630584" cy="1720000"/>
          </a:xfrm>
          <a:prstGeom prst="roundRect">
            <a:avLst>
              <a:gd name="adj" fmla="val 3509"/>
            </a:avLst>
          </a:prstGeom>
          <a:solidFill>
            <a:srgbClr val="F4F7FB"/>
          </a:solidFill>
          <a:ln>
            <a:noFill/>
          </a:ln>
        </p:spPr>
        <p:txBody>
          <a:bodyPr wrap="none" lIns="0" tIns="0" rIns="0" bIns="0" anchor="ctr"/>
          <a:lstStyle/>
          <a:p>
            <a:endParaRPr lang="fr-FR"/>
          </a:p>
        </p:txBody>
      </p:sp>
      <p:sp>
        <p:nvSpPr>
          <p:cNvPr id="12" name="Shape 12"/>
          <p:cNvSpPr/>
          <p:nvPr/>
        </p:nvSpPr>
        <p:spPr>
          <a:xfrm>
            <a:off x="780000" y="1410000"/>
            <a:ext cx="380000" cy="380000"/>
          </a:xfrm>
          <a:prstGeom prst="ellipse">
            <a:avLst/>
          </a:prstGeom>
          <a:solidFill>
            <a:srgbClr val="1C7293"/>
          </a:solidFill>
          <a:ln>
            <a:noFill/>
          </a:ln>
        </p:spPr>
        <p:txBody>
          <a:bodyPr wrap="none" lIns="0" tIns="0" rIns="0" bIns="0" anchor="ctr"/>
          <a:lstStyle/>
          <a:p>
            <a:endParaRPr lang="fr-FR"/>
          </a:p>
        </p:txBody>
      </p:sp>
      <p:pic>
        <p:nvPicPr>
          <p:cNvPr id="13" name="Icon 13" descr="icône"/>
          <p:cNvPicPr>
            <a:picLocks noChangeAspect="1"/>
          </p:cNvPicPr>
          <p:nvPr/>
        </p:nvPicPr>
        <p:blipFill>
          <a:blip r:embed="rId3"/>
          <a:stretch>
            <a:fillRect/>
          </a:stretch>
        </p:blipFill>
        <p:spPr>
          <a:xfrm>
            <a:off x="871200" y="1501200"/>
            <a:ext cx="197600" cy="197600"/>
          </a:xfrm>
          <a:prstGeom prst="rect">
            <a:avLst/>
          </a:prstGeom>
        </p:spPr>
      </p:pic>
      <p:sp>
        <p:nvSpPr>
          <p:cNvPr id="14" name="Text 14"/>
          <p:cNvSpPr txBox="1"/>
          <p:nvPr/>
        </p:nvSpPr>
        <p:spPr>
          <a:xfrm>
            <a:off x="1280000" y="1410000"/>
            <a:ext cx="3000000" cy="38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300" b="1" dirty="0">
                <a:solidFill>
                  <a:srgbClr val="21295C"/>
                </a:solidFill>
                <a:latin typeface="Segoe UI" panose="020B0502040204020203" pitchFamily="34" charset="0"/>
                <a:ea typeface="Calibri" pitchFamily="34" charset="-122"/>
                <a:cs typeface="Segoe UI" panose="020B0502040204020203" pitchFamily="34" charset="0"/>
              </a:rPr>
              <a:t>Constat &amp; enjeux</a:t>
            </a:r>
          </a:p>
        </p:txBody>
      </p:sp>
      <p:sp>
        <p:nvSpPr>
          <p:cNvPr id="15" name="Text 15"/>
          <p:cNvSpPr txBox="1"/>
          <p:nvPr/>
        </p:nvSpPr>
        <p:spPr>
          <a:xfrm>
            <a:off x="780000" y="1880000"/>
            <a:ext cx="3270584" cy="1040000"/>
          </a:xfrm>
          <a:prstGeom prst="rect">
            <a:avLst/>
          </a:prstGeom>
          <a:noFill/>
          <a:ln/>
        </p:spPr>
        <p:txBody>
          <a:bodyPr wrap="square" lIns="0" tIns="0" rIns="0" bIns="0" rtlCol="0" anchor="t">
            <a:noAutofit/>
          </a:bodyPr>
          <a:lstStyle/>
          <a:p>
            <a:pPr marL="0" indent="0" algn="l">
              <a:lnSpc>
                <a:spcPct val="100000"/>
              </a:lnSpc>
              <a:spcAft>
                <a:spcPts val="400"/>
              </a:spcAft>
              <a:buNone/>
            </a:pPr>
            <a:r>
              <a:rPr lang="fr-FR" sz="1000" dirty="0">
                <a:solidFill>
                  <a:srgbClr val="1B2433"/>
                </a:solidFill>
                <a:latin typeface="Segoe UI" panose="020B0502040204020203" pitchFamily="34" charset="0"/>
                <a:ea typeface="Calibri" pitchFamily="34" charset="-122"/>
                <a:cs typeface="Segoe UI" panose="020B0502040204020203" pitchFamily="34" charset="0"/>
              </a:rPr>
              <a:t>Capacités IA (ML / GenAI), algorithmiques et humaines </a:t>
            </a:r>
            <a:r>
              <a:rPr lang="fr-FR" sz="1000" b="1" dirty="0">
                <a:solidFill>
                  <a:srgbClr val="1B2433"/>
                </a:solidFill>
                <a:latin typeface="Segoe UI" panose="020B0502040204020203" pitchFamily="34" charset="0"/>
                <a:ea typeface="Calibri" pitchFamily="34" charset="-122"/>
                <a:cs typeface="Segoe UI" panose="020B0502040204020203" pitchFamily="34" charset="0"/>
              </a:rPr>
              <a:t>matures</a:t>
            </a:r>
            <a:r>
              <a:rPr lang="fr-FR" sz="1000" dirty="0">
                <a:solidFill>
                  <a:srgbClr val="1B2433"/>
                </a:solidFill>
                <a:latin typeface="Segoe UI" panose="020B0502040204020203" pitchFamily="34" charset="0"/>
                <a:ea typeface="Calibri" pitchFamily="34" charset="-122"/>
                <a:cs typeface="Segoe UI" panose="020B0502040204020203" pitchFamily="34" charset="0"/>
              </a:rPr>
              <a:t>, mais un accès </a:t>
            </a:r>
            <a:r>
              <a:rPr lang="fr-FR" sz="1000" b="1" dirty="0">
                <a:solidFill>
                  <a:srgbClr val="1B2433"/>
                </a:solidFill>
                <a:latin typeface="Segoe UI" panose="020B0502040204020203" pitchFamily="34" charset="0"/>
                <a:ea typeface="Calibri" pitchFamily="34" charset="-122"/>
                <a:cs typeface="Segoe UI" panose="020B0502040204020203" pitchFamily="34" charset="0"/>
              </a:rPr>
              <a:t>ad hoc</a:t>
            </a:r>
            <a:r>
              <a:rPr lang="fr-FR" sz="1000" dirty="0">
                <a:solidFill>
                  <a:srgbClr val="1B2433"/>
                </a:solidFill>
                <a:latin typeface="Segoe UI" panose="020B0502040204020203" pitchFamily="34" charset="0"/>
                <a:ea typeface="Calibri" pitchFamily="34" charset="-122"/>
                <a:cs typeface="Segoe UI" panose="020B0502040204020203" pitchFamily="34" charset="0"/>
              </a:rPr>
              <a:t> pour les autres équipes IT (point-à-point).</a:t>
            </a:r>
          </a:p>
          <a:p>
            <a:pPr marL="137160" indent="-137160" algn="l">
              <a:lnSpc>
                <a:spcPct val="100000"/>
              </a:lnSpc>
              <a:spcAft>
                <a:spcPts val="100"/>
              </a:spcAft>
              <a:buClr>
                <a:srgbClr val="F2A516"/>
              </a:buClr>
              <a:buFont typeface="Arial"/>
              <a:buChar char="•"/>
            </a:pPr>
            <a:r>
              <a:rPr lang="fr-FR" sz="1000" dirty="0">
                <a:solidFill>
                  <a:srgbClr val="1B2433"/>
                </a:solidFill>
                <a:latin typeface="Segoe UI" panose="020B0502040204020203" pitchFamily="34" charset="0"/>
                <a:ea typeface="Calibri" pitchFamily="34" charset="-122"/>
                <a:cs typeface="Segoe UI" panose="020B0502040204020203" pitchFamily="34" charset="0"/>
              </a:rPr>
              <a:t>Coûts et délais d’intégration optimisables</a:t>
            </a:r>
          </a:p>
          <a:p>
            <a:pPr marL="137160" indent="-137160" algn="l">
              <a:lnSpc>
                <a:spcPct val="100000"/>
              </a:lnSpc>
              <a:spcAft>
                <a:spcPts val="100"/>
              </a:spcAft>
              <a:buClr>
                <a:srgbClr val="F2A516"/>
              </a:buClr>
              <a:buFont typeface="Arial"/>
              <a:buChar char="•"/>
            </a:pPr>
            <a:r>
              <a:rPr lang="fr-FR" sz="1000" dirty="0">
                <a:solidFill>
                  <a:srgbClr val="1B2433"/>
                </a:solidFill>
                <a:latin typeface="Segoe UI" panose="020B0502040204020203" pitchFamily="34" charset="0"/>
                <a:ea typeface="Calibri" pitchFamily="34" charset="-122"/>
                <a:cs typeface="Segoe UI" panose="020B0502040204020203" pitchFamily="34" charset="0"/>
              </a:rPr>
              <a:t>Catalogue limité à un fichier Excel, peu visible</a:t>
            </a:r>
          </a:p>
          <a:p>
            <a:pPr marL="137160" indent="-137160" algn="l">
              <a:lnSpc>
                <a:spcPct val="100000"/>
              </a:lnSpc>
              <a:spcAft>
                <a:spcPts val="0"/>
              </a:spcAft>
              <a:buClr>
                <a:srgbClr val="F2A516"/>
              </a:buClr>
              <a:buFont typeface="Arial"/>
              <a:buChar char="•"/>
            </a:pPr>
            <a:r>
              <a:rPr lang="fr-FR" sz="1000" dirty="0">
                <a:solidFill>
                  <a:srgbClr val="1B2433"/>
                </a:solidFill>
                <a:latin typeface="Segoe UI" panose="020B0502040204020203" pitchFamily="34" charset="0"/>
                <a:ea typeface="Calibri" pitchFamily="34" charset="-122"/>
                <a:cs typeface="Segoe UI" panose="020B0502040204020203" pitchFamily="34" charset="0"/>
              </a:rPr>
              <a:t>Risque de doublons entre secteurs EI</a:t>
            </a:r>
          </a:p>
        </p:txBody>
      </p:sp>
      <p:sp>
        <p:nvSpPr>
          <p:cNvPr id="16" name="Shape 16"/>
          <p:cNvSpPr/>
          <p:nvPr/>
        </p:nvSpPr>
        <p:spPr>
          <a:xfrm>
            <a:off x="4350584" y="1280000"/>
            <a:ext cx="3630584" cy="1720000"/>
          </a:xfrm>
          <a:prstGeom prst="roundRect">
            <a:avLst>
              <a:gd name="adj" fmla="val 3509"/>
            </a:avLst>
          </a:prstGeom>
          <a:solidFill>
            <a:srgbClr val="21295C"/>
          </a:solidFill>
          <a:ln>
            <a:noFill/>
          </a:ln>
        </p:spPr>
        <p:txBody>
          <a:bodyPr wrap="none" lIns="0" tIns="0" rIns="0" bIns="0" anchor="ctr"/>
          <a:lstStyle/>
          <a:p>
            <a:endParaRPr lang="fr-FR"/>
          </a:p>
        </p:txBody>
      </p:sp>
      <p:sp>
        <p:nvSpPr>
          <p:cNvPr id="17" name="Shape 17"/>
          <p:cNvSpPr/>
          <p:nvPr/>
        </p:nvSpPr>
        <p:spPr>
          <a:xfrm>
            <a:off x="4530584" y="1410000"/>
            <a:ext cx="380000" cy="380000"/>
          </a:xfrm>
          <a:prstGeom prst="ellipse">
            <a:avLst/>
          </a:prstGeom>
          <a:solidFill>
            <a:srgbClr val="F2A516"/>
          </a:solidFill>
          <a:ln>
            <a:noFill/>
          </a:ln>
        </p:spPr>
        <p:txBody>
          <a:bodyPr wrap="none" lIns="0" tIns="0" rIns="0" bIns="0" anchor="ctr"/>
          <a:lstStyle/>
          <a:p>
            <a:endParaRPr lang="fr-FR"/>
          </a:p>
        </p:txBody>
      </p:sp>
      <p:pic>
        <p:nvPicPr>
          <p:cNvPr id="18" name="Icon 18" descr="icône"/>
          <p:cNvPicPr>
            <a:picLocks noChangeAspect="1"/>
          </p:cNvPicPr>
          <p:nvPr/>
        </p:nvPicPr>
        <p:blipFill>
          <a:blip r:embed="rId4"/>
          <a:stretch>
            <a:fillRect/>
          </a:stretch>
        </p:blipFill>
        <p:spPr>
          <a:xfrm>
            <a:off x="4621784" y="1501200"/>
            <a:ext cx="197600" cy="197600"/>
          </a:xfrm>
          <a:prstGeom prst="rect">
            <a:avLst/>
          </a:prstGeom>
        </p:spPr>
      </p:pic>
      <p:sp>
        <p:nvSpPr>
          <p:cNvPr id="19" name="Text 19"/>
          <p:cNvSpPr txBox="1"/>
          <p:nvPr/>
        </p:nvSpPr>
        <p:spPr>
          <a:xfrm>
            <a:off x="5030584" y="1410000"/>
            <a:ext cx="3000000" cy="38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300" b="1" dirty="0">
                <a:solidFill>
                  <a:srgbClr val="FFFFFF"/>
                </a:solidFill>
                <a:latin typeface="Segoe UI" panose="020B0502040204020203" pitchFamily="34" charset="0"/>
                <a:ea typeface="Calibri" pitchFamily="34" charset="-122"/>
                <a:cs typeface="Segoe UI" panose="020B0502040204020203" pitchFamily="34" charset="0"/>
              </a:rPr>
              <a:t>Objectifs</a:t>
            </a:r>
          </a:p>
        </p:txBody>
      </p:sp>
      <p:sp>
        <p:nvSpPr>
          <p:cNvPr id="20" name="Text 20"/>
          <p:cNvSpPr txBox="1"/>
          <p:nvPr/>
        </p:nvSpPr>
        <p:spPr>
          <a:xfrm>
            <a:off x="4530584" y="1880000"/>
            <a:ext cx="3270584" cy="1040000"/>
          </a:xfrm>
          <a:prstGeom prst="rect">
            <a:avLst/>
          </a:prstGeom>
          <a:noFill/>
          <a:ln/>
        </p:spPr>
        <p:txBody>
          <a:bodyPr wrap="square" lIns="0" tIns="0" rIns="0" bIns="0" rtlCol="0" anchor="t">
            <a:noAutofit/>
          </a:bodyPr>
          <a:lstStyle/>
          <a:p>
            <a:pPr marL="190000" indent="-190000" algn="l">
              <a:lnSpc>
                <a:spcPct val="100000"/>
              </a:lnSpc>
              <a:spcAft>
                <a:spcPts val="350"/>
              </a:spcAft>
              <a:buNone/>
            </a:pPr>
            <a:r>
              <a:rPr lang="fr-FR" sz="1000" b="1" dirty="0">
                <a:solidFill>
                  <a:srgbClr val="F2A516"/>
                </a:solidFill>
                <a:latin typeface="Segoe UI" panose="020B0502040204020203" pitchFamily="34" charset="0"/>
                <a:ea typeface="Calibri" pitchFamily="34" charset="-122"/>
                <a:cs typeface="Segoe UI" panose="020B0502040204020203" pitchFamily="34" charset="0"/>
              </a:rPr>
              <a:t>1	</a:t>
            </a:r>
            <a:r>
              <a:rPr lang="fr-FR" sz="1000" b="1" dirty="0">
                <a:solidFill>
                  <a:srgbClr val="FFFFFF"/>
                </a:solidFill>
                <a:latin typeface="Segoe UI" panose="020B0502040204020203" pitchFamily="34" charset="0"/>
                <a:ea typeface="Calibri" pitchFamily="34" charset="-122"/>
                <a:cs typeface="Segoe UI" panose="020B0502040204020203" pitchFamily="34" charset="0"/>
              </a:rPr>
              <a:t>Exposer &amp; APIser</a:t>
            </a:r>
            <a:r>
              <a:rPr lang="fr-FR" sz="1000" dirty="0">
                <a:solidFill>
                  <a:srgbClr val="FFFFFF"/>
                </a:solidFill>
                <a:latin typeface="Segoe UI" panose="020B0502040204020203" pitchFamily="34" charset="0"/>
                <a:ea typeface="Calibri" pitchFamily="34" charset="-122"/>
                <a:cs typeface="Segoe UI" panose="020B0502040204020203" pitchFamily="34" charset="0"/>
              </a:rPr>
              <a:t> le catalogue des services OCRF pour les équipes IT</a:t>
            </a:r>
          </a:p>
          <a:p>
            <a:pPr marL="190000" indent="-190000" algn="l">
              <a:lnSpc>
                <a:spcPct val="100000"/>
              </a:lnSpc>
              <a:spcAft>
                <a:spcPts val="350"/>
              </a:spcAft>
              <a:buNone/>
            </a:pPr>
            <a:r>
              <a:rPr lang="fr-FR" sz="1000" b="1" dirty="0">
                <a:solidFill>
                  <a:srgbClr val="F2A516"/>
                </a:solidFill>
                <a:latin typeface="Segoe UI" panose="020B0502040204020203" pitchFamily="34" charset="0"/>
                <a:ea typeface="Calibri" pitchFamily="34" charset="-122"/>
                <a:cs typeface="Segoe UI" panose="020B0502040204020203" pitchFamily="34" charset="0"/>
              </a:rPr>
              <a:t>2	</a:t>
            </a:r>
            <a:r>
              <a:rPr lang="fr-FR" sz="1000" b="1" dirty="0">
                <a:solidFill>
                  <a:srgbClr val="FFFFFF"/>
                </a:solidFill>
                <a:latin typeface="Segoe UI" panose="020B0502040204020203" pitchFamily="34" charset="0"/>
                <a:ea typeface="Calibri" pitchFamily="34" charset="-122"/>
                <a:cs typeface="Segoe UI" panose="020B0502040204020203" pitchFamily="34" charset="0"/>
              </a:rPr>
              <a:t>Gagner en autonomie :</a:t>
            </a:r>
            <a:r>
              <a:rPr lang="fr-FR" sz="1000" dirty="0">
                <a:solidFill>
                  <a:srgbClr val="FFFFFF"/>
                </a:solidFill>
                <a:latin typeface="Segoe UI" panose="020B0502040204020203" pitchFamily="34" charset="0"/>
                <a:ea typeface="Calibri" pitchFamily="34" charset="-122"/>
                <a:cs typeface="Segoe UI" panose="020B0502040204020203" pitchFamily="34" charset="0"/>
              </a:rPr>
              <a:t> explorer, tester et exploiter les services</a:t>
            </a:r>
          </a:p>
          <a:p>
            <a:pPr marL="190000" indent="-190000" algn="l">
              <a:lnSpc>
                <a:spcPct val="100000"/>
              </a:lnSpc>
              <a:spcAft>
                <a:spcPts val="0"/>
              </a:spcAft>
              <a:buNone/>
            </a:pPr>
            <a:r>
              <a:rPr lang="fr-FR" sz="1000" b="1" dirty="0">
                <a:solidFill>
                  <a:srgbClr val="F2A516"/>
                </a:solidFill>
                <a:latin typeface="Segoe UI" panose="020B0502040204020203" pitchFamily="34" charset="0"/>
                <a:ea typeface="Calibri" pitchFamily="34" charset="-122"/>
                <a:cs typeface="Segoe UI" panose="020B0502040204020203" pitchFamily="34" charset="0"/>
              </a:rPr>
              <a:t>3	</a:t>
            </a:r>
            <a:r>
              <a:rPr lang="fr-FR" sz="1000" b="1" dirty="0">
                <a:solidFill>
                  <a:srgbClr val="FFFFFF"/>
                </a:solidFill>
                <a:latin typeface="Segoe UI" panose="020B0502040204020203" pitchFamily="34" charset="0"/>
                <a:ea typeface="Calibri" pitchFamily="34" charset="-122"/>
                <a:cs typeface="Segoe UI" panose="020B0502040204020203" pitchFamily="34" charset="0"/>
              </a:rPr>
              <a:t>Préparer l’agentique</a:t>
            </a:r>
            <a:r>
              <a:rPr lang="fr-FR" sz="1000" dirty="0">
                <a:solidFill>
                  <a:srgbClr val="FFFFFF"/>
                </a:solidFill>
                <a:latin typeface="Segoe UI" panose="020B0502040204020203" pitchFamily="34" charset="0"/>
                <a:ea typeface="Calibri" pitchFamily="34" charset="-122"/>
                <a:cs typeface="Segoe UI" panose="020B0502040204020203" pitchFamily="34" charset="0"/>
              </a:rPr>
              <a:t> pour les usages de demain</a:t>
            </a:r>
          </a:p>
        </p:txBody>
      </p:sp>
      <p:sp>
        <p:nvSpPr>
          <p:cNvPr id="21" name="Shape 21"/>
          <p:cNvSpPr/>
          <p:nvPr/>
        </p:nvSpPr>
        <p:spPr>
          <a:xfrm>
            <a:off x="8101168" y="1280000"/>
            <a:ext cx="3630584" cy="1720000"/>
          </a:xfrm>
          <a:prstGeom prst="roundRect">
            <a:avLst>
              <a:gd name="adj" fmla="val 3509"/>
            </a:avLst>
          </a:prstGeom>
          <a:solidFill>
            <a:srgbClr val="F4F7FB"/>
          </a:solidFill>
          <a:ln>
            <a:noFill/>
          </a:ln>
        </p:spPr>
        <p:txBody>
          <a:bodyPr wrap="none" lIns="0" tIns="0" rIns="0" bIns="0" anchor="ctr"/>
          <a:lstStyle/>
          <a:p>
            <a:endParaRPr lang="fr-FR"/>
          </a:p>
        </p:txBody>
      </p:sp>
      <p:sp>
        <p:nvSpPr>
          <p:cNvPr id="22" name="Shape 22"/>
          <p:cNvSpPr/>
          <p:nvPr/>
        </p:nvSpPr>
        <p:spPr>
          <a:xfrm>
            <a:off x="8281168" y="1410000"/>
            <a:ext cx="380000" cy="380000"/>
          </a:xfrm>
          <a:prstGeom prst="ellipse">
            <a:avLst/>
          </a:prstGeom>
          <a:solidFill>
            <a:srgbClr val="1C7293"/>
          </a:solidFill>
          <a:ln>
            <a:noFill/>
          </a:ln>
        </p:spPr>
        <p:txBody>
          <a:bodyPr wrap="none" lIns="0" tIns="0" rIns="0" bIns="0" anchor="ctr"/>
          <a:lstStyle/>
          <a:p>
            <a:endParaRPr lang="fr-FR"/>
          </a:p>
        </p:txBody>
      </p:sp>
      <p:pic>
        <p:nvPicPr>
          <p:cNvPr id="23" name="Icon 23" descr="icône"/>
          <p:cNvPicPr>
            <a:picLocks noChangeAspect="1"/>
          </p:cNvPicPr>
          <p:nvPr/>
        </p:nvPicPr>
        <p:blipFill>
          <a:blip r:embed="rId5"/>
          <a:stretch>
            <a:fillRect/>
          </a:stretch>
        </p:blipFill>
        <p:spPr>
          <a:xfrm>
            <a:off x="8372368" y="1501200"/>
            <a:ext cx="197600" cy="197600"/>
          </a:xfrm>
          <a:prstGeom prst="rect">
            <a:avLst/>
          </a:prstGeom>
        </p:spPr>
      </p:pic>
      <p:sp>
        <p:nvSpPr>
          <p:cNvPr id="24" name="Text 24"/>
          <p:cNvSpPr txBox="1"/>
          <p:nvPr/>
        </p:nvSpPr>
        <p:spPr>
          <a:xfrm>
            <a:off x="8781168" y="1410000"/>
            <a:ext cx="3000000" cy="38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300" b="1" dirty="0">
                <a:solidFill>
                  <a:srgbClr val="21295C"/>
                </a:solidFill>
                <a:latin typeface="Segoe UI" panose="020B0502040204020203" pitchFamily="34" charset="0"/>
                <a:ea typeface="Calibri" pitchFamily="34" charset="-122"/>
                <a:cs typeface="Segoe UI" panose="020B0502040204020203" pitchFamily="34" charset="0"/>
              </a:rPr>
              <a:t>Bénéfices attendus</a:t>
            </a:r>
          </a:p>
        </p:txBody>
      </p:sp>
      <p:sp>
        <p:nvSpPr>
          <p:cNvPr id="25" name="Text 25"/>
          <p:cNvSpPr txBox="1"/>
          <p:nvPr/>
        </p:nvSpPr>
        <p:spPr>
          <a:xfrm>
            <a:off x="8281168" y="1880000"/>
            <a:ext cx="3270584" cy="1040000"/>
          </a:xfrm>
          <a:prstGeom prst="rect">
            <a:avLst/>
          </a:prstGeom>
          <a:noFill/>
          <a:ln/>
        </p:spPr>
        <p:txBody>
          <a:bodyPr wrap="square" lIns="0" tIns="0" rIns="0" bIns="0" rtlCol="0" anchor="t">
            <a:noAutofit/>
          </a:bodyPr>
          <a:lstStyle/>
          <a:p>
            <a:pPr marL="137160" indent="-137160" algn="l">
              <a:lnSpc>
                <a:spcPct val="100000"/>
              </a:lnSpc>
              <a:spcAft>
                <a:spcPts val="100"/>
              </a:spcAft>
              <a:buClr>
                <a:srgbClr val="1C7293"/>
              </a:buClr>
              <a:buFont typeface="Arial"/>
              <a:buChar char="•"/>
            </a:pPr>
            <a:r>
              <a:rPr lang="fr-FR" sz="1000" b="1" dirty="0">
                <a:solidFill>
                  <a:srgbClr val="1B2433"/>
                </a:solidFill>
                <a:latin typeface="Segoe UI" panose="020B0502040204020203" pitchFamily="34" charset="0"/>
                <a:ea typeface="Calibri" pitchFamily="34" charset="-122"/>
                <a:cs typeface="Segoe UI" panose="020B0502040204020203" pitchFamily="34" charset="0"/>
              </a:rPr>
              <a:t>Clarté</a:t>
            </a:r>
            <a:r>
              <a:rPr lang="fr-FR" sz="1000" dirty="0">
                <a:solidFill>
                  <a:srgbClr val="1B2433"/>
                </a:solidFill>
                <a:latin typeface="Segoe UI" panose="020B0502040204020203" pitchFamily="34" charset="0"/>
                <a:ea typeface="Calibri" pitchFamily="34" charset="-122"/>
                <a:cs typeface="Segoe UI" panose="020B0502040204020203" pitchFamily="34" charset="0"/>
              </a:rPr>
              <a:t> de la proposition de valeur OCRF</a:t>
            </a:r>
          </a:p>
          <a:p>
            <a:pPr marL="137160" indent="-137160" algn="l">
              <a:lnSpc>
                <a:spcPct val="100000"/>
              </a:lnSpc>
              <a:spcAft>
                <a:spcPts val="100"/>
              </a:spcAft>
              <a:buClr>
                <a:srgbClr val="1C7293"/>
              </a:buClr>
              <a:buFont typeface="Arial"/>
              <a:buChar char="•"/>
            </a:pPr>
            <a:r>
              <a:rPr lang="fr-FR" sz="1000" b="1" dirty="0">
                <a:solidFill>
                  <a:srgbClr val="1B2433"/>
                </a:solidFill>
                <a:latin typeface="Segoe UI" panose="020B0502040204020203" pitchFamily="34" charset="0"/>
                <a:ea typeface="Calibri" pitchFamily="34" charset="-122"/>
                <a:cs typeface="Segoe UI" panose="020B0502040204020203" pitchFamily="34" charset="0"/>
              </a:rPr>
              <a:t>Intégration accélérée</a:t>
            </a:r>
            <a:r>
              <a:rPr lang="fr-FR" sz="1000" dirty="0">
                <a:solidFill>
                  <a:srgbClr val="1B2433"/>
                </a:solidFill>
                <a:latin typeface="Segoe UI" panose="020B0502040204020203" pitchFamily="34" charset="0"/>
                <a:ea typeface="Calibri" pitchFamily="34" charset="-122"/>
                <a:cs typeface="Segoe UI" panose="020B0502040204020203" pitchFamily="34" charset="0"/>
              </a:rPr>
              <a:t> : catalogue vs projet</a:t>
            </a:r>
          </a:p>
          <a:p>
            <a:pPr marL="137160" indent="-137160" algn="l">
              <a:lnSpc>
                <a:spcPct val="100000"/>
              </a:lnSpc>
              <a:spcAft>
                <a:spcPts val="100"/>
              </a:spcAft>
              <a:buClr>
                <a:srgbClr val="1C7293"/>
              </a:buClr>
              <a:buFont typeface="Arial"/>
              <a:buChar char="•"/>
            </a:pPr>
            <a:r>
              <a:rPr lang="fr-FR" sz="1000" b="1" dirty="0">
                <a:solidFill>
                  <a:srgbClr val="1B2433"/>
                </a:solidFill>
                <a:latin typeface="Segoe UI" panose="020B0502040204020203" pitchFamily="34" charset="0"/>
                <a:ea typeface="Calibri" pitchFamily="34" charset="-122"/>
                <a:cs typeface="Segoe UI" panose="020B0502040204020203" pitchFamily="34" charset="0"/>
              </a:rPr>
              <a:t>Contrats standard</a:t>
            </a:r>
            <a:r>
              <a:rPr lang="fr-FR" sz="1000" dirty="0">
                <a:solidFill>
                  <a:srgbClr val="1B2433"/>
                </a:solidFill>
                <a:latin typeface="Segoe UI" panose="020B0502040204020203" pitchFamily="34" charset="0"/>
                <a:ea typeface="Calibri" pitchFamily="34" charset="-122"/>
                <a:cs typeface="Segoe UI" panose="020B0502040204020203" pitchFamily="34" charset="0"/>
              </a:rPr>
              <a:t> : formats, versions</a:t>
            </a:r>
          </a:p>
          <a:p>
            <a:pPr marL="137160" indent="-137160" algn="l">
              <a:lnSpc>
                <a:spcPct val="100000"/>
              </a:lnSpc>
              <a:spcAft>
                <a:spcPts val="100"/>
              </a:spcAft>
              <a:buClr>
                <a:srgbClr val="1C7293"/>
              </a:buClr>
              <a:buFont typeface="Arial"/>
              <a:buChar char="•"/>
            </a:pPr>
            <a:r>
              <a:rPr lang="fr-FR" sz="1000" b="1" dirty="0">
                <a:solidFill>
                  <a:srgbClr val="1B2433"/>
                </a:solidFill>
                <a:latin typeface="Segoe UI" panose="020B0502040204020203" pitchFamily="34" charset="0"/>
                <a:ea typeface="Calibri" pitchFamily="34" charset="-122"/>
                <a:cs typeface="Segoe UI" panose="020B0502040204020203" pitchFamily="34" charset="0"/>
              </a:rPr>
              <a:t>Pilotage</a:t>
            </a:r>
            <a:r>
              <a:rPr lang="fr-FR" sz="1000" dirty="0">
                <a:solidFill>
                  <a:srgbClr val="1B2433"/>
                </a:solidFill>
                <a:latin typeface="Segoe UI" panose="020B0502040204020203" pitchFamily="34" charset="0"/>
                <a:ea typeface="Calibri" pitchFamily="34" charset="-122"/>
                <a:cs typeface="Segoe UI" panose="020B0502040204020203" pitchFamily="34" charset="0"/>
              </a:rPr>
              <a:t> de la consommation et des coûts</a:t>
            </a:r>
          </a:p>
          <a:p>
            <a:pPr marL="137160" indent="-137160" algn="l">
              <a:lnSpc>
                <a:spcPct val="100000"/>
              </a:lnSpc>
              <a:spcAft>
                <a:spcPts val="0"/>
              </a:spcAft>
              <a:buClr>
                <a:srgbClr val="1C7293"/>
              </a:buClr>
              <a:buFont typeface="Arial"/>
              <a:buChar char="•"/>
            </a:pPr>
            <a:r>
              <a:rPr lang="fr-FR" sz="1000" b="1" dirty="0">
                <a:solidFill>
                  <a:srgbClr val="1B2433"/>
                </a:solidFill>
                <a:latin typeface="Segoe UI" panose="020B0502040204020203" pitchFamily="34" charset="0"/>
                <a:ea typeface="Calibri" pitchFamily="34" charset="-122"/>
                <a:cs typeface="Segoe UI" panose="020B0502040204020203" pitchFamily="34" charset="0"/>
              </a:rPr>
              <a:t>Réutilisation</a:t>
            </a:r>
            <a:r>
              <a:rPr lang="fr-FR" sz="1000" dirty="0">
                <a:solidFill>
                  <a:srgbClr val="1B2433"/>
                </a:solidFill>
                <a:latin typeface="Segoe UI" panose="020B0502040204020203" pitchFamily="34" charset="0"/>
                <a:ea typeface="Calibri" pitchFamily="34" charset="-122"/>
                <a:cs typeface="Segoe UI" panose="020B0502040204020203" pitchFamily="34" charset="0"/>
              </a:rPr>
              <a:t> des modèles ML / GenAI, catalogue de documents</a:t>
            </a:r>
          </a:p>
        </p:txBody>
      </p:sp>
      <p:sp>
        <p:nvSpPr>
          <p:cNvPr id="26" name="Text 26"/>
          <p:cNvSpPr txBox="1"/>
          <p:nvPr/>
        </p:nvSpPr>
        <p:spPr>
          <a:xfrm>
            <a:off x="600000" y="3120000"/>
            <a:ext cx="11131752" cy="25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200" b="1" dirty="0">
                <a:solidFill>
                  <a:srgbClr val="21295C"/>
                </a:solidFill>
                <a:latin typeface="Segoe UI" panose="020B0502040204020203" pitchFamily="34" charset="0"/>
                <a:ea typeface="Calibri" pitchFamily="34" charset="-122"/>
                <a:cs typeface="Segoe UI" panose="020B0502040204020203" pitchFamily="34" charset="0"/>
              </a:rPr>
              <a:t>Trajectoire : 4 chantiers, un déroulé par lots</a:t>
            </a:r>
          </a:p>
        </p:txBody>
      </p:sp>
      <p:sp>
        <p:nvSpPr>
          <p:cNvPr id="27" name="Shape 27"/>
          <p:cNvSpPr/>
          <p:nvPr/>
        </p:nvSpPr>
        <p:spPr>
          <a:xfrm>
            <a:off x="600000" y="3380000"/>
            <a:ext cx="2692938" cy="1260000"/>
          </a:xfrm>
          <a:prstGeom prst="roundRect">
            <a:avLst>
              <a:gd name="adj" fmla="val 3509"/>
            </a:avLst>
          </a:prstGeom>
          <a:solidFill>
            <a:srgbClr val="F4F7FB"/>
          </a:solidFill>
          <a:ln>
            <a:noFill/>
          </a:ln>
        </p:spPr>
        <p:txBody>
          <a:bodyPr wrap="none" lIns="0" tIns="0" rIns="0" bIns="0" anchor="ctr"/>
          <a:lstStyle/>
          <a:p>
            <a:endParaRPr lang="fr-FR"/>
          </a:p>
        </p:txBody>
      </p:sp>
      <p:sp>
        <p:nvSpPr>
          <p:cNvPr id="28" name="Shape 28"/>
          <p:cNvSpPr/>
          <p:nvPr/>
        </p:nvSpPr>
        <p:spPr>
          <a:xfrm>
            <a:off x="740000" y="3500000"/>
            <a:ext cx="300000" cy="300000"/>
          </a:xfrm>
          <a:prstGeom prst="ellipse">
            <a:avLst/>
          </a:prstGeom>
          <a:solidFill>
            <a:srgbClr val="21295C"/>
          </a:solidFill>
          <a:ln>
            <a:noFill/>
          </a:ln>
        </p:spPr>
        <p:txBody>
          <a:bodyPr wrap="none" lIns="0" tIns="0" rIns="0" bIns="0" anchor="ctr"/>
          <a:lstStyle/>
          <a:p>
            <a:pPr marL="0" indent="0" algn="ctr">
              <a:lnSpc>
                <a:spcPct val="100000"/>
              </a:lnSpc>
              <a:spcAft>
                <a:spcPts val="0"/>
              </a:spcAft>
              <a:buNone/>
            </a:pPr>
            <a:r>
              <a:rPr lang="fr-FR" sz="900" b="1" dirty="0">
                <a:solidFill>
                  <a:srgbClr val="FFFFFF"/>
                </a:solidFill>
                <a:latin typeface="Segoe UI" panose="020B0502040204020203" pitchFamily="34" charset="0"/>
                <a:ea typeface="Calibri" pitchFamily="34" charset="-122"/>
                <a:cs typeface="Segoe UI" panose="020B0502040204020203" pitchFamily="34" charset="0"/>
              </a:rPr>
              <a:t>01</a:t>
            </a:r>
          </a:p>
        </p:txBody>
      </p:sp>
      <p:sp>
        <p:nvSpPr>
          <p:cNvPr id="29" name="Text 29"/>
          <p:cNvSpPr txBox="1"/>
          <p:nvPr/>
        </p:nvSpPr>
        <p:spPr>
          <a:xfrm>
            <a:off x="1130000" y="3500000"/>
            <a:ext cx="2022938" cy="30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100" b="1" dirty="0">
                <a:solidFill>
                  <a:srgbClr val="21295C"/>
                </a:solidFill>
                <a:latin typeface="Segoe UI" panose="020B0502040204020203" pitchFamily="34" charset="0"/>
                <a:ea typeface="Calibri" pitchFamily="34" charset="-122"/>
                <a:cs typeface="Segoe UI" panose="020B0502040204020203" pitchFamily="34" charset="0"/>
              </a:rPr>
              <a:t>Catalogue</a:t>
            </a:r>
          </a:p>
        </p:txBody>
      </p:sp>
      <p:sp>
        <p:nvSpPr>
          <p:cNvPr id="30" name="Text 30"/>
          <p:cNvSpPr txBox="1"/>
          <p:nvPr/>
        </p:nvSpPr>
        <p:spPr>
          <a:xfrm>
            <a:off x="740000" y="3880000"/>
            <a:ext cx="2412938" cy="700000"/>
          </a:xfrm>
          <a:prstGeom prst="rect">
            <a:avLst/>
          </a:prstGeom>
          <a:noFill/>
          <a:ln/>
        </p:spPr>
        <p:txBody>
          <a:bodyPr wrap="square" lIns="0" tIns="0" rIns="0" bIns="0" rtlCol="0" anchor="t">
            <a:noAutofit/>
          </a:bodyPr>
          <a:lstStyle/>
          <a:p>
            <a:pPr marL="0" indent="0" algn="l">
              <a:lnSpc>
                <a:spcPct val="100000"/>
              </a:lnSpc>
              <a:spcAft>
                <a:spcPts val="400"/>
              </a:spcAft>
              <a:buNone/>
            </a:pPr>
            <a:r>
              <a:rPr lang="fr-FR" sz="950" dirty="0">
                <a:solidFill>
                  <a:srgbClr val="1B2433"/>
                </a:solidFill>
                <a:latin typeface="Segoe UI" panose="020B0502040204020203" pitchFamily="34" charset="0"/>
                <a:ea typeface="Calibri" pitchFamily="34" charset="-122"/>
                <a:cs typeface="Segoe UI" panose="020B0502040204020203" pitchFamily="34" charset="0"/>
              </a:rPr>
              <a:t>Fiches services, contrats d’interface, documentation</a:t>
            </a:r>
          </a:p>
          <a:p>
            <a:pPr marL="0" indent="0" algn="l">
              <a:lnSpc>
                <a:spcPct val="100000"/>
              </a:lnSpc>
              <a:spcAft>
                <a:spcPts val="0"/>
              </a:spcAft>
              <a:buNone/>
            </a:pPr>
            <a:r>
              <a:rPr lang="fr-FR" sz="950" b="1" dirty="0">
                <a:solidFill>
                  <a:srgbClr val="1C7293"/>
                </a:solidFill>
                <a:latin typeface="Segoe UI" panose="020B0502040204020203" pitchFamily="34" charset="0"/>
                <a:ea typeface="Calibri" pitchFamily="34" charset="-122"/>
                <a:cs typeface="Segoe UI" panose="020B0502040204020203" pitchFamily="34" charset="0"/>
              </a:rPr>
              <a:t>Pilote : </a:t>
            </a:r>
            <a:r>
              <a:rPr lang="fr-FR" sz="950" dirty="0">
                <a:solidFill>
                  <a:srgbClr val="1B2433"/>
                </a:solidFill>
                <a:latin typeface="Segoe UI" panose="020B0502040204020203" pitchFamily="34" charset="0"/>
                <a:ea typeface="Calibri" pitchFamily="34" charset="-122"/>
                <a:cs typeface="Segoe UI" panose="020B0502040204020203" pitchFamily="34" charset="0"/>
              </a:rPr>
              <a:t>H510, avec les owners</a:t>
            </a:r>
          </a:p>
        </p:txBody>
      </p:sp>
      <p:sp>
        <p:nvSpPr>
          <p:cNvPr id="31" name="Shape 31"/>
          <p:cNvSpPr/>
          <p:nvPr/>
        </p:nvSpPr>
        <p:spPr>
          <a:xfrm>
            <a:off x="3412938" y="3380000"/>
            <a:ext cx="2692938" cy="1260000"/>
          </a:xfrm>
          <a:prstGeom prst="roundRect">
            <a:avLst>
              <a:gd name="adj" fmla="val 3509"/>
            </a:avLst>
          </a:prstGeom>
          <a:solidFill>
            <a:srgbClr val="F4F7FB"/>
          </a:solidFill>
          <a:ln>
            <a:noFill/>
          </a:ln>
        </p:spPr>
        <p:txBody>
          <a:bodyPr wrap="none" lIns="0" tIns="0" rIns="0" bIns="0" anchor="ctr"/>
          <a:lstStyle/>
          <a:p>
            <a:endParaRPr lang="fr-FR"/>
          </a:p>
        </p:txBody>
      </p:sp>
      <p:sp>
        <p:nvSpPr>
          <p:cNvPr id="32" name="Shape 32"/>
          <p:cNvSpPr/>
          <p:nvPr/>
        </p:nvSpPr>
        <p:spPr>
          <a:xfrm>
            <a:off x="3552938" y="3500000"/>
            <a:ext cx="300000" cy="300000"/>
          </a:xfrm>
          <a:prstGeom prst="ellipse">
            <a:avLst/>
          </a:prstGeom>
          <a:solidFill>
            <a:srgbClr val="21295C"/>
          </a:solidFill>
          <a:ln>
            <a:noFill/>
          </a:ln>
        </p:spPr>
        <p:txBody>
          <a:bodyPr wrap="none" lIns="0" tIns="0" rIns="0" bIns="0" anchor="ctr"/>
          <a:lstStyle/>
          <a:p>
            <a:pPr marL="0" indent="0" algn="ctr">
              <a:lnSpc>
                <a:spcPct val="100000"/>
              </a:lnSpc>
              <a:spcAft>
                <a:spcPts val="0"/>
              </a:spcAft>
              <a:buNone/>
            </a:pPr>
            <a:r>
              <a:rPr lang="fr-FR" sz="900" b="1" dirty="0">
                <a:solidFill>
                  <a:srgbClr val="FFFFFF"/>
                </a:solidFill>
                <a:latin typeface="Segoe UI" panose="020B0502040204020203" pitchFamily="34" charset="0"/>
                <a:ea typeface="Calibri" pitchFamily="34" charset="-122"/>
                <a:cs typeface="Segoe UI" panose="020B0502040204020203" pitchFamily="34" charset="0"/>
              </a:rPr>
              <a:t>02</a:t>
            </a:r>
          </a:p>
        </p:txBody>
      </p:sp>
      <p:sp>
        <p:nvSpPr>
          <p:cNvPr id="33" name="Text 33"/>
          <p:cNvSpPr txBox="1"/>
          <p:nvPr/>
        </p:nvSpPr>
        <p:spPr>
          <a:xfrm>
            <a:off x="3942938" y="3500000"/>
            <a:ext cx="2022938" cy="30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100" b="1" dirty="0">
                <a:solidFill>
                  <a:srgbClr val="21295C"/>
                </a:solidFill>
                <a:latin typeface="Segoe UI" panose="020B0502040204020203" pitchFamily="34" charset="0"/>
                <a:ea typeface="Calibri" pitchFamily="34" charset="-122"/>
                <a:cs typeface="Segoe UI" panose="020B0502040204020203" pitchFamily="34" charset="0"/>
              </a:rPr>
              <a:t>APIsation REST</a:t>
            </a:r>
          </a:p>
        </p:txBody>
      </p:sp>
      <p:sp>
        <p:nvSpPr>
          <p:cNvPr id="34" name="Text 34"/>
          <p:cNvSpPr txBox="1"/>
          <p:nvPr/>
        </p:nvSpPr>
        <p:spPr>
          <a:xfrm>
            <a:off x="3552938" y="3880000"/>
            <a:ext cx="2412938" cy="700000"/>
          </a:xfrm>
          <a:prstGeom prst="rect">
            <a:avLst/>
          </a:prstGeom>
          <a:noFill/>
          <a:ln/>
        </p:spPr>
        <p:txBody>
          <a:bodyPr wrap="square" lIns="0" tIns="0" rIns="0" bIns="0" rtlCol="0" anchor="t">
            <a:noAutofit/>
          </a:bodyPr>
          <a:lstStyle/>
          <a:p>
            <a:pPr marL="0" indent="0" algn="l">
              <a:lnSpc>
                <a:spcPct val="100000"/>
              </a:lnSpc>
              <a:spcAft>
                <a:spcPts val="400"/>
              </a:spcAft>
              <a:buNone/>
            </a:pPr>
            <a:r>
              <a:rPr lang="fr-FR" sz="950" dirty="0">
                <a:solidFill>
                  <a:srgbClr val="1B2433"/>
                </a:solidFill>
                <a:latin typeface="Segoe UI" panose="020B0502040204020203" pitchFamily="34" charset="0"/>
                <a:ea typeface="Calibri" pitchFamily="34" charset="-122"/>
                <a:cs typeface="Segoe UI" panose="020B0502040204020203" pitchFamily="34" charset="0"/>
              </a:rPr>
              <a:t>Exposition REST (JSON in / out) des services</a:t>
            </a:r>
          </a:p>
          <a:p>
            <a:pPr marL="0" indent="0" algn="l">
              <a:lnSpc>
                <a:spcPct val="100000"/>
              </a:lnSpc>
              <a:spcAft>
                <a:spcPts val="0"/>
              </a:spcAft>
              <a:buNone/>
            </a:pPr>
            <a:r>
              <a:rPr lang="fr-FR" sz="950" b="1" dirty="0">
                <a:solidFill>
                  <a:srgbClr val="1C7293"/>
                </a:solidFill>
                <a:latin typeface="Segoe UI" panose="020B0502040204020203" pitchFamily="34" charset="0"/>
                <a:ea typeface="Calibri" pitchFamily="34" charset="-122"/>
                <a:cs typeface="Segoe UI" panose="020B0502040204020203" pitchFamily="34" charset="0"/>
              </a:rPr>
              <a:t>Pilote : </a:t>
            </a:r>
            <a:r>
              <a:rPr lang="fr-FR" sz="950" dirty="0">
                <a:solidFill>
                  <a:srgbClr val="1B2433"/>
                </a:solidFill>
                <a:latin typeface="Segoe UI" panose="020B0502040204020203" pitchFamily="34" charset="0"/>
                <a:ea typeface="Calibri" pitchFamily="34" charset="-122"/>
                <a:cs typeface="Segoe UI" panose="020B0502040204020203" pitchFamily="34" charset="0"/>
              </a:rPr>
              <a:t>Chaque équipe owner</a:t>
            </a:r>
          </a:p>
        </p:txBody>
      </p:sp>
      <p:sp>
        <p:nvSpPr>
          <p:cNvPr id="35" name="Shape 35"/>
          <p:cNvSpPr/>
          <p:nvPr/>
        </p:nvSpPr>
        <p:spPr>
          <a:xfrm>
            <a:off x="6225876" y="3380000"/>
            <a:ext cx="2692938" cy="1260000"/>
          </a:xfrm>
          <a:prstGeom prst="roundRect">
            <a:avLst>
              <a:gd name="adj" fmla="val 3509"/>
            </a:avLst>
          </a:prstGeom>
          <a:solidFill>
            <a:srgbClr val="F4F7FB"/>
          </a:solidFill>
          <a:ln>
            <a:noFill/>
          </a:ln>
        </p:spPr>
        <p:txBody>
          <a:bodyPr wrap="none" lIns="0" tIns="0" rIns="0" bIns="0" anchor="ctr"/>
          <a:lstStyle/>
          <a:p>
            <a:endParaRPr lang="fr-FR"/>
          </a:p>
        </p:txBody>
      </p:sp>
      <p:sp>
        <p:nvSpPr>
          <p:cNvPr id="36" name="Shape 36"/>
          <p:cNvSpPr/>
          <p:nvPr/>
        </p:nvSpPr>
        <p:spPr>
          <a:xfrm>
            <a:off x="6365876" y="3500000"/>
            <a:ext cx="300000" cy="300000"/>
          </a:xfrm>
          <a:prstGeom prst="ellipse">
            <a:avLst/>
          </a:prstGeom>
          <a:solidFill>
            <a:srgbClr val="21295C"/>
          </a:solidFill>
          <a:ln>
            <a:noFill/>
          </a:ln>
        </p:spPr>
        <p:txBody>
          <a:bodyPr wrap="none" lIns="0" tIns="0" rIns="0" bIns="0" anchor="ctr"/>
          <a:lstStyle/>
          <a:p>
            <a:pPr marL="0" indent="0" algn="ctr">
              <a:lnSpc>
                <a:spcPct val="100000"/>
              </a:lnSpc>
              <a:spcAft>
                <a:spcPts val="0"/>
              </a:spcAft>
              <a:buNone/>
            </a:pPr>
            <a:r>
              <a:rPr lang="fr-FR" sz="900" b="1" dirty="0">
                <a:solidFill>
                  <a:srgbClr val="FFFFFF"/>
                </a:solidFill>
                <a:latin typeface="Segoe UI" panose="020B0502040204020203" pitchFamily="34" charset="0"/>
                <a:ea typeface="Calibri" pitchFamily="34" charset="-122"/>
                <a:cs typeface="Segoe UI" panose="020B0502040204020203" pitchFamily="34" charset="0"/>
              </a:rPr>
              <a:t>03</a:t>
            </a:r>
          </a:p>
        </p:txBody>
      </p:sp>
      <p:sp>
        <p:nvSpPr>
          <p:cNvPr id="37" name="Text 37"/>
          <p:cNvSpPr txBox="1"/>
          <p:nvPr/>
        </p:nvSpPr>
        <p:spPr>
          <a:xfrm>
            <a:off x="6755876" y="3500000"/>
            <a:ext cx="2022938" cy="30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100" b="1" dirty="0">
                <a:solidFill>
                  <a:srgbClr val="21295C"/>
                </a:solidFill>
                <a:latin typeface="Segoe UI" panose="020B0502040204020203" pitchFamily="34" charset="0"/>
                <a:ea typeface="Calibri" pitchFamily="34" charset="-122"/>
                <a:cs typeface="Segoe UI" panose="020B0502040204020203" pitchFamily="34" charset="0"/>
              </a:rPr>
              <a:t>Portail</a:t>
            </a:r>
          </a:p>
        </p:txBody>
      </p:sp>
      <p:sp>
        <p:nvSpPr>
          <p:cNvPr id="38" name="Text 38"/>
          <p:cNvSpPr txBox="1"/>
          <p:nvPr/>
        </p:nvSpPr>
        <p:spPr>
          <a:xfrm>
            <a:off x="6365876" y="3880000"/>
            <a:ext cx="2412938" cy="700000"/>
          </a:xfrm>
          <a:prstGeom prst="rect">
            <a:avLst/>
          </a:prstGeom>
          <a:noFill/>
          <a:ln/>
        </p:spPr>
        <p:txBody>
          <a:bodyPr wrap="square" lIns="0" tIns="0" rIns="0" bIns="0" rtlCol="0" anchor="t">
            <a:noAutofit/>
          </a:bodyPr>
          <a:lstStyle/>
          <a:p>
            <a:pPr marL="0" indent="0" algn="l">
              <a:lnSpc>
                <a:spcPct val="100000"/>
              </a:lnSpc>
              <a:spcAft>
                <a:spcPts val="400"/>
              </a:spcAft>
              <a:buNone/>
            </a:pPr>
            <a:r>
              <a:rPr lang="fr-FR" sz="950" dirty="0">
                <a:solidFill>
                  <a:srgbClr val="1B2433"/>
                </a:solidFill>
                <a:latin typeface="Segoe UI" panose="020B0502040204020203" pitchFamily="34" charset="0"/>
                <a:ea typeface="Calibri" pitchFamily="34" charset="-122"/>
                <a:cs typeface="Segoe UI" panose="020B0502040204020203" pitchFamily="34" charset="0"/>
              </a:rPr>
              <a:t>Pages MOE / MOA, swagger, souscription &amp; provisionnement</a:t>
            </a:r>
          </a:p>
          <a:p>
            <a:pPr marL="0" indent="0" algn="l">
              <a:lnSpc>
                <a:spcPct val="100000"/>
              </a:lnSpc>
              <a:spcAft>
                <a:spcPts val="0"/>
              </a:spcAft>
              <a:buNone/>
            </a:pPr>
            <a:r>
              <a:rPr lang="fr-FR" sz="950" b="1" dirty="0">
                <a:solidFill>
                  <a:srgbClr val="1C7293"/>
                </a:solidFill>
                <a:latin typeface="Segoe UI" panose="020B0502040204020203" pitchFamily="34" charset="0"/>
                <a:ea typeface="Calibri" pitchFamily="34" charset="-122"/>
                <a:cs typeface="Segoe UI" panose="020B0502040204020203" pitchFamily="34" charset="0"/>
              </a:rPr>
              <a:t>Pilote : </a:t>
            </a:r>
            <a:r>
              <a:rPr lang="fr-FR" sz="950" dirty="0">
                <a:solidFill>
                  <a:srgbClr val="1B2433"/>
                </a:solidFill>
                <a:latin typeface="Segoe UI" panose="020B0502040204020203" pitchFamily="34" charset="0"/>
                <a:ea typeface="Calibri" pitchFamily="34" charset="-122"/>
                <a:cs typeface="Segoe UI" panose="020B0502040204020203" pitchFamily="34" charset="0"/>
              </a:rPr>
              <a:t>H630 / H580 / H620 (à confirmer)</a:t>
            </a:r>
          </a:p>
        </p:txBody>
      </p:sp>
      <p:sp>
        <p:nvSpPr>
          <p:cNvPr id="39" name="Shape 39"/>
          <p:cNvSpPr/>
          <p:nvPr/>
        </p:nvSpPr>
        <p:spPr>
          <a:xfrm>
            <a:off x="9038814" y="3380000"/>
            <a:ext cx="2692938" cy="1260000"/>
          </a:xfrm>
          <a:prstGeom prst="roundRect">
            <a:avLst>
              <a:gd name="adj" fmla="val 3509"/>
            </a:avLst>
          </a:prstGeom>
          <a:solidFill>
            <a:srgbClr val="F4F7FB"/>
          </a:solidFill>
          <a:ln>
            <a:noFill/>
          </a:ln>
        </p:spPr>
        <p:txBody>
          <a:bodyPr wrap="none" lIns="0" tIns="0" rIns="0" bIns="0" anchor="ctr"/>
          <a:lstStyle/>
          <a:p>
            <a:endParaRPr lang="fr-FR"/>
          </a:p>
        </p:txBody>
      </p:sp>
      <p:sp>
        <p:nvSpPr>
          <p:cNvPr id="40" name="Shape 40"/>
          <p:cNvSpPr/>
          <p:nvPr/>
        </p:nvSpPr>
        <p:spPr>
          <a:xfrm>
            <a:off x="9178814" y="3500000"/>
            <a:ext cx="300000" cy="300000"/>
          </a:xfrm>
          <a:prstGeom prst="ellipse">
            <a:avLst/>
          </a:prstGeom>
          <a:solidFill>
            <a:srgbClr val="21295C"/>
          </a:solidFill>
          <a:ln>
            <a:noFill/>
          </a:ln>
        </p:spPr>
        <p:txBody>
          <a:bodyPr wrap="none" lIns="0" tIns="0" rIns="0" bIns="0" anchor="ctr"/>
          <a:lstStyle/>
          <a:p>
            <a:pPr marL="0" indent="0" algn="ctr">
              <a:lnSpc>
                <a:spcPct val="100000"/>
              </a:lnSpc>
              <a:spcAft>
                <a:spcPts val="0"/>
              </a:spcAft>
              <a:buNone/>
            </a:pPr>
            <a:r>
              <a:rPr lang="fr-FR" sz="900" b="1" dirty="0">
                <a:solidFill>
                  <a:srgbClr val="FFFFFF"/>
                </a:solidFill>
                <a:latin typeface="Segoe UI" panose="020B0502040204020203" pitchFamily="34" charset="0"/>
                <a:ea typeface="Calibri" pitchFamily="34" charset="-122"/>
                <a:cs typeface="Segoe UI" panose="020B0502040204020203" pitchFamily="34" charset="0"/>
              </a:rPr>
              <a:t>04</a:t>
            </a:r>
          </a:p>
        </p:txBody>
      </p:sp>
      <p:sp>
        <p:nvSpPr>
          <p:cNvPr id="41" name="Text 41"/>
          <p:cNvSpPr txBox="1"/>
          <p:nvPr/>
        </p:nvSpPr>
        <p:spPr>
          <a:xfrm>
            <a:off x="9568814" y="3500000"/>
            <a:ext cx="2022938" cy="30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100" b="1" dirty="0">
                <a:solidFill>
                  <a:srgbClr val="21295C"/>
                </a:solidFill>
                <a:latin typeface="Segoe UI" panose="020B0502040204020203" pitchFamily="34" charset="0"/>
                <a:ea typeface="Calibri" pitchFamily="34" charset="-122"/>
                <a:cs typeface="Segoe UI" panose="020B0502040204020203" pitchFamily="34" charset="0"/>
              </a:rPr>
              <a:t>Outillage API</a:t>
            </a:r>
          </a:p>
        </p:txBody>
      </p:sp>
      <p:sp>
        <p:nvSpPr>
          <p:cNvPr id="42" name="Text 42"/>
          <p:cNvSpPr txBox="1"/>
          <p:nvPr/>
        </p:nvSpPr>
        <p:spPr>
          <a:xfrm>
            <a:off x="9178814" y="3880000"/>
            <a:ext cx="2412938" cy="700000"/>
          </a:xfrm>
          <a:prstGeom prst="rect">
            <a:avLst/>
          </a:prstGeom>
          <a:noFill/>
          <a:ln/>
        </p:spPr>
        <p:txBody>
          <a:bodyPr wrap="square" lIns="0" tIns="0" rIns="0" bIns="0" rtlCol="0" anchor="t">
            <a:noAutofit/>
          </a:bodyPr>
          <a:lstStyle/>
          <a:p>
            <a:pPr marL="0" indent="0" algn="l">
              <a:lnSpc>
                <a:spcPct val="100000"/>
              </a:lnSpc>
              <a:spcAft>
                <a:spcPts val="400"/>
              </a:spcAft>
              <a:buNone/>
            </a:pPr>
            <a:r>
              <a:rPr lang="fr-FR" sz="950" dirty="0">
                <a:solidFill>
                  <a:srgbClr val="1B2433"/>
                </a:solidFill>
                <a:latin typeface="Segoe UI" panose="020B0502040204020203" pitchFamily="34" charset="0"/>
                <a:ea typeface="Calibri" pitchFamily="34" charset="-122"/>
                <a:cs typeface="Segoe UI" panose="020B0502040204020203" pitchFamily="34" charset="0"/>
              </a:rPr>
              <a:t>Accès &amp; quotas, observabilité, versions, bac à sable</a:t>
            </a:r>
          </a:p>
          <a:p>
            <a:pPr marL="0" indent="0" algn="l">
              <a:lnSpc>
                <a:spcPct val="100000"/>
              </a:lnSpc>
              <a:spcAft>
                <a:spcPts val="0"/>
              </a:spcAft>
              <a:buNone/>
            </a:pPr>
            <a:r>
              <a:rPr lang="fr-FR" sz="950" b="1" dirty="0">
                <a:solidFill>
                  <a:srgbClr val="1C7293"/>
                </a:solidFill>
                <a:latin typeface="Segoe UI" panose="020B0502040204020203" pitchFamily="34" charset="0"/>
                <a:ea typeface="Calibri" pitchFamily="34" charset="-122"/>
                <a:cs typeface="Segoe UI" panose="020B0502040204020203" pitchFamily="34" charset="0"/>
              </a:rPr>
              <a:t>Pilote : </a:t>
            </a:r>
            <a:r>
              <a:rPr lang="fr-FR" sz="950" dirty="0">
                <a:solidFill>
                  <a:srgbClr val="1B2433"/>
                </a:solidFill>
                <a:latin typeface="Segoe UI" panose="020B0502040204020203" pitchFamily="34" charset="0"/>
                <a:ea typeface="Calibri" pitchFamily="34" charset="-122"/>
                <a:cs typeface="Segoe UI" panose="020B0502040204020203" pitchFamily="34" charset="0"/>
              </a:rPr>
              <a:t>À définir, avec la CF et l’Innovation Factory</a:t>
            </a:r>
          </a:p>
        </p:txBody>
      </p:sp>
      <p:sp>
        <p:nvSpPr>
          <p:cNvPr id="43" name="Shape 43"/>
          <p:cNvSpPr/>
          <p:nvPr/>
        </p:nvSpPr>
        <p:spPr>
          <a:xfrm>
            <a:off x="600000" y="4760000"/>
            <a:ext cx="5505876" cy="1360000"/>
          </a:xfrm>
          <a:prstGeom prst="roundRect">
            <a:avLst>
              <a:gd name="adj" fmla="val 3509"/>
            </a:avLst>
          </a:prstGeom>
          <a:solidFill>
            <a:srgbClr val="21295C"/>
          </a:solidFill>
          <a:ln>
            <a:noFill/>
          </a:ln>
        </p:spPr>
        <p:txBody>
          <a:bodyPr wrap="none" lIns="0" tIns="0" rIns="0" bIns="0" anchor="ctr"/>
          <a:lstStyle/>
          <a:p>
            <a:endParaRPr lang="fr-FR"/>
          </a:p>
        </p:txBody>
      </p:sp>
      <p:sp>
        <p:nvSpPr>
          <p:cNvPr id="44" name="Shape 44"/>
          <p:cNvSpPr/>
          <p:nvPr/>
        </p:nvSpPr>
        <p:spPr>
          <a:xfrm>
            <a:off x="780000" y="4870000"/>
            <a:ext cx="340000" cy="340000"/>
          </a:xfrm>
          <a:prstGeom prst="ellipse">
            <a:avLst/>
          </a:prstGeom>
          <a:solidFill>
            <a:srgbClr val="F2A516"/>
          </a:solidFill>
          <a:ln>
            <a:noFill/>
          </a:ln>
        </p:spPr>
        <p:txBody>
          <a:bodyPr wrap="none" lIns="0" tIns="0" rIns="0" bIns="0" anchor="ctr"/>
          <a:lstStyle/>
          <a:p>
            <a:endParaRPr lang="fr-FR"/>
          </a:p>
        </p:txBody>
      </p:sp>
      <p:pic>
        <p:nvPicPr>
          <p:cNvPr id="45" name="Icon 45" descr="icône"/>
          <p:cNvPicPr>
            <a:picLocks noChangeAspect="1"/>
          </p:cNvPicPr>
          <p:nvPr/>
        </p:nvPicPr>
        <p:blipFill>
          <a:blip r:embed="rId6"/>
          <a:stretch>
            <a:fillRect/>
          </a:stretch>
        </p:blipFill>
        <p:spPr>
          <a:xfrm>
            <a:off x="861600" y="4951600"/>
            <a:ext cx="176800" cy="176800"/>
          </a:xfrm>
          <a:prstGeom prst="rect">
            <a:avLst/>
          </a:prstGeom>
        </p:spPr>
      </p:pic>
      <p:sp>
        <p:nvSpPr>
          <p:cNvPr id="46" name="Text 46"/>
          <p:cNvSpPr txBox="1"/>
          <p:nvPr/>
        </p:nvSpPr>
        <p:spPr>
          <a:xfrm>
            <a:off x="1240000" y="4870000"/>
            <a:ext cx="4705876" cy="34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200" b="1" dirty="0">
                <a:solidFill>
                  <a:srgbClr val="FFFFFF"/>
                </a:solidFill>
                <a:latin typeface="Segoe UI" panose="020B0502040204020203" pitchFamily="34" charset="0"/>
                <a:ea typeface="Calibri" pitchFamily="34" charset="-122"/>
                <a:cs typeface="Segoe UI" panose="020B0502040204020203" pitchFamily="34" charset="0"/>
              </a:rPr>
              <a:t>Prochaines étapes structurantes</a:t>
            </a:r>
          </a:p>
        </p:txBody>
      </p:sp>
      <p:sp>
        <p:nvSpPr>
          <p:cNvPr id="47" name="Text 47"/>
          <p:cNvSpPr txBox="1"/>
          <p:nvPr/>
        </p:nvSpPr>
        <p:spPr>
          <a:xfrm>
            <a:off x="780000" y="5270000"/>
            <a:ext cx="5145876" cy="800000"/>
          </a:xfrm>
          <a:prstGeom prst="rect">
            <a:avLst/>
          </a:prstGeom>
          <a:noFill/>
          <a:ln/>
        </p:spPr>
        <p:txBody>
          <a:bodyPr wrap="square" lIns="0" tIns="0" rIns="0" bIns="0" rtlCol="0" anchor="t">
            <a:noAutofit/>
          </a:bodyPr>
          <a:lstStyle/>
          <a:p>
            <a:pPr marL="137160" indent="-137160" algn="l">
              <a:lnSpc>
                <a:spcPct val="100000"/>
              </a:lnSpc>
              <a:spcAft>
                <a:spcPts val="150"/>
              </a:spcAft>
              <a:buClr>
                <a:srgbClr val="F2A516"/>
              </a:buClr>
              <a:buFont typeface="Arial"/>
              <a:buChar char="✓"/>
            </a:pPr>
            <a:r>
              <a:rPr lang="fr-FR" sz="1000" b="1" dirty="0">
                <a:solidFill>
                  <a:srgbClr val="F2A516"/>
                </a:solidFill>
                <a:latin typeface="Segoe UI" panose="020B0502040204020203" pitchFamily="34" charset="0"/>
                <a:ea typeface="Calibri" pitchFamily="34" charset="-122"/>
                <a:cs typeface="Segoe UI" panose="020B0502040204020203" pitchFamily="34" charset="0"/>
              </a:rPr>
              <a:t>Valider</a:t>
            </a:r>
            <a:r>
              <a:rPr lang="fr-FR" sz="1000" dirty="0">
                <a:solidFill>
                  <a:srgbClr val="FFFFFF"/>
                </a:solidFill>
                <a:latin typeface="Segoe UI" panose="020B0502040204020203" pitchFamily="34" charset="0"/>
                <a:ea typeface="Calibri" pitchFamily="34" charset="-122"/>
                <a:cs typeface="Segoe UI" panose="020B0502040204020203" pitchFamily="34" charset="0"/>
              </a:rPr>
              <a:t> les 4 chantiers et leur découpage en lots</a:t>
            </a:r>
          </a:p>
          <a:p>
            <a:pPr marL="137160" indent="-137160" algn="l">
              <a:lnSpc>
                <a:spcPct val="100000"/>
              </a:lnSpc>
              <a:spcAft>
                <a:spcPts val="150"/>
              </a:spcAft>
              <a:buClr>
                <a:srgbClr val="F2A516"/>
              </a:buClr>
              <a:buFont typeface="Arial"/>
              <a:buChar char="✓"/>
            </a:pPr>
            <a:r>
              <a:rPr lang="fr-FR" sz="1000" b="1" dirty="0">
                <a:solidFill>
                  <a:srgbClr val="F2A516"/>
                </a:solidFill>
                <a:latin typeface="Segoe UI" panose="020B0502040204020203" pitchFamily="34" charset="0"/>
                <a:ea typeface="Calibri" pitchFamily="34" charset="-122"/>
                <a:cs typeface="Segoe UI" panose="020B0502040204020203" pitchFamily="34" charset="0"/>
              </a:rPr>
              <a:t>Valider</a:t>
            </a:r>
            <a:r>
              <a:rPr lang="fr-FR" sz="1000" dirty="0">
                <a:solidFill>
                  <a:srgbClr val="FFFFFF"/>
                </a:solidFill>
                <a:latin typeface="Segoe UI" panose="020B0502040204020203" pitchFamily="34" charset="0"/>
                <a:ea typeface="Calibri" pitchFamily="34" charset="-122"/>
                <a:cs typeface="Segoe UI" panose="020B0502040204020203" pitchFamily="34" charset="0"/>
              </a:rPr>
              <a:t> la priorisation des services</a:t>
            </a:r>
          </a:p>
          <a:p>
            <a:pPr marL="137160" indent="-137160" algn="l">
              <a:lnSpc>
                <a:spcPct val="100000"/>
              </a:lnSpc>
              <a:spcAft>
                <a:spcPts val="150"/>
              </a:spcAft>
              <a:buClr>
                <a:srgbClr val="F2A516"/>
              </a:buClr>
              <a:buFont typeface="Arial"/>
              <a:buChar char="✓"/>
            </a:pPr>
            <a:r>
              <a:rPr lang="fr-FR" sz="1000" b="1" dirty="0">
                <a:solidFill>
                  <a:srgbClr val="F2A516"/>
                </a:solidFill>
                <a:latin typeface="Segoe UI" panose="020B0502040204020203" pitchFamily="34" charset="0"/>
                <a:ea typeface="Calibri" pitchFamily="34" charset="-122"/>
                <a:cs typeface="Segoe UI" panose="020B0502040204020203" pitchFamily="34" charset="0"/>
              </a:rPr>
              <a:t>Valider</a:t>
            </a:r>
            <a:r>
              <a:rPr lang="fr-FR" sz="1000" dirty="0">
                <a:solidFill>
                  <a:srgbClr val="FFFFFF"/>
                </a:solidFill>
                <a:latin typeface="Segoe UI" panose="020B0502040204020203" pitchFamily="34" charset="0"/>
                <a:ea typeface="Calibri" pitchFamily="34" charset="-122"/>
                <a:cs typeface="Segoe UI" panose="020B0502040204020203" pitchFamily="34" charset="0"/>
              </a:rPr>
              <a:t> les équipes impactées et les pilotes par chantier</a:t>
            </a:r>
          </a:p>
          <a:p>
            <a:pPr marL="137160" indent="-137160" algn="l">
              <a:lnSpc>
                <a:spcPct val="100000"/>
              </a:lnSpc>
              <a:spcAft>
                <a:spcPts val="150"/>
              </a:spcAft>
              <a:buClr>
                <a:srgbClr val="F2A516"/>
              </a:buClr>
              <a:buFont typeface="Arial"/>
              <a:buChar char="✓"/>
            </a:pPr>
            <a:r>
              <a:rPr lang="fr-FR" sz="1000" b="1" dirty="0">
                <a:solidFill>
                  <a:srgbClr val="F2A516"/>
                </a:solidFill>
                <a:latin typeface="Segoe UI" panose="020B0502040204020203" pitchFamily="34" charset="0"/>
                <a:ea typeface="Calibri" pitchFamily="34" charset="-122"/>
                <a:cs typeface="Segoe UI" panose="020B0502040204020203" pitchFamily="34" charset="0"/>
              </a:rPr>
              <a:t>Lancer</a:t>
            </a:r>
            <a:r>
              <a:rPr lang="fr-FR" sz="1000" dirty="0">
                <a:solidFill>
                  <a:srgbClr val="FFFFFF"/>
                </a:solidFill>
                <a:latin typeface="Segoe UI" panose="020B0502040204020203" pitchFamily="34" charset="0"/>
                <a:ea typeface="Calibri" pitchFamily="34" charset="-122"/>
                <a:cs typeface="Segoe UI" panose="020B0502040204020203" pitchFamily="34" charset="0"/>
              </a:rPr>
              <a:t> les cadrages des chantiers 1, 2 et 3, avec suivi transverse</a:t>
            </a:r>
          </a:p>
        </p:txBody>
      </p:sp>
      <p:sp>
        <p:nvSpPr>
          <p:cNvPr id="48" name="Shape 48"/>
          <p:cNvSpPr/>
          <p:nvPr/>
        </p:nvSpPr>
        <p:spPr>
          <a:xfrm>
            <a:off x="6225876" y="4760000"/>
            <a:ext cx="5505876" cy="1360000"/>
          </a:xfrm>
          <a:prstGeom prst="roundRect">
            <a:avLst>
              <a:gd name="adj" fmla="val 3509"/>
            </a:avLst>
          </a:prstGeom>
          <a:solidFill>
            <a:srgbClr val="F4F7FB"/>
          </a:solidFill>
          <a:ln>
            <a:noFill/>
          </a:ln>
        </p:spPr>
        <p:txBody>
          <a:bodyPr wrap="none" lIns="0" tIns="0" rIns="0" bIns="0" anchor="ctr"/>
          <a:lstStyle/>
          <a:p>
            <a:endParaRPr lang="fr-FR"/>
          </a:p>
        </p:txBody>
      </p:sp>
      <p:sp>
        <p:nvSpPr>
          <p:cNvPr id="49" name="Shape 49"/>
          <p:cNvSpPr/>
          <p:nvPr/>
        </p:nvSpPr>
        <p:spPr>
          <a:xfrm>
            <a:off x="6405876" y="4870000"/>
            <a:ext cx="340000" cy="340000"/>
          </a:xfrm>
          <a:prstGeom prst="ellipse">
            <a:avLst/>
          </a:prstGeom>
          <a:solidFill>
            <a:srgbClr val="1C7293"/>
          </a:solidFill>
          <a:ln>
            <a:noFill/>
          </a:ln>
        </p:spPr>
        <p:txBody>
          <a:bodyPr wrap="none" lIns="0" tIns="0" rIns="0" bIns="0" anchor="ctr"/>
          <a:lstStyle/>
          <a:p>
            <a:endParaRPr lang="fr-FR"/>
          </a:p>
        </p:txBody>
      </p:sp>
      <p:pic>
        <p:nvPicPr>
          <p:cNvPr id="50" name="Icon 50" descr="icône"/>
          <p:cNvPicPr>
            <a:picLocks noChangeAspect="1"/>
          </p:cNvPicPr>
          <p:nvPr/>
        </p:nvPicPr>
        <p:blipFill>
          <a:blip r:embed="rId7"/>
          <a:stretch>
            <a:fillRect/>
          </a:stretch>
        </p:blipFill>
        <p:spPr>
          <a:xfrm>
            <a:off x="6487476" y="4951600"/>
            <a:ext cx="176800" cy="176800"/>
          </a:xfrm>
          <a:prstGeom prst="rect">
            <a:avLst/>
          </a:prstGeom>
        </p:spPr>
      </p:pic>
      <p:sp>
        <p:nvSpPr>
          <p:cNvPr id="51" name="Text 51"/>
          <p:cNvSpPr txBox="1"/>
          <p:nvPr/>
        </p:nvSpPr>
        <p:spPr>
          <a:xfrm>
            <a:off x="6865876" y="4870000"/>
            <a:ext cx="4705876" cy="34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200" b="1" dirty="0">
                <a:solidFill>
                  <a:srgbClr val="21295C"/>
                </a:solidFill>
                <a:latin typeface="Segoe UI" panose="020B0502040204020203" pitchFamily="34" charset="0"/>
                <a:ea typeface="Calibri" pitchFamily="34" charset="-122"/>
                <a:cs typeface="Segoe UI" panose="020B0502040204020203" pitchFamily="34" charset="0"/>
              </a:rPr>
              <a:t>Points de vigilance</a:t>
            </a:r>
          </a:p>
        </p:txBody>
      </p:sp>
      <p:sp>
        <p:nvSpPr>
          <p:cNvPr id="52" name="Text 52"/>
          <p:cNvSpPr txBox="1"/>
          <p:nvPr/>
        </p:nvSpPr>
        <p:spPr>
          <a:xfrm>
            <a:off x="6405876" y="5270000"/>
            <a:ext cx="5145876" cy="800000"/>
          </a:xfrm>
          <a:prstGeom prst="rect">
            <a:avLst/>
          </a:prstGeom>
          <a:noFill/>
          <a:ln/>
        </p:spPr>
        <p:txBody>
          <a:bodyPr wrap="square" lIns="0" tIns="0" rIns="0" bIns="0" rtlCol="0" anchor="t">
            <a:noAutofit/>
          </a:bodyPr>
          <a:lstStyle/>
          <a:p>
            <a:pPr marL="137160" indent="-137160" algn="l">
              <a:lnSpc>
                <a:spcPct val="100000"/>
              </a:lnSpc>
              <a:spcAft>
                <a:spcPts val="150"/>
              </a:spcAft>
              <a:buClr>
                <a:srgbClr val="1C7293"/>
              </a:buClr>
              <a:buFont typeface="Arial"/>
              <a:buChar char="•"/>
            </a:pPr>
            <a:r>
              <a:rPr lang="fr-FR" sz="1000" b="1" dirty="0">
                <a:solidFill>
                  <a:srgbClr val="21295C"/>
                </a:solidFill>
                <a:latin typeface="Segoe UI" panose="020B0502040204020203" pitchFamily="34" charset="0"/>
                <a:ea typeface="Calibri" pitchFamily="34" charset="-122"/>
                <a:cs typeface="Segoe UI" panose="020B0502040204020203" pitchFamily="34" charset="0"/>
              </a:rPr>
              <a:t>Adhérences CF</a:t>
            </a:r>
            <a:r>
              <a:rPr lang="fr-FR" sz="1000" dirty="0">
                <a:solidFill>
                  <a:srgbClr val="1B2433"/>
                </a:solidFill>
                <a:latin typeface="Segoe UI" panose="020B0502040204020203" pitchFamily="34" charset="0"/>
                <a:ea typeface="Calibri" pitchFamily="34" charset="-122"/>
                <a:cs typeface="Segoe UI" panose="020B0502040204020203" pitchFamily="34" charset="0"/>
              </a:rPr>
              <a:t> : portail d’exposition et périmètre agentique</a:t>
            </a:r>
          </a:p>
          <a:p>
            <a:pPr marL="137160" indent="-137160" algn="l">
              <a:lnSpc>
                <a:spcPct val="100000"/>
              </a:lnSpc>
              <a:spcAft>
                <a:spcPts val="150"/>
              </a:spcAft>
              <a:buClr>
                <a:srgbClr val="1C7293"/>
              </a:buClr>
              <a:buFont typeface="Arial"/>
              <a:buChar char="•"/>
            </a:pPr>
            <a:r>
              <a:rPr lang="fr-FR" sz="1000" b="1" dirty="0">
                <a:solidFill>
                  <a:srgbClr val="21295C"/>
                </a:solidFill>
                <a:latin typeface="Segoe UI" panose="020B0502040204020203" pitchFamily="34" charset="0"/>
                <a:ea typeface="Calibri" pitchFamily="34" charset="-122"/>
                <a:cs typeface="Segoe UI" panose="020B0502040204020203" pitchFamily="34" charset="0"/>
              </a:rPr>
              <a:t>Bac à sable</a:t>
            </a:r>
            <a:r>
              <a:rPr lang="fr-FR" sz="1000" dirty="0">
                <a:solidFill>
                  <a:srgbClr val="1B2433"/>
                </a:solidFill>
                <a:latin typeface="Segoe UI" panose="020B0502040204020203" pitchFamily="34" charset="0"/>
                <a:ea typeface="Calibri" pitchFamily="34" charset="-122"/>
                <a:cs typeface="Segoe UI" panose="020B0502040204020203" pitchFamily="34" charset="0"/>
              </a:rPr>
              <a:t> : faisabilité chez EI (Innovation Factory)</a:t>
            </a:r>
          </a:p>
          <a:p>
            <a:pPr marL="137160" indent="-137160" algn="l">
              <a:lnSpc>
                <a:spcPct val="100000"/>
              </a:lnSpc>
              <a:spcAft>
                <a:spcPts val="150"/>
              </a:spcAft>
              <a:buClr>
                <a:srgbClr val="1C7293"/>
              </a:buClr>
              <a:buFont typeface="Arial"/>
              <a:buChar char="•"/>
            </a:pPr>
            <a:r>
              <a:rPr lang="fr-FR" sz="1000" b="1" dirty="0">
                <a:solidFill>
                  <a:srgbClr val="21295C"/>
                </a:solidFill>
                <a:latin typeface="Segoe UI" panose="020B0502040204020203" pitchFamily="34" charset="0"/>
                <a:ea typeface="Calibri" pitchFamily="34" charset="-122"/>
                <a:cs typeface="Segoe UI" panose="020B0502040204020203" pitchFamily="34" charset="0"/>
              </a:rPr>
              <a:t>Règles de gestion</a:t>
            </a:r>
            <a:r>
              <a:rPr lang="fr-FR" sz="1000" dirty="0">
                <a:solidFill>
                  <a:srgbClr val="1B2433"/>
                </a:solidFill>
                <a:latin typeface="Segoe UI" panose="020B0502040204020203" pitchFamily="34" charset="0"/>
                <a:ea typeface="Calibri" pitchFamily="34" charset="-122"/>
                <a:cs typeface="Segoe UI" panose="020B0502040204020203" pitchFamily="34" charset="0"/>
              </a:rPr>
              <a:t> : quotas, refacturation par palier, niveaux de service</a:t>
            </a:r>
          </a:p>
          <a:p>
            <a:pPr marL="137160" indent="-137160" algn="l">
              <a:lnSpc>
                <a:spcPct val="100000"/>
              </a:lnSpc>
              <a:spcAft>
                <a:spcPts val="150"/>
              </a:spcAft>
              <a:buClr>
                <a:srgbClr val="1C7293"/>
              </a:buClr>
              <a:buFont typeface="Arial"/>
              <a:buChar char="•"/>
            </a:pPr>
            <a:r>
              <a:rPr lang="fr-FR" sz="1000" b="1" dirty="0">
                <a:solidFill>
                  <a:srgbClr val="21295C"/>
                </a:solidFill>
                <a:latin typeface="Segoe UI" panose="020B0502040204020203" pitchFamily="34" charset="0"/>
                <a:ea typeface="Calibri" pitchFamily="34" charset="-122"/>
                <a:cs typeface="Segoe UI" panose="020B0502040204020203" pitchFamily="34" charset="0"/>
              </a:rPr>
              <a:t>Gouvernance</a:t>
            </a:r>
            <a:r>
              <a:rPr lang="fr-FR" sz="1000" dirty="0">
                <a:solidFill>
                  <a:srgbClr val="1B2433"/>
                </a:solidFill>
                <a:latin typeface="Segoe UI" panose="020B0502040204020203" pitchFamily="34" charset="0"/>
                <a:ea typeface="Calibri" pitchFamily="34" charset="-122"/>
                <a:cs typeface="Segoe UI" panose="020B0502040204020203" pitchFamily="34" charset="0"/>
              </a:rPr>
              <a:t> : traçabilité, audit ; ouverture MOA, Operating Model</a:t>
            </a:r>
          </a:p>
        </p:txBody>
      </p:sp>
    </p:spTree>
    <p:extLst>
      <p:ext uri="{BB962C8B-B14F-4D97-AF65-F5344CB8AC3E}">
        <p14:creationId xmlns:p14="http://schemas.microsoft.com/office/powerpoint/2010/main" val="1583483065"/>
      </p:ext>
    </p:extLst>
  </p:cSld>
  <p:clrMapOvr>
    <a:masterClrMapping/>
  </p:clrMapOvr>
</p:sld>
</file>

<file path=ppt/theme/theme1.xml><?xml version="1.0" encoding="utf-8"?>
<a:theme xmlns:a="http://schemas.openxmlformats.org/drawingml/2006/main" name="9_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Modele_presentation_avec_sigle_EI.pptx" id="{B99EAE91-1054-4C9C-80B9-DCEBA3F2C693}" vid="{809C3AEC-4C68-4DCA-96C7-544C83173E81}"/>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PJQFUVHKSAJQ-1373287592-275512</_dlc_DocId>
    <_dlc_DocIdUrl xmlns="9da6f561-6c40-462f-af3e-6833fe74929f">
      <Url>https://moss-si.cm-cic.fr/Sites/D00116/Documentation/_layouts/15/DocIdRedir.aspx?ID=PJQFUVHKSAJQ-1373287592-275512</Url>
      <Description>PJQFUVHKSAJQ-1373287592-275512</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05F62B-875A-44DA-9C24-ECFA753B3086}">
  <ds:schemaRefs>
    <ds:schemaRef ds:uri="http://schemas.microsoft.com/sharepoint/events"/>
  </ds:schemaRefs>
</ds:datastoreItem>
</file>

<file path=customXml/itemProps2.xml><?xml version="1.0" encoding="utf-8"?>
<ds:datastoreItem xmlns:ds="http://schemas.openxmlformats.org/officeDocument/2006/customXml" ds:itemID="{14BDAD69-8D02-46F2-AAEF-AB5B9560E0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976B7B-DEE3-47D2-A92E-B47AF02955AC}">
  <ds:schemaRefs>
    <ds:schemaRef ds:uri="http://schemas.microsoft.com/office/2006/metadata/properties"/>
    <ds:schemaRef ds:uri="http://schemas.microsoft.com/office/infopath/2007/PartnerControls"/>
    <ds:schemaRef ds:uri="http://purl.org/dc/elements/1.1/"/>
    <ds:schemaRef ds:uri="http://purl.org/dc/dcmitype/"/>
    <ds:schemaRef ds:uri="8ff6ca53-9990-4cf6-aa9b-81190a5c5371"/>
    <ds:schemaRef ds:uri="http://purl.org/dc/terms/"/>
    <ds:schemaRef ds:uri="http://schemas.openxmlformats.org/package/2006/metadata/core-properties"/>
    <ds:schemaRef ds:uri="99cee9d7-070e-44dd-ab97-3503062ab504"/>
    <ds:schemaRef ds:uri="http://schemas.microsoft.com/office/2006/documentManagement/types"/>
    <ds:schemaRef ds:uri="http://schemas.microsoft.com/sharepoint/v4"/>
    <ds:schemaRef ds:uri="9da6f561-6c40-462f-af3e-6833fe74929f"/>
    <ds:schemaRef ds:uri="http://schemas.microsoft.com/sharepoint/v3"/>
    <ds:schemaRef ds:uri="http://www.w3.org/XML/1998/namespace"/>
  </ds:schemaRefs>
</ds:datastoreItem>
</file>

<file path=customXml/itemProps4.xml><?xml version="1.0" encoding="utf-8"?>
<ds:datastoreItem xmlns:ds="http://schemas.openxmlformats.org/officeDocument/2006/customXml" ds:itemID="{878C9C5E-DE36-419C-A811-BD5853BD94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18261</TotalTime>
  <Words>649</Words>
  <Application>Microsoft Macintosh PowerPoint</Application>
  <PresentationFormat>Grand écran</PresentationFormat>
  <Paragraphs>53</Paragraphs>
  <Slides>1</Slides>
  <Notes>1</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1</vt:i4>
      </vt:variant>
    </vt:vector>
  </HeadingPairs>
  <TitlesOfParts>
    <vt:vector size="8" baseType="lpstr">
      <vt:lpstr>Arial</vt:lpstr>
      <vt:lpstr>Calibri</vt:lpstr>
      <vt:lpstr>Segoe UI</vt:lpstr>
      <vt:lpstr>Segoe UI Light</vt:lpstr>
      <vt:lpstr>Wingdings 3</vt:lpstr>
      <vt:lpstr>9_Thème Office</vt:lpstr>
      <vt:lpstr>Thème Office</vt:lpstr>
      <vt:lpstr>NADIA — Mise à disposition des services OCRF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ISSOULGHANE Morad (PRESTA EXT)</dc:creator>
  <cp:lastModifiedBy>MORAD ISSOULGHANE</cp:lastModifiedBy>
  <cp:revision>201</cp:revision>
  <dcterms:created xsi:type="dcterms:W3CDTF">2024-11-29T08:59:48Z</dcterms:created>
  <dcterms:modified xsi:type="dcterms:W3CDTF">2026-09-21T08:01:47Z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Nature du document">
    <vt:lpwstr>1;#Document|f926a2be-6740-4577-ba49-e4b230c74a1c</vt:lpwstr>
  </property>
  <property fmtid="{D5CDD505-2E9C-101B-9397-08002B2CF9AE}" pid="5" name="Classification">
    <vt:lpwstr>2;#10 - Interne|88571201-3d77-41d7-bf2a-abb247897d97</vt:lpwstr>
  </property>
  <property fmtid="{D5CDD505-2E9C-101B-9397-08002B2CF9AE}" pid="6" name="ROBIN">
    <vt:lpwstr/>
  </property>
  <property fmtid="{D5CDD505-2E9C-101B-9397-08002B2CF9AE}" pid="7" name="_dlc_DocIdItemGuid">
    <vt:lpwstr>5e6376b7-6b89-43d7-8ce1-b32e625e89e3</vt:lpwstr>
  </property>
</Properties>
</file>