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76" r:id="rId6"/>
  </p:sldMasterIdLst>
  <p:notesMasterIdLst>
    <p:notesMasterId r:id="rId8"/>
  </p:notesMasterIdLst>
  <p:sldIdLst>
    <p:sldId id="288"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F68DCDE7-8DE5-4817-BDE0-19994DBFD137}">
          <p14:sldIdLst>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003A8D"/>
    <a:srgbClr val="BF9000"/>
    <a:srgbClr val="C55A11"/>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79" autoAdjust="0"/>
    <p:restoredTop sz="93447" autoAdjust="0"/>
  </p:normalViewPr>
  <p:slideViewPr>
    <p:cSldViewPr snapToGrid="0">
      <p:cViewPr varScale="1">
        <p:scale>
          <a:sx n="103" d="100"/>
          <a:sy n="103" d="100"/>
        </p:scale>
        <p:origin x="96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100DA-EF6E-43A6-BE42-0328AC92E799}"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3E3A16-A2CC-405A-BF79-D9EF9861C593}" type="slidenum">
              <a:rPr lang="fr-FR" smtClean="0"/>
              <a:t>‹N°›</a:t>
            </a:fld>
            <a:endParaRPr lang="fr-FR"/>
          </a:p>
        </p:txBody>
      </p:sp>
    </p:spTree>
    <p:extLst>
      <p:ext uri="{BB962C8B-B14F-4D97-AF65-F5344CB8AC3E}">
        <p14:creationId xmlns:p14="http://schemas.microsoft.com/office/powerpoint/2010/main" val="3472101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dirty="0">
                <a:latin typeface="Calibri"/>
              </a:rPr>
              <a:t>[Accroche – 20 s] Deux sujets liés : rendre nos CWs indépendants des moteurs OCR, et en profiter pour leur ouvrir les services IA de CADI.</a:t>
            </a:r>
          </a:p>
          <a:p>
            <a:r>
              <a:rPr lang="fr-FR" sz="1200" dirty="0">
                <a:latin typeface="Calibri"/>
              </a:rPr>
              <a:t>[Constat – 30 s] Certains CWs appellent directement des méthodes moteur (ex. A2IA pour les montants) : chaque changement de moteur touche le métier. Les services IA de CADI ne sont pas exploitables par les CWs SYO. Et le contrôle humain systématique des résultats OCR n’est pas tenable en production.</a:t>
            </a:r>
          </a:p>
          <a:p>
            <a:r>
              <a:rPr lang="fr-FR" sz="1200" dirty="0">
                <a:latin typeface="Calibri"/>
              </a:rPr>
              <a:t>[Objectifs &amp; bénéfices – 40 s] Découpler, ouvrir, évaluer. Ce qu’on y gagne : des moteurs interchangeables, des délais et des coûts réduits sur la classification et l’extraction, une meilleure qualité sur les documents complexes, et un opérateur sollicité seulement quand c’est nécessaire.</a:t>
            </a:r>
          </a:p>
          <a:p>
            <a:r>
              <a:rPr lang="fr-FR" sz="1200" dirty="0">
                <a:latin typeface="Calibri"/>
              </a:rPr>
              <a:t>[Trajectoire – 60 s] Stream 1 (H620) : sécuriser l’existant — méthodes maintenues, CWs impactés identifiés avec le CW Screener, migration vers Ocrus flux par flux. Stream 2 (H620) : techniquement simple, un adapter CADI derrière l’interface Ocrus, sans toucher au code métier. Stream 3 (H550, qui coordonne) : un scénario rapide à ROI mesurable, un POC de score statistique, et une piste LLM as Judge avec la CF.</a:t>
            </a:r>
          </a:p>
          <a:p>
            <a:r>
              <a:rPr lang="fr-FR" sz="1200" dirty="0">
                <a:latin typeface="Calibri"/>
              </a:rPr>
              <a:t>[Prochaines étapes – 30 s] P1 : méthodes obsolètes et CWs impactés, en lien avec le plan STR. P2 : connecteur Ocrus ↔ CADI pour Contrôle Doc +. Cadrer le mécanisme d’évaluation.</a:t>
            </a:r>
          </a:p>
          <a:p>
            <a:r>
              <a:rPr lang="fr-FR" sz="1200" dirty="0">
                <a:latin typeface="Calibri"/>
              </a:rPr>
              <a:t>[Vigilance – 20 s] CWs complexes (PAULA, Dons), non-régression sous contrôle H560, montée en charge de CADI. La saisie assistée fera l’objet d’une note séparée.</a:t>
            </a:r>
          </a:p>
          <a:p>
            <a:r>
              <a:rPr lang="fr-FR" sz="1200" dirty="0">
                <a:latin typeface="Calibri"/>
              </a:rPr>
              <a:t>[Conclusion] Demander la validation des 3 streams, des pilotes et des priorités P1 / P2.</a:t>
            </a:r>
          </a:p>
        </p:txBody>
      </p:sp>
      <p:sp>
        <p:nvSpPr>
          <p:cNvPr id="4" name="Espace réservé du numéro de diapositive 3"/>
          <p:cNvSpPr>
            <a:spLocks noGrp="1"/>
          </p:cNvSpPr>
          <p:nvPr>
            <p:ph type="sldNum" sz="quarter" idx="5"/>
          </p:nvPr>
        </p:nvSpPr>
        <p:spPr/>
        <p:txBody>
          <a:bodyPr/>
          <a:lstStyle/>
          <a:p>
            <a:fld id="{9E3E3A16-A2CC-405A-BF79-D9EF9861C593}" type="slidenum">
              <a:rPr lang="fr-FR" smtClean="0"/>
              <a:t>1</a:t>
            </a:fld>
            <a:endParaRPr lang="fr-FR"/>
          </a:p>
        </p:txBody>
      </p:sp>
    </p:spTree>
    <p:extLst>
      <p:ext uri="{BB962C8B-B14F-4D97-AF65-F5344CB8AC3E}">
        <p14:creationId xmlns:p14="http://schemas.microsoft.com/office/powerpoint/2010/main" val="262980652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dirty="0"/>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US" dirty="0"/>
          </a:p>
        </p:txBody>
      </p:sp>
      <p:sp>
        <p:nvSpPr>
          <p:cNvPr id="9" name="Rectangle 13"/>
          <p:cNvSpPr/>
          <p:nvPr userDrawn="1"/>
        </p:nvSpPr>
        <p:spPr>
          <a:xfrm>
            <a:off x="4880008" y="3858688"/>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10" y="6307275"/>
            <a:ext cx="531475" cy="274695"/>
          </a:xfrm>
          <a:prstGeom prst="rect">
            <a:avLst/>
          </a:prstGeom>
        </p:spPr>
      </p:pic>
    </p:spTree>
    <p:extLst>
      <p:ext uri="{BB962C8B-B14F-4D97-AF65-F5344CB8AC3E}">
        <p14:creationId xmlns:p14="http://schemas.microsoft.com/office/powerpoint/2010/main" val="3523622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43365310"/>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2"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6"/>
            <a:ext cx="1103153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00463036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2" name="Espace réservé du texte 3"/>
          <p:cNvSpPr>
            <a:spLocks noGrp="1"/>
          </p:cNvSpPr>
          <p:nvPr>
            <p:ph type="body" sz="quarter" idx="15"/>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2119570270"/>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3" name="Espace réservé du texte 3"/>
          <p:cNvSpPr>
            <a:spLocks noGrp="1"/>
          </p:cNvSpPr>
          <p:nvPr>
            <p:ph type="body" sz="quarter" idx="16"/>
          </p:nvPr>
        </p:nvSpPr>
        <p:spPr>
          <a:xfrm>
            <a:off x="6477001" y="1480876"/>
            <a:ext cx="5376068" cy="4811183"/>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Tree>
    <p:extLst>
      <p:ext uri="{BB962C8B-B14F-4D97-AF65-F5344CB8AC3E}">
        <p14:creationId xmlns:p14="http://schemas.microsoft.com/office/powerpoint/2010/main" val="410802727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8" y="3515521"/>
            <a:ext cx="10933641"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814422790"/>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3" y="1239417"/>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6"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8"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6" name="Espace réservé du texte 5"/>
          <p:cNvSpPr>
            <a:spLocks noGrp="1"/>
          </p:cNvSpPr>
          <p:nvPr>
            <p:ph type="body" sz="quarter" idx="18"/>
          </p:nvPr>
        </p:nvSpPr>
        <p:spPr>
          <a:xfrm>
            <a:off x="911225" y="3515521"/>
            <a:ext cx="10941844" cy="2688431"/>
          </a:xfrm>
          <a:prstGeom prst="rect">
            <a:avLst/>
          </a:prstGeo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357452392"/>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23"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24" name="Espace réservé du pied de page 4"/>
          <p:cNvSpPr>
            <a:spLocks noGrp="1"/>
          </p:cNvSpPr>
          <p:nvPr>
            <p:ph type="ftr" sz="quarter" idx="11"/>
          </p:nvPr>
        </p:nvSpPr>
        <p:spPr>
          <a:xfrm>
            <a:off x="4648201"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2"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Tree>
    <p:extLst>
      <p:ext uri="{BB962C8B-B14F-4D97-AF65-F5344CB8AC3E}">
        <p14:creationId xmlns:p14="http://schemas.microsoft.com/office/powerpoint/2010/main" val="744012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8"/>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endParaRPr lang="fr-FR"/>
          </a:p>
        </p:txBody>
      </p:sp>
      <p:sp>
        <p:nvSpPr>
          <p:cNvPr id="55"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a:solidFill>
                  <a:prstClr val="white">
                    <a:lumMod val="50000"/>
                  </a:prstClr>
                </a:solidFill>
              </a:rPr>
              <a:pPr/>
              <a:t>‹N°›</a:t>
            </a:fld>
            <a:endParaRPr>
              <a:solidFill>
                <a:prstClr val="white">
                  <a:lumMod val="50000"/>
                </a:prstClr>
              </a:solidFill>
            </a:endParaRPr>
          </a:p>
        </p:txBody>
      </p:sp>
      <p:sp>
        <p:nvSpPr>
          <p:cNvPr id="56" name="Espace réservé du pied de page 4"/>
          <p:cNvSpPr>
            <a:spLocks noGrp="1"/>
          </p:cNvSpPr>
          <p:nvPr>
            <p:ph type="ftr" sz="quarter" idx="11"/>
          </p:nvPr>
        </p:nvSpPr>
        <p:spPr>
          <a:xfrm>
            <a:off x="4648203"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16" name="Espace réservé du texte 3"/>
          <p:cNvSpPr>
            <a:spLocks noGrp="1"/>
          </p:cNvSpPr>
          <p:nvPr>
            <p:ph type="body" sz="quarter" idx="13"/>
          </p:nvPr>
        </p:nvSpPr>
        <p:spPr>
          <a:xfrm>
            <a:off x="4648201" y="1559428"/>
            <a:ext cx="7196667" cy="4446407"/>
          </a:xfrm>
          <a:prstGeom prst="rect">
            <a:avLst/>
          </a:prstGeom>
        </p:spPr>
        <p:txBody>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577373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5"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20"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26309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a:solidFill>
                  <a:prstClr val="black">
                    <a:tint val="75000"/>
                  </a:prstClr>
                </a:solidFill>
              </a:endParaRPr>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r>
              <a:rPr lang="fr-FR"/>
              <a:t>Atterrissage Alexandrie - Gouvernance et Organisation</a:t>
            </a:r>
            <a:endParaRPr/>
          </a:p>
        </p:txBody>
      </p:sp>
      <p:sp>
        <p:nvSpPr>
          <p:cNvPr id="21" name="Espace réservé du numéro de diapositive 5"/>
          <p:cNvSpPr>
            <a:spLocks noGrp="1"/>
          </p:cNvSpPr>
          <p:nvPr>
            <p:ph type="sldNum" sz="quarter" idx="12"/>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a:pPr/>
              <a:t>‹N°›</a:t>
            </a:fld>
            <a:endParaRPr/>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dirty="0"/>
              <a:t>Modifiez le style du titre</a:t>
            </a:r>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9889821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dirty="0"/>
              <a:t>Modifiez le style du titre</a:t>
            </a:r>
          </a:p>
        </p:txBody>
      </p:sp>
    </p:spTree>
    <p:extLst>
      <p:ext uri="{BB962C8B-B14F-4D97-AF65-F5344CB8AC3E}">
        <p14:creationId xmlns:p14="http://schemas.microsoft.com/office/powerpoint/2010/main" val="30585980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dirty="0"/>
              <a:t>Modifiez le style du titre</a:t>
            </a:r>
          </a:p>
        </p:txBody>
      </p:sp>
    </p:spTree>
    <p:extLst>
      <p:ext uri="{BB962C8B-B14F-4D97-AF65-F5344CB8AC3E}">
        <p14:creationId xmlns:p14="http://schemas.microsoft.com/office/powerpoint/2010/main" val="2322462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pitre image">
    <p:bg>
      <p:bgPr>
        <a:solidFill>
          <a:srgbClr val="003A8D"/>
        </a:solidFill>
        <a:effectLst/>
      </p:bgPr>
    </p:bg>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1000">
              <a:solidFill>
                <a:prstClr val="white"/>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7262446"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2" name="Titre 1"/>
          <p:cNvSpPr>
            <a:spLocks noGrp="1"/>
          </p:cNvSpPr>
          <p:nvPr>
            <p:ph type="title"/>
          </p:nvPr>
        </p:nvSpPr>
        <p:spPr>
          <a:xfrm>
            <a:off x="7603067" y="1384304"/>
            <a:ext cx="4485216" cy="2362199"/>
          </a:xfrm>
          <a:prstGeom prst="rect">
            <a:avLst/>
          </a:prstGeom>
        </p:spPr>
        <p:txBody>
          <a:bodyPr anchor="b">
            <a:normAutofit/>
          </a:bodyPr>
          <a:lstStyle>
            <a:lvl1pPr algn="l">
              <a:defRPr sz="5500">
                <a:solidFill>
                  <a:schemeClr val="bg1"/>
                </a:solidFill>
              </a:defRPr>
            </a:lvl1pPr>
          </a:lstStyle>
          <a:p>
            <a:r>
              <a:rPr lang="fr-FR" dirty="0"/>
              <a:t>Modifiez le style du titre</a:t>
            </a:r>
          </a:p>
        </p:txBody>
      </p:sp>
      <p:sp>
        <p:nvSpPr>
          <p:cNvPr id="5" name="Rectangle 4"/>
          <p:cNvSpPr/>
          <p:nvPr userDrawn="1"/>
        </p:nvSpPr>
        <p:spPr>
          <a:xfrm>
            <a:off x="9128846" y="3848103"/>
            <a:ext cx="2891704" cy="46893"/>
          </a:xfrm>
          <a:prstGeom prst="rect">
            <a:avLst/>
          </a:prstGeom>
          <a:solidFill>
            <a:schemeClr val="bg1">
              <a:alpha val="96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Tree>
    <p:extLst>
      <p:ext uri="{BB962C8B-B14F-4D97-AF65-F5344CB8AC3E}">
        <p14:creationId xmlns:p14="http://schemas.microsoft.com/office/powerpoint/2010/main" val="3956929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clusion">
    <p:bg>
      <p:bgPr>
        <a:solidFill>
          <a:schemeClr val="bg1"/>
        </a:solidFill>
        <a:effectLst/>
      </p:bgPr>
    </p:bg>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9" name="Rectangle à coins arrondis 8"/>
          <p:cNvSpPr/>
          <p:nvPr userDrawn="1"/>
        </p:nvSpPr>
        <p:spPr>
          <a:xfrm>
            <a:off x="266700" y="190501"/>
            <a:ext cx="11658600" cy="5549900"/>
          </a:xfrm>
          <a:prstGeom prst="roundRect">
            <a:avLst>
              <a:gd name="adj" fmla="val 3479"/>
            </a:avLst>
          </a:prstGeom>
          <a:solidFill>
            <a:srgbClr val="003A8D">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2" name="Titre 1"/>
          <p:cNvSpPr>
            <a:spLocks noGrp="1"/>
          </p:cNvSpPr>
          <p:nvPr>
            <p:ph type="ctrTitle" hasCustomPrompt="1"/>
          </p:nvPr>
        </p:nvSpPr>
        <p:spPr>
          <a:xfrm>
            <a:off x="4800600" y="1471085"/>
            <a:ext cx="6400800" cy="2387600"/>
          </a:xfrm>
          <a:prstGeom prst="rect">
            <a:avLst/>
          </a:prstGeom>
        </p:spPr>
        <p:txBody>
          <a:bodyPr anchor="b"/>
          <a:lstStyle>
            <a:lvl1pPr algn="l">
              <a:defRPr sz="6000">
                <a:solidFill>
                  <a:schemeClr val="bg1"/>
                </a:solidFill>
              </a:defRPr>
            </a:lvl1pPr>
          </a:lstStyle>
          <a:p>
            <a:r>
              <a:rPr lang="fr-FR" dirty="0"/>
              <a:t>Diapositive de conclusion</a:t>
            </a:r>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8" y="5805724"/>
            <a:ext cx="1018605" cy="941409"/>
          </a:xfrm>
          <a:prstGeom prst="rect">
            <a:avLst/>
          </a:prstGeom>
        </p:spPr>
      </p:pic>
      <p:pic>
        <p:nvPicPr>
          <p:cNvPr id="12" name="Image 11"/>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4772" y="6152708"/>
            <a:ext cx="1969397" cy="247164"/>
          </a:xfrm>
          <a:prstGeom prst="rect">
            <a:avLst/>
          </a:prstGeom>
        </p:spPr>
      </p:pic>
      <p:pic>
        <p:nvPicPr>
          <p:cNvPr id="13" name="Image 1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799241" y="6126109"/>
            <a:ext cx="693258" cy="358313"/>
          </a:xfrm>
          <a:prstGeom prst="rect">
            <a:avLst/>
          </a:prstGeom>
        </p:spPr>
      </p:pic>
    </p:spTree>
    <p:extLst>
      <p:ext uri="{BB962C8B-B14F-4D97-AF65-F5344CB8AC3E}">
        <p14:creationId xmlns:p14="http://schemas.microsoft.com/office/powerpoint/2010/main" val="1756363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pic>
        <p:nvPicPr>
          <p:cNvPr id="4" name="Imag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6700" y="190501"/>
            <a:ext cx="11659455" cy="5549901"/>
          </a:xfrm>
          <a:prstGeom prst="rect">
            <a:avLst/>
          </a:prstGeom>
        </p:spPr>
      </p:pic>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009374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172750918"/>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314374591"/>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529653675"/>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22942874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 – Classification : Interne (par défaut) / Public / Confidentiel&gt;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2886674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11746118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3978373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3"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fr-FR" sz="3600">
              <a:solidFill>
                <a:prstClr val="white"/>
              </a:solidFill>
            </a:endParaRPr>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Atterrissage Alexandrie - Gouvernance et Organisation</a:t>
            </a:r>
          </a:p>
        </p:txBody>
      </p:sp>
      <p:sp>
        <p:nvSpPr>
          <p:cNvPr id="5" name="Espace réservé du numéro de diapositive 5"/>
          <p:cNvSpPr>
            <a:spLocks noGrp="1"/>
          </p:cNvSpPr>
          <p:nvPr>
            <p:ph type="sldNum" sz="quarter" idx="4"/>
          </p:nvPr>
        </p:nvSpPr>
        <p:spPr>
          <a:xfrm>
            <a:off x="896523" y="6443134"/>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787636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 – Classification : Interne (par défaut) / Public / Confidentiel&gt;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2245499374"/>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Lst>
  <p:hf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08DF8-50A6-3127-AAFB-9FAA76D74D9B}"/>
            </a:ext>
          </a:extLst>
        </p:cNvPr>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2800" dirty="0"/>
              <a:t>Refonte SyoReader — Interop CADI</a:t>
            </a:r>
          </a:p>
        </p:txBody>
      </p:sp>
      <p:sp>
        <p:nvSpPr>
          <p:cNvPr id="3" name="Sous-titre"/>
          <p:cNvSpPr>
            <a:spLocks noGrp="1"/>
          </p:cNvSpPr>
          <p:nvPr>
            <p:ph type="body" sz="quarter" idx="14"/>
          </p:nvPr>
        </p:nvSpPr>
        <p:spPr>
          <a:xfrm>
            <a:off x="836377" y="860000"/>
            <a:ext cx="10895375" cy="352957"/>
          </a:xfrm>
        </p:spPr>
        <p:txBody>
          <a:bodyPr>
            <a:noAutofit/>
          </a:bodyPr>
          <a:lstStyle/>
          <a:p>
            <a:r>
              <a:rPr lang="fr-FR" sz="1400" b="1" dirty="0"/>
              <a:t>Découpler les CWs des moteurs OCR et les ouvrir aux services IA de CADI</a:t>
            </a:r>
          </a:p>
        </p:txBody>
      </p:sp>
      <p:sp>
        <p:nvSpPr>
          <p:cNvPr id="4" name="Pied de page"/>
          <p:cNvSpPr>
            <a:spLocks noGrp="1"/>
          </p:cNvSpPr>
          <p:nvPr>
            <p:ph type="ftr" sz="quarter" idx="11"/>
          </p:nvPr>
        </p:nvSpPr>
        <p:spPr/>
        <p:txBody>
          <a:bodyPr/>
          <a:lstStyle/>
          <a:p>
            <a:r>
              <a:rPr lang="fr-FR" dirty="0"/>
              <a:t>COPIL NADIA</a:t>
            </a:r>
          </a:p>
        </p:txBody>
      </p:sp>
      <p:sp>
        <p:nvSpPr>
          <p:cNvPr id="11" name="Shape 11"/>
          <p:cNvSpPr/>
          <p:nvPr/>
        </p:nvSpPr>
        <p:spPr>
          <a:xfrm>
            <a:off x="600000" y="1280000"/>
            <a:ext cx="3630584" cy="1780000"/>
          </a:xfrm>
          <a:prstGeom prst="roundRect">
            <a:avLst>
              <a:gd name="adj" fmla="val 3509"/>
            </a:avLst>
          </a:prstGeom>
          <a:solidFill>
            <a:srgbClr val="F4F7FB"/>
          </a:solidFill>
          <a:ln>
            <a:noFill/>
          </a:ln>
        </p:spPr>
        <p:txBody>
          <a:bodyPr wrap="none" lIns="0" tIns="0" rIns="0" bIns="0" anchor="ctr"/>
          <a:lstStyle/>
          <a:p>
            <a:endParaRPr lang="fr-FR"/>
          </a:p>
        </p:txBody>
      </p:sp>
      <p:sp>
        <p:nvSpPr>
          <p:cNvPr id="12" name="Shape 12"/>
          <p:cNvSpPr/>
          <p:nvPr/>
        </p:nvSpPr>
        <p:spPr>
          <a:xfrm>
            <a:off x="780000" y="1410000"/>
            <a:ext cx="380000" cy="380000"/>
          </a:xfrm>
          <a:prstGeom prst="ellipse">
            <a:avLst/>
          </a:prstGeom>
          <a:solidFill>
            <a:srgbClr val="1C7293"/>
          </a:solidFill>
          <a:ln>
            <a:noFill/>
          </a:ln>
        </p:spPr>
        <p:txBody>
          <a:bodyPr wrap="none" lIns="0" tIns="0" rIns="0" bIns="0" anchor="ctr"/>
          <a:lstStyle/>
          <a:p>
            <a:endParaRPr lang="fr-FR"/>
          </a:p>
        </p:txBody>
      </p:sp>
      <p:pic>
        <p:nvPicPr>
          <p:cNvPr id="13" name="Icon 13" descr="icône"/>
          <p:cNvPicPr>
            <a:picLocks noChangeAspect="1"/>
          </p:cNvPicPr>
          <p:nvPr/>
        </p:nvPicPr>
        <p:blipFill>
          <a:blip r:embed="rId3"/>
          <a:stretch>
            <a:fillRect/>
          </a:stretch>
        </p:blipFill>
        <p:spPr>
          <a:xfrm>
            <a:off x="871200" y="1501200"/>
            <a:ext cx="197600" cy="197600"/>
          </a:xfrm>
          <a:prstGeom prst="rect">
            <a:avLst/>
          </a:prstGeom>
        </p:spPr>
      </p:pic>
      <p:sp>
        <p:nvSpPr>
          <p:cNvPr id="14" name="Text 14"/>
          <p:cNvSpPr txBox="1"/>
          <p:nvPr/>
        </p:nvSpPr>
        <p:spPr>
          <a:xfrm>
            <a:off x="1280000"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21295C"/>
                </a:solidFill>
                <a:latin typeface="Segoe UI" panose="020B0502040204020203" pitchFamily="34" charset="0"/>
                <a:ea typeface="Calibri" pitchFamily="34" charset="-122"/>
                <a:cs typeface="Segoe UI" panose="020B0502040204020203" pitchFamily="34" charset="0"/>
              </a:rPr>
              <a:t>Constat &amp; enjeux</a:t>
            </a:r>
          </a:p>
        </p:txBody>
      </p:sp>
      <p:sp>
        <p:nvSpPr>
          <p:cNvPr id="15" name="Text 15"/>
          <p:cNvSpPr txBox="1"/>
          <p:nvPr/>
        </p:nvSpPr>
        <p:spPr>
          <a:xfrm>
            <a:off x="780000" y="1880000"/>
            <a:ext cx="3270584" cy="110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1000" dirty="0">
                <a:solidFill>
                  <a:srgbClr val="1B2433"/>
                </a:solidFill>
                <a:latin typeface="Segoe UI" panose="020B0502040204020203" pitchFamily="34" charset="0"/>
                <a:ea typeface="Calibri" pitchFamily="34" charset="-122"/>
                <a:cs typeface="Segoe UI" panose="020B0502040204020203" pitchFamily="34" charset="0"/>
              </a:rPr>
              <a:t>Des CWs appellent </a:t>
            </a:r>
            <a:r>
              <a:rPr lang="fr-FR" sz="1000" b="1" dirty="0">
                <a:solidFill>
                  <a:srgbClr val="1B2433"/>
                </a:solidFill>
                <a:latin typeface="Segoe UI" panose="020B0502040204020203" pitchFamily="34" charset="0"/>
                <a:ea typeface="Calibri" pitchFamily="34" charset="-122"/>
                <a:cs typeface="Segoe UI" panose="020B0502040204020203" pitchFamily="34" charset="0"/>
              </a:rPr>
              <a:t>directement les moteurs OCR</a:t>
            </a:r>
            <a:r>
              <a:rPr lang="fr-FR" sz="1000" dirty="0">
                <a:solidFill>
                  <a:srgbClr val="1B2433"/>
                </a:solidFill>
                <a:latin typeface="Segoe UI" panose="020B0502040204020203" pitchFamily="34" charset="0"/>
                <a:ea typeface="Calibri" pitchFamily="34" charset="-122"/>
                <a:cs typeface="Segoe UI" panose="020B0502040204020203" pitchFamily="34" charset="0"/>
              </a:rPr>
              <a:t> (ex. A2IA pour les montants).</a:t>
            </a:r>
          </a:p>
          <a:p>
            <a:pPr marL="137160" indent="-137160" algn="l">
              <a:lnSpc>
                <a:spcPct val="100000"/>
              </a:lnSpc>
              <a:spcAft>
                <a:spcPts val="100"/>
              </a:spcAft>
              <a:buClr>
                <a:srgbClr val="F2A516"/>
              </a:buClr>
              <a:buFont typeface="Arial"/>
              <a:buChar char="•"/>
            </a:pPr>
            <a:r>
              <a:rPr lang="fr-FR" sz="1000" dirty="0">
                <a:solidFill>
                  <a:srgbClr val="1B2433"/>
                </a:solidFill>
                <a:latin typeface="Segoe UI" panose="020B0502040204020203" pitchFamily="34" charset="0"/>
                <a:ea typeface="Calibri" pitchFamily="34" charset="-122"/>
                <a:cs typeface="Segoe UI" panose="020B0502040204020203" pitchFamily="34" charset="0"/>
              </a:rPr>
              <a:t>Changer de moteur impacte le métier</a:t>
            </a:r>
          </a:p>
          <a:p>
            <a:pPr marL="137160" indent="-137160" algn="l">
              <a:lnSpc>
                <a:spcPct val="100000"/>
              </a:lnSpc>
              <a:spcAft>
                <a:spcPts val="100"/>
              </a:spcAft>
              <a:buClr>
                <a:srgbClr val="F2A516"/>
              </a:buClr>
              <a:buFont typeface="Arial"/>
              <a:buChar char="•"/>
            </a:pPr>
            <a:r>
              <a:rPr lang="fr-FR" sz="1000" dirty="0">
                <a:solidFill>
                  <a:srgbClr val="1B2433"/>
                </a:solidFill>
                <a:latin typeface="Segoe UI" panose="020B0502040204020203" pitchFamily="34" charset="0"/>
                <a:ea typeface="Calibri" pitchFamily="34" charset="-122"/>
                <a:cs typeface="Segoe UI" panose="020B0502040204020203" pitchFamily="34" charset="0"/>
              </a:rPr>
              <a:t>Les fonctionnalités CADI inaccessibles aux flux SYO</a:t>
            </a:r>
          </a:p>
        </p:txBody>
      </p:sp>
      <p:sp>
        <p:nvSpPr>
          <p:cNvPr id="16" name="Shape 16"/>
          <p:cNvSpPr/>
          <p:nvPr/>
        </p:nvSpPr>
        <p:spPr>
          <a:xfrm>
            <a:off x="4350584" y="1280000"/>
            <a:ext cx="3630584" cy="1780000"/>
          </a:xfrm>
          <a:prstGeom prst="roundRect">
            <a:avLst>
              <a:gd name="adj" fmla="val 3509"/>
            </a:avLst>
          </a:prstGeom>
          <a:solidFill>
            <a:srgbClr val="21295C"/>
          </a:solidFill>
          <a:ln>
            <a:noFill/>
          </a:ln>
        </p:spPr>
        <p:txBody>
          <a:bodyPr wrap="none" lIns="0" tIns="0" rIns="0" bIns="0" anchor="ctr"/>
          <a:lstStyle/>
          <a:p>
            <a:endParaRPr lang="fr-FR"/>
          </a:p>
        </p:txBody>
      </p:sp>
      <p:sp>
        <p:nvSpPr>
          <p:cNvPr id="17" name="Shape 17"/>
          <p:cNvSpPr/>
          <p:nvPr/>
        </p:nvSpPr>
        <p:spPr>
          <a:xfrm>
            <a:off x="4530584" y="1410000"/>
            <a:ext cx="380000" cy="380000"/>
          </a:xfrm>
          <a:prstGeom prst="ellipse">
            <a:avLst/>
          </a:prstGeom>
          <a:solidFill>
            <a:srgbClr val="F2A516"/>
          </a:solidFill>
          <a:ln>
            <a:noFill/>
          </a:ln>
        </p:spPr>
        <p:txBody>
          <a:bodyPr wrap="none" lIns="0" tIns="0" rIns="0" bIns="0" anchor="ctr"/>
          <a:lstStyle/>
          <a:p>
            <a:endParaRPr lang="fr-FR"/>
          </a:p>
        </p:txBody>
      </p:sp>
      <p:pic>
        <p:nvPicPr>
          <p:cNvPr id="18" name="Icon 18" descr="icône"/>
          <p:cNvPicPr>
            <a:picLocks noChangeAspect="1"/>
          </p:cNvPicPr>
          <p:nvPr/>
        </p:nvPicPr>
        <p:blipFill>
          <a:blip r:embed="rId4"/>
          <a:stretch>
            <a:fillRect/>
          </a:stretch>
        </p:blipFill>
        <p:spPr>
          <a:xfrm>
            <a:off x="4621784" y="1501200"/>
            <a:ext cx="197600" cy="197600"/>
          </a:xfrm>
          <a:prstGeom prst="rect">
            <a:avLst/>
          </a:prstGeom>
        </p:spPr>
      </p:pic>
      <p:sp>
        <p:nvSpPr>
          <p:cNvPr id="19" name="Text 19"/>
          <p:cNvSpPr txBox="1"/>
          <p:nvPr/>
        </p:nvSpPr>
        <p:spPr>
          <a:xfrm>
            <a:off x="5030584"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FFFFFF"/>
                </a:solidFill>
                <a:latin typeface="Segoe UI" panose="020B0502040204020203" pitchFamily="34" charset="0"/>
                <a:ea typeface="Calibri" pitchFamily="34" charset="-122"/>
                <a:cs typeface="Segoe UI" panose="020B0502040204020203" pitchFamily="34" charset="0"/>
              </a:rPr>
              <a:t>Objectifs</a:t>
            </a:r>
          </a:p>
        </p:txBody>
      </p:sp>
      <p:sp>
        <p:nvSpPr>
          <p:cNvPr id="20" name="Text 20"/>
          <p:cNvSpPr txBox="1"/>
          <p:nvPr/>
        </p:nvSpPr>
        <p:spPr>
          <a:xfrm>
            <a:off x="4530584" y="1880000"/>
            <a:ext cx="3270584" cy="1100000"/>
          </a:xfrm>
          <a:prstGeom prst="rect">
            <a:avLst/>
          </a:prstGeom>
          <a:noFill/>
          <a:ln/>
        </p:spPr>
        <p:txBody>
          <a:bodyPr wrap="square" lIns="0" tIns="0" rIns="0" bIns="0" rtlCol="0" anchor="t">
            <a:noAutofit/>
          </a:bodyPr>
          <a:lstStyle/>
          <a:p>
            <a:pPr marL="190000" indent="-190000" algn="l">
              <a:lnSpc>
                <a:spcPct val="100000"/>
              </a:lnSpc>
              <a:spcAft>
                <a:spcPts val="35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1	</a:t>
            </a:r>
            <a:r>
              <a:rPr lang="fr-FR" sz="1000" b="1" dirty="0">
                <a:solidFill>
                  <a:srgbClr val="FFFFFF"/>
                </a:solidFill>
                <a:latin typeface="Segoe UI" panose="020B0502040204020203" pitchFamily="34" charset="0"/>
                <a:ea typeface="Calibri" pitchFamily="34" charset="-122"/>
                <a:cs typeface="Segoe UI" panose="020B0502040204020203" pitchFamily="34" charset="0"/>
              </a:rPr>
              <a:t>Découpler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CWs des moteurs OCR </a:t>
            </a:r>
          </a:p>
          <a:p>
            <a:pPr marL="190000" indent="-190000" algn="l">
              <a:lnSpc>
                <a:spcPct val="100000"/>
              </a:lnSpc>
              <a:spcAft>
                <a:spcPts val="35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2	</a:t>
            </a:r>
            <a:r>
              <a:rPr lang="fr-FR" sz="1000" b="1" dirty="0">
                <a:solidFill>
                  <a:srgbClr val="FFFFFF"/>
                </a:solidFill>
                <a:latin typeface="Segoe UI" panose="020B0502040204020203" pitchFamily="34" charset="0"/>
                <a:ea typeface="Calibri" pitchFamily="34" charset="-122"/>
                <a:cs typeface="Segoe UI" panose="020B0502040204020203" pitchFamily="34" charset="0"/>
              </a:rPr>
              <a:t>Ouvrir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CWs SYO aux services IA de CADI, et à OCR Studio (GenAI)</a:t>
            </a:r>
          </a:p>
          <a:p>
            <a:pPr marL="190000" indent="-190000" algn="l">
              <a:lnSpc>
                <a:spcPct val="100000"/>
              </a:lnSpc>
              <a:spcAft>
                <a:spcPts val="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3	</a:t>
            </a:r>
            <a:r>
              <a:rPr lang="fr-FR" sz="1000" b="1" dirty="0">
                <a:solidFill>
                  <a:srgbClr val="FFFFFF"/>
                </a:solidFill>
                <a:latin typeface="Segoe UI" panose="020B0502040204020203" pitchFamily="34" charset="0"/>
                <a:ea typeface="Calibri" pitchFamily="34" charset="-122"/>
                <a:cs typeface="Segoe UI" panose="020B0502040204020203" pitchFamily="34" charset="0"/>
              </a:rPr>
              <a:t>Évaluer</a:t>
            </a:r>
            <a:r>
              <a:rPr lang="fr-FR" sz="1000" dirty="0">
                <a:solidFill>
                  <a:srgbClr val="FFFFFF"/>
                </a:solidFill>
                <a:latin typeface="Segoe UI" panose="020B0502040204020203" pitchFamily="34" charset="0"/>
                <a:ea typeface="Calibri" pitchFamily="34" charset="-122"/>
                <a:cs typeface="Segoe UI" panose="020B0502040204020203" pitchFamily="34" charset="0"/>
              </a:rPr>
              <a:t> les résultats de classification &amp; d’extraction GenAI avec un score de confiance</a:t>
            </a:r>
          </a:p>
        </p:txBody>
      </p:sp>
      <p:sp>
        <p:nvSpPr>
          <p:cNvPr id="21" name="Shape 21"/>
          <p:cNvSpPr/>
          <p:nvPr/>
        </p:nvSpPr>
        <p:spPr>
          <a:xfrm>
            <a:off x="8101168" y="1280000"/>
            <a:ext cx="3630584" cy="1780000"/>
          </a:xfrm>
          <a:prstGeom prst="roundRect">
            <a:avLst>
              <a:gd name="adj" fmla="val 3509"/>
            </a:avLst>
          </a:prstGeom>
          <a:solidFill>
            <a:srgbClr val="F4F7FB"/>
          </a:solidFill>
          <a:ln>
            <a:noFill/>
          </a:ln>
        </p:spPr>
        <p:txBody>
          <a:bodyPr wrap="none" lIns="0" tIns="0" rIns="0" bIns="0" anchor="ctr"/>
          <a:lstStyle/>
          <a:p>
            <a:endParaRPr lang="fr-FR"/>
          </a:p>
        </p:txBody>
      </p:sp>
      <p:sp>
        <p:nvSpPr>
          <p:cNvPr id="22" name="Shape 22"/>
          <p:cNvSpPr/>
          <p:nvPr/>
        </p:nvSpPr>
        <p:spPr>
          <a:xfrm>
            <a:off x="8281168" y="1410000"/>
            <a:ext cx="380000" cy="380000"/>
          </a:xfrm>
          <a:prstGeom prst="ellipse">
            <a:avLst/>
          </a:prstGeom>
          <a:solidFill>
            <a:srgbClr val="1C7293"/>
          </a:solidFill>
          <a:ln>
            <a:noFill/>
          </a:ln>
        </p:spPr>
        <p:txBody>
          <a:bodyPr wrap="none" lIns="0" tIns="0" rIns="0" bIns="0" anchor="ctr"/>
          <a:lstStyle/>
          <a:p>
            <a:endParaRPr lang="fr-FR"/>
          </a:p>
        </p:txBody>
      </p:sp>
      <p:pic>
        <p:nvPicPr>
          <p:cNvPr id="23" name="Icon 23" descr="icône"/>
          <p:cNvPicPr>
            <a:picLocks noChangeAspect="1"/>
          </p:cNvPicPr>
          <p:nvPr/>
        </p:nvPicPr>
        <p:blipFill>
          <a:blip r:embed="rId5"/>
          <a:stretch>
            <a:fillRect/>
          </a:stretch>
        </p:blipFill>
        <p:spPr>
          <a:xfrm>
            <a:off x="8372368" y="1501200"/>
            <a:ext cx="197600" cy="197600"/>
          </a:xfrm>
          <a:prstGeom prst="rect">
            <a:avLst/>
          </a:prstGeom>
        </p:spPr>
      </p:pic>
      <p:sp>
        <p:nvSpPr>
          <p:cNvPr id="24" name="Text 24"/>
          <p:cNvSpPr txBox="1"/>
          <p:nvPr/>
        </p:nvSpPr>
        <p:spPr>
          <a:xfrm>
            <a:off x="8781168" y="1410000"/>
            <a:ext cx="3000000" cy="38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300" b="1" dirty="0">
                <a:solidFill>
                  <a:srgbClr val="21295C"/>
                </a:solidFill>
                <a:latin typeface="Segoe UI" panose="020B0502040204020203" pitchFamily="34" charset="0"/>
                <a:ea typeface="Calibri" pitchFamily="34" charset="-122"/>
                <a:cs typeface="Segoe UI" panose="020B0502040204020203" pitchFamily="34" charset="0"/>
              </a:rPr>
              <a:t>Bénéfices attendus</a:t>
            </a:r>
          </a:p>
        </p:txBody>
      </p:sp>
      <p:sp>
        <p:nvSpPr>
          <p:cNvPr id="25" name="Text 25"/>
          <p:cNvSpPr txBox="1"/>
          <p:nvPr/>
        </p:nvSpPr>
        <p:spPr>
          <a:xfrm>
            <a:off x="8281168" y="1880000"/>
            <a:ext cx="3270584" cy="1100000"/>
          </a:xfrm>
          <a:prstGeom prst="rect">
            <a:avLst/>
          </a:prstGeom>
          <a:noFill/>
          <a:ln/>
        </p:spPr>
        <p:txBody>
          <a:bodyPr wrap="square" lIns="0" tIns="0" rIns="0" bIns="0" rtlCol="0" anchor="t">
            <a:noAutofit/>
          </a:bodyPr>
          <a:lstStyle/>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Moteurs interchangeables</a:t>
            </a:r>
            <a:r>
              <a:rPr lang="fr-FR" sz="1000" dirty="0">
                <a:solidFill>
                  <a:srgbClr val="1B2433"/>
                </a:solidFill>
                <a:latin typeface="Segoe UI" panose="020B0502040204020203" pitchFamily="34" charset="0"/>
                <a:ea typeface="Calibri" pitchFamily="34" charset="-122"/>
                <a:cs typeface="Segoe UI" panose="020B0502040204020203" pitchFamily="34" charset="0"/>
              </a:rPr>
              <a:t> sans impact technique sur les flux</a:t>
            </a:r>
          </a:p>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Délais réduits</a:t>
            </a:r>
            <a:r>
              <a:rPr lang="fr-FR" sz="1000" dirty="0">
                <a:solidFill>
                  <a:srgbClr val="1B2433"/>
                </a:solidFill>
                <a:latin typeface="Segoe UI" panose="020B0502040204020203" pitchFamily="34" charset="0"/>
                <a:ea typeface="Calibri" pitchFamily="34" charset="-122"/>
                <a:cs typeface="Segoe UI" panose="020B0502040204020203" pitchFamily="34" charset="0"/>
              </a:rPr>
              <a:t> en classification / extraction via exploitation d’OCR Studio</a:t>
            </a:r>
          </a:p>
          <a:p>
            <a:pPr marL="137160" indent="-137160" algn="l">
              <a:lnSpc>
                <a:spcPct val="100000"/>
              </a:lnSpc>
              <a:spcAft>
                <a:spcPts val="100"/>
              </a:spcAft>
              <a:buClr>
                <a:srgbClr val="1C7293"/>
              </a:buClr>
              <a:buFont typeface="Arial"/>
              <a:buChar char="•"/>
            </a:pPr>
            <a:r>
              <a:rPr lang="fr-FR" sz="1000" b="1" dirty="0">
                <a:solidFill>
                  <a:srgbClr val="1B2433"/>
                </a:solidFill>
                <a:latin typeface="Segoe UI" panose="020B0502040204020203" pitchFamily="34" charset="0"/>
                <a:ea typeface="Calibri" pitchFamily="34" charset="-122"/>
                <a:cs typeface="Segoe UI" panose="020B0502040204020203" pitchFamily="34" charset="0"/>
              </a:rPr>
              <a:t>Qualité accrue</a:t>
            </a:r>
            <a:r>
              <a:rPr lang="fr-FR" sz="1000" dirty="0">
                <a:solidFill>
                  <a:srgbClr val="1B2433"/>
                </a:solidFill>
                <a:latin typeface="Segoe UI" panose="020B0502040204020203" pitchFamily="34" charset="0"/>
                <a:ea typeface="Calibri" pitchFamily="34" charset="-122"/>
                <a:cs typeface="Segoe UI" panose="020B0502040204020203" pitchFamily="34" charset="0"/>
              </a:rPr>
              <a:t> sur documents complexes</a:t>
            </a:r>
          </a:p>
        </p:txBody>
      </p:sp>
      <p:sp>
        <p:nvSpPr>
          <p:cNvPr id="26" name="Text 26"/>
          <p:cNvSpPr txBox="1"/>
          <p:nvPr/>
        </p:nvSpPr>
        <p:spPr>
          <a:xfrm>
            <a:off x="600000" y="3180000"/>
            <a:ext cx="11131752" cy="25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21295C"/>
                </a:solidFill>
                <a:latin typeface="Segoe UI" panose="020B0502040204020203" pitchFamily="34" charset="0"/>
                <a:ea typeface="Calibri" pitchFamily="34" charset="-122"/>
                <a:cs typeface="Segoe UI" panose="020B0502040204020203" pitchFamily="34" charset="0"/>
              </a:rPr>
              <a:t>1 Trajectoire : 3 streams de travail</a:t>
            </a:r>
          </a:p>
        </p:txBody>
      </p:sp>
      <p:sp>
        <p:nvSpPr>
          <p:cNvPr id="27" name="Shape 27"/>
          <p:cNvSpPr/>
          <p:nvPr/>
        </p:nvSpPr>
        <p:spPr>
          <a:xfrm>
            <a:off x="600000" y="3440000"/>
            <a:ext cx="3630584" cy="1180000"/>
          </a:xfrm>
          <a:prstGeom prst="roundRect">
            <a:avLst>
              <a:gd name="adj" fmla="val 3509"/>
            </a:avLst>
          </a:prstGeom>
          <a:solidFill>
            <a:srgbClr val="F4F7FB"/>
          </a:solidFill>
          <a:ln>
            <a:noFill/>
          </a:ln>
        </p:spPr>
        <p:txBody>
          <a:bodyPr wrap="none" lIns="0" tIns="0" rIns="0" bIns="0" anchor="ctr"/>
          <a:lstStyle/>
          <a:p>
            <a:endParaRPr lang="fr-FR"/>
          </a:p>
        </p:txBody>
      </p:sp>
      <p:sp>
        <p:nvSpPr>
          <p:cNvPr id="28" name="Shape 28"/>
          <p:cNvSpPr/>
          <p:nvPr/>
        </p:nvSpPr>
        <p:spPr>
          <a:xfrm>
            <a:off x="740000" y="356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01</a:t>
            </a:r>
          </a:p>
        </p:txBody>
      </p:sp>
      <p:sp>
        <p:nvSpPr>
          <p:cNvPr id="29" name="Text 29"/>
          <p:cNvSpPr txBox="1"/>
          <p:nvPr/>
        </p:nvSpPr>
        <p:spPr>
          <a:xfrm>
            <a:off x="1130000" y="3560000"/>
            <a:ext cx="2960584"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Refonte SyoReader &amp; migration CWs</a:t>
            </a:r>
          </a:p>
        </p:txBody>
      </p:sp>
      <p:sp>
        <p:nvSpPr>
          <p:cNvPr id="30" name="Text 30"/>
          <p:cNvSpPr txBox="1"/>
          <p:nvPr/>
        </p:nvSpPr>
        <p:spPr>
          <a:xfrm>
            <a:off x="740000" y="3940000"/>
            <a:ext cx="3350584" cy="62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Valider les méthodes maintenues, identifier les CWs impactés (CW Screener), migrer s flux par flux avec tests de non-régression (y compris migration </a:t>
            </a:r>
            <a:r>
              <a:rPr lang="fr-FR" sz="950" dirty="0" err="1">
                <a:solidFill>
                  <a:srgbClr val="1B2433"/>
                </a:solidFill>
                <a:latin typeface="Segoe UI" panose="020B0502040204020203" pitchFamily="34" charset="0"/>
                <a:ea typeface="Calibri" pitchFamily="34" charset="-122"/>
                <a:cs typeface="Segoe UI" panose="020B0502040204020203" pitchFamily="34" charset="0"/>
              </a:rPr>
              <a:t>Ocrus</a:t>
            </a:r>
            <a:r>
              <a:rPr lang="fr-FR" sz="950" dirty="0">
                <a:solidFill>
                  <a:srgbClr val="1B2433"/>
                </a:solidFill>
                <a:latin typeface="Segoe UI" panose="020B0502040204020203" pitchFamily="34" charset="0"/>
                <a:ea typeface="Calibri" pitchFamily="34" charset="-122"/>
                <a:cs typeface="Segoe UI" panose="020B0502040204020203" pitchFamily="34" charset="0"/>
              </a:rPr>
              <a:t> quand c’est pertinent)</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H620, appui H630 et H550</a:t>
            </a:r>
          </a:p>
        </p:txBody>
      </p:sp>
      <p:sp>
        <p:nvSpPr>
          <p:cNvPr id="31" name="Shape 31"/>
          <p:cNvSpPr/>
          <p:nvPr/>
        </p:nvSpPr>
        <p:spPr>
          <a:xfrm>
            <a:off x="4350584" y="3440000"/>
            <a:ext cx="3630584" cy="1180000"/>
          </a:xfrm>
          <a:prstGeom prst="roundRect">
            <a:avLst>
              <a:gd name="adj" fmla="val 3509"/>
            </a:avLst>
          </a:prstGeom>
          <a:solidFill>
            <a:srgbClr val="F4F7FB"/>
          </a:solidFill>
          <a:ln>
            <a:noFill/>
          </a:ln>
        </p:spPr>
        <p:txBody>
          <a:bodyPr wrap="none" lIns="0" tIns="0" rIns="0" bIns="0" anchor="ctr"/>
          <a:lstStyle/>
          <a:p>
            <a:endParaRPr lang="fr-FR"/>
          </a:p>
        </p:txBody>
      </p:sp>
      <p:sp>
        <p:nvSpPr>
          <p:cNvPr id="32" name="Shape 32"/>
          <p:cNvSpPr/>
          <p:nvPr/>
        </p:nvSpPr>
        <p:spPr>
          <a:xfrm>
            <a:off x="4490584" y="356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02</a:t>
            </a:r>
          </a:p>
        </p:txBody>
      </p:sp>
      <p:sp>
        <p:nvSpPr>
          <p:cNvPr id="33" name="Text 33"/>
          <p:cNvSpPr txBox="1"/>
          <p:nvPr/>
        </p:nvSpPr>
        <p:spPr>
          <a:xfrm>
            <a:off x="4880584" y="3560000"/>
            <a:ext cx="2960584"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Interop OCRUS ↔ CADI</a:t>
            </a:r>
          </a:p>
        </p:txBody>
      </p:sp>
      <p:sp>
        <p:nvSpPr>
          <p:cNvPr id="34" name="Text 34"/>
          <p:cNvSpPr txBox="1"/>
          <p:nvPr/>
        </p:nvSpPr>
        <p:spPr>
          <a:xfrm>
            <a:off x="4490584" y="3940000"/>
            <a:ext cx="3350584" cy="62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Adapteur CADI derrière l’interface Ocrus, sans toucher au code métier. </a:t>
            </a:r>
          </a:p>
          <a:p>
            <a:pPr marL="0" indent="0" algn="l">
              <a:lnSpc>
                <a:spcPct val="100000"/>
              </a:lnSpc>
              <a:spcAft>
                <a:spcPts val="40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H550</a:t>
            </a:r>
          </a:p>
        </p:txBody>
      </p:sp>
      <p:sp>
        <p:nvSpPr>
          <p:cNvPr id="35" name="Shape 35"/>
          <p:cNvSpPr/>
          <p:nvPr/>
        </p:nvSpPr>
        <p:spPr>
          <a:xfrm>
            <a:off x="8101168" y="3440000"/>
            <a:ext cx="3630584" cy="1180000"/>
          </a:xfrm>
          <a:prstGeom prst="roundRect">
            <a:avLst>
              <a:gd name="adj" fmla="val 3509"/>
            </a:avLst>
          </a:prstGeom>
          <a:solidFill>
            <a:srgbClr val="F4F7FB"/>
          </a:solidFill>
          <a:ln>
            <a:noFill/>
          </a:ln>
        </p:spPr>
        <p:txBody>
          <a:bodyPr wrap="none" lIns="0" tIns="0" rIns="0" bIns="0" anchor="ctr"/>
          <a:lstStyle/>
          <a:p>
            <a:endParaRPr lang="fr-FR"/>
          </a:p>
        </p:txBody>
      </p:sp>
      <p:sp>
        <p:nvSpPr>
          <p:cNvPr id="36" name="Shape 36"/>
          <p:cNvSpPr/>
          <p:nvPr/>
        </p:nvSpPr>
        <p:spPr>
          <a:xfrm>
            <a:off x="8241168" y="3560000"/>
            <a:ext cx="300000" cy="300000"/>
          </a:xfrm>
          <a:prstGeom prst="ellipse">
            <a:avLst/>
          </a:prstGeom>
          <a:solidFill>
            <a:srgbClr val="21295C"/>
          </a:solidFill>
          <a:ln>
            <a:noFill/>
          </a:ln>
        </p:spPr>
        <p:txBody>
          <a:bodyPr wrap="none" lIns="0" tIns="0" rIns="0" bIns="0" anchor="ctr"/>
          <a:lstStyle/>
          <a:p>
            <a:pPr marL="0" indent="0" algn="ctr">
              <a:lnSpc>
                <a:spcPct val="100000"/>
              </a:lnSpc>
              <a:spcAft>
                <a:spcPts val="0"/>
              </a:spcAft>
              <a:buNone/>
            </a:pPr>
            <a:r>
              <a:rPr lang="fr-FR" sz="900" b="1" dirty="0">
                <a:solidFill>
                  <a:srgbClr val="FFFFFF"/>
                </a:solidFill>
                <a:latin typeface="Segoe UI" panose="020B0502040204020203" pitchFamily="34" charset="0"/>
                <a:ea typeface="Calibri" pitchFamily="34" charset="-122"/>
                <a:cs typeface="Segoe UI" panose="020B0502040204020203" pitchFamily="34" charset="0"/>
              </a:rPr>
              <a:t>03</a:t>
            </a:r>
          </a:p>
        </p:txBody>
      </p:sp>
      <p:sp>
        <p:nvSpPr>
          <p:cNvPr id="37" name="Text 37"/>
          <p:cNvSpPr txBox="1"/>
          <p:nvPr/>
        </p:nvSpPr>
        <p:spPr>
          <a:xfrm>
            <a:off x="8631168" y="3560000"/>
            <a:ext cx="2960584" cy="30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100" b="1" dirty="0">
                <a:solidFill>
                  <a:srgbClr val="21295C"/>
                </a:solidFill>
                <a:latin typeface="Segoe UI" panose="020B0502040204020203" pitchFamily="34" charset="0"/>
                <a:ea typeface="Calibri" pitchFamily="34" charset="-122"/>
                <a:cs typeface="Segoe UI" panose="020B0502040204020203" pitchFamily="34" charset="0"/>
              </a:rPr>
              <a:t>Évaluation des résultats OCR</a:t>
            </a:r>
          </a:p>
        </p:txBody>
      </p:sp>
      <p:sp>
        <p:nvSpPr>
          <p:cNvPr id="38" name="Text 38"/>
          <p:cNvSpPr txBox="1"/>
          <p:nvPr/>
        </p:nvSpPr>
        <p:spPr>
          <a:xfrm>
            <a:off x="8241168" y="3940000"/>
            <a:ext cx="3350584" cy="620000"/>
          </a:xfrm>
          <a:prstGeom prst="rect">
            <a:avLst/>
          </a:prstGeom>
          <a:noFill/>
          <a:ln/>
        </p:spPr>
        <p:txBody>
          <a:bodyPr wrap="square" lIns="0" tIns="0" rIns="0" bIns="0" rtlCol="0" anchor="t">
            <a:noAutofit/>
          </a:bodyPr>
          <a:lstStyle/>
          <a:p>
            <a:pPr marL="0" indent="0" algn="l">
              <a:lnSpc>
                <a:spcPct val="100000"/>
              </a:lnSpc>
              <a:spcAft>
                <a:spcPts val="400"/>
              </a:spcAft>
              <a:buNone/>
            </a:pPr>
            <a:r>
              <a:rPr lang="fr-FR" sz="950" dirty="0">
                <a:solidFill>
                  <a:srgbClr val="1B2433"/>
                </a:solidFill>
                <a:latin typeface="Segoe UI" panose="020B0502040204020203" pitchFamily="34" charset="0"/>
                <a:ea typeface="Calibri" pitchFamily="34" charset="-122"/>
                <a:cs typeface="Segoe UI" panose="020B0502040204020203" pitchFamily="34" charset="0"/>
              </a:rPr>
              <a:t>Score statistique a posteriori (exploitation de la VT), piste LLM as Judge avec la CF</a:t>
            </a:r>
          </a:p>
          <a:p>
            <a:pPr marL="0" indent="0" algn="l">
              <a:lnSpc>
                <a:spcPct val="100000"/>
              </a:lnSpc>
              <a:spcAft>
                <a:spcPts val="0"/>
              </a:spcAft>
              <a:buNone/>
            </a:pPr>
            <a:r>
              <a:rPr lang="fr-FR" sz="950" b="1" dirty="0">
                <a:solidFill>
                  <a:srgbClr val="1C7293"/>
                </a:solidFill>
                <a:latin typeface="Segoe UI" panose="020B0502040204020203" pitchFamily="34" charset="0"/>
                <a:ea typeface="Calibri" pitchFamily="34" charset="-122"/>
                <a:cs typeface="Segoe UI" panose="020B0502040204020203" pitchFamily="34" charset="0"/>
              </a:rPr>
              <a:t>Pilote : </a:t>
            </a:r>
            <a:r>
              <a:rPr lang="fr-FR" sz="950" dirty="0">
                <a:solidFill>
                  <a:srgbClr val="1B2433"/>
                </a:solidFill>
                <a:latin typeface="Segoe UI" panose="020B0502040204020203" pitchFamily="34" charset="0"/>
                <a:ea typeface="Calibri" pitchFamily="34" charset="-122"/>
                <a:cs typeface="Segoe UI" panose="020B0502040204020203" pitchFamily="34" charset="0"/>
              </a:rPr>
              <a:t>H620, appui H560 et H550</a:t>
            </a:r>
          </a:p>
        </p:txBody>
      </p:sp>
      <p:sp>
        <p:nvSpPr>
          <p:cNvPr id="39" name="Shape 39"/>
          <p:cNvSpPr/>
          <p:nvPr/>
        </p:nvSpPr>
        <p:spPr>
          <a:xfrm>
            <a:off x="600000" y="4740000"/>
            <a:ext cx="5505876" cy="1380000"/>
          </a:xfrm>
          <a:prstGeom prst="roundRect">
            <a:avLst>
              <a:gd name="adj" fmla="val 3509"/>
            </a:avLst>
          </a:prstGeom>
          <a:solidFill>
            <a:srgbClr val="21295C"/>
          </a:solidFill>
          <a:ln>
            <a:noFill/>
          </a:ln>
        </p:spPr>
        <p:txBody>
          <a:bodyPr wrap="none" lIns="0" tIns="0" rIns="0" bIns="0" anchor="ctr"/>
          <a:lstStyle/>
          <a:p>
            <a:endParaRPr lang="fr-FR"/>
          </a:p>
        </p:txBody>
      </p:sp>
      <p:sp>
        <p:nvSpPr>
          <p:cNvPr id="40" name="Shape 40"/>
          <p:cNvSpPr/>
          <p:nvPr/>
        </p:nvSpPr>
        <p:spPr>
          <a:xfrm>
            <a:off x="780000" y="4850000"/>
            <a:ext cx="340000" cy="340000"/>
          </a:xfrm>
          <a:prstGeom prst="ellipse">
            <a:avLst/>
          </a:prstGeom>
          <a:solidFill>
            <a:srgbClr val="F2A516"/>
          </a:solidFill>
          <a:ln>
            <a:noFill/>
          </a:ln>
        </p:spPr>
        <p:txBody>
          <a:bodyPr wrap="none" lIns="0" tIns="0" rIns="0" bIns="0" anchor="ctr"/>
          <a:lstStyle/>
          <a:p>
            <a:endParaRPr lang="fr-FR"/>
          </a:p>
        </p:txBody>
      </p:sp>
      <p:pic>
        <p:nvPicPr>
          <p:cNvPr id="41" name="Icon 41" descr="icône"/>
          <p:cNvPicPr>
            <a:picLocks noChangeAspect="1"/>
          </p:cNvPicPr>
          <p:nvPr/>
        </p:nvPicPr>
        <p:blipFill>
          <a:blip r:embed="rId6"/>
          <a:stretch>
            <a:fillRect/>
          </a:stretch>
        </p:blipFill>
        <p:spPr>
          <a:xfrm>
            <a:off x="861600" y="4931600"/>
            <a:ext cx="176800" cy="176800"/>
          </a:xfrm>
          <a:prstGeom prst="rect">
            <a:avLst/>
          </a:prstGeom>
        </p:spPr>
      </p:pic>
      <p:sp>
        <p:nvSpPr>
          <p:cNvPr id="42" name="Text 42"/>
          <p:cNvSpPr txBox="1"/>
          <p:nvPr/>
        </p:nvSpPr>
        <p:spPr>
          <a:xfrm>
            <a:off x="1240000" y="4850000"/>
            <a:ext cx="4705876" cy="34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FFFFFF"/>
                </a:solidFill>
                <a:latin typeface="Segoe UI" panose="020B0502040204020203" pitchFamily="34" charset="0"/>
                <a:ea typeface="Calibri" pitchFamily="34" charset="-122"/>
                <a:cs typeface="Segoe UI" panose="020B0502040204020203" pitchFamily="34" charset="0"/>
              </a:rPr>
              <a:t>Prochaines étapes structurantes</a:t>
            </a:r>
          </a:p>
        </p:txBody>
      </p:sp>
      <p:sp>
        <p:nvSpPr>
          <p:cNvPr id="43" name="Text 43"/>
          <p:cNvSpPr txBox="1"/>
          <p:nvPr/>
        </p:nvSpPr>
        <p:spPr>
          <a:xfrm>
            <a:off x="780000" y="5250000"/>
            <a:ext cx="5145876" cy="820000"/>
          </a:xfrm>
          <a:prstGeom prst="rect">
            <a:avLst/>
          </a:prstGeom>
          <a:noFill/>
          <a:ln/>
        </p:spPr>
        <p:txBody>
          <a:bodyPr wrap="square" lIns="0" tIns="0" rIns="0" bIns="0" rtlCol="0" anchor="t">
            <a:noAutofit/>
          </a:bodyPr>
          <a:lstStyle/>
          <a:p>
            <a:pPr marL="600000" indent="-600000" algn="l">
              <a:lnSpc>
                <a:spcPct val="100000"/>
              </a:lnSpc>
              <a:spcAft>
                <a:spcPts val="10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P1	</a:t>
            </a:r>
            <a:r>
              <a:rPr lang="fr-FR" sz="1000" dirty="0">
                <a:solidFill>
                  <a:srgbClr val="FFFFFF"/>
                </a:solidFill>
                <a:latin typeface="Segoe UI" panose="020B0502040204020203" pitchFamily="34" charset="0"/>
                <a:ea typeface="Calibri" pitchFamily="34" charset="-122"/>
                <a:cs typeface="Segoe UI" panose="020B0502040204020203" pitchFamily="34" charset="0"/>
              </a:rPr>
              <a:t>Méthodes obsolètes et CWs impactés (lien plan STR)</a:t>
            </a:r>
          </a:p>
          <a:p>
            <a:pPr marL="600000" indent="-600000" algn="l">
              <a:lnSpc>
                <a:spcPct val="100000"/>
              </a:lnSpc>
              <a:spcAft>
                <a:spcPts val="10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P2	</a:t>
            </a:r>
            <a:r>
              <a:rPr lang="fr-FR" sz="1000" dirty="0">
                <a:solidFill>
                  <a:srgbClr val="FFFFFF"/>
                </a:solidFill>
                <a:latin typeface="Segoe UI" panose="020B0502040204020203" pitchFamily="34" charset="0"/>
                <a:ea typeface="Calibri" pitchFamily="34" charset="-122"/>
                <a:cs typeface="Segoe UI" panose="020B0502040204020203" pitchFamily="34" charset="0"/>
              </a:rPr>
              <a:t>Connecteur Ocrus ↔ CADI (Contrôle Doc +)</a:t>
            </a:r>
          </a:p>
          <a:p>
            <a:pPr marL="600000" indent="-600000" algn="l">
              <a:lnSpc>
                <a:spcPct val="100000"/>
              </a:lnSpc>
              <a:spcAft>
                <a:spcPts val="100"/>
              </a:spcAft>
              <a:buNone/>
            </a:pPr>
            <a:r>
              <a:rPr lang="fr-FR" sz="1000" b="1" dirty="0">
                <a:solidFill>
                  <a:srgbClr val="F2A516"/>
                </a:solidFill>
                <a:latin typeface="Segoe UI" panose="020B0502040204020203" pitchFamily="34" charset="0"/>
                <a:ea typeface="Calibri" pitchFamily="34" charset="-122"/>
                <a:cs typeface="Segoe UI" panose="020B0502040204020203" pitchFamily="34" charset="0"/>
              </a:rPr>
              <a:t>P3	</a:t>
            </a:r>
            <a:r>
              <a:rPr lang="fr-FR" sz="1000" dirty="0">
                <a:solidFill>
                  <a:srgbClr val="FFFFFF"/>
                </a:solidFill>
                <a:latin typeface="Segoe UI" panose="020B0502040204020203" pitchFamily="34" charset="0"/>
                <a:ea typeface="Calibri" pitchFamily="34" charset="-122"/>
                <a:cs typeface="Segoe UI" panose="020B0502040204020203" pitchFamily="34" charset="0"/>
              </a:rPr>
              <a:t>Mécanisme d’évaluation de score</a:t>
            </a:r>
          </a:p>
        </p:txBody>
      </p:sp>
      <p:sp>
        <p:nvSpPr>
          <p:cNvPr id="44" name="Shape 44"/>
          <p:cNvSpPr/>
          <p:nvPr/>
        </p:nvSpPr>
        <p:spPr>
          <a:xfrm>
            <a:off x="6225876" y="4740000"/>
            <a:ext cx="5505876" cy="1380000"/>
          </a:xfrm>
          <a:prstGeom prst="roundRect">
            <a:avLst>
              <a:gd name="adj" fmla="val 3509"/>
            </a:avLst>
          </a:prstGeom>
          <a:solidFill>
            <a:srgbClr val="F4F7FB"/>
          </a:solidFill>
          <a:ln>
            <a:noFill/>
          </a:ln>
        </p:spPr>
        <p:txBody>
          <a:bodyPr wrap="none" lIns="0" tIns="0" rIns="0" bIns="0" anchor="ctr"/>
          <a:lstStyle/>
          <a:p>
            <a:endParaRPr lang="fr-FR"/>
          </a:p>
        </p:txBody>
      </p:sp>
      <p:sp>
        <p:nvSpPr>
          <p:cNvPr id="45" name="Shape 45"/>
          <p:cNvSpPr/>
          <p:nvPr/>
        </p:nvSpPr>
        <p:spPr>
          <a:xfrm>
            <a:off x="6405876" y="4850000"/>
            <a:ext cx="340000" cy="340000"/>
          </a:xfrm>
          <a:prstGeom prst="ellipse">
            <a:avLst/>
          </a:prstGeom>
          <a:solidFill>
            <a:srgbClr val="1C7293"/>
          </a:solidFill>
          <a:ln>
            <a:noFill/>
          </a:ln>
        </p:spPr>
        <p:txBody>
          <a:bodyPr wrap="none" lIns="0" tIns="0" rIns="0" bIns="0" anchor="ctr"/>
          <a:lstStyle/>
          <a:p>
            <a:endParaRPr lang="fr-FR"/>
          </a:p>
        </p:txBody>
      </p:sp>
      <p:pic>
        <p:nvPicPr>
          <p:cNvPr id="46" name="Icon 46" descr="icône"/>
          <p:cNvPicPr>
            <a:picLocks noChangeAspect="1"/>
          </p:cNvPicPr>
          <p:nvPr/>
        </p:nvPicPr>
        <p:blipFill>
          <a:blip r:embed="rId7"/>
          <a:stretch>
            <a:fillRect/>
          </a:stretch>
        </p:blipFill>
        <p:spPr>
          <a:xfrm>
            <a:off x="6487476" y="4931600"/>
            <a:ext cx="176800" cy="176800"/>
          </a:xfrm>
          <a:prstGeom prst="rect">
            <a:avLst/>
          </a:prstGeom>
        </p:spPr>
      </p:pic>
      <p:sp>
        <p:nvSpPr>
          <p:cNvPr id="47" name="Text 47"/>
          <p:cNvSpPr txBox="1"/>
          <p:nvPr/>
        </p:nvSpPr>
        <p:spPr>
          <a:xfrm>
            <a:off x="6865876" y="4850000"/>
            <a:ext cx="4705876" cy="340000"/>
          </a:xfrm>
          <a:prstGeom prst="rect">
            <a:avLst/>
          </a:prstGeom>
          <a:noFill/>
          <a:ln/>
        </p:spPr>
        <p:txBody>
          <a:bodyPr wrap="square" lIns="0" tIns="0" rIns="0" bIns="0" rtlCol="0" anchor="ctr">
            <a:noAutofit/>
          </a:bodyPr>
          <a:lstStyle/>
          <a:p>
            <a:pPr marL="0" indent="0" algn="l">
              <a:lnSpc>
                <a:spcPct val="100000"/>
              </a:lnSpc>
              <a:spcAft>
                <a:spcPts val="0"/>
              </a:spcAft>
              <a:buNone/>
            </a:pPr>
            <a:r>
              <a:rPr lang="fr-FR" sz="1200" b="1" dirty="0">
                <a:solidFill>
                  <a:srgbClr val="21295C"/>
                </a:solidFill>
                <a:latin typeface="Segoe UI" panose="020B0502040204020203" pitchFamily="34" charset="0"/>
                <a:ea typeface="Calibri" pitchFamily="34" charset="-122"/>
                <a:cs typeface="Segoe UI" panose="020B0502040204020203" pitchFamily="34" charset="0"/>
              </a:rPr>
              <a:t>Points de vigilance</a:t>
            </a:r>
          </a:p>
        </p:txBody>
      </p:sp>
      <p:sp>
        <p:nvSpPr>
          <p:cNvPr id="48" name="Text 48"/>
          <p:cNvSpPr txBox="1"/>
          <p:nvPr/>
        </p:nvSpPr>
        <p:spPr>
          <a:xfrm>
            <a:off x="6405876" y="5250000"/>
            <a:ext cx="5145876" cy="820000"/>
          </a:xfrm>
          <a:prstGeom prst="rect">
            <a:avLst/>
          </a:prstGeom>
          <a:noFill/>
          <a:ln/>
        </p:spPr>
        <p:txBody>
          <a:bodyPr wrap="square" lIns="0" tIns="0" rIns="0" bIns="0" rtlCol="0" anchor="t">
            <a:noAutofit/>
          </a:bodyPr>
          <a:lstStyle/>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CWs complexes</a:t>
            </a:r>
            <a:r>
              <a:rPr lang="fr-FR" sz="1000" dirty="0">
                <a:solidFill>
                  <a:srgbClr val="1B2433"/>
                </a:solidFill>
                <a:latin typeface="Segoe UI" panose="020B0502040204020203" pitchFamily="34" charset="0"/>
                <a:ea typeface="Calibri" pitchFamily="34" charset="-122"/>
                <a:cs typeface="Segoe UI" panose="020B0502040204020203" pitchFamily="34" charset="0"/>
              </a:rPr>
              <a:t> (PAULA, Dons) : adaptation à la marge</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Non-régression</a:t>
            </a:r>
            <a:r>
              <a:rPr lang="fr-FR" sz="1000" dirty="0">
                <a:solidFill>
                  <a:srgbClr val="1B2433"/>
                </a:solidFill>
                <a:latin typeface="Segoe UI" panose="020B0502040204020203" pitchFamily="34" charset="0"/>
                <a:ea typeface="Calibri" pitchFamily="34" charset="-122"/>
                <a:cs typeface="Segoe UI" panose="020B0502040204020203" pitchFamily="34" charset="0"/>
              </a:rPr>
              <a:t> : bascule flux par flux, performances à valider par H560</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CADI</a:t>
            </a:r>
            <a:r>
              <a:rPr lang="fr-FR" sz="1000" dirty="0">
                <a:solidFill>
                  <a:srgbClr val="1B2433"/>
                </a:solidFill>
                <a:latin typeface="Segoe UI" panose="020B0502040204020203" pitchFamily="34" charset="0"/>
                <a:ea typeface="Calibri" pitchFamily="34" charset="-122"/>
                <a:cs typeface="Segoe UI" panose="020B0502040204020203" pitchFamily="34" charset="0"/>
              </a:rPr>
              <a:t> : montée en charge et performances à valider</a:t>
            </a:r>
          </a:p>
          <a:p>
            <a:pPr marL="137160" indent="-137160" algn="l">
              <a:lnSpc>
                <a:spcPct val="100000"/>
              </a:lnSpc>
              <a:spcAft>
                <a:spcPts val="150"/>
              </a:spcAft>
              <a:buClr>
                <a:srgbClr val="1C7293"/>
              </a:buClr>
              <a:buFont typeface="Arial"/>
              <a:buChar char="•"/>
            </a:pPr>
            <a:r>
              <a:rPr lang="fr-FR" sz="1000" b="1" dirty="0">
                <a:solidFill>
                  <a:srgbClr val="21295C"/>
                </a:solidFill>
                <a:latin typeface="Segoe UI" panose="020B0502040204020203" pitchFamily="34" charset="0"/>
                <a:ea typeface="Calibri" pitchFamily="34" charset="-122"/>
                <a:cs typeface="Segoe UI" panose="020B0502040204020203" pitchFamily="34" charset="0"/>
              </a:rPr>
              <a:t>Hors périmètre</a:t>
            </a:r>
            <a:r>
              <a:rPr lang="fr-FR" sz="1000" dirty="0">
                <a:solidFill>
                  <a:srgbClr val="1B2433"/>
                </a:solidFill>
                <a:latin typeface="Segoe UI" panose="020B0502040204020203" pitchFamily="34" charset="0"/>
                <a:ea typeface="Calibri" pitchFamily="34" charset="-122"/>
                <a:cs typeface="Segoe UI" panose="020B0502040204020203" pitchFamily="34" charset="0"/>
              </a:rPr>
              <a:t> : saisie </a:t>
            </a:r>
            <a:r>
              <a:rPr lang="fr-FR" sz="1000">
                <a:solidFill>
                  <a:srgbClr val="1B2433"/>
                </a:solidFill>
                <a:latin typeface="Segoe UI" panose="020B0502040204020203" pitchFamily="34" charset="0"/>
                <a:ea typeface="Calibri" pitchFamily="34" charset="-122"/>
                <a:cs typeface="Segoe UI" panose="020B0502040204020203" pitchFamily="34" charset="0"/>
              </a:rPr>
              <a:t>assistée </a:t>
            </a:r>
            <a:endParaRPr lang="fr-FR" sz="1000" dirty="0">
              <a:solidFill>
                <a:srgbClr val="1B2433"/>
              </a:solidFill>
              <a:latin typeface="Segoe UI" panose="020B0502040204020203" pitchFamily="34" charset="0"/>
              <a:ea typeface="Calibri" pitchFamily="34" charset="-122"/>
              <a:cs typeface="Segoe UI" panose="020B0502040204020203" pitchFamily="34" charset="0"/>
            </a:endParaRPr>
          </a:p>
        </p:txBody>
      </p:sp>
    </p:spTree>
    <p:extLst>
      <p:ext uri="{BB962C8B-B14F-4D97-AF65-F5344CB8AC3E}">
        <p14:creationId xmlns:p14="http://schemas.microsoft.com/office/powerpoint/2010/main" val="1583483065"/>
      </p:ext>
    </p:extLst>
  </p:cSld>
  <p:clrMapOvr>
    <a:masterClrMapping/>
  </p:clrMapOvr>
</p:sld>
</file>

<file path=ppt/theme/theme1.xml><?xml version="1.0" encoding="utf-8"?>
<a:theme xmlns:a="http://schemas.openxmlformats.org/drawingml/2006/main" name="9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presentation_avec_sigle_EI.pptx" id="{B99EAE91-1054-4C9C-80B9-DCEBA3F2C693}" vid="{809C3AEC-4C68-4DCA-96C7-544C83173E81}"/>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PJQFUVHKSAJQ-1373287592-275512</_dlc_DocId>
    <_dlc_DocIdUrl xmlns="9da6f561-6c40-462f-af3e-6833fe74929f">
      <Url>https://moss-si.cm-cic.fr/Sites/D00116/Documentation/_layouts/15/DocIdRedir.aspx?ID=PJQFUVHKSAJQ-1373287592-275512</Url>
      <Description>PJQFUVHKSAJQ-1373287592-275512</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976B7B-DEE3-47D2-A92E-B47AF02955AC}">
  <ds:schemaRefs>
    <ds:schemaRef ds:uri="http://schemas.microsoft.com/office/2006/metadata/properties"/>
    <ds:schemaRef ds:uri="http://schemas.microsoft.com/office/infopath/2007/PartnerControls"/>
    <ds:schemaRef ds:uri="http://purl.org/dc/elements/1.1/"/>
    <ds:schemaRef ds:uri="http://purl.org/dc/dcmitype/"/>
    <ds:schemaRef ds:uri="8ff6ca53-9990-4cf6-aa9b-81190a5c5371"/>
    <ds:schemaRef ds:uri="http://purl.org/dc/terms/"/>
    <ds:schemaRef ds:uri="http://schemas.openxmlformats.org/package/2006/metadata/core-properties"/>
    <ds:schemaRef ds:uri="99cee9d7-070e-44dd-ab97-3503062ab504"/>
    <ds:schemaRef ds:uri="http://schemas.microsoft.com/office/2006/documentManagement/types"/>
    <ds:schemaRef ds:uri="http://schemas.microsoft.com/sharepoint/v4"/>
    <ds:schemaRef ds:uri="9da6f561-6c40-462f-af3e-6833fe74929f"/>
    <ds:schemaRef ds:uri="http://schemas.microsoft.com/sharepoint/v3"/>
    <ds:schemaRef ds:uri="http://www.w3.org/XML/1998/namespace"/>
  </ds:schemaRefs>
</ds:datastoreItem>
</file>

<file path=customXml/itemProps2.xml><?xml version="1.0" encoding="utf-8"?>
<ds:datastoreItem xmlns:ds="http://schemas.openxmlformats.org/officeDocument/2006/customXml" ds:itemID="{878C9C5E-DE36-419C-A811-BD5853BD94A9}">
  <ds:schemaRefs>
    <ds:schemaRef ds:uri="http://schemas.microsoft.com/sharepoint/v3/contenttype/forms"/>
  </ds:schemaRefs>
</ds:datastoreItem>
</file>

<file path=customXml/itemProps3.xml><?xml version="1.0" encoding="utf-8"?>
<ds:datastoreItem xmlns:ds="http://schemas.openxmlformats.org/officeDocument/2006/customXml" ds:itemID="{2F05F62B-875A-44DA-9C24-ECFA753B3086}">
  <ds:schemaRefs>
    <ds:schemaRef ds:uri="http://schemas.microsoft.com/sharepoint/events"/>
  </ds:schemaRefs>
</ds:datastoreItem>
</file>

<file path=customXml/itemProps4.xml><?xml version="1.0" encoding="utf-8"?>
<ds:datastoreItem xmlns:ds="http://schemas.openxmlformats.org/officeDocument/2006/customXml" ds:itemID="{14BDAD69-8D02-46F2-AAEF-AB5B9560E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18260</TotalTime>
  <Words>611</Words>
  <Application>Microsoft Macintosh PowerPoint</Application>
  <PresentationFormat>Grand écran</PresentationFormat>
  <Paragraphs>45</Paragraphs>
  <Slides>1</Slides>
  <Notes>1</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1</vt:i4>
      </vt:variant>
    </vt:vector>
  </HeadingPairs>
  <TitlesOfParts>
    <vt:vector size="8" baseType="lpstr">
      <vt:lpstr>Arial</vt:lpstr>
      <vt:lpstr>Calibri</vt:lpstr>
      <vt:lpstr>Segoe UI</vt:lpstr>
      <vt:lpstr>Segoe UI Light</vt:lpstr>
      <vt:lpstr>Wingdings 3</vt:lpstr>
      <vt:lpstr>9_Thème Office</vt:lpstr>
      <vt:lpstr>Thème Office</vt:lpstr>
      <vt:lpstr>Refonte SyoReader — Interop CADI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ISSOULGHANE Morad (PRESTA EXT)</dc:creator>
  <cp:lastModifiedBy>MORAD ISSOULGHANE</cp:lastModifiedBy>
  <cp:revision>221</cp:revision>
  <dcterms:created xsi:type="dcterms:W3CDTF">2024-11-29T08:59:48Z</dcterms:created>
  <dcterms:modified xsi:type="dcterms:W3CDTF">2026-09-21T08:52:42Z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Nature du document">
    <vt:lpwstr>1;#Document|f926a2be-6740-4577-ba49-e4b230c74a1c</vt:lpwstr>
  </property>
  <property fmtid="{D5CDD505-2E9C-101B-9397-08002B2CF9AE}" pid="5" name="Classification">
    <vt:lpwstr>2;#10 - Interne|88571201-3d77-41d7-bf2a-abb247897d97</vt:lpwstr>
  </property>
  <property fmtid="{D5CDD505-2E9C-101B-9397-08002B2CF9AE}" pid="6" name="ROBIN">
    <vt:lpwstr/>
  </property>
  <property fmtid="{D5CDD505-2E9C-101B-9397-08002B2CF9AE}" pid="7" name="_dlc_DocIdItemGuid">
    <vt:lpwstr>5e6376b7-6b89-43d7-8ce1-b32e625e89e3</vt:lpwstr>
  </property>
</Properties>
</file>