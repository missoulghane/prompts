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5"/>
  </p:sldMasterIdLst>
  <p:notesMasterIdLst>
    <p:notesMasterId r:id="rId21"/>
  </p:notesMasterIdLst>
  <p:handoutMasterIdLst>
    <p:handoutMasterId r:id="rId22"/>
  </p:handoutMasterIdLst>
  <p:sldIdLst>
    <p:sldId id="256" r:id="rId6"/>
    <p:sldId id="350" r:id="rId7"/>
    <p:sldId id="2147375292" r:id="rId8"/>
    <p:sldId id="2147375293" r:id="rId9"/>
    <p:sldId id="2147375297" r:id="rId10"/>
    <p:sldId id="2147375298" r:id="rId11"/>
    <p:sldId id="2147375291" r:id="rId12"/>
    <p:sldId id="2147375294" r:id="rId13"/>
    <p:sldId id="2147375295" r:id="rId14"/>
    <p:sldId id="334" r:id="rId15"/>
    <p:sldId id="385" r:id="rId16"/>
    <p:sldId id="382" r:id="rId17"/>
    <p:sldId id="374" r:id="rId18"/>
    <p:sldId id="2147375299" r:id="rId19"/>
    <p:sldId id="270" r:id="rId20"/>
  </p:sldIdLst>
  <p:sldSz cx="24384000" cy="13716000"/>
  <p:notesSz cx="6858000" cy="9144000"/>
  <p:defaultTextStyle>
    <a:defPPr>
      <a:defRPr lang="fr-F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2447"/>
    <a:srgbClr val="F3F4F4"/>
    <a:srgbClr val="E06206"/>
    <a:srgbClr val="173456"/>
    <a:srgbClr val="E4E5E6"/>
    <a:srgbClr val="F1F1F2"/>
    <a:srgbClr val="E7473D"/>
    <a:srgbClr val="003A8D"/>
    <a:srgbClr val="0C4392"/>
    <a:srgbClr val="F2524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86219" autoAdjust="0"/>
  </p:normalViewPr>
  <p:slideViewPr>
    <p:cSldViewPr snapToGrid="0">
      <p:cViewPr varScale="1">
        <p:scale>
          <a:sx n="50" d="100"/>
          <a:sy n="50" d="100"/>
        </p:scale>
        <p:origin x="1050" y="78"/>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87" d="100"/>
          <a:sy n="87" d="100"/>
        </p:scale>
        <p:origin x="3764" y="4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viewProps" Target="viewProps.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E7FAA41-04A4-4F23-9A5A-315CEFE51309}" type="datetimeFigureOut">
              <a:rPr lang="fr-FR" smtClean="0"/>
              <a:t>03/09/2026</a:t>
            </a:fld>
            <a:endParaRPr lang="fr-FR"/>
          </a:p>
        </p:txBody>
      </p:sp>
      <p:sp>
        <p:nvSpPr>
          <p:cNvPr id="4" name="Espace réservé du pied de page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593FF8F-81A3-4133-BC52-824576C0FAB7}" type="slidenum">
              <a:rPr lang="fr-FR" smtClean="0"/>
              <a:t>‹N°›</a:t>
            </a:fld>
            <a:endParaRPr lang="fr-FR"/>
          </a:p>
        </p:txBody>
      </p:sp>
    </p:spTree>
    <p:extLst>
      <p:ext uri="{BB962C8B-B14F-4D97-AF65-F5344CB8AC3E}">
        <p14:creationId xmlns:p14="http://schemas.microsoft.com/office/powerpoint/2010/main" val="2429991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Espace réservé des commentaires 4"/>
          <p:cNvSpPr>
            <a:spLocks noGrp="1"/>
          </p:cNvSpPr>
          <p:nvPr>
            <p:ph type="body" sz="quarter" idx="3"/>
          </p:nvPr>
        </p:nvSpPr>
        <p:spPr>
          <a:xfrm>
            <a:off x="228600" y="2883984"/>
            <a:ext cx="6428678" cy="5970084"/>
          </a:xfrm>
          <a:prstGeom prst="rect">
            <a:avLst/>
          </a:prstGeom>
        </p:spPr>
        <p:txBody>
          <a:bodyPr vert="horz" lIns="91440" tIns="45720" rIns="91440" bIns="45720" rtlCol="0"/>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7" name="Espace réservé du numéro de diapositive 6"/>
          <p:cNvSpPr>
            <a:spLocks noGrp="1"/>
          </p:cNvSpPr>
          <p:nvPr>
            <p:ph type="sldNum" sz="quarter" idx="5"/>
          </p:nvPr>
        </p:nvSpPr>
        <p:spPr>
          <a:xfrm>
            <a:off x="3884613" y="8854068"/>
            <a:ext cx="2971800" cy="289932"/>
          </a:xfrm>
          <a:prstGeom prst="rect">
            <a:avLst/>
          </a:prstGeom>
        </p:spPr>
        <p:txBody>
          <a:bodyPr vert="horz" lIns="91440" tIns="45720" rIns="91440" bIns="45720" rtlCol="0" anchor="b"/>
          <a:lstStyle>
            <a:lvl1pPr algn="r">
              <a:defRPr sz="1100"/>
            </a:lvl1pPr>
          </a:lstStyle>
          <a:p>
            <a:fld id="{B69D4CE5-1A0E-49ED-AA3E-F82EEF3E7B76}" type="slidenum">
              <a:rPr lang="fr-FR" smtClean="0"/>
              <a:pPr/>
              <a:t>‹N°›</a:t>
            </a:fld>
            <a:endParaRPr lang="fr-FR" dirty="0"/>
          </a:p>
        </p:txBody>
      </p:sp>
      <p:sp>
        <p:nvSpPr>
          <p:cNvPr id="8" name="Espace réservé de l'image des diapositives 7"/>
          <p:cNvSpPr>
            <a:spLocks noGrp="1" noRot="1" noChangeAspect="1"/>
          </p:cNvSpPr>
          <p:nvPr>
            <p:ph type="sldImg" idx="2"/>
          </p:nvPr>
        </p:nvSpPr>
        <p:spPr>
          <a:xfrm>
            <a:off x="1076093" y="250902"/>
            <a:ext cx="4510668" cy="2537251"/>
          </a:xfrm>
          <a:prstGeom prst="rect">
            <a:avLst/>
          </a:prstGeom>
          <a:noFill/>
          <a:ln w="12700">
            <a:solidFill>
              <a:prstClr val="black"/>
            </a:solidFill>
          </a:ln>
        </p:spPr>
        <p:txBody>
          <a:bodyPr vert="horz" lIns="91440" tIns="45720" rIns="91440" bIns="45720" rtlCol="0" anchor="ctr"/>
          <a:lstStyle/>
          <a:p>
            <a:endParaRPr lang="fr-FR"/>
          </a:p>
        </p:txBody>
      </p:sp>
    </p:spTree>
    <p:extLst>
      <p:ext uri="{BB962C8B-B14F-4D97-AF65-F5344CB8AC3E}">
        <p14:creationId xmlns:p14="http://schemas.microsoft.com/office/powerpoint/2010/main" val="3817531586"/>
      </p:ext>
    </p:extLst>
  </p:cSld>
  <p:clrMap bg1="lt1" tx1="dk1" bg2="lt2" tx2="dk2" accent1="accent1" accent2="accent2" accent3="accent3" accent4="accent4" accent5="accent5" accent6="accent6" hlink="hlink" folHlink="folHlink"/>
  <p:hf hdr="0" ftr="0" dt="0"/>
  <p:notesStyle>
    <a:lvl1pPr marL="0" algn="l" defTabSz="1828800" rtl="0" eaLnBrk="1" latinLnBrk="0" hangingPunct="1">
      <a:defRPr sz="1100" kern="1200">
        <a:solidFill>
          <a:schemeClr val="tx1"/>
        </a:solidFill>
        <a:latin typeface="+mn-lt"/>
        <a:ea typeface="+mn-ea"/>
        <a:cs typeface="Arial" panose="020B0604020202020204" pitchFamily="34" charset="0"/>
      </a:defRPr>
    </a:lvl1pPr>
    <a:lvl2pPr marL="177800" indent="0" algn="l" defTabSz="1828800" rtl="0" eaLnBrk="1" latinLnBrk="0" hangingPunct="1">
      <a:defRPr sz="1100" kern="1200">
        <a:solidFill>
          <a:schemeClr val="tx1"/>
        </a:solidFill>
        <a:latin typeface="+mn-lt"/>
        <a:ea typeface="+mn-ea"/>
        <a:cs typeface="Arial" panose="020B0604020202020204" pitchFamily="34" charset="0"/>
      </a:defRPr>
    </a:lvl2pPr>
    <a:lvl3pPr marL="357188" indent="0" algn="l" defTabSz="1828800" rtl="0" eaLnBrk="1" latinLnBrk="0" hangingPunct="1">
      <a:defRPr sz="1100" kern="1200">
        <a:solidFill>
          <a:schemeClr val="tx1"/>
        </a:solidFill>
        <a:latin typeface="+mn-lt"/>
        <a:ea typeface="+mn-ea"/>
        <a:cs typeface="Arial" panose="020B0604020202020204" pitchFamily="34" charset="0"/>
      </a:defRPr>
    </a:lvl3pPr>
    <a:lvl4pPr marL="534988" indent="0" algn="l" defTabSz="1828800" rtl="0" eaLnBrk="1" latinLnBrk="0" hangingPunct="1">
      <a:defRPr sz="1100" kern="1200">
        <a:solidFill>
          <a:schemeClr val="tx1"/>
        </a:solidFill>
        <a:latin typeface="+mn-lt"/>
        <a:ea typeface="+mn-ea"/>
        <a:cs typeface="Arial" panose="020B0604020202020204" pitchFamily="34" charset="0"/>
      </a:defRPr>
    </a:lvl4pPr>
    <a:lvl5pPr marL="714375" indent="0" algn="l" defTabSz="1828800" rtl="0" eaLnBrk="1" latinLnBrk="0" hangingPunct="1">
      <a:defRPr sz="1100" kern="1200">
        <a:solidFill>
          <a:schemeClr val="tx1"/>
        </a:solidFill>
        <a:latin typeface="+mn-lt"/>
        <a:ea typeface="+mn-ea"/>
        <a:cs typeface="Arial" panose="020B0604020202020204" pitchFamily="34" charset="0"/>
      </a:defRPr>
    </a:lvl5pPr>
    <a:lvl6pPr marL="4572000" algn="l" defTabSz="1828800" rtl="0" eaLnBrk="1" latinLnBrk="0" hangingPunct="1">
      <a:defRPr sz="2400" kern="1200">
        <a:solidFill>
          <a:schemeClr val="tx1"/>
        </a:solidFill>
        <a:latin typeface="+mn-lt"/>
        <a:ea typeface="+mn-ea"/>
        <a:cs typeface="+mn-cs"/>
      </a:defRPr>
    </a:lvl6pPr>
    <a:lvl7pPr marL="5486400" algn="l" defTabSz="1828800" rtl="0" eaLnBrk="1" latinLnBrk="0" hangingPunct="1">
      <a:defRPr sz="2400" kern="1200">
        <a:solidFill>
          <a:schemeClr val="tx1"/>
        </a:solidFill>
        <a:latin typeface="+mn-lt"/>
        <a:ea typeface="+mn-ea"/>
        <a:cs typeface="+mn-cs"/>
      </a:defRPr>
    </a:lvl7pPr>
    <a:lvl8pPr marL="6400800" algn="l" defTabSz="1828800" rtl="0" eaLnBrk="1" latinLnBrk="0" hangingPunct="1">
      <a:defRPr sz="2400" kern="1200">
        <a:solidFill>
          <a:schemeClr val="tx1"/>
        </a:solidFill>
        <a:latin typeface="+mn-lt"/>
        <a:ea typeface="+mn-ea"/>
        <a:cs typeface="+mn-cs"/>
      </a:defRPr>
    </a:lvl8pPr>
    <a:lvl9pPr marL="7315200" algn="l" defTabSz="1828800" rtl="0" eaLnBrk="1" latinLnBrk="0" hangingPunct="1">
      <a:defRPr sz="2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0"/>
          </p:nvPr>
        </p:nvSpPr>
        <p:spPr/>
        <p:txBody>
          <a:bodyPr/>
          <a:lstStyle/>
          <a:p>
            <a:fld id="{B69D4CE5-1A0E-49ED-AA3E-F82EEF3E7B76}" type="slidenum">
              <a:rPr lang="fr-FR" smtClean="0"/>
              <a:pPr/>
              <a:t>1</a:t>
            </a:fld>
            <a:endParaRPr lang="fr-FR"/>
          </a:p>
        </p:txBody>
      </p:sp>
      <p:sp>
        <p:nvSpPr>
          <p:cNvPr id="6" name="Espace réservé de l'image des diapositives 5"/>
          <p:cNvSpPr>
            <a:spLocks noGrp="1" noRot="1" noChangeAspect="1"/>
          </p:cNvSpPr>
          <p:nvPr>
            <p:ph type="sldImg"/>
          </p:nvPr>
        </p:nvSpPr>
        <p:spPr>
          <a:xfrm>
            <a:off x="1076325" y="250825"/>
            <a:ext cx="4510088" cy="2536825"/>
          </a:xfrm>
        </p:spPr>
      </p:sp>
      <p:sp>
        <p:nvSpPr>
          <p:cNvPr id="7" name="Espace réservé des commentaires 6"/>
          <p:cNvSpPr>
            <a:spLocks noGrp="1"/>
          </p:cNvSpPr>
          <p:nvPr>
            <p:ph type="body" idx="1"/>
          </p:nvPr>
        </p:nvSpPr>
        <p:spPr/>
        <p:txBody>
          <a:bodyPr/>
          <a:lstStyle/>
          <a:p>
            <a:endParaRPr lang="fr-FR"/>
          </a:p>
        </p:txBody>
      </p:sp>
    </p:spTree>
    <p:extLst>
      <p:ext uri="{BB962C8B-B14F-4D97-AF65-F5344CB8AC3E}">
        <p14:creationId xmlns:p14="http://schemas.microsoft.com/office/powerpoint/2010/main" val="7483360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076325" y="250825"/>
            <a:ext cx="4510088" cy="2536825"/>
          </a:xfrm>
        </p:spPr>
      </p:sp>
      <p:sp>
        <p:nvSpPr>
          <p:cNvPr id="3" name="Espace réservé des notes 2"/>
          <p:cNvSpPr>
            <a:spLocks noGrp="1"/>
          </p:cNvSpPr>
          <p:nvPr>
            <p:ph type="body" idx="1"/>
          </p:nvPr>
        </p:nvSpPr>
        <p:spPr/>
        <p:txBody>
          <a:bodyPr/>
          <a:lstStyle/>
          <a:p>
            <a:pPr marL="0" marR="0" lvl="0" indent="0" algn="l" defTabSz="1828800" rtl="0" eaLnBrk="1" fontAlgn="auto" latinLnBrk="0" hangingPunct="1">
              <a:lnSpc>
                <a:spcPct val="100000"/>
              </a:lnSpc>
              <a:spcBef>
                <a:spcPts val="0"/>
              </a:spcBef>
              <a:spcAft>
                <a:spcPts val="0"/>
              </a:spcAft>
              <a:buClrTx/>
              <a:buSzTx/>
              <a:buFontTx/>
              <a:buNone/>
              <a:tabLst/>
              <a:defRPr/>
            </a:pPr>
            <a:r>
              <a:rPr lang="fr-FR" sz="900" dirty="0">
                <a:sym typeface="Wingdings" panose="05000000000000000000" pitchFamily="2" charset="2"/>
              </a:rPr>
              <a:t>Confirmation de Benoit </a:t>
            </a:r>
            <a:r>
              <a:rPr lang="fr-FR" sz="900" dirty="0" err="1">
                <a:sym typeface="Wingdings" panose="05000000000000000000" pitchFamily="2" charset="2"/>
              </a:rPr>
              <a:t>Laforet</a:t>
            </a:r>
            <a:r>
              <a:rPr lang="fr-FR" sz="900" dirty="0">
                <a:sym typeface="Wingdings" panose="05000000000000000000" pitchFamily="2" charset="2"/>
              </a:rPr>
              <a:t>, </a:t>
            </a:r>
            <a:r>
              <a:rPr lang="fr-FR" sz="900" dirty="0" err="1">
                <a:sym typeface="Wingdings" panose="05000000000000000000" pitchFamily="2" charset="2"/>
              </a:rPr>
              <a:t>IArchi</a:t>
            </a:r>
            <a:r>
              <a:rPr lang="fr-FR" sz="900" dirty="0">
                <a:sym typeface="Wingdings" panose="05000000000000000000" pitchFamily="2" charset="2"/>
              </a:rPr>
              <a:t> du secteur H qu’il n’existe pas de norme Groupe pour décrire un schéma d’architecture</a:t>
            </a:r>
            <a:endParaRPr lang="fr-FR" sz="900" dirty="0"/>
          </a:p>
        </p:txBody>
      </p:sp>
      <p:sp>
        <p:nvSpPr>
          <p:cNvPr id="4" name="Espace réservé du numéro de diapositive 3"/>
          <p:cNvSpPr>
            <a:spLocks noGrp="1"/>
          </p:cNvSpPr>
          <p:nvPr>
            <p:ph type="sldNum" sz="quarter" idx="5"/>
          </p:nvPr>
        </p:nvSpPr>
        <p:spPr/>
        <p:txBody>
          <a:bodyPr/>
          <a:lstStyle/>
          <a:p>
            <a:fld id="{B69D4CE5-1A0E-49ED-AA3E-F82EEF3E7B76}" type="slidenum">
              <a:rPr lang="fr-FR" smtClean="0"/>
              <a:pPr/>
              <a:t>6</a:t>
            </a:fld>
            <a:endParaRPr lang="fr-FR" dirty="0"/>
          </a:p>
        </p:txBody>
      </p:sp>
    </p:spTree>
    <p:extLst>
      <p:ext uri="{BB962C8B-B14F-4D97-AF65-F5344CB8AC3E}">
        <p14:creationId xmlns:p14="http://schemas.microsoft.com/office/powerpoint/2010/main" val="42291475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076325" y="250825"/>
            <a:ext cx="4510088" cy="2536825"/>
          </a:xfrm>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D0782E-EA2B-4512-8042-862CE0D644E6}"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130292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076325" y="250825"/>
            <a:ext cx="4510088" cy="2536825"/>
          </a:xfrm>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69D4CE5-1A0E-49ED-AA3E-F82EEF3E7B76}" type="slidenum">
              <a:rPr lang="fr-FR" smtClean="0"/>
              <a:t>10</a:t>
            </a:fld>
            <a:endParaRPr lang="fr-FR" dirty="0"/>
          </a:p>
        </p:txBody>
      </p:sp>
    </p:spTree>
    <p:extLst>
      <p:ext uri="{BB962C8B-B14F-4D97-AF65-F5344CB8AC3E}">
        <p14:creationId xmlns:p14="http://schemas.microsoft.com/office/powerpoint/2010/main" val="4050397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076325" y="250825"/>
            <a:ext cx="4510088" cy="2536825"/>
          </a:xfrm>
        </p:spPr>
      </p:sp>
      <p:sp>
        <p:nvSpPr>
          <p:cNvPr id="3" name="Espace réservé des notes 2"/>
          <p:cNvSpPr>
            <a:spLocks noGrp="1"/>
          </p:cNvSpPr>
          <p:nvPr>
            <p:ph type="body" idx="1"/>
          </p:nvPr>
        </p:nvSpPr>
        <p:spPr/>
        <p:txBody>
          <a:bodyPr/>
          <a:lstStyle/>
          <a:p>
            <a:r>
              <a:rPr lang="fr-FR" dirty="0"/>
              <a:t>Jérémy</a:t>
            </a:r>
          </a:p>
        </p:txBody>
      </p:sp>
      <p:sp>
        <p:nvSpPr>
          <p:cNvPr id="4" name="Espace réservé du numéro de diapositive 3"/>
          <p:cNvSpPr>
            <a:spLocks noGrp="1"/>
          </p:cNvSpPr>
          <p:nvPr>
            <p:ph type="sldNum" sz="quarter" idx="10"/>
          </p:nvPr>
        </p:nvSpPr>
        <p:spPr/>
        <p:txBody>
          <a:bodyPr/>
          <a:lstStyle/>
          <a:p>
            <a:pPr marL="0" marR="0" lvl="0" indent="0" algn="r" defTabSz="1828800" rtl="0" eaLnBrk="1" fontAlgn="auto" latinLnBrk="0" hangingPunct="1">
              <a:lnSpc>
                <a:spcPct val="100000"/>
              </a:lnSpc>
              <a:spcBef>
                <a:spcPts val="0"/>
              </a:spcBef>
              <a:spcAft>
                <a:spcPts val="0"/>
              </a:spcAft>
              <a:buClrTx/>
              <a:buSzTx/>
              <a:buFontTx/>
              <a:buNone/>
              <a:tabLst/>
              <a:defRPr/>
            </a:pPr>
            <a:fld id="{B69D4CE5-1A0E-49ED-AA3E-F82EEF3E7B76}" type="slidenum">
              <a:rPr kumimoji="0" lang="fr-FR" sz="11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828800" rtl="0" eaLnBrk="1" fontAlgn="auto" latinLnBrk="0" hangingPunct="1">
                <a:lnSpc>
                  <a:spcPct val="100000"/>
                </a:lnSpc>
                <a:spcBef>
                  <a:spcPts val="0"/>
                </a:spcBef>
                <a:spcAft>
                  <a:spcPts val="0"/>
                </a:spcAft>
                <a:buClrTx/>
                <a:buSzTx/>
                <a:buFontTx/>
                <a:buNone/>
                <a:tabLst/>
                <a:defRPr/>
              </a:pPr>
              <a:t>11</a:t>
            </a:fld>
            <a:endParaRPr kumimoji="0" lang="fr-FR"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83837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076325" y="250825"/>
            <a:ext cx="4510088" cy="2536825"/>
          </a:xfrm>
        </p:spPr>
      </p:sp>
      <p:sp>
        <p:nvSpPr>
          <p:cNvPr id="3" name="Espace réservé des commentaires 2"/>
          <p:cNvSpPr>
            <a:spLocks noGrp="1"/>
          </p:cNvSpPr>
          <p:nvPr>
            <p:ph type="body" idx="1"/>
          </p:nvPr>
        </p:nvSpPr>
        <p:spPr/>
        <p:txBody>
          <a:bodyPr/>
          <a:lstStyle/>
          <a:p>
            <a:r>
              <a:rPr lang="fr-FR" dirty="0"/>
              <a:t>Jérémy</a:t>
            </a:r>
          </a:p>
        </p:txBody>
      </p:sp>
    </p:spTree>
    <p:extLst>
      <p:ext uri="{BB962C8B-B14F-4D97-AF65-F5344CB8AC3E}">
        <p14:creationId xmlns:p14="http://schemas.microsoft.com/office/powerpoint/2010/main" val="39778987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076325" y="250825"/>
            <a:ext cx="4510088" cy="2536825"/>
          </a:xfrm>
        </p:spPr>
      </p:sp>
      <p:sp>
        <p:nvSpPr>
          <p:cNvPr id="3" name="Espace réservé des notes 2"/>
          <p:cNvSpPr>
            <a:spLocks noGrp="1"/>
          </p:cNvSpPr>
          <p:nvPr>
            <p:ph type="body" idx="1"/>
          </p:nvPr>
        </p:nvSpPr>
        <p:spPr/>
        <p:txBody>
          <a:bodyPr/>
          <a:lstStyle/>
          <a:p>
            <a:r>
              <a:rPr lang="fr-FR" dirty="0"/>
              <a:t>Jérémy</a:t>
            </a:r>
          </a:p>
        </p:txBody>
      </p:sp>
      <p:sp>
        <p:nvSpPr>
          <p:cNvPr id="4" name="Espace réservé du numéro de diapositive 3"/>
          <p:cNvSpPr>
            <a:spLocks noGrp="1"/>
          </p:cNvSpPr>
          <p:nvPr>
            <p:ph type="sldNum" sz="quarter" idx="10"/>
          </p:nvPr>
        </p:nvSpPr>
        <p:spPr/>
        <p:txBody>
          <a:bodyPr/>
          <a:lstStyle/>
          <a:p>
            <a:fld id="{B69D4CE5-1A0E-49ED-AA3E-F82EEF3E7B76}" type="slidenum">
              <a:rPr lang="fr-FR" smtClean="0"/>
              <a:pPr/>
              <a:t>13</a:t>
            </a:fld>
            <a:endParaRPr lang="fr-FR" dirty="0"/>
          </a:p>
        </p:txBody>
      </p:sp>
    </p:spTree>
    <p:extLst>
      <p:ext uri="{BB962C8B-B14F-4D97-AF65-F5344CB8AC3E}">
        <p14:creationId xmlns:p14="http://schemas.microsoft.com/office/powerpoint/2010/main" val="1658015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076325" y="250825"/>
            <a:ext cx="4510088" cy="2536825"/>
          </a:xfrm>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D0782E-EA2B-4512-8042-862CE0D644E6}"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721366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076325" y="250825"/>
            <a:ext cx="4510088" cy="2536825"/>
          </a:xfrm>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B69D4CE5-1A0E-49ED-AA3E-F82EEF3E7B76}" type="slidenum">
              <a:rPr lang="fr-FR" smtClean="0"/>
              <a:t>15</a:t>
            </a:fld>
            <a:endParaRPr lang="fr-FR" dirty="0"/>
          </a:p>
        </p:txBody>
      </p:sp>
    </p:spTree>
    <p:extLst>
      <p:ext uri="{BB962C8B-B14F-4D97-AF65-F5344CB8AC3E}">
        <p14:creationId xmlns:p14="http://schemas.microsoft.com/office/powerpoint/2010/main" val="320844938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re principal">
    <p:spTree>
      <p:nvGrpSpPr>
        <p:cNvPr id="1" name=""/>
        <p:cNvGrpSpPr/>
        <p:nvPr/>
      </p:nvGrpSpPr>
      <p:grpSpPr>
        <a:xfrm>
          <a:off x="0" y="0"/>
          <a:ext cx="0" cy="0"/>
          <a:chOff x="0" y="0"/>
          <a:chExt cx="0" cy="0"/>
        </a:xfrm>
      </p:grpSpPr>
      <p:pic>
        <p:nvPicPr>
          <p:cNvPr id="4" name="Imag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3399" y="381001"/>
            <a:ext cx="23318910" cy="11099801"/>
          </a:xfrm>
          <a:prstGeom prst="rect">
            <a:avLst/>
          </a:prstGeom>
        </p:spPr>
      </p:pic>
      <p:sp>
        <p:nvSpPr>
          <p:cNvPr id="8" name="Rectangle à coins arrondis 7"/>
          <p:cNvSpPr/>
          <p:nvPr userDrawn="1"/>
        </p:nvSpPr>
        <p:spPr>
          <a:xfrm>
            <a:off x="533399" y="381001"/>
            <a:ext cx="23317200" cy="11099800"/>
          </a:xfrm>
          <a:prstGeom prst="roundRect">
            <a:avLst>
              <a:gd name="adj" fmla="val 3479"/>
            </a:avLst>
          </a:prstGeom>
          <a:solidFill>
            <a:srgbClr val="003A8D">
              <a:alpha val="4300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7200"/>
          </a:p>
        </p:txBody>
      </p:sp>
      <p:sp>
        <p:nvSpPr>
          <p:cNvPr id="2" name="Title 1"/>
          <p:cNvSpPr>
            <a:spLocks noGrp="1"/>
          </p:cNvSpPr>
          <p:nvPr>
            <p:ph type="ctrTitle"/>
          </p:nvPr>
        </p:nvSpPr>
        <p:spPr>
          <a:xfrm>
            <a:off x="9760016" y="3305128"/>
            <a:ext cx="11575983" cy="4290912"/>
          </a:xfrm>
          <a:prstGeom prst="rect">
            <a:avLst/>
          </a:prstGeom>
        </p:spPr>
        <p:txBody>
          <a:bodyPr anchor="b"/>
          <a:lstStyle>
            <a:lvl1pPr algn="l">
              <a:defRPr sz="12000">
                <a:solidFill>
                  <a:schemeClr val="bg1">
                    <a:lumMod val="95000"/>
                  </a:schemeClr>
                </a:solidFill>
              </a:defRPr>
            </a:lvl1pPr>
          </a:lstStyle>
          <a:p>
            <a:r>
              <a:rPr lang="fr-FR" dirty="0"/>
              <a:t>Modifiez le style du titre</a:t>
            </a:r>
            <a:endParaRPr lang="en-US" dirty="0"/>
          </a:p>
        </p:txBody>
      </p:sp>
      <p:sp>
        <p:nvSpPr>
          <p:cNvPr id="3" name="Subtitle 2"/>
          <p:cNvSpPr>
            <a:spLocks noGrp="1"/>
          </p:cNvSpPr>
          <p:nvPr>
            <p:ph type="subTitle" idx="1"/>
          </p:nvPr>
        </p:nvSpPr>
        <p:spPr>
          <a:xfrm>
            <a:off x="9760016" y="7939448"/>
            <a:ext cx="11575983" cy="2576152"/>
          </a:xfrm>
          <a:prstGeom prst="rect">
            <a:avLst/>
          </a:prstGeom>
        </p:spPr>
        <p:txBody>
          <a:bodyPr/>
          <a:lstStyle>
            <a:lvl1pPr marL="0" indent="0" algn="l">
              <a:buNone/>
              <a:defRPr sz="4800">
                <a:solidFill>
                  <a:schemeClr val="bg1">
                    <a:lumMod val="95000"/>
                  </a:schemeClr>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fr-FR" dirty="0"/>
              <a:t>Modifiez le style des sous-titres du masque</a:t>
            </a:r>
            <a:endParaRPr lang="en-US" dirty="0"/>
          </a:p>
        </p:txBody>
      </p:sp>
      <p:sp>
        <p:nvSpPr>
          <p:cNvPr id="9" name="Rectangle 13"/>
          <p:cNvSpPr/>
          <p:nvPr userDrawn="1"/>
        </p:nvSpPr>
        <p:spPr>
          <a:xfrm>
            <a:off x="9760017" y="7717371"/>
            <a:ext cx="10750718" cy="91438"/>
          </a:xfrm>
          <a:custGeom>
            <a:avLst/>
            <a:gdLst>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42863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42863 w 5342021"/>
              <a:gd name="connsiteY4" fmla="*/ 0 h 45719"/>
              <a:gd name="connsiteX0" fmla="*/ 42863 w 5375359"/>
              <a:gd name="connsiteY0" fmla="*/ 0 h 45719"/>
              <a:gd name="connsiteX1" fmla="*/ 5375359 w 5375359"/>
              <a:gd name="connsiteY1" fmla="*/ 4762 h 45719"/>
              <a:gd name="connsiteX2" fmla="*/ 5342021 w 5375359"/>
              <a:gd name="connsiteY2" fmla="*/ 45719 h 45719"/>
              <a:gd name="connsiteX3" fmla="*/ 0 w 5375359"/>
              <a:gd name="connsiteY3" fmla="*/ 45719 h 45719"/>
              <a:gd name="connsiteX4" fmla="*/ 42863 w 5375359"/>
              <a:gd name="connsiteY4" fmla="*/ 0 h 45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5359" h="45719">
                <a:moveTo>
                  <a:pt x="42863" y="0"/>
                </a:moveTo>
                <a:lnTo>
                  <a:pt x="5375359" y="4762"/>
                </a:lnTo>
                <a:lnTo>
                  <a:pt x="5342021" y="45719"/>
                </a:lnTo>
                <a:lnTo>
                  <a:pt x="0" y="45719"/>
                </a:lnTo>
                <a:lnTo>
                  <a:pt x="42863" y="0"/>
                </a:lnTo>
                <a:close/>
              </a:path>
            </a:pathLst>
          </a:custGeom>
          <a:gradFill flip="none" rotWithShape="1">
            <a:gsLst>
              <a:gs pos="0">
                <a:srgbClr val="285C99"/>
              </a:gs>
              <a:gs pos="78000">
                <a:srgbClr val="285C99"/>
              </a:gs>
              <a:gs pos="100000">
                <a:schemeClr val="accent1">
                  <a:lumMod val="7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7200"/>
          </a:p>
        </p:txBody>
      </p:sp>
      <p:pic>
        <p:nvPicPr>
          <p:cNvPr id="10" name="Imag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03989" y="11611441"/>
            <a:ext cx="2037210" cy="1882818"/>
          </a:xfrm>
          <a:prstGeom prst="rect">
            <a:avLst/>
          </a:prstGeom>
        </p:spPr>
      </p:pic>
      <p:pic>
        <p:nvPicPr>
          <p:cNvPr id="11" name="Image 10"/>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447292" y="12699754"/>
            <a:ext cx="3019608" cy="378968"/>
          </a:xfrm>
          <a:prstGeom prst="rect">
            <a:avLst/>
          </a:prstGeom>
        </p:spPr>
      </p:pic>
      <p:pic>
        <p:nvPicPr>
          <p:cNvPr id="12" name="Image 11"/>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886213" y="12614543"/>
            <a:ext cx="1062950" cy="549390"/>
          </a:xfrm>
          <a:prstGeom prst="rect">
            <a:avLst/>
          </a:prstGeom>
        </p:spPr>
      </p:pic>
    </p:spTree>
    <p:extLst>
      <p:ext uri="{BB962C8B-B14F-4D97-AF65-F5344CB8AC3E}">
        <p14:creationId xmlns:p14="http://schemas.microsoft.com/office/powerpoint/2010/main" val="28628745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 et contenu">
    <p:bg>
      <p:bgPr>
        <a:solidFill>
          <a:srgbClr val="003A8D"/>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1672755" y="590025"/>
            <a:ext cx="22033911" cy="1052508"/>
          </a:xfrm>
          <a:prstGeom prst="rect">
            <a:avLst/>
          </a:prstGeom>
        </p:spPr>
        <p:txBody>
          <a:bodyPr>
            <a:normAutofit/>
          </a:bodyPr>
          <a:lstStyle>
            <a:lvl1pPr>
              <a:defRPr sz="6000" b="1" baseline="0">
                <a:latin typeface="Segoe UI" panose="020B0502040204020203" pitchFamily="34" charset="0"/>
                <a:cs typeface="Segoe UI" panose="020B0502040204020203" pitchFamily="34" charset="0"/>
              </a:defRPr>
            </a:lvl1pPr>
          </a:lstStyle>
          <a:p>
            <a:r>
              <a:rPr lang="fr-FR" dirty="0"/>
              <a:t>Modifiez le style du titre</a:t>
            </a:r>
          </a:p>
        </p:txBody>
      </p:sp>
      <p:sp>
        <p:nvSpPr>
          <p:cNvPr id="21" name="Espace réservé du pied de page 4"/>
          <p:cNvSpPr>
            <a:spLocks noGrp="1"/>
          </p:cNvSpPr>
          <p:nvPr>
            <p:ph type="ftr" sz="quarter" idx="11"/>
          </p:nvPr>
        </p:nvSpPr>
        <p:spPr>
          <a:xfrm>
            <a:off x="2675466" y="12886262"/>
            <a:ext cx="21031199" cy="450851"/>
          </a:xfrm>
          <a:prstGeom prst="rect">
            <a:avLst/>
          </a:prstGeom>
        </p:spPr>
        <p:txBody>
          <a:bodyPr anchor="ctr"/>
          <a:lstStyle>
            <a:lvl1pPr algn="ctr">
              <a:defRPr sz="1800" spc="300">
                <a:solidFill>
                  <a:srgbClr val="003A8D"/>
                </a:solidFill>
                <a:latin typeface="Segoe UI" panose="020B0502040204020203" pitchFamily="34" charset="0"/>
                <a:cs typeface="Segoe UI" panose="020B0502040204020203" pitchFamily="34" charset="0"/>
              </a:defRPr>
            </a:lvl1pPr>
          </a:lstStyle>
          <a:p>
            <a:r>
              <a:rPr lang="fr-FR"/>
              <a:t>&lt;Nom du document – Classification : Interne (par défaut) / Public / Confidentiel&gt; (modifiable via l'onglet INSERTION puis En-tête/Pied)</a:t>
            </a:r>
            <a:endParaRPr lang="fr-FR" dirty="0"/>
          </a:p>
        </p:txBody>
      </p:sp>
      <p:sp>
        <p:nvSpPr>
          <p:cNvPr id="22" name="Espace réservé du numéro de diapositive 5"/>
          <p:cNvSpPr>
            <a:spLocks noGrp="1"/>
          </p:cNvSpPr>
          <p:nvPr>
            <p:ph type="sldNum" sz="quarter" idx="12"/>
          </p:nvPr>
        </p:nvSpPr>
        <p:spPr>
          <a:xfrm>
            <a:off x="1793039" y="12886262"/>
            <a:ext cx="1047530" cy="450850"/>
          </a:xfrm>
          <a:prstGeom prst="rect">
            <a:avLst/>
          </a:prstGeom>
        </p:spPr>
        <p:txBody>
          <a:bodyPr vert="horz" lIns="91440" tIns="45720" rIns="91440" bIns="45720" rtlCol="0" anchor="ctr"/>
          <a:lstStyle>
            <a:lvl1pPr algn="l">
              <a:defRPr lang="fr-FR" sz="1800" spc="30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a:p>
        </p:txBody>
      </p:sp>
      <p:grpSp>
        <p:nvGrpSpPr>
          <p:cNvPr id="17" name="Groupe 16"/>
          <p:cNvGrpSpPr/>
          <p:nvPr userDrawn="1"/>
        </p:nvGrpSpPr>
        <p:grpSpPr>
          <a:xfrm>
            <a:off x="124305" y="12306828"/>
            <a:ext cx="1260000" cy="1260000"/>
            <a:chOff x="11254317" y="5942649"/>
            <a:chExt cx="630000" cy="630000"/>
          </a:xfrm>
        </p:grpSpPr>
        <p:sp>
          <p:nvSpPr>
            <p:cNvPr id="18"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2100" dirty="0"/>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4" name="Espace réservé du texte 3"/>
          <p:cNvSpPr>
            <a:spLocks noGrp="1"/>
          </p:cNvSpPr>
          <p:nvPr>
            <p:ph type="body" sz="quarter" idx="13"/>
          </p:nvPr>
        </p:nvSpPr>
        <p:spPr>
          <a:xfrm>
            <a:off x="1643063" y="2961748"/>
            <a:ext cx="22063075" cy="9622365"/>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
        <p:nvSpPr>
          <p:cNvPr id="6" name="Espace réservé du texte 5"/>
          <p:cNvSpPr>
            <a:spLocks noGrp="1"/>
          </p:cNvSpPr>
          <p:nvPr>
            <p:ph type="body" sz="quarter" idx="14" hasCustomPrompt="1"/>
          </p:nvPr>
        </p:nvSpPr>
        <p:spPr>
          <a:xfrm>
            <a:off x="1643063" y="1737805"/>
            <a:ext cx="22063075" cy="705913"/>
          </a:xfrm>
          <a:prstGeom prst="rect">
            <a:avLst/>
          </a:prstGeom>
        </p:spPr>
        <p:txBody>
          <a:bodyPr/>
          <a:lstStyle>
            <a:lvl1pPr>
              <a:defRPr lang="fr-FR" sz="4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18288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2768023860"/>
      </p:ext>
    </p:extLst>
  </p:cSld>
  <p:clrMapOvr>
    <a:masterClrMapping/>
  </p:clrMapOvr>
  <p:extLst>
    <p:ext uri="{DCECCB84-F9BA-43D5-87BE-67443E8EF086}">
      <p15:sldGuideLst xmlns:p15="http://schemas.microsoft.com/office/powerpoint/2012/main">
        <p15:guide id="1" orient="horz" pos="102" userDrawn="1">
          <p15:clr>
            <a:srgbClr val="FBAE40"/>
          </p15:clr>
        </p15:guide>
        <p15:guide id="2" pos="1035"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re, contenu 2 colonnes">
    <p:bg>
      <p:bgPr>
        <a:solidFill>
          <a:srgbClr val="003A8D"/>
        </a:solidFill>
        <a:effectLst/>
      </p:bgPr>
    </p:bg>
    <p:spTree>
      <p:nvGrpSpPr>
        <p:cNvPr id="1" name=""/>
        <p:cNvGrpSpPr/>
        <p:nvPr/>
      </p:nvGrpSpPr>
      <p:grpSpPr>
        <a:xfrm>
          <a:off x="0" y="0"/>
          <a:ext cx="0" cy="0"/>
          <a:chOff x="0" y="0"/>
          <a:chExt cx="0" cy="0"/>
        </a:xfrm>
      </p:grpSpPr>
      <p:grpSp>
        <p:nvGrpSpPr>
          <p:cNvPr id="14" name="Groupe 13"/>
          <p:cNvGrpSpPr/>
          <p:nvPr userDrawn="1"/>
        </p:nvGrpSpPr>
        <p:grpSpPr>
          <a:xfrm>
            <a:off x="124305" y="12306828"/>
            <a:ext cx="1260000" cy="126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2100" dirty="0"/>
            </a:p>
          </p:txBody>
        </p:sp>
        <p:pic>
          <p:nvPicPr>
            <p:cNvPr id="19" name="Imag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2675467" y="12886262"/>
            <a:ext cx="21031200" cy="450851"/>
          </a:xfrm>
          <a:prstGeom prst="rect">
            <a:avLst/>
          </a:prstGeom>
        </p:spPr>
        <p:txBody>
          <a:bodyPr anchor="ctr"/>
          <a:lstStyle>
            <a:lvl1pPr>
              <a:defRPr sz="1800" spc="300">
                <a:solidFill>
                  <a:srgbClr val="003A8D"/>
                </a:solidFill>
                <a:latin typeface="Segoe UI" panose="020B0502040204020203" pitchFamily="34" charset="0"/>
                <a:cs typeface="Segoe UI" panose="020B0502040204020203" pitchFamily="34" charset="0"/>
              </a:defRPr>
            </a:lvl1pPr>
          </a:lstStyle>
          <a:p>
            <a:pPr algn="ctr"/>
            <a:r>
              <a:rPr lang="fr-FR"/>
              <a:t>&lt;Nom du document – Classification : Interne (par défaut) / Public / Confidentiel&gt; (modifiable via l'onglet INSERTION puis En-tête/Pied)</a:t>
            </a:r>
            <a:endParaRPr lang="fr-FR" dirty="0"/>
          </a:p>
        </p:txBody>
      </p:sp>
      <p:sp>
        <p:nvSpPr>
          <p:cNvPr id="18" name="Espace réservé du numéro de diapositive 5"/>
          <p:cNvSpPr>
            <a:spLocks noGrp="1"/>
          </p:cNvSpPr>
          <p:nvPr>
            <p:ph type="sldNum" sz="quarter" idx="12"/>
          </p:nvPr>
        </p:nvSpPr>
        <p:spPr>
          <a:xfrm>
            <a:off x="1793039" y="12886262"/>
            <a:ext cx="1047530" cy="450850"/>
          </a:xfrm>
          <a:prstGeom prst="rect">
            <a:avLst/>
          </a:prstGeom>
        </p:spPr>
        <p:txBody>
          <a:bodyPr vert="horz" lIns="91440" tIns="45720" rIns="91440" bIns="45720" rtlCol="0" anchor="ctr"/>
          <a:lstStyle>
            <a:lvl1pPr algn="l">
              <a:defRPr lang="fr-FR" sz="1800" spc="30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20" name="Titre 1"/>
          <p:cNvSpPr>
            <a:spLocks noGrp="1"/>
          </p:cNvSpPr>
          <p:nvPr>
            <p:ph type="title"/>
          </p:nvPr>
        </p:nvSpPr>
        <p:spPr>
          <a:xfrm>
            <a:off x="1672755" y="590025"/>
            <a:ext cx="22033911" cy="1052508"/>
          </a:xfrm>
          <a:prstGeom prst="rect">
            <a:avLst/>
          </a:prstGeom>
        </p:spPr>
        <p:txBody>
          <a:bodyPr>
            <a:normAutofit/>
          </a:bodyPr>
          <a:lstStyle>
            <a:lvl1pPr>
              <a:defRPr sz="6000" b="1" baseline="0">
                <a:latin typeface="Segoe UI" panose="020B0502040204020203" pitchFamily="34" charset="0"/>
                <a:cs typeface="Segoe UI" panose="020B0502040204020203" pitchFamily="34" charset="0"/>
              </a:defRPr>
            </a:lvl1pPr>
          </a:lstStyle>
          <a:p>
            <a:r>
              <a:rPr lang="fr-FR" dirty="0"/>
              <a:t>Modifiez le style du titre</a:t>
            </a:r>
          </a:p>
        </p:txBody>
      </p:sp>
      <p:sp>
        <p:nvSpPr>
          <p:cNvPr id="21" name="Espace réservé du texte 5"/>
          <p:cNvSpPr>
            <a:spLocks noGrp="1"/>
          </p:cNvSpPr>
          <p:nvPr>
            <p:ph type="body" sz="quarter" idx="14" hasCustomPrompt="1"/>
          </p:nvPr>
        </p:nvSpPr>
        <p:spPr>
          <a:xfrm>
            <a:off x="1643063" y="1737805"/>
            <a:ext cx="22063075" cy="705913"/>
          </a:xfrm>
          <a:prstGeom prst="rect">
            <a:avLst/>
          </a:prstGeom>
        </p:spPr>
        <p:txBody>
          <a:bodyPr/>
          <a:lstStyle>
            <a:lvl1pPr marL="0" indent="0" algn="l" defTabSz="1828800" rtl="0" eaLnBrk="1" latinLnBrk="0" hangingPunct="1">
              <a:lnSpc>
                <a:spcPct val="100000"/>
              </a:lnSpc>
              <a:spcBef>
                <a:spcPts val="0"/>
              </a:spcBef>
              <a:buFont typeface="Arial" panose="020B0604020202020204" pitchFamily="34" charset="0"/>
              <a:buNone/>
              <a:defRPr lang="fr-FR" sz="4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1828800" rtl="0" eaLnBrk="1" latinLnBrk="0" hangingPunct="1">
              <a:lnSpc>
                <a:spcPct val="100000"/>
              </a:lnSpc>
              <a:spcBef>
                <a:spcPts val="0"/>
              </a:spcBef>
              <a:buFont typeface="Arial" panose="020B0604020202020204" pitchFamily="34" charset="0"/>
              <a:buNone/>
            </a:pPr>
            <a:r>
              <a:rPr lang="fr-FR" dirty="0"/>
              <a:t>Sous-titre</a:t>
            </a:r>
          </a:p>
        </p:txBody>
      </p:sp>
      <p:sp>
        <p:nvSpPr>
          <p:cNvPr id="12" name="Espace réservé du texte 3"/>
          <p:cNvSpPr>
            <a:spLocks noGrp="1"/>
          </p:cNvSpPr>
          <p:nvPr>
            <p:ph type="body" sz="quarter" idx="13"/>
          </p:nvPr>
        </p:nvSpPr>
        <p:spPr>
          <a:xfrm>
            <a:off x="1643064" y="2961748"/>
            <a:ext cx="10752136" cy="9622365"/>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
        <p:nvSpPr>
          <p:cNvPr id="22" name="Espace réservé du texte 3"/>
          <p:cNvSpPr>
            <a:spLocks noGrp="1"/>
          </p:cNvSpPr>
          <p:nvPr>
            <p:ph type="body" sz="quarter" idx="15"/>
          </p:nvPr>
        </p:nvSpPr>
        <p:spPr>
          <a:xfrm>
            <a:off x="12954002" y="2961748"/>
            <a:ext cx="10752136" cy="9622365"/>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Tree>
    <p:extLst>
      <p:ext uri="{BB962C8B-B14F-4D97-AF65-F5344CB8AC3E}">
        <p14:creationId xmlns:p14="http://schemas.microsoft.com/office/powerpoint/2010/main" val="264910231"/>
      </p:ext>
    </p:extLst>
  </p:cSld>
  <p:clrMapOvr>
    <a:masterClrMapping/>
  </p:clrMapOvr>
  <p:extLst>
    <p:ext uri="{DCECCB84-F9BA-43D5-87BE-67443E8EF086}">
      <p15:sldGuideLst xmlns:p15="http://schemas.microsoft.com/office/powerpoint/2012/main">
        <p15:guide id="1" orient="horz" pos="4456" userDrawn="1">
          <p15:clr>
            <a:srgbClr val="FBAE40"/>
          </p15:clr>
        </p15:guide>
        <p15:guide id="2" pos="76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contenu et image centrale">
    <p:bg>
      <p:bgPr>
        <a:solidFill>
          <a:srgbClr val="003A8D"/>
        </a:solidFill>
        <a:effectLst/>
      </p:bgPr>
    </p:bg>
    <p:spTree>
      <p:nvGrpSpPr>
        <p:cNvPr id="1" name=""/>
        <p:cNvGrpSpPr/>
        <p:nvPr/>
      </p:nvGrpSpPr>
      <p:grpSpPr>
        <a:xfrm>
          <a:off x="0" y="0"/>
          <a:ext cx="0" cy="0"/>
          <a:chOff x="0" y="0"/>
          <a:chExt cx="0" cy="0"/>
        </a:xfrm>
      </p:grpSpPr>
      <p:sp>
        <p:nvSpPr>
          <p:cNvPr id="4" name="Espace réservé pour une image  3"/>
          <p:cNvSpPr>
            <a:spLocks noGrp="1"/>
          </p:cNvSpPr>
          <p:nvPr>
            <p:ph type="pic" sz="quarter" idx="17"/>
          </p:nvPr>
        </p:nvSpPr>
        <p:spPr>
          <a:xfrm>
            <a:off x="254000" y="2478828"/>
            <a:ext cx="23892934" cy="4336838"/>
          </a:xfrm>
          <a:prstGeom prst="rect">
            <a:avLst/>
          </a:prstGeom>
        </p:spPr>
        <p:txBody>
          <a:bodyPr/>
          <a:lstStyle/>
          <a:p>
            <a:r>
              <a:rPr lang="fr-FR"/>
              <a:t>Cliquez sur l'icône pour ajouter une image</a:t>
            </a:r>
          </a:p>
        </p:txBody>
      </p:sp>
      <p:grpSp>
        <p:nvGrpSpPr>
          <p:cNvPr id="14" name="Groupe 13"/>
          <p:cNvGrpSpPr/>
          <p:nvPr userDrawn="1"/>
        </p:nvGrpSpPr>
        <p:grpSpPr>
          <a:xfrm>
            <a:off x="124305" y="12306828"/>
            <a:ext cx="1260000" cy="126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2100" dirty="0"/>
            </a:p>
          </p:txBody>
        </p:sp>
        <p:pic>
          <p:nvPicPr>
            <p:cNvPr id="19" name="Imag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2675466" y="12886262"/>
            <a:ext cx="21014265" cy="450851"/>
          </a:xfrm>
          <a:prstGeom prst="rect">
            <a:avLst/>
          </a:prstGeom>
        </p:spPr>
        <p:txBody>
          <a:bodyPr anchor="ctr"/>
          <a:lstStyle>
            <a:lvl1pPr>
              <a:defRPr sz="1800" spc="300">
                <a:solidFill>
                  <a:srgbClr val="003A8D"/>
                </a:solidFill>
                <a:latin typeface="Segoe UI" panose="020B0502040204020203" pitchFamily="34" charset="0"/>
                <a:cs typeface="Segoe UI" panose="020B0502040204020203" pitchFamily="34" charset="0"/>
              </a:defRPr>
            </a:lvl1pPr>
          </a:lstStyle>
          <a:p>
            <a:pPr algn="ctr"/>
            <a:r>
              <a:rPr lang="fr-FR"/>
              <a:t>&lt;Nom du document – Classification : Interne (par défaut) / Public / Confidentiel&gt; (modifiable via l'onglet INSERTION puis En-tête/Pied)</a:t>
            </a:r>
            <a:endParaRPr lang="fr-FR" dirty="0"/>
          </a:p>
        </p:txBody>
      </p:sp>
      <p:sp>
        <p:nvSpPr>
          <p:cNvPr id="18" name="Espace réservé du numéro de diapositive 5"/>
          <p:cNvSpPr>
            <a:spLocks noGrp="1"/>
          </p:cNvSpPr>
          <p:nvPr>
            <p:ph type="sldNum" sz="quarter" idx="12"/>
          </p:nvPr>
        </p:nvSpPr>
        <p:spPr>
          <a:xfrm>
            <a:off x="1793039" y="12886262"/>
            <a:ext cx="1047530" cy="450850"/>
          </a:xfrm>
          <a:prstGeom prst="rect">
            <a:avLst/>
          </a:prstGeom>
        </p:spPr>
        <p:txBody>
          <a:bodyPr vert="horz" lIns="91440" tIns="45720" rIns="91440" bIns="45720" rtlCol="0" anchor="ctr"/>
          <a:lstStyle>
            <a:lvl1pPr algn="l">
              <a:defRPr lang="fr-FR" sz="1800" spc="30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6" name="Espace réservé du texte 5"/>
          <p:cNvSpPr>
            <a:spLocks noGrp="1"/>
          </p:cNvSpPr>
          <p:nvPr>
            <p:ph type="body" sz="quarter" idx="18"/>
          </p:nvPr>
        </p:nvSpPr>
        <p:spPr>
          <a:xfrm>
            <a:off x="1822450" y="7031036"/>
            <a:ext cx="21867281" cy="5376862"/>
          </a:xfrm>
          <a:prstGeom prst="rect">
            <a:avLst/>
          </a:prstGeo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p:txBody>
      </p:sp>
      <p:sp>
        <p:nvSpPr>
          <p:cNvPr id="21" name="Titre 1"/>
          <p:cNvSpPr>
            <a:spLocks noGrp="1"/>
          </p:cNvSpPr>
          <p:nvPr>
            <p:ph type="title"/>
          </p:nvPr>
        </p:nvSpPr>
        <p:spPr>
          <a:xfrm>
            <a:off x="1672755" y="590025"/>
            <a:ext cx="22033911" cy="1052508"/>
          </a:xfrm>
          <a:prstGeom prst="rect">
            <a:avLst/>
          </a:prstGeom>
        </p:spPr>
        <p:txBody>
          <a:bodyPr>
            <a:normAutofit/>
          </a:bodyPr>
          <a:lstStyle>
            <a:lvl1pPr>
              <a:defRPr sz="6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2" name="Espace réservé du texte 5"/>
          <p:cNvSpPr>
            <a:spLocks noGrp="1"/>
          </p:cNvSpPr>
          <p:nvPr>
            <p:ph type="body" sz="quarter" idx="14" hasCustomPrompt="1"/>
          </p:nvPr>
        </p:nvSpPr>
        <p:spPr>
          <a:xfrm>
            <a:off x="1643063" y="1737805"/>
            <a:ext cx="22063075" cy="705913"/>
          </a:xfrm>
          <a:prstGeom prst="rect">
            <a:avLst/>
          </a:prstGeom>
        </p:spPr>
        <p:txBody>
          <a:bodyPr/>
          <a:lstStyle>
            <a:lvl1pPr marL="0" indent="0" algn="l" defTabSz="1828800" rtl="0" eaLnBrk="1" latinLnBrk="0" hangingPunct="1">
              <a:lnSpc>
                <a:spcPct val="100000"/>
              </a:lnSpc>
              <a:spcBef>
                <a:spcPts val="0"/>
              </a:spcBef>
              <a:buFont typeface="Arial" panose="020B0604020202020204" pitchFamily="34" charset="0"/>
              <a:buNone/>
              <a:defRPr lang="fr-FR" sz="4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18288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4038710184"/>
      </p:ext>
    </p:extLst>
  </p:cSld>
  <p:clrMapOvr>
    <a:masterClrMapping/>
  </p:clrMapOvr>
  <p:extLst>
    <p:ext uri="{DCECCB84-F9BA-43D5-87BE-67443E8EF086}">
      <p15:sldGuideLst xmlns:p15="http://schemas.microsoft.com/office/powerpoint/2012/main">
        <p15:guide id="1" orient="horz" pos="4365">
          <p15:clr>
            <a:srgbClr val="FBAE40"/>
          </p15:clr>
        </p15:guide>
        <p15:guide id="2" pos="114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re, contenu et image à gauche ">
    <p:bg>
      <p:bgPr>
        <a:solidFill>
          <a:srgbClr val="003A8D"/>
        </a:solidFill>
        <a:effectLst/>
      </p:bgPr>
    </p:bg>
    <p:spTree>
      <p:nvGrpSpPr>
        <p:cNvPr id="1" name=""/>
        <p:cNvGrpSpPr/>
        <p:nvPr/>
      </p:nvGrpSpPr>
      <p:grpSpPr>
        <a:xfrm>
          <a:off x="0" y="0"/>
          <a:ext cx="0" cy="0"/>
          <a:chOff x="0" y="0"/>
          <a:chExt cx="0" cy="0"/>
        </a:xfrm>
      </p:grpSpPr>
      <p:grpSp>
        <p:nvGrpSpPr>
          <p:cNvPr id="16" name="Groupe 15"/>
          <p:cNvGrpSpPr/>
          <p:nvPr userDrawn="1"/>
        </p:nvGrpSpPr>
        <p:grpSpPr>
          <a:xfrm>
            <a:off x="124305" y="12306828"/>
            <a:ext cx="1260000" cy="1260000"/>
            <a:chOff x="11254317" y="5942649"/>
            <a:chExt cx="630000" cy="630000"/>
          </a:xfrm>
        </p:grpSpPr>
        <p:sp>
          <p:nvSpPr>
            <p:cNvPr id="17"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2100" dirty="0"/>
            </a:p>
          </p:txBody>
        </p:sp>
        <p:pic>
          <p:nvPicPr>
            <p:cNvPr id="18" name="Image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20" name="Espace réservé pour une image  19"/>
          <p:cNvSpPr>
            <a:spLocks noGrp="1"/>
          </p:cNvSpPr>
          <p:nvPr>
            <p:ph type="pic" sz="quarter" idx="17"/>
          </p:nvPr>
        </p:nvSpPr>
        <p:spPr>
          <a:xfrm>
            <a:off x="254000" y="222249"/>
            <a:ext cx="8513763" cy="13259913"/>
          </a:xfrm>
          <a:custGeom>
            <a:avLst/>
            <a:gdLst>
              <a:gd name="connsiteX0" fmla="*/ 461975 w 8513763"/>
              <a:gd name="connsiteY0" fmla="*/ 0 h 13259915"/>
              <a:gd name="connsiteX1" fmla="*/ 8513763 w 8513763"/>
              <a:gd name="connsiteY1" fmla="*/ 0 h 13259915"/>
              <a:gd name="connsiteX2" fmla="*/ 8513763 w 8513763"/>
              <a:gd name="connsiteY2" fmla="*/ 13259915 h 13259915"/>
              <a:gd name="connsiteX3" fmla="*/ 940159 w 8513763"/>
              <a:gd name="connsiteY3" fmla="*/ 13259915 h 13259915"/>
              <a:gd name="connsiteX4" fmla="*/ 990087 w 8513763"/>
              <a:gd name="connsiteY4" fmla="*/ 13218720 h 13259915"/>
              <a:gd name="connsiteX5" fmla="*/ 1194934 w 8513763"/>
              <a:gd name="connsiteY5" fmla="*/ 12724176 h 13259915"/>
              <a:gd name="connsiteX6" fmla="*/ 495543 w 8513763"/>
              <a:gd name="connsiteY6" fmla="*/ 12024785 h 13259915"/>
              <a:gd name="connsiteX7" fmla="*/ 999 w 8513763"/>
              <a:gd name="connsiteY7" fmla="*/ 12229632 h 13259915"/>
              <a:gd name="connsiteX8" fmla="*/ 0 w 8513763"/>
              <a:gd name="connsiteY8" fmla="*/ 12230843 h 13259915"/>
              <a:gd name="connsiteX9" fmla="*/ 0 w 8513763"/>
              <a:gd name="connsiteY9" fmla="*/ 461975 h 13259915"/>
              <a:gd name="connsiteX10" fmla="*/ 461975 w 8513763"/>
              <a:gd name="connsiteY10" fmla="*/ 0 h 1325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763" h="13259915">
                <a:moveTo>
                  <a:pt x="461975" y="0"/>
                </a:moveTo>
                <a:lnTo>
                  <a:pt x="8513763" y="0"/>
                </a:lnTo>
                <a:lnTo>
                  <a:pt x="8513763" y="13259915"/>
                </a:lnTo>
                <a:lnTo>
                  <a:pt x="940159" y="13259915"/>
                </a:lnTo>
                <a:lnTo>
                  <a:pt x="990087" y="13218720"/>
                </a:lnTo>
                <a:cubicBezTo>
                  <a:pt x="1116652" y="13092155"/>
                  <a:pt x="1194934" y="12917308"/>
                  <a:pt x="1194934" y="12724176"/>
                </a:cubicBezTo>
                <a:cubicBezTo>
                  <a:pt x="1194934" y="12337913"/>
                  <a:pt x="881806" y="12024785"/>
                  <a:pt x="495543" y="12024785"/>
                </a:cubicBezTo>
                <a:cubicBezTo>
                  <a:pt x="302412" y="12024785"/>
                  <a:pt x="127564" y="12103067"/>
                  <a:pt x="999" y="12229632"/>
                </a:cubicBezTo>
                <a:lnTo>
                  <a:pt x="0" y="12230843"/>
                </a:lnTo>
                <a:lnTo>
                  <a:pt x="0" y="461975"/>
                </a:lnTo>
                <a:cubicBezTo>
                  <a:pt x="0" y="206833"/>
                  <a:pt x="206833" y="0"/>
                  <a:pt x="461975" y="0"/>
                </a:cubicBezTo>
                <a:close/>
              </a:path>
            </a:pathLst>
          </a:custGeom>
        </p:spPr>
        <p:txBody>
          <a:bodyPr wrap="square">
            <a:noAutofit/>
          </a:bodyPr>
          <a:lstStyle/>
          <a:p>
            <a:endParaRPr lang="fr-FR"/>
          </a:p>
        </p:txBody>
      </p:sp>
      <p:sp>
        <p:nvSpPr>
          <p:cNvPr id="23" name="Espace réservé du numéro de diapositive 5"/>
          <p:cNvSpPr>
            <a:spLocks noGrp="1"/>
          </p:cNvSpPr>
          <p:nvPr>
            <p:ph type="sldNum" sz="quarter" idx="12"/>
          </p:nvPr>
        </p:nvSpPr>
        <p:spPr>
          <a:xfrm>
            <a:off x="1793039" y="12886262"/>
            <a:ext cx="1047530" cy="450850"/>
          </a:xfrm>
          <a:prstGeom prst="rect">
            <a:avLst/>
          </a:prstGeom>
        </p:spPr>
        <p:txBody>
          <a:bodyPr vert="horz" lIns="91440" tIns="45720" rIns="91440" bIns="45720" rtlCol="0" anchor="ctr"/>
          <a:lstStyle>
            <a:lvl1pPr algn="l">
              <a:defRPr lang="fr-FR" sz="1800" spc="300" smtClean="0">
                <a:solidFill>
                  <a:schemeClr val="bg1">
                    <a:lumMod val="50000"/>
                  </a:schemeClr>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24" name="Espace réservé du pied de page 4"/>
          <p:cNvSpPr>
            <a:spLocks noGrp="1"/>
          </p:cNvSpPr>
          <p:nvPr>
            <p:ph type="ftr" sz="quarter" idx="11"/>
          </p:nvPr>
        </p:nvSpPr>
        <p:spPr>
          <a:xfrm>
            <a:off x="9296399" y="12886262"/>
            <a:ext cx="14393333" cy="450851"/>
          </a:xfrm>
          <a:prstGeom prst="rect">
            <a:avLst/>
          </a:prstGeom>
        </p:spPr>
        <p:txBody>
          <a:bodyPr anchor="ctr"/>
          <a:lstStyle>
            <a:lvl1pPr algn="l">
              <a:defRPr sz="1800" spc="300">
                <a:solidFill>
                  <a:srgbClr val="003A8D"/>
                </a:solidFill>
                <a:latin typeface="Segoe UI" panose="020B0502040204020203" pitchFamily="34" charset="0"/>
                <a:cs typeface="Segoe UI" panose="020B0502040204020203" pitchFamily="34" charset="0"/>
              </a:defRPr>
            </a:lvl1pPr>
          </a:lstStyle>
          <a:p>
            <a:r>
              <a:rPr lang="fr-FR"/>
              <a:t>&lt;Nom du document – Classification : Interne (par défaut) / Public / Confidentiel&gt; (modifiable via l'onglet INSERTION puis En-tête/Pied)</a:t>
            </a:r>
            <a:endParaRPr lang="fr-FR" dirty="0"/>
          </a:p>
        </p:txBody>
      </p:sp>
      <p:sp>
        <p:nvSpPr>
          <p:cNvPr id="12" name="Espace réservé du texte 3"/>
          <p:cNvSpPr>
            <a:spLocks noGrp="1"/>
          </p:cNvSpPr>
          <p:nvPr>
            <p:ph type="body" sz="quarter" idx="13"/>
          </p:nvPr>
        </p:nvSpPr>
        <p:spPr>
          <a:xfrm>
            <a:off x="9296399" y="3118849"/>
            <a:ext cx="14393333" cy="8892814"/>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
        <p:nvSpPr>
          <p:cNvPr id="25" name="Espace réservé du texte 5"/>
          <p:cNvSpPr>
            <a:spLocks noGrp="1"/>
          </p:cNvSpPr>
          <p:nvPr>
            <p:ph type="body" sz="quarter" idx="18" hasCustomPrompt="1"/>
          </p:nvPr>
        </p:nvSpPr>
        <p:spPr>
          <a:xfrm>
            <a:off x="9276798" y="1737805"/>
            <a:ext cx="14429340" cy="705913"/>
          </a:xfrm>
          <a:prstGeom prst="rect">
            <a:avLst/>
          </a:prstGeom>
        </p:spPr>
        <p:txBody>
          <a:bodyPr/>
          <a:lstStyle>
            <a:lvl1pPr marL="0" indent="0" algn="l" defTabSz="1828800" rtl="0" eaLnBrk="1" latinLnBrk="0" hangingPunct="1">
              <a:lnSpc>
                <a:spcPct val="100000"/>
              </a:lnSpc>
              <a:spcBef>
                <a:spcPts val="0"/>
              </a:spcBef>
              <a:buFont typeface="Arial" panose="020B0604020202020204" pitchFamily="34" charset="0"/>
              <a:buNone/>
              <a:defRPr lang="fr-FR" sz="4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1828800" rtl="0" eaLnBrk="1" latinLnBrk="0" hangingPunct="1">
              <a:lnSpc>
                <a:spcPct val="100000"/>
              </a:lnSpc>
              <a:spcBef>
                <a:spcPts val="0"/>
              </a:spcBef>
              <a:buFont typeface="Arial" panose="020B0604020202020204" pitchFamily="34" charset="0"/>
              <a:buNone/>
            </a:pPr>
            <a:r>
              <a:rPr lang="fr-FR" dirty="0"/>
              <a:t>Sous-titre</a:t>
            </a:r>
          </a:p>
        </p:txBody>
      </p:sp>
      <p:sp>
        <p:nvSpPr>
          <p:cNvPr id="26" name="Titre 1"/>
          <p:cNvSpPr>
            <a:spLocks noGrp="1"/>
          </p:cNvSpPr>
          <p:nvPr>
            <p:ph type="title"/>
          </p:nvPr>
        </p:nvSpPr>
        <p:spPr>
          <a:xfrm>
            <a:off x="9296399" y="590025"/>
            <a:ext cx="14410267" cy="1052508"/>
          </a:xfrm>
          <a:prstGeom prst="rect">
            <a:avLst/>
          </a:prstGeom>
        </p:spPr>
        <p:txBody>
          <a:bodyPr>
            <a:normAutofit/>
          </a:bodyPr>
          <a:lstStyle>
            <a:lvl1pPr>
              <a:defRPr sz="6000" b="1" baseline="0">
                <a:latin typeface="Segoe UI" panose="020B0502040204020203" pitchFamily="34" charset="0"/>
                <a:cs typeface="Segoe UI" panose="020B0502040204020203" pitchFamily="34" charset="0"/>
              </a:defRPr>
            </a:lvl1pPr>
          </a:lstStyle>
          <a:p>
            <a:r>
              <a:rPr lang="fr-FR" dirty="0"/>
              <a:t>Modifiez le style du titre</a:t>
            </a:r>
          </a:p>
        </p:txBody>
      </p:sp>
    </p:spTree>
    <p:extLst>
      <p:ext uri="{BB962C8B-B14F-4D97-AF65-F5344CB8AC3E}">
        <p14:creationId xmlns:p14="http://schemas.microsoft.com/office/powerpoint/2010/main" val="13949164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re et vide">
    <p:bg>
      <p:bgPr>
        <a:solidFill>
          <a:srgbClr val="003A8D"/>
        </a:solidFill>
        <a:effectLst/>
      </p:bgPr>
    </p:bg>
    <p:spTree>
      <p:nvGrpSpPr>
        <p:cNvPr id="1" name=""/>
        <p:cNvGrpSpPr/>
        <p:nvPr/>
      </p:nvGrpSpPr>
      <p:grpSpPr>
        <a:xfrm>
          <a:off x="0" y="0"/>
          <a:ext cx="0" cy="0"/>
          <a:chOff x="0" y="0"/>
          <a:chExt cx="0" cy="0"/>
        </a:xfrm>
      </p:grpSpPr>
      <p:grpSp>
        <p:nvGrpSpPr>
          <p:cNvPr id="13" name="Groupe 12"/>
          <p:cNvGrpSpPr/>
          <p:nvPr userDrawn="1"/>
        </p:nvGrpSpPr>
        <p:grpSpPr>
          <a:xfrm>
            <a:off x="124305" y="12306828"/>
            <a:ext cx="1260000" cy="1260000"/>
            <a:chOff x="11254317" y="5942649"/>
            <a:chExt cx="630000" cy="630000"/>
          </a:xfrm>
        </p:grpSpPr>
        <p:sp>
          <p:nvSpPr>
            <p:cNvPr id="14"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2100" dirty="0"/>
            </a:p>
          </p:txBody>
        </p:sp>
        <p:pic>
          <p:nvPicPr>
            <p:cNvPr id="18" name="Image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9" name="Espace réservé du pied de page 4"/>
          <p:cNvSpPr>
            <a:spLocks noGrp="1"/>
          </p:cNvSpPr>
          <p:nvPr>
            <p:ph type="ftr" sz="quarter" idx="11"/>
          </p:nvPr>
        </p:nvSpPr>
        <p:spPr>
          <a:xfrm>
            <a:off x="2675465" y="12886262"/>
            <a:ext cx="21031201" cy="450851"/>
          </a:xfrm>
          <a:prstGeom prst="rect">
            <a:avLst/>
          </a:prstGeom>
        </p:spPr>
        <p:txBody>
          <a:bodyPr anchor="ctr"/>
          <a:lstStyle>
            <a:lvl1pPr>
              <a:defRPr sz="1800" spc="300">
                <a:solidFill>
                  <a:srgbClr val="003A8D"/>
                </a:solidFill>
                <a:latin typeface="Segoe UI" panose="020B0502040204020203" pitchFamily="34" charset="0"/>
                <a:cs typeface="Segoe UI" panose="020B0502040204020203" pitchFamily="34" charset="0"/>
              </a:defRPr>
            </a:lvl1pPr>
          </a:lstStyle>
          <a:p>
            <a:pPr algn="ctr"/>
            <a:r>
              <a:rPr lang="fr-FR"/>
              <a:t>&lt;Nom du document – Classification : Interne (par défaut) / Public / Confidentiel&gt; (modifiable via l'onglet INSERTION puis En-tête/Pied)</a:t>
            </a:r>
            <a:endParaRPr lang="fr-FR" dirty="0"/>
          </a:p>
        </p:txBody>
      </p:sp>
      <p:sp>
        <p:nvSpPr>
          <p:cNvPr id="20" name="Espace réservé du numéro de diapositive 5"/>
          <p:cNvSpPr>
            <a:spLocks noGrp="1"/>
          </p:cNvSpPr>
          <p:nvPr>
            <p:ph type="sldNum" sz="quarter" idx="12"/>
          </p:nvPr>
        </p:nvSpPr>
        <p:spPr>
          <a:xfrm>
            <a:off x="1793039" y="12886262"/>
            <a:ext cx="1047530" cy="450850"/>
          </a:xfrm>
          <a:prstGeom prst="rect">
            <a:avLst/>
          </a:prstGeom>
        </p:spPr>
        <p:txBody>
          <a:bodyPr vert="horz" lIns="91440" tIns="45720" rIns="91440" bIns="45720" rtlCol="0" anchor="ctr"/>
          <a:lstStyle>
            <a:lvl1pPr algn="l">
              <a:defRPr lang="fr-FR" sz="1800" spc="30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11" name="Titre 1"/>
          <p:cNvSpPr>
            <a:spLocks noGrp="1"/>
          </p:cNvSpPr>
          <p:nvPr>
            <p:ph type="title"/>
          </p:nvPr>
        </p:nvSpPr>
        <p:spPr>
          <a:xfrm>
            <a:off x="1672755" y="590025"/>
            <a:ext cx="22033911" cy="1052508"/>
          </a:xfrm>
          <a:prstGeom prst="rect">
            <a:avLst/>
          </a:prstGeom>
        </p:spPr>
        <p:txBody>
          <a:bodyPr>
            <a:normAutofit/>
          </a:bodyPr>
          <a:lstStyle>
            <a:lvl1pPr>
              <a:defRPr sz="6000" b="1" baseline="0">
                <a:latin typeface="Segoe UI" panose="020B0502040204020203" pitchFamily="34" charset="0"/>
                <a:cs typeface="Segoe UI" panose="020B0502040204020203" pitchFamily="34" charset="0"/>
              </a:defRPr>
            </a:lvl1pPr>
          </a:lstStyle>
          <a:p>
            <a:r>
              <a:rPr lang="fr-FR" dirty="0"/>
              <a:t>Modifiez le style du titre</a:t>
            </a:r>
          </a:p>
        </p:txBody>
      </p:sp>
      <p:sp>
        <p:nvSpPr>
          <p:cNvPr id="16" name="Espace réservé du texte 5"/>
          <p:cNvSpPr>
            <a:spLocks noGrp="1"/>
          </p:cNvSpPr>
          <p:nvPr>
            <p:ph type="body" sz="quarter" idx="14" hasCustomPrompt="1"/>
          </p:nvPr>
        </p:nvSpPr>
        <p:spPr>
          <a:xfrm>
            <a:off x="1643063" y="1737805"/>
            <a:ext cx="22063075" cy="705913"/>
          </a:xfrm>
          <a:prstGeom prst="rect">
            <a:avLst/>
          </a:prstGeom>
        </p:spPr>
        <p:txBody>
          <a:bodyPr/>
          <a:lstStyle>
            <a:lvl1pPr marL="0" indent="0" algn="l" defTabSz="1828800" rtl="0" eaLnBrk="1" latinLnBrk="0" hangingPunct="1">
              <a:lnSpc>
                <a:spcPct val="100000"/>
              </a:lnSpc>
              <a:spcBef>
                <a:spcPts val="0"/>
              </a:spcBef>
              <a:buFont typeface="Arial" panose="020B0604020202020204" pitchFamily="34" charset="0"/>
              <a:buNone/>
              <a:defRPr lang="fr-FR" sz="4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18288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33166144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hapitre fond bleu">
    <p:bg>
      <p:bgPr>
        <a:solidFill>
          <a:srgbClr val="003A8D"/>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24384000" cy="1371600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sp>
        <p:nvSpPr>
          <p:cNvPr id="7" name="Espace réservé pour une image  6"/>
          <p:cNvSpPr>
            <a:spLocks noGrp="1"/>
          </p:cNvSpPr>
          <p:nvPr>
            <p:ph type="pic" sz="quarter" idx="10" hasCustomPrompt="1"/>
          </p:nvPr>
        </p:nvSpPr>
        <p:spPr>
          <a:xfrm>
            <a:off x="0" y="0"/>
            <a:ext cx="24384000" cy="13716000"/>
          </a:xfrm>
          <a:prstGeom prst="rect">
            <a:avLst/>
          </a:prstGeom>
          <a:gradFill flip="none" rotWithShape="1">
            <a:gsLst>
              <a:gs pos="0">
                <a:schemeClr val="accent1">
                  <a:shade val="30000"/>
                  <a:satMod val="115000"/>
                </a:schemeClr>
              </a:gs>
              <a:gs pos="100000">
                <a:schemeClr val="accent1">
                  <a:shade val="67500"/>
                  <a:satMod val="115000"/>
                </a:schemeClr>
              </a:gs>
            </a:gsLst>
            <a:lin ang="16200000" scaled="1"/>
            <a:tileRect/>
          </a:gradFill>
        </p:spPr>
        <p:txBody>
          <a:bodyPr/>
          <a:lstStyle>
            <a:lvl1pPr>
              <a:defRPr baseline="0"/>
            </a:lvl1pPr>
          </a:lstStyle>
          <a:p>
            <a:r>
              <a:rPr lang="fr-FR" dirty="0"/>
              <a:t>Cliquer sur l'icône pour insérer une image OU supprimer cette zone si non utilisée</a:t>
            </a:r>
          </a:p>
        </p:txBody>
      </p:sp>
      <p:sp>
        <p:nvSpPr>
          <p:cNvPr id="2" name="Titre 1"/>
          <p:cNvSpPr>
            <a:spLocks noGrp="1"/>
          </p:cNvSpPr>
          <p:nvPr>
            <p:ph type="title"/>
          </p:nvPr>
        </p:nvSpPr>
        <p:spPr>
          <a:xfrm>
            <a:off x="0" y="8720665"/>
            <a:ext cx="24384000" cy="2844804"/>
          </a:xfrm>
          <a:prstGeom prst="rect">
            <a:avLst/>
          </a:prstGeom>
          <a:solidFill>
            <a:srgbClr val="0C4392"/>
          </a:solidFill>
        </p:spPr>
        <p:txBody>
          <a:bodyPr anchor="ctr"/>
          <a:lstStyle>
            <a:lvl1pPr algn="ctr">
              <a:defRPr sz="12000">
                <a:solidFill>
                  <a:schemeClr val="bg1"/>
                </a:solidFill>
              </a:defRPr>
            </a:lvl1pPr>
          </a:lstStyle>
          <a:p>
            <a:r>
              <a:rPr lang="fr-FR" dirty="0"/>
              <a:t>Modifiez le style du titre</a:t>
            </a:r>
          </a:p>
        </p:txBody>
      </p:sp>
    </p:spTree>
    <p:extLst>
      <p:ext uri="{BB962C8B-B14F-4D97-AF65-F5344CB8AC3E}">
        <p14:creationId xmlns:p14="http://schemas.microsoft.com/office/powerpoint/2010/main" val="4349745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itre fond blanc">
    <p:bg>
      <p:bgPr>
        <a:solidFill>
          <a:srgbClr val="003A8D"/>
        </a:solidFill>
        <a:effectLst/>
      </p:bgPr>
    </p:bg>
    <p:spTree>
      <p:nvGrpSpPr>
        <p:cNvPr id="1" name=""/>
        <p:cNvGrpSpPr/>
        <p:nvPr/>
      </p:nvGrpSpPr>
      <p:grpSpPr>
        <a:xfrm>
          <a:off x="0" y="0"/>
          <a:ext cx="0" cy="0"/>
          <a:chOff x="0" y="0"/>
          <a:chExt cx="0" cy="0"/>
        </a:xfrm>
      </p:grpSpPr>
      <p:sp>
        <p:nvSpPr>
          <p:cNvPr id="5" name="Rectangle 4"/>
          <p:cNvSpPr/>
          <p:nvPr userDrawn="1"/>
        </p:nvSpPr>
        <p:spPr>
          <a:xfrm>
            <a:off x="0" y="0"/>
            <a:ext cx="24384000" cy="1371600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sp>
        <p:nvSpPr>
          <p:cNvPr id="7" name="Espace réservé pour une image  6"/>
          <p:cNvSpPr>
            <a:spLocks noGrp="1"/>
          </p:cNvSpPr>
          <p:nvPr>
            <p:ph type="pic" sz="quarter" idx="10" hasCustomPrompt="1"/>
          </p:nvPr>
        </p:nvSpPr>
        <p:spPr>
          <a:xfrm>
            <a:off x="0" y="0"/>
            <a:ext cx="24384000" cy="13716000"/>
          </a:xfrm>
          <a:prstGeom prst="rect">
            <a:avLst/>
          </a:prstGeom>
          <a:gradFill flip="none" rotWithShape="1">
            <a:gsLst>
              <a:gs pos="0">
                <a:schemeClr val="accent1">
                  <a:shade val="30000"/>
                  <a:satMod val="115000"/>
                </a:schemeClr>
              </a:gs>
              <a:gs pos="100000">
                <a:schemeClr val="accent1">
                  <a:shade val="67500"/>
                  <a:satMod val="115000"/>
                </a:schemeClr>
              </a:gs>
            </a:gsLst>
            <a:lin ang="16200000" scaled="1"/>
            <a:tileRect/>
          </a:gradFill>
        </p:spPr>
        <p:txBody>
          <a:bodyPr/>
          <a:lstStyle>
            <a:lvl1pPr>
              <a:defRPr lang="fr-FR"/>
            </a:lvl1pPr>
          </a:lstStyle>
          <a:p>
            <a:r>
              <a:rPr lang="fr-FR" dirty="0"/>
              <a:t>Cliquer sur l'icône pour insérer une image OU supprimer cette zone si non utilisée</a:t>
            </a:r>
          </a:p>
          <a:p>
            <a:pPr lvl="0"/>
            <a:endParaRPr lang="fr-FR" dirty="0"/>
          </a:p>
        </p:txBody>
      </p:sp>
      <p:sp>
        <p:nvSpPr>
          <p:cNvPr id="4" name="Titre 1"/>
          <p:cNvSpPr>
            <a:spLocks noGrp="1"/>
          </p:cNvSpPr>
          <p:nvPr>
            <p:ph type="title"/>
          </p:nvPr>
        </p:nvSpPr>
        <p:spPr>
          <a:xfrm>
            <a:off x="0" y="8720665"/>
            <a:ext cx="24384000" cy="2844804"/>
          </a:xfrm>
          <a:prstGeom prst="rect">
            <a:avLst/>
          </a:prstGeom>
          <a:solidFill>
            <a:schemeClr val="bg1">
              <a:alpha val="95000"/>
            </a:schemeClr>
          </a:solidFill>
        </p:spPr>
        <p:txBody>
          <a:bodyPr anchor="ctr"/>
          <a:lstStyle>
            <a:lvl1pPr algn="ctr">
              <a:defRPr sz="12000">
                <a:solidFill>
                  <a:srgbClr val="003A8D"/>
                </a:solidFill>
              </a:defRPr>
            </a:lvl1pPr>
          </a:lstStyle>
          <a:p>
            <a:r>
              <a:rPr lang="fr-FR" dirty="0"/>
              <a:t>Modifiez le style du titre</a:t>
            </a:r>
          </a:p>
        </p:txBody>
      </p:sp>
    </p:spTree>
    <p:extLst>
      <p:ext uri="{BB962C8B-B14F-4D97-AF65-F5344CB8AC3E}">
        <p14:creationId xmlns:p14="http://schemas.microsoft.com/office/powerpoint/2010/main" val="3839059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Conclusion">
    <p:bg>
      <p:bgPr>
        <a:solidFill>
          <a:schemeClr val="bg1"/>
        </a:solidFill>
        <a:effectLst/>
      </p:bgPr>
    </p:bg>
    <p:spTree>
      <p:nvGrpSpPr>
        <p:cNvPr id="1" name=""/>
        <p:cNvGrpSpPr/>
        <p:nvPr/>
      </p:nvGrpSpPr>
      <p:grpSpPr>
        <a:xfrm>
          <a:off x="0" y="0"/>
          <a:ext cx="0" cy="0"/>
          <a:chOff x="0" y="0"/>
          <a:chExt cx="0" cy="0"/>
        </a:xfrm>
      </p:grpSpPr>
      <p:pic>
        <p:nvPicPr>
          <p:cNvPr id="8" name="Imag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3399" y="381001"/>
            <a:ext cx="23318910" cy="11099801"/>
          </a:xfrm>
          <a:prstGeom prst="rect">
            <a:avLst/>
          </a:prstGeom>
        </p:spPr>
      </p:pic>
      <p:sp>
        <p:nvSpPr>
          <p:cNvPr id="11" name="Rectangle à coins arrondis 10"/>
          <p:cNvSpPr/>
          <p:nvPr userDrawn="1"/>
        </p:nvSpPr>
        <p:spPr>
          <a:xfrm>
            <a:off x="533399" y="381001"/>
            <a:ext cx="23317200" cy="11099800"/>
          </a:xfrm>
          <a:prstGeom prst="roundRect">
            <a:avLst>
              <a:gd name="adj" fmla="val 3479"/>
            </a:avLst>
          </a:prstGeom>
          <a:solidFill>
            <a:srgbClr val="003A8D">
              <a:alpha val="4300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7200"/>
          </a:p>
        </p:txBody>
      </p:sp>
      <p:sp>
        <p:nvSpPr>
          <p:cNvPr id="2" name="Titre 1"/>
          <p:cNvSpPr>
            <a:spLocks noGrp="1"/>
          </p:cNvSpPr>
          <p:nvPr>
            <p:ph type="ctrTitle" hasCustomPrompt="1"/>
          </p:nvPr>
        </p:nvSpPr>
        <p:spPr>
          <a:xfrm>
            <a:off x="9601200" y="2942170"/>
            <a:ext cx="12801600" cy="4775200"/>
          </a:xfrm>
          <a:prstGeom prst="rect">
            <a:avLst/>
          </a:prstGeom>
        </p:spPr>
        <p:txBody>
          <a:bodyPr anchor="b"/>
          <a:lstStyle>
            <a:lvl1pPr algn="l">
              <a:defRPr sz="12000">
                <a:solidFill>
                  <a:schemeClr val="bg1"/>
                </a:solidFill>
              </a:defRPr>
            </a:lvl1pPr>
          </a:lstStyle>
          <a:p>
            <a:r>
              <a:rPr lang="fr-FR" dirty="0"/>
              <a:t>Diapositive de conclusion</a:t>
            </a:r>
          </a:p>
        </p:txBody>
      </p:sp>
      <p:pic>
        <p:nvPicPr>
          <p:cNvPr id="10" name="Imag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03989" y="11611441"/>
            <a:ext cx="2037210" cy="1882818"/>
          </a:xfrm>
          <a:prstGeom prst="rect">
            <a:avLst/>
          </a:prstGeom>
        </p:spPr>
      </p:pic>
      <p:pic>
        <p:nvPicPr>
          <p:cNvPr id="12" name="Image 11"/>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389539" y="12305416"/>
            <a:ext cx="3938794" cy="494328"/>
          </a:xfrm>
          <a:prstGeom prst="rect">
            <a:avLst/>
          </a:prstGeom>
        </p:spPr>
      </p:pic>
      <p:pic>
        <p:nvPicPr>
          <p:cNvPr id="13" name="Image 12"/>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598482" y="12252211"/>
            <a:ext cx="1386516" cy="716626"/>
          </a:xfrm>
          <a:prstGeom prst="rect">
            <a:avLst/>
          </a:prstGeom>
        </p:spPr>
      </p:pic>
    </p:spTree>
    <p:extLst>
      <p:ext uri="{BB962C8B-B14F-4D97-AF65-F5344CB8AC3E}">
        <p14:creationId xmlns:p14="http://schemas.microsoft.com/office/powerpoint/2010/main" val="36464020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tangle à coins arrondis 5"/>
          <p:cNvSpPr/>
          <p:nvPr userDrawn="1"/>
        </p:nvSpPr>
        <p:spPr>
          <a:xfrm>
            <a:off x="254000" y="203200"/>
            <a:ext cx="23892934" cy="13278963"/>
          </a:xfrm>
          <a:prstGeom prst="roundRect">
            <a:avLst>
              <a:gd name="adj" fmla="val 347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7200"/>
          </a:p>
        </p:txBody>
      </p:sp>
      <p:sp>
        <p:nvSpPr>
          <p:cNvPr id="4" name="Espace réservé du pied de page 4"/>
          <p:cNvSpPr>
            <a:spLocks noGrp="1"/>
          </p:cNvSpPr>
          <p:nvPr>
            <p:ph type="ftr" sz="quarter" idx="3"/>
          </p:nvPr>
        </p:nvSpPr>
        <p:spPr>
          <a:xfrm>
            <a:off x="2675466" y="12886262"/>
            <a:ext cx="21031199" cy="450851"/>
          </a:xfrm>
          <a:prstGeom prst="rect">
            <a:avLst/>
          </a:prstGeom>
        </p:spPr>
        <p:txBody>
          <a:bodyPr anchor="ctr"/>
          <a:lstStyle>
            <a:lvl1pPr algn="ctr">
              <a:defRPr sz="1800" spc="300">
                <a:solidFill>
                  <a:srgbClr val="003A8D"/>
                </a:solidFill>
                <a:latin typeface="Segoe UI" panose="020B0502040204020203" pitchFamily="34" charset="0"/>
                <a:cs typeface="Segoe UI" panose="020B0502040204020203" pitchFamily="34" charset="0"/>
              </a:defRPr>
            </a:lvl1pPr>
          </a:lstStyle>
          <a:p>
            <a:r>
              <a:rPr lang="fr-FR"/>
              <a:t>&lt;Nom du document – Classification : Interne (par défaut) / Public / Confidentiel&gt; (modifiable via l'onglet INSERTION puis En-tête/Pied)</a:t>
            </a:r>
            <a:endParaRPr lang="fr-FR" dirty="0"/>
          </a:p>
        </p:txBody>
      </p:sp>
      <p:sp>
        <p:nvSpPr>
          <p:cNvPr id="5" name="Espace réservé du numéro de diapositive 5"/>
          <p:cNvSpPr>
            <a:spLocks noGrp="1"/>
          </p:cNvSpPr>
          <p:nvPr>
            <p:ph type="sldNum" sz="quarter" idx="4"/>
          </p:nvPr>
        </p:nvSpPr>
        <p:spPr>
          <a:xfrm>
            <a:off x="1793039" y="12886262"/>
            <a:ext cx="1047530" cy="450850"/>
          </a:xfrm>
          <a:prstGeom prst="rect">
            <a:avLst/>
          </a:prstGeom>
        </p:spPr>
        <p:txBody>
          <a:bodyPr vert="horz" lIns="91440" tIns="45720" rIns="91440" bIns="45720" rtlCol="0" anchor="ctr"/>
          <a:lstStyle>
            <a:lvl1pPr algn="l">
              <a:defRPr lang="fr-FR" sz="1800" spc="30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a:p>
        </p:txBody>
      </p:sp>
    </p:spTree>
    <p:extLst>
      <p:ext uri="{BB962C8B-B14F-4D97-AF65-F5344CB8AC3E}">
        <p14:creationId xmlns:p14="http://schemas.microsoft.com/office/powerpoint/2010/main" val="15497144"/>
      </p:ext>
    </p:extLst>
  </p:cSld>
  <p:clrMap bg1="lt1" tx1="dk1" bg2="lt2" tx2="dk2" accent1="accent1" accent2="accent2" accent3="accent3" accent4="accent4" accent5="accent5" accent6="accent6" hlink="hlink" folHlink="folHlink"/>
  <p:sldLayoutIdLst>
    <p:sldLayoutId id="2147483695" r:id="rId1"/>
    <p:sldLayoutId id="2147483742" r:id="rId2"/>
    <p:sldLayoutId id="2147483745" r:id="rId3"/>
    <p:sldLayoutId id="2147483748" r:id="rId4"/>
    <p:sldLayoutId id="2147483734" r:id="rId5"/>
    <p:sldLayoutId id="2147483736" r:id="rId6"/>
    <p:sldLayoutId id="2147483739" r:id="rId7"/>
    <p:sldLayoutId id="2147483746" r:id="rId8"/>
    <p:sldLayoutId id="2147483718" r:id="rId9"/>
  </p:sldLayoutIdLst>
  <p:hf hdr="0" dt="0"/>
  <p:txStyles>
    <p:titleStyle>
      <a:lvl1pPr algn="l" defTabSz="1828800" rtl="0" eaLnBrk="1" latinLnBrk="0" hangingPunct="1">
        <a:lnSpc>
          <a:spcPct val="90000"/>
        </a:lnSpc>
        <a:spcBef>
          <a:spcPct val="0"/>
        </a:spcBef>
        <a:buNone/>
        <a:defRPr sz="6600" kern="1200">
          <a:solidFill>
            <a:srgbClr val="003A8D"/>
          </a:solidFill>
          <a:latin typeface="Segoe UI Light" panose="020B0502040204020203" pitchFamily="34" charset="0"/>
          <a:ea typeface="+mj-ea"/>
          <a:cs typeface="Segoe UI Light" panose="020B0502040204020203" pitchFamily="34" charset="0"/>
        </a:defRPr>
      </a:lvl1pPr>
    </p:titleStyle>
    <p:bodyStyle>
      <a:lvl1pPr marL="0" indent="0" algn="l" defTabSz="1828800" rtl="0" eaLnBrk="1" latinLnBrk="0" hangingPunct="1">
        <a:lnSpc>
          <a:spcPct val="100000"/>
        </a:lnSpc>
        <a:spcBef>
          <a:spcPts val="0"/>
        </a:spcBef>
        <a:buFont typeface="Arial" panose="020B0604020202020204" pitchFamily="34" charset="0"/>
        <a:buNone/>
        <a:defRPr lang="fr-FR" sz="4000" kern="1200" dirty="0" smtClean="0">
          <a:solidFill>
            <a:srgbClr val="003A8D"/>
          </a:solidFill>
          <a:latin typeface="Segoe UI" panose="020B0502040204020203" pitchFamily="34" charset="0"/>
          <a:ea typeface="+mn-ea"/>
          <a:cs typeface="Segoe UI" panose="020B0502040204020203" pitchFamily="34" charset="0"/>
        </a:defRPr>
      </a:lvl1pPr>
      <a:lvl2pPr marL="457200" indent="-457200" algn="l" defTabSz="1828800" rtl="0" eaLnBrk="1" latinLnBrk="0" hangingPunct="1">
        <a:lnSpc>
          <a:spcPct val="100000"/>
        </a:lnSpc>
        <a:spcBef>
          <a:spcPts val="0"/>
        </a:spcBef>
        <a:buClr>
          <a:srgbClr val="E7473D"/>
        </a:buClr>
        <a:buFont typeface="Wingdings 3" panose="05040102010807070707" pitchFamily="18" charset="2"/>
        <a:buChar char=""/>
        <a:defRPr lang="fr-FR" sz="3200" kern="1200" dirty="0" smtClean="0">
          <a:solidFill>
            <a:srgbClr val="285C99"/>
          </a:solidFill>
          <a:latin typeface="Segoe UI" panose="020B0502040204020203" pitchFamily="34" charset="0"/>
          <a:ea typeface="+mn-ea"/>
          <a:cs typeface="Segoe UI" panose="020B0502040204020203" pitchFamily="34" charset="0"/>
        </a:defRPr>
      </a:lvl2pPr>
      <a:lvl3pPr marL="896938" indent="-457200" algn="l" defTabSz="1828800" rtl="0" eaLnBrk="1" latinLnBrk="0" hangingPunct="1">
        <a:lnSpc>
          <a:spcPct val="100000"/>
        </a:lnSpc>
        <a:spcBef>
          <a:spcPts val="0"/>
        </a:spcBef>
        <a:buClr>
          <a:srgbClr val="003A8D"/>
        </a:buClr>
        <a:buFont typeface="Wingdings 3" panose="05040102010807070707" pitchFamily="18" charset="2"/>
        <a:buChar char="}"/>
        <a:defRPr lang="fr-FR" sz="2400" kern="1200" dirty="0" smtClean="0">
          <a:solidFill>
            <a:schemeClr val="bg2">
              <a:lumMod val="25000"/>
            </a:schemeClr>
          </a:solidFill>
          <a:latin typeface="Segoe UI" panose="020B0502040204020203" pitchFamily="34" charset="0"/>
          <a:ea typeface="+mn-ea"/>
          <a:cs typeface="Segoe UI" panose="020B0502040204020203" pitchFamily="34" charset="0"/>
        </a:defRPr>
      </a:lvl3pPr>
      <a:lvl4pPr marL="1524000" indent="-541338" algn="l" defTabSz="1828800" rtl="0" eaLnBrk="1" latinLnBrk="0" hangingPunct="1">
        <a:lnSpc>
          <a:spcPct val="100000"/>
        </a:lnSpc>
        <a:spcBef>
          <a:spcPts val="0"/>
        </a:spcBef>
        <a:buClr>
          <a:srgbClr val="E7473D"/>
        </a:buClr>
        <a:buFont typeface="Wingdings 3" panose="05040102010807070707" pitchFamily="18" charset="2"/>
        <a:buChar char="}"/>
        <a:defRPr lang="fr-FR" sz="2000" kern="1200" dirty="0" smtClean="0">
          <a:solidFill>
            <a:schemeClr val="bg2">
              <a:lumMod val="25000"/>
            </a:schemeClr>
          </a:solidFill>
          <a:latin typeface="Segoe UI" panose="020B0502040204020203" pitchFamily="34" charset="0"/>
          <a:ea typeface="+mn-ea"/>
          <a:cs typeface="Segoe UI" panose="020B0502040204020203" pitchFamily="34" charset="0"/>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moss-si.cm-cic.fr/Sites/D00116/Documentation/_layouts/15/DocIdRedir.aspx?ID=PJQFUVHKSAJQ-1373287592-264278"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6.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5.png"/><Relationship Id="rId7" Type="http://schemas.openxmlformats.org/officeDocument/2006/relationships/image" Target="../media/image28.png"/><Relationship Id="rId12" Type="http://schemas.openxmlformats.org/officeDocument/2006/relationships/image" Target="../media/image3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microsoft.com/office/2007/relationships/hdphoto" Target="../media/hdphoto1.wdp"/><Relationship Id="rId11" Type="http://schemas.openxmlformats.org/officeDocument/2006/relationships/hyperlink" Target="https://excalidraw.com/" TargetMode="External"/><Relationship Id="rId5" Type="http://schemas.openxmlformats.org/officeDocument/2006/relationships/image" Target="../media/image27.png"/><Relationship Id="rId10" Type="http://schemas.openxmlformats.org/officeDocument/2006/relationships/image" Target="../media/image31.png"/><Relationship Id="rId4" Type="http://schemas.openxmlformats.org/officeDocument/2006/relationships/image" Target="../media/image26.png"/><Relationship Id="rId9" Type="http://schemas.openxmlformats.org/officeDocument/2006/relationships/image" Target="../media/image30.png"/></Relationships>
</file>

<file path=ppt/slides/_rels/slide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s://moss-si.cm-cic.fr/sites/d00341/Documents%20partages/Forms/AllItems.aspx?RootFolder=%2fsites%2fd00341%2fDocuments%20partages%2fDocumentation%20g%c3%a9n%c3%a9rale%2fCatalogue%20de%20Services&amp;FolderCTID=0x0120002E551F9298F25A46B8D39926416B183A"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36.png"/></Relationships>
</file>

<file path=ppt/slides/_rels/slide1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hyperlink" Target="https://moss-si.cm-cic.fr/sites/d00341/Documents%20partages/Forms/AllItems.aspx?RootFolder=%2fsites%2fd00341%2fDocuments%20partages%2fDocumentation%20g%c3%a9n%c3%a9rale%2fCatalogue%20de%20Services&amp;FolderCTID=0x0120002E551F9298F25A46B8D39926416B183A"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3155576" y="3305128"/>
            <a:ext cx="18180423" cy="4290912"/>
          </a:xfrm>
        </p:spPr>
        <p:txBody>
          <a:bodyPr/>
          <a:lstStyle/>
          <a:p>
            <a:r>
              <a:rPr lang="fr-FR" sz="8800" dirty="0"/>
              <a:t>Architecture fonctionnelle de l’OCR F</a:t>
            </a:r>
            <a:br>
              <a:rPr lang="fr-FR" sz="8800" dirty="0"/>
            </a:br>
            <a:r>
              <a:rPr lang="fr-FR" sz="8800" dirty="0"/>
              <a:t>Cadrage des besoins </a:t>
            </a:r>
            <a:r>
              <a:rPr lang="fr-FR" sz="8800" dirty="0" err="1"/>
              <a:t>niv</a:t>
            </a:r>
            <a:r>
              <a:rPr lang="fr-FR" sz="8800" dirty="0"/>
              <a:t> 2 et 3</a:t>
            </a:r>
            <a:br>
              <a:rPr lang="fr-FR" sz="8800" dirty="0"/>
            </a:br>
            <a:r>
              <a:rPr lang="fr-FR" sz="8800" dirty="0"/>
              <a:t>Synthèse des entretiens </a:t>
            </a:r>
            <a:r>
              <a:rPr lang="fr-FR" sz="8800" dirty="0" err="1"/>
              <a:t>REs</a:t>
            </a:r>
            <a:endParaRPr lang="fr-FR" sz="8800" dirty="0"/>
          </a:p>
        </p:txBody>
      </p:sp>
      <p:sp>
        <p:nvSpPr>
          <p:cNvPr id="3" name="Sous-titre 2"/>
          <p:cNvSpPr>
            <a:spLocks noGrp="1"/>
          </p:cNvSpPr>
          <p:nvPr>
            <p:ph type="subTitle" idx="1"/>
          </p:nvPr>
        </p:nvSpPr>
        <p:spPr/>
        <p:txBody>
          <a:bodyPr/>
          <a:lstStyle/>
          <a:p>
            <a:r>
              <a:rPr lang="fr-FR" dirty="0"/>
              <a:t>Maj 08/2026</a:t>
            </a:r>
          </a:p>
        </p:txBody>
      </p:sp>
    </p:spTree>
    <p:extLst>
      <p:ext uri="{BB962C8B-B14F-4D97-AF65-F5344CB8AC3E}">
        <p14:creationId xmlns:p14="http://schemas.microsoft.com/office/powerpoint/2010/main" val="42718534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Rectangle : coins arrondis 51">
            <a:extLst>
              <a:ext uri="{FF2B5EF4-FFF2-40B4-BE49-F238E27FC236}">
                <a16:creationId xmlns:a16="http://schemas.microsoft.com/office/drawing/2014/main" id="{C49D4784-1B1E-4E74-ACFF-50BAF5DBDB89}"/>
              </a:ext>
            </a:extLst>
          </p:cNvPr>
          <p:cNvSpPr/>
          <p:nvPr/>
        </p:nvSpPr>
        <p:spPr>
          <a:xfrm>
            <a:off x="17814235" y="2017872"/>
            <a:ext cx="5983104" cy="1905873"/>
          </a:xfrm>
          <a:prstGeom prst="roundRect">
            <a:avLst>
              <a:gd name="adj" fmla="val 4289"/>
            </a:avLst>
          </a:prstGeom>
          <a:noFill/>
          <a:ln>
            <a:solidFill>
              <a:srgbClr val="08244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sz="1000" dirty="0">
              <a:solidFill>
                <a:prstClr val="white"/>
              </a:solidFill>
              <a:latin typeface="Segoe UI" panose="020B0502040204020203" pitchFamily="34" charset="0"/>
              <a:cs typeface="Segoe UI" panose="020B0502040204020203" pitchFamily="34" charset="0"/>
            </a:endParaRPr>
          </a:p>
        </p:txBody>
      </p:sp>
      <p:sp>
        <p:nvSpPr>
          <p:cNvPr id="3" name="Titre 2"/>
          <p:cNvSpPr>
            <a:spLocks noGrp="1"/>
          </p:cNvSpPr>
          <p:nvPr>
            <p:ph type="title"/>
          </p:nvPr>
        </p:nvSpPr>
        <p:spPr/>
        <p:txBody>
          <a:bodyPr>
            <a:normAutofit fontScale="90000"/>
          </a:bodyPr>
          <a:lstStyle/>
          <a:p>
            <a:r>
              <a:rPr lang="fr-FR" dirty="0"/>
              <a:t>Une architecture applicative et fonctionnelle de l’OCR F à 4 niveaux</a:t>
            </a:r>
          </a:p>
        </p:txBody>
      </p:sp>
      <p:sp>
        <p:nvSpPr>
          <p:cNvPr id="2" name="Espace réservé du pied de page 1"/>
          <p:cNvSpPr>
            <a:spLocks noGrp="1"/>
          </p:cNvSpPr>
          <p:nvPr>
            <p:ph type="ftr" sz="quarter" idx="11"/>
          </p:nvPr>
        </p:nvSpPr>
        <p:spPr/>
        <p:txBody>
          <a:bodyPr/>
          <a:lstStyle/>
          <a:p>
            <a:r>
              <a:rPr lang="fr-FR" sz="1800" dirty="0"/>
              <a:t>Architecture fonctionnelle de l’OCR F - Cadrage des besoins </a:t>
            </a:r>
            <a:r>
              <a:rPr lang="fr-FR" sz="1800" dirty="0" err="1"/>
              <a:t>niv</a:t>
            </a:r>
            <a:r>
              <a:rPr lang="fr-FR" sz="1800" dirty="0"/>
              <a:t> 2 et 3 - Synthèse des entretiens </a:t>
            </a:r>
            <a:r>
              <a:rPr lang="fr-FR" sz="1800" dirty="0" err="1"/>
              <a:t>REs</a:t>
            </a:r>
            <a:endParaRPr lang="fr-FR" dirty="0"/>
          </a:p>
        </p:txBody>
      </p:sp>
      <p:sp>
        <p:nvSpPr>
          <p:cNvPr id="6" name="Espace réservé du numéro de diapositive 5"/>
          <p:cNvSpPr>
            <a:spLocks noGrp="1"/>
          </p:cNvSpPr>
          <p:nvPr>
            <p:ph type="sldNum" sz="quarter" idx="12"/>
          </p:nvPr>
        </p:nvSpPr>
        <p:spPr/>
        <p:txBody>
          <a:bodyPr/>
          <a:lstStyle/>
          <a:p>
            <a:fld id="{3EE1DE5A-27D4-4895-8E04-340D57AD09FB}" type="slidenum">
              <a:rPr lang="fr-FR" smtClean="0"/>
              <a:pPr/>
              <a:t>2</a:t>
            </a:fld>
            <a:endParaRPr lang="fr-FR"/>
          </a:p>
        </p:txBody>
      </p:sp>
      <p:sp>
        <p:nvSpPr>
          <p:cNvPr id="10" name="Rectangle : coins arrondis 9">
            <a:extLst>
              <a:ext uri="{FF2B5EF4-FFF2-40B4-BE49-F238E27FC236}">
                <a16:creationId xmlns:a16="http://schemas.microsoft.com/office/drawing/2014/main" id="{37C796F5-E81F-48A7-8936-2C27927BD67F}"/>
              </a:ext>
            </a:extLst>
          </p:cNvPr>
          <p:cNvSpPr/>
          <p:nvPr/>
        </p:nvSpPr>
        <p:spPr>
          <a:xfrm>
            <a:off x="1793039" y="4536140"/>
            <a:ext cx="5983104" cy="7871012"/>
          </a:xfrm>
          <a:prstGeom prst="roundRect">
            <a:avLst>
              <a:gd name="adj" fmla="val 4289"/>
            </a:avLst>
          </a:prstGeom>
          <a:solidFill>
            <a:srgbClr val="F1F1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sz="1000" dirty="0">
              <a:solidFill>
                <a:prstClr val="white"/>
              </a:solidFill>
              <a:latin typeface="Segoe UI" panose="020B0502040204020203" pitchFamily="34" charset="0"/>
              <a:cs typeface="Segoe UI" panose="020B0502040204020203" pitchFamily="34" charset="0"/>
            </a:endParaRPr>
          </a:p>
        </p:txBody>
      </p:sp>
      <p:sp>
        <p:nvSpPr>
          <p:cNvPr id="8" name="Rectangle : coins arrondis 7">
            <a:extLst>
              <a:ext uri="{FF2B5EF4-FFF2-40B4-BE49-F238E27FC236}">
                <a16:creationId xmlns:a16="http://schemas.microsoft.com/office/drawing/2014/main" id="{2BADCA7F-B836-4CFE-9224-9EF19A5E809C}"/>
              </a:ext>
            </a:extLst>
          </p:cNvPr>
          <p:cNvSpPr/>
          <p:nvPr/>
        </p:nvSpPr>
        <p:spPr>
          <a:xfrm>
            <a:off x="2549072" y="4110312"/>
            <a:ext cx="4460514" cy="875819"/>
          </a:xfrm>
          <a:prstGeom prst="roundRect">
            <a:avLst>
              <a:gd name="adj" fmla="val 14274"/>
            </a:avLst>
          </a:prstGeom>
          <a:solidFill>
            <a:srgbClr val="082447"/>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fr-FR" sz="2000" b="1" dirty="0">
                <a:solidFill>
                  <a:prstClr val="white"/>
                </a:solidFill>
                <a:latin typeface="Segoe UI" panose="020B0502040204020203" pitchFamily="34" charset="0"/>
                <a:cs typeface="Segoe UI" panose="020B0502040204020203" pitchFamily="34" charset="0"/>
              </a:rPr>
              <a:t>NIVEAU 1 : robin</a:t>
            </a:r>
            <a:endParaRPr lang="fr-FR" sz="2000" b="1" dirty="0">
              <a:solidFill>
                <a:srgbClr val="ED7D31"/>
              </a:solidFill>
              <a:latin typeface="Segoe UI" panose="020B0502040204020203" pitchFamily="34" charset="0"/>
              <a:cs typeface="Segoe UI" panose="020B0502040204020203" pitchFamily="34" charset="0"/>
            </a:endParaRPr>
          </a:p>
        </p:txBody>
      </p:sp>
      <p:sp>
        <p:nvSpPr>
          <p:cNvPr id="9" name="Rectangle : coins arrondis 8">
            <a:extLst>
              <a:ext uri="{FF2B5EF4-FFF2-40B4-BE49-F238E27FC236}">
                <a16:creationId xmlns:a16="http://schemas.microsoft.com/office/drawing/2014/main" id="{6A713D8C-9723-4BF2-B3CB-C4DC711D344F}"/>
              </a:ext>
            </a:extLst>
          </p:cNvPr>
          <p:cNvSpPr/>
          <p:nvPr/>
        </p:nvSpPr>
        <p:spPr>
          <a:xfrm>
            <a:off x="2069605" y="5145740"/>
            <a:ext cx="5389030" cy="3876364"/>
          </a:xfrm>
          <a:prstGeom prst="roundRect">
            <a:avLst>
              <a:gd name="adj" fmla="val 4952"/>
            </a:avLst>
          </a:prstGeom>
          <a:solidFill>
            <a:schemeClr val="bg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defRPr/>
            </a:pPr>
            <a:r>
              <a:rPr lang="fr-FR" sz="2000" dirty="0">
                <a:solidFill>
                  <a:srgbClr val="0A4291"/>
                </a:solidFill>
                <a:latin typeface="Segoe UI" panose="020B0502040204020203" pitchFamily="34" charset="0"/>
                <a:cs typeface="Segoe UI" panose="020B0502040204020203" pitchFamily="34" charset="0"/>
              </a:rPr>
              <a:t>Cartographie des codes robin maintenus par l’OCR F (1 slide)</a:t>
            </a:r>
          </a:p>
          <a:p>
            <a:pPr marL="342900" indent="-342900">
              <a:buFont typeface="Arial" panose="020B0604020202020204" pitchFamily="34" charset="0"/>
              <a:buChar char="•"/>
              <a:defRPr/>
            </a:pPr>
            <a:r>
              <a:rPr lang="fr-FR" sz="2000" dirty="0">
                <a:solidFill>
                  <a:srgbClr val="0A4291"/>
                </a:solidFill>
                <a:latin typeface="Segoe UI" panose="020B0502040204020203" pitchFamily="34" charset="0"/>
                <a:cs typeface="Segoe UI" panose="020B0502040204020203" pitchFamily="34" charset="0"/>
              </a:rPr>
              <a:t>description de chaque code robin (1 slide par code robin)</a:t>
            </a:r>
          </a:p>
          <a:p>
            <a:pPr marL="342900" indent="-342900">
              <a:buFont typeface="Arial" panose="020B0604020202020204" pitchFamily="34" charset="0"/>
              <a:buChar char="•"/>
              <a:defRPr/>
            </a:pPr>
            <a:endParaRPr lang="fr-FR" sz="2000" dirty="0">
              <a:solidFill>
                <a:srgbClr val="0A4291"/>
              </a:solidFill>
              <a:latin typeface="Segoe UI" panose="020B0502040204020203" pitchFamily="34" charset="0"/>
              <a:cs typeface="Segoe UI" panose="020B0502040204020203" pitchFamily="34" charset="0"/>
            </a:endParaRPr>
          </a:p>
          <a:p>
            <a:pPr>
              <a:defRPr/>
            </a:pPr>
            <a:r>
              <a:rPr lang="fr-FR" sz="2000" dirty="0">
                <a:solidFill>
                  <a:srgbClr val="0A4291"/>
                </a:solidFill>
                <a:latin typeface="Segoe UI" panose="020B0502040204020203" pitchFamily="34" charset="0"/>
                <a:cs typeface="Segoe UI" panose="020B0502040204020203" pitchFamily="34" charset="0"/>
              </a:rPr>
              <a:t>À ajouter :</a:t>
            </a:r>
          </a:p>
          <a:p>
            <a:pPr marL="285750" indent="-285750">
              <a:buFont typeface="Arial" panose="020B0604020202020204" pitchFamily="34" charset="0"/>
              <a:buChar char="•"/>
              <a:defRPr/>
            </a:pPr>
            <a:r>
              <a:rPr lang="fr-FR" sz="2000" dirty="0">
                <a:solidFill>
                  <a:srgbClr val="0A4291"/>
                </a:solidFill>
                <a:latin typeface="Segoe UI" panose="020B0502040204020203" pitchFamily="34" charset="0"/>
                <a:cs typeface="Segoe UI" panose="020B0502040204020203" pitchFamily="34" charset="0"/>
              </a:rPr>
              <a:t>Cartographie de l’</a:t>
            </a:r>
            <a:r>
              <a:rPr lang="fr-FR" sz="2000" dirty="0" err="1">
                <a:solidFill>
                  <a:srgbClr val="0A4291"/>
                </a:solidFill>
                <a:latin typeface="Segoe UI" panose="020B0502040204020203" pitchFamily="34" charset="0"/>
                <a:cs typeface="Segoe UI" panose="020B0502040204020203" pitchFamily="34" charset="0"/>
              </a:rPr>
              <a:t>ecosystème</a:t>
            </a:r>
            <a:r>
              <a:rPr lang="fr-FR" sz="2000" dirty="0">
                <a:solidFill>
                  <a:srgbClr val="0A4291"/>
                </a:solidFill>
                <a:latin typeface="Segoe UI" panose="020B0502040204020203" pitchFamily="34" charset="0"/>
                <a:cs typeface="Segoe UI" panose="020B0502040204020203" pitchFamily="34" charset="0"/>
              </a:rPr>
              <a:t> de l’OCRF (1 slide) : niveau code robin ou appli </a:t>
            </a:r>
          </a:p>
          <a:p>
            <a:pPr marL="285750" indent="-285750">
              <a:buFont typeface="Arial" panose="020B0604020202020204" pitchFamily="34" charset="0"/>
              <a:buChar char="•"/>
              <a:defRPr/>
            </a:pPr>
            <a:r>
              <a:rPr lang="fr-FR" sz="2000" dirty="0">
                <a:solidFill>
                  <a:srgbClr val="0A4291"/>
                </a:solidFill>
                <a:latin typeface="Segoe UI" panose="020B0502040204020203" pitchFamily="34" charset="0"/>
                <a:cs typeface="Segoe UI" panose="020B0502040204020203" pitchFamily="34" charset="0"/>
              </a:rPr>
              <a:t>Description de l’utilisation qui est faite du code robin/appli par l’OCRF (1 slide par code robin/appli)</a:t>
            </a:r>
            <a:endParaRPr lang="fr-FR" sz="1050" dirty="0">
              <a:solidFill>
                <a:srgbClr val="0A4291"/>
              </a:solidFill>
              <a:latin typeface="Segoe UI" panose="020B0502040204020203" pitchFamily="34" charset="0"/>
              <a:cs typeface="Segoe UI" panose="020B0502040204020203" pitchFamily="34" charset="0"/>
            </a:endParaRPr>
          </a:p>
        </p:txBody>
      </p:sp>
      <p:sp>
        <p:nvSpPr>
          <p:cNvPr id="11" name="Rectangle : coins arrondis 10">
            <a:extLst>
              <a:ext uri="{FF2B5EF4-FFF2-40B4-BE49-F238E27FC236}">
                <a16:creationId xmlns:a16="http://schemas.microsoft.com/office/drawing/2014/main" id="{6D310E55-E5FF-499A-8489-78FC9E473D3E}"/>
              </a:ext>
            </a:extLst>
          </p:cNvPr>
          <p:cNvSpPr/>
          <p:nvPr/>
        </p:nvSpPr>
        <p:spPr>
          <a:xfrm>
            <a:off x="9072381" y="4536140"/>
            <a:ext cx="5983104" cy="7871012"/>
          </a:xfrm>
          <a:prstGeom prst="roundRect">
            <a:avLst>
              <a:gd name="adj" fmla="val 4289"/>
            </a:avLst>
          </a:prstGeom>
          <a:solidFill>
            <a:srgbClr val="F1F1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sz="1000" dirty="0">
              <a:solidFill>
                <a:prstClr val="white"/>
              </a:solidFill>
              <a:latin typeface="Segoe UI" panose="020B0502040204020203" pitchFamily="34" charset="0"/>
              <a:cs typeface="Segoe UI" panose="020B0502040204020203" pitchFamily="34" charset="0"/>
            </a:endParaRPr>
          </a:p>
        </p:txBody>
      </p:sp>
      <p:sp>
        <p:nvSpPr>
          <p:cNvPr id="12" name="Rectangle : coins arrondis 11">
            <a:extLst>
              <a:ext uri="{FF2B5EF4-FFF2-40B4-BE49-F238E27FC236}">
                <a16:creationId xmlns:a16="http://schemas.microsoft.com/office/drawing/2014/main" id="{26F3B972-C948-45EB-A66B-D5A7A095428F}"/>
              </a:ext>
            </a:extLst>
          </p:cNvPr>
          <p:cNvSpPr/>
          <p:nvPr/>
        </p:nvSpPr>
        <p:spPr>
          <a:xfrm>
            <a:off x="9828414" y="4110312"/>
            <a:ext cx="4460514" cy="875819"/>
          </a:xfrm>
          <a:prstGeom prst="roundRect">
            <a:avLst>
              <a:gd name="adj" fmla="val 14274"/>
            </a:avLst>
          </a:prstGeom>
          <a:solidFill>
            <a:srgbClr val="082447"/>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fr-FR" sz="2000" b="1" dirty="0">
                <a:solidFill>
                  <a:prstClr val="white"/>
                </a:solidFill>
                <a:latin typeface="Segoe UI" panose="020B0502040204020203" pitchFamily="34" charset="0"/>
                <a:cs typeface="Segoe UI" panose="020B0502040204020203" pitchFamily="34" charset="0"/>
              </a:rPr>
              <a:t>NIVEAU 2 : appli</a:t>
            </a:r>
            <a:endParaRPr lang="fr-FR" sz="2000" b="1" dirty="0">
              <a:solidFill>
                <a:srgbClr val="ED7D31"/>
              </a:solidFill>
              <a:latin typeface="Segoe UI" panose="020B0502040204020203" pitchFamily="34" charset="0"/>
              <a:cs typeface="Segoe UI" panose="020B0502040204020203" pitchFamily="34" charset="0"/>
            </a:endParaRPr>
          </a:p>
        </p:txBody>
      </p:sp>
      <p:sp>
        <p:nvSpPr>
          <p:cNvPr id="14" name="Rectangle : coins arrondis 13">
            <a:extLst>
              <a:ext uri="{FF2B5EF4-FFF2-40B4-BE49-F238E27FC236}">
                <a16:creationId xmlns:a16="http://schemas.microsoft.com/office/drawing/2014/main" id="{80047B8E-EA8C-49AC-836F-405383D7551B}"/>
              </a:ext>
            </a:extLst>
          </p:cNvPr>
          <p:cNvSpPr/>
          <p:nvPr/>
        </p:nvSpPr>
        <p:spPr>
          <a:xfrm>
            <a:off x="16423440" y="4536140"/>
            <a:ext cx="5983104" cy="7871012"/>
          </a:xfrm>
          <a:prstGeom prst="roundRect">
            <a:avLst>
              <a:gd name="adj" fmla="val 4289"/>
            </a:avLst>
          </a:prstGeom>
          <a:solidFill>
            <a:srgbClr val="F1F1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sz="1000" dirty="0">
              <a:solidFill>
                <a:prstClr val="white"/>
              </a:solidFill>
              <a:latin typeface="Segoe UI" panose="020B0502040204020203" pitchFamily="34" charset="0"/>
              <a:cs typeface="Segoe UI" panose="020B0502040204020203" pitchFamily="34" charset="0"/>
            </a:endParaRPr>
          </a:p>
        </p:txBody>
      </p:sp>
      <p:sp>
        <p:nvSpPr>
          <p:cNvPr id="15" name="Rectangle : coins arrondis 14">
            <a:extLst>
              <a:ext uri="{FF2B5EF4-FFF2-40B4-BE49-F238E27FC236}">
                <a16:creationId xmlns:a16="http://schemas.microsoft.com/office/drawing/2014/main" id="{87CBFB9D-C069-4FBA-934A-B6F0D7C9AAF2}"/>
              </a:ext>
            </a:extLst>
          </p:cNvPr>
          <p:cNvSpPr/>
          <p:nvPr/>
        </p:nvSpPr>
        <p:spPr>
          <a:xfrm>
            <a:off x="17179473" y="4110312"/>
            <a:ext cx="4460514" cy="875819"/>
          </a:xfrm>
          <a:prstGeom prst="roundRect">
            <a:avLst>
              <a:gd name="adj" fmla="val 14274"/>
            </a:avLst>
          </a:prstGeom>
          <a:solidFill>
            <a:srgbClr val="082447"/>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fr-FR" sz="2000" b="1" dirty="0">
                <a:solidFill>
                  <a:prstClr val="white"/>
                </a:solidFill>
                <a:latin typeface="Segoe UI" panose="020B0502040204020203" pitchFamily="34" charset="0"/>
                <a:cs typeface="Segoe UI" panose="020B0502040204020203" pitchFamily="34" charset="0"/>
              </a:rPr>
              <a:t>NIVEAU 3 : interactions et services</a:t>
            </a:r>
            <a:endParaRPr lang="fr-FR" sz="2000" b="1" dirty="0">
              <a:solidFill>
                <a:srgbClr val="ED7D31"/>
              </a:solidFill>
              <a:latin typeface="Segoe UI" panose="020B0502040204020203" pitchFamily="34" charset="0"/>
              <a:cs typeface="Segoe UI" panose="020B0502040204020203" pitchFamily="34" charset="0"/>
            </a:endParaRPr>
          </a:p>
        </p:txBody>
      </p:sp>
      <p:sp>
        <p:nvSpPr>
          <p:cNvPr id="17" name="Rectangle : coins arrondis 16">
            <a:extLst>
              <a:ext uri="{FF2B5EF4-FFF2-40B4-BE49-F238E27FC236}">
                <a16:creationId xmlns:a16="http://schemas.microsoft.com/office/drawing/2014/main" id="{9EA42AB3-4378-40D9-B958-1D310E275257}"/>
              </a:ext>
            </a:extLst>
          </p:cNvPr>
          <p:cNvSpPr/>
          <p:nvPr/>
        </p:nvSpPr>
        <p:spPr>
          <a:xfrm>
            <a:off x="2675465" y="10434788"/>
            <a:ext cx="4783169" cy="2474382"/>
          </a:xfrm>
          <a:prstGeom prst="roundRect">
            <a:avLst>
              <a:gd name="adj" fmla="val 10040"/>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fr-FR" sz="1800" dirty="0">
                <a:solidFill>
                  <a:srgbClr val="0A4291"/>
                </a:solidFill>
                <a:latin typeface="Segoe UI" panose="020B0502040204020203" pitchFamily="34" charset="0"/>
                <a:cs typeface="Segoe UI" panose="020B0502040204020203" pitchFamily="34" charset="0"/>
                <a:hlinkClick r:id="rId2"/>
              </a:rPr>
              <a:t>Cartographie applicative </a:t>
            </a:r>
            <a:r>
              <a:rPr lang="fr-FR" sz="1800" dirty="0">
                <a:solidFill>
                  <a:srgbClr val="0A4291"/>
                </a:solidFill>
                <a:latin typeface="Segoe UI" panose="020B0502040204020203" pitchFamily="34" charset="0"/>
                <a:cs typeface="Segoe UI" panose="020B0502040204020203" pitchFamily="34" charset="0"/>
              </a:rPr>
              <a:t>version Franck puis actualisée par </a:t>
            </a:r>
            <a:r>
              <a:rPr lang="fr-FR" sz="1800" dirty="0" err="1">
                <a:solidFill>
                  <a:srgbClr val="0A4291"/>
                </a:solidFill>
                <a:latin typeface="Segoe UI" panose="020B0502040204020203" pitchFamily="34" charset="0"/>
                <a:cs typeface="Segoe UI" panose="020B0502040204020203" pitchFamily="34" charset="0"/>
              </a:rPr>
              <a:t>Sebastien</a:t>
            </a:r>
            <a:r>
              <a:rPr lang="fr-FR" sz="1800" dirty="0">
                <a:solidFill>
                  <a:srgbClr val="0A4291"/>
                </a:solidFill>
                <a:latin typeface="Segoe UI" panose="020B0502040204020203" pitchFamily="34" charset="0"/>
                <a:cs typeface="Segoe UI" panose="020B0502040204020203" pitchFamily="34" charset="0"/>
              </a:rPr>
              <a:t> C. pour répondre à l’audit ETVS en déc.2025</a:t>
            </a:r>
          </a:p>
        </p:txBody>
      </p:sp>
      <p:sp>
        <p:nvSpPr>
          <p:cNvPr id="18" name="Triangle isocèle 17">
            <a:extLst>
              <a:ext uri="{FF2B5EF4-FFF2-40B4-BE49-F238E27FC236}">
                <a16:creationId xmlns:a16="http://schemas.microsoft.com/office/drawing/2014/main" id="{D90F53C7-CCC2-40C2-B718-184DEF506BE2}"/>
              </a:ext>
            </a:extLst>
          </p:cNvPr>
          <p:cNvSpPr/>
          <p:nvPr/>
        </p:nvSpPr>
        <p:spPr>
          <a:xfrm rot="5400000">
            <a:off x="1744594" y="11419424"/>
            <a:ext cx="975846" cy="325825"/>
          </a:xfrm>
          <a:prstGeom prst="triangle">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sp>
        <p:nvSpPr>
          <p:cNvPr id="21" name="Rectangle : coins arrondis 20">
            <a:extLst>
              <a:ext uri="{FF2B5EF4-FFF2-40B4-BE49-F238E27FC236}">
                <a16:creationId xmlns:a16="http://schemas.microsoft.com/office/drawing/2014/main" id="{21D5B447-D69E-4A43-9A11-AA96CD047459}"/>
              </a:ext>
            </a:extLst>
          </p:cNvPr>
          <p:cNvSpPr/>
          <p:nvPr/>
        </p:nvSpPr>
        <p:spPr>
          <a:xfrm>
            <a:off x="9402734" y="5145741"/>
            <a:ext cx="5389030" cy="3876363"/>
          </a:xfrm>
          <a:prstGeom prst="roundRect">
            <a:avLst>
              <a:gd name="adj" fmla="val 2640"/>
            </a:avLst>
          </a:prstGeom>
          <a:solidFill>
            <a:schemeClr val="bg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000" dirty="0">
                <a:solidFill>
                  <a:srgbClr val="0A4291"/>
                </a:solidFill>
                <a:latin typeface="Segoe UI" panose="020B0502040204020203" pitchFamily="34" charset="0"/>
                <a:cs typeface="Segoe UI" panose="020B0502040204020203" pitchFamily="34" charset="0"/>
              </a:rPr>
              <a:t>Description fonctionnelle des applications (par code robin) :</a:t>
            </a:r>
          </a:p>
          <a:p>
            <a:pPr marL="342900" indent="-342900">
              <a:buFont typeface="Arial" panose="020B0604020202020204" pitchFamily="34" charset="0"/>
              <a:buChar char="•"/>
            </a:pPr>
            <a:r>
              <a:rPr lang="fr-FR" sz="2000" dirty="0">
                <a:solidFill>
                  <a:srgbClr val="0A4291"/>
                </a:solidFill>
                <a:latin typeface="Segoe UI" panose="020B0502040204020203" pitchFamily="34" charset="0"/>
                <a:cs typeface="Segoe UI" panose="020B0502040204020203" pitchFamily="34" charset="0"/>
              </a:rPr>
              <a:t>schéma « haut » niveau qui permet de voir les interactions entre les codes robins de l’équipe mais aussi des autres équipe EI</a:t>
            </a:r>
          </a:p>
          <a:p>
            <a:pPr marL="342900" indent="-342900">
              <a:buFont typeface="Arial" panose="020B0604020202020204" pitchFamily="34" charset="0"/>
              <a:buChar char="•"/>
            </a:pPr>
            <a:r>
              <a:rPr lang="fr-FR" sz="2000" dirty="0">
                <a:solidFill>
                  <a:srgbClr val="0A4291"/>
                </a:solidFill>
                <a:latin typeface="Segoe UI" panose="020B0502040204020203" pitchFamily="34" charset="0"/>
                <a:cs typeface="Segoe UI" panose="020B0502040204020203" pitchFamily="34" charset="0"/>
              </a:rPr>
              <a:t>Description de chaque application (cf. exemple pour CADI et/ou </a:t>
            </a:r>
            <a:r>
              <a:rPr lang="fr-FR" sz="2000" dirty="0" err="1">
                <a:solidFill>
                  <a:srgbClr val="0A4291"/>
                </a:solidFill>
                <a:latin typeface="Segoe UI" panose="020B0502040204020203" pitchFamily="34" charset="0"/>
                <a:cs typeface="Segoe UI" panose="020B0502040204020203" pitchFamily="34" charset="0"/>
              </a:rPr>
              <a:t>Onepager</a:t>
            </a:r>
            <a:r>
              <a:rPr lang="fr-FR" sz="2000" dirty="0">
                <a:solidFill>
                  <a:srgbClr val="0A4291"/>
                </a:solidFill>
                <a:latin typeface="Segoe UI" panose="020B0502040204020203" pitchFamily="34" charset="0"/>
                <a:cs typeface="Segoe UI" panose="020B0502040204020203" pitchFamily="34" charset="0"/>
              </a:rPr>
              <a:t> proposé par Valérie C ?)</a:t>
            </a:r>
          </a:p>
        </p:txBody>
      </p:sp>
      <p:sp>
        <p:nvSpPr>
          <p:cNvPr id="22" name="Rectangle : coins arrondis 21">
            <a:extLst>
              <a:ext uri="{FF2B5EF4-FFF2-40B4-BE49-F238E27FC236}">
                <a16:creationId xmlns:a16="http://schemas.microsoft.com/office/drawing/2014/main" id="{F3850E41-4BC6-4328-A7B6-62754342997D}"/>
              </a:ext>
            </a:extLst>
          </p:cNvPr>
          <p:cNvSpPr/>
          <p:nvPr/>
        </p:nvSpPr>
        <p:spPr>
          <a:xfrm>
            <a:off x="16682075" y="5145740"/>
            <a:ext cx="5389030" cy="3876364"/>
          </a:xfrm>
          <a:prstGeom prst="roundRect">
            <a:avLst>
              <a:gd name="adj" fmla="val 3102"/>
            </a:avLst>
          </a:prstGeom>
          <a:solidFill>
            <a:schemeClr val="bg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000" dirty="0">
                <a:solidFill>
                  <a:srgbClr val="0A4291"/>
                </a:solidFill>
                <a:latin typeface="Segoe UI" panose="020B0502040204020203" pitchFamily="34" charset="0"/>
                <a:cs typeface="Segoe UI" panose="020B0502040204020203" pitchFamily="34" charset="0"/>
              </a:rPr>
              <a:t>Description plus technique (bas niveau) :</a:t>
            </a:r>
          </a:p>
          <a:p>
            <a:pPr marL="342900" indent="-342900">
              <a:buFont typeface="Arial" panose="020B0604020202020204" pitchFamily="34" charset="0"/>
              <a:buChar char="•"/>
            </a:pPr>
            <a:endParaRPr lang="fr-FR" sz="2000" dirty="0">
              <a:solidFill>
                <a:srgbClr val="0A4291"/>
              </a:solidFill>
              <a:latin typeface="Segoe UI" panose="020B0502040204020203" pitchFamily="34" charset="0"/>
              <a:cs typeface="Segoe UI" panose="020B0502040204020203" pitchFamily="34" charset="0"/>
            </a:endParaRPr>
          </a:p>
          <a:p>
            <a:pPr marL="342900" indent="-342900">
              <a:buFont typeface="Arial" panose="020B0604020202020204" pitchFamily="34" charset="0"/>
              <a:buChar char="•"/>
            </a:pPr>
            <a:r>
              <a:rPr lang="fr-FR" sz="2000" dirty="0">
                <a:solidFill>
                  <a:srgbClr val="0A4291"/>
                </a:solidFill>
                <a:latin typeface="Segoe UI" panose="020B0502040204020203" pitchFamily="34" charset="0"/>
                <a:cs typeface="Segoe UI" panose="020B0502040204020203" pitchFamily="34" charset="0"/>
              </a:rPr>
              <a:t>Schéma des services et interactions entre eux</a:t>
            </a:r>
          </a:p>
          <a:p>
            <a:endParaRPr lang="fr-FR" sz="2000" dirty="0">
              <a:solidFill>
                <a:srgbClr val="0A4291"/>
              </a:solidFill>
              <a:latin typeface="Segoe UI" panose="020B0502040204020203" pitchFamily="34" charset="0"/>
              <a:cs typeface="Segoe UI" panose="020B0502040204020203" pitchFamily="34" charset="0"/>
            </a:endParaRPr>
          </a:p>
          <a:p>
            <a:endParaRPr lang="fr-FR" sz="2000" dirty="0">
              <a:solidFill>
                <a:srgbClr val="0A4291"/>
              </a:solidFill>
              <a:latin typeface="Segoe UI" panose="020B0502040204020203" pitchFamily="34" charset="0"/>
              <a:cs typeface="Segoe UI" panose="020B0502040204020203" pitchFamily="34" charset="0"/>
            </a:endParaRPr>
          </a:p>
        </p:txBody>
      </p:sp>
      <p:sp>
        <p:nvSpPr>
          <p:cNvPr id="23" name="Ellipse 22">
            <a:extLst>
              <a:ext uri="{FF2B5EF4-FFF2-40B4-BE49-F238E27FC236}">
                <a16:creationId xmlns:a16="http://schemas.microsoft.com/office/drawing/2014/main" id="{22F6C031-4FF9-45E8-BFBF-D5D6D35E92AF}"/>
              </a:ext>
            </a:extLst>
          </p:cNvPr>
          <p:cNvSpPr/>
          <p:nvPr/>
        </p:nvSpPr>
        <p:spPr>
          <a:xfrm>
            <a:off x="18670482" y="3449991"/>
            <a:ext cx="265845" cy="232578"/>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sp>
        <p:nvSpPr>
          <p:cNvPr id="24" name="Ellipse 23">
            <a:extLst>
              <a:ext uri="{FF2B5EF4-FFF2-40B4-BE49-F238E27FC236}">
                <a16:creationId xmlns:a16="http://schemas.microsoft.com/office/drawing/2014/main" id="{B8922086-960F-4590-BCA2-1589735DF5AA}"/>
              </a:ext>
            </a:extLst>
          </p:cNvPr>
          <p:cNvSpPr/>
          <p:nvPr/>
        </p:nvSpPr>
        <p:spPr>
          <a:xfrm>
            <a:off x="20212412" y="3449991"/>
            <a:ext cx="265845" cy="23257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sp>
        <p:nvSpPr>
          <p:cNvPr id="25" name="Ellipse 24">
            <a:extLst>
              <a:ext uri="{FF2B5EF4-FFF2-40B4-BE49-F238E27FC236}">
                <a16:creationId xmlns:a16="http://schemas.microsoft.com/office/drawing/2014/main" id="{44C2AB49-5F92-4461-88E2-53506238579F}"/>
              </a:ext>
            </a:extLst>
          </p:cNvPr>
          <p:cNvSpPr/>
          <p:nvPr/>
        </p:nvSpPr>
        <p:spPr>
          <a:xfrm>
            <a:off x="22310154" y="3449991"/>
            <a:ext cx="265845" cy="232578"/>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sp>
        <p:nvSpPr>
          <p:cNvPr id="26" name="Rectangle : coins arrondis 25">
            <a:extLst>
              <a:ext uri="{FF2B5EF4-FFF2-40B4-BE49-F238E27FC236}">
                <a16:creationId xmlns:a16="http://schemas.microsoft.com/office/drawing/2014/main" id="{3D096564-5412-44EF-A12B-A5DE93A3BEEC}"/>
              </a:ext>
            </a:extLst>
          </p:cNvPr>
          <p:cNvSpPr/>
          <p:nvPr/>
        </p:nvSpPr>
        <p:spPr>
          <a:xfrm>
            <a:off x="18927900" y="3441449"/>
            <a:ext cx="737128" cy="249662"/>
          </a:xfrm>
          <a:prstGeom prst="roundRect">
            <a:avLst>
              <a:gd name="adj" fmla="val 10040"/>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fr-FR" sz="1600" dirty="0">
                <a:solidFill>
                  <a:srgbClr val="0A4291"/>
                </a:solidFill>
                <a:latin typeface="Segoe UI" panose="020B0502040204020203" pitchFamily="34" charset="0"/>
                <a:cs typeface="Segoe UI" panose="020B0502040204020203" pitchFamily="34" charset="0"/>
              </a:rPr>
              <a:t>fait</a:t>
            </a:r>
          </a:p>
        </p:txBody>
      </p:sp>
      <p:sp>
        <p:nvSpPr>
          <p:cNvPr id="27" name="Rectangle : coins arrondis 26">
            <a:extLst>
              <a:ext uri="{FF2B5EF4-FFF2-40B4-BE49-F238E27FC236}">
                <a16:creationId xmlns:a16="http://schemas.microsoft.com/office/drawing/2014/main" id="{EB82E1F8-93F9-46C7-B079-2872A4FA609A}"/>
              </a:ext>
            </a:extLst>
          </p:cNvPr>
          <p:cNvSpPr/>
          <p:nvPr/>
        </p:nvSpPr>
        <p:spPr>
          <a:xfrm>
            <a:off x="20510808" y="3340854"/>
            <a:ext cx="1102120" cy="450851"/>
          </a:xfrm>
          <a:prstGeom prst="roundRect">
            <a:avLst>
              <a:gd name="adj" fmla="val 10040"/>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fr-FR" sz="1600" dirty="0">
                <a:solidFill>
                  <a:srgbClr val="0A4291"/>
                </a:solidFill>
                <a:latin typeface="Segoe UI" panose="020B0502040204020203" pitchFamily="34" charset="0"/>
                <a:cs typeface="Segoe UI" panose="020B0502040204020203" pitchFamily="34" charset="0"/>
              </a:rPr>
              <a:t>En cours</a:t>
            </a:r>
          </a:p>
        </p:txBody>
      </p:sp>
      <p:sp>
        <p:nvSpPr>
          <p:cNvPr id="28" name="Rectangle : coins arrondis 27">
            <a:extLst>
              <a:ext uri="{FF2B5EF4-FFF2-40B4-BE49-F238E27FC236}">
                <a16:creationId xmlns:a16="http://schemas.microsoft.com/office/drawing/2014/main" id="{322B722D-3C0A-4204-8ED2-89819C381114}"/>
              </a:ext>
            </a:extLst>
          </p:cNvPr>
          <p:cNvSpPr/>
          <p:nvPr/>
        </p:nvSpPr>
        <p:spPr>
          <a:xfrm>
            <a:off x="22575999" y="3381189"/>
            <a:ext cx="1102120" cy="450851"/>
          </a:xfrm>
          <a:prstGeom prst="roundRect">
            <a:avLst>
              <a:gd name="adj" fmla="val 10040"/>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fr-FR" sz="1600" dirty="0">
                <a:solidFill>
                  <a:srgbClr val="0A4291"/>
                </a:solidFill>
                <a:latin typeface="Segoe UI" panose="020B0502040204020203" pitchFamily="34" charset="0"/>
                <a:cs typeface="Segoe UI" panose="020B0502040204020203" pitchFamily="34" charset="0"/>
              </a:rPr>
              <a:t>À faire</a:t>
            </a:r>
          </a:p>
        </p:txBody>
      </p:sp>
      <p:sp>
        <p:nvSpPr>
          <p:cNvPr id="29" name="Ellipse 28">
            <a:extLst>
              <a:ext uri="{FF2B5EF4-FFF2-40B4-BE49-F238E27FC236}">
                <a16:creationId xmlns:a16="http://schemas.microsoft.com/office/drawing/2014/main" id="{EFDB6D13-8718-4D65-9A0F-0E4BD5119519}"/>
              </a:ext>
            </a:extLst>
          </p:cNvPr>
          <p:cNvSpPr/>
          <p:nvPr/>
        </p:nvSpPr>
        <p:spPr>
          <a:xfrm>
            <a:off x="2160915" y="5492635"/>
            <a:ext cx="265845" cy="232578"/>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sp>
        <p:nvSpPr>
          <p:cNvPr id="30" name="Ellipse 29">
            <a:extLst>
              <a:ext uri="{FF2B5EF4-FFF2-40B4-BE49-F238E27FC236}">
                <a16:creationId xmlns:a16="http://schemas.microsoft.com/office/drawing/2014/main" id="{5B7A9D02-AF95-45F9-ADA5-AD7DF9C311D2}"/>
              </a:ext>
            </a:extLst>
          </p:cNvPr>
          <p:cNvSpPr/>
          <p:nvPr/>
        </p:nvSpPr>
        <p:spPr>
          <a:xfrm>
            <a:off x="2178730" y="6126635"/>
            <a:ext cx="265845" cy="23257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sp>
        <p:nvSpPr>
          <p:cNvPr id="31" name="Ellipse 30">
            <a:extLst>
              <a:ext uri="{FF2B5EF4-FFF2-40B4-BE49-F238E27FC236}">
                <a16:creationId xmlns:a16="http://schemas.microsoft.com/office/drawing/2014/main" id="{4528666F-33C0-4433-A903-21E7F9885ADC}"/>
              </a:ext>
            </a:extLst>
          </p:cNvPr>
          <p:cNvSpPr/>
          <p:nvPr/>
        </p:nvSpPr>
        <p:spPr>
          <a:xfrm>
            <a:off x="2178730" y="7342267"/>
            <a:ext cx="265845" cy="23257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sp>
        <p:nvSpPr>
          <p:cNvPr id="32" name="Ellipse 31">
            <a:extLst>
              <a:ext uri="{FF2B5EF4-FFF2-40B4-BE49-F238E27FC236}">
                <a16:creationId xmlns:a16="http://schemas.microsoft.com/office/drawing/2014/main" id="{08B57EE9-E010-4BE4-B2AC-F171555BE761}"/>
              </a:ext>
            </a:extLst>
          </p:cNvPr>
          <p:cNvSpPr/>
          <p:nvPr/>
        </p:nvSpPr>
        <p:spPr>
          <a:xfrm>
            <a:off x="2178730" y="7945731"/>
            <a:ext cx="265845" cy="23257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sp>
        <p:nvSpPr>
          <p:cNvPr id="34" name="Ellipse 33">
            <a:extLst>
              <a:ext uri="{FF2B5EF4-FFF2-40B4-BE49-F238E27FC236}">
                <a16:creationId xmlns:a16="http://schemas.microsoft.com/office/drawing/2014/main" id="{D9EB2F09-4CB5-41BE-AEA2-50EAB74AD286}"/>
              </a:ext>
            </a:extLst>
          </p:cNvPr>
          <p:cNvSpPr/>
          <p:nvPr/>
        </p:nvSpPr>
        <p:spPr>
          <a:xfrm>
            <a:off x="9490853" y="6555644"/>
            <a:ext cx="265845" cy="232578"/>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sp>
        <p:nvSpPr>
          <p:cNvPr id="35" name="Rectangle : coins arrondis 34">
            <a:extLst>
              <a:ext uri="{FF2B5EF4-FFF2-40B4-BE49-F238E27FC236}">
                <a16:creationId xmlns:a16="http://schemas.microsoft.com/office/drawing/2014/main" id="{196D67C5-9547-473F-AED7-09568F7C02E6}"/>
              </a:ext>
            </a:extLst>
          </p:cNvPr>
          <p:cNvSpPr/>
          <p:nvPr/>
        </p:nvSpPr>
        <p:spPr>
          <a:xfrm>
            <a:off x="10098241" y="10861540"/>
            <a:ext cx="4783169" cy="1366316"/>
          </a:xfrm>
          <a:prstGeom prst="roundRect">
            <a:avLst>
              <a:gd name="adj" fmla="val 10040"/>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fr-FR" sz="1800" dirty="0">
                <a:solidFill>
                  <a:srgbClr val="0A4291"/>
                </a:solidFill>
                <a:latin typeface="Segoe UI" panose="020B0502040204020203" pitchFamily="34" charset="0"/>
                <a:cs typeface="Segoe UI" panose="020B0502040204020203" pitchFamily="34" charset="0"/>
              </a:rPr>
              <a:t>Nouveau document à écrire</a:t>
            </a:r>
          </a:p>
        </p:txBody>
      </p:sp>
      <p:sp>
        <p:nvSpPr>
          <p:cNvPr id="36" name="Triangle isocèle 35">
            <a:extLst>
              <a:ext uri="{FF2B5EF4-FFF2-40B4-BE49-F238E27FC236}">
                <a16:creationId xmlns:a16="http://schemas.microsoft.com/office/drawing/2014/main" id="{7AAB55EC-7D7C-410C-B7A9-2165155764E1}"/>
              </a:ext>
            </a:extLst>
          </p:cNvPr>
          <p:cNvSpPr/>
          <p:nvPr/>
        </p:nvSpPr>
        <p:spPr>
          <a:xfrm rot="5400000">
            <a:off x="9167370" y="11419424"/>
            <a:ext cx="975846" cy="325825"/>
          </a:xfrm>
          <a:prstGeom prst="triangle">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sp>
        <p:nvSpPr>
          <p:cNvPr id="37" name="Rectangle : coins arrondis 36">
            <a:extLst>
              <a:ext uri="{FF2B5EF4-FFF2-40B4-BE49-F238E27FC236}">
                <a16:creationId xmlns:a16="http://schemas.microsoft.com/office/drawing/2014/main" id="{C00A747B-FE59-4B3D-97F7-44FB27DFA5C2}"/>
              </a:ext>
            </a:extLst>
          </p:cNvPr>
          <p:cNvSpPr/>
          <p:nvPr/>
        </p:nvSpPr>
        <p:spPr>
          <a:xfrm>
            <a:off x="17503088" y="10798516"/>
            <a:ext cx="4783169" cy="1429340"/>
          </a:xfrm>
          <a:prstGeom prst="roundRect">
            <a:avLst>
              <a:gd name="adj" fmla="val 10040"/>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fr-FR" sz="1800" dirty="0">
                <a:solidFill>
                  <a:srgbClr val="0A4291"/>
                </a:solidFill>
                <a:latin typeface="Segoe UI" panose="020B0502040204020203" pitchFamily="34" charset="0"/>
                <a:cs typeface="Segoe UI" panose="020B0502040204020203" pitchFamily="34" charset="0"/>
              </a:rPr>
              <a:t>Nouveau document à écrire</a:t>
            </a:r>
          </a:p>
        </p:txBody>
      </p:sp>
      <p:sp>
        <p:nvSpPr>
          <p:cNvPr id="38" name="Triangle isocèle 37">
            <a:extLst>
              <a:ext uri="{FF2B5EF4-FFF2-40B4-BE49-F238E27FC236}">
                <a16:creationId xmlns:a16="http://schemas.microsoft.com/office/drawing/2014/main" id="{6458D6F4-2A41-4921-8ECF-9E115B535544}"/>
              </a:ext>
            </a:extLst>
          </p:cNvPr>
          <p:cNvSpPr/>
          <p:nvPr/>
        </p:nvSpPr>
        <p:spPr>
          <a:xfrm rot="5400000">
            <a:off x="16572217" y="11419424"/>
            <a:ext cx="975846" cy="325825"/>
          </a:xfrm>
          <a:prstGeom prst="triangle">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sp>
        <p:nvSpPr>
          <p:cNvPr id="40" name="Ellipse 39">
            <a:extLst>
              <a:ext uri="{FF2B5EF4-FFF2-40B4-BE49-F238E27FC236}">
                <a16:creationId xmlns:a16="http://schemas.microsoft.com/office/drawing/2014/main" id="{179A52F0-3B78-42F4-B522-8A22B9865DBA}"/>
              </a:ext>
            </a:extLst>
          </p:cNvPr>
          <p:cNvSpPr/>
          <p:nvPr/>
        </p:nvSpPr>
        <p:spPr>
          <a:xfrm>
            <a:off x="16794295" y="6868022"/>
            <a:ext cx="265845" cy="232578"/>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pic>
        <p:nvPicPr>
          <p:cNvPr id="20" name="Image 19">
            <a:extLst>
              <a:ext uri="{FF2B5EF4-FFF2-40B4-BE49-F238E27FC236}">
                <a16:creationId xmlns:a16="http://schemas.microsoft.com/office/drawing/2014/main" id="{5E095D3E-3ECA-44DD-828F-C980B40E52E4}"/>
              </a:ext>
            </a:extLst>
          </p:cNvPr>
          <p:cNvPicPr>
            <a:picLocks noChangeAspect="1"/>
          </p:cNvPicPr>
          <p:nvPr/>
        </p:nvPicPr>
        <p:blipFill>
          <a:blip r:embed="rId3"/>
          <a:stretch>
            <a:fillRect/>
          </a:stretch>
        </p:blipFill>
        <p:spPr>
          <a:xfrm>
            <a:off x="2999591" y="9180341"/>
            <a:ext cx="3559476" cy="1932583"/>
          </a:xfrm>
          <a:prstGeom prst="rect">
            <a:avLst/>
          </a:prstGeom>
        </p:spPr>
      </p:pic>
      <p:sp>
        <p:nvSpPr>
          <p:cNvPr id="41" name="Rectangle : coins arrondis 40">
            <a:extLst>
              <a:ext uri="{FF2B5EF4-FFF2-40B4-BE49-F238E27FC236}">
                <a16:creationId xmlns:a16="http://schemas.microsoft.com/office/drawing/2014/main" id="{6D3FF90E-AE68-493D-8764-6874D343CFE9}"/>
              </a:ext>
            </a:extLst>
          </p:cNvPr>
          <p:cNvSpPr/>
          <p:nvPr/>
        </p:nvSpPr>
        <p:spPr>
          <a:xfrm>
            <a:off x="7135435" y="2854460"/>
            <a:ext cx="4460514" cy="875819"/>
          </a:xfrm>
          <a:prstGeom prst="roundRect">
            <a:avLst>
              <a:gd name="adj" fmla="val 14274"/>
            </a:avLst>
          </a:prstGeom>
          <a:solidFill>
            <a:srgbClr val="082447"/>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fr-FR" sz="2000" b="1" dirty="0">
                <a:solidFill>
                  <a:prstClr val="white"/>
                </a:solidFill>
                <a:latin typeface="Segoe UI" panose="020B0502040204020203" pitchFamily="34" charset="0"/>
                <a:cs typeface="Segoe UI" panose="020B0502040204020203" pitchFamily="34" charset="0"/>
              </a:rPr>
              <a:t>NIVEAU 0</a:t>
            </a:r>
            <a:endParaRPr lang="fr-FR" sz="2000" b="1" dirty="0">
              <a:solidFill>
                <a:srgbClr val="ED7D31"/>
              </a:solidFill>
              <a:latin typeface="Segoe UI" panose="020B0502040204020203" pitchFamily="34" charset="0"/>
              <a:cs typeface="Segoe UI" panose="020B0502040204020203" pitchFamily="34" charset="0"/>
            </a:endParaRPr>
          </a:p>
        </p:txBody>
      </p:sp>
      <p:sp>
        <p:nvSpPr>
          <p:cNvPr id="42" name="Rectangle : coins arrondis 41">
            <a:extLst>
              <a:ext uri="{FF2B5EF4-FFF2-40B4-BE49-F238E27FC236}">
                <a16:creationId xmlns:a16="http://schemas.microsoft.com/office/drawing/2014/main" id="{44BAC8CB-28D1-4457-8B13-E6CEB84C019F}"/>
              </a:ext>
            </a:extLst>
          </p:cNvPr>
          <p:cNvSpPr/>
          <p:nvPr/>
        </p:nvSpPr>
        <p:spPr>
          <a:xfrm>
            <a:off x="11011932" y="2823751"/>
            <a:ext cx="5670143" cy="949670"/>
          </a:xfrm>
          <a:prstGeom prst="roundRect">
            <a:avLst>
              <a:gd name="adj" fmla="val 4289"/>
            </a:avLst>
          </a:prstGeom>
          <a:solidFill>
            <a:srgbClr val="F1F1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sz="1000" dirty="0">
              <a:solidFill>
                <a:prstClr val="white"/>
              </a:solidFill>
              <a:latin typeface="Segoe UI" panose="020B0502040204020203" pitchFamily="34" charset="0"/>
              <a:cs typeface="Segoe UI" panose="020B0502040204020203" pitchFamily="34" charset="0"/>
            </a:endParaRPr>
          </a:p>
        </p:txBody>
      </p:sp>
      <p:sp>
        <p:nvSpPr>
          <p:cNvPr id="43" name="Rectangle : coins arrondis 42">
            <a:extLst>
              <a:ext uri="{FF2B5EF4-FFF2-40B4-BE49-F238E27FC236}">
                <a16:creationId xmlns:a16="http://schemas.microsoft.com/office/drawing/2014/main" id="{7A65D1D8-7FA6-47EA-9717-9BCF1FE5B99D}"/>
              </a:ext>
            </a:extLst>
          </p:cNvPr>
          <p:cNvSpPr/>
          <p:nvPr/>
        </p:nvSpPr>
        <p:spPr>
          <a:xfrm>
            <a:off x="11180632" y="2944150"/>
            <a:ext cx="5389030" cy="676312"/>
          </a:xfrm>
          <a:prstGeom prst="roundRect">
            <a:avLst>
              <a:gd name="adj" fmla="val 10040"/>
            </a:avLst>
          </a:prstGeom>
          <a:solidFill>
            <a:schemeClr val="bg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defRPr/>
            </a:pPr>
            <a:r>
              <a:rPr lang="fr-FR" sz="2000" dirty="0">
                <a:solidFill>
                  <a:srgbClr val="0A4291"/>
                </a:solidFill>
                <a:latin typeface="Segoe UI" panose="020B0502040204020203" pitchFamily="34" charset="0"/>
                <a:cs typeface="Segoe UI" panose="020B0502040204020203" pitchFamily="34" charset="0"/>
              </a:rPr>
              <a:t>Chaine de valeur avec </a:t>
            </a:r>
            <a:r>
              <a:rPr lang="fr-FR" sz="2000" b="1" dirty="0">
                <a:solidFill>
                  <a:schemeClr val="accent6"/>
                </a:solidFill>
                <a:latin typeface="Segoe UI" panose="020B0502040204020203" pitchFamily="34" charset="0"/>
                <a:cs typeface="Segoe UI" panose="020B0502040204020203" pitchFamily="34" charset="0"/>
              </a:rPr>
              <a:t>services du catalogue de niveau 0</a:t>
            </a:r>
          </a:p>
        </p:txBody>
      </p:sp>
      <p:sp>
        <p:nvSpPr>
          <p:cNvPr id="44" name="Étoile : 5 branches 43">
            <a:extLst>
              <a:ext uri="{FF2B5EF4-FFF2-40B4-BE49-F238E27FC236}">
                <a16:creationId xmlns:a16="http://schemas.microsoft.com/office/drawing/2014/main" id="{11D580CC-EC68-4992-ABBF-A29871E4ADB8}"/>
              </a:ext>
            </a:extLst>
          </p:cNvPr>
          <p:cNvSpPr/>
          <p:nvPr/>
        </p:nvSpPr>
        <p:spPr>
          <a:xfrm>
            <a:off x="2842908" y="4217801"/>
            <a:ext cx="671120" cy="598736"/>
          </a:xfrm>
          <a:prstGeom prst="star5">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sp>
        <p:nvSpPr>
          <p:cNvPr id="45" name="Étoile : 5 branches 44">
            <a:extLst>
              <a:ext uri="{FF2B5EF4-FFF2-40B4-BE49-F238E27FC236}">
                <a16:creationId xmlns:a16="http://schemas.microsoft.com/office/drawing/2014/main" id="{C5204C48-F5FF-40E1-A36A-9757E27BE650}"/>
              </a:ext>
            </a:extLst>
          </p:cNvPr>
          <p:cNvSpPr/>
          <p:nvPr/>
        </p:nvSpPr>
        <p:spPr>
          <a:xfrm>
            <a:off x="19212276" y="2589066"/>
            <a:ext cx="631449" cy="559535"/>
          </a:xfrm>
          <a:prstGeom prst="star5">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sp>
        <p:nvSpPr>
          <p:cNvPr id="46" name="Rectangle : coins arrondis 45">
            <a:extLst>
              <a:ext uri="{FF2B5EF4-FFF2-40B4-BE49-F238E27FC236}">
                <a16:creationId xmlns:a16="http://schemas.microsoft.com/office/drawing/2014/main" id="{45CE920E-B3E7-42F3-B2BC-7BD25C900B86}"/>
              </a:ext>
            </a:extLst>
          </p:cNvPr>
          <p:cNvSpPr/>
          <p:nvPr/>
        </p:nvSpPr>
        <p:spPr>
          <a:xfrm>
            <a:off x="19896347" y="2670601"/>
            <a:ext cx="3230712" cy="450851"/>
          </a:xfrm>
          <a:prstGeom prst="roundRect">
            <a:avLst>
              <a:gd name="adj" fmla="val 10040"/>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fr-FR" sz="1600" dirty="0">
                <a:solidFill>
                  <a:srgbClr val="0A4291"/>
                </a:solidFill>
                <a:latin typeface="Segoe UI" panose="020B0502040204020203" pitchFamily="34" charset="0"/>
                <a:cs typeface="Segoe UI" panose="020B0502040204020203" pitchFamily="34" charset="0"/>
              </a:rPr>
              <a:t>Périmètre pour les sessions de sensibilisation trimestrielles aux nouveaux arrivants</a:t>
            </a:r>
          </a:p>
        </p:txBody>
      </p:sp>
      <p:sp>
        <p:nvSpPr>
          <p:cNvPr id="47" name="Ellipse 46">
            <a:extLst>
              <a:ext uri="{FF2B5EF4-FFF2-40B4-BE49-F238E27FC236}">
                <a16:creationId xmlns:a16="http://schemas.microsoft.com/office/drawing/2014/main" id="{2088602B-DF78-4A0D-BD2C-001E281E5B8B}"/>
              </a:ext>
            </a:extLst>
          </p:cNvPr>
          <p:cNvSpPr/>
          <p:nvPr/>
        </p:nvSpPr>
        <p:spPr>
          <a:xfrm>
            <a:off x="9479805" y="7476517"/>
            <a:ext cx="265845" cy="232578"/>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sp>
        <p:nvSpPr>
          <p:cNvPr id="51" name="Ellipse 50">
            <a:extLst>
              <a:ext uri="{FF2B5EF4-FFF2-40B4-BE49-F238E27FC236}">
                <a16:creationId xmlns:a16="http://schemas.microsoft.com/office/drawing/2014/main" id="{7E533BC7-062B-4886-BCBC-69F8AF8B65EE}"/>
              </a:ext>
            </a:extLst>
          </p:cNvPr>
          <p:cNvSpPr/>
          <p:nvPr/>
        </p:nvSpPr>
        <p:spPr>
          <a:xfrm>
            <a:off x="11228317" y="3099539"/>
            <a:ext cx="265845" cy="232578"/>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sp>
        <p:nvSpPr>
          <p:cNvPr id="4" name="Organigramme : Bande perforée 3">
            <a:extLst>
              <a:ext uri="{FF2B5EF4-FFF2-40B4-BE49-F238E27FC236}">
                <a16:creationId xmlns:a16="http://schemas.microsoft.com/office/drawing/2014/main" id="{8AB60F8C-15C9-47DE-97BF-F8BBA6BAFB31}"/>
              </a:ext>
            </a:extLst>
          </p:cNvPr>
          <p:cNvSpPr/>
          <p:nvPr/>
        </p:nvSpPr>
        <p:spPr>
          <a:xfrm>
            <a:off x="10415750" y="9830207"/>
            <a:ext cx="3137648" cy="1157725"/>
          </a:xfrm>
          <a:prstGeom prst="flowChartPunchedTape">
            <a:avLst/>
          </a:prstGeom>
          <a:solidFill>
            <a:schemeClr val="accent4"/>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rgbClr val="002060"/>
                </a:solidFill>
                <a:latin typeface="Segoe UI" panose="020B0502040204020203" pitchFamily="34" charset="0"/>
                <a:cs typeface="Segoe UI" panose="020B0502040204020203" pitchFamily="34" charset="0"/>
              </a:rPr>
              <a:t>Périmètre du cadrage</a:t>
            </a:r>
          </a:p>
        </p:txBody>
      </p:sp>
      <p:sp>
        <p:nvSpPr>
          <p:cNvPr id="48" name="Organigramme : Bande perforée 47">
            <a:extLst>
              <a:ext uri="{FF2B5EF4-FFF2-40B4-BE49-F238E27FC236}">
                <a16:creationId xmlns:a16="http://schemas.microsoft.com/office/drawing/2014/main" id="{C47CCF10-302E-4165-8E99-20575A3E4ABC}"/>
              </a:ext>
            </a:extLst>
          </p:cNvPr>
          <p:cNvSpPr/>
          <p:nvPr/>
        </p:nvSpPr>
        <p:spPr>
          <a:xfrm>
            <a:off x="17784738" y="9830207"/>
            <a:ext cx="3137648" cy="1157725"/>
          </a:xfrm>
          <a:prstGeom prst="flowChartPunchedTape">
            <a:avLst/>
          </a:prstGeom>
          <a:solidFill>
            <a:schemeClr val="accent4"/>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rgbClr val="002060"/>
                </a:solidFill>
                <a:latin typeface="Segoe UI" panose="020B0502040204020203" pitchFamily="34" charset="0"/>
                <a:cs typeface="Segoe UI" panose="020B0502040204020203" pitchFamily="34" charset="0"/>
              </a:rPr>
              <a:t>Périmètre du cadrage</a:t>
            </a:r>
          </a:p>
        </p:txBody>
      </p:sp>
      <p:sp>
        <p:nvSpPr>
          <p:cNvPr id="49" name="Espace réservé du texte 5">
            <a:extLst>
              <a:ext uri="{FF2B5EF4-FFF2-40B4-BE49-F238E27FC236}">
                <a16:creationId xmlns:a16="http://schemas.microsoft.com/office/drawing/2014/main" id="{2070844D-FCE2-4B7A-8C7E-A87327599C2C}"/>
              </a:ext>
            </a:extLst>
          </p:cNvPr>
          <p:cNvSpPr txBox="1">
            <a:spLocks/>
          </p:cNvSpPr>
          <p:nvPr/>
        </p:nvSpPr>
        <p:spPr>
          <a:xfrm>
            <a:off x="1643063" y="1737805"/>
            <a:ext cx="22063075" cy="705913"/>
          </a:xfrm>
          <a:prstGeom prst="rect">
            <a:avLst/>
          </a:prstGeom>
        </p:spPr>
        <p:txBody>
          <a:bodyPr/>
          <a:lstStyle>
            <a:lvl1pPr marL="0" indent="0" algn="l" defTabSz="1828800" rtl="0" eaLnBrk="1" latinLnBrk="0" hangingPunct="1">
              <a:lnSpc>
                <a:spcPct val="100000"/>
              </a:lnSpc>
              <a:spcBef>
                <a:spcPts val="0"/>
              </a:spcBef>
              <a:buFont typeface="Arial" panose="020B0604020202020204" pitchFamily="34" charset="0"/>
              <a:buNone/>
              <a:defRPr lang="fr-FR" sz="4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vl2pPr marL="457200" indent="-457200" algn="l" defTabSz="1828800" rtl="0" eaLnBrk="1" latinLnBrk="0" hangingPunct="1">
              <a:lnSpc>
                <a:spcPct val="100000"/>
              </a:lnSpc>
              <a:spcBef>
                <a:spcPts val="0"/>
              </a:spcBef>
              <a:buClr>
                <a:srgbClr val="E7473D"/>
              </a:buClr>
              <a:buFont typeface="Wingdings 3" panose="05040102010807070707" pitchFamily="18" charset="2"/>
              <a:buChar char=""/>
              <a:defRPr lang="fr-FR" sz="3200" kern="1200" dirty="0" smtClean="0">
                <a:solidFill>
                  <a:srgbClr val="285C99"/>
                </a:solidFill>
                <a:latin typeface="Segoe UI" panose="020B0502040204020203" pitchFamily="34" charset="0"/>
                <a:ea typeface="+mn-ea"/>
                <a:cs typeface="Segoe UI" panose="020B0502040204020203" pitchFamily="34" charset="0"/>
              </a:defRPr>
            </a:lvl2pPr>
            <a:lvl3pPr marL="896938" indent="-457200" algn="l" defTabSz="1828800" rtl="0" eaLnBrk="1" latinLnBrk="0" hangingPunct="1">
              <a:lnSpc>
                <a:spcPct val="100000"/>
              </a:lnSpc>
              <a:spcBef>
                <a:spcPts val="0"/>
              </a:spcBef>
              <a:buClr>
                <a:srgbClr val="003A8D"/>
              </a:buClr>
              <a:buFont typeface="Wingdings 3" panose="05040102010807070707" pitchFamily="18" charset="2"/>
              <a:buChar char="}"/>
              <a:defRPr lang="fr-FR" sz="2400" kern="1200" dirty="0" smtClean="0">
                <a:solidFill>
                  <a:schemeClr val="bg2">
                    <a:lumMod val="25000"/>
                  </a:schemeClr>
                </a:solidFill>
                <a:latin typeface="Segoe UI" panose="020B0502040204020203" pitchFamily="34" charset="0"/>
                <a:ea typeface="+mn-ea"/>
                <a:cs typeface="Segoe UI" panose="020B0502040204020203" pitchFamily="34" charset="0"/>
              </a:defRPr>
            </a:lvl3pPr>
            <a:lvl4pPr marL="1524000" indent="-541338" algn="l" defTabSz="1828800" rtl="0" eaLnBrk="1" latinLnBrk="0" hangingPunct="1">
              <a:lnSpc>
                <a:spcPct val="100000"/>
              </a:lnSpc>
              <a:spcBef>
                <a:spcPts val="0"/>
              </a:spcBef>
              <a:buClr>
                <a:srgbClr val="E7473D"/>
              </a:buClr>
              <a:buFont typeface="Wingdings 3" panose="05040102010807070707" pitchFamily="18" charset="2"/>
              <a:buChar char="}"/>
              <a:defRPr lang="fr-FR" sz="2000" kern="1200" dirty="0" smtClean="0">
                <a:solidFill>
                  <a:schemeClr val="bg2">
                    <a:lumMod val="25000"/>
                  </a:schemeClr>
                </a:solidFill>
                <a:latin typeface="Segoe UI" panose="020B0502040204020203" pitchFamily="34" charset="0"/>
                <a:ea typeface="+mn-ea"/>
                <a:cs typeface="Segoe UI" panose="020B0502040204020203" pitchFamily="34" charset="0"/>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fr-FR" dirty="0"/>
              <a:t>Les besoins des niveaux 2 et 3 sont à définir</a:t>
            </a:r>
          </a:p>
        </p:txBody>
      </p:sp>
      <p:sp>
        <p:nvSpPr>
          <p:cNvPr id="50" name="Étoile : 5 branches 49">
            <a:extLst>
              <a:ext uri="{FF2B5EF4-FFF2-40B4-BE49-F238E27FC236}">
                <a16:creationId xmlns:a16="http://schemas.microsoft.com/office/drawing/2014/main" id="{A02BD826-3520-466C-AF97-812200C2092E}"/>
              </a:ext>
            </a:extLst>
          </p:cNvPr>
          <p:cNvSpPr/>
          <p:nvPr/>
        </p:nvSpPr>
        <p:spPr>
          <a:xfrm>
            <a:off x="7422929" y="3012601"/>
            <a:ext cx="631449" cy="559535"/>
          </a:xfrm>
          <a:prstGeom prst="star5">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sp>
        <p:nvSpPr>
          <p:cNvPr id="53" name="Rectangle : coins arrondis 52">
            <a:extLst>
              <a:ext uri="{FF2B5EF4-FFF2-40B4-BE49-F238E27FC236}">
                <a16:creationId xmlns:a16="http://schemas.microsoft.com/office/drawing/2014/main" id="{44C8348E-C448-48C8-B8DA-5CD77CE11D1D}"/>
              </a:ext>
            </a:extLst>
          </p:cNvPr>
          <p:cNvSpPr/>
          <p:nvPr/>
        </p:nvSpPr>
        <p:spPr>
          <a:xfrm>
            <a:off x="18049672" y="2109184"/>
            <a:ext cx="3230712" cy="450851"/>
          </a:xfrm>
          <a:prstGeom prst="roundRect">
            <a:avLst>
              <a:gd name="adj" fmla="val 10040"/>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fr-FR" sz="1600" b="1" u="sng" dirty="0">
                <a:solidFill>
                  <a:srgbClr val="0A4291"/>
                </a:solidFill>
                <a:latin typeface="Segoe UI" panose="020B0502040204020203" pitchFamily="34" charset="0"/>
                <a:cs typeface="Segoe UI" panose="020B0502040204020203" pitchFamily="34" charset="0"/>
              </a:rPr>
              <a:t>Légende : </a:t>
            </a:r>
          </a:p>
        </p:txBody>
      </p:sp>
    </p:spTree>
    <p:extLst>
      <p:ext uri="{BB962C8B-B14F-4D97-AF65-F5344CB8AC3E}">
        <p14:creationId xmlns:p14="http://schemas.microsoft.com/office/powerpoint/2010/main" val="28797646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7DE27A1-F33D-4D57-A211-472D4AD617C5}"/>
              </a:ext>
            </a:extLst>
          </p:cNvPr>
          <p:cNvSpPr>
            <a:spLocks noGrp="1"/>
          </p:cNvSpPr>
          <p:nvPr>
            <p:ph type="title"/>
          </p:nvPr>
        </p:nvSpPr>
        <p:spPr/>
        <p:txBody>
          <a:bodyPr>
            <a:normAutofit fontScale="90000"/>
          </a:bodyPr>
          <a:lstStyle/>
          <a:p>
            <a:r>
              <a:rPr lang="fr-FR" dirty="0"/>
              <a:t>Entretiens avec les </a:t>
            </a:r>
            <a:r>
              <a:rPr lang="fr-FR" dirty="0" err="1"/>
              <a:t>REs</a:t>
            </a:r>
            <a:r>
              <a:rPr lang="fr-FR" dirty="0"/>
              <a:t> pendant l’été pour cadrer les besoins des niveaux 2 et 3</a:t>
            </a:r>
            <a:br>
              <a:rPr lang="fr-FR" dirty="0"/>
            </a:br>
            <a:endParaRPr lang="fr-FR" dirty="0"/>
          </a:p>
        </p:txBody>
      </p:sp>
      <p:sp>
        <p:nvSpPr>
          <p:cNvPr id="4" name="Espace réservé du numéro de diapositive 3">
            <a:extLst>
              <a:ext uri="{FF2B5EF4-FFF2-40B4-BE49-F238E27FC236}">
                <a16:creationId xmlns:a16="http://schemas.microsoft.com/office/drawing/2014/main" id="{A1C0E551-0F5A-4C88-B2CD-81A95FEEEC73}"/>
              </a:ext>
            </a:extLst>
          </p:cNvPr>
          <p:cNvSpPr>
            <a:spLocks noGrp="1"/>
          </p:cNvSpPr>
          <p:nvPr>
            <p:ph type="sldNum" sz="quarter" idx="12"/>
          </p:nvPr>
        </p:nvSpPr>
        <p:spPr/>
        <p:txBody>
          <a:bodyPr/>
          <a:lstStyle/>
          <a:p>
            <a:fld id="{3EE1DE5A-27D4-4895-8E04-340D57AD09FB}" type="slidenum">
              <a:rPr lang="fr-FR" smtClean="0"/>
              <a:pPr/>
              <a:t>3</a:t>
            </a:fld>
            <a:endParaRPr lang="fr-FR"/>
          </a:p>
        </p:txBody>
      </p:sp>
      <p:pic>
        <p:nvPicPr>
          <p:cNvPr id="13" name="Image 12">
            <a:extLst>
              <a:ext uri="{FF2B5EF4-FFF2-40B4-BE49-F238E27FC236}">
                <a16:creationId xmlns:a16="http://schemas.microsoft.com/office/drawing/2014/main" id="{8A59E61A-C674-4EAB-8E2D-0B98808E9A22}"/>
              </a:ext>
            </a:extLst>
          </p:cNvPr>
          <p:cNvPicPr>
            <a:picLocks noChangeAspect="1"/>
          </p:cNvPicPr>
          <p:nvPr/>
        </p:nvPicPr>
        <p:blipFill rotWithShape="1">
          <a:blip r:embed="rId2"/>
          <a:srcRect t="1" r="87286" b="-5046"/>
          <a:stretch/>
        </p:blipFill>
        <p:spPr>
          <a:xfrm>
            <a:off x="2490781" y="2855650"/>
            <a:ext cx="3633557" cy="1610684"/>
          </a:xfrm>
          <a:prstGeom prst="rect">
            <a:avLst/>
          </a:prstGeom>
          <a:ln>
            <a:solidFill>
              <a:schemeClr val="tx1"/>
            </a:solidFill>
          </a:ln>
        </p:spPr>
      </p:pic>
      <p:pic>
        <p:nvPicPr>
          <p:cNvPr id="14" name="Image 13">
            <a:extLst>
              <a:ext uri="{FF2B5EF4-FFF2-40B4-BE49-F238E27FC236}">
                <a16:creationId xmlns:a16="http://schemas.microsoft.com/office/drawing/2014/main" id="{A5884E2E-F186-48CB-9770-F3F3184C5D90}"/>
              </a:ext>
            </a:extLst>
          </p:cNvPr>
          <p:cNvPicPr>
            <a:picLocks noChangeAspect="1"/>
          </p:cNvPicPr>
          <p:nvPr/>
        </p:nvPicPr>
        <p:blipFill rotWithShape="1">
          <a:blip r:embed="rId2"/>
          <a:srcRect l="14882" r="72405" b="-5046"/>
          <a:stretch/>
        </p:blipFill>
        <p:spPr>
          <a:xfrm>
            <a:off x="2490782" y="4484613"/>
            <a:ext cx="3633556" cy="1610683"/>
          </a:xfrm>
          <a:prstGeom prst="rect">
            <a:avLst/>
          </a:prstGeom>
          <a:ln>
            <a:solidFill>
              <a:schemeClr val="tx1"/>
            </a:solidFill>
          </a:ln>
        </p:spPr>
      </p:pic>
      <p:pic>
        <p:nvPicPr>
          <p:cNvPr id="15" name="Image 14">
            <a:extLst>
              <a:ext uri="{FF2B5EF4-FFF2-40B4-BE49-F238E27FC236}">
                <a16:creationId xmlns:a16="http://schemas.microsoft.com/office/drawing/2014/main" id="{D5194555-2045-428A-9729-AF1D2CF14509}"/>
              </a:ext>
            </a:extLst>
          </p:cNvPr>
          <p:cNvPicPr>
            <a:picLocks noChangeAspect="1"/>
          </p:cNvPicPr>
          <p:nvPr/>
        </p:nvPicPr>
        <p:blipFill rotWithShape="1">
          <a:blip r:embed="rId2"/>
          <a:srcRect l="33442" t="1" r="53844" b="-5046"/>
          <a:stretch/>
        </p:blipFill>
        <p:spPr>
          <a:xfrm>
            <a:off x="2490781" y="6113575"/>
            <a:ext cx="3633557" cy="1610684"/>
          </a:xfrm>
          <a:prstGeom prst="rect">
            <a:avLst/>
          </a:prstGeom>
          <a:ln>
            <a:solidFill>
              <a:schemeClr val="tx1"/>
            </a:solidFill>
          </a:ln>
        </p:spPr>
      </p:pic>
      <p:pic>
        <p:nvPicPr>
          <p:cNvPr id="16" name="Image 15">
            <a:extLst>
              <a:ext uri="{FF2B5EF4-FFF2-40B4-BE49-F238E27FC236}">
                <a16:creationId xmlns:a16="http://schemas.microsoft.com/office/drawing/2014/main" id="{4CC282D3-935A-4848-9912-E67DC218754B}"/>
              </a:ext>
            </a:extLst>
          </p:cNvPr>
          <p:cNvPicPr>
            <a:picLocks noChangeAspect="1"/>
          </p:cNvPicPr>
          <p:nvPr/>
        </p:nvPicPr>
        <p:blipFill rotWithShape="1">
          <a:blip r:embed="rId2"/>
          <a:srcRect l="55135" r="32152"/>
          <a:stretch/>
        </p:blipFill>
        <p:spPr>
          <a:xfrm>
            <a:off x="2490782" y="7742538"/>
            <a:ext cx="3597058" cy="1517919"/>
          </a:xfrm>
          <a:prstGeom prst="rect">
            <a:avLst/>
          </a:prstGeom>
          <a:ln>
            <a:solidFill>
              <a:schemeClr val="tx1"/>
            </a:solidFill>
          </a:ln>
        </p:spPr>
      </p:pic>
      <p:pic>
        <p:nvPicPr>
          <p:cNvPr id="17" name="Image 16">
            <a:extLst>
              <a:ext uri="{FF2B5EF4-FFF2-40B4-BE49-F238E27FC236}">
                <a16:creationId xmlns:a16="http://schemas.microsoft.com/office/drawing/2014/main" id="{8DDD412D-6538-4191-9B4B-5AA660ADBE71}"/>
              </a:ext>
            </a:extLst>
          </p:cNvPr>
          <p:cNvPicPr>
            <a:picLocks noChangeAspect="1"/>
          </p:cNvPicPr>
          <p:nvPr/>
        </p:nvPicPr>
        <p:blipFill rotWithShape="1">
          <a:blip r:embed="rId2"/>
          <a:srcRect l="67291" r="19995"/>
          <a:stretch/>
        </p:blipFill>
        <p:spPr>
          <a:xfrm>
            <a:off x="2490782" y="10979524"/>
            <a:ext cx="3597058" cy="1517919"/>
          </a:xfrm>
          <a:prstGeom prst="rect">
            <a:avLst/>
          </a:prstGeom>
          <a:ln>
            <a:solidFill>
              <a:schemeClr val="tx1"/>
            </a:solidFill>
          </a:ln>
        </p:spPr>
      </p:pic>
      <p:pic>
        <p:nvPicPr>
          <p:cNvPr id="18" name="Image 17">
            <a:extLst>
              <a:ext uri="{FF2B5EF4-FFF2-40B4-BE49-F238E27FC236}">
                <a16:creationId xmlns:a16="http://schemas.microsoft.com/office/drawing/2014/main" id="{5A1D04C3-3882-4CF3-B0A4-999F5FB4A686}"/>
              </a:ext>
            </a:extLst>
          </p:cNvPr>
          <p:cNvPicPr>
            <a:picLocks noChangeAspect="1"/>
          </p:cNvPicPr>
          <p:nvPr/>
        </p:nvPicPr>
        <p:blipFill rotWithShape="1">
          <a:blip r:embed="rId2"/>
          <a:srcRect l="83677" r="3610"/>
          <a:stretch/>
        </p:blipFill>
        <p:spPr>
          <a:xfrm>
            <a:off x="2490782" y="9370176"/>
            <a:ext cx="3597057" cy="1517919"/>
          </a:xfrm>
          <a:prstGeom prst="rect">
            <a:avLst/>
          </a:prstGeom>
          <a:ln>
            <a:solidFill>
              <a:schemeClr val="tx1"/>
            </a:solidFill>
          </a:ln>
        </p:spPr>
      </p:pic>
      <p:graphicFrame>
        <p:nvGraphicFramePr>
          <p:cNvPr id="21" name="Tableau 20">
            <a:extLst>
              <a:ext uri="{FF2B5EF4-FFF2-40B4-BE49-F238E27FC236}">
                <a16:creationId xmlns:a16="http://schemas.microsoft.com/office/drawing/2014/main" id="{C3EA5453-5884-4555-921C-82F3CACF93CE}"/>
              </a:ext>
            </a:extLst>
          </p:cNvPr>
          <p:cNvGraphicFramePr>
            <a:graphicFrameLocks noGrp="1"/>
          </p:cNvGraphicFramePr>
          <p:nvPr>
            <p:extLst>
              <p:ext uri="{D42A27DB-BD31-4B8C-83A1-F6EECF244321}">
                <p14:modId xmlns:p14="http://schemas.microsoft.com/office/powerpoint/2010/main" val="2674867213"/>
              </p:ext>
            </p:extLst>
          </p:nvPr>
        </p:nvGraphicFramePr>
        <p:xfrm>
          <a:off x="8031225" y="3349542"/>
          <a:ext cx="14431720" cy="9113520"/>
        </p:xfrm>
        <a:graphic>
          <a:graphicData uri="http://schemas.openxmlformats.org/drawingml/2006/table">
            <a:tbl>
              <a:tblPr/>
              <a:tblGrid>
                <a:gridCol w="1459387">
                  <a:extLst>
                    <a:ext uri="{9D8B030D-6E8A-4147-A177-3AD203B41FA5}">
                      <a16:colId xmlns:a16="http://schemas.microsoft.com/office/drawing/2014/main" val="702200002"/>
                    </a:ext>
                  </a:extLst>
                </a:gridCol>
                <a:gridCol w="12972333">
                  <a:extLst>
                    <a:ext uri="{9D8B030D-6E8A-4147-A177-3AD203B41FA5}">
                      <a16:colId xmlns:a16="http://schemas.microsoft.com/office/drawing/2014/main" val="1181502429"/>
                    </a:ext>
                  </a:extLst>
                </a:gridCol>
              </a:tblGrid>
              <a:tr h="190500">
                <a:tc gridSpan="2">
                  <a:txBody>
                    <a:bodyPr/>
                    <a:lstStyle/>
                    <a:p>
                      <a:pPr algn="l" fontAlgn="ctr"/>
                      <a:r>
                        <a:rPr lang="fr-FR" sz="2800" b="1" i="0" u="none" strike="noStrike" dirty="0">
                          <a:solidFill>
                            <a:srgbClr val="000000"/>
                          </a:solidFill>
                          <a:effectLst/>
                          <a:latin typeface="Calibri" panose="020F0502020204030204" pitchFamily="34" charset="0"/>
                        </a:rPr>
                        <a:t>Niveau 2 : vue statique</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solidFill>
                      <a:srgbClr val="C6E0B4"/>
                    </a:solidFill>
                  </a:tcPr>
                </a:tc>
                <a:tc hMerge="1">
                  <a:txBody>
                    <a:bodyPr/>
                    <a:lstStyle/>
                    <a:p>
                      <a:endParaRPr lang="fr-FR"/>
                    </a:p>
                  </a:txBody>
                  <a:tcPr/>
                </a:tc>
                <a:extLst>
                  <a:ext uri="{0D108BD9-81ED-4DB2-BD59-A6C34878D82A}">
                    <a16:rowId xmlns:a16="http://schemas.microsoft.com/office/drawing/2014/main" val="3395452488"/>
                  </a:ext>
                </a:extLst>
              </a:tr>
              <a:tr h="571500">
                <a:tc>
                  <a:txBody>
                    <a:bodyPr/>
                    <a:lstStyle/>
                    <a:p>
                      <a:pPr algn="l" fontAlgn="ctr"/>
                      <a:r>
                        <a:rPr lang="fr-FR" sz="2800" b="0" i="0" u="none" strike="noStrike">
                          <a:solidFill>
                            <a:srgbClr val="000000"/>
                          </a:solidFill>
                          <a:effectLst/>
                          <a:latin typeface="Calibri" panose="020F0502020204030204" pitchFamily="34" charset="0"/>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fr-FR" sz="2800" b="0" i="0" u="none" strike="noStrike" dirty="0">
                          <a:solidFill>
                            <a:srgbClr val="000000"/>
                          </a:solidFill>
                          <a:effectLst/>
                          <a:latin typeface="Calibri" panose="020F0502020204030204" pitchFamily="34" charset="0"/>
                        </a:rPr>
                        <a:t>Description fonctionnelle des applications (par code robin) :</a:t>
                      </a:r>
                      <a:br>
                        <a:rPr lang="fr-FR" sz="2800" b="0" i="0" u="none" strike="noStrike" dirty="0">
                          <a:solidFill>
                            <a:srgbClr val="000000"/>
                          </a:solidFill>
                          <a:effectLst/>
                          <a:latin typeface="Calibri" panose="020F0502020204030204" pitchFamily="34" charset="0"/>
                        </a:rPr>
                      </a:br>
                      <a:r>
                        <a:rPr lang="fr-FR" sz="2800" b="0" i="0" u="none" strike="noStrike" dirty="0">
                          <a:solidFill>
                            <a:srgbClr val="000000"/>
                          </a:solidFill>
                          <a:effectLst/>
                          <a:latin typeface="Calibri" panose="020F0502020204030204" pitchFamily="34" charset="0"/>
                        </a:rPr>
                        <a:t>Schéma « haut » niveau qui permet de voir les interactions entre les codes robins de l’équipe mais aussi des autres équipe EI</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80901865"/>
                  </a:ext>
                </a:extLst>
              </a:tr>
              <a:tr h="179070">
                <a:tc>
                  <a:txBody>
                    <a:bodyPr/>
                    <a:lstStyle/>
                    <a:p>
                      <a:pPr algn="l" fontAlgn="ctr"/>
                      <a:r>
                        <a:rPr lang="fr-FR" sz="2800" b="0" i="0" u="none" strike="noStrike">
                          <a:solidFill>
                            <a:srgbClr val="000000"/>
                          </a:solidFill>
                          <a:effectLst/>
                          <a:latin typeface="Calibri" panose="020F0502020204030204" pitchFamily="34" charset="0"/>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fr-FR" sz="2800" b="0" i="0" u="none" strike="noStrike" dirty="0">
                          <a:solidFill>
                            <a:srgbClr val="000000"/>
                          </a:solidFill>
                          <a:effectLst/>
                          <a:latin typeface="Calibri" panose="020F0502020204030204" pitchFamily="34" charset="0"/>
                        </a:rPr>
                        <a:t>Description de chaque application (cf. exemple pour CADI et/ou </a:t>
                      </a:r>
                      <a:r>
                        <a:rPr lang="fr-FR" sz="2800" b="0" i="0" u="none" strike="noStrike" dirty="0" err="1">
                          <a:solidFill>
                            <a:srgbClr val="000000"/>
                          </a:solidFill>
                          <a:effectLst/>
                          <a:latin typeface="Calibri" panose="020F0502020204030204" pitchFamily="34" charset="0"/>
                        </a:rPr>
                        <a:t>Onepager</a:t>
                      </a:r>
                      <a:r>
                        <a:rPr lang="fr-FR" sz="2800" b="0" i="0" u="none" strike="noStrike" dirty="0">
                          <a:solidFill>
                            <a:srgbClr val="000000"/>
                          </a:solidFill>
                          <a:effectLst/>
                          <a:latin typeface="Calibri" panose="020F0502020204030204" pitchFamily="34" charset="0"/>
                        </a:rPr>
                        <a:t> proposé par Valérie C)</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116530032"/>
                  </a:ext>
                </a:extLst>
              </a:tr>
              <a:tr h="571500">
                <a:tc>
                  <a:txBody>
                    <a:bodyPr/>
                    <a:lstStyle/>
                    <a:p>
                      <a:pPr algn="l" fontAlgn="ctr"/>
                      <a:r>
                        <a:rPr lang="fr-FR" sz="2800" b="0" i="0" u="none" strike="noStrike">
                          <a:solidFill>
                            <a:srgbClr val="000000"/>
                          </a:solidFill>
                          <a:effectLst/>
                          <a:latin typeface="Calibri" panose="020F0502020204030204" pitchFamily="34" charset="0"/>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fr-FR" sz="2800" b="0" i="0" u="none" strike="noStrike" dirty="0">
                          <a:solidFill>
                            <a:srgbClr val="000000"/>
                          </a:solidFill>
                          <a:effectLst/>
                          <a:latin typeface="Calibri" panose="020F0502020204030204" pitchFamily="34" charset="0"/>
                        </a:rPr>
                        <a:t>Appli différentes pour un même usage : les rendre visible ? - avec reco d'utilisation pour projet client et aide au choix</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870864089"/>
                  </a:ext>
                </a:extLst>
              </a:tr>
              <a:tr h="190500">
                <a:tc>
                  <a:txBody>
                    <a:bodyPr/>
                    <a:lstStyle/>
                    <a:p>
                      <a:pPr algn="l" fontAlgn="ctr"/>
                      <a:r>
                        <a:rPr lang="fr-FR" sz="2800" b="0" i="0" u="none" strike="noStrike">
                          <a:solidFill>
                            <a:srgbClr val="000000"/>
                          </a:solidFill>
                          <a:effectLst/>
                          <a:latin typeface="Calibri" panose="020F0502020204030204" pitchFamily="34" charset="0"/>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fr-FR" sz="2800" b="0" i="0" u="none" strike="noStrike" dirty="0">
                          <a:solidFill>
                            <a:srgbClr val="000000"/>
                          </a:solidFill>
                          <a:effectLst/>
                          <a:latin typeface="Calibri" panose="020F0502020204030204" pitchFamily="34" charset="0"/>
                        </a:rPr>
                        <a:t>Architecture technique des composants à mettre ?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891900033"/>
                  </a:ext>
                </a:extLst>
              </a:tr>
              <a:tr h="190500">
                <a:tc>
                  <a:txBody>
                    <a:bodyPr/>
                    <a:lstStyle/>
                    <a:p>
                      <a:pPr algn="l" fontAlgn="ctr"/>
                      <a:r>
                        <a:rPr lang="fr-FR" sz="2800" b="0" i="0" u="none" strike="noStrike">
                          <a:solidFill>
                            <a:srgbClr val="000000"/>
                          </a:solidFill>
                          <a:effectLst/>
                          <a:latin typeface="Calibri" panose="020F0502020204030204" pitchFamily="34" charset="0"/>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r>
                        <a:rPr lang="fr-FR" sz="2800" b="0" i="0" u="none" strike="noStrike" dirty="0">
                          <a:solidFill>
                            <a:srgbClr val="000000"/>
                          </a:solidFill>
                          <a:effectLst/>
                          <a:latin typeface="Calibri" panose="020F0502020204030204" pitchFamily="34" charset="0"/>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2118663990"/>
                  </a:ext>
                </a:extLst>
              </a:tr>
              <a:tr h="190500">
                <a:tc gridSpan="2">
                  <a:txBody>
                    <a:bodyPr/>
                    <a:lstStyle/>
                    <a:p>
                      <a:pPr algn="l" fontAlgn="ctr"/>
                      <a:r>
                        <a:rPr lang="fr-FR" sz="2800" b="1" i="0" u="none" strike="noStrike" dirty="0">
                          <a:solidFill>
                            <a:srgbClr val="000000"/>
                          </a:solidFill>
                          <a:effectLst/>
                          <a:latin typeface="Calibri" panose="020F0502020204030204" pitchFamily="34" charset="0"/>
                        </a:rPr>
                        <a:t>Niveau 3 : Vue Dynamique</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solidFill>
                      <a:srgbClr val="FFC000"/>
                    </a:solidFill>
                  </a:tcPr>
                </a:tc>
                <a:tc hMerge="1">
                  <a:txBody>
                    <a:bodyPr/>
                    <a:lstStyle/>
                    <a:p>
                      <a:endParaRPr lang="fr-FR"/>
                    </a:p>
                  </a:txBody>
                  <a:tcPr/>
                </a:tc>
                <a:extLst>
                  <a:ext uri="{0D108BD9-81ED-4DB2-BD59-A6C34878D82A}">
                    <a16:rowId xmlns:a16="http://schemas.microsoft.com/office/drawing/2014/main" val="668571723"/>
                  </a:ext>
                </a:extLst>
              </a:tr>
              <a:tr h="381000">
                <a:tc>
                  <a:txBody>
                    <a:bodyPr/>
                    <a:lstStyle/>
                    <a:p>
                      <a:pPr algn="l" fontAlgn="ctr"/>
                      <a:r>
                        <a:rPr lang="fr-FR" sz="2800" b="0" i="0" u="none" strike="noStrike">
                          <a:solidFill>
                            <a:srgbClr val="000000"/>
                          </a:solidFill>
                          <a:effectLst/>
                          <a:latin typeface="Calibri" panose="020F0502020204030204" pitchFamily="34" charset="0"/>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fr-FR" sz="2800" b="0" i="0" u="none" strike="noStrike" dirty="0">
                          <a:solidFill>
                            <a:srgbClr val="000000"/>
                          </a:solidFill>
                          <a:effectLst/>
                          <a:latin typeface="Calibri" panose="020F0502020204030204" pitchFamily="34" charset="0"/>
                        </a:rPr>
                        <a:t>Schéma des services et interactions entre eux</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963633816"/>
                  </a:ext>
                </a:extLst>
              </a:tr>
              <a:tr h="190500">
                <a:tc>
                  <a:txBody>
                    <a:bodyPr/>
                    <a:lstStyle/>
                    <a:p>
                      <a:pPr algn="l" fontAlgn="ctr"/>
                      <a:r>
                        <a:rPr lang="fr-FR" sz="2800" b="0" i="0" u="none" strike="noStrike">
                          <a:solidFill>
                            <a:srgbClr val="000000"/>
                          </a:solidFill>
                          <a:effectLst/>
                          <a:latin typeface="Calibri" panose="020F0502020204030204" pitchFamily="34" charset="0"/>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fr-FR" sz="2800" b="0" i="0" u="none" strike="noStrike" dirty="0">
                          <a:solidFill>
                            <a:srgbClr val="000000"/>
                          </a:solidFill>
                          <a:effectLst/>
                          <a:latin typeface="Calibri" panose="020F0502020204030204" pitchFamily="34" charset="0"/>
                        </a:rPr>
                        <a:t>Architecture technique à mettre ?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587528009"/>
                  </a:ext>
                </a:extLst>
              </a:tr>
              <a:tr h="190500">
                <a:tc gridSpan="2">
                  <a:txBody>
                    <a:bodyPr/>
                    <a:lstStyle/>
                    <a:p>
                      <a:pPr algn="l" fontAlgn="ctr"/>
                      <a:r>
                        <a:rPr lang="fr-FR" sz="2800" b="1" i="0" u="none" strike="noStrike">
                          <a:solidFill>
                            <a:srgbClr val="000000"/>
                          </a:solidFill>
                          <a:effectLst/>
                          <a:latin typeface="Calibri" panose="020F0502020204030204" pitchFamily="34" charset="0"/>
                        </a:rPr>
                        <a:t>Organisation</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EAAAA"/>
                    </a:solidFill>
                  </a:tcPr>
                </a:tc>
                <a:tc hMerge="1">
                  <a:txBody>
                    <a:bodyPr/>
                    <a:lstStyle/>
                    <a:p>
                      <a:endParaRPr lang="fr-FR"/>
                    </a:p>
                  </a:txBody>
                  <a:tcPr/>
                </a:tc>
                <a:extLst>
                  <a:ext uri="{0D108BD9-81ED-4DB2-BD59-A6C34878D82A}">
                    <a16:rowId xmlns:a16="http://schemas.microsoft.com/office/drawing/2014/main" val="1037604399"/>
                  </a:ext>
                </a:extLst>
              </a:tr>
              <a:tr h="361950">
                <a:tc>
                  <a:txBody>
                    <a:bodyPr/>
                    <a:lstStyle/>
                    <a:p>
                      <a:pPr algn="l" fontAlgn="ctr"/>
                      <a:r>
                        <a:rPr lang="fr-FR" sz="2800" b="0" i="0" u="none" strike="noStrike">
                          <a:solidFill>
                            <a:srgbClr val="000000"/>
                          </a:solidFill>
                          <a:effectLst/>
                          <a:latin typeface="Calibri" panose="020F0502020204030204" pitchFamily="34" charset="0"/>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fr-FR" sz="2800" b="0" i="0" u="none" strike="noStrike">
                          <a:solidFill>
                            <a:srgbClr val="000000"/>
                          </a:solidFill>
                          <a:effectLst/>
                          <a:latin typeface="Calibri" panose="020F0502020204030204" pitchFamily="34" charset="0"/>
                        </a:rPr>
                        <a:t>Quelles utilisations / quels besoins pour les équipes ? (détermination du contenu attendu)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223769910"/>
                  </a:ext>
                </a:extLst>
              </a:tr>
              <a:tr h="190500">
                <a:tc>
                  <a:txBody>
                    <a:bodyPr/>
                    <a:lstStyle/>
                    <a:p>
                      <a:pPr algn="l" fontAlgn="ctr"/>
                      <a:r>
                        <a:rPr lang="fr-FR" sz="2800" b="0" i="0" u="none" strike="noStrike">
                          <a:solidFill>
                            <a:srgbClr val="000000"/>
                          </a:solidFill>
                          <a:effectLst/>
                          <a:latin typeface="Calibri" panose="020F0502020204030204" pitchFamily="34" charset="0"/>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fr-FR" sz="2800" b="0" i="0" u="none" strike="noStrike">
                          <a:solidFill>
                            <a:srgbClr val="000000"/>
                          </a:solidFill>
                          <a:effectLst/>
                          <a:latin typeface="Calibri" panose="020F0502020204030204" pitchFamily="34" charset="0"/>
                        </a:rPr>
                        <a:t>Enjeu d’alignement avec l’architecture d’entreprise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672846463"/>
                  </a:ext>
                </a:extLst>
              </a:tr>
              <a:tr h="190500">
                <a:tc>
                  <a:txBody>
                    <a:bodyPr/>
                    <a:lstStyle/>
                    <a:p>
                      <a:pPr algn="l" fontAlgn="ctr"/>
                      <a:r>
                        <a:rPr lang="fr-FR" sz="2800" b="0" i="0" u="none" strike="noStrike">
                          <a:solidFill>
                            <a:srgbClr val="000000"/>
                          </a:solidFill>
                          <a:effectLst/>
                          <a:latin typeface="Calibri" panose="020F0502020204030204" pitchFamily="34" charset="0"/>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fr-FR" sz="2800" b="0" i="0" u="none" strike="noStrike">
                          <a:solidFill>
                            <a:srgbClr val="000000"/>
                          </a:solidFill>
                          <a:effectLst/>
                          <a:latin typeface="Calibri" panose="020F0502020204030204" pitchFamily="34" charset="0"/>
                        </a:rPr>
                        <a:t>Quel format de mise à disposition des informations ?  (PPT, VISIO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850524178"/>
                  </a:ext>
                </a:extLst>
              </a:tr>
              <a:tr h="190500">
                <a:tc>
                  <a:txBody>
                    <a:bodyPr/>
                    <a:lstStyle/>
                    <a:p>
                      <a:pPr algn="l" fontAlgn="ctr"/>
                      <a:r>
                        <a:rPr lang="fr-FR" sz="2800" b="0" i="0" u="none" strike="noStrike">
                          <a:solidFill>
                            <a:srgbClr val="000000"/>
                          </a:solidFill>
                          <a:effectLst/>
                          <a:latin typeface="Calibri" panose="020F0502020204030204" pitchFamily="34" charset="0"/>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fr-FR" sz="2800" b="0" i="0" u="none" strike="noStrike">
                          <a:solidFill>
                            <a:srgbClr val="000000"/>
                          </a:solidFill>
                          <a:effectLst/>
                          <a:latin typeface="Calibri" panose="020F0502020204030204" pitchFamily="34" charset="0"/>
                        </a:rPr>
                        <a:t>Règles communes à définir / squelette pour les attendus  (Règles de modélisation)</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788132968"/>
                  </a:ext>
                </a:extLst>
              </a:tr>
              <a:tr h="200025">
                <a:tc>
                  <a:txBody>
                    <a:bodyPr/>
                    <a:lstStyle/>
                    <a:p>
                      <a:pPr algn="l" fontAlgn="ctr"/>
                      <a:r>
                        <a:rPr lang="fr-FR" sz="2800" b="0" i="0" u="none" strike="noStrike">
                          <a:solidFill>
                            <a:srgbClr val="000000"/>
                          </a:solidFill>
                          <a:effectLst/>
                          <a:latin typeface="Calibri" panose="020F0502020204030204" pitchFamily="34" charset="0"/>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fr-FR" sz="2800" b="0" i="0" u="none" strike="noStrike">
                          <a:solidFill>
                            <a:srgbClr val="000000"/>
                          </a:solidFill>
                          <a:effectLst/>
                          <a:latin typeface="Calibri" panose="020F0502020204030204" pitchFamily="34" charset="0"/>
                        </a:rPr>
                        <a:t>Qui va produire dans l'équipe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37932750"/>
                  </a:ext>
                </a:extLst>
              </a:tr>
              <a:tr h="190500">
                <a:tc>
                  <a:txBody>
                    <a:bodyPr/>
                    <a:lstStyle/>
                    <a:p>
                      <a:pPr algn="l" fontAlgn="ctr"/>
                      <a:r>
                        <a:rPr lang="fr-FR" sz="2800" b="0" i="0" u="none" strike="noStrike">
                          <a:solidFill>
                            <a:srgbClr val="000000"/>
                          </a:solidFill>
                          <a:effectLst/>
                          <a:latin typeface="Calibri" panose="020F0502020204030204" pitchFamily="34" charset="0"/>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r>
                        <a:rPr lang="fr-FR" sz="2800" b="0" i="0" u="none" strike="noStrike" dirty="0">
                          <a:solidFill>
                            <a:srgbClr val="000000"/>
                          </a:solidFill>
                          <a:effectLst/>
                          <a:latin typeface="Calibri" panose="020F0502020204030204" pitchFamily="34" charset="0"/>
                        </a:rPr>
                        <a:t>Quel délai ?</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4194451290"/>
                  </a:ext>
                </a:extLst>
              </a:tr>
            </a:tbl>
          </a:graphicData>
        </a:graphic>
      </p:graphicFrame>
      <p:sp>
        <p:nvSpPr>
          <p:cNvPr id="22" name="ZoneTexte 21">
            <a:extLst>
              <a:ext uri="{FF2B5EF4-FFF2-40B4-BE49-F238E27FC236}">
                <a16:creationId xmlns:a16="http://schemas.microsoft.com/office/drawing/2014/main" id="{15687A1B-B191-4B52-B5D4-114740B5742D}"/>
              </a:ext>
            </a:extLst>
          </p:cNvPr>
          <p:cNvSpPr txBox="1"/>
          <p:nvPr/>
        </p:nvSpPr>
        <p:spPr>
          <a:xfrm>
            <a:off x="8007182" y="2540353"/>
            <a:ext cx="12362688" cy="523220"/>
          </a:xfrm>
          <a:prstGeom prst="rect">
            <a:avLst/>
          </a:prstGeom>
          <a:noFill/>
        </p:spPr>
        <p:txBody>
          <a:bodyPr wrap="square" rtlCol="0">
            <a:spAutoFit/>
          </a:bodyPr>
          <a:lstStyle/>
          <a:p>
            <a:r>
              <a:rPr lang="fr-FR" sz="2800" b="1" u="sng" dirty="0">
                <a:solidFill>
                  <a:srgbClr val="0C4392"/>
                </a:solidFill>
                <a:latin typeface="Segoe UI" panose="020B0502040204020203" pitchFamily="34" charset="0"/>
                <a:cs typeface="Segoe UI" panose="020B0502040204020203" pitchFamily="34" charset="0"/>
              </a:rPr>
              <a:t>Grille d’entretien :</a:t>
            </a:r>
          </a:p>
        </p:txBody>
      </p:sp>
      <p:sp>
        <p:nvSpPr>
          <p:cNvPr id="19" name="Espace réservé du pied de page 1">
            <a:extLst>
              <a:ext uri="{FF2B5EF4-FFF2-40B4-BE49-F238E27FC236}">
                <a16:creationId xmlns:a16="http://schemas.microsoft.com/office/drawing/2014/main" id="{D1627F1C-1414-4755-B6A3-B1D4A67DD486}"/>
              </a:ext>
            </a:extLst>
          </p:cNvPr>
          <p:cNvSpPr>
            <a:spLocks noGrp="1"/>
          </p:cNvSpPr>
          <p:nvPr>
            <p:ph type="ftr" sz="quarter" idx="11"/>
          </p:nvPr>
        </p:nvSpPr>
        <p:spPr>
          <a:xfrm>
            <a:off x="2675466" y="12886262"/>
            <a:ext cx="21031199" cy="450851"/>
          </a:xfrm>
        </p:spPr>
        <p:txBody>
          <a:bodyPr/>
          <a:lstStyle/>
          <a:p>
            <a:r>
              <a:rPr lang="fr-FR" sz="1800" dirty="0"/>
              <a:t>Architecture fonctionnelle de l’OCR F - Cadrage des besoins </a:t>
            </a:r>
            <a:r>
              <a:rPr lang="fr-FR" sz="1800" dirty="0" err="1"/>
              <a:t>niv</a:t>
            </a:r>
            <a:r>
              <a:rPr lang="fr-FR" sz="1800" dirty="0"/>
              <a:t> 2 et 3 - Synthèse des entretiens </a:t>
            </a:r>
            <a:r>
              <a:rPr lang="fr-FR" sz="1800" dirty="0" err="1"/>
              <a:t>REs</a:t>
            </a:r>
            <a:endParaRPr lang="fr-FR" dirty="0"/>
          </a:p>
        </p:txBody>
      </p:sp>
    </p:spTree>
    <p:extLst>
      <p:ext uri="{BB962C8B-B14F-4D97-AF65-F5344CB8AC3E}">
        <p14:creationId xmlns:p14="http://schemas.microsoft.com/office/powerpoint/2010/main" val="1410946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 coins arrondis 20">
            <a:extLst>
              <a:ext uri="{FF2B5EF4-FFF2-40B4-BE49-F238E27FC236}">
                <a16:creationId xmlns:a16="http://schemas.microsoft.com/office/drawing/2014/main" id="{DDE451A8-422F-43D2-8E28-71982954A737}"/>
              </a:ext>
            </a:extLst>
          </p:cNvPr>
          <p:cNvSpPr/>
          <p:nvPr/>
        </p:nvSpPr>
        <p:spPr>
          <a:xfrm>
            <a:off x="7248802" y="4751294"/>
            <a:ext cx="5283857" cy="7602071"/>
          </a:xfrm>
          <a:prstGeom prst="roundRect">
            <a:avLst>
              <a:gd name="adj" fmla="val 4451"/>
            </a:avLst>
          </a:prstGeom>
          <a:solidFill>
            <a:srgbClr val="F1F1F2"/>
          </a:solidFill>
          <a:ln>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sp>
        <p:nvSpPr>
          <p:cNvPr id="22" name="Rectangle : coins arrondis 21">
            <a:extLst>
              <a:ext uri="{FF2B5EF4-FFF2-40B4-BE49-F238E27FC236}">
                <a16:creationId xmlns:a16="http://schemas.microsoft.com/office/drawing/2014/main" id="{D1163FE5-12FD-413F-BCEC-AED5965BAFF5}"/>
              </a:ext>
            </a:extLst>
          </p:cNvPr>
          <p:cNvSpPr/>
          <p:nvPr/>
        </p:nvSpPr>
        <p:spPr>
          <a:xfrm>
            <a:off x="12860708" y="4751294"/>
            <a:ext cx="5283857" cy="7602071"/>
          </a:xfrm>
          <a:prstGeom prst="roundRect">
            <a:avLst>
              <a:gd name="adj" fmla="val 4451"/>
            </a:avLst>
          </a:prstGeom>
          <a:solidFill>
            <a:srgbClr val="F1F1F2"/>
          </a:solidFill>
          <a:ln>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sp>
        <p:nvSpPr>
          <p:cNvPr id="23" name="Rectangle : coins arrondis 22">
            <a:extLst>
              <a:ext uri="{FF2B5EF4-FFF2-40B4-BE49-F238E27FC236}">
                <a16:creationId xmlns:a16="http://schemas.microsoft.com/office/drawing/2014/main" id="{59665FEB-6C50-4965-98E4-942DD3721CFE}"/>
              </a:ext>
            </a:extLst>
          </p:cNvPr>
          <p:cNvSpPr/>
          <p:nvPr/>
        </p:nvSpPr>
        <p:spPr>
          <a:xfrm>
            <a:off x="18436755" y="4751294"/>
            <a:ext cx="5283857" cy="7602071"/>
          </a:xfrm>
          <a:prstGeom prst="roundRect">
            <a:avLst>
              <a:gd name="adj" fmla="val 4451"/>
            </a:avLst>
          </a:prstGeom>
          <a:solidFill>
            <a:srgbClr val="F1F1F2"/>
          </a:solidFill>
          <a:ln>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sp>
        <p:nvSpPr>
          <p:cNvPr id="17" name="Rectangle : coins arrondis 16">
            <a:extLst>
              <a:ext uri="{FF2B5EF4-FFF2-40B4-BE49-F238E27FC236}">
                <a16:creationId xmlns:a16="http://schemas.microsoft.com/office/drawing/2014/main" id="{C8C4A872-A982-4FE8-AB1B-5BAE21AC15D7}"/>
              </a:ext>
            </a:extLst>
          </p:cNvPr>
          <p:cNvSpPr/>
          <p:nvPr/>
        </p:nvSpPr>
        <p:spPr>
          <a:xfrm>
            <a:off x="1672755" y="4751294"/>
            <a:ext cx="5283857" cy="7602071"/>
          </a:xfrm>
          <a:prstGeom prst="roundRect">
            <a:avLst>
              <a:gd name="adj" fmla="val 4451"/>
            </a:avLst>
          </a:prstGeom>
          <a:solidFill>
            <a:srgbClr val="F1F1F2"/>
          </a:solidFill>
          <a:ln>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sp>
        <p:nvSpPr>
          <p:cNvPr id="2" name="Titre 1">
            <a:extLst>
              <a:ext uri="{FF2B5EF4-FFF2-40B4-BE49-F238E27FC236}">
                <a16:creationId xmlns:a16="http://schemas.microsoft.com/office/drawing/2014/main" id="{EF69A9C3-FC32-4CD8-A8F2-56739082E426}"/>
              </a:ext>
            </a:extLst>
          </p:cNvPr>
          <p:cNvSpPr>
            <a:spLocks noGrp="1"/>
          </p:cNvSpPr>
          <p:nvPr>
            <p:ph type="title"/>
          </p:nvPr>
        </p:nvSpPr>
        <p:spPr/>
        <p:txBody>
          <a:bodyPr/>
          <a:lstStyle/>
          <a:p>
            <a:r>
              <a:rPr lang="fr-FR" dirty="0"/>
              <a:t>A quels cas d’usage cette documentation répond ?</a:t>
            </a:r>
          </a:p>
        </p:txBody>
      </p:sp>
      <p:sp>
        <p:nvSpPr>
          <p:cNvPr id="4" name="Espace réservé du numéro de diapositive 3">
            <a:extLst>
              <a:ext uri="{FF2B5EF4-FFF2-40B4-BE49-F238E27FC236}">
                <a16:creationId xmlns:a16="http://schemas.microsoft.com/office/drawing/2014/main" id="{A060B460-AF69-4641-B055-C94049CD26FA}"/>
              </a:ext>
            </a:extLst>
          </p:cNvPr>
          <p:cNvSpPr>
            <a:spLocks noGrp="1"/>
          </p:cNvSpPr>
          <p:nvPr>
            <p:ph type="sldNum" sz="quarter" idx="12"/>
          </p:nvPr>
        </p:nvSpPr>
        <p:spPr/>
        <p:txBody>
          <a:bodyPr/>
          <a:lstStyle/>
          <a:p>
            <a:fld id="{3EE1DE5A-27D4-4895-8E04-340D57AD09FB}" type="slidenum">
              <a:rPr lang="fr-FR" smtClean="0"/>
              <a:pPr/>
              <a:t>4</a:t>
            </a:fld>
            <a:endParaRPr lang="fr-FR"/>
          </a:p>
        </p:txBody>
      </p:sp>
      <p:sp>
        <p:nvSpPr>
          <p:cNvPr id="6" name="Espace réservé du texte 5">
            <a:extLst>
              <a:ext uri="{FF2B5EF4-FFF2-40B4-BE49-F238E27FC236}">
                <a16:creationId xmlns:a16="http://schemas.microsoft.com/office/drawing/2014/main" id="{A49E5DB4-60A7-438E-B047-30878E017561}"/>
              </a:ext>
            </a:extLst>
          </p:cNvPr>
          <p:cNvSpPr>
            <a:spLocks noGrp="1"/>
          </p:cNvSpPr>
          <p:nvPr>
            <p:ph type="body" sz="quarter" idx="14"/>
          </p:nvPr>
        </p:nvSpPr>
        <p:spPr/>
        <p:txBody>
          <a:bodyPr/>
          <a:lstStyle/>
          <a:p>
            <a:endParaRPr lang="fr-FR"/>
          </a:p>
        </p:txBody>
      </p:sp>
      <p:sp>
        <p:nvSpPr>
          <p:cNvPr id="7" name="Rectangle : avec coins arrondis en haut 6">
            <a:extLst>
              <a:ext uri="{FF2B5EF4-FFF2-40B4-BE49-F238E27FC236}">
                <a16:creationId xmlns:a16="http://schemas.microsoft.com/office/drawing/2014/main" id="{B418269C-5432-4F5A-AB38-6B8F0453937A}"/>
              </a:ext>
            </a:extLst>
          </p:cNvPr>
          <p:cNvSpPr/>
          <p:nvPr/>
        </p:nvSpPr>
        <p:spPr>
          <a:xfrm>
            <a:off x="1672755" y="3119718"/>
            <a:ext cx="5283857" cy="2133600"/>
          </a:xfrm>
          <a:prstGeom prst="round2SameRect">
            <a:avLst>
              <a:gd name="adj1" fmla="val 8264"/>
              <a:gd name="adj2" fmla="val 0"/>
            </a:avLst>
          </a:prstGeom>
          <a:solidFill>
            <a:srgbClr val="082447"/>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92000" rtlCol="0" anchor="ctr"/>
          <a:lstStyle/>
          <a:p>
            <a:pPr algn="ctr"/>
            <a:r>
              <a:rPr lang="fr-FR" sz="2400" b="1" dirty="0">
                <a:solidFill>
                  <a:schemeClr val="bg1"/>
                </a:solidFill>
                <a:latin typeface="Segoe UI" panose="020B0502040204020203" pitchFamily="34" charset="0"/>
                <a:cs typeface="Segoe UI" panose="020B0502040204020203" pitchFamily="34" charset="0"/>
              </a:rPr>
              <a:t>Onboarder des </a:t>
            </a:r>
          </a:p>
          <a:p>
            <a:pPr algn="ctr"/>
            <a:r>
              <a:rPr lang="fr-FR" sz="2400" b="1" dirty="0">
                <a:solidFill>
                  <a:schemeClr val="bg1"/>
                </a:solidFill>
                <a:latin typeface="Segoe UI" panose="020B0502040204020203" pitchFamily="34" charset="0"/>
                <a:cs typeface="Segoe UI" panose="020B0502040204020203" pitchFamily="34" charset="0"/>
              </a:rPr>
              <a:t>nouveaux arrivants</a:t>
            </a:r>
          </a:p>
        </p:txBody>
      </p:sp>
      <p:sp>
        <p:nvSpPr>
          <p:cNvPr id="14" name="Rectangle : avec coins arrondis en haut 13">
            <a:extLst>
              <a:ext uri="{FF2B5EF4-FFF2-40B4-BE49-F238E27FC236}">
                <a16:creationId xmlns:a16="http://schemas.microsoft.com/office/drawing/2014/main" id="{0A01519D-369D-4B85-94D0-88D2F27BBACB}"/>
              </a:ext>
            </a:extLst>
          </p:cNvPr>
          <p:cNvSpPr/>
          <p:nvPr/>
        </p:nvSpPr>
        <p:spPr>
          <a:xfrm>
            <a:off x="7260755" y="3119718"/>
            <a:ext cx="5283857" cy="2133600"/>
          </a:xfrm>
          <a:prstGeom prst="round2SameRect">
            <a:avLst>
              <a:gd name="adj1" fmla="val 8264"/>
              <a:gd name="adj2" fmla="val 0"/>
            </a:avLst>
          </a:prstGeom>
          <a:solidFill>
            <a:srgbClr val="082447"/>
          </a:solidFill>
          <a:ln>
            <a:noFill/>
          </a:ln>
        </p:spPr>
        <p:style>
          <a:lnRef idx="2">
            <a:schemeClr val="accent1">
              <a:shade val="50000"/>
            </a:schemeClr>
          </a:lnRef>
          <a:fillRef idx="1">
            <a:schemeClr val="accent1"/>
          </a:fillRef>
          <a:effectRef idx="0">
            <a:schemeClr val="accent1"/>
          </a:effectRef>
          <a:fontRef idx="minor">
            <a:schemeClr val="lt1"/>
          </a:fontRef>
        </p:style>
        <p:txBody>
          <a:bodyPr lIns="792000" rtlCol="0" anchor="ctr"/>
          <a:lstStyle/>
          <a:p>
            <a:pPr algn="ctr"/>
            <a:r>
              <a:rPr lang="fr-FR" sz="2400" b="1" dirty="0">
                <a:solidFill>
                  <a:schemeClr val="bg1"/>
                </a:solidFill>
                <a:latin typeface="Segoe UI" panose="020B0502040204020203" pitchFamily="34" charset="0"/>
                <a:cs typeface="Segoe UI" panose="020B0502040204020203" pitchFamily="34" charset="0"/>
              </a:rPr>
              <a:t>Identifier les impacts </a:t>
            </a:r>
          </a:p>
          <a:p>
            <a:pPr algn="ctr"/>
            <a:r>
              <a:rPr lang="fr-FR" sz="2400" b="1" dirty="0">
                <a:solidFill>
                  <a:schemeClr val="bg1"/>
                </a:solidFill>
                <a:latin typeface="Segoe UI" panose="020B0502040204020203" pitchFamily="34" charset="0"/>
                <a:cs typeface="Segoe UI" panose="020B0502040204020203" pitchFamily="34" charset="0"/>
              </a:rPr>
              <a:t>du crash d’une </a:t>
            </a:r>
          </a:p>
          <a:p>
            <a:pPr algn="ctr"/>
            <a:r>
              <a:rPr lang="fr-FR" sz="2400" b="1" dirty="0">
                <a:solidFill>
                  <a:schemeClr val="bg1"/>
                </a:solidFill>
                <a:latin typeface="Segoe UI" panose="020B0502040204020203" pitchFamily="34" charset="0"/>
                <a:cs typeface="Segoe UI" panose="020B0502040204020203" pitchFamily="34" charset="0"/>
              </a:rPr>
              <a:t>application vis-à-vis des autres applications </a:t>
            </a:r>
          </a:p>
        </p:txBody>
      </p:sp>
      <p:sp>
        <p:nvSpPr>
          <p:cNvPr id="15" name="Rectangle : avec coins arrondis en haut 14">
            <a:extLst>
              <a:ext uri="{FF2B5EF4-FFF2-40B4-BE49-F238E27FC236}">
                <a16:creationId xmlns:a16="http://schemas.microsoft.com/office/drawing/2014/main" id="{889AF87F-1835-4B55-BC71-BD68712A8FDE}"/>
              </a:ext>
            </a:extLst>
          </p:cNvPr>
          <p:cNvSpPr/>
          <p:nvPr/>
        </p:nvSpPr>
        <p:spPr>
          <a:xfrm>
            <a:off x="12848755" y="3119718"/>
            <a:ext cx="5283857" cy="2133600"/>
          </a:xfrm>
          <a:prstGeom prst="round2SameRect">
            <a:avLst>
              <a:gd name="adj1" fmla="val 8264"/>
              <a:gd name="adj2" fmla="val 0"/>
            </a:avLst>
          </a:prstGeom>
          <a:solidFill>
            <a:srgbClr val="082447"/>
          </a:solidFill>
          <a:ln>
            <a:noFill/>
          </a:ln>
        </p:spPr>
        <p:style>
          <a:lnRef idx="2">
            <a:schemeClr val="accent1">
              <a:shade val="50000"/>
            </a:schemeClr>
          </a:lnRef>
          <a:fillRef idx="1">
            <a:schemeClr val="accent1"/>
          </a:fillRef>
          <a:effectRef idx="0">
            <a:schemeClr val="accent1"/>
          </a:effectRef>
          <a:fontRef idx="minor">
            <a:schemeClr val="lt1"/>
          </a:fontRef>
        </p:style>
        <p:txBody>
          <a:bodyPr lIns="792000" rtlCol="0" anchor="ctr"/>
          <a:lstStyle/>
          <a:p>
            <a:pPr algn="ctr"/>
            <a:r>
              <a:rPr lang="fr-FR" sz="2400" b="1" dirty="0">
                <a:solidFill>
                  <a:schemeClr val="bg1"/>
                </a:solidFill>
                <a:latin typeface="Segoe UI" panose="020B0502040204020203" pitchFamily="34" charset="0"/>
                <a:cs typeface="Segoe UI" panose="020B0502040204020203" pitchFamily="34" charset="0"/>
              </a:rPr>
              <a:t>Utiliser la documentation comme support de communication </a:t>
            </a:r>
          </a:p>
          <a:p>
            <a:pPr algn="ctr"/>
            <a:r>
              <a:rPr lang="fr-FR" sz="2400" b="1" dirty="0">
                <a:solidFill>
                  <a:schemeClr val="bg1"/>
                </a:solidFill>
                <a:latin typeface="Segoe UI" panose="020B0502040204020203" pitchFamily="34" charset="0"/>
                <a:cs typeface="Segoe UI" panose="020B0502040204020203" pitchFamily="34" charset="0"/>
              </a:rPr>
              <a:t>avec les MOA</a:t>
            </a:r>
          </a:p>
        </p:txBody>
      </p:sp>
      <p:sp>
        <p:nvSpPr>
          <p:cNvPr id="16" name="Rectangle : avec coins arrondis en haut 15">
            <a:extLst>
              <a:ext uri="{FF2B5EF4-FFF2-40B4-BE49-F238E27FC236}">
                <a16:creationId xmlns:a16="http://schemas.microsoft.com/office/drawing/2014/main" id="{9F5A6E79-90FD-45F7-8A11-00BBA071DF0B}"/>
              </a:ext>
            </a:extLst>
          </p:cNvPr>
          <p:cNvSpPr/>
          <p:nvPr/>
        </p:nvSpPr>
        <p:spPr>
          <a:xfrm>
            <a:off x="18436755" y="3119718"/>
            <a:ext cx="5283857" cy="2133600"/>
          </a:xfrm>
          <a:prstGeom prst="round2SameRect">
            <a:avLst>
              <a:gd name="adj1" fmla="val 8264"/>
              <a:gd name="adj2" fmla="val 0"/>
            </a:avLst>
          </a:prstGeom>
          <a:solidFill>
            <a:srgbClr val="082447"/>
          </a:solidFill>
          <a:ln>
            <a:noFill/>
          </a:ln>
        </p:spPr>
        <p:style>
          <a:lnRef idx="2">
            <a:schemeClr val="accent1">
              <a:shade val="50000"/>
            </a:schemeClr>
          </a:lnRef>
          <a:fillRef idx="1">
            <a:schemeClr val="accent1"/>
          </a:fillRef>
          <a:effectRef idx="0">
            <a:schemeClr val="accent1"/>
          </a:effectRef>
          <a:fontRef idx="minor">
            <a:schemeClr val="lt1"/>
          </a:fontRef>
        </p:style>
        <p:txBody>
          <a:bodyPr lIns="792000" rtlCol="0" anchor="ctr"/>
          <a:lstStyle/>
          <a:p>
            <a:pPr algn="ctr"/>
            <a:r>
              <a:rPr lang="fr-FR" sz="2400" b="1" dirty="0">
                <a:solidFill>
                  <a:schemeClr val="bg1"/>
                </a:solidFill>
                <a:latin typeface="Segoe UI" panose="020B0502040204020203" pitchFamily="34" charset="0"/>
                <a:cs typeface="Segoe UI" panose="020B0502040204020203" pitchFamily="34" charset="0"/>
              </a:rPr>
              <a:t>Capitaliser les </a:t>
            </a:r>
          </a:p>
          <a:p>
            <a:pPr algn="ctr"/>
            <a:r>
              <a:rPr lang="fr-FR" sz="2400" b="1" dirty="0">
                <a:solidFill>
                  <a:schemeClr val="bg1"/>
                </a:solidFill>
                <a:latin typeface="Segoe UI" panose="020B0502040204020203" pitchFamily="34" charset="0"/>
                <a:cs typeface="Segoe UI" panose="020B0502040204020203" pitchFamily="34" charset="0"/>
              </a:rPr>
              <a:t>connaissances</a:t>
            </a:r>
          </a:p>
        </p:txBody>
      </p:sp>
      <p:sp>
        <p:nvSpPr>
          <p:cNvPr id="24" name="Ellipse 23">
            <a:extLst>
              <a:ext uri="{FF2B5EF4-FFF2-40B4-BE49-F238E27FC236}">
                <a16:creationId xmlns:a16="http://schemas.microsoft.com/office/drawing/2014/main" id="{595522CE-F4CF-4F05-A87E-687EE574EBBC}"/>
              </a:ext>
            </a:extLst>
          </p:cNvPr>
          <p:cNvSpPr/>
          <p:nvPr/>
        </p:nvSpPr>
        <p:spPr>
          <a:xfrm>
            <a:off x="1962027" y="3779653"/>
            <a:ext cx="878542" cy="81578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solidFill>
                  <a:schemeClr val="bg1"/>
                </a:solidFill>
                <a:latin typeface="Segoe UI" panose="020B0502040204020203" pitchFamily="34" charset="0"/>
                <a:cs typeface="Segoe UI" panose="020B0502040204020203" pitchFamily="34" charset="0"/>
              </a:rPr>
              <a:t>1</a:t>
            </a:r>
          </a:p>
        </p:txBody>
      </p:sp>
      <p:sp>
        <p:nvSpPr>
          <p:cNvPr id="25" name="Ellipse 24">
            <a:extLst>
              <a:ext uri="{FF2B5EF4-FFF2-40B4-BE49-F238E27FC236}">
                <a16:creationId xmlns:a16="http://schemas.microsoft.com/office/drawing/2014/main" id="{C26CF38C-7220-491B-AC77-8FC5F2D0E08D}"/>
              </a:ext>
            </a:extLst>
          </p:cNvPr>
          <p:cNvSpPr/>
          <p:nvPr/>
        </p:nvSpPr>
        <p:spPr>
          <a:xfrm>
            <a:off x="7502212" y="3779653"/>
            <a:ext cx="878542" cy="81578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solidFill>
                  <a:schemeClr val="bg1"/>
                </a:solidFill>
                <a:latin typeface="Segoe UI" panose="020B0502040204020203" pitchFamily="34" charset="0"/>
                <a:cs typeface="Segoe UI" panose="020B0502040204020203" pitchFamily="34" charset="0"/>
              </a:rPr>
              <a:t>2</a:t>
            </a:r>
          </a:p>
        </p:txBody>
      </p:sp>
      <p:sp>
        <p:nvSpPr>
          <p:cNvPr id="26" name="Ellipse 25">
            <a:extLst>
              <a:ext uri="{FF2B5EF4-FFF2-40B4-BE49-F238E27FC236}">
                <a16:creationId xmlns:a16="http://schemas.microsoft.com/office/drawing/2014/main" id="{2B96A625-B27A-47F2-8E71-60056A185099}"/>
              </a:ext>
            </a:extLst>
          </p:cNvPr>
          <p:cNvSpPr/>
          <p:nvPr/>
        </p:nvSpPr>
        <p:spPr>
          <a:xfrm>
            <a:off x="13078257" y="3779653"/>
            <a:ext cx="878542" cy="81578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solidFill>
                  <a:schemeClr val="bg1"/>
                </a:solidFill>
                <a:latin typeface="Segoe UI" panose="020B0502040204020203" pitchFamily="34" charset="0"/>
                <a:cs typeface="Segoe UI" panose="020B0502040204020203" pitchFamily="34" charset="0"/>
              </a:rPr>
              <a:t>3</a:t>
            </a:r>
          </a:p>
        </p:txBody>
      </p:sp>
      <p:sp>
        <p:nvSpPr>
          <p:cNvPr id="27" name="Ellipse 26">
            <a:extLst>
              <a:ext uri="{FF2B5EF4-FFF2-40B4-BE49-F238E27FC236}">
                <a16:creationId xmlns:a16="http://schemas.microsoft.com/office/drawing/2014/main" id="{5C290D2E-F4EC-402A-84FB-0D0AF1F1054D}"/>
              </a:ext>
            </a:extLst>
          </p:cNvPr>
          <p:cNvSpPr/>
          <p:nvPr/>
        </p:nvSpPr>
        <p:spPr>
          <a:xfrm>
            <a:off x="18797739" y="3779653"/>
            <a:ext cx="878542" cy="81578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solidFill>
                  <a:schemeClr val="bg1"/>
                </a:solidFill>
                <a:latin typeface="Segoe UI" panose="020B0502040204020203" pitchFamily="34" charset="0"/>
                <a:cs typeface="Segoe UI" panose="020B0502040204020203" pitchFamily="34" charset="0"/>
              </a:rPr>
              <a:t>4</a:t>
            </a:r>
          </a:p>
        </p:txBody>
      </p:sp>
      <p:pic>
        <p:nvPicPr>
          <p:cNvPr id="29" name="Image 28">
            <a:extLst>
              <a:ext uri="{FF2B5EF4-FFF2-40B4-BE49-F238E27FC236}">
                <a16:creationId xmlns:a16="http://schemas.microsoft.com/office/drawing/2014/main" id="{CBEF9642-0359-4EC5-A24B-FD093DB56C66}"/>
              </a:ext>
            </a:extLst>
          </p:cNvPr>
          <p:cNvPicPr>
            <a:picLocks noChangeAspect="1"/>
          </p:cNvPicPr>
          <p:nvPr/>
        </p:nvPicPr>
        <p:blipFill>
          <a:blip r:embed="rId2"/>
          <a:stretch>
            <a:fillRect/>
          </a:stretch>
        </p:blipFill>
        <p:spPr>
          <a:xfrm>
            <a:off x="2675466" y="5868557"/>
            <a:ext cx="3002987" cy="2683772"/>
          </a:xfrm>
          <a:prstGeom prst="rect">
            <a:avLst/>
          </a:prstGeom>
        </p:spPr>
      </p:pic>
      <p:sp>
        <p:nvSpPr>
          <p:cNvPr id="30" name="ZoneTexte 29">
            <a:extLst>
              <a:ext uri="{FF2B5EF4-FFF2-40B4-BE49-F238E27FC236}">
                <a16:creationId xmlns:a16="http://schemas.microsoft.com/office/drawing/2014/main" id="{D1124FF4-3C7B-4BED-B172-ED653923ACD7}"/>
              </a:ext>
            </a:extLst>
          </p:cNvPr>
          <p:cNvSpPr txBox="1"/>
          <p:nvPr/>
        </p:nvSpPr>
        <p:spPr>
          <a:xfrm>
            <a:off x="1872381" y="9070984"/>
            <a:ext cx="4994586" cy="2940613"/>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fr-FR" sz="2100" dirty="0">
                <a:solidFill>
                  <a:schemeClr val="bg1">
                    <a:lumMod val="50000"/>
                  </a:schemeClr>
                </a:solidFill>
                <a:latin typeface="Segoe UI" panose="020B0502040204020203" pitchFamily="34" charset="0"/>
                <a:cs typeface="Segoe UI" panose="020B0502040204020203" pitchFamily="34" charset="0"/>
              </a:rPr>
              <a:t>Faciliter la prise en main,</a:t>
            </a:r>
          </a:p>
          <a:p>
            <a:pPr marL="342900" indent="-342900">
              <a:lnSpc>
                <a:spcPct val="150000"/>
              </a:lnSpc>
              <a:buFont typeface="Arial" panose="020B0604020202020204" pitchFamily="34" charset="0"/>
              <a:buChar char="•"/>
            </a:pPr>
            <a:r>
              <a:rPr lang="fr-FR" sz="2100" dirty="0">
                <a:solidFill>
                  <a:schemeClr val="bg1">
                    <a:lumMod val="50000"/>
                  </a:schemeClr>
                </a:solidFill>
                <a:latin typeface="Segoe UI" panose="020B0502040204020203" pitchFamily="34" charset="0"/>
                <a:cs typeface="Segoe UI" panose="020B0502040204020203" pitchFamily="34" charset="0"/>
              </a:rPr>
              <a:t>comprendre le contexte,</a:t>
            </a:r>
          </a:p>
          <a:p>
            <a:pPr marL="342900" indent="-342900">
              <a:lnSpc>
                <a:spcPct val="150000"/>
              </a:lnSpc>
              <a:buFont typeface="Arial" panose="020B0604020202020204" pitchFamily="34" charset="0"/>
              <a:buChar char="•"/>
            </a:pPr>
            <a:r>
              <a:rPr lang="fr-FR" sz="2100" dirty="0">
                <a:solidFill>
                  <a:schemeClr val="bg1">
                    <a:lumMod val="50000"/>
                  </a:schemeClr>
                </a:solidFill>
                <a:latin typeface="Segoe UI" panose="020B0502040204020203" pitchFamily="34" charset="0"/>
                <a:cs typeface="Segoe UI" panose="020B0502040204020203" pitchFamily="34" charset="0"/>
              </a:rPr>
              <a:t>Appréhender l’architecture de l’OCR F, </a:t>
            </a:r>
          </a:p>
          <a:p>
            <a:pPr marL="342900" indent="-342900">
              <a:lnSpc>
                <a:spcPct val="150000"/>
              </a:lnSpc>
              <a:buFont typeface="Arial" panose="020B0604020202020204" pitchFamily="34" charset="0"/>
              <a:buChar char="•"/>
            </a:pPr>
            <a:r>
              <a:rPr lang="fr-FR" sz="2100" dirty="0">
                <a:solidFill>
                  <a:schemeClr val="bg1">
                    <a:lumMod val="50000"/>
                  </a:schemeClr>
                </a:solidFill>
                <a:latin typeface="Segoe UI" panose="020B0502040204020203" pitchFamily="34" charset="0"/>
                <a:cs typeface="Segoe UI" panose="020B0502040204020203" pitchFamily="34" charset="0"/>
              </a:rPr>
              <a:t>Identifier les dépendances entre application / équipe </a:t>
            </a:r>
          </a:p>
          <a:p>
            <a:pPr marL="342900" indent="-342900">
              <a:lnSpc>
                <a:spcPct val="150000"/>
              </a:lnSpc>
              <a:buFont typeface="Arial" panose="020B0604020202020204" pitchFamily="34" charset="0"/>
              <a:buChar char="•"/>
            </a:pPr>
            <a:r>
              <a:rPr lang="fr-FR" sz="2100" dirty="0">
                <a:solidFill>
                  <a:schemeClr val="bg1">
                    <a:lumMod val="50000"/>
                  </a:schemeClr>
                </a:solidFill>
                <a:latin typeface="Segoe UI" panose="020B0502040204020203" pitchFamily="34" charset="0"/>
                <a:cs typeface="Segoe UI" panose="020B0502040204020203" pitchFamily="34" charset="0"/>
              </a:rPr>
              <a:t>Partager les bonnes pratiques.</a:t>
            </a:r>
          </a:p>
        </p:txBody>
      </p:sp>
      <p:sp>
        <p:nvSpPr>
          <p:cNvPr id="31" name="ZoneTexte 30">
            <a:extLst>
              <a:ext uri="{FF2B5EF4-FFF2-40B4-BE49-F238E27FC236}">
                <a16:creationId xmlns:a16="http://schemas.microsoft.com/office/drawing/2014/main" id="{E8B8A2D4-3F9B-49ED-B47B-064D7AD92EF8}"/>
              </a:ext>
            </a:extLst>
          </p:cNvPr>
          <p:cNvSpPr txBox="1"/>
          <p:nvPr/>
        </p:nvSpPr>
        <p:spPr>
          <a:xfrm>
            <a:off x="7638024" y="9628108"/>
            <a:ext cx="4492561" cy="1971117"/>
          </a:xfrm>
          <a:prstGeom prst="rect">
            <a:avLst/>
          </a:prstGeom>
          <a:noFill/>
        </p:spPr>
        <p:txBody>
          <a:bodyPr wrap="square" rtlCol="0">
            <a:spAutoFit/>
          </a:bodyPr>
          <a:lstStyle>
            <a:defPPr>
              <a:defRPr lang="fr-FR"/>
            </a:defPPr>
            <a:lvl1pPr marL="342900" indent="-342900">
              <a:lnSpc>
                <a:spcPct val="150000"/>
              </a:lnSpc>
              <a:buFont typeface="Arial" panose="020B0604020202020204" pitchFamily="34" charset="0"/>
              <a:buChar char="•"/>
              <a:defRPr sz="2000">
                <a:solidFill>
                  <a:schemeClr val="bg1">
                    <a:lumMod val="50000"/>
                  </a:schemeClr>
                </a:solidFill>
                <a:latin typeface="Segoe UI" panose="020B0502040204020203" pitchFamily="34" charset="0"/>
                <a:cs typeface="Segoe UI" panose="020B0502040204020203" pitchFamily="34" charset="0"/>
              </a:defRPr>
            </a:lvl1pPr>
          </a:lstStyle>
          <a:p>
            <a:r>
              <a:rPr lang="fr-FR" sz="2100" dirty="0"/>
              <a:t>Avoir une vision d’ensemble pour analyser rapidement les impacts,</a:t>
            </a:r>
          </a:p>
          <a:p>
            <a:r>
              <a:rPr lang="fr-FR" sz="2100" dirty="0"/>
              <a:t>Prioriser les actions</a:t>
            </a:r>
          </a:p>
          <a:p>
            <a:r>
              <a:rPr lang="fr-FR" sz="2100" dirty="0"/>
              <a:t>Communiquer efficacement.</a:t>
            </a:r>
          </a:p>
        </p:txBody>
      </p:sp>
      <p:pic>
        <p:nvPicPr>
          <p:cNvPr id="33" name="Image 32">
            <a:extLst>
              <a:ext uri="{FF2B5EF4-FFF2-40B4-BE49-F238E27FC236}">
                <a16:creationId xmlns:a16="http://schemas.microsoft.com/office/drawing/2014/main" id="{8AF388F3-BBDF-430A-97E2-4358F0D417B5}"/>
              </a:ext>
            </a:extLst>
          </p:cNvPr>
          <p:cNvPicPr>
            <a:picLocks noChangeAspect="1"/>
          </p:cNvPicPr>
          <p:nvPr/>
        </p:nvPicPr>
        <p:blipFill>
          <a:blip r:embed="rId3"/>
          <a:stretch>
            <a:fillRect/>
          </a:stretch>
        </p:blipFill>
        <p:spPr>
          <a:xfrm>
            <a:off x="7711534" y="5700386"/>
            <a:ext cx="3869596" cy="2851943"/>
          </a:xfrm>
          <a:prstGeom prst="rect">
            <a:avLst/>
          </a:prstGeom>
        </p:spPr>
      </p:pic>
      <p:pic>
        <p:nvPicPr>
          <p:cNvPr id="37" name="Image 36">
            <a:extLst>
              <a:ext uri="{FF2B5EF4-FFF2-40B4-BE49-F238E27FC236}">
                <a16:creationId xmlns:a16="http://schemas.microsoft.com/office/drawing/2014/main" id="{1191E89E-30B3-4320-82C9-D9DAE1B2D1C4}"/>
              </a:ext>
            </a:extLst>
          </p:cNvPr>
          <p:cNvPicPr>
            <a:picLocks noChangeAspect="1"/>
          </p:cNvPicPr>
          <p:nvPr/>
        </p:nvPicPr>
        <p:blipFill>
          <a:blip r:embed="rId4"/>
          <a:stretch>
            <a:fillRect/>
          </a:stretch>
        </p:blipFill>
        <p:spPr>
          <a:xfrm>
            <a:off x="13757879" y="5844274"/>
            <a:ext cx="3566467" cy="2695448"/>
          </a:xfrm>
          <a:prstGeom prst="rect">
            <a:avLst/>
          </a:prstGeom>
        </p:spPr>
      </p:pic>
      <p:sp>
        <p:nvSpPr>
          <p:cNvPr id="38" name="ZoneTexte 37">
            <a:extLst>
              <a:ext uri="{FF2B5EF4-FFF2-40B4-BE49-F238E27FC236}">
                <a16:creationId xmlns:a16="http://schemas.microsoft.com/office/drawing/2014/main" id="{B6E9323D-741B-41C3-8C7C-8B4ADBC2D322}"/>
              </a:ext>
            </a:extLst>
          </p:cNvPr>
          <p:cNvSpPr txBox="1"/>
          <p:nvPr/>
        </p:nvSpPr>
        <p:spPr>
          <a:xfrm>
            <a:off x="13232000" y="9628108"/>
            <a:ext cx="4492561" cy="1971117"/>
          </a:xfrm>
          <a:prstGeom prst="rect">
            <a:avLst/>
          </a:prstGeom>
          <a:noFill/>
        </p:spPr>
        <p:txBody>
          <a:bodyPr wrap="square" rtlCol="0">
            <a:spAutoFit/>
          </a:bodyPr>
          <a:lstStyle>
            <a:defPPr>
              <a:defRPr lang="fr-FR"/>
            </a:defPPr>
            <a:lvl1pPr marL="342900" indent="-342900">
              <a:lnSpc>
                <a:spcPct val="150000"/>
              </a:lnSpc>
              <a:buFont typeface="Arial" panose="020B0604020202020204" pitchFamily="34" charset="0"/>
              <a:buChar char="•"/>
              <a:defRPr sz="2100">
                <a:solidFill>
                  <a:schemeClr val="bg1">
                    <a:lumMod val="50000"/>
                  </a:schemeClr>
                </a:solidFill>
                <a:latin typeface="Segoe UI" panose="020B0502040204020203" pitchFamily="34" charset="0"/>
                <a:cs typeface="Segoe UI" panose="020B0502040204020203" pitchFamily="34" charset="0"/>
              </a:defRPr>
            </a:lvl1pPr>
          </a:lstStyle>
          <a:p>
            <a:r>
              <a:rPr lang="fr-FR" dirty="0"/>
              <a:t>Partager un référentiel commun,</a:t>
            </a:r>
          </a:p>
          <a:p>
            <a:r>
              <a:rPr lang="fr-FR" dirty="0"/>
              <a:t>Expliquer les choix, </a:t>
            </a:r>
          </a:p>
          <a:p>
            <a:r>
              <a:rPr lang="fr-FR" dirty="0"/>
              <a:t>Répondre aux questions </a:t>
            </a:r>
          </a:p>
          <a:p>
            <a:r>
              <a:rPr lang="fr-FR" dirty="0"/>
              <a:t>Aligner les attentes.</a:t>
            </a:r>
          </a:p>
        </p:txBody>
      </p:sp>
      <p:sp>
        <p:nvSpPr>
          <p:cNvPr id="39" name="ZoneTexte 38">
            <a:extLst>
              <a:ext uri="{FF2B5EF4-FFF2-40B4-BE49-F238E27FC236}">
                <a16:creationId xmlns:a16="http://schemas.microsoft.com/office/drawing/2014/main" id="{4C448142-420E-4DC6-ADA2-4F305BC91B33}"/>
              </a:ext>
            </a:extLst>
          </p:cNvPr>
          <p:cNvSpPr txBox="1"/>
          <p:nvPr/>
        </p:nvSpPr>
        <p:spPr>
          <a:xfrm>
            <a:off x="18682545" y="9070984"/>
            <a:ext cx="4880161" cy="2940613"/>
          </a:xfrm>
          <a:prstGeom prst="rect">
            <a:avLst/>
          </a:prstGeom>
          <a:noFill/>
        </p:spPr>
        <p:txBody>
          <a:bodyPr wrap="square" rtlCol="0">
            <a:spAutoFit/>
          </a:bodyPr>
          <a:lstStyle>
            <a:defPPr>
              <a:defRPr lang="fr-FR"/>
            </a:defPPr>
            <a:lvl1pPr marL="342900" indent="-342900">
              <a:lnSpc>
                <a:spcPct val="150000"/>
              </a:lnSpc>
              <a:buFont typeface="Arial" panose="020B0604020202020204" pitchFamily="34" charset="0"/>
              <a:buChar char="•"/>
              <a:defRPr sz="2100">
                <a:solidFill>
                  <a:schemeClr val="bg1">
                    <a:lumMod val="50000"/>
                  </a:schemeClr>
                </a:solidFill>
                <a:latin typeface="Segoe UI" panose="020B0502040204020203" pitchFamily="34" charset="0"/>
                <a:cs typeface="Segoe UI" panose="020B0502040204020203" pitchFamily="34" charset="0"/>
              </a:defRPr>
            </a:lvl1pPr>
          </a:lstStyle>
          <a:p>
            <a:r>
              <a:rPr lang="fr-FR" dirty="0"/>
              <a:t>« éviter que le savoir reste dans la tête d’une seule personne. » « Quid si le sachant s’en va? » </a:t>
            </a:r>
          </a:p>
          <a:p>
            <a:r>
              <a:rPr lang="fr-FR" dirty="0"/>
              <a:t>« Difficile de documenter une refonte lorsque l’on n’a pas la documentation du </a:t>
            </a:r>
            <a:r>
              <a:rPr lang="fr-FR" dirty="0" err="1"/>
              <a:t>legacy</a:t>
            </a:r>
            <a:r>
              <a:rPr lang="fr-FR" dirty="0"/>
              <a:t> »</a:t>
            </a:r>
          </a:p>
        </p:txBody>
      </p:sp>
      <p:pic>
        <p:nvPicPr>
          <p:cNvPr id="43" name="Image 42">
            <a:extLst>
              <a:ext uri="{FF2B5EF4-FFF2-40B4-BE49-F238E27FC236}">
                <a16:creationId xmlns:a16="http://schemas.microsoft.com/office/drawing/2014/main" id="{A5163A7F-B7BA-4A35-ADE2-640D87E632E7}"/>
              </a:ext>
            </a:extLst>
          </p:cNvPr>
          <p:cNvPicPr>
            <a:picLocks noChangeAspect="1"/>
          </p:cNvPicPr>
          <p:nvPr/>
        </p:nvPicPr>
        <p:blipFill>
          <a:blip r:embed="rId5"/>
          <a:stretch>
            <a:fillRect/>
          </a:stretch>
        </p:blipFill>
        <p:spPr>
          <a:xfrm>
            <a:off x="19676281" y="5824856"/>
            <a:ext cx="2569832" cy="2819329"/>
          </a:xfrm>
          <a:prstGeom prst="rect">
            <a:avLst/>
          </a:prstGeom>
        </p:spPr>
      </p:pic>
      <p:sp>
        <p:nvSpPr>
          <p:cNvPr id="44" name="Espace réservé du pied de page 1">
            <a:extLst>
              <a:ext uri="{FF2B5EF4-FFF2-40B4-BE49-F238E27FC236}">
                <a16:creationId xmlns:a16="http://schemas.microsoft.com/office/drawing/2014/main" id="{1737CCF1-7A82-4838-A02E-76B7A1EAE291}"/>
              </a:ext>
            </a:extLst>
          </p:cNvPr>
          <p:cNvSpPr>
            <a:spLocks noGrp="1"/>
          </p:cNvSpPr>
          <p:nvPr>
            <p:ph type="ftr" sz="quarter" idx="11"/>
          </p:nvPr>
        </p:nvSpPr>
        <p:spPr>
          <a:xfrm>
            <a:off x="2675466" y="12886262"/>
            <a:ext cx="21031199" cy="450851"/>
          </a:xfrm>
        </p:spPr>
        <p:txBody>
          <a:bodyPr/>
          <a:lstStyle/>
          <a:p>
            <a:r>
              <a:rPr lang="fr-FR" sz="1800" dirty="0"/>
              <a:t>Architecture fonctionnelle de l’OCR F - Cadrage des besoins </a:t>
            </a:r>
            <a:r>
              <a:rPr lang="fr-FR" sz="1800" dirty="0" err="1"/>
              <a:t>niv</a:t>
            </a:r>
            <a:r>
              <a:rPr lang="fr-FR" sz="1800" dirty="0"/>
              <a:t> 2 et 3 - Synthèse des entretiens </a:t>
            </a:r>
            <a:r>
              <a:rPr lang="fr-FR" sz="1800" dirty="0" err="1"/>
              <a:t>REs</a:t>
            </a:r>
            <a:endParaRPr lang="fr-FR" dirty="0"/>
          </a:p>
        </p:txBody>
      </p:sp>
    </p:spTree>
    <p:extLst>
      <p:ext uri="{BB962C8B-B14F-4D97-AF65-F5344CB8AC3E}">
        <p14:creationId xmlns:p14="http://schemas.microsoft.com/office/powerpoint/2010/main" val="33271447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 coins arrondis 16">
            <a:extLst>
              <a:ext uri="{FF2B5EF4-FFF2-40B4-BE49-F238E27FC236}">
                <a16:creationId xmlns:a16="http://schemas.microsoft.com/office/drawing/2014/main" id="{FD17CC0C-0E28-46CB-899B-243A0129C001}"/>
              </a:ext>
            </a:extLst>
          </p:cNvPr>
          <p:cNvSpPr/>
          <p:nvPr/>
        </p:nvSpPr>
        <p:spPr>
          <a:xfrm>
            <a:off x="14504903" y="7806233"/>
            <a:ext cx="9233647" cy="4264831"/>
          </a:xfrm>
          <a:prstGeom prst="roundRect">
            <a:avLst>
              <a:gd name="adj" fmla="val 3635"/>
            </a:avLst>
          </a:prstGeom>
          <a:solidFill>
            <a:srgbClr val="F3F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sp>
        <p:nvSpPr>
          <p:cNvPr id="18" name="Rectangle : coins arrondis 17">
            <a:extLst>
              <a:ext uri="{FF2B5EF4-FFF2-40B4-BE49-F238E27FC236}">
                <a16:creationId xmlns:a16="http://schemas.microsoft.com/office/drawing/2014/main" id="{0755EBC6-4697-45A8-9836-5A31FA117293}"/>
              </a:ext>
            </a:extLst>
          </p:cNvPr>
          <p:cNvSpPr/>
          <p:nvPr/>
        </p:nvSpPr>
        <p:spPr>
          <a:xfrm>
            <a:off x="3245233" y="7806233"/>
            <a:ext cx="8964706" cy="4205993"/>
          </a:xfrm>
          <a:prstGeom prst="roundRect">
            <a:avLst>
              <a:gd name="adj" fmla="val 3635"/>
            </a:avLst>
          </a:prstGeom>
          <a:solidFill>
            <a:srgbClr val="F3F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sp>
        <p:nvSpPr>
          <p:cNvPr id="16" name="Rectangle : coins arrondis 15">
            <a:extLst>
              <a:ext uri="{FF2B5EF4-FFF2-40B4-BE49-F238E27FC236}">
                <a16:creationId xmlns:a16="http://schemas.microsoft.com/office/drawing/2014/main" id="{80DDD42F-FEA6-4028-8780-5B0008AC389E}"/>
              </a:ext>
            </a:extLst>
          </p:cNvPr>
          <p:cNvSpPr/>
          <p:nvPr/>
        </p:nvSpPr>
        <p:spPr>
          <a:xfrm>
            <a:off x="14504903" y="2911504"/>
            <a:ext cx="9233647" cy="4264831"/>
          </a:xfrm>
          <a:prstGeom prst="roundRect">
            <a:avLst>
              <a:gd name="adj" fmla="val 3635"/>
            </a:avLst>
          </a:prstGeom>
          <a:solidFill>
            <a:srgbClr val="F3F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sp>
        <p:nvSpPr>
          <p:cNvPr id="15" name="Rectangle : coins arrondis 14">
            <a:extLst>
              <a:ext uri="{FF2B5EF4-FFF2-40B4-BE49-F238E27FC236}">
                <a16:creationId xmlns:a16="http://schemas.microsoft.com/office/drawing/2014/main" id="{4C374C7C-52DD-46ED-BFAA-CA4557D2C7B2}"/>
              </a:ext>
            </a:extLst>
          </p:cNvPr>
          <p:cNvSpPr/>
          <p:nvPr/>
        </p:nvSpPr>
        <p:spPr>
          <a:xfrm>
            <a:off x="3245233" y="2911504"/>
            <a:ext cx="8964706" cy="4205993"/>
          </a:xfrm>
          <a:prstGeom prst="roundRect">
            <a:avLst>
              <a:gd name="adj" fmla="val 3635"/>
            </a:avLst>
          </a:prstGeom>
          <a:solidFill>
            <a:srgbClr val="F3F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sp>
        <p:nvSpPr>
          <p:cNvPr id="2" name="Titre 1">
            <a:extLst>
              <a:ext uri="{FF2B5EF4-FFF2-40B4-BE49-F238E27FC236}">
                <a16:creationId xmlns:a16="http://schemas.microsoft.com/office/drawing/2014/main" id="{EF69A9C3-FC32-4CD8-A8F2-56739082E426}"/>
              </a:ext>
            </a:extLst>
          </p:cNvPr>
          <p:cNvSpPr>
            <a:spLocks noGrp="1"/>
          </p:cNvSpPr>
          <p:nvPr>
            <p:ph type="title"/>
          </p:nvPr>
        </p:nvSpPr>
        <p:spPr/>
        <p:txBody>
          <a:bodyPr>
            <a:normAutofit fontScale="90000"/>
          </a:bodyPr>
          <a:lstStyle/>
          <a:p>
            <a:r>
              <a:rPr lang="fr-FR" dirty="0"/>
              <a:t>Qu’est ce qu’on a besoin de rendre visible dans la documentation ?</a:t>
            </a:r>
          </a:p>
        </p:txBody>
      </p:sp>
      <p:sp>
        <p:nvSpPr>
          <p:cNvPr id="4" name="Espace réservé du numéro de diapositive 3">
            <a:extLst>
              <a:ext uri="{FF2B5EF4-FFF2-40B4-BE49-F238E27FC236}">
                <a16:creationId xmlns:a16="http://schemas.microsoft.com/office/drawing/2014/main" id="{A060B460-AF69-4641-B055-C94049CD26FA}"/>
              </a:ext>
            </a:extLst>
          </p:cNvPr>
          <p:cNvSpPr>
            <a:spLocks noGrp="1"/>
          </p:cNvSpPr>
          <p:nvPr>
            <p:ph type="sldNum" sz="quarter" idx="12"/>
          </p:nvPr>
        </p:nvSpPr>
        <p:spPr/>
        <p:txBody>
          <a:bodyPr/>
          <a:lstStyle/>
          <a:p>
            <a:fld id="{3EE1DE5A-27D4-4895-8E04-340D57AD09FB}" type="slidenum">
              <a:rPr lang="fr-FR" smtClean="0"/>
              <a:pPr/>
              <a:t>5</a:t>
            </a:fld>
            <a:endParaRPr lang="fr-FR"/>
          </a:p>
        </p:txBody>
      </p:sp>
      <p:sp>
        <p:nvSpPr>
          <p:cNvPr id="6" name="Espace réservé du texte 5">
            <a:extLst>
              <a:ext uri="{FF2B5EF4-FFF2-40B4-BE49-F238E27FC236}">
                <a16:creationId xmlns:a16="http://schemas.microsoft.com/office/drawing/2014/main" id="{A49E5DB4-60A7-438E-B047-30878E017561}"/>
              </a:ext>
            </a:extLst>
          </p:cNvPr>
          <p:cNvSpPr>
            <a:spLocks noGrp="1"/>
          </p:cNvSpPr>
          <p:nvPr>
            <p:ph type="body" sz="quarter" idx="14"/>
          </p:nvPr>
        </p:nvSpPr>
        <p:spPr/>
        <p:txBody>
          <a:bodyPr/>
          <a:lstStyle/>
          <a:p>
            <a:endParaRPr lang="fr-FR" dirty="0"/>
          </a:p>
        </p:txBody>
      </p:sp>
      <p:pic>
        <p:nvPicPr>
          <p:cNvPr id="8" name="Image 7">
            <a:extLst>
              <a:ext uri="{FF2B5EF4-FFF2-40B4-BE49-F238E27FC236}">
                <a16:creationId xmlns:a16="http://schemas.microsoft.com/office/drawing/2014/main" id="{A8E22D28-B06F-4372-97E2-D2BEFEFEF616}"/>
              </a:ext>
            </a:extLst>
          </p:cNvPr>
          <p:cNvPicPr>
            <a:picLocks noChangeAspect="1"/>
          </p:cNvPicPr>
          <p:nvPr/>
        </p:nvPicPr>
        <p:blipFill rotWithShape="1">
          <a:blip r:embed="rId2"/>
          <a:srcRect l="50179" t="50680" r="37334"/>
          <a:stretch/>
        </p:blipFill>
        <p:spPr>
          <a:xfrm>
            <a:off x="12455972" y="7806234"/>
            <a:ext cx="2557451" cy="4367430"/>
          </a:xfrm>
          <a:prstGeom prst="rect">
            <a:avLst/>
          </a:prstGeom>
        </p:spPr>
      </p:pic>
      <p:pic>
        <p:nvPicPr>
          <p:cNvPr id="9" name="Image 8">
            <a:extLst>
              <a:ext uri="{FF2B5EF4-FFF2-40B4-BE49-F238E27FC236}">
                <a16:creationId xmlns:a16="http://schemas.microsoft.com/office/drawing/2014/main" id="{C67B380E-5AA0-473F-B5A4-1A6C61E5B11A}"/>
              </a:ext>
            </a:extLst>
          </p:cNvPr>
          <p:cNvPicPr>
            <a:picLocks noChangeAspect="1"/>
          </p:cNvPicPr>
          <p:nvPr/>
        </p:nvPicPr>
        <p:blipFill rotWithShape="1">
          <a:blip r:embed="rId2"/>
          <a:srcRect l="499" t="1482" r="86567" b="51053"/>
          <a:stretch/>
        </p:blipFill>
        <p:spPr>
          <a:xfrm>
            <a:off x="954251" y="2911504"/>
            <a:ext cx="2689411" cy="4264831"/>
          </a:xfrm>
          <a:prstGeom prst="rect">
            <a:avLst/>
          </a:prstGeom>
        </p:spPr>
      </p:pic>
      <p:pic>
        <p:nvPicPr>
          <p:cNvPr id="11" name="Image 10">
            <a:extLst>
              <a:ext uri="{FF2B5EF4-FFF2-40B4-BE49-F238E27FC236}">
                <a16:creationId xmlns:a16="http://schemas.microsoft.com/office/drawing/2014/main" id="{8472B2E1-865C-4DF0-83B3-EF69834C9D27}"/>
              </a:ext>
            </a:extLst>
          </p:cNvPr>
          <p:cNvPicPr>
            <a:picLocks noChangeAspect="1"/>
          </p:cNvPicPr>
          <p:nvPr/>
        </p:nvPicPr>
        <p:blipFill rotWithShape="1">
          <a:blip r:embed="rId2"/>
          <a:srcRect l="50328" t="664" r="36540" b="51809"/>
          <a:stretch/>
        </p:blipFill>
        <p:spPr>
          <a:xfrm>
            <a:off x="12455972" y="2911504"/>
            <a:ext cx="2689412" cy="4264831"/>
          </a:xfrm>
          <a:prstGeom prst="rect">
            <a:avLst/>
          </a:prstGeom>
        </p:spPr>
      </p:pic>
      <p:pic>
        <p:nvPicPr>
          <p:cNvPr id="12" name="Image 11">
            <a:extLst>
              <a:ext uri="{FF2B5EF4-FFF2-40B4-BE49-F238E27FC236}">
                <a16:creationId xmlns:a16="http://schemas.microsoft.com/office/drawing/2014/main" id="{2D932557-88C9-4A8D-A3CB-C50661D17D26}"/>
              </a:ext>
            </a:extLst>
          </p:cNvPr>
          <p:cNvPicPr>
            <a:picLocks noChangeAspect="1"/>
          </p:cNvPicPr>
          <p:nvPr/>
        </p:nvPicPr>
        <p:blipFill rotWithShape="1">
          <a:blip r:embed="rId2"/>
          <a:srcRect t="50679" r="86105" b="1"/>
          <a:stretch/>
        </p:blipFill>
        <p:spPr>
          <a:xfrm>
            <a:off x="876045" y="7806233"/>
            <a:ext cx="2845822" cy="4278844"/>
          </a:xfrm>
          <a:prstGeom prst="rect">
            <a:avLst/>
          </a:prstGeom>
        </p:spPr>
      </p:pic>
      <p:sp>
        <p:nvSpPr>
          <p:cNvPr id="20" name="ZoneTexte 19">
            <a:extLst>
              <a:ext uri="{FF2B5EF4-FFF2-40B4-BE49-F238E27FC236}">
                <a16:creationId xmlns:a16="http://schemas.microsoft.com/office/drawing/2014/main" id="{7395D347-6585-46C3-897D-D3EC30AB4D7C}"/>
              </a:ext>
            </a:extLst>
          </p:cNvPr>
          <p:cNvSpPr txBox="1"/>
          <p:nvPr/>
        </p:nvSpPr>
        <p:spPr>
          <a:xfrm>
            <a:off x="4061770" y="3060314"/>
            <a:ext cx="7240213" cy="830997"/>
          </a:xfrm>
          <a:prstGeom prst="rect">
            <a:avLst/>
          </a:prstGeom>
          <a:noFill/>
        </p:spPr>
        <p:txBody>
          <a:bodyPr wrap="square">
            <a:spAutoFit/>
          </a:bodyPr>
          <a:lstStyle/>
          <a:p>
            <a:r>
              <a:rPr lang="fr-FR" sz="2400" b="1" dirty="0">
                <a:solidFill>
                  <a:srgbClr val="082447"/>
                </a:solidFill>
              </a:rPr>
              <a:t>Partager des problématiques techniques ou fonctionnelles rencontrées </a:t>
            </a:r>
          </a:p>
        </p:txBody>
      </p:sp>
      <p:pic>
        <p:nvPicPr>
          <p:cNvPr id="22" name="Image 21">
            <a:extLst>
              <a:ext uri="{FF2B5EF4-FFF2-40B4-BE49-F238E27FC236}">
                <a16:creationId xmlns:a16="http://schemas.microsoft.com/office/drawing/2014/main" id="{874E92EB-2D61-4F19-AAFE-8E8B6139D145}"/>
              </a:ext>
            </a:extLst>
          </p:cNvPr>
          <p:cNvPicPr>
            <a:picLocks noChangeAspect="1"/>
          </p:cNvPicPr>
          <p:nvPr/>
        </p:nvPicPr>
        <p:blipFill>
          <a:blip r:embed="rId3"/>
          <a:stretch>
            <a:fillRect/>
          </a:stretch>
        </p:blipFill>
        <p:spPr>
          <a:xfrm>
            <a:off x="10342566" y="4492708"/>
            <a:ext cx="1286054" cy="924054"/>
          </a:xfrm>
          <a:prstGeom prst="rect">
            <a:avLst/>
          </a:prstGeom>
        </p:spPr>
      </p:pic>
      <p:pic>
        <p:nvPicPr>
          <p:cNvPr id="24" name="Image 23">
            <a:extLst>
              <a:ext uri="{FF2B5EF4-FFF2-40B4-BE49-F238E27FC236}">
                <a16:creationId xmlns:a16="http://schemas.microsoft.com/office/drawing/2014/main" id="{031C6D17-90E3-42D9-9B8A-4F5FFFB40F90}"/>
              </a:ext>
            </a:extLst>
          </p:cNvPr>
          <p:cNvPicPr>
            <a:picLocks noChangeAspect="1"/>
          </p:cNvPicPr>
          <p:nvPr/>
        </p:nvPicPr>
        <p:blipFill>
          <a:blip r:embed="rId4"/>
          <a:stretch>
            <a:fillRect/>
          </a:stretch>
        </p:blipFill>
        <p:spPr>
          <a:xfrm>
            <a:off x="10494777" y="5833534"/>
            <a:ext cx="1124107" cy="914528"/>
          </a:xfrm>
          <a:prstGeom prst="rect">
            <a:avLst/>
          </a:prstGeom>
        </p:spPr>
      </p:pic>
      <p:sp>
        <p:nvSpPr>
          <p:cNvPr id="25" name="ZoneTexte 24">
            <a:extLst>
              <a:ext uri="{FF2B5EF4-FFF2-40B4-BE49-F238E27FC236}">
                <a16:creationId xmlns:a16="http://schemas.microsoft.com/office/drawing/2014/main" id="{B9172FAF-04EF-4F6A-BD5C-132866C977BD}"/>
              </a:ext>
            </a:extLst>
          </p:cNvPr>
          <p:cNvSpPr txBox="1"/>
          <p:nvPr/>
        </p:nvSpPr>
        <p:spPr>
          <a:xfrm>
            <a:off x="4061770" y="4505066"/>
            <a:ext cx="6280796" cy="1015663"/>
          </a:xfrm>
          <a:prstGeom prst="rect">
            <a:avLst/>
          </a:prstGeom>
          <a:noFill/>
        </p:spPr>
        <p:txBody>
          <a:bodyPr wrap="square">
            <a:spAutoFit/>
          </a:bodyPr>
          <a:lstStyle/>
          <a:p>
            <a:r>
              <a:rPr lang="fr-FR" sz="2000" dirty="0">
                <a:solidFill>
                  <a:srgbClr val="E06206"/>
                </a:solidFill>
              </a:rPr>
              <a:t>Exemple : </a:t>
            </a:r>
            <a:r>
              <a:rPr lang="fr-FR" sz="2000" dirty="0">
                <a:solidFill>
                  <a:srgbClr val="082447"/>
                </a:solidFill>
              </a:rPr>
              <a:t>Une architecture API Cloud ou un webcomponent déjà produit par une équipe peut en intéresser une autre.</a:t>
            </a:r>
          </a:p>
        </p:txBody>
      </p:sp>
      <p:cxnSp>
        <p:nvCxnSpPr>
          <p:cNvPr id="27" name="Connecteur droit 26">
            <a:extLst>
              <a:ext uri="{FF2B5EF4-FFF2-40B4-BE49-F238E27FC236}">
                <a16:creationId xmlns:a16="http://schemas.microsoft.com/office/drawing/2014/main" id="{3911788B-4F64-4051-8C39-2299433D7885}"/>
              </a:ext>
            </a:extLst>
          </p:cNvPr>
          <p:cNvCxnSpPr/>
          <p:nvPr/>
        </p:nvCxnSpPr>
        <p:spPr>
          <a:xfrm flipV="1">
            <a:off x="4134930" y="5595094"/>
            <a:ext cx="7583741" cy="30053"/>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8" name="Connecteur droit 27">
            <a:extLst>
              <a:ext uri="{FF2B5EF4-FFF2-40B4-BE49-F238E27FC236}">
                <a16:creationId xmlns:a16="http://schemas.microsoft.com/office/drawing/2014/main" id="{085A8DCD-6CB5-4A39-8227-BD17A5D62C0A}"/>
              </a:ext>
            </a:extLst>
          </p:cNvPr>
          <p:cNvCxnSpPr>
            <a:cxnSpLocks/>
          </p:cNvCxnSpPr>
          <p:nvPr/>
        </p:nvCxnSpPr>
        <p:spPr>
          <a:xfrm flipV="1">
            <a:off x="10176066" y="4492708"/>
            <a:ext cx="0" cy="9043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1" name="Connecteur droit 30">
            <a:extLst>
              <a:ext uri="{FF2B5EF4-FFF2-40B4-BE49-F238E27FC236}">
                <a16:creationId xmlns:a16="http://schemas.microsoft.com/office/drawing/2014/main" id="{6BC0F3EF-ADB8-45D2-9BF7-4ED8C22ACB34}"/>
              </a:ext>
            </a:extLst>
          </p:cNvPr>
          <p:cNvCxnSpPr>
            <a:cxnSpLocks/>
          </p:cNvCxnSpPr>
          <p:nvPr/>
        </p:nvCxnSpPr>
        <p:spPr>
          <a:xfrm flipV="1">
            <a:off x="10176066" y="5754580"/>
            <a:ext cx="0" cy="9043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2" name="ZoneTexte 31">
            <a:extLst>
              <a:ext uri="{FF2B5EF4-FFF2-40B4-BE49-F238E27FC236}">
                <a16:creationId xmlns:a16="http://schemas.microsoft.com/office/drawing/2014/main" id="{1C8C05AE-48C0-4B7A-B62B-D26E8F0DA8E7}"/>
              </a:ext>
            </a:extLst>
          </p:cNvPr>
          <p:cNvSpPr txBox="1"/>
          <p:nvPr/>
        </p:nvSpPr>
        <p:spPr>
          <a:xfrm>
            <a:off x="4061770" y="5931530"/>
            <a:ext cx="5696187" cy="707886"/>
          </a:xfrm>
          <a:prstGeom prst="rect">
            <a:avLst/>
          </a:prstGeom>
          <a:noFill/>
        </p:spPr>
        <p:txBody>
          <a:bodyPr wrap="square">
            <a:spAutoFit/>
          </a:bodyPr>
          <a:lstStyle/>
          <a:p>
            <a:r>
              <a:rPr lang="fr-FR" sz="2000" dirty="0">
                <a:solidFill>
                  <a:srgbClr val="E06206"/>
                </a:solidFill>
              </a:rPr>
              <a:t>Exemple : </a:t>
            </a:r>
            <a:r>
              <a:rPr lang="fr-FR" sz="2000" dirty="0">
                <a:solidFill>
                  <a:srgbClr val="082447"/>
                </a:solidFill>
              </a:rPr>
              <a:t>Comment gérer les droits de visualisation basés sur BORG dans une application?</a:t>
            </a:r>
          </a:p>
        </p:txBody>
      </p:sp>
      <p:sp>
        <p:nvSpPr>
          <p:cNvPr id="33" name="ZoneTexte 32">
            <a:extLst>
              <a:ext uri="{FF2B5EF4-FFF2-40B4-BE49-F238E27FC236}">
                <a16:creationId xmlns:a16="http://schemas.microsoft.com/office/drawing/2014/main" id="{0F6307D1-3157-4F6A-ABDD-A7385D841E8B}"/>
              </a:ext>
            </a:extLst>
          </p:cNvPr>
          <p:cNvSpPr txBox="1"/>
          <p:nvPr/>
        </p:nvSpPr>
        <p:spPr>
          <a:xfrm>
            <a:off x="4061770" y="8016362"/>
            <a:ext cx="6733838" cy="830997"/>
          </a:xfrm>
          <a:prstGeom prst="rect">
            <a:avLst/>
          </a:prstGeom>
          <a:noFill/>
        </p:spPr>
        <p:txBody>
          <a:bodyPr wrap="square">
            <a:spAutoFit/>
          </a:bodyPr>
          <a:lstStyle/>
          <a:p>
            <a:r>
              <a:rPr lang="fr-FR" sz="2400" b="1" dirty="0">
                <a:solidFill>
                  <a:srgbClr val="082447"/>
                </a:solidFill>
              </a:rPr>
              <a:t>Une application utilise un webcomponent. Quelle est la recommandation d’usage du Groupe?</a:t>
            </a:r>
          </a:p>
        </p:txBody>
      </p:sp>
      <p:pic>
        <p:nvPicPr>
          <p:cNvPr id="35" name="Image 34">
            <a:extLst>
              <a:ext uri="{FF2B5EF4-FFF2-40B4-BE49-F238E27FC236}">
                <a16:creationId xmlns:a16="http://schemas.microsoft.com/office/drawing/2014/main" id="{6083FE68-BD9E-425B-8FC4-8B2623833D1A}"/>
              </a:ext>
            </a:extLst>
          </p:cNvPr>
          <p:cNvPicPr>
            <a:picLocks noChangeAspect="1"/>
          </p:cNvPicPr>
          <p:nvPr/>
        </p:nvPicPr>
        <p:blipFill>
          <a:blip r:embed="rId5"/>
          <a:stretch>
            <a:fillRect/>
          </a:stretch>
        </p:blipFill>
        <p:spPr>
          <a:xfrm>
            <a:off x="3967900" y="9276093"/>
            <a:ext cx="601662" cy="545256"/>
          </a:xfrm>
          <a:prstGeom prst="rect">
            <a:avLst/>
          </a:prstGeom>
        </p:spPr>
      </p:pic>
      <p:sp>
        <p:nvSpPr>
          <p:cNvPr id="36" name="ZoneTexte 35">
            <a:extLst>
              <a:ext uri="{FF2B5EF4-FFF2-40B4-BE49-F238E27FC236}">
                <a16:creationId xmlns:a16="http://schemas.microsoft.com/office/drawing/2014/main" id="{320F74CB-AC59-4870-9B39-775671291E45}"/>
              </a:ext>
            </a:extLst>
          </p:cNvPr>
          <p:cNvSpPr txBox="1"/>
          <p:nvPr/>
        </p:nvSpPr>
        <p:spPr>
          <a:xfrm>
            <a:off x="4569562" y="9369674"/>
            <a:ext cx="5188395" cy="400110"/>
          </a:xfrm>
          <a:prstGeom prst="rect">
            <a:avLst/>
          </a:prstGeom>
          <a:noFill/>
        </p:spPr>
        <p:txBody>
          <a:bodyPr wrap="square">
            <a:spAutoFit/>
          </a:bodyPr>
          <a:lstStyle/>
          <a:p>
            <a:r>
              <a:rPr lang="fr-FR" sz="2000" dirty="0">
                <a:solidFill>
                  <a:srgbClr val="082447"/>
                </a:solidFill>
              </a:rPr>
              <a:t>Bonnes pratiques d’intégration</a:t>
            </a:r>
          </a:p>
        </p:txBody>
      </p:sp>
      <p:pic>
        <p:nvPicPr>
          <p:cNvPr id="37" name="Image 36">
            <a:extLst>
              <a:ext uri="{FF2B5EF4-FFF2-40B4-BE49-F238E27FC236}">
                <a16:creationId xmlns:a16="http://schemas.microsoft.com/office/drawing/2014/main" id="{3DE0F49A-44F8-48D3-8E7F-39586D13ECE8}"/>
              </a:ext>
            </a:extLst>
          </p:cNvPr>
          <p:cNvPicPr>
            <a:picLocks noChangeAspect="1"/>
          </p:cNvPicPr>
          <p:nvPr/>
        </p:nvPicPr>
        <p:blipFill>
          <a:blip r:embed="rId5"/>
          <a:stretch>
            <a:fillRect/>
          </a:stretch>
        </p:blipFill>
        <p:spPr>
          <a:xfrm>
            <a:off x="3967900" y="10062477"/>
            <a:ext cx="601662" cy="545256"/>
          </a:xfrm>
          <a:prstGeom prst="rect">
            <a:avLst/>
          </a:prstGeom>
        </p:spPr>
      </p:pic>
      <p:sp>
        <p:nvSpPr>
          <p:cNvPr id="38" name="ZoneTexte 37">
            <a:extLst>
              <a:ext uri="{FF2B5EF4-FFF2-40B4-BE49-F238E27FC236}">
                <a16:creationId xmlns:a16="http://schemas.microsoft.com/office/drawing/2014/main" id="{4696A709-91CE-4FF8-A47F-5F231CB00506}"/>
              </a:ext>
            </a:extLst>
          </p:cNvPr>
          <p:cNvSpPr txBox="1"/>
          <p:nvPr/>
        </p:nvSpPr>
        <p:spPr>
          <a:xfrm>
            <a:off x="4569562" y="10156058"/>
            <a:ext cx="5188395" cy="400110"/>
          </a:xfrm>
          <a:prstGeom prst="rect">
            <a:avLst/>
          </a:prstGeom>
          <a:noFill/>
        </p:spPr>
        <p:txBody>
          <a:bodyPr wrap="square">
            <a:spAutoFit/>
          </a:bodyPr>
          <a:lstStyle/>
          <a:p>
            <a:r>
              <a:rPr lang="fr-FR" sz="2000" dirty="0">
                <a:solidFill>
                  <a:srgbClr val="082447"/>
                </a:solidFill>
              </a:rPr>
              <a:t>Règles d’usage et de personnalisation</a:t>
            </a:r>
          </a:p>
        </p:txBody>
      </p:sp>
      <p:pic>
        <p:nvPicPr>
          <p:cNvPr id="39" name="Image 38">
            <a:extLst>
              <a:ext uri="{FF2B5EF4-FFF2-40B4-BE49-F238E27FC236}">
                <a16:creationId xmlns:a16="http://schemas.microsoft.com/office/drawing/2014/main" id="{019A5DFE-3692-4729-991D-9C7F3300DF85}"/>
              </a:ext>
            </a:extLst>
          </p:cNvPr>
          <p:cNvPicPr>
            <a:picLocks noChangeAspect="1"/>
          </p:cNvPicPr>
          <p:nvPr/>
        </p:nvPicPr>
        <p:blipFill>
          <a:blip r:embed="rId5"/>
          <a:stretch>
            <a:fillRect/>
          </a:stretch>
        </p:blipFill>
        <p:spPr>
          <a:xfrm>
            <a:off x="3967900" y="10812285"/>
            <a:ext cx="601662" cy="545256"/>
          </a:xfrm>
          <a:prstGeom prst="rect">
            <a:avLst/>
          </a:prstGeom>
        </p:spPr>
      </p:pic>
      <p:sp>
        <p:nvSpPr>
          <p:cNvPr id="40" name="ZoneTexte 39">
            <a:extLst>
              <a:ext uri="{FF2B5EF4-FFF2-40B4-BE49-F238E27FC236}">
                <a16:creationId xmlns:a16="http://schemas.microsoft.com/office/drawing/2014/main" id="{400E3092-7662-477A-96B5-44756725541E}"/>
              </a:ext>
            </a:extLst>
          </p:cNvPr>
          <p:cNvSpPr txBox="1"/>
          <p:nvPr/>
        </p:nvSpPr>
        <p:spPr>
          <a:xfrm>
            <a:off x="4569562" y="10905866"/>
            <a:ext cx="5188395" cy="400110"/>
          </a:xfrm>
          <a:prstGeom prst="rect">
            <a:avLst/>
          </a:prstGeom>
          <a:noFill/>
        </p:spPr>
        <p:txBody>
          <a:bodyPr wrap="square">
            <a:spAutoFit/>
          </a:bodyPr>
          <a:lstStyle/>
          <a:p>
            <a:r>
              <a:rPr lang="fr-FR" sz="2000" dirty="0">
                <a:solidFill>
                  <a:srgbClr val="082447"/>
                </a:solidFill>
              </a:rPr>
              <a:t>Compatibilités et dépendances</a:t>
            </a:r>
          </a:p>
        </p:txBody>
      </p:sp>
      <p:sp>
        <p:nvSpPr>
          <p:cNvPr id="41" name="Rectangle : coins arrondis 40">
            <a:extLst>
              <a:ext uri="{FF2B5EF4-FFF2-40B4-BE49-F238E27FC236}">
                <a16:creationId xmlns:a16="http://schemas.microsoft.com/office/drawing/2014/main" id="{F3D0026E-EC97-4E74-9CC0-780596641BA4}"/>
              </a:ext>
            </a:extLst>
          </p:cNvPr>
          <p:cNvSpPr/>
          <p:nvPr/>
        </p:nvSpPr>
        <p:spPr>
          <a:xfrm>
            <a:off x="9470938" y="9276092"/>
            <a:ext cx="2147946" cy="2537955"/>
          </a:xfrm>
          <a:prstGeom prst="roundRect">
            <a:avLst>
              <a:gd name="adj" fmla="val 4747"/>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pic>
        <p:nvPicPr>
          <p:cNvPr id="43" name="Image 42">
            <a:extLst>
              <a:ext uri="{FF2B5EF4-FFF2-40B4-BE49-F238E27FC236}">
                <a16:creationId xmlns:a16="http://schemas.microsoft.com/office/drawing/2014/main" id="{70280044-C6B2-4B21-9CB4-7DF443369B83}"/>
              </a:ext>
            </a:extLst>
          </p:cNvPr>
          <p:cNvPicPr>
            <a:picLocks noChangeAspect="1"/>
          </p:cNvPicPr>
          <p:nvPr/>
        </p:nvPicPr>
        <p:blipFill>
          <a:blip r:embed="rId6"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0193946" y="9423517"/>
            <a:ext cx="601662" cy="601662"/>
          </a:xfrm>
          <a:prstGeom prst="rect">
            <a:avLst/>
          </a:prstGeom>
        </p:spPr>
      </p:pic>
      <p:sp>
        <p:nvSpPr>
          <p:cNvPr id="44" name="ZoneTexte 43">
            <a:extLst>
              <a:ext uri="{FF2B5EF4-FFF2-40B4-BE49-F238E27FC236}">
                <a16:creationId xmlns:a16="http://schemas.microsoft.com/office/drawing/2014/main" id="{571BD39B-6EE1-487F-B240-E67FCA015529}"/>
              </a:ext>
            </a:extLst>
          </p:cNvPr>
          <p:cNvSpPr txBox="1"/>
          <p:nvPr/>
        </p:nvSpPr>
        <p:spPr>
          <a:xfrm>
            <a:off x="9337027" y="10089101"/>
            <a:ext cx="2415767" cy="1631216"/>
          </a:xfrm>
          <a:prstGeom prst="rect">
            <a:avLst/>
          </a:prstGeom>
          <a:noFill/>
        </p:spPr>
        <p:txBody>
          <a:bodyPr wrap="square">
            <a:spAutoFit/>
          </a:bodyPr>
          <a:lstStyle/>
          <a:p>
            <a:pPr algn="ctr"/>
            <a:r>
              <a:rPr lang="fr-FR" sz="2000" dirty="0">
                <a:solidFill>
                  <a:srgbClr val="082447"/>
                </a:solidFill>
              </a:rPr>
              <a:t>Partager et harmoniser les usages</a:t>
            </a:r>
          </a:p>
          <a:p>
            <a:pPr algn="ctr"/>
            <a:r>
              <a:rPr lang="fr-FR" sz="2000" dirty="0">
                <a:solidFill>
                  <a:srgbClr val="082447"/>
                </a:solidFill>
              </a:rPr>
              <a:t>Garantir la</a:t>
            </a:r>
          </a:p>
          <a:p>
            <a:pPr algn="ctr"/>
            <a:r>
              <a:rPr lang="fr-FR" sz="2000" dirty="0">
                <a:solidFill>
                  <a:srgbClr val="082447"/>
                </a:solidFill>
              </a:rPr>
              <a:t> cohérence</a:t>
            </a:r>
          </a:p>
        </p:txBody>
      </p:sp>
      <p:sp>
        <p:nvSpPr>
          <p:cNvPr id="47" name="ZoneTexte 46">
            <a:extLst>
              <a:ext uri="{FF2B5EF4-FFF2-40B4-BE49-F238E27FC236}">
                <a16:creationId xmlns:a16="http://schemas.microsoft.com/office/drawing/2014/main" id="{D1498C62-F7DB-464D-B7CE-3AEEFD64CA51}"/>
              </a:ext>
            </a:extLst>
          </p:cNvPr>
          <p:cNvSpPr txBox="1"/>
          <p:nvPr/>
        </p:nvSpPr>
        <p:spPr>
          <a:xfrm>
            <a:off x="15400330" y="3151754"/>
            <a:ext cx="6451234" cy="1200329"/>
          </a:xfrm>
          <a:prstGeom prst="rect">
            <a:avLst/>
          </a:prstGeom>
          <a:noFill/>
        </p:spPr>
        <p:txBody>
          <a:bodyPr wrap="square">
            <a:spAutoFit/>
          </a:bodyPr>
          <a:lstStyle/>
          <a:p>
            <a:r>
              <a:rPr lang="fr-FR" sz="2400" b="1" dirty="0">
                <a:solidFill>
                  <a:srgbClr val="082447"/>
                </a:solidFill>
              </a:rPr>
              <a:t>Savoir à quel niveau du processus les équipes interviennent</a:t>
            </a:r>
          </a:p>
          <a:p>
            <a:r>
              <a:rPr lang="fr-FR" sz="2400" b="1" dirty="0">
                <a:solidFill>
                  <a:srgbClr val="082447"/>
                </a:solidFill>
              </a:rPr>
              <a:t>Où commence un appel et où il se termine ?</a:t>
            </a:r>
          </a:p>
        </p:txBody>
      </p:sp>
      <p:pic>
        <p:nvPicPr>
          <p:cNvPr id="49" name="Image 48">
            <a:extLst>
              <a:ext uri="{FF2B5EF4-FFF2-40B4-BE49-F238E27FC236}">
                <a16:creationId xmlns:a16="http://schemas.microsoft.com/office/drawing/2014/main" id="{6ED3AF1F-9143-4AA1-88EE-19628CFCF9AF}"/>
              </a:ext>
            </a:extLst>
          </p:cNvPr>
          <p:cNvPicPr>
            <a:picLocks noChangeAspect="1"/>
          </p:cNvPicPr>
          <p:nvPr/>
        </p:nvPicPr>
        <p:blipFill>
          <a:blip r:embed="rId7"/>
          <a:stretch>
            <a:fillRect/>
          </a:stretch>
        </p:blipFill>
        <p:spPr>
          <a:xfrm>
            <a:off x="16038753" y="4937077"/>
            <a:ext cx="6451234" cy="1854095"/>
          </a:xfrm>
          <a:prstGeom prst="rect">
            <a:avLst/>
          </a:prstGeom>
        </p:spPr>
      </p:pic>
      <p:sp>
        <p:nvSpPr>
          <p:cNvPr id="50" name="ZoneTexte 49">
            <a:extLst>
              <a:ext uri="{FF2B5EF4-FFF2-40B4-BE49-F238E27FC236}">
                <a16:creationId xmlns:a16="http://schemas.microsoft.com/office/drawing/2014/main" id="{C95BE835-755A-473C-A712-EA3C55E08021}"/>
              </a:ext>
            </a:extLst>
          </p:cNvPr>
          <p:cNvSpPr txBox="1"/>
          <p:nvPr/>
        </p:nvSpPr>
        <p:spPr>
          <a:xfrm>
            <a:off x="15400330" y="7979786"/>
            <a:ext cx="7976094" cy="1200329"/>
          </a:xfrm>
          <a:prstGeom prst="rect">
            <a:avLst/>
          </a:prstGeom>
          <a:noFill/>
        </p:spPr>
        <p:txBody>
          <a:bodyPr wrap="square">
            <a:spAutoFit/>
          </a:bodyPr>
          <a:lstStyle/>
          <a:p>
            <a:r>
              <a:rPr lang="fr-FR" sz="2400" b="1" dirty="0">
                <a:solidFill>
                  <a:srgbClr val="082447"/>
                </a:solidFill>
              </a:rPr>
              <a:t>Connaitre le regroupement fonctionnel des outils : quelles sont les subtilités d’utilisations ? Pour quels cas d’usages et pour quels clients?</a:t>
            </a:r>
          </a:p>
        </p:txBody>
      </p:sp>
      <p:sp>
        <p:nvSpPr>
          <p:cNvPr id="51" name="Rectangle : coins arrondis 50">
            <a:extLst>
              <a:ext uri="{FF2B5EF4-FFF2-40B4-BE49-F238E27FC236}">
                <a16:creationId xmlns:a16="http://schemas.microsoft.com/office/drawing/2014/main" id="{D8F51006-8334-4BEA-B098-E72A9C56E865}"/>
              </a:ext>
            </a:extLst>
          </p:cNvPr>
          <p:cNvSpPr/>
          <p:nvPr/>
        </p:nvSpPr>
        <p:spPr>
          <a:xfrm>
            <a:off x="15259456" y="9180115"/>
            <a:ext cx="3412592" cy="1774998"/>
          </a:xfrm>
          <a:prstGeom prst="roundRect">
            <a:avLst>
              <a:gd name="adj" fmla="val 4747"/>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sp>
        <p:nvSpPr>
          <p:cNvPr id="52" name="Rectangle : coins arrondis 51">
            <a:extLst>
              <a:ext uri="{FF2B5EF4-FFF2-40B4-BE49-F238E27FC236}">
                <a16:creationId xmlns:a16="http://schemas.microsoft.com/office/drawing/2014/main" id="{DBBF5570-FF68-4E7E-9C42-2503788770F1}"/>
              </a:ext>
            </a:extLst>
          </p:cNvPr>
          <p:cNvSpPr/>
          <p:nvPr/>
        </p:nvSpPr>
        <p:spPr>
          <a:xfrm>
            <a:off x="18854927" y="9201909"/>
            <a:ext cx="4653027" cy="1753204"/>
          </a:xfrm>
          <a:prstGeom prst="roundRect">
            <a:avLst>
              <a:gd name="adj" fmla="val 4747"/>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sp>
        <p:nvSpPr>
          <p:cNvPr id="53" name="Rectangle : coins arrondis 52">
            <a:extLst>
              <a:ext uri="{FF2B5EF4-FFF2-40B4-BE49-F238E27FC236}">
                <a16:creationId xmlns:a16="http://schemas.microsoft.com/office/drawing/2014/main" id="{E09FBE90-D1E3-4ED5-9A21-6962DC9C411E}"/>
              </a:ext>
            </a:extLst>
          </p:cNvPr>
          <p:cNvSpPr/>
          <p:nvPr/>
        </p:nvSpPr>
        <p:spPr>
          <a:xfrm>
            <a:off x="15259456" y="11108392"/>
            <a:ext cx="8248498" cy="833227"/>
          </a:xfrm>
          <a:prstGeom prst="roundRect">
            <a:avLst>
              <a:gd name="adj" fmla="val 4747"/>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pic>
        <p:nvPicPr>
          <p:cNvPr id="55" name="Image 54">
            <a:extLst>
              <a:ext uri="{FF2B5EF4-FFF2-40B4-BE49-F238E27FC236}">
                <a16:creationId xmlns:a16="http://schemas.microsoft.com/office/drawing/2014/main" id="{7572F86B-9E5C-4151-94C3-41F04C803150}"/>
              </a:ext>
            </a:extLst>
          </p:cNvPr>
          <p:cNvPicPr>
            <a:picLocks noChangeAspect="1"/>
          </p:cNvPicPr>
          <p:nvPr/>
        </p:nvPicPr>
        <p:blipFill>
          <a:blip r:embed="rId8"/>
          <a:stretch>
            <a:fillRect/>
          </a:stretch>
        </p:blipFill>
        <p:spPr>
          <a:xfrm>
            <a:off x="15758001" y="10045217"/>
            <a:ext cx="543001" cy="400106"/>
          </a:xfrm>
          <a:prstGeom prst="rect">
            <a:avLst/>
          </a:prstGeom>
        </p:spPr>
      </p:pic>
      <p:pic>
        <p:nvPicPr>
          <p:cNvPr id="57" name="Image 56">
            <a:extLst>
              <a:ext uri="{FF2B5EF4-FFF2-40B4-BE49-F238E27FC236}">
                <a16:creationId xmlns:a16="http://schemas.microsoft.com/office/drawing/2014/main" id="{992FF1C5-32FA-4259-92D2-57A3CD92D404}"/>
              </a:ext>
            </a:extLst>
          </p:cNvPr>
          <p:cNvPicPr>
            <a:picLocks noChangeAspect="1"/>
          </p:cNvPicPr>
          <p:nvPr/>
        </p:nvPicPr>
        <p:blipFill>
          <a:blip r:embed="rId9"/>
          <a:stretch>
            <a:fillRect/>
          </a:stretch>
        </p:blipFill>
        <p:spPr>
          <a:xfrm>
            <a:off x="17492191" y="10021401"/>
            <a:ext cx="381053" cy="447737"/>
          </a:xfrm>
          <a:prstGeom prst="rect">
            <a:avLst/>
          </a:prstGeom>
        </p:spPr>
      </p:pic>
      <p:sp>
        <p:nvSpPr>
          <p:cNvPr id="59" name="ZoneTexte 58">
            <a:extLst>
              <a:ext uri="{FF2B5EF4-FFF2-40B4-BE49-F238E27FC236}">
                <a16:creationId xmlns:a16="http://schemas.microsoft.com/office/drawing/2014/main" id="{56F32D17-0021-493A-89E0-C4B27AFB038B}"/>
              </a:ext>
            </a:extLst>
          </p:cNvPr>
          <p:cNvSpPr txBox="1"/>
          <p:nvPr/>
        </p:nvSpPr>
        <p:spPr>
          <a:xfrm>
            <a:off x="15417754" y="9320099"/>
            <a:ext cx="3126278" cy="707886"/>
          </a:xfrm>
          <a:prstGeom prst="rect">
            <a:avLst/>
          </a:prstGeom>
          <a:noFill/>
        </p:spPr>
        <p:txBody>
          <a:bodyPr wrap="square">
            <a:spAutoFit/>
          </a:bodyPr>
          <a:lstStyle/>
          <a:p>
            <a:r>
              <a:rPr lang="fr-FR" sz="2000" dirty="0">
                <a:solidFill>
                  <a:srgbClr val="E06206"/>
                </a:solidFill>
              </a:rPr>
              <a:t>Exemple : </a:t>
            </a:r>
            <a:r>
              <a:rPr lang="fr-FR" sz="2000" dirty="0">
                <a:solidFill>
                  <a:srgbClr val="082447"/>
                </a:solidFill>
              </a:rPr>
              <a:t>Plusieurs outils pour faire de l’annotation :</a:t>
            </a:r>
          </a:p>
        </p:txBody>
      </p:sp>
      <p:sp>
        <p:nvSpPr>
          <p:cNvPr id="60" name="ZoneTexte 59">
            <a:extLst>
              <a:ext uri="{FF2B5EF4-FFF2-40B4-BE49-F238E27FC236}">
                <a16:creationId xmlns:a16="http://schemas.microsoft.com/office/drawing/2014/main" id="{74F8E840-6A7A-4209-A407-D168B9559180}"/>
              </a:ext>
            </a:extLst>
          </p:cNvPr>
          <p:cNvSpPr txBox="1"/>
          <p:nvPr/>
        </p:nvSpPr>
        <p:spPr>
          <a:xfrm>
            <a:off x="18947338" y="9246947"/>
            <a:ext cx="4560616" cy="707886"/>
          </a:xfrm>
          <a:prstGeom prst="rect">
            <a:avLst/>
          </a:prstGeom>
          <a:noFill/>
        </p:spPr>
        <p:txBody>
          <a:bodyPr wrap="square">
            <a:spAutoFit/>
          </a:bodyPr>
          <a:lstStyle/>
          <a:p>
            <a:r>
              <a:rPr lang="fr-FR" sz="2000" dirty="0">
                <a:solidFill>
                  <a:srgbClr val="E06206"/>
                </a:solidFill>
              </a:rPr>
              <a:t>Exemple : </a:t>
            </a:r>
            <a:r>
              <a:rPr lang="fr-FR" sz="2000" dirty="0">
                <a:solidFill>
                  <a:srgbClr val="082447"/>
                </a:solidFill>
              </a:rPr>
              <a:t>Plusieurs outils pour faire l’acquisition de documents :</a:t>
            </a:r>
          </a:p>
        </p:txBody>
      </p:sp>
      <p:pic>
        <p:nvPicPr>
          <p:cNvPr id="62" name="Image 61">
            <a:extLst>
              <a:ext uri="{FF2B5EF4-FFF2-40B4-BE49-F238E27FC236}">
                <a16:creationId xmlns:a16="http://schemas.microsoft.com/office/drawing/2014/main" id="{D5324BFA-49F5-419C-BCD8-A0D5A991383D}"/>
              </a:ext>
            </a:extLst>
          </p:cNvPr>
          <p:cNvPicPr>
            <a:picLocks noChangeAspect="1"/>
          </p:cNvPicPr>
          <p:nvPr/>
        </p:nvPicPr>
        <p:blipFill>
          <a:blip r:embed="rId10"/>
          <a:stretch>
            <a:fillRect/>
          </a:stretch>
        </p:blipFill>
        <p:spPr>
          <a:xfrm>
            <a:off x="15373117" y="11334478"/>
            <a:ext cx="447737" cy="381053"/>
          </a:xfrm>
          <a:prstGeom prst="rect">
            <a:avLst/>
          </a:prstGeom>
        </p:spPr>
      </p:pic>
      <p:sp>
        <p:nvSpPr>
          <p:cNvPr id="63" name="ZoneTexte 62">
            <a:extLst>
              <a:ext uri="{FF2B5EF4-FFF2-40B4-BE49-F238E27FC236}">
                <a16:creationId xmlns:a16="http://schemas.microsoft.com/office/drawing/2014/main" id="{B963E400-485A-4299-B0CE-4BC87AF879D0}"/>
              </a:ext>
            </a:extLst>
          </p:cNvPr>
          <p:cNvSpPr txBox="1"/>
          <p:nvPr/>
        </p:nvSpPr>
        <p:spPr>
          <a:xfrm>
            <a:off x="15861363" y="11195602"/>
            <a:ext cx="7863062" cy="707886"/>
          </a:xfrm>
          <a:prstGeom prst="rect">
            <a:avLst/>
          </a:prstGeom>
          <a:noFill/>
        </p:spPr>
        <p:txBody>
          <a:bodyPr wrap="square">
            <a:spAutoFit/>
          </a:bodyPr>
          <a:lstStyle/>
          <a:p>
            <a:r>
              <a:rPr lang="fr-FR" sz="2000" dirty="0">
                <a:solidFill>
                  <a:srgbClr val="082447"/>
                </a:solidFill>
              </a:rPr>
              <a:t>Décrire pour chaque outil : ses usages et ses limites, les bonnes </a:t>
            </a:r>
          </a:p>
          <a:p>
            <a:r>
              <a:rPr lang="fr-FR" sz="2000" dirty="0">
                <a:solidFill>
                  <a:srgbClr val="082447"/>
                </a:solidFill>
              </a:rPr>
              <a:t>pratiques, le périmètre, les pré requis, des exemples de client utilisateur</a:t>
            </a:r>
          </a:p>
        </p:txBody>
      </p:sp>
      <p:cxnSp>
        <p:nvCxnSpPr>
          <p:cNvPr id="64" name="Connecteur droit 63">
            <a:extLst>
              <a:ext uri="{FF2B5EF4-FFF2-40B4-BE49-F238E27FC236}">
                <a16:creationId xmlns:a16="http://schemas.microsoft.com/office/drawing/2014/main" id="{33AEF342-70A9-45F4-B00A-8E60E2899408}"/>
              </a:ext>
            </a:extLst>
          </p:cNvPr>
          <p:cNvCxnSpPr>
            <a:cxnSpLocks/>
          </p:cNvCxnSpPr>
          <p:nvPr/>
        </p:nvCxnSpPr>
        <p:spPr>
          <a:xfrm flipV="1">
            <a:off x="16875570" y="10205353"/>
            <a:ext cx="0" cy="497119"/>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6" name="ZoneTexte 65">
            <a:extLst>
              <a:ext uri="{FF2B5EF4-FFF2-40B4-BE49-F238E27FC236}">
                <a16:creationId xmlns:a16="http://schemas.microsoft.com/office/drawing/2014/main" id="{C5F858FD-498C-48EE-A992-E61937D58661}"/>
              </a:ext>
            </a:extLst>
          </p:cNvPr>
          <p:cNvSpPr txBox="1"/>
          <p:nvPr/>
        </p:nvSpPr>
        <p:spPr>
          <a:xfrm>
            <a:off x="15646501" y="10480543"/>
            <a:ext cx="950105" cy="400110"/>
          </a:xfrm>
          <a:prstGeom prst="rect">
            <a:avLst/>
          </a:prstGeom>
          <a:noFill/>
        </p:spPr>
        <p:txBody>
          <a:bodyPr wrap="square">
            <a:spAutoFit/>
          </a:bodyPr>
          <a:lstStyle/>
          <a:p>
            <a:r>
              <a:rPr lang="fr-FR" sz="2000" dirty="0" err="1">
                <a:solidFill>
                  <a:srgbClr val="173456"/>
                </a:solidFill>
              </a:rPr>
              <a:t>Tagtic</a:t>
            </a:r>
            <a:endParaRPr lang="fr-FR" sz="2000" dirty="0">
              <a:solidFill>
                <a:srgbClr val="173456"/>
              </a:solidFill>
            </a:endParaRPr>
          </a:p>
        </p:txBody>
      </p:sp>
      <p:sp>
        <p:nvSpPr>
          <p:cNvPr id="67" name="ZoneTexte 66">
            <a:extLst>
              <a:ext uri="{FF2B5EF4-FFF2-40B4-BE49-F238E27FC236}">
                <a16:creationId xmlns:a16="http://schemas.microsoft.com/office/drawing/2014/main" id="{693DD615-A01B-4D20-BBE9-ED1D4F224BC8}"/>
              </a:ext>
            </a:extLst>
          </p:cNvPr>
          <p:cNvSpPr txBox="1"/>
          <p:nvPr/>
        </p:nvSpPr>
        <p:spPr>
          <a:xfrm>
            <a:off x="17200981" y="10480543"/>
            <a:ext cx="950105" cy="400110"/>
          </a:xfrm>
          <a:prstGeom prst="rect">
            <a:avLst/>
          </a:prstGeom>
          <a:noFill/>
        </p:spPr>
        <p:txBody>
          <a:bodyPr wrap="square">
            <a:spAutoFit/>
          </a:bodyPr>
          <a:lstStyle/>
          <a:p>
            <a:r>
              <a:rPr lang="fr-FR" sz="2000" dirty="0" err="1">
                <a:solidFill>
                  <a:srgbClr val="173456"/>
                </a:solidFill>
              </a:rPr>
              <a:t>Sysweb</a:t>
            </a:r>
            <a:endParaRPr lang="fr-FR" sz="2000" dirty="0">
              <a:solidFill>
                <a:srgbClr val="173456"/>
              </a:solidFill>
            </a:endParaRPr>
          </a:p>
        </p:txBody>
      </p:sp>
      <p:sp>
        <p:nvSpPr>
          <p:cNvPr id="68" name="ZoneTexte 67">
            <a:extLst>
              <a:ext uri="{FF2B5EF4-FFF2-40B4-BE49-F238E27FC236}">
                <a16:creationId xmlns:a16="http://schemas.microsoft.com/office/drawing/2014/main" id="{8E121696-CC60-4A01-A36B-9966BF55E54F}"/>
              </a:ext>
            </a:extLst>
          </p:cNvPr>
          <p:cNvSpPr txBox="1"/>
          <p:nvPr/>
        </p:nvSpPr>
        <p:spPr>
          <a:xfrm>
            <a:off x="18938341" y="10480543"/>
            <a:ext cx="1261676" cy="400110"/>
          </a:xfrm>
          <a:prstGeom prst="rect">
            <a:avLst/>
          </a:prstGeom>
          <a:noFill/>
        </p:spPr>
        <p:txBody>
          <a:bodyPr wrap="square">
            <a:spAutoFit/>
          </a:bodyPr>
          <a:lstStyle/>
          <a:p>
            <a:r>
              <a:rPr lang="fr-FR" sz="2000" dirty="0" err="1">
                <a:solidFill>
                  <a:srgbClr val="173456"/>
                </a:solidFill>
              </a:rPr>
              <a:t>PDFtoSyo</a:t>
            </a:r>
            <a:endParaRPr lang="fr-FR" sz="2000" dirty="0">
              <a:solidFill>
                <a:srgbClr val="173456"/>
              </a:solidFill>
            </a:endParaRPr>
          </a:p>
        </p:txBody>
      </p:sp>
      <p:sp>
        <p:nvSpPr>
          <p:cNvPr id="69" name="ZoneTexte 68">
            <a:extLst>
              <a:ext uri="{FF2B5EF4-FFF2-40B4-BE49-F238E27FC236}">
                <a16:creationId xmlns:a16="http://schemas.microsoft.com/office/drawing/2014/main" id="{35DA62C9-7CAA-4FFE-9A9A-681E820E9D1B}"/>
              </a:ext>
            </a:extLst>
          </p:cNvPr>
          <p:cNvSpPr txBox="1"/>
          <p:nvPr/>
        </p:nvSpPr>
        <p:spPr>
          <a:xfrm>
            <a:off x="20492821" y="10480543"/>
            <a:ext cx="1261676" cy="400110"/>
          </a:xfrm>
          <a:prstGeom prst="rect">
            <a:avLst/>
          </a:prstGeom>
          <a:noFill/>
        </p:spPr>
        <p:txBody>
          <a:bodyPr wrap="square">
            <a:spAutoFit/>
          </a:bodyPr>
          <a:lstStyle/>
          <a:p>
            <a:r>
              <a:rPr lang="fr-FR" sz="2000" dirty="0">
                <a:solidFill>
                  <a:srgbClr val="173456"/>
                </a:solidFill>
                <a:highlight>
                  <a:srgbClr val="FFFF00"/>
                </a:highlight>
              </a:rPr>
              <a:t>?</a:t>
            </a:r>
          </a:p>
        </p:txBody>
      </p:sp>
      <p:sp>
        <p:nvSpPr>
          <p:cNvPr id="73" name="ZoneTexte 72">
            <a:extLst>
              <a:ext uri="{FF2B5EF4-FFF2-40B4-BE49-F238E27FC236}">
                <a16:creationId xmlns:a16="http://schemas.microsoft.com/office/drawing/2014/main" id="{81234764-A4D8-4AE9-A251-C5DB95520996}"/>
              </a:ext>
            </a:extLst>
          </p:cNvPr>
          <p:cNvSpPr txBox="1"/>
          <p:nvPr/>
        </p:nvSpPr>
        <p:spPr>
          <a:xfrm>
            <a:off x="22047301" y="10480543"/>
            <a:ext cx="1261676" cy="400110"/>
          </a:xfrm>
          <a:prstGeom prst="rect">
            <a:avLst/>
          </a:prstGeom>
          <a:noFill/>
        </p:spPr>
        <p:txBody>
          <a:bodyPr wrap="square">
            <a:spAutoFit/>
          </a:bodyPr>
          <a:lstStyle/>
          <a:p>
            <a:r>
              <a:rPr lang="fr-FR" sz="2000" dirty="0">
                <a:solidFill>
                  <a:srgbClr val="173456"/>
                </a:solidFill>
                <a:highlight>
                  <a:srgbClr val="FFFF00"/>
                </a:highlight>
              </a:rPr>
              <a:t>?</a:t>
            </a:r>
          </a:p>
        </p:txBody>
      </p:sp>
      <p:pic>
        <p:nvPicPr>
          <p:cNvPr id="75" name="Image 74">
            <a:extLst>
              <a:ext uri="{FF2B5EF4-FFF2-40B4-BE49-F238E27FC236}">
                <a16:creationId xmlns:a16="http://schemas.microsoft.com/office/drawing/2014/main" id="{381A6AE8-CDE9-4C95-80BB-83B268F2A108}"/>
              </a:ext>
            </a:extLst>
          </p:cNvPr>
          <p:cNvPicPr>
            <a:picLocks noChangeAspect="1"/>
          </p:cNvPicPr>
          <p:nvPr/>
        </p:nvPicPr>
        <p:blipFill>
          <a:blip r:embed="rId11"/>
          <a:stretch>
            <a:fillRect/>
          </a:stretch>
        </p:blipFill>
        <p:spPr>
          <a:xfrm>
            <a:off x="19322770" y="9950077"/>
            <a:ext cx="476316" cy="504895"/>
          </a:xfrm>
          <a:prstGeom prst="rect">
            <a:avLst/>
          </a:prstGeom>
        </p:spPr>
      </p:pic>
      <p:cxnSp>
        <p:nvCxnSpPr>
          <p:cNvPr id="76" name="Connecteur droit 75">
            <a:extLst>
              <a:ext uri="{FF2B5EF4-FFF2-40B4-BE49-F238E27FC236}">
                <a16:creationId xmlns:a16="http://schemas.microsoft.com/office/drawing/2014/main" id="{4FA3AA1E-A40C-4AE8-B1DB-6A65C70A2129}"/>
              </a:ext>
            </a:extLst>
          </p:cNvPr>
          <p:cNvCxnSpPr>
            <a:cxnSpLocks/>
          </p:cNvCxnSpPr>
          <p:nvPr/>
        </p:nvCxnSpPr>
        <p:spPr>
          <a:xfrm flipV="1">
            <a:off x="20350290" y="10205353"/>
            <a:ext cx="0" cy="497119"/>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7" name="Connecteur droit 76">
            <a:extLst>
              <a:ext uri="{FF2B5EF4-FFF2-40B4-BE49-F238E27FC236}">
                <a16:creationId xmlns:a16="http://schemas.microsoft.com/office/drawing/2014/main" id="{D533205D-5143-4F3A-994E-38DA8B7E8B4C}"/>
              </a:ext>
            </a:extLst>
          </p:cNvPr>
          <p:cNvCxnSpPr>
            <a:cxnSpLocks/>
          </p:cNvCxnSpPr>
          <p:nvPr/>
        </p:nvCxnSpPr>
        <p:spPr>
          <a:xfrm flipV="1">
            <a:off x="21849906" y="10205353"/>
            <a:ext cx="0" cy="497119"/>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79" name="Image 78">
            <a:extLst>
              <a:ext uri="{FF2B5EF4-FFF2-40B4-BE49-F238E27FC236}">
                <a16:creationId xmlns:a16="http://schemas.microsoft.com/office/drawing/2014/main" id="{66FFFEBC-175F-49BE-A98E-0F3038DF6235}"/>
              </a:ext>
            </a:extLst>
          </p:cNvPr>
          <p:cNvPicPr>
            <a:picLocks noChangeAspect="1"/>
          </p:cNvPicPr>
          <p:nvPr/>
        </p:nvPicPr>
        <p:blipFill>
          <a:blip r:embed="rId12"/>
          <a:stretch>
            <a:fillRect/>
          </a:stretch>
        </p:blipFill>
        <p:spPr>
          <a:xfrm>
            <a:off x="20838996" y="9986319"/>
            <a:ext cx="590632" cy="476316"/>
          </a:xfrm>
          <a:prstGeom prst="rect">
            <a:avLst/>
          </a:prstGeom>
        </p:spPr>
      </p:pic>
      <p:pic>
        <p:nvPicPr>
          <p:cNvPr id="81" name="Image 80">
            <a:extLst>
              <a:ext uri="{FF2B5EF4-FFF2-40B4-BE49-F238E27FC236}">
                <a16:creationId xmlns:a16="http://schemas.microsoft.com/office/drawing/2014/main" id="{93C03555-39DE-4367-B588-4E745F5F243B}"/>
              </a:ext>
            </a:extLst>
          </p:cNvPr>
          <p:cNvPicPr>
            <a:picLocks noChangeAspect="1"/>
          </p:cNvPicPr>
          <p:nvPr/>
        </p:nvPicPr>
        <p:blipFill>
          <a:blip r:embed="rId13"/>
          <a:stretch>
            <a:fillRect/>
          </a:stretch>
        </p:blipFill>
        <p:spPr>
          <a:xfrm>
            <a:off x="22391663" y="9893509"/>
            <a:ext cx="676369" cy="466790"/>
          </a:xfrm>
          <a:prstGeom prst="rect">
            <a:avLst/>
          </a:prstGeom>
        </p:spPr>
      </p:pic>
      <p:sp>
        <p:nvSpPr>
          <p:cNvPr id="84" name="Espace réservé du pied de page 1">
            <a:extLst>
              <a:ext uri="{FF2B5EF4-FFF2-40B4-BE49-F238E27FC236}">
                <a16:creationId xmlns:a16="http://schemas.microsoft.com/office/drawing/2014/main" id="{0DA84A90-00C3-48A8-A839-A1BB24666623}"/>
              </a:ext>
            </a:extLst>
          </p:cNvPr>
          <p:cNvSpPr>
            <a:spLocks noGrp="1"/>
          </p:cNvSpPr>
          <p:nvPr>
            <p:ph type="ftr" sz="quarter" idx="11"/>
          </p:nvPr>
        </p:nvSpPr>
        <p:spPr>
          <a:xfrm>
            <a:off x="2675466" y="12886262"/>
            <a:ext cx="21031199" cy="450851"/>
          </a:xfrm>
        </p:spPr>
        <p:txBody>
          <a:bodyPr/>
          <a:lstStyle/>
          <a:p>
            <a:r>
              <a:rPr lang="fr-FR" sz="1800" dirty="0"/>
              <a:t>Architecture fonctionnelle de l’OCR F - Cadrage des besoins </a:t>
            </a:r>
            <a:r>
              <a:rPr lang="fr-FR" sz="1800" dirty="0" err="1"/>
              <a:t>niv</a:t>
            </a:r>
            <a:r>
              <a:rPr lang="fr-FR" sz="1800" dirty="0"/>
              <a:t> 2 et 3 - Synthèse des entretiens </a:t>
            </a:r>
            <a:r>
              <a:rPr lang="fr-FR" sz="1800" dirty="0" err="1"/>
              <a:t>REs</a:t>
            </a:r>
            <a:endParaRPr lang="fr-FR" dirty="0"/>
          </a:p>
        </p:txBody>
      </p:sp>
    </p:spTree>
    <p:extLst>
      <p:ext uri="{BB962C8B-B14F-4D97-AF65-F5344CB8AC3E}">
        <p14:creationId xmlns:p14="http://schemas.microsoft.com/office/powerpoint/2010/main" val="41396194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 coins arrondis 16">
            <a:extLst>
              <a:ext uri="{FF2B5EF4-FFF2-40B4-BE49-F238E27FC236}">
                <a16:creationId xmlns:a16="http://schemas.microsoft.com/office/drawing/2014/main" id="{C8C4A872-A982-4FE8-AB1B-5BAE21AC15D7}"/>
              </a:ext>
            </a:extLst>
          </p:cNvPr>
          <p:cNvSpPr/>
          <p:nvPr/>
        </p:nvSpPr>
        <p:spPr>
          <a:xfrm>
            <a:off x="1499631" y="6562165"/>
            <a:ext cx="21736887" cy="6303542"/>
          </a:xfrm>
          <a:prstGeom prst="roundRect">
            <a:avLst>
              <a:gd name="adj" fmla="val 4451"/>
            </a:avLst>
          </a:prstGeom>
          <a:solidFill>
            <a:srgbClr val="082447"/>
          </a:solidFill>
          <a:ln>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sp>
        <p:nvSpPr>
          <p:cNvPr id="2" name="Titre 1">
            <a:extLst>
              <a:ext uri="{FF2B5EF4-FFF2-40B4-BE49-F238E27FC236}">
                <a16:creationId xmlns:a16="http://schemas.microsoft.com/office/drawing/2014/main" id="{EF69A9C3-FC32-4CD8-A8F2-56739082E426}"/>
              </a:ext>
            </a:extLst>
          </p:cNvPr>
          <p:cNvSpPr>
            <a:spLocks noGrp="1"/>
          </p:cNvSpPr>
          <p:nvPr>
            <p:ph type="title"/>
          </p:nvPr>
        </p:nvSpPr>
        <p:spPr/>
        <p:txBody>
          <a:bodyPr/>
          <a:lstStyle/>
          <a:p>
            <a:r>
              <a:rPr lang="fr-FR" dirty="0"/>
              <a:t>Quelle solution envisager ?</a:t>
            </a:r>
          </a:p>
        </p:txBody>
      </p:sp>
      <p:sp>
        <p:nvSpPr>
          <p:cNvPr id="4" name="Espace réservé du numéro de diapositive 3">
            <a:extLst>
              <a:ext uri="{FF2B5EF4-FFF2-40B4-BE49-F238E27FC236}">
                <a16:creationId xmlns:a16="http://schemas.microsoft.com/office/drawing/2014/main" id="{A060B460-AF69-4641-B055-C94049CD26FA}"/>
              </a:ext>
            </a:extLst>
          </p:cNvPr>
          <p:cNvSpPr>
            <a:spLocks noGrp="1"/>
          </p:cNvSpPr>
          <p:nvPr>
            <p:ph type="sldNum" sz="quarter" idx="12"/>
          </p:nvPr>
        </p:nvSpPr>
        <p:spPr/>
        <p:txBody>
          <a:bodyPr/>
          <a:lstStyle/>
          <a:p>
            <a:fld id="{3EE1DE5A-27D4-4895-8E04-340D57AD09FB}" type="slidenum">
              <a:rPr lang="fr-FR" smtClean="0"/>
              <a:pPr/>
              <a:t>6</a:t>
            </a:fld>
            <a:endParaRPr lang="fr-FR"/>
          </a:p>
        </p:txBody>
      </p:sp>
      <p:sp>
        <p:nvSpPr>
          <p:cNvPr id="6" name="Espace réservé du texte 5">
            <a:extLst>
              <a:ext uri="{FF2B5EF4-FFF2-40B4-BE49-F238E27FC236}">
                <a16:creationId xmlns:a16="http://schemas.microsoft.com/office/drawing/2014/main" id="{A49E5DB4-60A7-438E-B047-30878E017561}"/>
              </a:ext>
            </a:extLst>
          </p:cNvPr>
          <p:cNvSpPr>
            <a:spLocks noGrp="1"/>
          </p:cNvSpPr>
          <p:nvPr>
            <p:ph type="body" sz="quarter" idx="14"/>
          </p:nvPr>
        </p:nvSpPr>
        <p:spPr/>
        <p:txBody>
          <a:bodyPr/>
          <a:lstStyle/>
          <a:p>
            <a:r>
              <a:rPr lang="fr-FR" dirty="0"/>
              <a:t>Identifier la bonne granularité et penser à la maintenance</a:t>
            </a:r>
          </a:p>
        </p:txBody>
      </p:sp>
      <p:sp>
        <p:nvSpPr>
          <p:cNvPr id="44" name="Espace réservé du pied de page 1">
            <a:extLst>
              <a:ext uri="{FF2B5EF4-FFF2-40B4-BE49-F238E27FC236}">
                <a16:creationId xmlns:a16="http://schemas.microsoft.com/office/drawing/2014/main" id="{1737CCF1-7A82-4838-A02E-76B7A1EAE291}"/>
              </a:ext>
            </a:extLst>
          </p:cNvPr>
          <p:cNvSpPr>
            <a:spLocks noGrp="1"/>
          </p:cNvSpPr>
          <p:nvPr>
            <p:ph type="ftr" sz="quarter" idx="11"/>
          </p:nvPr>
        </p:nvSpPr>
        <p:spPr>
          <a:xfrm>
            <a:off x="2675466" y="12886262"/>
            <a:ext cx="21031199" cy="450851"/>
          </a:xfrm>
        </p:spPr>
        <p:txBody>
          <a:bodyPr/>
          <a:lstStyle/>
          <a:p>
            <a:r>
              <a:rPr lang="fr-FR" sz="1800" dirty="0"/>
              <a:t>Architecture fonctionnelle de l’OCR F - Cadrage des besoins </a:t>
            </a:r>
            <a:r>
              <a:rPr lang="fr-FR" sz="1800" dirty="0" err="1"/>
              <a:t>niv</a:t>
            </a:r>
            <a:r>
              <a:rPr lang="fr-FR" sz="1800" dirty="0"/>
              <a:t> 2 et 3 - Synthèse des entretiens </a:t>
            </a:r>
            <a:r>
              <a:rPr lang="fr-FR" sz="1800" dirty="0" err="1"/>
              <a:t>REs</a:t>
            </a:r>
            <a:endParaRPr lang="fr-FR" dirty="0"/>
          </a:p>
        </p:txBody>
      </p:sp>
      <p:sp>
        <p:nvSpPr>
          <p:cNvPr id="21" name="Rectangle : coins arrondis 20">
            <a:extLst>
              <a:ext uri="{FF2B5EF4-FFF2-40B4-BE49-F238E27FC236}">
                <a16:creationId xmlns:a16="http://schemas.microsoft.com/office/drawing/2014/main" id="{DDE451A8-422F-43D2-8E28-71982954A737}"/>
              </a:ext>
            </a:extLst>
          </p:cNvPr>
          <p:cNvSpPr/>
          <p:nvPr/>
        </p:nvSpPr>
        <p:spPr>
          <a:xfrm>
            <a:off x="1672755" y="7621866"/>
            <a:ext cx="7058869" cy="5124834"/>
          </a:xfrm>
          <a:prstGeom prst="roundRect">
            <a:avLst>
              <a:gd name="adj" fmla="val 2185"/>
            </a:avLst>
          </a:prstGeom>
          <a:solidFill>
            <a:srgbClr val="F1F1F2"/>
          </a:solidFill>
          <a:ln>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sp>
        <p:nvSpPr>
          <p:cNvPr id="28" name="Rectangle : coins arrondis 27">
            <a:extLst>
              <a:ext uri="{FF2B5EF4-FFF2-40B4-BE49-F238E27FC236}">
                <a16:creationId xmlns:a16="http://schemas.microsoft.com/office/drawing/2014/main" id="{C92A086A-034D-42D8-9082-65CD5A43ABD8}"/>
              </a:ext>
            </a:extLst>
          </p:cNvPr>
          <p:cNvSpPr/>
          <p:nvPr/>
        </p:nvSpPr>
        <p:spPr>
          <a:xfrm>
            <a:off x="8844520" y="7621866"/>
            <a:ext cx="7058869" cy="5124834"/>
          </a:xfrm>
          <a:prstGeom prst="roundRect">
            <a:avLst>
              <a:gd name="adj" fmla="val 2185"/>
            </a:avLst>
          </a:prstGeom>
          <a:solidFill>
            <a:srgbClr val="F1F1F2"/>
          </a:solidFill>
          <a:ln>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sp>
        <p:nvSpPr>
          <p:cNvPr id="32" name="Rectangle : coins arrondis 31">
            <a:extLst>
              <a:ext uri="{FF2B5EF4-FFF2-40B4-BE49-F238E27FC236}">
                <a16:creationId xmlns:a16="http://schemas.microsoft.com/office/drawing/2014/main" id="{6357A4BB-7BD0-48FE-916F-ABA7E62F0E62}"/>
              </a:ext>
            </a:extLst>
          </p:cNvPr>
          <p:cNvSpPr/>
          <p:nvPr/>
        </p:nvSpPr>
        <p:spPr>
          <a:xfrm>
            <a:off x="15998356" y="7621866"/>
            <a:ext cx="7058869" cy="5124834"/>
          </a:xfrm>
          <a:prstGeom prst="roundRect">
            <a:avLst>
              <a:gd name="adj" fmla="val 2185"/>
            </a:avLst>
          </a:prstGeom>
          <a:solidFill>
            <a:srgbClr val="F1F1F2"/>
          </a:solidFill>
          <a:ln>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pic>
        <p:nvPicPr>
          <p:cNvPr id="5" name="Image 4">
            <a:extLst>
              <a:ext uri="{FF2B5EF4-FFF2-40B4-BE49-F238E27FC236}">
                <a16:creationId xmlns:a16="http://schemas.microsoft.com/office/drawing/2014/main" id="{F0A2BCAD-E5F8-45D8-A38A-6EA5661FA217}"/>
              </a:ext>
            </a:extLst>
          </p:cNvPr>
          <p:cNvPicPr>
            <a:picLocks noChangeAspect="1"/>
          </p:cNvPicPr>
          <p:nvPr/>
        </p:nvPicPr>
        <p:blipFill rotWithShape="1">
          <a:blip r:embed="rId3"/>
          <a:srcRect l="35836" t="11620"/>
          <a:stretch/>
        </p:blipFill>
        <p:spPr>
          <a:xfrm>
            <a:off x="1904599" y="6777313"/>
            <a:ext cx="802392" cy="758228"/>
          </a:xfrm>
          <a:prstGeom prst="rect">
            <a:avLst/>
          </a:prstGeom>
        </p:spPr>
      </p:pic>
      <p:sp>
        <p:nvSpPr>
          <p:cNvPr id="34" name="ZoneTexte 33">
            <a:extLst>
              <a:ext uri="{FF2B5EF4-FFF2-40B4-BE49-F238E27FC236}">
                <a16:creationId xmlns:a16="http://schemas.microsoft.com/office/drawing/2014/main" id="{58E41B5F-E910-4918-A171-762FD91C2F17}"/>
              </a:ext>
            </a:extLst>
          </p:cNvPr>
          <p:cNvSpPr txBox="1"/>
          <p:nvPr/>
        </p:nvSpPr>
        <p:spPr>
          <a:xfrm>
            <a:off x="2840569" y="6733202"/>
            <a:ext cx="8671268" cy="577530"/>
          </a:xfrm>
          <a:prstGeom prst="rect">
            <a:avLst/>
          </a:prstGeom>
          <a:noFill/>
        </p:spPr>
        <p:txBody>
          <a:bodyPr wrap="square" rtlCol="0">
            <a:spAutoFit/>
          </a:bodyPr>
          <a:lstStyle>
            <a:defPPr>
              <a:defRPr lang="fr-FR"/>
            </a:defPPr>
            <a:lvl1pPr marL="342900" indent="-342900">
              <a:lnSpc>
                <a:spcPct val="150000"/>
              </a:lnSpc>
              <a:buFont typeface="Arial" panose="020B0604020202020204" pitchFamily="34" charset="0"/>
              <a:buChar char="•"/>
              <a:defRPr sz="2000">
                <a:solidFill>
                  <a:schemeClr val="bg1">
                    <a:lumMod val="50000"/>
                  </a:schemeClr>
                </a:solidFill>
                <a:latin typeface="Segoe UI" panose="020B0502040204020203" pitchFamily="34" charset="0"/>
                <a:cs typeface="Segoe UI" panose="020B0502040204020203" pitchFamily="34" charset="0"/>
              </a:defRPr>
            </a:lvl1pPr>
          </a:lstStyle>
          <a:p>
            <a:pPr marL="0" indent="0">
              <a:buNone/>
            </a:pPr>
            <a:r>
              <a:rPr lang="fr-FR" sz="2400" b="1" dirty="0">
                <a:solidFill>
                  <a:schemeClr val="bg1"/>
                </a:solidFill>
              </a:rPr>
              <a:t>Solution envisagée : 3 niveaux de documentation</a:t>
            </a:r>
          </a:p>
        </p:txBody>
      </p:sp>
      <p:sp>
        <p:nvSpPr>
          <p:cNvPr id="24" name="Ellipse 23">
            <a:extLst>
              <a:ext uri="{FF2B5EF4-FFF2-40B4-BE49-F238E27FC236}">
                <a16:creationId xmlns:a16="http://schemas.microsoft.com/office/drawing/2014/main" id="{595522CE-F4CF-4F05-A87E-687EE574EBBC}"/>
              </a:ext>
            </a:extLst>
          </p:cNvPr>
          <p:cNvSpPr/>
          <p:nvPr/>
        </p:nvSpPr>
        <p:spPr>
          <a:xfrm>
            <a:off x="1904599" y="8225176"/>
            <a:ext cx="536169" cy="53586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solidFill>
                  <a:schemeClr val="bg1"/>
                </a:solidFill>
                <a:latin typeface="Segoe UI" panose="020B0502040204020203" pitchFamily="34" charset="0"/>
                <a:cs typeface="Segoe UI" panose="020B0502040204020203" pitchFamily="34" charset="0"/>
              </a:rPr>
              <a:t>1</a:t>
            </a:r>
          </a:p>
        </p:txBody>
      </p:sp>
      <p:sp>
        <p:nvSpPr>
          <p:cNvPr id="35" name="ZoneTexte 34">
            <a:extLst>
              <a:ext uri="{FF2B5EF4-FFF2-40B4-BE49-F238E27FC236}">
                <a16:creationId xmlns:a16="http://schemas.microsoft.com/office/drawing/2014/main" id="{4DFA4E67-0518-4484-8843-BF95A5909322}"/>
              </a:ext>
            </a:extLst>
          </p:cNvPr>
          <p:cNvSpPr txBox="1"/>
          <p:nvPr/>
        </p:nvSpPr>
        <p:spPr>
          <a:xfrm>
            <a:off x="2664266" y="8120737"/>
            <a:ext cx="5843859" cy="830997"/>
          </a:xfrm>
          <a:prstGeom prst="rect">
            <a:avLst/>
          </a:prstGeom>
          <a:noFill/>
        </p:spPr>
        <p:txBody>
          <a:bodyPr wrap="square" rtlCol="0">
            <a:spAutoFit/>
          </a:bodyPr>
          <a:lstStyle>
            <a:defPPr>
              <a:defRPr lang="fr-FR"/>
            </a:defPPr>
            <a:lvl1pPr marL="342900" indent="-342900">
              <a:lnSpc>
                <a:spcPct val="150000"/>
              </a:lnSpc>
              <a:buFont typeface="Arial" panose="020B0604020202020204" pitchFamily="34" charset="0"/>
              <a:buChar char="•"/>
              <a:defRPr sz="2000">
                <a:solidFill>
                  <a:schemeClr val="bg1">
                    <a:lumMod val="50000"/>
                  </a:schemeClr>
                </a:solidFill>
                <a:latin typeface="Segoe UI" panose="020B0502040204020203" pitchFamily="34" charset="0"/>
                <a:cs typeface="Segoe UI" panose="020B0502040204020203" pitchFamily="34" charset="0"/>
              </a:defRPr>
            </a:lvl1pPr>
          </a:lstStyle>
          <a:p>
            <a:pPr marL="0" indent="0">
              <a:lnSpc>
                <a:spcPct val="100000"/>
              </a:lnSpc>
              <a:buNone/>
            </a:pPr>
            <a:r>
              <a:rPr lang="fr-FR" sz="2400" b="1" dirty="0">
                <a:solidFill>
                  <a:srgbClr val="002060"/>
                </a:solidFill>
              </a:rPr>
              <a:t>La vue statique : la fiche d’identité des applications</a:t>
            </a:r>
          </a:p>
        </p:txBody>
      </p:sp>
      <p:sp>
        <p:nvSpPr>
          <p:cNvPr id="36" name="Ellipse 35">
            <a:extLst>
              <a:ext uri="{FF2B5EF4-FFF2-40B4-BE49-F238E27FC236}">
                <a16:creationId xmlns:a16="http://schemas.microsoft.com/office/drawing/2014/main" id="{22B1FB58-940F-40E7-AC9F-1687F64D5D77}"/>
              </a:ext>
            </a:extLst>
          </p:cNvPr>
          <p:cNvSpPr/>
          <p:nvPr/>
        </p:nvSpPr>
        <p:spPr>
          <a:xfrm>
            <a:off x="8950858" y="8081742"/>
            <a:ext cx="536169" cy="53586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solidFill>
                  <a:schemeClr val="bg1"/>
                </a:solidFill>
                <a:latin typeface="Segoe UI" panose="020B0502040204020203" pitchFamily="34" charset="0"/>
                <a:cs typeface="Segoe UI" panose="020B0502040204020203" pitchFamily="34" charset="0"/>
              </a:rPr>
              <a:t>2</a:t>
            </a:r>
          </a:p>
        </p:txBody>
      </p:sp>
      <p:sp>
        <p:nvSpPr>
          <p:cNvPr id="40" name="ZoneTexte 39">
            <a:extLst>
              <a:ext uri="{FF2B5EF4-FFF2-40B4-BE49-F238E27FC236}">
                <a16:creationId xmlns:a16="http://schemas.microsoft.com/office/drawing/2014/main" id="{907E9C1C-24C1-43EB-A134-A0BC10C0F1E3}"/>
              </a:ext>
            </a:extLst>
          </p:cNvPr>
          <p:cNvSpPr txBox="1"/>
          <p:nvPr/>
        </p:nvSpPr>
        <p:spPr>
          <a:xfrm>
            <a:off x="9710525" y="7977303"/>
            <a:ext cx="5843859" cy="830997"/>
          </a:xfrm>
          <a:prstGeom prst="rect">
            <a:avLst/>
          </a:prstGeom>
          <a:noFill/>
        </p:spPr>
        <p:txBody>
          <a:bodyPr wrap="square" rtlCol="0">
            <a:spAutoFit/>
          </a:bodyPr>
          <a:lstStyle>
            <a:defPPr>
              <a:defRPr lang="fr-FR"/>
            </a:defPPr>
            <a:lvl1pPr marL="342900" indent="-342900">
              <a:lnSpc>
                <a:spcPct val="150000"/>
              </a:lnSpc>
              <a:buFont typeface="Arial" panose="020B0604020202020204" pitchFamily="34" charset="0"/>
              <a:buChar char="•"/>
              <a:defRPr sz="2000">
                <a:solidFill>
                  <a:schemeClr val="bg1">
                    <a:lumMod val="50000"/>
                  </a:schemeClr>
                </a:solidFill>
                <a:latin typeface="Segoe UI" panose="020B0502040204020203" pitchFamily="34" charset="0"/>
                <a:cs typeface="Segoe UI" panose="020B0502040204020203" pitchFamily="34" charset="0"/>
              </a:defRPr>
            </a:lvl1pPr>
          </a:lstStyle>
          <a:p>
            <a:pPr marL="0" indent="0">
              <a:lnSpc>
                <a:spcPct val="100000"/>
              </a:lnSpc>
              <a:buNone/>
            </a:pPr>
            <a:r>
              <a:rPr lang="fr-FR" sz="2400" b="1" dirty="0">
                <a:solidFill>
                  <a:srgbClr val="002060"/>
                </a:solidFill>
              </a:rPr>
              <a:t>La vue dynamique : les schémas des services et interactions</a:t>
            </a:r>
          </a:p>
        </p:txBody>
      </p:sp>
      <p:sp>
        <p:nvSpPr>
          <p:cNvPr id="41" name="Ellipse 40">
            <a:extLst>
              <a:ext uri="{FF2B5EF4-FFF2-40B4-BE49-F238E27FC236}">
                <a16:creationId xmlns:a16="http://schemas.microsoft.com/office/drawing/2014/main" id="{122CFFC7-CD3B-4579-B1AA-262362466DBF}"/>
              </a:ext>
            </a:extLst>
          </p:cNvPr>
          <p:cNvSpPr/>
          <p:nvPr/>
        </p:nvSpPr>
        <p:spPr>
          <a:xfrm>
            <a:off x="16248129" y="8081742"/>
            <a:ext cx="536169" cy="53586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solidFill>
                  <a:schemeClr val="bg1"/>
                </a:solidFill>
                <a:latin typeface="Segoe UI" panose="020B0502040204020203" pitchFamily="34" charset="0"/>
                <a:cs typeface="Segoe UI" panose="020B0502040204020203" pitchFamily="34" charset="0"/>
              </a:rPr>
              <a:t>3</a:t>
            </a:r>
          </a:p>
        </p:txBody>
      </p:sp>
      <p:sp>
        <p:nvSpPr>
          <p:cNvPr id="42" name="ZoneTexte 41">
            <a:extLst>
              <a:ext uri="{FF2B5EF4-FFF2-40B4-BE49-F238E27FC236}">
                <a16:creationId xmlns:a16="http://schemas.microsoft.com/office/drawing/2014/main" id="{78989BA9-EFD4-49D8-A7F5-3B4F41E101B0}"/>
              </a:ext>
            </a:extLst>
          </p:cNvPr>
          <p:cNvSpPr txBox="1"/>
          <p:nvPr/>
        </p:nvSpPr>
        <p:spPr>
          <a:xfrm>
            <a:off x="17007796" y="7977303"/>
            <a:ext cx="5843859" cy="830997"/>
          </a:xfrm>
          <a:prstGeom prst="rect">
            <a:avLst/>
          </a:prstGeom>
          <a:noFill/>
        </p:spPr>
        <p:txBody>
          <a:bodyPr wrap="square" rtlCol="0">
            <a:spAutoFit/>
          </a:bodyPr>
          <a:lstStyle>
            <a:defPPr>
              <a:defRPr lang="fr-FR"/>
            </a:defPPr>
            <a:lvl1pPr marL="342900" indent="-342900">
              <a:lnSpc>
                <a:spcPct val="150000"/>
              </a:lnSpc>
              <a:buFont typeface="Arial" panose="020B0604020202020204" pitchFamily="34" charset="0"/>
              <a:buChar char="•"/>
              <a:defRPr sz="2000">
                <a:solidFill>
                  <a:schemeClr val="bg1">
                    <a:lumMod val="50000"/>
                  </a:schemeClr>
                </a:solidFill>
                <a:latin typeface="Segoe UI" panose="020B0502040204020203" pitchFamily="34" charset="0"/>
                <a:cs typeface="Segoe UI" panose="020B0502040204020203" pitchFamily="34" charset="0"/>
              </a:defRPr>
            </a:lvl1pPr>
          </a:lstStyle>
          <a:p>
            <a:pPr marL="0" indent="0">
              <a:lnSpc>
                <a:spcPct val="100000"/>
              </a:lnSpc>
              <a:buNone/>
            </a:pPr>
            <a:r>
              <a:rPr lang="fr-FR" sz="2400" b="1" dirty="0">
                <a:solidFill>
                  <a:srgbClr val="002060"/>
                </a:solidFill>
              </a:rPr>
              <a:t>La documentation détaillée des équipes </a:t>
            </a:r>
            <a:r>
              <a:rPr lang="fr-FR" sz="2400" b="1" dirty="0"/>
              <a:t>(hors périmètre de ce cadrage)</a:t>
            </a:r>
          </a:p>
        </p:txBody>
      </p:sp>
      <p:pic>
        <p:nvPicPr>
          <p:cNvPr id="9" name="Image 8">
            <a:extLst>
              <a:ext uri="{FF2B5EF4-FFF2-40B4-BE49-F238E27FC236}">
                <a16:creationId xmlns:a16="http://schemas.microsoft.com/office/drawing/2014/main" id="{7EF55B4D-4DEB-4AD7-8510-F9466F5F8821}"/>
              </a:ext>
            </a:extLst>
          </p:cNvPr>
          <p:cNvPicPr>
            <a:picLocks noChangeAspect="1"/>
          </p:cNvPicPr>
          <p:nvPr/>
        </p:nvPicPr>
        <p:blipFill>
          <a:blip r:embed="rId4"/>
          <a:stretch>
            <a:fillRect/>
          </a:stretch>
        </p:blipFill>
        <p:spPr>
          <a:xfrm>
            <a:off x="2007838" y="9350341"/>
            <a:ext cx="2070934" cy="2366782"/>
          </a:xfrm>
          <a:prstGeom prst="rect">
            <a:avLst/>
          </a:prstGeom>
        </p:spPr>
      </p:pic>
      <p:sp>
        <p:nvSpPr>
          <p:cNvPr id="31" name="ZoneTexte 30">
            <a:extLst>
              <a:ext uri="{FF2B5EF4-FFF2-40B4-BE49-F238E27FC236}">
                <a16:creationId xmlns:a16="http://schemas.microsoft.com/office/drawing/2014/main" id="{E8B8A2D4-3F9B-49ED-B47B-064D7AD92EF8}"/>
              </a:ext>
            </a:extLst>
          </p:cNvPr>
          <p:cNvSpPr txBox="1"/>
          <p:nvPr/>
        </p:nvSpPr>
        <p:spPr>
          <a:xfrm>
            <a:off x="4638104" y="9601290"/>
            <a:ext cx="3534188" cy="1862048"/>
          </a:xfrm>
          <a:prstGeom prst="rect">
            <a:avLst/>
          </a:prstGeom>
          <a:noFill/>
        </p:spPr>
        <p:txBody>
          <a:bodyPr wrap="square" rtlCol="0">
            <a:spAutoFit/>
          </a:bodyPr>
          <a:lstStyle>
            <a:defPPr>
              <a:defRPr lang="fr-FR"/>
            </a:defPPr>
            <a:lvl1pPr marL="342900" indent="-342900">
              <a:lnSpc>
                <a:spcPct val="150000"/>
              </a:lnSpc>
              <a:buFont typeface="Arial" panose="020B0604020202020204" pitchFamily="34" charset="0"/>
              <a:buChar char="•"/>
              <a:defRPr sz="2000">
                <a:solidFill>
                  <a:schemeClr val="bg1">
                    <a:lumMod val="50000"/>
                  </a:schemeClr>
                </a:solidFill>
                <a:latin typeface="Segoe UI" panose="020B0502040204020203" pitchFamily="34" charset="0"/>
                <a:cs typeface="Segoe UI" panose="020B0502040204020203" pitchFamily="34" charset="0"/>
              </a:defRPr>
            </a:lvl1pPr>
          </a:lstStyle>
          <a:p>
            <a:pPr marL="0" indent="0">
              <a:lnSpc>
                <a:spcPct val="100000"/>
              </a:lnSpc>
              <a:buNone/>
            </a:pPr>
            <a:r>
              <a:rPr lang="fr-FR" sz="2300" dirty="0">
                <a:solidFill>
                  <a:srgbClr val="002060"/>
                </a:solidFill>
              </a:rPr>
              <a:t>Documenter les applications dans un « </a:t>
            </a:r>
            <a:r>
              <a:rPr lang="fr-FR" sz="2300" dirty="0" err="1">
                <a:solidFill>
                  <a:srgbClr val="002060"/>
                </a:solidFill>
              </a:rPr>
              <a:t>Onepager</a:t>
            </a:r>
            <a:r>
              <a:rPr lang="fr-FR" sz="2300" dirty="0">
                <a:solidFill>
                  <a:srgbClr val="002060"/>
                </a:solidFill>
              </a:rPr>
              <a:t> » Powerpoint (</a:t>
            </a:r>
            <a:r>
              <a:rPr lang="fr-FR" sz="2300" dirty="0" err="1">
                <a:solidFill>
                  <a:srgbClr val="002060"/>
                </a:solidFill>
              </a:rPr>
              <a:t>template</a:t>
            </a:r>
            <a:r>
              <a:rPr lang="fr-FR" sz="2300" dirty="0">
                <a:solidFill>
                  <a:srgbClr val="002060"/>
                </a:solidFill>
              </a:rPr>
              <a:t> proposé par Valérie C.)</a:t>
            </a:r>
          </a:p>
        </p:txBody>
      </p:sp>
      <p:sp>
        <p:nvSpPr>
          <p:cNvPr id="45" name="Rectangle : coins arrondis 44">
            <a:extLst>
              <a:ext uri="{FF2B5EF4-FFF2-40B4-BE49-F238E27FC236}">
                <a16:creationId xmlns:a16="http://schemas.microsoft.com/office/drawing/2014/main" id="{DF3CB9CB-E85D-4941-B1D5-2413E31A7658}"/>
              </a:ext>
            </a:extLst>
          </p:cNvPr>
          <p:cNvSpPr/>
          <p:nvPr/>
        </p:nvSpPr>
        <p:spPr>
          <a:xfrm>
            <a:off x="1499631" y="2563906"/>
            <a:ext cx="21736887" cy="3814800"/>
          </a:xfrm>
          <a:prstGeom prst="roundRect">
            <a:avLst>
              <a:gd name="adj" fmla="val 4451"/>
            </a:avLst>
          </a:prstGeom>
          <a:noFill/>
          <a:ln>
            <a:solidFill>
              <a:srgbClr val="08244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sp>
        <p:nvSpPr>
          <p:cNvPr id="46" name="ZoneTexte 45">
            <a:extLst>
              <a:ext uri="{FF2B5EF4-FFF2-40B4-BE49-F238E27FC236}">
                <a16:creationId xmlns:a16="http://schemas.microsoft.com/office/drawing/2014/main" id="{70007B81-CE10-4F63-9E6E-65F46C4F057D}"/>
              </a:ext>
            </a:extLst>
          </p:cNvPr>
          <p:cNvSpPr txBox="1"/>
          <p:nvPr/>
        </p:nvSpPr>
        <p:spPr>
          <a:xfrm>
            <a:off x="2840569" y="2734943"/>
            <a:ext cx="20216656" cy="577530"/>
          </a:xfrm>
          <a:prstGeom prst="rect">
            <a:avLst/>
          </a:prstGeom>
          <a:noFill/>
        </p:spPr>
        <p:txBody>
          <a:bodyPr wrap="square" rtlCol="0">
            <a:spAutoFit/>
          </a:bodyPr>
          <a:lstStyle>
            <a:defPPr>
              <a:defRPr lang="fr-FR"/>
            </a:defPPr>
            <a:lvl1pPr marL="342900" indent="-342900">
              <a:lnSpc>
                <a:spcPct val="150000"/>
              </a:lnSpc>
              <a:buFont typeface="Arial" panose="020B0604020202020204" pitchFamily="34" charset="0"/>
              <a:buChar char="•"/>
              <a:defRPr sz="2000">
                <a:solidFill>
                  <a:schemeClr val="bg1">
                    <a:lumMod val="50000"/>
                  </a:schemeClr>
                </a:solidFill>
                <a:latin typeface="Segoe UI" panose="020B0502040204020203" pitchFamily="34" charset="0"/>
                <a:cs typeface="Segoe UI" panose="020B0502040204020203" pitchFamily="34" charset="0"/>
              </a:defRPr>
            </a:lvl1pPr>
          </a:lstStyle>
          <a:p>
            <a:pPr marL="0" indent="0">
              <a:buNone/>
            </a:pPr>
            <a:r>
              <a:rPr lang="fr-FR" sz="2400" b="1" dirty="0">
                <a:solidFill>
                  <a:srgbClr val="002060"/>
                </a:solidFill>
              </a:rPr>
              <a:t>Hypothèse de solution : Documenter les applications dans Robin et générer les schémas des interactions avec l’IA</a:t>
            </a:r>
          </a:p>
        </p:txBody>
      </p:sp>
      <p:pic>
        <p:nvPicPr>
          <p:cNvPr id="11" name="Image 10">
            <a:extLst>
              <a:ext uri="{FF2B5EF4-FFF2-40B4-BE49-F238E27FC236}">
                <a16:creationId xmlns:a16="http://schemas.microsoft.com/office/drawing/2014/main" id="{0422A960-A218-442A-9099-F3AF230F24DB}"/>
              </a:ext>
            </a:extLst>
          </p:cNvPr>
          <p:cNvPicPr>
            <a:picLocks noChangeAspect="1"/>
          </p:cNvPicPr>
          <p:nvPr/>
        </p:nvPicPr>
        <p:blipFill>
          <a:blip r:embed="rId5" cstate="print">
            <a:extLst>
              <a:ext uri="{BEBA8EAE-BF5A-486C-A8C5-ECC9F3942E4B}">
                <a14:imgProps xmlns:a14="http://schemas.microsoft.com/office/drawing/2010/main">
                  <a14:imgLayer r:embed="rId6">
                    <a14:imgEffect>
                      <a14:colorTemperature colorTemp="11200"/>
                    </a14:imgEffect>
                  </a14:imgLayer>
                </a14:imgProps>
              </a:ext>
              <a:ext uri="{28A0092B-C50C-407E-A947-70E740481C1C}">
                <a14:useLocalDpi xmlns:a14="http://schemas.microsoft.com/office/drawing/2010/main" val="0"/>
              </a:ext>
            </a:extLst>
          </a:blip>
          <a:stretch>
            <a:fillRect/>
          </a:stretch>
        </p:blipFill>
        <p:spPr>
          <a:xfrm>
            <a:off x="1703136" y="2658866"/>
            <a:ext cx="768013" cy="768013"/>
          </a:xfrm>
          <a:prstGeom prst="rect">
            <a:avLst/>
          </a:prstGeom>
        </p:spPr>
      </p:pic>
      <p:sp>
        <p:nvSpPr>
          <p:cNvPr id="47" name="Rectangle : coins arrondis 46">
            <a:extLst>
              <a:ext uri="{FF2B5EF4-FFF2-40B4-BE49-F238E27FC236}">
                <a16:creationId xmlns:a16="http://schemas.microsoft.com/office/drawing/2014/main" id="{85F6AD05-010F-4F86-AA7C-803C25906D75}"/>
              </a:ext>
            </a:extLst>
          </p:cNvPr>
          <p:cNvSpPr/>
          <p:nvPr/>
        </p:nvSpPr>
        <p:spPr>
          <a:xfrm>
            <a:off x="2008618" y="3564656"/>
            <a:ext cx="9824790" cy="2411416"/>
          </a:xfrm>
          <a:prstGeom prst="roundRect">
            <a:avLst>
              <a:gd name="adj" fmla="val 2185"/>
            </a:avLst>
          </a:prstGeom>
          <a:solidFill>
            <a:srgbClr val="F1F1F2"/>
          </a:solidFill>
          <a:ln>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sp>
        <p:nvSpPr>
          <p:cNvPr id="48" name="Rectangle : coins arrondis 47">
            <a:extLst>
              <a:ext uri="{FF2B5EF4-FFF2-40B4-BE49-F238E27FC236}">
                <a16:creationId xmlns:a16="http://schemas.microsoft.com/office/drawing/2014/main" id="{76F47D67-72FA-4174-B5F4-5A03657E3239}"/>
              </a:ext>
            </a:extLst>
          </p:cNvPr>
          <p:cNvSpPr/>
          <p:nvPr/>
        </p:nvSpPr>
        <p:spPr>
          <a:xfrm>
            <a:off x="12622833" y="3564656"/>
            <a:ext cx="9824790" cy="2411416"/>
          </a:xfrm>
          <a:prstGeom prst="roundRect">
            <a:avLst>
              <a:gd name="adj" fmla="val 2185"/>
            </a:avLst>
          </a:prstGeom>
          <a:solidFill>
            <a:srgbClr val="F1F1F2"/>
          </a:solidFill>
          <a:ln>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pic>
        <p:nvPicPr>
          <p:cNvPr id="13" name="Image 12">
            <a:extLst>
              <a:ext uri="{FF2B5EF4-FFF2-40B4-BE49-F238E27FC236}">
                <a16:creationId xmlns:a16="http://schemas.microsoft.com/office/drawing/2014/main" id="{E172F8B0-AAE9-4F98-8EB4-B808ADAF4999}"/>
              </a:ext>
            </a:extLst>
          </p:cNvPr>
          <p:cNvPicPr>
            <a:picLocks noChangeAspect="1"/>
          </p:cNvPicPr>
          <p:nvPr/>
        </p:nvPicPr>
        <p:blipFill>
          <a:blip r:embed="rId7"/>
          <a:stretch>
            <a:fillRect/>
          </a:stretch>
        </p:blipFill>
        <p:spPr>
          <a:xfrm>
            <a:off x="2225911" y="4254619"/>
            <a:ext cx="962159" cy="943107"/>
          </a:xfrm>
          <a:prstGeom prst="rect">
            <a:avLst/>
          </a:prstGeom>
        </p:spPr>
      </p:pic>
      <p:pic>
        <p:nvPicPr>
          <p:cNvPr id="19" name="Image 18">
            <a:extLst>
              <a:ext uri="{FF2B5EF4-FFF2-40B4-BE49-F238E27FC236}">
                <a16:creationId xmlns:a16="http://schemas.microsoft.com/office/drawing/2014/main" id="{BC87CBA0-23D0-4D30-B22F-BF2A28FC8B0B}"/>
              </a:ext>
            </a:extLst>
          </p:cNvPr>
          <p:cNvPicPr>
            <a:picLocks noChangeAspect="1"/>
          </p:cNvPicPr>
          <p:nvPr/>
        </p:nvPicPr>
        <p:blipFill>
          <a:blip r:embed="rId8"/>
          <a:stretch>
            <a:fillRect/>
          </a:stretch>
        </p:blipFill>
        <p:spPr>
          <a:xfrm>
            <a:off x="12779357" y="4259382"/>
            <a:ext cx="1000265" cy="933580"/>
          </a:xfrm>
          <a:prstGeom prst="rect">
            <a:avLst/>
          </a:prstGeom>
        </p:spPr>
      </p:pic>
      <p:sp>
        <p:nvSpPr>
          <p:cNvPr id="49" name="ZoneTexte 48">
            <a:extLst>
              <a:ext uri="{FF2B5EF4-FFF2-40B4-BE49-F238E27FC236}">
                <a16:creationId xmlns:a16="http://schemas.microsoft.com/office/drawing/2014/main" id="{F19F26F7-DC10-417B-9C03-69157950FDC5}"/>
              </a:ext>
            </a:extLst>
          </p:cNvPr>
          <p:cNvSpPr txBox="1"/>
          <p:nvPr/>
        </p:nvSpPr>
        <p:spPr>
          <a:xfrm>
            <a:off x="3697057" y="3899738"/>
            <a:ext cx="7814779" cy="1862048"/>
          </a:xfrm>
          <a:prstGeom prst="rect">
            <a:avLst/>
          </a:prstGeom>
          <a:noFill/>
        </p:spPr>
        <p:txBody>
          <a:bodyPr wrap="square" rtlCol="0">
            <a:spAutoFit/>
          </a:bodyPr>
          <a:lstStyle>
            <a:defPPr>
              <a:defRPr lang="fr-FR"/>
            </a:defPPr>
            <a:lvl1pPr marL="342900" indent="-342900">
              <a:lnSpc>
                <a:spcPct val="150000"/>
              </a:lnSpc>
              <a:buFont typeface="Arial" panose="020B0604020202020204" pitchFamily="34" charset="0"/>
              <a:buChar char="•"/>
              <a:defRPr sz="2000">
                <a:solidFill>
                  <a:schemeClr val="bg1">
                    <a:lumMod val="50000"/>
                  </a:schemeClr>
                </a:solidFill>
                <a:latin typeface="Segoe UI" panose="020B0502040204020203" pitchFamily="34" charset="0"/>
                <a:cs typeface="Segoe UI" panose="020B0502040204020203" pitchFamily="34" charset="0"/>
              </a:defRPr>
            </a:lvl1pPr>
          </a:lstStyle>
          <a:p>
            <a:pPr marL="0" indent="0">
              <a:lnSpc>
                <a:spcPct val="100000"/>
              </a:lnSpc>
              <a:buNone/>
            </a:pPr>
            <a:r>
              <a:rPr lang="fr-FR" sz="2300" b="1" dirty="0">
                <a:solidFill>
                  <a:srgbClr val="002060"/>
                </a:solidFill>
              </a:rPr>
              <a:t>Robin n’est pas prévu pour documenter la vue applicative. </a:t>
            </a:r>
          </a:p>
          <a:p>
            <a:pPr marL="0" indent="0">
              <a:lnSpc>
                <a:spcPct val="100000"/>
              </a:lnSpc>
              <a:buNone/>
            </a:pPr>
            <a:endParaRPr lang="fr-FR" sz="2300" b="1" dirty="0">
              <a:solidFill>
                <a:srgbClr val="002060"/>
              </a:solidFill>
            </a:endParaRPr>
          </a:p>
          <a:p>
            <a:pPr marL="0" indent="0">
              <a:lnSpc>
                <a:spcPct val="100000"/>
              </a:lnSpc>
              <a:buNone/>
            </a:pPr>
            <a:r>
              <a:rPr lang="fr-FR" sz="2300" b="1" dirty="0">
                <a:solidFill>
                  <a:srgbClr val="002060"/>
                </a:solidFill>
              </a:rPr>
              <a:t>Trop d’impacts pour les équipes si on revoyait la granularité en utilisant le domaine applicatif</a:t>
            </a:r>
          </a:p>
        </p:txBody>
      </p:sp>
      <p:sp>
        <p:nvSpPr>
          <p:cNvPr id="50" name="ZoneTexte 49">
            <a:extLst>
              <a:ext uri="{FF2B5EF4-FFF2-40B4-BE49-F238E27FC236}">
                <a16:creationId xmlns:a16="http://schemas.microsoft.com/office/drawing/2014/main" id="{9C75AE29-0ADC-44A2-9D7A-30627D3F42D0}"/>
              </a:ext>
            </a:extLst>
          </p:cNvPr>
          <p:cNvSpPr txBox="1"/>
          <p:nvPr/>
        </p:nvSpPr>
        <p:spPr>
          <a:xfrm>
            <a:off x="14096116" y="4096957"/>
            <a:ext cx="7814779" cy="1508105"/>
          </a:xfrm>
          <a:prstGeom prst="rect">
            <a:avLst/>
          </a:prstGeom>
          <a:noFill/>
        </p:spPr>
        <p:txBody>
          <a:bodyPr wrap="square" rtlCol="0">
            <a:spAutoFit/>
          </a:bodyPr>
          <a:lstStyle>
            <a:defPPr>
              <a:defRPr lang="fr-FR"/>
            </a:defPPr>
            <a:lvl1pPr marL="342900" indent="-342900">
              <a:lnSpc>
                <a:spcPct val="150000"/>
              </a:lnSpc>
              <a:buFont typeface="Arial" panose="020B0604020202020204" pitchFamily="34" charset="0"/>
              <a:buChar char="•"/>
              <a:defRPr sz="2000">
                <a:solidFill>
                  <a:schemeClr val="bg1">
                    <a:lumMod val="50000"/>
                  </a:schemeClr>
                </a:solidFill>
                <a:latin typeface="Segoe UI" panose="020B0502040204020203" pitchFamily="34" charset="0"/>
                <a:cs typeface="Segoe UI" panose="020B0502040204020203" pitchFamily="34" charset="0"/>
              </a:defRPr>
            </a:lvl1pPr>
          </a:lstStyle>
          <a:p>
            <a:pPr marL="0" indent="0">
              <a:lnSpc>
                <a:spcPct val="100000"/>
              </a:lnSpc>
              <a:buNone/>
            </a:pPr>
            <a:r>
              <a:rPr lang="fr-FR" sz="2300" b="1" dirty="0">
                <a:solidFill>
                  <a:srgbClr val="002060"/>
                </a:solidFill>
              </a:rPr>
              <a:t>Les dépendances entre applications dans Robin </a:t>
            </a:r>
            <a:r>
              <a:rPr lang="fr-FR" sz="2300" dirty="0">
                <a:solidFill>
                  <a:srgbClr val="002060"/>
                </a:solidFill>
              </a:rPr>
              <a:t>:</a:t>
            </a:r>
          </a:p>
          <a:p>
            <a:pPr>
              <a:lnSpc>
                <a:spcPct val="100000"/>
              </a:lnSpc>
              <a:buClr>
                <a:srgbClr val="E7473D"/>
              </a:buClr>
            </a:pPr>
            <a:r>
              <a:rPr lang="fr-FR" sz="2300" dirty="0">
                <a:solidFill>
                  <a:srgbClr val="002060"/>
                </a:solidFill>
              </a:rPr>
              <a:t>ne peuvent pas être saisies manuellement, </a:t>
            </a:r>
          </a:p>
          <a:p>
            <a:pPr>
              <a:lnSpc>
                <a:spcPct val="100000"/>
              </a:lnSpc>
              <a:buClr>
                <a:srgbClr val="E7473D"/>
              </a:buClr>
            </a:pPr>
            <a:r>
              <a:rPr lang="fr-FR" sz="2300" dirty="0">
                <a:solidFill>
                  <a:srgbClr val="002060"/>
                </a:solidFill>
              </a:rPr>
              <a:t>se limitent aux dépendances ATEL, BDD directe, </a:t>
            </a:r>
          </a:p>
          <a:p>
            <a:pPr>
              <a:lnSpc>
                <a:spcPct val="100000"/>
              </a:lnSpc>
              <a:buClr>
                <a:srgbClr val="E7473D"/>
              </a:buClr>
            </a:pPr>
            <a:r>
              <a:rPr lang="fr-FR" sz="2300" dirty="0">
                <a:solidFill>
                  <a:srgbClr val="002060"/>
                </a:solidFill>
              </a:rPr>
              <a:t>ne couvre pas les dépendances « hors normes ».</a:t>
            </a:r>
          </a:p>
        </p:txBody>
      </p:sp>
      <p:pic>
        <p:nvPicPr>
          <p:cNvPr id="51" name="Image 50">
            <a:extLst>
              <a:ext uri="{FF2B5EF4-FFF2-40B4-BE49-F238E27FC236}">
                <a16:creationId xmlns:a16="http://schemas.microsoft.com/office/drawing/2014/main" id="{BAE2F4B9-4F26-4C90-9576-ADC1DD029899}"/>
              </a:ext>
            </a:extLst>
          </p:cNvPr>
          <p:cNvPicPr>
            <a:picLocks noChangeAspect="1"/>
          </p:cNvPicPr>
          <p:nvPr/>
        </p:nvPicPr>
        <p:blipFill>
          <a:blip r:embed="rId9"/>
          <a:stretch>
            <a:fillRect/>
          </a:stretch>
        </p:blipFill>
        <p:spPr>
          <a:xfrm>
            <a:off x="10277208" y="9094844"/>
            <a:ext cx="3829584" cy="1886213"/>
          </a:xfrm>
          <a:prstGeom prst="rect">
            <a:avLst/>
          </a:prstGeom>
        </p:spPr>
      </p:pic>
      <p:sp>
        <p:nvSpPr>
          <p:cNvPr id="52" name="Rectangle : coins arrondis 51">
            <a:extLst>
              <a:ext uri="{FF2B5EF4-FFF2-40B4-BE49-F238E27FC236}">
                <a16:creationId xmlns:a16="http://schemas.microsoft.com/office/drawing/2014/main" id="{0ED4E769-64F3-44B6-A86C-912C26D77F2A}"/>
              </a:ext>
            </a:extLst>
          </p:cNvPr>
          <p:cNvSpPr/>
          <p:nvPr/>
        </p:nvSpPr>
        <p:spPr>
          <a:xfrm>
            <a:off x="9290956" y="11122910"/>
            <a:ext cx="6263428" cy="1289482"/>
          </a:xfrm>
          <a:prstGeom prst="roundRect">
            <a:avLst>
              <a:gd name="adj" fmla="val 4747"/>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sp>
        <p:nvSpPr>
          <p:cNvPr id="56" name="Ellipse 55">
            <a:extLst>
              <a:ext uri="{FF2B5EF4-FFF2-40B4-BE49-F238E27FC236}">
                <a16:creationId xmlns:a16="http://schemas.microsoft.com/office/drawing/2014/main" id="{4A756C1B-1E9A-4E8A-A3C7-ACB8BC717474}"/>
              </a:ext>
            </a:extLst>
          </p:cNvPr>
          <p:cNvSpPr/>
          <p:nvPr/>
        </p:nvSpPr>
        <p:spPr>
          <a:xfrm>
            <a:off x="9471595" y="11331138"/>
            <a:ext cx="805614" cy="826464"/>
          </a:xfrm>
          <a:prstGeom prst="ellipse">
            <a:avLst/>
          </a:prstGeom>
          <a:solidFill>
            <a:srgbClr val="1734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pic>
        <p:nvPicPr>
          <p:cNvPr id="55" name="Image 54">
            <a:extLst>
              <a:ext uri="{FF2B5EF4-FFF2-40B4-BE49-F238E27FC236}">
                <a16:creationId xmlns:a16="http://schemas.microsoft.com/office/drawing/2014/main" id="{793AC287-CF20-4B28-84EC-D751A1F1E8E1}"/>
              </a:ext>
            </a:extLst>
          </p:cNvPr>
          <p:cNvPicPr>
            <a:picLocks noChangeAspect="1"/>
          </p:cNvPicPr>
          <p:nvPr/>
        </p:nvPicPr>
        <p:blipFill>
          <a:blip r:embed="rId10" cstate="print">
            <a:lum bright="70000" contrast="-70000"/>
            <a:extLst>
              <a:ext uri="{28A0092B-C50C-407E-A947-70E740481C1C}">
                <a14:useLocalDpi xmlns:a14="http://schemas.microsoft.com/office/drawing/2010/main" val="0"/>
              </a:ext>
            </a:extLst>
          </a:blip>
          <a:stretch>
            <a:fillRect/>
          </a:stretch>
        </p:blipFill>
        <p:spPr>
          <a:xfrm>
            <a:off x="9605366" y="11518474"/>
            <a:ext cx="499655" cy="500631"/>
          </a:xfrm>
          <a:prstGeom prst="rect">
            <a:avLst/>
          </a:prstGeom>
        </p:spPr>
      </p:pic>
      <p:sp>
        <p:nvSpPr>
          <p:cNvPr id="57" name="ZoneTexte 56">
            <a:extLst>
              <a:ext uri="{FF2B5EF4-FFF2-40B4-BE49-F238E27FC236}">
                <a16:creationId xmlns:a16="http://schemas.microsoft.com/office/drawing/2014/main" id="{848B6C4D-2D2C-4336-87D8-61DC2098174F}"/>
              </a:ext>
            </a:extLst>
          </p:cNvPr>
          <p:cNvSpPr txBox="1"/>
          <p:nvPr/>
        </p:nvSpPr>
        <p:spPr>
          <a:xfrm>
            <a:off x="10471831" y="11212351"/>
            <a:ext cx="4954132" cy="1154162"/>
          </a:xfrm>
          <a:prstGeom prst="rect">
            <a:avLst/>
          </a:prstGeom>
          <a:noFill/>
        </p:spPr>
        <p:txBody>
          <a:bodyPr wrap="square" rtlCol="0">
            <a:spAutoFit/>
          </a:bodyPr>
          <a:lstStyle>
            <a:defPPr>
              <a:defRPr lang="fr-FR"/>
            </a:defPPr>
            <a:lvl1pPr marL="342900" indent="-342900">
              <a:lnSpc>
                <a:spcPct val="150000"/>
              </a:lnSpc>
              <a:buFont typeface="Arial" panose="020B0604020202020204" pitchFamily="34" charset="0"/>
              <a:buChar char="•"/>
              <a:defRPr sz="2000">
                <a:solidFill>
                  <a:schemeClr val="bg1">
                    <a:lumMod val="50000"/>
                  </a:schemeClr>
                </a:solidFill>
                <a:latin typeface="Segoe UI" panose="020B0502040204020203" pitchFamily="34" charset="0"/>
                <a:cs typeface="Segoe UI" panose="020B0502040204020203" pitchFamily="34" charset="0"/>
              </a:defRPr>
            </a:lvl1pPr>
          </a:lstStyle>
          <a:p>
            <a:pPr marL="0" indent="0">
              <a:lnSpc>
                <a:spcPct val="100000"/>
              </a:lnSpc>
              <a:buNone/>
            </a:pPr>
            <a:r>
              <a:rPr lang="fr-FR" sz="2300" b="1" dirty="0">
                <a:solidFill>
                  <a:srgbClr val="E06206"/>
                </a:solidFill>
              </a:rPr>
              <a:t>Outils envisagés : </a:t>
            </a:r>
            <a:r>
              <a:rPr lang="fr-FR" sz="2300" dirty="0">
                <a:solidFill>
                  <a:srgbClr val="002060"/>
                </a:solidFill>
              </a:rPr>
              <a:t>sous PPT, Visio ou </a:t>
            </a:r>
            <a:r>
              <a:rPr lang="fr-FR" sz="2300" dirty="0" err="1">
                <a:solidFill>
                  <a:srgbClr val="002060"/>
                </a:solidFill>
                <a:hlinkClick r:id="rId11"/>
              </a:rPr>
              <a:t>Excalidraw</a:t>
            </a:r>
            <a:r>
              <a:rPr lang="fr-FR" sz="2300" dirty="0">
                <a:solidFill>
                  <a:srgbClr val="002060"/>
                </a:solidFill>
              </a:rPr>
              <a:t> (outil </a:t>
            </a:r>
            <a:r>
              <a:rPr lang="fr-FR" sz="2300" dirty="0" err="1">
                <a:solidFill>
                  <a:srgbClr val="002060"/>
                </a:solidFill>
              </a:rPr>
              <a:t>opensource</a:t>
            </a:r>
            <a:r>
              <a:rPr lang="fr-FR" sz="2300" dirty="0">
                <a:solidFill>
                  <a:srgbClr val="002060"/>
                </a:solidFill>
              </a:rPr>
              <a:t> utilisé par la CF)</a:t>
            </a:r>
          </a:p>
        </p:txBody>
      </p:sp>
      <p:pic>
        <p:nvPicPr>
          <p:cNvPr id="59" name="Image 58">
            <a:extLst>
              <a:ext uri="{FF2B5EF4-FFF2-40B4-BE49-F238E27FC236}">
                <a16:creationId xmlns:a16="http://schemas.microsoft.com/office/drawing/2014/main" id="{F06022E0-48CA-4BA0-9793-D7412B8D72A6}"/>
              </a:ext>
            </a:extLst>
          </p:cNvPr>
          <p:cNvPicPr>
            <a:picLocks noChangeAspect="1"/>
          </p:cNvPicPr>
          <p:nvPr/>
        </p:nvPicPr>
        <p:blipFill>
          <a:blip r:embed="rId12"/>
          <a:stretch>
            <a:fillRect/>
          </a:stretch>
        </p:blipFill>
        <p:spPr>
          <a:xfrm>
            <a:off x="18326487" y="9094844"/>
            <a:ext cx="1933845" cy="1762371"/>
          </a:xfrm>
          <a:prstGeom prst="rect">
            <a:avLst/>
          </a:prstGeom>
        </p:spPr>
      </p:pic>
      <p:sp>
        <p:nvSpPr>
          <p:cNvPr id="60" name="Rectangle : coins arrondis 59">
            <a:extLst>
              <a:ext uri="{FF2B5EF4-FFF2-40B4-BE49-F238E27FC236}">
                <a16:creationId xmlns:a16="http://schemas.microsoft.com/office/drawing/2014/main" id="{EADD63DB-3D5E-463B-9DB7-A7A740C5FE34}"/>
              </a:ext>
            </a:extLst>
          </p:cNvPr>
          <p:cNvSpPr/>
          <p:nvPr/>
        </p:nvSpPr>
        <p:spPr>
          <a:xfrm>
            <a:off x="16391003" y="11122910"/>
            <a:ext cx="6263428" cy="1289482"/>
          </a:xfrm>
          <a:prstGeom prst="roundRect">
            <a:avLst>
              <a:gd name="adj" fmla="val 4747"/>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sp>
        <p:nvSpPr>
          <p:cNvPr id="53" name="ZoneTexte 52">
            <a:extLst>
              <a:ext uri="{FF2B5EF4-FFF2-40B4-BE49-F238E27FC236}">
                <a16:creationId xmlns:a16="http://schemas.microsoft.com/office/drawing/2014/main" id="{199EC940-1E52-40A5-9CAD-54C73B69F304}"/>
              </a:ext>
            </a:extLst>
          </p:cNvPr>
          <p:cNvSpPr txBox="1"/>
          <p:nvPr/>
        </p:nvSpPr>
        <p:spPr>
          <a:xfrm>
            <a:off x="16385683" y="11436132"/>
            <a:ext cx="6263428" cy="707886"/>
          </a:xfrm>
          <a:prstGeom prst="rect">
            <a:avLst/>
          </a:prstGeom>
          <a:noFill/>
        </p:spPr>
        <p:txBody>
          <a:bodyPr wrap="square">
            <a:spAutoFit/>
          </a:bodyPr>
          <a:lstStyle/>
          <a:p>
            <a:pPr algn="ctr"/>
            <a:r>
              <a:rPr lang="fr-FR" sz="2000" dirty="0">
                <a:solidFill>
                  <a:srgbClr val="082447"/>
                </a:solidFill>
              </a:rPr>
              <a:t>Chaque équipe reste libre du niveau de détail, </a:t>
            </a:r>
          </a:p>
          <a:p>
            <a:pPr algn="ctr"/>
            <a:r>
              <a:rPr lang="fr-FR" sz="2000" dirty="0">
                <a:solidFill>
                  <a:srgbClr val="082447"/>
                </a:solidFill>
              </a:rPr>
              <a:t>du format et des outils utilisés.</a:t>
            </a:r>
          </a:p>
        </p:txBody>
      </p:sp>
    </p:spTree>
    <p:extLst>
      <p:ext uri="{BB962C8B-B14F-4D97-AF65-F5344CB8AC3E}">
        <p14:creationId xmlns:p14="http://schemas.microsoft.com/office/powerpoint/2010/main" val="20561781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 coins arrondis 1">
            <a:extLst>
              <a:ext uri="{FF2B5EF4-FFF2-40B4-BE49-F238E27FC236}">
                <a16:creationId xmlns:a16="http://schemas.microsoft.com/office/drawing/2014/main" id="{957E322D-41FC-423F-9D1D-7CD264CF2BC3}"/>
              </a:ext>
            </a:extLst>
          </p:cNvPr>
          <p:cNvSpPr/>
          <p:nvPr/>
        </p:nvSpPr>
        <p:spPr>
          <a:xfrm>
            <a:off x="15472900" y="2092058"/>
            <a:ext cx="7714514" cy="2753492"/>
          </a:xfrm>
          <a:prstGeom prst="roundRect">
            <a:avLst>
              <a:gd name="adj" fmla="val 4295"/>
            </a:avLst>
          </a:prstGeom>
          <a:solidFill>
            <a:schemeClr val="bg1"/>
          </a:solidFill>
          <a:ln>
            <a:solidFill>
              <a:srgbClr val="00206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sp>
        <p:nvSpPr>
          <p:cNvPr id="4" name="Espace réservé du numéro de diapositive 3">
            <a:extLst>
              <a:ext uri="{FF2B5EF4-FFF2-40B4-BE49-F238E27FC236}">
                <a16:creationId xmlns:a16="http://schemas.microsoft.com/office/drawing/2014/main" id="{9FCB6B3B-D192-4194-BBD6-686E0C3AAFE5}"/>
              </a:ext>
            </a:extLst>
          </p:cNvPr>
          <p:cNvSpPr>
            <a:spLocks noGrp="1"/>
          </p:cNvSpPr>
          <p:nvPr>
            <p:ph type="sldNum" sz="quarter" idx="12"/>
          </p:nvPr>
        </p:nvSpPr>
        <p:spPr/>
        <p:txBody>
          <a:bodyPr/>
          <a:lstStyle/>
          <a:p>
            <a:pPr defTabSz="1828800"/>
            <a:fld id="{3EE1DE5A-27D4-4895-8E04-340D57AD09FB}" type="slidenum">
              <a:rPr lang="fr-FR"/>
              <a:pPr defTabSz="1828800"/>
              <a:t>7</a:t>
            </a:fld>
            <a:endParaRPr lang="fr-FR"/>
          </a:p>
        </p:txBody>
      </p:sp>
      <p:sp>
        <p:nvSpPr>
          <p:cNvPr id="6" name="Rectangle 1">
            <a:extLst>
              <a:ext uri="{FF2B5EF4-FFF2-40B4-BE49-F238E27FC236}">
                <a16:creationId xmlns:a16="http://schemas.microsoft.com/office/drawing/2014/main" id="{A52E14D6-1C02-42C3-9DB0-E026D1606E57}"/>
              </a:ext>
            </a:extLst>
          </p:cNvPr>
          <p:cNvSpPr>
            <a:spLocks noChangeArrowheads="1"/>
          </p:cNvSpPr>
          <p:nvPr/>
        </p:nvSpPr>
        <p:spPr bwMode="auto">
          <a:xfrm>
            <a:off x="1" y="-369330"/>
            <a:ext cx="369397"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82880" tIns="91440" rIns="182880" bIns="91440" numCol="1" anchor="ctr" anchorCtr="0" compatLnSpc="1">
            <a:prstTxWarp prst="textNoShape">
              <a:avLst/>
            </a:prstTxWarp>
            <a:spAutoFit/>
          </a:bodyPr>
          <a:lstStyle/>
          <a:p>
            <a:pPr defTabSz="1828800"/>
            <a:endParaRPr lang="fr-FR" sz="3600">
              <a:solidFill>
                <a:prstClr val="black"/>
              </a:solidFill>
              <a:latin typeface="Calibri" panose="020F0502020204030204"/>
            </a:endParaRPr>
          </a:p>
        </p:txBody>
      </p:sp>
      <p:sp>
        <p:nvSpPr>
          <p:cNvPr id="15" name="Rectangle : coins arrondis 14">
            <a:extLst>
              <a:ext uri="{FF2B5EF4-FFF2-40B4-BE49-F238E27FC236}">
                <a16:creationId xmlns:a16="http://schemas.microsoft.com/office/drawing/2014/main" id="{716ABBA3-F977-4288-B7D5-433B9596EF22}"/>
              </a:ext>
            </a:extLst>
          </p:cNvPr>
          <p:cNvSpPr/>
          <p:nvPr/>
        </p:nvSpPr>
        <p:spPr>
          <a:xfrm>
            <a:off x="15472900" y="10780622"/>
            <a:ext cx="8028495" cy="1376807"/>
          </a:xfrm>
          <a:prstGeom prst="roundRect">
            <a:avLst/>
          </a:prstGeom>
          <a:solidFill>
            <a:schemeClr val="bg1">
              <a:lumMod val="95000"/>
            </a:schemeClr>
          </a:solidFill>
          <a:ln w="285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lstStyle/>
          <a:p>
            <a:pPr algn="ctr" defTabSz="1828800"/>
            <a:r>
              <a:rPr lang="fr-FR" sz="2400" dirty="0">
                <a:solidFill>
                  <a:srgbClr val="4472C4">
                    <a:lumMod val="75000"/>
                  </a:srgbClr>
                </a:solidFill>
                <a:latin typeface="Segoe UI" panose="020B0502040204020203" pitchFamily="34" charset="0"/>
                <a:cs typeface="Segoe UI" panose="020B0502040204020203" pitchFamily="34" charset="0"/>
              </a:rPr>
              <a:t>x</a:t>
            </a:r>
          </a:p>
        </p:txBody>
      </p:sp>
      <p:grpSp>
        <p:nvGrpSpPr>
          <p:cNvPr id="20" name="Groupe 19">
            <a:extLst>
              <a:ext uri="{FF2B5EF4-FFF2-40B4-BE49-F238E27FC236}">
                <a16:creationId xmlns:a16="http://schemas.microsoft.com/office/drawing/2014/main" id="{CD7605DE-8087-4908-B2C6-CCA142D5B291}"/>
              </a:ext>
            </a:extLst>
          </p:cNvPr>
          <p:cNvGrpSpPr/>
          <p:nvPr/>
        </p:nvGrpSpPr>
        <p:grpSpPr>
          <a:xfrm>
            <a:off x="10343015" y="474376"/>
            <a:ext cx="4693390" cy="1425514"/>
            <a:chOff x="7883999" y="144434"/>
            <a:chExt cx="2346695" cy="712757"/>
          </a:xfrm>
        </p:grpSpPr>
        <p:sp>
          <p:nvSpPr>
            <p:cNvPr id="43" name="Rectangle à coins arrondis 16">
              <a:extLst>
                <a:ext uri="{FF2B5EF4-FFF2-40B4-BE49-F238E27FC236}">
                  <a16:creationId xmlns:a16="http://schemas.microsoft.com/office/drawing/2014/main" id="{8B5AA266-82DD-4892-9754-0688D8C6427B}"/>
                </a:ext>
              </a:extLst>
            </p:cNvPr>
            <p:cNvSpPr/>
            <p:nvPr/>
          </p:nvSpPr>
          <p:spPr>
            <a:xfrm>
              <a:off x="7883999" y="144434"/>
              <a:ext cx="2346695" cy="712757"/>
            </a:xfrm>
            <a:prstGeom prst="roundRect">
              <a:avLst/>
            </a:prstGeom>
            <a:solidFill>
              <a:schemeClr val="accent4">
                <a:lumMod val="20000"/>
                <a:lumOff val="8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endParaRPr lang="fr-FR" sz="1800" i="1" dirty="0">
                <a:solidFill>
                  <a:prstClr val="white">
                    <a:lumMod val="50000"/>
                  </a:prstClr>
                </a:solidFill>
                <a:latin typeface="Segoe UI" panose="020B0502040204020203" pitchFamily="34" charset="0"/>
                <a:cs typeface="Segoe UI" panose="020B0502040204020203" pitchFamily="34" charset="0"/>
              </a:endParaRPr>
            </a:p>
            <a:p>
              <a:pPr algn="ctr" defTabSz="1828800"/>
              <a:endParaRPr lang="fr-FR" sz="1800" i="1" dirty="0">
                <a:solidFill>
                  <a:prstClr val="white">
                    <a:lumMod val="50000"/>
                  </a:prstClr>
                </a:solidFill>
                <a:latin typeface="Segoe UI" panose="020B0502040204020203" pitchFamily="34" charset="0"/>
                <a:cs typeface="Segoe UI" panose="020B0502040204020203" pitchFamily="34" charset="0"/>
              </a:endParaRPr>
            </a:p>
            <a:p>
              <a:pPr algn="ctr" defTabSz="1828800"/>
              <a:r>
                <a:rPr lang="fr-FR" sz="1800" i="1" dirty="0">
                  <a:solidFill>
                    <a:prstClr val="white">
                      <a:lumMod val="50000"/>
                    </a:prstClr>
                  </a:solidFill>
                  <a:latin typeface="Segoe UI" panose="020B0502040204020203" pitchFamily="34" charset="0"/>
                  <a:cs typeface="Segoe UI" panose="020B0502040204020203" pitchFamily="34" charset="0"/>
                </a:rPr>
                <a:t>Les rectangles jaunes vous aident à remplir le document. </a:t>
              </a:r>
              <a:r>
                <a:rPr lang="fr-FR" sz="1800" b="1" i="1" dirty="0">
                  <a:solidFill>
                    <a:prstClr val="white">
                      <a:lumMod val="50000"/>
                    </a:prstClr>
                  </a:solidFill>
                  <a:latin typeface="Segoe UI" panose="020B0502040204020203" pitchFamily="34" charset="0"/>
                  <a:cs typeface="Segoe UI" panose="020B0502040204020203" pitchFamily="34" charset="0"/>
                </a:rPr>
                <a:t>Supprimez-les dans la version finalisée du document.</a:t>
              </a:r>
            </a:p>
          </p:txBody>
        </p:sp>
        <p:pic>
          <p:nvPicPr>
            <p:cNvPr id="44" name="Image 43">
              <a:extLst>
                <a:ext uri="{FF2B5EF4-FFF2-40B4-BE49-F238E27FC236}">
                  <a16:creationId xmlns:a16="http://schemas.microsoft.com/office/drawing/2014/main" id="{D9486E57-A186-4A20-B707-A0D72AFFEFB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5095" t="27707" r="48975" b="28753"/>
            <a:stretch/>
          </p:blipFill>
          <p:spPr>
            <a:xfrm>
              <a:off x="8916294" y="150122"/>
              <a:ext cx="216784" cy="305141"/>
            </a:xfrm>
            <a:prstGeom prst="rect">
              <a:avLst/>
            </a:prstGeom>
          </p:spPr>
        </p:pic>
      </p:grpSp>
      <p:sp>
        <p:nvSpPr>
          <p:cNvPr id="47" name="Titre 1">
            <a:extLst>
              <a:ext uri="{FF2B5EF4-FFF2-40B4-BE49-F238E27FC236}">
                <a16:creationId xmlns:a16="http://schemas.microsoft.com/office/drawing/2014/main" id="{0290000D-E6A3-4D0E-9B16-B9D43538F455}"/>
              </a:ext>
            </a:extLst>
          </p:cNvPr>
          <p:cNvSpPr>
            <a:spLocks noGrp="1"/>
          </p:cNvSpPr>
          <p:nvPr>
            <p:ph type="title"/>
          </p:nvPr>
        </p:nvSpPr>
        <p:spPr>
          <a:xfrm>
            <a:off x="1672754" y="590026"/>
            <a:ext cx="22033912" cy="1052508"/>
          </a:xfrm>
        </p:spPr>
        <p:txBody>
          <a:bodyPr/>
          <a:lstStyle/>
          <a:p>
            <a:r>
              <a:rPr lang="fr-FR" dirty="0"/>
              <a:t>[nom de l’application]</a:t>
            </a:r>
          </a:p>
        </p:txBody>
      </p:sp>
      <p:grpSp>
        <p:nvGrpSpPr>
          <p:cNvPr id="64" name="Groupe 63">
            <a:extLst>
              <a:ext uri="{FF2B5EF4-FFF2-40B4-BE49-F238E27FC236}">
                <a16:creationId xmlns:a16="http://schemas.microsoft.com/office/drawing/2014/main" id="{32B632E8-121D-4320-B552-528DA3296C70}"/>
              </a:ext>
            </a:extLst>
          </p:cNvPr>
          <p:cNvGrpSpPr/>
          <p:nvPr/>
        </p:nvGrpSpPr>
        <p:grpSpPr>
          <a:xfrm>
            <a:off x="17997201" y="2566699"/>
            <a:ext cx="2979891" cy="1425514"/>
            <a:chOff x="7883999" y="144434"/>
            <a:chExt cx="2346695" cy="712757"/>
          </a:xfrm>
        </p:grpSpPr>
        <p:sp>
          <p:nvSpPr>
            <p:cNvPr id="65" name="Rectangle à coins arrondis 16">
              <a:extLst>
                <a:ext uri="{FF2B5EF4-FFF2-40B4-BE49-F238E27FC236}">
                  <a16:creationId xmlns:a16="http://schemas.microsoft.com/office/drawing/2014/main" id="{5CD17D12-E9AB-49E3-B6F0-E8B92ABA02D1}"/>
                </a:ext>
              </a:extLst>
            </p:cNvPr>
            <p:cNvSpPr/>
            <p:nvPr/>
          </p:nvSpPr>
          <p:spPr>
            <a:xfrm>
              <a:off x="7883999" y="144434"/>
              <a:ext cx="2346695" cy="712757"/>
            </a:xfrm>
            <a:prstGeom prst="roundRect">
              <a:avLst/>
            </a:prstGeom>
            <a:solidFill>
              <a:schemeClr val="accent4">
                <a:lumMod val="20000"/>
                <a:lumOff val="8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endParaRPr lang="fr-FR" sz="1800" i="1" dirty="0">
                <a:solidFill>
                  <a:prstClr val="white">
                    <a:lumMod val="50000"/>
                  </a:prstClr>
                </a:solidFill>
                <a:latin typeface="Segoe UI" panose="020B0502040204020203" pitchFamily="34" charset="0"/>
                <a:cs typeface="Segoe UI" panose="020B0502040204020203" pitchFamily="34" charset="0"/>
              </a:endParaRPr>
            </a:p>
            <a:p>
              <a:pPr algn="ctr" defTabSz="1828800"/>
              <a:endParaRPr lang="fr-FR" sz="1800" i="1" dirty="0">
                <a:solidFill>
                  <a:prstClr val="white">
                    <a:lumMod val="50000"/>
                  </a:prstClr>
                </a:solidFill>
                <a:latin typeface="Segoe UI" panose="020B0502040204020203" pitchFamily="34" charset="0"/>
                <a:cs typeface="Segoe UI" panose="020B0502040204020203" pitchFamily="34" charset="0"/>
              </a:endParaRPr>
            </a:p>
            <a:p>
              <a:pPr algn="ctr" defTabSz="1828800"/>
              <a:r>
                <a:rPr lang="fr-FR" sz="1800" b="1" i="1" dirty="0">
                  <a:solidFill>
                    <a:prstClr val="white">
                      <a:lumMod val="50000"/>
                    </a:prstClr>
                  </a:solidFill>
                  <a:latin typeface="Segoe UI" panose="020B0502040204020203" pitchFamily="34" charset="0"/>
                  <a:cs typeface="Segoe UI" panose="020B0502040204020203" pitchFamily="34" charset="0"/>
                </a:rPr>
                <a:t>Capture d’écran / illustration optionnelle</a:t>
              </a:r>
            </a:p>
          </p:txBody>
        </p:sp>
        <p:pic>
          <p:nvPicPr>
            <p:cNvPr id="66" name="Image 65">
              <a:extLst>
                <a:ext uri="{FF2B5EF4-FFF2-40B4-BE49-F238E27FC236}">
                  <a16:creationId xmlns:a16="http://schemas.microsoft.com/office/drawing/2014/main" id="{7CCB8F6F-6248-46ED-BEC2-0C1D8D5A2A97}"/>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5095" t="27707" r="48975" b="28753"/>
            <a:stretch/>
          </p:blipFill>
          <p:spPr>
            <a:xfrm>
              <a:off x="8866254" y="265496"/>
              <a:ext cx="330965" cy="213354"/>
            </a:xfrm>
            <a:prstGeom prst="rect">
              <a:avLst/>
            </a:prstGeom>
          </p:spPr>
        </p:pic>
      </p:grpSp>
      <p:sp>
        <p:nvSpPr>
          <p:cNvPr id="7" name="Rectangle : avec coins arrondis en haut 6">
            <a:extLst>
              <a:ext uri="{FF2B5EF4-FFF2-40B4-BE49-F238E27FC236}">
                <a16:creationId xmlns:a16="http://schemas.microsoft.com/office/drawing/2014/main" id="{75C53B9B-A533-433A-8A15-753FE5546FDC}"/>
              </a:ext>
            </a:extLst>
          </p:cNvPr>
          <p:cNvSpPr/>
          <p:nvPr/>
        </p:nvSpPr>
        <p:spPr>
          <a:xfrm>
            <a:off x="15482180" y="10351712"/>
            <a:ext cx="8019050" cy="552163"/>
          </a:xfrm>
          <a:prstGeom prst="round2SameRect">
            <a:avLst/>
          </a:prstGeom>
          <a:solidFill>
            <a:srgbClr val="003A8D"/>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DOCUMENTATION PIXIS DISPONIBLE</a:t>
            </a:r>
          </a:p>
        </p:txBody>
      </p:sp>
      <p:sp>
        <p:nvSpPr>
          <p:cNvPr id="53" name="Rectangle : coins arrondis 52">
            <a:extLst>
              <a:ext uri="{FF2B5EF4-FFF2-40B4-BE49-F238E27FC236}">
                <a16:creationId xmlns:a16="http://schemas.microsoft.com/office/drawing/2014/main" id="{6A0ED574-1D2E-42AD-8F87-18BFBECA67B8}"/>
              </a:ext>
            </a:extLst>
          </p:cNvPr>
          <p:cNvSpPr/>
          <p:nvPr/>
        </p:nvSpPr>
        <p:spPr>
          <a:xfrm>
            <a:off x="9177867" y="2586040"/>
            <a:ext cx="5156469" cy="724932"/>
          </a:xfrm>
          <a:prstGeom prst="roundRect">
            <a:avLst/>
          </a:prstGeom>
          <a:solidFill>
            <a:schemeClr val="bg1">
              <a:lumMod val="95000"/>
            </a:schemeClr>
          </a:solidFill>
          <a:ln w="285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lstStyle/>
          <a:p>
            <a:pPr algn="ctr" defTabSz="1828800"/>
            <a:r>
              <a:rPr lang="fr-FR" sz="2400" dirty="0">
                <a:solidFill>
                  <a:srgbClr val="4472C4">
                    <a:lumMod val="75000"/>
                  </a:srgbClr>
                </a:solidFill>
                <a:latin typeface="Segoe UI" panose="020B0502040204020203" pitchFamily="34" charset="0"/>
                <a:cs typeface="Segoe UI" panose="020B0502040204020203" pitchFamily="34" charset="0"/>
              </a:rPr>
              <a:t>x</a:t>
            </a:r>
          </a:p>
        </p:txBody>
      </p:sp>
      <p:sp>
        <p:nvSpPr>
          <p:cNvPr id="56" name="Rectangle : avec coins arrondis en haut 55">
            <a:extLst>
              <a:ext uri="{FF2B5EF4-FFF2-40B4-BE49-F238E27FC236}">
                <a16:creationId xmlns:a16="http://schemas.microsoft.com/office/drawing/2014/main" id="{636E7100-1996-4D25-93EB-58FAAE118161}"/>
              </a:ext>
            </a:extLst>
          </p:cNvPr>
          <p:cNvSpPr/>
          <p:nvPr/>
        </p:nvSpPr>
        <p:spPr>
          <a:xfrm>
            <a:off x="9188724" y="2080986"/>
            <a:ext cx="5150403" cy="552163"/>
          </a:xfrm>
          <a:prstGeom prst="round2SameRect">
            <a:avLst/>
          </a:prstGeom>
          <a:solidFill>
            <a:srgbClr val="003A8D"/>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UTILISATEURS</a:t>
            </a:r>
          </a:p>
        </p:txBody>
      </p:sp>
      <p:sp>
        <p:nvSpPr>
          <p:cNvPr id="57" name="Rectangle à coins arrondis 16">
            <a:extLst>
              <a:ext uri="{FF2B5EF4-FFF2-40B4-BE49-F238E27FC236}">
                <a16:creationId xmlns:a16="http://schemas.microsoft.com/office/drawing/2014/main" id="{689F41E9-FDC9-4B86-B9E6-856DFFA22259}"/>
              </a:ext>
            </a:extLst>
          </p:cNvPr>
          <p:cNvSpPr/>
          <p:nvPr/>
        </p:nvSpPr>
        <p:spPr>
          <a:xfrm>
            <a:off x="10293624" y="2808824"/>
            <a:ext cx="2924954" cy="1059365"/>
          </a:xfrm>
          <a:prstGeom prst="roundRect">
            <a:avLst/>
          </a:prstGeom>
          <a:solidFill>
            <a:schemeClr val="accent4">
              <a:lumMod val="20000"/>
              <a:lumOff val="8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        </a:t>
            </a:r>
          </a:p>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Renseigner les utilisateurs de l’application : La CF, les clients, ETVS, l’OCR F</a:t>
            </a:r>
          </a:p>
          <a:p>
            <a:pPr algn="ctr" defTabSz="1828800"/>
            <a:endParaRPr lang="fr-FR" sz="1600" i="1" dirty="0">
              <a:solidFill>
                <a:prstClr val="white">
                  <a:lumMod val="50000"/>
                </a:prstClr>
              </a:solidFill>
              <a:latin typeface="Segoe UI" panose="020B0502040204020203" pitchFamily="34" charset="0"/>
              <a:cs typeface="Segoe UI" panose="020B0502040204020203" pitchFamily="34" charset="0"/>
            </a:endParaRPr>
          </a:p>
        </p:txBody>
      </p:sp>
      <p:sp>
        <p:nvSpPr>
          <p:cNvPr id="58" name="Rectangle : coins arrondis 57">
            <a:extLst>
              <a:ext uri="{FF2B5EF4-FFF2-40B4-BE49-F238E27FC236}">
                <a16:creationId xmlns:a16="http://schemas.microsoft.com/office/drawing/2014/main" id="{C45F9DE3-1B7F-4E3A-A98B-8CE59695A6DE}"/>
              </a:ext>
            </a:extLst>
          </p:cNvPr>
          <p:cNvSpPr/>
          <p:nvPr/>
        </p:nvSpPr>
        <p:spPr>
          <a:xfrm>
            <a:off x="1036578" y="4649468"/>
            <a:ext cx="13425871" cy="724932"/>
          </a:xfrm>
          <a:prstGeom prst="roundRect">
            <a:avLst/>
          </a:prstGeom>
          <a:solidFill>
            <a:schemeClr val="accent4">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lstStyle/>
          <a:p>
            <a:r>
              <a:rPr lang="fr-FR" sz="2000" b="1" dirty="0">
                <a:solidFill>
                  <a:srgbClr val="002060"/>
                </a:solidFill>
                <a:latin typeface="Segoe UI" panose="020B0502040204020203" pitchFamily="34" charset="0"/>
                <a:cs typeface="Segoe UI" panose="020B0502040204020203" pitchFamily="34" charset="0"/>
              </a:rPr>
              <a:t>x</a:t>
            </a:r>
          </a:p>
        </p:txBody>
      </p:sp>
      <p:sp>
        <p:nvSpPr>
          <p:cNvPr id="60" name="Rectangle : avec coins arrondis en haut 59">
            <a:extLst>
              <a:ext uri="{FF2B5EF4-FFF2-40B4-BE49-F238E27FC236}">
                <a16:creationId xmlns:a16="http://schemas.microsoft.com/office/drawing/2014/main" id="{CCD0CBC3-FF89-4C3A-AFA0-DDF439CE8E0A}"/>
              </a:ext>
            </a:extLst>
          </p:cNvPr>
          <p:cNvSpPr/>
          <p:nvPr/>
        </p:nvSpPr>
        <p:spPr>
          <a:xfrm>
            <a:off x="1045858" y="4069770"/>
            <a:ext cx="13410076" cy="552163"/>
          </a:xfrm>
          <a:prstGeom prst="round2SameRect">
            <a:avLst/>
          </a:prstGeom>
          <a:solidFill>
            <a:srgbClr val="003A8D"/>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OBJECTIF DE L’APPLICATION</a:t>
            </a:r>
          </a:p>
        </p:txBody>
      </p:sp>
      <p:sp>
        <p:nvSpPr>
          <p:cNvPr id="61" name="Rectangle à coins arrondis 16">
            <a:extLst>
              <a:ext uri="{FF2B5EF4-FFF2-40B4-BE49-F238E27FC236}">
                <a16:creationId xmlns:a16="http://schemas.microsoft.com/office/drawing/2014/main" id="{F8EE4742-F97A-415B-B072-018A75D4402F}"/>
              </a:ext>
            </a:extLst>
          </p:cNvPr>
          <p:cNvSpPr/>
          <p:nvPr/>
        </p:nvSpPr>
        <p:spPr>
          <a:xfrm>
            <a:off x="2316812" y="8470169"/>
            <a:ext cx="2924954" cy="1059365"/>
          </a:xfrm>
          <a:prstGeom prst="roundRect">
            <a:avLst/>
          </a:prstGeom>
          <a:solidFill>
            <a:schemeClr val="accent4">
              <a:lumMod val="20000"/>
              <a:lumOff val="8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        </a:t>
            </a:r>
          </a:p>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Indiquer si le composant est en « En cadrage », « En développement », « En production »</a:t>
            </a:r>
          </a:p>
          <a:p>
            <a:pPr algn="ctr" defTabSz="1828800"/>
            <a:endParaRPr lang="fr-FR" sz="1600" i="1" dirty="0">
              <a:solidFill>
                <a:prstClr val="white">
                  <a:lumMod val="50000"/>
                </a:prstClr>
              </a:solidFill>
              <a:latin typeface="Segoe UI" panose="020B0502040204020203" pitchFamily="34" charset="0"/>
              <a:cs typeface="Segoe UI" panose="020B0502040204020203" pitchFamily="34" charset="0"/>
            </a:endParaRPr>
          </a:p>
        </p:txBody>
      </p:sp>
      <p:sp>
        <p:nvSpPr>
          <p:cNvPr id="63" name="Rectangle : avec coins arrondis en haut 62">
            <a:extLst>
              <a:ext uri="{FF2B5EF4-FFF2-40B4-BE49-F238E27FC236}">
                <a16:creationId xmlns:a16="http://schemas.microsoft.com/office/drawing/2014/main" id="{2A53A2F3-BC77-4A6F-A615-9C91E45C06BB}"/>
              </a:ext>
            </a:extLst>
          </p:cNvPr>
          <p:cNvSpPr/>
          <p:nvPr/>
        </p:nvSpPr>
        <p:spPr>
          <a:xfrm>
            <a:off x="1045858" y="5651583"/>
            <a:ext cx="13434110" cy="552163"/>
          </a:xfrm>
          <a:prstGeom prst="round2SameRect">
            <a:avLst/>
          </a:prstGeom>
          <a:solidFill>
            <a:srgbClr val="003A8D"/>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PRINCIPALES FONCTIONALITES COUVERTES</a:t>
            </a:r>
          </a:p>
        </p:txBody>
      </p:sp>
      <p:sp>
        <p:nvSpPr>
          <p:cNvPr id="12" name="Rectangle 11">
            <a:extLst>
              <a:ext uri="{FF2B5EF4-FFF2-40B4-BE49-F238E27FC236}">
                <a16:creationId xmlns:a16="http://schemas.microsoft.com/office/drawing/2014/main" id="{C3E3F160-A3CB-4CB4-A38E-84C342ECD411}"/>
              </a:ext>
            </a:extLst>
          </p:cNvPr>
          <p:cNvSpPr/>
          <p:nvPr/>
        </p:nvSpPr>
        <p:spPr>
          <a:xfrm>
            <a:off x="1045858" y="6203747"/>
            <a:ext cx="13425871" cy="378293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0" tIns="360000" rIns="180000" bIns="180000" rtlCol="0" anchor="t"/>
          <a:lstStyle/>
          <a:p>
            <a:r>
              <a:rPr lang="fr-FR" sz="2000" dirty="0">
                <a:solidFill>
                  <a:srgbClr val="002060"/>
                </a:solidFill>
                <a:latin typeface="Segoe UI" panose="020B0502040204020203" pitchFamily="34" charset="0"/>
                <a:cs typeface="Segoe UI" panose="020B0502040204020203" pitchFamily="34" charset="0"/>
              </a:rPr>
              <a:t>Les principales fonctionnalités couvertes par l’outil sont :</a:t>
            </a:r>
          </a:p>
          <a:p>
            <a:pPr marL="342900" indent="-342900">
              <a:buFont typeface="Arial" panose="020B0604020202020204" pitchFamily="34" charset="0"/>
              <a:buChar char="•"/>
            </a:pPr>
            <a:r>
              <a:rPr lang="fr-FR" sz="2000" dirty="0">
                <a:solidFill>
                  <a:srgbClr val="002060"/>
                </a:solidFill>
                <a:latin typeface="Segoe UI" panose="020B0502040204020203" pitchFamily="34" charset="0"/>
                <a:cs typeface="Segoe UI" panose="020B0502040204020203" pitchFamily="34" charset="0"/>
              </a:rPr>
              <a:t>Service 1</a:t>
            </a:r>
          </a:p>
          <a:p>
            <a:pPr marL="342900" indent="-342900">
              <a:buFont typeface="Arial" panose="020B0604020202020204" pitchFamily="34" charset="0"/>
              <a:buChar char="•"/>
            </a:pPr>
            <a:r>
              <a:rPr lang="fr-FR" sz="2000" dirty="0">
                <a:solidFill>
                  <a:srgbClr val="002060"/>
                </a:solidFill>
                <a:latin typeface="Segoe UI" panose="020B0502040204020203" pitchFamily="34" charset="0"/>
                <a:cs typeface="Segoe UI" panose="020B0502040204020203" pitchFamily="34" charset="0"/>
              </a:rPr>
              <a:t>Service 2</a:t>
            </a:r>
          </a:p>
          <a:p>
            <a:pPr marL="342900" indent="-342900">
              <a:buFont typeface="Arial" panose="020B0604020202020204" pitchFamily="34" charset="0"/>
              <a:buChar char="•"/>
            </a:pPr>
            <a:r>
              <a:rPr lang="fr-FR" sz="2000" dirty="0">
                <a:solidFill>
                  <a:srgbClr val="002060"/>
                </a:solidFill>
                <a:latin typeface="Segoe UI" panose="020B0502040204020203" pitchFamily="34" charset="0"/>
                <a:cs typeface="Segoe UI" panose="020B0502040204020203" pitchFamily="34" charset="0"/>
              </a:rPr>
              <a:t>Service 3</a:t>
            </a:r>
          </a:p>
          <a:p>
            <a:pPr marL="342900" indent="-342900">
              <a:buFont typeface="Arial" panose="020B0604020202020204" pitchFamily="34" charset="0"/>
              <a:buChar char="•"/>
            </a:pPr>
            <a:r>
              <a:rPr lang="fr-FR" sz="2000" dirty="0" err="1">
                <a:solidFill>
                  <a:srgbClr val="002060"/>
                </a:solidFill>
                <a:latin typeface="Segoe UI" panose="020B0502040204020203" pitchFamily="34" charset="0"/>
                <a:cs typeface="Segoe UI" panose="020B0502040204020203" pitchFamily="34" charset="0"/>
              </a:rPr>
              <a:t>etc</a:t>
            </a:r>
            <a:endParaRPr lang="fr-FR" sz="2000" dirty="0">
              <a:solidFill>
                <a:srgbClr val="002060"/>
              </a:solidFill>
              <a:latin typeface="Segoe UI" panose="020B0502040204020203" pitchFamily="34" charset="0"/>
              <a:cs typeface="Segoe UI" panose="020B0502040204020203" pitchFamily="34" charset="0"/>
            </a:endParaRPr>
          </a:p>
        </p:txBody>
      </p:sp>
      <p:sp>
        <p:nvSpPr>
          <p:cNvPr id="67" name="Rectangle à coins arrondis 16">
            <a:extLst>
              <a:ext uri="{FF2B5EF4-FFF2-40B4-BE49-F238E27FC236}">
                <a16:creationId xmlns:a16="http://schemas.microsoft.com/office/drawing/2014/main" id="{06C66D1A-405B-4201-AE84-E6E3709F08DE}"/>
              </a:ext>
            </a:extLst>
          </p:cNvPr>
          <p:cNvSpPr/>
          <p:nvPr/>
        </p:nvSpPr>
        <p:spPr>
          <a:xfrm>
            <a:off x="4419184" y="7479085"/>
            <a:ext cx="6544857" cy="1889673"/>
          </a:xfrm>
          <a:prstGeom prst="roundRect">
            <a:avLst/>
          </a:prstGeom>
          <a:solidFill>
            <a:schemeClr val="accent4">
              <a:lumMod val="20000"/>
              <a:lumOff val="8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        </a:t>
            </a:r>
          </a:p>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Reprenez tout ou partie des services de rang 2 du catalogue couverts par le composant quand celui-ci est mentionné dans le catalogue</a:t>
            </a:r>
          </a:p>
          <a:p>
            <a:pPr algn="ctr" defTabSz="1828800"/>
            <a:endParaRPr lang="fr-FR" sz="1600" i="1" dirty="0">
              <a:solidFill>
                <a:prstClr val="white">
                  <a:lumMod val="50000"/>
                </a:prstClr>
              </a:solidFill>
              <a:latin typeface="Segoe UI" panose="020B0502040204020203" pitchFamily="34" charset="0"/>
              <a:cs typeface="Segoe UI" panose="020B0502040204020203" pitchFamily="34" charset="0"/>
            </a:endParaRPr>
          </a:p>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Apportez des compléments d’information si nécessaire</a:t>
            </a:r>
          </a:p>
          <a:p>
            <a:pPr algn="ctr" defTabSz="1828800"/>
            <a:endParaRPr lang="fr-FR" sz="1600" i="1" dirty="0">
              <a:solidFill>
                <a:prstClr val="white">
                  <a:lumMod val="50000"/>
                </a:prstClr>
              </a:solidFill>
              <a:latin typeface="Segoe UI" panose="020B0502040204020203" pitchFamily="34" charset="0"/>
              <a:cs typeface="Segoe UI" panose="020B0502040204020203" pitchFamily="34" charset="0"/>
            </a:endParaRPr>
          </a:p>
          <a:p>
            <a:pPr algn="ctr" defTabSz="1828800"/>
            <a:r>
              <a:rPr lang="fr-FR" sz="1600" i="1" dirty="0">
                <a:solidFill>
                  <a:prstClr val="white">
                    <a:lumMod val="50000"/>
                  </a:prstClr>
                </a:solidFill>
                <a:latin typeface="Segoe UI" panose="020B0502040204020203" pitchFamily="34" charset="0"/>
                <a:cs typeface="Segoe UI" panose="020B0502040204020203" pitchFamily="34" charset="0"/>
                <a:hlinkClick r:id="rId4"/>
              </a:rPr>
              <a:t>Lien vers le catalogue de service</a:t>
            </a:r>
            <a:endParaRPr lang="fr-FR" sz="1600" i="1" dirty="0">
              <a:solidFill>
                <a:prstClr val="white">
                  <a:lumMod val="50000"/>
                </a:prstClr>
              </a:solidFill>
              <a:latin typeface="Segoe UI" panose="020B0502040204020203" pitchFamily="34" charset="0"/>
              <a:cs typeface="Segoe UI" panose="020B0502040204020203" pitchFamily="34" charset="0"/>
            </a:endParaRPr>
          </a:p>
          <a:p>
            <a:pPr algn="ctr" defTabSz="1828800"/>
            <a:endParaRPr lang="fr-FR" sz="1600" i="1" dirty="0">
              <a:solidFill>
                <a:prstClr val="white">
                  <a:lumMod val="50000"/>
                </a:prstClr>
              </a:solidFill>
              <a:latin typeface="Segoe UI" panose="020B0502040204020203" pitchFamily="34" charset="0"/>
              <a:cs typeface="Segoe UI" panose="020B0502040204020203" pitchFamily="34" charset="0"/>
            </a:endParaRPr>
          </a:p>
        </p:txBody>
      </p:sp>
      <p:sp>
        <p:nvSpPr>
          <p:cNvPr id="68" name="Rectangle : coins arrondis 67">
            <a:extLst>
              <a:ext uri="{FF2B5EF4-FFF2-40B4-BE49-F238E27FC236}">
                <a16:creationId xmlns:a16="http://schemas.microsoft.com/office/drawing/2014/main" id="{C8D41EA9-E961-441D-947B-D312F8608EC9}"/>
              </a:ext>
            </a:extLst>
          </p:cNvPr>
          <p:cNvSpPr/>
          <p:nvPr/>
        </p:nvSpPr>
        <p:spPr>
          <a:xfrm>
            <a:off x="1130978" y="2586040"/>
            <a:ext cx="4961579" cy="724932"/>
          </a:xfrm>
          <a:prstGeom prst="roundRect">
            <a:avLst/>
          </a:prstGeom>
          <a:solidFill>
            <a:schemeClr val="bg1">
              <a:lumMod val="95000"/>
            </a:schemeClr>
          </a:solidFill>
          <a:ln w="285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lstStyle/>
          <a:p>
            <a:pPr algn="ctr" defTabSz="1828800"/>
            <a:r>
              <a:rPr lang="fr-FR" sz="2400" dirty="0">
                <a:solidFill>
                  <a:srgbClr val="4472C4">
                    <a:lumMod val="75000"/>
                  </a:srgbClr>
                </a:solidFill>
                <a:latin typeface="Segoe UI" panose="020B0502040204020203" pitchFamily="34" charset="0"/>
                <a:cs typeface="Segoe UI" panose="020B0502040204020203" pitchFamily="34" charset="0"/>
              </a:rPr>
              <a:t>x</a:t>
            </a:r>
          </a:p>
        </p:txBody>
      </p:sp>
      <p:sp>
        <p:nvSpPr>
          <p:cNvPr id="69" name="Rectangle : avec coins arrondis en haut 68">
            <a:extLst>
              <a:ext uri="{FF2B5EF4-FFF2-40B4-BE49-F238E27FC236}">
                <a16:creationId xmlns:a16="http://schemas.microsoft.com/office/drawing/2014/main" id="{84AB77D7-CC47-4A16-962C-C97F5BB54437}"/>
              </a:ext>
            </a:extLst>
          </p:cNvPr>
          <p:cNvSpPr/>
          <p:nvPr/>
        </p:nvSpPr>
        <p:spPr>
          <a:xfrm>
            <a:off x="1140258" y="2080986"/>
            <a:ext cx="4955742" cy="552163"/>
          </a:xfrm>
          <a:prstGeom prst="round2SameRect">
            <a:avLst/>
          </a:prstGeom>
          <a:solidFill>
            <a:srgbClr val="003A8D"/>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CODE ROBIN</a:t>
            </a:r>
          </a:p>
        </p:txBody>
      </p:sp>
      <p:sp>
        <p:nvSpPr>
          <p:cNvPr id="70" name="Rectangle à coins arrondis 16">
            <a:extLst>
              <a:ext uri="{FF2B5EF4-FFF2-40B4-BE49-F238E27FC236}">
                <a16:creationId xmlns:a16="http://schemas.microsoft.com/office/drawing/2014/main" id="{DF7749AD-B6FC-452D-9875-2C8F9B3218FC}"/>
              </a:ext>
            </a:extLst>
          </p:cNvPr>
          <p:cNvSpPr/>
          <p:nvPr/>
        </p:nvSpPr>
        <p:spPr>
          <a:xfrm>
            <a:off x="1590462" y="2644358"/>
            <a:ext cx="2924954" cy="1059365"/>
          </a:xfrm>
          <a:prstGeom prst="roundRect">
            <a:avLst/>
          </a:prstGeom>
          <a:solidFill>
            <a:schemeClr val="accent4">
              <a:lumMod val="20000"/>
              <a:lumOff val="8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        </a:t>
            </a:r>
          </a:p>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Indiquer le code robin auquel est rattaché l’application</a:t>
            </a:r>
          </a:p>
        </p:txBody>
      </p:sp>
      <p:sp>
        <p:nvSpPr>
          <p:cNvPr id="71" name="Rectangle à coins arrondis 16">
            <a:extLst>
              <a:ext uri="{FF2B5EF4-FFF2-40B4-BE49-F238E27FC236}">
                <a16:creationId xmlns:a16="http://schemas.microsoft.com/office/drawing/2014/main" id="{DF5818AB-E78F-43A3-A437-1F9677028CC5}"/>
              </a:ext>
            </a:extLst>
          </p:cNvPr>
          <p:cNvSpPr/>
          <p:nvPr/>
        </p:nvSpPr>
        <p:spPr>
          <a:xfrm>
            <a:off x="4486364" y="4722206"/>
            <a:ext cx="6544857" cy="576792"/>
          </a:xfrm>
          <a:prstGeom prst="roundRect">
            <a:avLst/>
          </a:prstGeom>
          <a:solidFill>
            <a:schemeClr val="accent4">
              <a:lumMod val="20000"/>
              <a:lumOff val="8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        </a:t>
            </a:r>
          </a:p>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En quelques mots, à quoi sert l’outil</a:t>
            </a:r>
          </a:p>
          <a:p>
            <a:pPr algn="ctr" defTabSz="1828800"/>
            <a:endParaRPr lang="fr-FR" sz="1600" i="1" dirty="0">
              <a:solidFill>
                <a:prstClr val="white">
                  <a:lumMod val="50000"/>
                </a:prstClr>
              </a:solidFill>
              <a:latin typeface="Segoe UI" panose="020B0502040204020203" pitchFamily="34" charset="0"/>
              <a:cs typeface="Segoe UI" panose="020B0502040204020203" pitchFamily="34" charset="0"/>
            </a:endParaRPr>
          </a:p>
        </p:txBody>
      </p:sp>
      <p:sp>
        <p:nvSpPr>
          <p:cNvPr id="72" name="Rectangle : avec coins arrondis en haut 71">
            <a:extLst>
              <a:ext uri="{FF2B5EF4-FFF2-40B4-BE49-F238E27FC236}">
                <a16:creationId xmlns:a16="http://schemas.microsoft.com/office/drawing/2014/main" id="{ADDA173F-2211-4F1D-ADAE-1CFFCF57AF80}"/>
              </a:ext>
            </a:extLst>
          </p:cNvPr>
          <p:cNvSpPr/>
          <p:nvPr/>
        </p:nvSpPr>
        <p:spPr>
          <a:xfrm>
            <a:off x="15472900" y="5095776"/>
            <a:ext cx="8028496" cy="552163"/>
          </a:xfrm>
          <a:prstGeom prst="round2SameRect">
            <a:avLst/>
          </a:prstGeom>
          <a:solidFill>
            <a:srgbClr val="003A8D"/>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CARACTERISTIQUES TECHNIQUES</a:t>
            </a:r>
          </a:p>
        </p:txBody>
      </p:sp>
      <p:sp>
        <p:nvSpPr>
          <p:cNvPr id="73" name="Rectangle 72">
            <a:extLst>
              <a:ext uri="{FF2B5EF4-FFF2-40B4-BE49-F238E27FC236}">
                <a16:creationId xmlns:a16="http://schemas.microsoft.com/office/drawing/2014/main" id="{4AA1214B-2ECA-484B-8A83-EEC068A5E25B}"/>
              </a:ext>
            </a:extLst>
          </p:cNvPr>
          <p:cNvSpPr/>
          <p:nvPr/>
        </p:nvSpPr>
        <p:spPr>
          <a:xfrm>
            <a:off x="15472900" y="5647939"/>
            <a:ext cx="8028495" cy="2025852"/>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0" tIns="360000" rIns="180000" bIns="180000" rtlCol="0" anchor="t"/>
          <a:lstStyle/>
          <a:p>
            <a:pPr marL="342900" indent="-342900">
              <a:buFont typeface="Arial" panose="020B0604020202020204" pitchFamily="34" charset="0"/>
              <a:buChar char="•"/>
            </a:pPr>
            <a:r>
              <a:rPr lang="fr-FR" sz="2000" dirty="0">
                <a:solidFill>
                  <a:srgbClr val="002060"/>
                </a:solidFill>
                <a:latin typeface="Segoe UI" panose="020B0502040204020203" pitchFamily="34" charset="0"/>
                <a:cs typeface="Segoe UI" panose="020B0502040204020203" pitchFamily="34" charset="0"/>
              </a:rPr>
              <a:t>A </a:t>
            </a:r>
          </a:p>
          <a:p>
            <a:pPr marL="342900" indent="-342900">
              <a:buFont typeface="Arial" panose="020B0604020202020204" pitchFamily="34" charset="0"/>
              <a:buChar char="•"/>
            </a:pPr>
            <a:r>
              <a:rPr lang="fr-FR" sz="2000" dirty="0">
                <a:solidFill>
                  <a:srgbClr val="002060"/>
                </a:solidFill>
                <a:latin typeface="Segoe UI" panose="020B0502040204020203" pitchFamily="34" charset="0"/>
                <a:cs typeface="Segoe UI" panose="020B0502040204020203" pitchFamily="34" charset="0"/>
              </a:rPr>
              <a:t>B</a:t>
            </a:r>
          </a:p>
          <a:p>
            <a:pPr marL="342900" indent="-342900">
              <a:buFont typeface="Arial" panose="020B0604020202020204" pitchFamily="34" charset="0"/>
              <a:buChar char="•"/>
            </a:pPr>
            <a:r>
              <a:rPr lang="fr-FR" sz="2000" dirty="0">
                <a:solidFill>
                  <a:srgbClr val="002060"/>
                </a:solidFill>
                <a:latin typeface="Segoe UI" panose="020B0502040204020203" pitchFamily="34" charset="0"/>
                <a:cs typeface="Segoe UI" panose="020B0502040204020203" pitchFamily="34" charset="0"/>
              </a:rPr>
              <a:t>C</a:t>
            </a:r>
          </a:p>
          <a:p>
            <a:pPr marL="342900" indent="-342900">
              <a:buFont typeface="Arial" panose="020B0604020202020204" pitchFamily="34" charset="0"/>
              <a:buChar char="•"/>
            </a:pPr>
            <a:r>
              <a:rPr lang="fr-FR" sz="2000" dirty="0">
                <a:solidFill>
                  <a:srgbClr val="002060"/>
                </a:solidFill>
                <a:latin typeface="Segoe UI" panose="020B0502040204020203" pitchFamily="34" charset="0"/>
                <a:cs typeface="Segoe UI" panose="020B0502040204020203" pitchFamily="34" charset="0"/>
              </a:rPr>
              <a:t>D</a:t>
            </a:r>
          </a:p>
        </p:txBody>
      </p:sp>
      <p:sp>
        <p:nvSpPr>
          <p:cNvPr id="76" name="Rectangle à coins arrondis 16">
            <a:extLst>
              <a:ext uri="{FF2B5EF4-FFF2-40B4-BE49-F238E27FC236}">
                <a16:creationId xmlns:a16="http://schemas.microsoft.com/office/drawing/2014/main" id="{24364494-C0B8-4B84-9F9C-48355E9A997C}"/>
              </a:ext>
            </a:extLst>
          </p:cNvPr>
          <p:cNvSpPr/>
          <p:nvPr/>
        </p:nvSpPr>
        <p:spPr>
          <a:xfrm>
            <a:off x="16739201" y="6097463"/>
            <a:ext cx="6451052" cy="1059365"/>
          </a:xfrm>
          <a:prstGeom prst="roundRect">
            <a:avLst/>
          </a:prstGeom>
          <a:solidFill>
            <a:schemeClr val="accent4">
              <a:lumMod val="20000"/>
              <a:lumOff val="8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        </a:t>
            </a:r>
          </a:p>
          <a:p>
            <a:pPr algn="ctr" defTabSz="1828800"/>
            <a:r>
              <a:rPr lang="fr-FR" sz="1600" i="1" dirty="0">
                <a:solidFill>
                  <a:prstClr val="white">
                    <a:lumMod val="50000"/>
                  </a:prstClr>
                </a:solidFill>
                <a:highlight>
                  <a:srgbClr val="FFFF00"/>
                </a:highlight>
                <a:latin typeface="Segoe UI" panose="020B0502040204020203" pitchFamily="34" charset="0"/>
                <a:cs typeface="Segoe UI" panose="020B0502040204020203" pitchFamily="34" charset="0"/>
              </a:rPr>
              <a:t>A COMPLETER</a:t>
            </a:r>
          </a:p>
          <a:p>
            <a:pPr algn="ctr" defTabSz="1828800"/>
            <a:r>
              <a:rPr lang="fr-FR" sz="1600" i="1" dirty="0">
                <a:solidFill>
                  <a:prstClr val="white">
                    <a:lumMod val="50000"/>
                  </a:prstClr>
                </a:solidFill>
                <a:highlight>
                  <a:srgbClr val="FFFF00"/>
                </a:highlight>
                <a:latin typeface="Segoe UI" panose="020B0502040204020203" pitchFamily="34" charset="0"/>
                <a:cs typeface="Segoe UI" panose="020B0502040204020203" pitchFamily="34" charset="0"/>
              </a:rPr>
              <a:t>Api et son utilité, Webservice, webcomponent, les protocoles, ressources SAS nécessaires</a:t>
            </a:r>
          </a:p>
          <a:p>
            <a:pPr algn="ctr" defTabSz="1828800"/>
            <a:endParaRPr lang="fr-FR" sz="1600" i="1" dirty="0">
              <a:solidFill>
                <a:prstClr val="white">
                  <a:lumMod val="50000"/>
                </a:prstClr>
              </a:solidFill>
              <a:latin typeface="Segoe UI" panose="020B0502040204020203" pitchFamily="34" charset="0"/>
              <a:cs typeface="Segoe UI" panose="020B0502040204020203" pitchFamily="34" charset="0"/>
            </a:endParaRPr>
          </a:p>
        </p:txBody>
      </p:sp>
      <p:sp>
        <p:nvSpPr>
          <p:cNvPr id="81" name="Rectangle : coins arrondis 80">
            <a:extLst>
              <a:ext uri="{FF2B5EF4-FFF2-40B4-BE49-F238E27FC236}">
                <a16:creationId xmlns:a16="http://schemas.microsoft.com/office/drawing/2014/main" id="{67013385-87B0-4F8E-85C9-F264CC8C401F}"/>
              </a:ext>
            </a:extLst>
          </p:cNvPr>
          <p:cNvSpPr/>
          <p:nvPr/>
        </p:nvSpPr>
        <p:spPr>
          <a:xfrm>
            <a:off x="15472900" y="12886269"/>
            <a:ext cx="8028495" cy="492332"/>
          </a:xfrm>
          <a:prstGeom prst="roundRect">
            <a:avLst/>
          </a:prstGeom>
          <a:solidFill>
            <a:schemeClr val="bg1"/>
          </a:solidFill>
          <a:ln w="12700">
            <a:solidFill>
              <a:schemeClr val="bg1">
                <a:lumMod val="9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lstStyle/>
          <a:p>
            <a:pPr algn="ctr" defTabSz="1828800"/>
            <a:r>
              <a:rPr lang="fr-FR" sz="2000" i="1" dirty="0">
                <a:solidFill>
                  <a:schemeClr val="bg1">
                    <a:lumMod val="50000"/>
                  </a:schemeClr>
                </a:solidFill>
                <a:latin typeface="Segoe UI" panose="020B0502040204020203" pitchFamily="34" charset="0"/>
                <a:cs typeface="Segoe UI" panose="020B0502040204020203" pitchFamily="34" charset="0"/>
              </a:rPr>
              <a:t>Date de la dernière mise à jour : jj/mm/</a:t>
            </a:r>
            <a:r>
              <a:rPr lang="fr-FR" sz="2000" i="1" dirty="0" err="1">
                <a:solidFill>
                  <a:schemeClr val="bg1">
                    <a:lumMod val="50000"/>
                  </a:schemeClr>
                </a:solidFill>
                <a:latin typeface="Segoe UI" panose="020B0502040204020203" pitchFamily="34" charset="0"/>
                <a:cs typeface="Segoe UI" panose="020B0502040204020203" pitchFamily="34" charset="0"/>
              </a:rPr>
              <a:t>aaaa</a:t>
            </a:r>
            <a:endParaRPr lang="fr-FR" sz="2000" i="1" dirty="0">
              <a:solidFill>
                <a:schemeClr val="bg1">
                  <a:lumMod val="50000"/>
                </a:schemeClr>
              </a:solidFill>
              <a:latin typeface="Segoe UI" panose="020B0502040204020203" pitchFamily="34" charset="0"/>
              <a:cs typeface="Segoe UI" panose="020B0502040204020203" pitchFamily="34" charset="0"/>
            </a:endParaRPr>
          </a:p>
        </p:txBody>
      </p:sp>
      <p:sp>
        <p:nvSpPr>
          <p:cNvPr id="37" name="Rectangle à coins arrondis 16">
            <a:extLst>
              <a:ext uri="{FF2B5EF4-FFF2-40B4-BE49-F238E27FC236}">
                <a16:creationId xmlns:a16="http://schemas.microsoft.com/office/drawing/2014/main" id="{91D4901A-FDE5-4B6D-B268-FBB8D5C17052}"/>
              </a:ext>
            </a:extLst>
          </p:cNvPr>
          <p:cNvSpPr/>
          <p:nvPr/>
        </p:nvSpPr>
        <p:spPr>
          <a:xfrm>
            <a:off x="16403802" y="11636062"/>
            <a:ext cx="6544857" cy="407647"/>
          </a:xfrm>
          <a:prstGeom prst="roundRect">
            <a:avLst/>
          </a:prstGeom>
          <a:solidFill>
            <a:schemeClr val="accent4">
              <a:lumMod val="20000"/>
              <a:lumOff val="8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        </a:t>
            </a:r>
          </a:p>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Insérer les liens vers la documentation </a:t>
            </a:r>
            <a:r>
              <a:rPr lang="fr-FR" sz="1600" i="1" dirty="0" err="1">
                <a:solidFill>
                  <a:prstClr val="white">
                    <a:lumMod val="50000"/>
                  </a:prstClr>
                </a:solidFill>
                <a:latin typeface="Segoe UI" panose="020B0502040204020203" pitchFamily="34" charset="0"/>
                <a:cs typeface="Segoe UI" panose="020B0502040204020203" pitchFamily="34" charset="0"/>
              </a:rPr>
              <a:t>Pixis</a:t>
            </a:r>
            <a:r>
              <a:rPr lang="fr-FR" sz="1600" i="1" dirty="0">
                <a:solidFill>
                  <a:prstClr val="white">
                    <a:lumMod val="50000"/>
                  </a:prstClr>
                </a:solidFill>
                <a:latin typeface="Segoe UI" panose="020B0502040204020203" pitchFamily="34" charset="0"/>
                <a:cs typeface="Segoe UI" panose="020B0502040204020203" pitchFamily="34" charset="0"/>
              </a:rPr>
              <a:t> disponible</a:t>
            </a:r>
          </a:p>
          <a:p>
            <a:pPr algn="ctr" defTabSz="1828800"/>
            <a:endParaRPr lang="fr-FR" sz="1600" i="1" dirty="0">
              <a:solidFill>
                <a:prstClr val="white">
                  <a:lumMod val="50000"/>
                </a:prstClr>
              </a:solidFill>
              <a:latin typeface="Segoe UI" panose="020B0502040204020203" pitchFamily="34" charset="0"/>
              <a:cs typeface="Segoe UI" panose="020B0502040204020203" pitchFamily="34" charset="0"/>
            </a:endParaRPr>
          </a:p>
        </p:txBody>
      </p:sp>
      <p:sp>
        <p:nvSpPr>
          <p:cNvPr id="33" name="Rectangle 32">
            <a:extLst>
              <a:ext uri="{FF2B5EF4-FFF2-40B4-BE49-F238E27FC236}">
                <a16:creationId xmlns:a16="http://schemas.microsoft.com/office/drawing/2014/main" id="{AAD78116-DE3B-4A98-A063-A27E0AE6AC16}"/>
              </a:ext>
            </a:extLst>
          </p:cNvPr>
          <p:cNvSpPr/>
          <p:nvPr/>
        </p:nvSpPr>
        <p:spPr>
          <a:xfrm>
            <a:off x="15472900" y="8086340"/>
            <a:ext cx="8028495" cy="2025852"/>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0" tIns="360000" rIns="180000" bIns="180000" rtlCol="0" anchor="t"/>
          <a:lstStyle/>
          <a:p>
            <a:pPr marL="342900" indent="-342900">
              <a:buFont typeface="Arial" panose="020B0604020202020204" pitchFamily="34" charset="0"/>
              <a:buChar char="•"/>
            </a:pPr>
            <a:r>
              <a:rPr lang="fr-FR" sz="2000" dirty="0">
                <a:solidFill>
                  <a:srgbClr val="002060"/>
                </a:solidFill>
                <a:latin typeface="Segoe UI" panose="020B0502040204020203" pitchFamily="34" charset="0"/>
                <a:cs typeface="Segoe UI" panose="020B0502040204020203" pitchFamily="34" charset="0"/>
              </a:rPr>
              <a:t>A </a:t>
            </a:r>
          </a:p>
          <a:p>
            <a:pPr marL="342900" indent="-342900">
              <a:buFont typeface="Arial" panose="020B0604020202020204" pitchFamily="34" charset="0"/>
              <a:buChar char="•"/>
            </a:pPr>
            <a:r>
              <a:rPr lang="fr-FR" sz="2000" dirty="0">
                <a:solidFill>
                  <a:srgbClr val="002060"/>
                </a:solidFill>
                <a:latin typeface="Segoe UI" panose="020B0502040204020203" pitchFamily="34" charset="0"/>
                <a:cs typeface="Segoe UI" panose="020B0502040204020203" pitchFamily="34" charset="0"/>
              </a:rPr>
              <a:t>B</a:t>
            </a:r>
          </a:p>
          <a:p>
            <a:pPr marL="342900" indent="-342900">
              <a:buFont typeface="Arial" panose="020B0604020202020204" pitchFamily="34" charset="0"/>
              <a:buChar char="•"/>
            </a:pPr>
            <a:r>
              <a:rPr lang="fr-FR" sz="2000" dirty="0">
                <a:solidFill>
                  <a:srgbClr val="002060"/>
                </a:solidFill>
                <a:latin typeface="Segoe UI" panose="020B0502040204020203" pitchFamily="34" charset="0"/>
                <a:cs typeface="Segoe UI" panose="020B0502040204020203" pitchFamily="34" charset="0"/>
              </a:rPr>
              <a:t>C</a:t>
            </a:r>
          </a:p>
          <a:p>
            <a:pPr marL="342900" indent="-342900">
              <a:buFont typeface="Arial" panose="020B0604020202020204" pitchFamily="34" charset="0"/>
              <a:buChar char="•"/>
            </a:pPr>
            <a:r>
              <a:rPr lang="fr-FR" sz="2000" dirty="0">
                <a:solidFill>
                  <a:srgbClr val="002060"/>
                </a:solidFill>
                <a:latin typeface="Segoe UI" panose="020B0502040204020203" pitchFamily="34" charset="0"/>
                <a:cs typeface="Segoe UI" panose="020B0502040204020203" pitchFamily="34" charset="0"/>
              </a:rPr>
              <a:t>D</a:t>
            </a:r>
          </a:p>
        </p:txBody>
      </p:sp>
      <p:sp>
        <p:nvSpPr>
          <p:cNvPr id="34" name="Rectangle : avec coins arrondis en haut 33">
            <a:extLst>
              <a:ext uri="{FF2B5EF4-FFF2-40B4-BE49-F238E27FC236}">
                <a16:creationId xmlns:a16="http://schemas.microsoft.com/office/drawing/2014/main" id="{FE85F10D-AE0D-4C6C-AAF5-EBDE0EDCD6B6}"/>
              </a:ext>
            </a:extLst>
          </p:cNvPr>
          <p:cNvSpPr/>
          <p:nvPr/>
        </p:nvSpPr>
        <p:spPr>
          <a:xfrm>
            <a:off x="15472900" y="7874838"/>
            <a:ext cx="8028496" cy="552163"/>
          </a:xfrm>
          <a:prstGeom prst="round2SameRect">
            <a:avLst/>
          </a:prstGeom>
          <a:solidFill>
            <a:srgbClr val="003A8D"/>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DIFFICULTES TECHNIQUES RENCONTREES</a:t>
            </a:r>
          </a:p>
        </p:txBody>
      </p:sp>
      <p:sp>
        <p:nvSpPr>
          <p:cNvPr id="35" name="Rectangle à coins arrondis 16">
            <a:extLst>
              <a:ext uri="{FF2B5EF4-FFF2-40B4-BE49-F238E27FC236}">
                <a16:creationId xmlns:a16="http://schemas.microsoft.com/office/drawing/2014/main" id="{6BAE45BE-65BA-419A-801A-2E0FBED485CF}"/>
              </a:ext>
            </a:extLst>
          </p:cNvPr>
          <p:cNvSpPr/>
          <p:nvPr/>
        </p:nvSpPr>
        <p:spPr>
          <a:xfrm>
            <a:off x="16739201" y="8607584"/>
            <a:ext cx="6451052" cy="1059365"/>
          </a:xfrm>
          <a:prstGeom prst="roundRect">
            <a:avLst/>
          </a:prstGeom>
          <a:solidFill>
            <a:schemeClr val="accent4">
              <a:lumMod val="20000"/>
              <a:lumOff val="8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        </a:t>
            </a:r>
          </a:p>
          <a:p>
            <a:pPr algn="ctr" defTabSz="1828800"/>
            <a:r>
              <a:rPr lang="fr-FR" sz="1600" i="1" dirty="0">
                <a:solidFill>
                  <a:prstClr val="white">
                    <a:lumMod val="50000"/>
                  </a:prstClr>
                </a:solidFill>
                <a:highlight>
                  <a:srgbClr val="FFFF00"/>
                </a:highlight>
                <a:latin typeface="Segoe UI" panose="020B0502040204020203" pitchFamily="34" charset="0"/>
                <a:cs typeface="Segoe UI" panose="020B0502040204020203" pitchFamily="34" charset="0"/>
              </a:rPr>
              <a:t>A COMPLETER</a:t>
            </a:r>
          </a:p>
          <a:p>
            <a:pPr algn="ctr" defTabSz="1828800"/>
            <a:endParaRPr lang="fr-FR" sz="1600" i="1" dirty="0">
              <a:solidFill>
                <a:prstClr val="white">
                  <a:lumMod val="50000"/>
                </a:prstClr>
              </a:solidFill>
              <a:latin typeface="Segoe UI" panose="020B0502040204020203" pitchFamily="34" charset="0"/>
              <a:cs typeface="Segoe UI" panose="020B0502040204020203" pitchFamily="34" charset="0"/>
            </a:endParaRPr>
          </a:p>
        </p:txBody>
      </p:sp>
      <p:sp>
        <p:nvSpPr>
          <p:cNvPr id="36" name="Rectangle : coins arrondis 35">
            <a:extLst>
              <a:ext uri="{FF2B5EF4-FFF2-40B4-BE49-F238E27FC236}">
                <a16:creationId xmlns:a16="http://schemas.microsoft.com/office/drawing/2014/main" id="{B0AA37C0-3704-4676-AFF2-08CCC66FD345}"/>
              </a:ext>
            </a:extLst>
          </p:cNvPr>
          <p:cNvSpPr/>
          <p:nvPr/>
        </p:nvSpPr>
        <p:spPr>
          <a:xfrm>
            <a:off x="1021795" y="10780622"/>
            <a:ext cx="13449934" cy="1376807"/>
          </a:xfrm>
          <a:prstGeom prst="roundRect">
            <a:avLst/>
          </a:prstGeom>
          <a:solidFill>
            <a:schemeClr val="bg1">
              <a:lumMod val="95000"/>
            </a:schemeClr>
          </a:solidFill>
          <a:ln w="285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lstStyle/>
          <a:p>
            <a:pPr algn="ctr" defTabSz="1828800"/>
            <a:r>
              <a:rPr lang="fr-FR" sz="2400" dirty="0">
                <a:solidFill>
                  <a:srgbClr val="4472C4">
                    <a:lumMod val="75000"/>
                  </a:srgbClr>
                </a:solidFill>
                <a:latin typeface="Segoe UI" panose="020B0502040204020203" pitchFamily="34" charset="0"/>
                <a:cs typeface="Segoe UI" panose="020B0502040204020203" pitchFamily="34" charset="0"/>
              </a:rPr>
              <a:t>x</a:t>
            </a:r>
          </a:p>
        </p:txBody>
      </p:sp>
      <p:sp>
        <p:nvSpPr>
          <p:cNvPr id="38" name="Rectangle : avec coins arrondis en haut 37">
            <a:extLst>
              <a:ext uri="{FF2B5EF4-FFF2-40B4-BE49-F238E27FC236}">
                <a16:creationId xmlns:a16="http://schemas.microsoft.com/office/drawing/2014/main" id="{678D5816-B31B-4A34-9A1E-356CBE264524}"/>
              </a:ext>
            </a:extLst>
          </p:cNvPr>
          <p:cNvSpPr/>
          <p:nvPr/>
        </p:nvSpPr>
        <p:spPr>
          <a:xfrm>
            <a:off x="1031074" y="10351712"/>
            <a:ext cx="13434111" cy="552163"/>
          </a:xfrm>
          <a:prstGeom prst="round2SameRect">
            <a:avLst/>
          </a:prstGeom>
          <a:solidFill>
            <a:srgbClr val="003A8D"/>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EXEMPLES DE CLIENT UTILISATEURS</a:t>
            </a:r>
          </a:p>
        </p:txBody>
      </p:sp>
      <p:sp>
        <p:nvSpPr>
          <p:cNvPr id="39" name="Rectangle à coins arrondis 16">
            <a:extLst>
              <a:ext uri="{FF2B5EF4-FFF2-40B4-BE49-F238E27FC236}">
                <a16:creationId xmlns:a16="http://schemas.microsoft.com/office/drawing/2014/main" id="{F8856002-15D1-4AEE-86B3-91FF89FBF3CA}"/>
              </a:ext>
            </a:extLst>
          </p:cNvPr>
          <p:cNvSpPr/>
          <p:nvPr/>
        </p:nvSpPr>
        <p:spPr>
          <a:xfrm>
            <a:off x="4669002" y="11299952"/>
            <a:ext cx="6544857" cy="743757"/>
          </a:xfrm>
          <a:prstGeom prst="roundRect">
            <a:avLst/>
          </a:prstGeom>
          <a:solidFill>
            <a:schemeClr val="accent4">
              <a:lumMod val="20000"/>
              <a:lumOff val="8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        </a:t>
            </a:r>
          </a:p>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Si applicable. Renseigner l’entité-métier – nom du projet</a:t>
            </a:r>
          </a:p>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Exemple : </a:t>
            </a:r>
            <a:r>
              <a:rPr lang="fr-FR" sz="1600" i="1" dirty="0" err="1">
                <a:solidFill>
                  <a:prstClr val="white">
                    <a:lumMod val="50000"/>
                  </a:prstClr>
                </a:solidFill>
                <a:latin typeface="Segoe UI" panose="020B0502040204020203" pitchFamily="34" charset="0"/>
                <a:cs typeface="Segoe UI" panose="020B0502040204020203" pitchFamily="34" charset="0"/>
              </a:rPr>
              <a:t>Beobank</a:t>
            </a:r>
            <a:r>
              <a:rPr lang="fr-FR" sz="1600" i="1" dirty="0">
                <a:solidFill>
                  <a:prstClr val="white">
                    <a:lumMod val="50000"/>
                  </a:prstClr>
                </a:solidFill>
                <a:latin typeface="Segoe UI" panose="020B0502040204020203" pitchFamily="34" charset="0"/>
                <a:cs typeface="Segoe UI" panose="020B0502040204020203" pitchFamily="34" charset="0"/>
              </a:rPr>
              <a:t> – Bulletin de salaire </a:t>
            </a:r>
          </a:p>
          <a:p>
            <a:pPr algn="ctr" defTabSz="1828800"/>
            <a:endParaRPr lang="fr-FR" sz="1600" i="1" dirty="0">
              <a:solidFill>
                <a:prstClr val="white">
                  <a:lumMod val="50000"/>
                </a:prstClr>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1142473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B609E6D-219C-4CBE-A6DE-0526524BC36C}"/>
              </a:ext>
            </a:extLst>
          </p:cNvPr>
          <p:cNvSpPr>
            <a:spLocks noGrp="1"/>
          </p:cNvSpPr>
          <p:nvPr>
            <p:ph type="title"/>
          </p:nvPr>
        </p:nvSpPr>
        <p:spPr/>
        <p:txBody>
          <a:bodyPr/>
          <a:lstStyle/>
          <a:p>
            <a:endParaRPr lang="fr-FR"/>
          </a:p>
        </p:txBody>
      </p:sp>
      <p:sp>
        <p:nvSpPr>
          <p:cNvPr id="4" name="Espace réservé du numéro de diapositive 3">
            <a:extLst>
              <a:ext uri="{FF2B5EF4-FFF2-40B4-BE49-F238E27FC236}">
                <a16:creationId xmlns:a16="http://schemas.microsoft.com/office/drawing/2014/main" id="{99E6B42A-E58C-42FE-8DF3-7DA874F8482F}"/>
              </a:ext>
            </a:extLst>
          </p:cNvPr>
          <p:cNvSpPr>
            <a:spLocks noGrp="1"/>
          </p:cNvSpPr>
          <p:nvPr>
            <p:ph type="sldNum" sz="quarter" idx="12"/>
          </p:nvPr>
        </p:nvSpPr>
        <p:spPr/>
        <p:txBody>
          <a:bodyPr/>
          <a:lstStyle/>
          <a:p>
            <a:fld id="{3EE1DE5A-27D4-4895-8E04-340D57AD09FB}" type="slidenum">
              <a:rPr lang="fr-FR" smtClean="0"/>
              <a:pPr/>
              <a:t>8</a:t>
            </a:fld>
            <a:endParaRPr lang="fr-FR"/>
          </a:p>
        </p:txBody>
      </p:sp>
      <p:sp>
        <p:nvSpPr>
          <p:cNvPr id="5" name="Espace réservé du texte 4">
            <a:extLst>
              <a:ext uri="{FF2B5EF4-FFF2-40B4-BE49-F238E27FC236}">
                <a16:creationId xmlns:a16="http://schemas.microsoft.com/office/drawing/2014/main" id="{5FF73E56-190B-46BE-AE69-8A5B5C6B665C}"/>
              </a:ext>
            </a:extLst>
          </p:cNvPr>
          <p:cNvSpPr>
            <a:spLocks noGrp="1"/>
          </p:cNvSpPr>
          <p:nvPr>
            <p:ph type="body" sz="quarter" idx="13"/>
          </p:nvPr>
        </p:nvSpPr>
        <p:spPr/>
        <p:txBody>
          <a:bodyPr/>
          <a:lstStyle/>
          <a:p>
            <a:r>
              <a:rPr lang="fr-FR" dirty="0"/>
              <a:t>Besoin d’une architecture technique pour savoir :</a:t>
            </a:r>
          </a:p>
          <a:p>
            <a:pPr marL="571500" indent="-571500">
              <a:buFontTx/>
              <a:buChar char="-"/>
            </a:pPr>
            <a:r>
              <a:rPr lang="fr-FR" dirty="0"/>
              <a:t>comment sont intégrés les composants développés</a:t>
            </a:r>
          </a:p>
          <a:p>
            <a:pPr marL="571500" indent="-571500">
              <a:buFontTx/>
              <a:buChar char="-"/>
            </a:pPr>
            <a:r>
              <a:rPr lang="fr-FR" dirty="0"/>
              <a:t>Où sont stockés et hébergés les composants</a:t>
            </a:r>
          </a:p>
          <a:p>
            <a:pPr marL="571500" indent="-571500">
              <a:buFontTx/>
              <a:buChar char="-"/>
            </a:pPr>
            <a:r>
              <a:rPr lang="fr-FR" dirty="0"/>
              <a:t>Comment échangent-ils avec d’autres composants extérieurs à l’OCRF</a:t>
            </a:r>
          </a:p>
          <a:p>
            <a:pPr marL="571500" indent="-571500">
              <a:buFontTx/>
              <a:buChar char="-"/>
            </a:pPr>
            <a:r>
              <a:rPr lang="fr-FR" dirty="0"/>
              <a:t>Aller au-delà des </a:t>
            </a:r>
            <a:r>
              <a:rPr lang="fr-FR" dirty="0" err="1"/>
              <a:t>intéractions</a:t>
            </a:r>
            <a:r>
              <a:rPr lang="fr-FR" dirty="0"/>
              <a:t> ATEL et BDD de robin. Par exemple : OSGE est connecté à IDOC et 3D20. Interactions existantes mais non visibles dans Robin</a:t>
            </a:r>
          </a:p>
        </p:txBody>
      </p:sp>
      <p:sp>
        <p:nvSpPr>
          <p:cNvPr id="6" name="Espace réservé du texte 5">
            <a:extLst>
              <a:ext uri="{FF2B5EF4-FFF2-40B4-BE49-F238E27FC236}">
                <a16:creationId xmlns:a16="http://schemas.microsoft.com/office/drawing/2014/main" id="{F058DA93-029A-46D0-ABCB-F798D669EACA}"/>
              </a:ext>
            </a:extLst>
          </p:cNvPr>
          <p:cNvSpPr>
            <a:spLocks noGrp="1"/>
          </p:cNvSpPr>
          <p:nvPr>
            <p:ph type="body" sz="quarter" idx="14"/>
          </p:nvPr>
        </p:nvSpPr>
        <p:spPr/>
        <p:txBody>
          <a:bodyPr/>
          <a:lstStyle/>
          <a:p>
            <a:endParaRPr lang="fr-FR"/>
          </a:p>
        </p:txBody>
      </p:sp>
      <p:sp>
        <p:nvSpPr>
          <p:cNvPr id="7" name="Espace réservé du pied de page 1">
            <a:extLst>
              <a:ext uri="{FF2B5EF4-FFF2-40B4-BE49-F238E27FC236}">
                <a16:creationId xmlns:a16="http://schemas.microsoft.com/office/drawing/2014/main" id="{B33DD8DC-5D96-4923-98E3-355BAB771D51}"/>
              </a:ext>
            </a:extLst>
          </p:cNvPr>
          <p:cNvSpPr>
            <a:spLocks noGrp="1"/>
          </p:cNvSpPr>
          <p:nvPr>
            <p:ph type="ftr" sz="quarter" idx="11"/>
          </p:nvPr>
        </p:nvSpPr>
        <p:spPr>
          <a:xfrm>
            <a:off x="2675466" y="12886262"/>
            <a:ext cx="21031199" cy="450851"/>
          </a:xfrm>
        </p:spPr>
        <p:txBody>
          <a:bodyPr/>
          <a:lstStyle/>
          <a:p>
            <a:r>
              <a:rPr lang="fr-FR" sz="1800" dirty="0"/>
              <a:t>Architecture fonctionnelle de l’OCR F - Cadrage des besoins </a:t>
            </a:r>
            <a:r>
              <a:rPr lang="fr-FR" sz="1800" dirty="0" err="1"/>
              <a:t>niv</a:t>
            </a:r>
            <a:r>
              <a:rPr lang="fr-FR" sz="1800" dirty="0"/>
              <a:t> 2 et 3 - Synthèse des entretiens </a:t>
            </a:r>
            <a:r>
              <a:rPr lang="fr-FR" sz="1800" dirty="0" err="1"/>
              <a:t>REs</a:t>
            </a:r>
            <a:endParaRPr lang="fr-FR" dirty="0"/>
          </a:p>
        </p:txBody>
      </p:sp>
    </p:spTree>
    <p:extLst>
      <p:ext uri="{BB962C8B-B14F-4D97-AF65-F5344CB8AC3E}">
        <p14:creationId xmlns:p14="http://schemas.microsoft.com/office/powerpoint/2010/main" val="17651683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5E8D24-4EAB-452F-9523-D4BCDABDAD32}"/>
              </a:ext>
            </a:extLst>
          </p:cNvPr>
          <p:cNvSpPr>
            <a:spLocks noGrp="1"/>
          </p:cNvSpPr>
          <p:nvPr>
            <p:ph type="title"/>
          </p:nvPr>
        </p:nvSpPr>
        <p:spPr/>
        <p:txBody>
          <a:bodyPr/>
          <a:lstStyle/>
          <a:p>
            <a:r>
              <a:rPr lang="fr-FR" dirty="0"/>
              <a:t>Qui met en œuvre et quand ?</a:t>
            </a:r>
          </a:p>
        </p:txBody>
      </p:sp>
      <p:sp>
        <p:nvSpPr>
          <p:cNvPr id="4" name="Espace réservé du numéro de diapositive 3">
            <a:extLst>
              <a:ext uri="{FF2B5EF4-FFF2-40B4-BE49-F238E27FC236}">
                <a16:creationId xmlns:a16="http://schemas.microsoft.com/office/drawing/2014/main" id="{2FDAAB01-DA97-478E-9DAE-4717D78D176B}"/>
              </a:ext>
            </a:extLst>
          </p:cNvPr>
          <p:cNvSpPr>
            <a:spLocks noGrp="1"/>
          </p:cNvSpPr>
          <p:nvPr>
            <p:ph type="sldNum" sz="quarter" idx="12"/>
          </p:nvPr>
        </p:nvSpPr>
        <p:spPr/>
        <p:txBody>
          <a:bodyPr/>
          <a:lstStyle/>
          <a:p>
            <a:fld id="{3EE1DE5A-27D4-4895-8E04-340D57AD09FB}" type="slidenum">
              <a:rPr lang="fr-FR" smtClean="0"/>
              <a:pPr/>
              <a:t>9</a:t>
            </a:fld>
            <a:endParaRPr lang="fr-FR"/>
          </a:p>
        </p:txBody>
      </p:sp>
      <p:sp>
        <p:nvSpPr>
          <p:cNvPr id="6" name="Espace réservé du texte 5">
            <a:extLst>
              <a:ext uri="{FF2B5EF4-FFF2-40B4-BE49-F238E27FC236}">
                <a16:creationId xmlns:a16="http://schemas.microsoft.com/office/drawing/2014/main" id="{3D25AF71-906F-4089-8352-9641BD539EDD}"/>
              </a:ext>
            </a:extLst>
          </p:cNvPr>
          <p:cNvSpPr>
            <a:spLocks noGrp="1"/>
          </p:cNvSpPr>
          <p:nvPr>
            <p:ph type="body" sz="quarter" idx="14"/>
          </p:nvPr>
        </p:nvSpPr>
        <p:spPr/>
        <p:txBody>
          <a:bodyPr/>
          <a:lstStyle/>
          <a:p>
            <a:endParaRPr lang="fr-FR"/>
          </a:p>
        </p:txBody>
      </p:sp>
      <p:sp>
        <p:nvSpPr>
          <p:cNvPr id="7" name="Espace réservé du pied de page 1">
            <a:extLst>
              <a:ext uri="{FF2B5EF4-FFF2-40B4-BE49-F238E27FC236}">
                <a16:creationId xmlns:a16="http://schemas.microsoft.com/office/drawing/2014/main" id="{FF93EF3A-50A8-4F82-9170-80B75781082F}"/>
              </a:ext>
            </a:extLst>
          </p:cNvPr>
          <p:cNvSpPr>
            <a:spLocks noGrp="1"/>
          </p:cNvSpPr>
          <p:nvPr>
            <p:ph type="ftr" sz="quarter" idx="11"/>
          </p:nvPr>
        </p:nvSpPr>
        <p:spPr>
          <a:xfrm>
            <a:off x="2675466" y="12886262"/>
            <a:ext cx="21031199" cy="450851"/>
          </a:xfrm>
        </p:spPr>
        <p:txBody>
          <a:bodyPr/>
          <a:lstStyle/>
          <a:p>
            <a:r>
              <a:rPr lang="fr-FR" sz="1800" dirty="0"/>
              <a:t>Architecture fonctionnelle de l’OCR F - Cadrage des besoins </a:t>
            </a:r>
            <a:r>
              <a:rPr lang="fr-FR" sz="1800" dirty="0" err="1"/>
              <a:t>niv</a:t>
            </a:r>
            <a:r>
              <a:rPr lang="fr-FR" sz="1800" dirty="0"/>
              <a:t> 2 et 3 - Synthèse des entretiens </a:t>
            </a:r>
            <a:r>
              <a:rPr lang="fr-FR" sz="1800" dirty="0" err="1"/>
              <a:t>REs</a:t>
            </a:r>
            <a:endParaRPr lang="fr-FR" dirty="0"/>
          </a:p>
        </p:txBody>
      </p:sp>
      <p:sp>
        <p:nvSpPr>
          <p:cNvPr id="8" name="Rectangle : coins arrondis 7">
            <a:extLst>
              <a:ext uri="{FF2B5EF4-FFF2-40B4-BE49-F238E27FC236}">
                <a16:creationId xmlns:a16="http://schemas.microsoft.com/office/drawing/2014/main" id="{63567429-BAC4-493B-A928-3644B279D812}"/>
              </a:ext>
            </a:extLst>
          </p:cNvPr>
          <p:cNvSpPr/>
          <p:nvPr/>
        </p:nvSpPr>
        <p:spPr>
          <a:xfrm>
            <a:off x="1499632" y="4285891"/>
            <a:ext cx="12586020" cy="6303542"/>
          </a:xfrm>
          <a:prstGeom prst="roundRect">
            <a:avLst>
              <a:gd name="adj" fmla="val 4451"/>
            </a:avLst>
          </a:prstGeom>
          <a:solidFill>
            <a:srgbClr val="082447"/>
          </a:solidFill>
          <a:ln>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sp>
        <p:nvSpPr>
          <p:cNvPr id="9" name="Rectangle : coins arrondis 8">
            <a:extLst>
              <a:ext uri="{FF2B5EF4-FFF2-40B4-BE49-F238E27FC236}">
                <a16:creationId xmlns:a16="http://schemas.microsoft.com/office/drawing/2014/main" id="{31C09424-C579-458D-8695-C7C177385C19}"/>
              </a:ext>
            </a:extLst>
          </p:cNvPr>
          <p:cNvSpPr/>
          <p:nvPr/>
        </p:nvSpPr>
        <p:spPr>
          <a:xfrm>
            <a:off x="1672755" y="5323802"/>
            <a:ext cx="12218343" cy="5124834"/>
          </a:xfrm>
          <a:prstGeom prst="roundRect">
            <a:avLst>
              <a:gd name="adj" fmla="val 2185"/>
            </a:avLst>
          </a:prstGeom>
          <a:solidFill>
            <a:srgbClr val="F1F1F2"/>
          </a:solidFill>
          <a:ln>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sp>
        <p:nvSpPr>
          <p:cNvPr id="10" name="ZoneTexte 9">
            <a:extLst>
              <a:ext uri="{FF2B5EF4-FFF2-40B4-BE49-F238E27FC236}">
                <a16:creationId xmlns:a16="http://schemas.microsoft.com/office/drawing/2014/main" id="{EF75BA2B-A2D8-44E5-866D-14A01599695B}"/>
              </a:ext>
            </a:extLst>
          </p:cNvPr>
          <p:cNvSpPr txBox="1"/>
          <p:nvPr/>
        </p:nvSpPr>
        <p:spPr>
          <a:xfrm>
            <a:off x="2840569" y="4456927"/>
            <a:ext cx="7665303" cy="577530"/>
          </a:xfrm>
          <a:prstGeom prst="rect">
            <a:avLst/>
          </a:prstGeom>
          <a:noFill/>
        </p:spPr>
        <p:txBody>
          <a:bodyPr wrap="square" rtlCol="0">
            <a:spAutoFit/>
          </a:bodyPr>
          <a:lstStyle>
            <a:defPPr>
              <a:defRPr lang="fr-FR"/>
            </a:defPPr>
            <a:lvl1pPr marL="342900" indent="-342900">
              <a:lnSpc>
                <a:spcPct val="150000"/>
              </a:lnSpc>
              <a:buFont typeface="Arial" panose="020B0604020202020204" pitchFamily="34" charset="0"/>
              <a:buChar char="•"/>
              <a:defRPr sz="2000">
                <a:solidFill>
                  <a:schemeClr val="bg1">
                    <a:lumMod val="50000"/>
                  </a:schemeClr>
                </a:solidFill>
                <a:latin typeface="Segoe UI" panose="020B0502040204020203" pitchFamily="34" charset="0"/>
                <a:cs typeface="Segoe UI" panose="020B0502040204020203" pitchFamily="34" charset="0"/>
              </a:defRPr>
            </a:lvl1pPr>
          </a:lstStyle>
          <a:p>
            <a:pPr marL="0" indent="0">
              <a:buNone/>
            </a:pPr>
            <a:r>
              <a:rPr lang="fr-FR" sz="2400" b="1" dirty="0">
                <a:solidFill>
                  <a:schemeClr val="bg1"/>
                </a:solidFill>
              </a:rPr>
              <a:t>Un travail collectif à mettre en œuvre dans la durée</a:t>
            </a:r>
          </a:p>
        </p:txBody>
      </p:sp>
      <p:cxnSp>
        <p:nvCxnSpPr>
          <p:cNvPr id="11" name="Connecteur droit 10">
            <a:extLst>
              <a:ext uri="{FF2B5EF4-FFF2-40B4-BE49-F238E27FC236}">
                <a16:creationId xmlns:a16="http://schemas.microsoft.com/office/drawing/2014/main" id="{5B4A1C64-51A3-44B0-9C65-8F11AC894E6F}"/>
              </a:ext>
            </a:extLst>
          </p:cNvPr>
          <p:cNvCxnSpPr>
            <a:cxnSpLocks/>
          </p:cNvCxnSpPr>
          <p:nvPr/>
        </p:nvCxnSpPr>
        <p:spPr>
          <a:xfrm flipV="1">
            <a:off x="6051538" y="6554970"/>
            <a:ext cx="0" cy="309486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14" name="Image 13">
            <a:extLst>
              <a:ext uri="{FF2B5EF4-FFF2-40B4-BE49-F238E27FC236}">
                <a16:creationId xmlns:a16="http://schemas.microsoft.com/office/drawing/2014/main" id="{D54D1B7C-9DEC-4BEB-BD52-D2C686B7622E}"/>
              </a:ext>
            </a:extLst>
          </p:cNvPr>
          <p:cNvPicPr>
            <a:picLocks noChangeAspect="1"/>
          </p:cNvPicPr>
          <p:nvPr/>
        </p:nvPicPr>
        <p:blipFill>
          <a:blip r:embed="rId2" cstate="print">
            <a:lum bright="70000" contrast="-70000"/>
            <a:extLst>
              <a:ext uri="{28A0092B-C50C-407E-A947-70E740481C1C}">
                <a14:useLocalDpi xmlns:a14="http://schemas.microsoft.com/office/drawing/2010/main" val="0"/>
              </a:ext>
            </a:extLst>
          </a:blip>
          <a:stretch>
            <a:fillRect/>
          </a:stretch>
        </p:blipFill>
        <p:spPr>
          <a:xfrm>
            <a:off x="1793039" y="4456927"/>
            <a:ext cx="751967" cy="751967"/>
          </a:xfrm>
          <a:prstGeom prst="rect">
            <a:avLst/>
          </a:prstGeom>
        </p:spPr>
      </p:pic>
      <p:pic>
        <p:nvPicPr>
          <p:cNvPr id="15" name="Image 14">
            <a:extLst>
              <a:ext uri="{FF2B5EF4-FFF2-40B4-BE49-F238E27FC236}">
                <a16:creationId xmlns:a16="http://schemas.microsoft.com/office/drawing/2014/main" id="{FDDBC875-5539-46F7-B80C-1F1B9E88DAA7}"/>
              </a:ext>
            </a:extLst>
          </p:cNvPr>
          <p:cNvPicPr>
            <a:picLocks noChangeAspect="1"/>
          </p:cNvPicPr>
          <p:nvPr/>
        </p:nvPicPr>
        <p:blipFill>
          <a:blip r:embed="rId3"/>
          <a:stretch>
            <a:fillRect/>
          </a:stretch>
        </p:blipFill>
        <p:spPr>
          <a:xfrm>
            <a:off x="3050068" y="7886219"/>
            <a:ext cx="1624157" cy="1856180"/>
          </a:xfrm>
          <a:prstGeom prst="rect">
            <a:avLst/>
          </a:prstGeom>
        </p:spPr>
      </p:pic>
      <p:sp>
        <p:nvSpPr>
          <p:cNvPr id="16" name="ZoneTexte 15">
            <a:extLst>
              <a:ext uri="{FF2B5EF4-FFF2-40B4-BE49-F238E27FC236}">
                <a16:creationId xmlns:a16="http://schemas.microsoft.com/office/drawing/2014/main" id="{1491F0E9-B25A-4C62-8D84-54482BF94429}"/>
              </a:ext>
            </a:extLst>
          </p:cNvPr>
          <p:cNvSpPr txBox="1"/>
          <p:nvPr/>
        </p:nvSpPr>
        <p:spPr>
          <a:xfrm>
            <a:off x="2018167" y="5726924"/>
            <a:ext cx="3687959" cy="2062103"/>
          </a:xfrm>
          <a:prstGeom prst="rect">
            <a:avLst/>
          </a:prstGeom>
          <a:noFill/>
        </p:spPr>
        <p:txBody>
          <a:bodyPr wrap="square" rtlCol="0">
            <a:spAutoFit/>
          </a:bodyPr>
          <a:lstStyle/>
          <a:p>
            <a:pPr algn="ctr"/>
            <a:r>
              <a:rPr lang="fr-FR" sz="3200" dirty="0"/>
              <a:t>Proposition des </a:t>
            </a:r>
            <a:r>
              <a:rPr lang="fr-FR" sz="3200" dirty="0" err="1"/>
              <a:t>templates</a:t>
            </a:r>
            <a:r>
              <a:rPr lang="fr-FR" sz="3200" dirty="0"/>
              <a:t> et règles communes par Morad / Anna</a:t>
            </a:r>
          </a:p>
        </p:txBody>
      </p:sp>
      <p:sp>
        <p:nvSpPr>
          <p:cNvPr id="17" name="ZoneTexte 16">
            <a:extLst>
              <a:ext uri="{FF2B5EF4-FFF2-40B4-BE49-F238E27FC236}">
                <a16:creationId xmlns:a16="http://schemas.microsoft.com/office/drawing/2014/main" id="{D6244BD4-87F3-4155-A078-16BE8B4DCDC2}"/>
              </a:ext>
            </a:extLst>
          </p:cNvPr>
          <p:cNvSpPr txBox="1"/>
          <p:nvPr/>
        </p:nvSpPr>
        <p:spPr>
          <a:xfrm>
            <a:off x="6745811" y="5726924"/>
            <a:ext cx="7495484" cy="2554545"/>
          </a:xfrm>
          <a:prstGeom prst="rect">
            <a:avLst/>
          </a:prstGeom>
          <a:noFill/>
        </p:spPr>
        <p:txBody>
          <a:bodyPr wrap="square" rtlCol="0">
            <a:spAutoFit/>
          </a:bodyPr>
          <a:lstStyle/>
          <a:p>
            <a:r>
              <a:rPr lang="fr-FR" sz="3200" dirty="0"/>
              <a:t>Mise en œuvre dans les équipes par : </a:t>
            </a:r>
          </a:p>
          <a:p>
            <a:pPr marL="457200" indent="-457200">
              <a:buClr>
                <a:srgbClr val="E06206"/>
              </a:buClr>
              <a:buFont typeface="Arial" panose="020B0604020202020204" pitchFamily="34" charset="0"/>
              <a:buChar char="•"/>
            </a:pPr>
            <a:r>
              <a:rPr lang="fr-FR" sz="3200" dirty="0"/>
              <a:t>Les responsables de pôle qui sont responsables de leurs applications,</a:t>
            </a:r>
          </a:p>
          <a:p>
            <a:pPr marL="457200" indent="-457200">
              <a:buClr>
                <a:srgbClr val="E06206"/>
              </a:buClr>
              <a:buFont typeface="Arial" panose="020B0604020202020204" pitchFamily="34" charset="0"/>
              <a:buChar char="•"/>
            </a:pPr>
            <a:r>
              <a:rPr lang="fr-FR" sz="3200" dirty="0"/>
              <a:t>A un tech lead ou aspirant architecte.</a:t>
            </a:r>
          </a:p>
          <a:p>
            <a:endParaRPr lang="fr-FR" sz="3200" dirty="0"/>
          </a:p>
        </p:txBody>
      </p:sp>
      <p:pic>
        <p:nvPicPr>
          <p:cNvPr id="18" name="Image 17">
            <a:extLst>
              <a:ext uri="{FF2B5EF4-FFF2-40B4-BE49-F238E27FC236}">
                <a16:creationId xmlns:a16="http://schemas.microsoft.com/office/drawing/2014/main" id="{160DAB70-ABBB-440F-BC9D-949076C69095}"/>
              </a:ext>
            </a:extLst>
          </p:cNvPr>
          <p:cNvPicPr>
            <a:picLocks noChangeAspect="1"/>
          </p:cNvPicPr>
          <p:nvPr/>
        </p:nvPicPr>
        <p:blipFill>
          <a:blip r:embed="rId4"/>
          <a:stretch>
            <a:fillRect/>
          </a:stretch>
        </p:blipFill>
        <p:spPr>
          <a:xfrm>
            <a:off x="8732356" y="7928713"/>
            <a:ext cx="1933845" cy="1762371"/>
          </a:xfrm>
          <a:prstGeom prst="rect">
            <a:avLst/>
          </a:prstGeom>
        </p:spPr>
      </p:pic>
    </p:spTree>
    <p:extLst>
      <p:ext uri="{BB962C8B-B14F-4D97-AF65-F5344CB8AC3E}">
        <p14:creationId xmlns:p14="http://schemas.microsoft.com/office/powerpoint/2010/main" val="19493168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7"/>
          <p:cNvSpPr>
            <a:spLocks noGrp="1"/>
          </p:cNvSpPr>
          <p:nvPr>
            <p:ph type="title"/>
          </p:nvPr>
        </p:nvSpPr>
        <p:spPr/>
        <p:txBody>
          <a:bodyPr/>
          <a:lstStyle/>
          <a:p>
            <a:r>
              <a:rPr lang="fr-FR" dirty="0"/>
              <a:t>Exemples</a:t>
            </a:r>
          </a:p>
        </p:txBody>
      </p:sp>
    </p:spTree>
    <p:extLst>
      <p:ext uri="{BB962C8B-B14F-4D97-AF65-F5344CB8AC3E}">
        <p14:creationId xmlns:p14="http://schemas.microsoft.com/office/powerpoint/2010/main" val="3121137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Briques fonctionnelles CADI</a:t>
            </a:r>
          </a:p>
        </p:txBody>
      </p:sp>
      <p:sp>
        <p:nvSpPr>
          <p:cNvPr id="3" name="Espace réservé du pied de page 2"/>
          <p:cNvSpPr>
            <a:spLocks noGrp="1"/>
          </p:cNvSpPr>
          <p:nvPr>
            <p:ph type="ftr" sz="quarter" idx="11"/>
          </p:nvPr>
        </p:nvSpPr>
        <p:spPr/>
        <p:txBody>
          <a:bodyPr/>
          <a:lstStyle/>
          <a:p>
            <a:r>
              <a:rPr lang="fr-FR"/>
              <a:t>Présentation fonctionnelle de CADI – Classification : Interne</a:t>
            </a:r>
            <a:endParaRPr lang="fr-FR" dirty="0"/>
          </a:p>
        </p:txBody>
      </p:sp>
      <p:sp>
        <p:nvSpPr>
          <p:cNvPr id="4" name="Espace réservé du numéro de diapositive 3"/>
          <p:cNvSpPr>
            <a:spLocks noGrp="1"/>
          </p:cNvSpPr>
          <p:nvPr>
            <p:ph type="sldNum" sz="quarter" idx="12"/>
          </p:nvPr>
        </p:nvSpPr>
        <p:spPr/>
        <p:txBody>
          <a:bodyPr/>
          <a:lstStyle/>
          <a:p>
            <a:fld id="{3EE1DE5A-27D4-4895-8E04-340D57AD09FB}" type="slidenum">
              <a:rPr lang="fr-FR"/>
              <a:pPr/>
              <a:t>11</a:t>
            </a:fld>
            <a:endParaRPr lang="fr-FR"/>
          </a:p>
        </p:txBody>
      </p:sp>
      <p:sp>
        <p:nvSpPr>
          <p:cNvPr id="6" name="Espace réservé du texte 5"/>
          <p:cNvSpPr>
            <a:spLocks noGrp="1"/>
          </p:cNvSpPr>
          <p:nvPr>
            <p:ph type="body" sz="quarter" idx="14"/>
          </p:nvPr>
        </p:nvSpPr>
        <p:spPr/>
        <p:txBody>
          <a:bodyPr/>
          <a:lstStyle/>
          <a:p>
            <a:endParaRPr lang="fr-FR" dirty="0"/>
          </a:p>
        </p:txBody>
      </p:sp>
      <p:grpSp>
        <p:nvGrpSpPr>
          <p:cNvPr id="11" name="Groupe 10"/>
          <p:cNvGrpSpPr/>
          <p:nvPr/>
        </p:nvGrpSpPr>
        <p:grpSpPr>
          <a:xfrm>
            <a:off x="4764025" y="3765753"/>
            <a:ext cx="15412153" cy="7188913"/>
            <a:chOff x="4764025" y="3765753"/>
            <a:chExt cx="15412153" cy="7188913"/>
          </a:xfrm>
        </p:grpSpPr>
        <p:sp>
          <p:nvSpPr>
            <p:cNvPr id="91" name="Organigramme : Délai 90"/>
            <p:cNvSpPr/>
            <p:nvPr/>
          </p:nvSpPr>
          <p:spPr>
            <a:xfrm flipH="1">
              <a:off x="15875260" y="4450219"/>
              <a:ext cx="444313" cy="782948"/>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nvGrpSpPr>
            <p:cNvPr id="7" name="Groupe 6"/>
            <p:cNvGrpSpPr/>
            <p:nvPr/>
          </p:nvGrpSpPr>
          <p:grpSpPr>
            <a:xfrm>
              <a:off x="12453676" y="3785332"/>
              <a:ext cx="3871390" cy="3436553"/>
              <a:chOff x="12453676" y="3785332"/>
              <a:chExt cx="3871390" cy="3436553"/>
            </a:xfrm>
          </p:grpSpPr>
          <p:sp>
            <p:nvSpPr>
              <p:cNvPr id="43" name="Rectangle 42"/>
              <p:cNvSpPr/>
              <p:nvPr/>
            </p:nvSpPr>
            <p:spPr>
              <a:xfrm>
                <a:off x="12453676" y="3791305"/>
                <a:ext cx="3866726" cy="341421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r>
                  <a:rPr lang="fr-FR" sz="4000" dirty="0">
                    <a:solidFill>
                      <a:schemeClr val="bg1"/>
                    </a:solidFill>
                    <a:latin typeface="Segoe UI" panose="020B0502040204020203" pitchFamily="34" charset="0"/>
                    <a:cs typeface="Segoe UI" panose="020B0502040204020203" pitchFamily="34" charset="0"/>
                  </a:rPr>
                  <a:t>Monitoring &amp; </a:t>
                </a:r>
                <a:r>
                  <a:rPr lang="fr-FR" sz="4000" dirty="0" err="1">
                    <a:solidFill>
                      <a:schemeClr val="bg1"/>
                    </a:solidFill>
                    <a:latin typeface="Segoe UI" panose="020B0502040204020203" pitchFamily="34" charset="0"/>
                    <a:cs typeface="Segoe UI" panose="020B0502040204020203" pitchFamily="34" charset="0"/>
                  </a:rPr>
                  <a:t>Alerting</a:t>
                </a:r>
                <a:endParaRPr lang="fr-FR" sz="4000" dirty="0">
                  <a:solidFill>
                    <a:schemeClr val="bg1"/>
                  </a:solidFill>
                  <a:latin typeface="Segoe UI" panose="020B0502040204020203" pitchFamily="34" charset="0"/>
                  <a:cs typeface="Segoe UI" panose="020B0502040204020203" pitchFamily="34" charset="0"/>
                </a:endParaRPr>
              </a:p>
            </p:txBody>
          </p:sp>
          <p:sp>
            <p:nvSpPr>
              <p:cNvPr id="44" name="Organigramme : Délai 43"/>
              <p:cNvSpPr/>
              <p:nvPr/>
            </p:nvSpPr>
            <p:spPr>
              <a:xfrm flipH="1">
                <a:off x="15880752" y="4424757"/>
                <a:ext cx="444314" cy="782948"/>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sp>
            <p:nvSpPr>
              <p:cNvPr id="89" name="Organigramme : Délai 88"/>
              <p:cNvSpPr/>
              <p:nvPr/>
            </p:nvSpPr>
            <p:spPr>
              <a:xfrm rot="16200000" flipH="1">
                <a:off x="14125415" y="3455935"/>
                <a:ext cx="346160" cy="1004953"/>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sp>
            <p:nvSpPr>
              <p:cNvPr id="92" name="Organigramme : Délai 91"/>
              <p:cNvSpPr/>
              <p:nvPr/>
            </p:nvSpPr>
            <p:spPr>
              <a:xfrm>
                <a:off x="12464591" y="4468507"/>
                <a:ext cx="444313" cy="782949"/>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sp>
            <p:nvSpPr>
              <p:cNvPr id="93" name="Organigramme : Délai 92"/>
              <p:cNvSpPr/>
              <p:nvPr/>
            </p:nvSpPr>
            <p:spPr>
              <a:xfrm rot="5400000" flipH="1" flipV="1">
                <a:off x="14148994" y="6546329"/>
                <a:ext cx="346160" cy="1004952"/>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grpSp>
          <p:nvGrpSpPr>
            <p:cNvPr id="14" name="Groupe 13"/>
            <p:cNvGrpSpPr/>
            <p:nvPr/>
          </p:nvGrpSpPr>
          <p:grpSpPr>
            <a:xfrm>
              <a:off x="4764025" y="3785329"/>
              <a:ext cx="3871390" cy="3443396"/>
              <a:chOff x="4764025" y="3785329"/>
              <a:chExt cx="3871390" cy="3443396"/>
            </a:xfrm>
          </p:grpSpPr>
          <p:grpSp>
            <p:nvGrpSpPr>
              <p:cNvPr id="31" name="Groupe 30"/>
              <p:cNvGrpSpPr/>
              <p:nvPr/>
            </p:nvGrpSpPr>
            <p:grpSpPr>
              <a:xfrm>
                <a:off x="4764025" y="3796777"/>
                <a:ext cx="3871390" cy="3427340"/>
                <a:chOff x="3529712" y="1995292"/>
                <a:chExt cx="1310717" cy="1481171"/>
              </a:xfrm>
            </p:grpSpPr>
            <p:sp>
              <p:nvSpPr>
                <p:cNvPr id="33" name="Rectangle 32"/>
                <p:cNvSpPr/>
                <p:nvPr/>
              </p:nvSpPr>
              <p:spPr>
                <a:xfrm>
                  <a:off x="3529712" y="1995292"/>
                  <a:ext cx="1309138" cy="1481171"/>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r>
                    <a:rPr lang="fr-FR" sz="4000" dirty="0">
                      <a:solidFill>
                        <a:schemeClr val="bg1"/>
                      </a:solidFill>
                      <a:latin typeface="Segoe UI" panose="020B0502040204020203" pitchFamily="34" charset="0"/>
                      <a:cs typeface="Segoe UI" panose="020B0502040204020203" pitchFamily="34" charset="0"/>
                    </a:rPr>
                    <a:t>IHM</a:t>
                  </a:r>
                </a:p>
              </p:txBody>
            </p:sp>
            <p:sp>
              <p:nvSpPr>
                <p:cNvPr id="34" name="Organigramme : Délai 33"/>
                <p:cNvSpPr/>
                <p:nvPr/>
              </p:nvSpPr>
              <p:spPr>
                <a:xfrm flipH="1">
                  <a:off x="4690000" y="2270569"/>
                  <a:ext cx="150429" cy="340242"/>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sp>
            <p:nvSpPr>
              <p:cNvPr id="87" name="Organigramme : Délai 86"/>
              <p:cNvSpPr/>
              <p:nvPr/>
            </p:nvSpPr>
            <p:spPr>
              <a:xfrm rot="16200000" flipH="1">
                <a:off x="6440573" y="3455932"/>
                <a:ext cx="346160" cy="1004953"/>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sp>
            <p:nvSpPr>
              <p:cNvPr id="96" name="Organigramme : Délai 95"/>
              <p:cNvSpPr/>
              <p:nvPr/>
            </p:nvSpPr>
            <p:spPr>
              <a:xfrm rot="5400000" flipH="1" flipV="1">
                <a:off x="6507499" y="6553169"/>
                <a:ext cx="346160" cy="1004952"/>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sp>
          <p:nvSpPr>
            <p:cNvPr id="97" name="Organigramme : Délai 96"/>
            <p:cNvSpPr/>
            <p:nvPr/>
          </p:nvSpPr>
          <p:spPr>
            <a:xfrm rot="5400000" flipH="1" flipV="1">
              <a:off x="17998737" y="10243190"/>
              <a:ext cx="346160" cy="1004953"/>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nvGrpSpPr>
            <p:cNvPr id="16" name="Groupe 15"/>
            <p:cNvGrpSpPr/>
            <p:nvPr/>
          </p:nvGrpSpPr>
          <p:grpSpPr>
            <a:xfrm>
              <a:off x="12453676" y="6872191"/>
              <a:ext cx="3877710" cy="4050226"/>
              <a:chOff x="12453676" y="6872191"/>
              <a:chExt cx="3877710" cy="4050226"/>
            </a:xfrm>
          </p:grpSpPr>
          <p:grpSp>
            <p:nvGrpSpPr>
              <p:cNvPr id="9" name="Groupe 8"/>
              <p:cNvGrpSpPr/>
              <p:nvPr/>
            </p:nvGrpSpPr>
            <p:grpSpPr>
              <a:xfrm>
                <a:off x="12453676" y="6872191"/>
                <a:ext cx="3871390" cy="4050226"/>
                <a:chOff x="6588233" y="3439965"/>
                <a:chExt cx="1508080" cy="2025113"/>
              </a:xfrm>
            </p:grpSpPr>
            <p:grpSp>
              <p:nvGrpSpPr>
                <p:cNvPr id="73" name="Groupe 72"/>
                <p:cNvGrpSpPr/>
                <p:nvPr/>
              </p:nvGrpSpPr>
              <p:grpSpPr>
                <a:xfrm>
                  <a:off x="6588233" y="3601918"/>
                  <a:ext cx="1508080" cy="1863160"/>
                  <a:chOff x="3529712" y="1715496"/>
                  <a:chExt cx="1310717" cy="1619328"/>
                </a:xfrm>
                <a:solidFill>
                  <a:schemeClr val="accent1">
                    <a:lumMod val="75000"/>
                  </a:schemeClr>
                </a:solidFill>
              </p:grpSpPr>
              <p:sp>
                <p:nvSpPr>
                  <p:cNvPr id="74" name="Rectangle 73"/>
                  <p:cNvSpPr/>
                  <p:nvPr/>
                </p:nvSpPr>
                <p:spPr>
                  <a:xfrm>
                    <a:off x="3529712" y="1715496"/>
                    <a:ext cx="1309138" cy="16193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a:p>
                    <a:pPr algn="ctr"/>
                    <a:r>
                      <a:rPr lang="fr-FR" sz="4000" dirty="0">
                        <a:solidFill>
                          <a:schemeClr val="bg1"/>
                        </a:solidFill>
                        <a:latin typeface="Segoe UI" panose="020B0502040204020203" pitchFamily="34" charset="0"/>
                        <a:cs typeface="Segoe UI" panose="020B0502040204020203" pitchFamily="34" charset="0"/>
                      </a:rPr>
                      <a:t>Décisionnel (SIDU)</a:t>
                    </a:r>
                  </a:p>
                  <a:p>
                    <a:pPr algn="ctr"/>
                    <a:endParaRPr lang="fr-FR" sz="4000" dirty="0">
                      <a:solidFill>
                        <a:schemeClr val="bg1"/>
                      </a:solidFill>
                      <a:latin typeface="Segoe UI" panose="020B0502040204020203" pitchFamily="34" charset="0"/>
                      <a:cs typeface="Segoe UI" panose="020B0502040204020203" pitchFamily="34" charset="0"/>
                    </a:endParaRPr>
                  </a:p>
                </p:txBody>
              </p:sp>
              <p:sp>
                <p:nvSpPr>
                  <p:cNvPr id="75" name="Organigramme : Délai 74"/>
                  <p:cNvSpPr/>
                  <p:nvPr/>
                </p:nvSpPr>
                <p:spPr>
                  <a:xfrm flipH="1">
                    <a:off x="4690000" y="2270569"/>
                    <a:ext cx="150429" cy="340242"/>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sp>
              <p:nvSpPr>
                <p:cNvPr id="84" name="Organigramme : Délai 83"/>
                <p:cNvSpPr/>
                <p:nvPr/>
              </p:nvSpPr>
              <p:spPr>
                <a:xfrm rot="5400000" flipH="1" flipV="1">
                  <a:off x="7226681" y="3324419"/>
                  <a:ext cx="173080" cy="404171"/>
                </a:xfrm>
                <a:prstGeom prst="flowChartDelay">
                  <a:avLst/>
                </a:prstGeom>
                <a:solidFill>
                  <a:srgbClr val="2E75B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sp>
            <p:nvSpPr>
              <p:cNvPr id="98" name="Organigramme : Délai 97"/>
              <p:cNvSpPr/>
              <p:nvPr/>
            </p:nvSpPr>
            <p:spPr>
              <a:xfrm flipH="1">
                <a:off x="15887073" y="8481887"/>
                <a:ext cx="444313" cy="782949"/>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sp>
            <p:nvSpPr>
              <p:cNvPr id="99" name="Organigramme : Délai 98"/>
              <p:cNvSpPr/>
              <p:nvPr/>
            </p:nvSpPr>
            <p:spPr>
              <a:xfrm>
                <a:off x="12461952" y="8442401"/>
                <a:ext cx="444313" cy="801397"/>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sp>
            <p:nvSpPr>
              <p:cNvPr id="100" name="Organigramme : Délai 99"/>
              <p:cNvSpPr/>
              <p:nvPr/>
            </p:nvSpPr>
            <p:spPr>
              <a:xfrm rot="5400000" flipH="1" flipV="1">
                <a:off x="14174018" y="10238709"/>
                <a:ext cx="346160" cy="1004953"/>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grpSp>
          <p:nvGrpSpPr>
            <p:cNvPr id="18" name="Groupe 17"/>
            <p:cNvGrpSpPr/>
            <p:nvPr/>
          </p:nvGrpSpPr>
          <p:grpSpPr>
            <a:xfrm>
              <a:off x="4764025" y="6865059"/>
              <a:ext cx="3871390" cy="4062830"/>
              <a:chOff x="4764025" y="6865059"/>
              <a:chExt cx="3871390" cy="4062830"/>
            </a:xfrm>
          </p:grpSpPr>
          <p:grpSp>
            <p:nvGrpSpPr>
              <p:cNvPr id="8" name="Groupe 7"/>
              <p:cNvGrpSpPr/>
              <p:nvPr/>
            </p:nvGrpSpPr>
            <p:grpSpPr>
              <a:xfrm>
                <a:off x="4764025" y="6865059"/>
                <a:ext cx="3871390" cy="4062830"/>
                <a:chOff x="3592769" y="3436399"/>
                <a:chExt cx="1508080" cy="2031415"/>
              </a:xfrm>
            </p:grpSpPr>
            <p:grpSp>
              <p:nvGrpSpPr>
                <p:cNvPr id="70" name="Groupe 69"/>
                <p:cNvGrpSpPr/>
                <p:nvPr/>
              </p:nvGrpSpPr>
              <p:grpSpPr>
                <a:xfrm>
                  <a:off x="3592769" y="3606630"/>
                  <a:ext cx="1508080" cy="1861184"/>
                  <a:chOff x="3529712" y="1717213"/>
                  <a:chExt cx="1310717" cy="1617611"/>
                </a:xfrm>
                <a:solidFill>
                  <a:schemeClr val="accent1">
                    <a:lumMod val="40000"/>
                    <a:lumOff val="60000"/>
                  </a:schemeClr>
                </a:solidFill>
              </p:grpSpPr>
              <p:sp>
                <p:nvSpPr>
                  <p:cNvPr id="71" name="Rectangle 70"/>
                  <p:cNvSpPr/>
                  <p:nvPr/>
                </p:nvSpPr>
                <p:spPr>
                  <a:xfrm>
                    <a:off x="3529712" y="1717213"/>
                    <a:ext cx="1309138" cy="161761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r>
                      <a:rPr lang="fr-FR" sz="4000" dirty="0">
                        <a:solidFill>
                          <a:schemeClr val="bg1"/>
                        </a:solidFill>
                        <a:latin typeface="Segoe UI" panose="020B0502040204020203" pitchFamily="34" charset="0"/>
                        <a:cs typeface="Segoe UI" panose="020B0502040204020203" pitchFamily="34" charset="0"/>
                      </a:rPr>
                      <a:t>Statistiques</a:t>
                    </a:r>
                  </a:p>
                </p:txBody>
              </p:sp>
              <p:sp>
                <p:nvSpPr>
                  <p:cNvPr id="72" name="Organigramme : Délai 71"/>
                  <p:cNvSpPr/>
                  <p:nvPr/>
                </p:nvSpPr>
                <p:spPr>
                  <a:xfrm flipH="1">
                    <a:off x="4690000" y="2270569"/>
                    <a:ext cx="150429" cy="340242"/>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sp>
              <p:nvSpPr>
                <p:cNvPr id="83" name="Organigramme : Délai 82"/>
                <p:cNvSpPr/>
                <p:nvPr/>
              </p:nvSpPr>
              <p:spPr>
                <a:xfrm rot="5400000" flipH="1" flipV="1">
                  <a:off x="4252429" y="3323306"/>
                  <a:ext cx="173080" cy="399265"/>
                </a:xfrm>
                <a:prstGeom prst="flowChartDelay">
                  <a:avLst/>
                </a:prstGeom>
                <a:solidFill>
                  <a:srgbClr val="BDD7E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sp>
            <p:nvSpPr>
              <p:cNvPr id="102" name="Organigramme : Délai 101"/>
              <p:cNvSpPr/>
              <p:nvPr/>
            </p:nvSpPr>
            <p:spPr>
              <a:xfrm rot="5400000" flipH="1" flipV="1">
                <a:off x="6530261" y="10241371"/>
                <a:ext cx="346160" cy="1004953"/>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sp>
            <p:nvSpPr>
              <p:cNvPr id="103" name="Organigramme : Délai 102"/>
              <p:cNvSpPr/>
              <p:nvPr/>
            </p:nvSpPr>
            <p:spPr>
              <a:xfrm flipH="1">
                <a:off x="8153570" y="8411224"/>
                <a:ext cx="444313" cy="801397"/>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grpSp>
          <p:nvGrpSpPr>
            <p:cNvPr id="20" name="Groupe 19"/>
            <p:cNvGrpSpPr/>
            <p:nvPr/>
          </p:nvGrpSpPr>
          <p:grpSpPr>
            <a:xfrm>
              <a:off x="8146247" y="7224459"/>
              <a:ext cx="4773640" cy="3703088"/>
              <a:chOff x="8146247" y="7224459"/>
              <a:chExt cx="4773640" cy="3703088"/>
            </a:xfrm>
          </p:grpSpPr>
          <p:grpSp>
            <p:nvGrpSpPr>
              <p:cNvPr id="19" name="Groupe 18"/>
              <p:cNvGrpSpPr/>
              <p:nvPr/>
            </p:nvGrpSpPr>
            <p:grpSpPr>
              <a:xfrm>
                <a:off x="8146247" y="7224459"/>
                <a:ext cx="4773640" cy="3703088"/>
                <a:chOff x="8146247" y="7224459"/>
                <a:chExt cx="4773640" cy="3703088"/>
              </a:xfrm>
            </p:grpSpPr>
            <p:grpSp>
              <p:nvGrpSpPr>
                <p:cNvPr id="76" name="Groupe 75"/>
                <p:cNvGrpSpPr/>
                <p:nvPr/>
              </p:nvGrpSpPr>
              <p:grpSpPr>
                <a:xfrm>
                  <a:off x="8146247" y="7224459"/>
                  <a:ext cx="4773640" cy="3703088"/>
                  <a:chOff x="3373091" y="1762637"/>
                  <a:chExt cx="1616188" cy="1572187"/>
                </a:xfrm>
                <a:solidFill>
                  <a:schemeClr val="accent1">
                    <a:lumMod val="60000"/>
                    <a:lumOff val="40000"/>
                  </a:schemeClr>
                </a:solidFill>
              </p:grpSpPr>
              <p:sp>
                <p:nvSpPr>
                  <p:cNvPr id="77" name="Rectangle 76"/>
                  <p:cNvSpPr/>
                  <p:nvPr/>
                </p:nvSpPr>
                <p:spPr>
                  <a:xfrm>
                    <a:off x="3529712" y="1762637"/>
                    <a:ext cx="1309138" cy="157218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r>
                      <a:rPr lang="fr-FR" sz="4000" dirty="0">
                        <a:solidFill>
                          <a:schemeClr val="bg1"/>
                        </a:solidFill>
                        <a:latin typeface="Segoe UI" panose="020B0502040204020203" pitchFamily="34" charset="0"/>
                        <a:cs typeface="Segoe UI" panose="020B0502040204020203" pitchFamily="34" charset="0"/>
                      </a:rPr>
                      <a:t>Facturation</a:t>
                    </a:r>
                  </a:p>
                </p:txBody>
              </p:sp>
              <p:sp>
                <p:nvSpPr>
                  <p:cNvPr id="78" name="Organigramme : Délai 77"/>
                  <p:cNvSpPr/>
                  <p:nvPr/>
                </p:nvSpPr>
                <p:spPr>
                  <a:xfrm flipH="1">
                    <a:off x="3373091" y="2267105"/>
                    <a:ext cx="156634" cy="340242"/>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sp>
                <p:nvSpPr>
                  <p:cNvPr id="79" name="Organigramme : Délai 78"/>
                  <p:cNvSpPr/>
                  <p:nvPr/>
                </p:nvSpPr>
                <p:spPr>
                  <a:xfrm>
                    <a:off x="4838850" y="2275039"/>
                    <a:ext cx="150429" cy="352584"/>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sp>
              <p:nvSpPr>
                <p:cNvPr id="101" name="Organigramme : Délai 100"/>
                <p:cNvSpPr/>
                <p:nvPr/>
              </p:nvSpPr>
              <p:spPr>
                <a:xfrm rot="5400000" flipH="1" flipV="1">
                  <a:off x="10339176" y="10246067"/>
                  <a:ext cx="346160" cy="1004953"/>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sp>
            <p:nvSpPr>
              <p:cNvPr id="95" name="Organigramme : Délai 94"/>
              <p:cNvSpPr/>
              <p:nvPr/>
            </p:nvSpPr>
            <p:spPr>
              <a:xfrm rot="16200000" flipH="1">
                <a:off x="10352046" y="6916678"/>
                <a:ext cx="346160" cy="1004952"/>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grpSp>
          <p:nvGrpSpPr>
            <p:cNvPr id="21" name="Groupe 20"/>
            <p:cNvGrpSpPr/>
            <p:nvPr/>
          </p:nvGrpSpPr>
          <p:grpSpPr>
            <a:xfrm>
              <a:off x="8187399" y="3765754"/>
              <a:ext cx="4732495" cy="3835456"/>
              <a:chOff x="8187399" y="3765754"/>
              <a:chExt cx="4732495" cy="3835456"/>
            </a:xfrm>
          </p:grpSpPr>
          <p:grpSp>
            <p:nvGrpSpPr>
              <p:cNvPr id="10" name="Groupe 9"/>
              <p:cNvGrpSpPr/>
              <p:nvPr/>
            </p:nvGrpSpPr>
            <p:grpSpPr>
              <a:xfrm>
                <a:off x="8187399" y="3772940"/>
                <a:ext cx="4732495" cy="3828270"/>
                <a:chOff x="4917422" y="1890659"/>
                <a:chExt cx="1843519" cy="1914135"/>
              </a:xfrm>
            </p:grpSpPr>
            <p:grpSp>
              <p:nvGrpSpPr>
                <p:cNvPr id="57" name="Groupe 56"/>
                <p:cNvGrpSpPr/>
                <p:nvPr/>
              </p:nvGrpSpPr>
              <p:grpSpPr>
                <a:xfrm>
                  <a:off x="4917422" y="1890659"/>
                  <a:ext cx="1843519" cy="1724577"/>
                  <a:chOff x="3379283" y="1985360"/>
                  <a:chExt cx="1602257" cy="1498881"/>
                </a:xfrm>
                <a:solidFill>
                  <a:schemeClr val="accent1">
                    <a:lumMod val="75000"/>
                  </a:schemeClr>
                </a:solidFill>
              </p:grpSpPr>
              <p:sp>
                <p:nvSpPr>
                  <p:cNvPr id="59" name="Organigramme : Délai 58"/>
                  <p:cNvSpPr/>
                  <p:nvPr/>
                </p:nvSpPr>
                <p:spPr>
                  <a:xfrm flipH="1">
                    <a:off x="3379283" y="2271634"/>
                    <a:ext cx="150429" cy="356236"/>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sp>
                <p:nvSpPr>
                  <p:cNvPr id="60" name="Organigramme : Délai 59"/>
                  <p:cNvSpPr/>
                  <p:nvPr/>
                </p:nvSpPr>
                <p:spPr>
                  <a:xfrm>
                    <a:off x="4831111" y="2287628"/>
                    <a:ext cx="150429" cy="347293"/>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sp>
                <p:nvSpPr>
                  <p:cNvPr id="58" name="Rectangle 57"/>
                  <p:cNvSpPr/>
                  <p:nvPr/>
                </p:nvSpPr>
                <p:spPr>
                  <a:xfrm>
                    <a:off x="3529712" y="1985360"/>
                    <a:ext cx="1309138" cy="149888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r>
                      <a:rPr lang="fr-FR" dirty="0">
                        <a:solidFill>
                          <a:schemeClr val="bg1"/>
                        </a:solidFill>
                        <a:latin typeface="Segoe UI" panose="020B0502040204020203" pitchFamily="34" charset="0"/>
                        <a:cs typeface="Segoe UI" panose="020B0502040204020203" pitchFamily="34" charset="0"/>
                      </a:rPr>
                      <a:t>Cohérence/ conformité / Arbre de décision</a:t>
                    </a:r>
                  </a:p>
                </p:txBody>
              </p:sp>
            </p:grpSp>
            <p:sp>
              <p:nvSpPr>
                <p:cNvPr id="85" name="Organigramme : Délai 84"/>
                <p:cNvSpPr/>
                <p:nvPr/>
              </p:nvSpPr>
              <p:spPr>
                <a:xfrm rot="16200000" flipH="1">
                  <a:off x="5728729" y="3509419"/>
                  <a:ext cx="199277" cy="391474"/>
                </a:xfrm>
                <a:prstGeom prst="flowChartDelay">
                  <a:avLst/>
                </a:prstGeom>
                <a:solidFill>
                  <a:srgbClr val="2E75B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sp>
            <p:nvSpPr>
              <p:cNvPr id="88" name="Organigramme : Délai 87"/>
              <p:cNvSpPr/>
              <p:nvPr/>
            </p:nvSpPr>
            <p:spPr>
              <a:xfrm rot="16200000" flipH="1">
                <a:off x="10333036" y="3436357"/>
                <a:ext cx="346160" cy="1004953"/>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grpSp>
          <p:nvGrpSpPr>
            <p:cNvPr id="22" name="Groupe 21"/>
            <p:cNvGrpSpPr/>
            <p:nvPr/>
          </p:nvGrpSpPr>
          <p:grpSpPr>
            <a:xfrm>
              <a:off x="15865139" y="7210922"/>
              <a:ext cx="4311036" cy="3743744"/>
              <a:chOff x="15865139" y="7209760"/>
              <a:chExt cx="4311036" cy="3743744"/>
            </a:xfrm>
          </p:grpSpPr>
          <p:grpSp>
            <p:nvGrpSpPr>
              <p:cNvPr id="80" name="Groupe 79"/>
              <p:cNvGrpSpPr/>
              <p:nvPr/>
            </p:nvGrpSpPr>
            <p:grpSpPr>
              <a:xfrm>
                <a:off x="15865139" y="7213294"/>
                <a:ext cx="4311036" cy="3726318"/>
                <a:chOff x="3379283" y="1715497"/>
                <a:chExt cx="1459566" cy="1619327"/>
              </a:xfrm>
              <a:solidFill>
                <a:schemeClr val="accent1">
                  <a:lumMod val="50000"/>
                </a:schemeClr>
              </a:solidFill>
            </p:grpSpPr>
            <p:sp>
              <p:nvSpPr>
                <p:cNvPr id="81" name="Rectangle 80"/>
                <p:cNvSpPr/>
                <p:nvPr/>
              </p:nvSpPr>
              <p:spPr>
                <a:xfrm>
                  <a:off x="3529711" y="1715497"/>
                  <a:ext cx="1309138" cy="161932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r>
                    <a:rPr lang="fr-FR" dirty="0">
                      <a:solidFill>
                        <a:schemeClr val="bg1"/>
                      </a:solidFill>
                      <a:latin typeface="Segoe UI" panose="020B0502040204020203" pitchFamily="34" charset="0"/>
                      <a:cs typeface="Segoe UI" panose="020B0502040204020203" pitchFamily="34" charset="0"/>
                    </a:rPr>
                    <a:t>Interfaçage applications groupe</a:t>
                  </a:r>
                </a:p>
              </p:txBody>
            </p:sp>
            <p:sp>
              <p:nvSpPr>
                <p:cNvPr id="82" name="Organigramme : Délai 81"/>
                <p:cNvSpPr/>
                <p:nvPr/>
              </p:nvSpPr>
              <p:spPr>
                <a:xfrm flipH="1">
                  <a:off x="3379283" y="2261699"/>
                  <a:ext cx="150429" cy="344821"/>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sp>
            <p:nvSpPr>
              <p:cNvPr id="104" name="Organigramme : Délai 103"/>
              <p:cNvSpPr/>
              <p:nvPr/>
            </p:nvSpPr>
            <p:spPr>
              <a:xfrm rot="16200000" flipH="1">
                <a:off x="18027064" y="6880364"/>
                <a:ext cx="346160" cy="1004952"/>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sp>
            <p:nvSpPr>
              <p:cNvPr id="105" name="Organigramme : Délai 104"/>
              <p:cNvSpPr/>
              <p:nvPr/>
            </p:nvSpPr>
            <p:spPr>
              <a:xfrm rot="5400000" flipH="1" flipV="1">
                <a:off x="18000984" y="10277947"/>
                <a:ext cx="346160" cy="1004953"/>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grpSp>
          <p:nvGrpSpPr>
            <p:cNvPr id="5" name="Groupe 4"/>
            <p:cNvGrpSpPr/>
            <p:nvPr/>
          </p:nvGrpSpPr>
          <p:grpSpPr>
            <a:xfrm>
              <a:off x="15865139" y="3765753"/>
              <a:ext cx="4311039" cy="3783064"/>
              <a:chOff x="15869768" y="3753377"/>
              <a:chExt cx="4311039" cy="3783064"/>
            </a:xfrm>
          </p:grpSpPr>
          <p:grpSp>
            <p:nvGrpSpPr>
              <p:cNvPr id="12" name="Groupe 11"/>
              <p:cNvGrpSpPr/>
              <p:nvPr/>
            </p:nvGrpSpPr>
            <p:grpSpPr>
              <a:xfrm>
                <a:off x="15869768" y="3753377"/>
                <a:ext cx="4311039" cy="3783064"/>
                <a:chOff x="7918954" y="1880558"/>
                <a:chExt cx="1679343" cy="1891532"/>
              </a:xfrm>
            </p:grpSpPr>
            <p:grpSp>
              <p:nvGrpSpPr>
                <p:cNvPr id="61" name="Groupe 60"/>
                <p:cNvGrpSpPr/>
                <p:nvPr/>
              </p:nvGrpSpPr>
              <p:grpSpPr>
                <a:xfrm>
                  <a:off x="7918954" y="1880558"/>
                  <a:ext cx="1679343" cy="1727976"/>
                  <a:chOff x="3379283" y="1978811"/>
                  <a:chExt cx="1459567" cy="1501836"/>
                </a:xfrm>
                <a:solidFill>
                  <a:schemeClr val="accent1">
                    <a:lumMod val="40000"/>
                    <a:lumOff val="60000"/>
                  </a:schemeClr>
                </a:solidFill>
              </p:grpSpPr>
              <p:sp>
                <p:nvSpPr>
                  <p:cNvPr id="62" name="Rectangle 61"/>
                  <p:cNvSpPr/>
                  <p:nvPr/>
                </p:nvSpPr>
                <p:spPr>
                  <a:xfrm>
                    <a:off x="3529712" y="1978811"/>
                    <a:ext cx="1309138" cy="150183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r>
                      <a:rPr lang="fr-FR" sz="4000" dirty="0">
                        <a:solidFill>
                          <a:schemeClr val="bg1"/>
                        </a:solidFill>
                        <a:latin typeface="Segoe UI" panose="020B0502040204020203" pitchFamily="34" charset="0"/>
                        <a:cs typeface="Segoe UI" panose="020B0502040204020203" pitchFamily="34" charset="0"/>
                      </a:rPr>
                      <a:t>Purge des données</a:t>
                    </a:r>
                  </a:p>
                </p:txBody>
              </p:sp>
              <p:sp>
                <p:nvSpPr>
                  <p:cNvPr id="63" name="Organigramme : Délai 62"/>
                  <p:cNvSpPr/>
                  <p:nvPr/>
                </p:nvSpPr>
                <p:spPr>
                  <a:xfrm flipH="1">
                    <a:off x="3379283" y="2261699"/>
                    <a:ext cx="150429" cy="362747"/>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sp>
              <p:nvSpPr>
                <p:cNvPr id="86" name="Organigramme : Délai 85"/>
                <p:cNvSpPr/>
                <p:nvPr/>
              </p:nvSpPr>
              <p:spPr>
                <a:xfrm rot="16200000" flipH="1">
                  <a:off x="8736816" y="3480714"/>
                  <a:ext cx="173080" cy="409672"/>
                </a:xfrm>
                <a:prstGeom prst="flowChartDelay">
                  <a:avLst/>
                </a:prstGeom>
                <a:solidFill>
                  <a:srgbClr val="BDD7E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sp>
            <p:nvSpPr>
              <p:cNvPr id="90" name="Organigramme : Délai 89"/>
              <p:cNvSpPr/>
              <p:nvPr/>
            </p:nvSpPr>
            <p:spPr>
              <a:xfrm rot="16200000" flipH="1">
                <a:off x="17995019" y="3436999"/>
                <a:ext cx="346160" cy="1004953"/>
              </a:xfrm>
              <a:prstGeom prst="flowChartDelay">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grpSp>
      <p:grpSp>
        <p:nvGrpSpPr>
          <p:cNvPr id="56" name="Groupe 55"/>
          <p:cNvGrpSpPr/>
          <p:nvPr/>
        </p:nvGrpSpPr>
        <p:grpSpPr>
          <a:xfrm>
            <a:off x="4764025" y="2195748"/>
            <a:ext cx="15416782" cy="1949618"/>
            <a:chOff x="3802981" y="1807092"/>
            <a:chExt cx="5219584" cy="847236"/>
          </a:xfrm>
        </p:grpSpPr>
        <p:sp>
          <p:nvSpPr>
            <p:cNvPr id="28" name="Rectangle 27"/>
            <p:cNvSpPr/>
            <p:nvPr/>
          </p:nvSpPr>
          <p:spPr>
            <a:xfrm>
              <a:off x="3802981" y="1807092"/>
              <a:ext cx="5219584" cy="700657"/>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r>
                <a:rPr lang="fr-FR" sz="4000" b="1" u="sng" dirty="0">
                  <a:solidFill>
                    <a:schemeClr val="bg1"/>
                  </a:solidFill>
                  <a:latin typeface="Segoe UI" panose="020B0502040204020203" pitchFamily="34" charset="0"/>
                  <a:cs typeface="Segoe UI" panose="020B0502040204020203" pitchFamily="34" charset="0"/>
                </a:rPr>
                <a:t>Une</a:t>
              </a:r>
              <a:r>
                <a:rPr lang="fr-FR" sz="4000" dirty="0">
                  <a:solidFill>
                    <a:schemeClr val="bg1"/>
                  </a:solidFill>
                  <a:latin typeface="Segoe UI" panose="020B0502040204020203" pitchFamily="34" charset="0"/>
                  <a:cs typeface="Segoe UI" panose="020B0502040204020203" pitchFamily="34" charset="0"/>
                </a:rPr>
                <a:t> analyse OCR</a:t>
              </a:r>
            </a:p>
          </p:txBody>
        </p:sp>
        <p:sp>
          <p:nvSpPr>
            <p:cNvPr id="27" name="Organigramme : Délai 26"/>
            <p:cNvSpPr/>
            <p:nvPr/>
          </p:nvSpPr>
          <p:spPr>
            <a:xfrm rot="16200000" flipH="1">
              <a:off x="4354229" y="2408991"/>
              <a:ext cx="150429" cy="340242"/>
            </a:xfrm>
            <a:prstGeom prst="flowChartDelay">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sp>
          <p:nvSpPr>
            <p:cNvPr id="53" name="Organigramme : Délai 52"/>
            <p:cNvSpPr/>
            <p:nvPr/>
          </p:nvSpPr>
          <p:spPr>
            <a:xfrm rot="16200000" flipH="1">
              <a:off x="5672082" y="2400762"/>
              <a:ext cx="150429" cy="340242"/>
            </a:xfrm>
            <a:prstGeom prst="flowChartDelay">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sp>
          <p:nvSpPr>
            <p:cNvPr id="54" name="Organigramme : Délai 53"/>
            <p:cNvSpPr/>
            <p:nvPr/>
          </p:nvSpPr>
          <p:spPr>
            <a:xfrm rot="16200000" flipH="1">
              <a:off x="6958185" y="2403389"/>
              <a:ext cx="150429" cy="351450"/>
            </a:xfrm>
            <a:prstGeom prst="flowChartDelay">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sp>
          <p:nvSpPr>
            <p:cNvPr id="55" name="Organigramme : Délai 54"/>
            <p:cNvSpPr/>
            <p:nvPr/>
          </p:nvSpPr>
          <p:spPr>
            <a:xfrm rot="16200000" flipH="1">
              <a:off x="8267514" y="2397600"/>
              <a:ext cx="150429" cy="346567"/>
            </a:xfrm>
            <a:prstGeom prst="flowChartDelay">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grpSp>
        <p:nvGrpSpPr>
          <p:cNvPr id="69" name="Groupe 68"/>
          <p:cNvGrpSpPr/>
          <p:nvPr/>
        </p:nvGrpSpPr>
        <p:grpSpPr>
          <a:xfrm>
            <a:off x="4764025" y="10562289"/>
            <a:ext cx="15416782" cy="1944412"/>
            <a:chOff x="4071160" y="3632872"/>
            <a:chExt cx="5219584" cy="844973"/>
          </a:xfrm>
          <a:solidFill>
            <a:schemeClr val="accent1"/>
          </a:solidFill>
        </p:grpSpPr>
        <p:sp>
          <p:nvSpPr>
            <p:cNvPr id="51" name="Rectangle 50"/>
            <p:cNvSpPr/>
            <p:nvPr/>
          </p:nvSpPr>
          <p:spPr>
            <a:xfrm>
              <a:off x="4071160" y="3777188"/>
              <a:ext cx="5219584" cy="70065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r>
                <a:rPr lang="fr-FR" sz="4000" dirty="0">
                  <a:solidFill>
                    <a:schemeClr val="bg1"/>
                  </a:solidFill>
                  <a:latin typeface="Segoe UI" panose="020B0502040204020203" pitchFamily="34" charset="0"/>
                  <a:cs typeface="Segoe UI" panose="020B0502040204020203" pitchFamily="34" charset="0"/>
                </a:rPr>
                <a:t>Levée De Doute (LDD)</a:t>
              </a:r>
            </a:p>
          </p:txBody>
        </p:sp>
        <p:sp>
          <p:nvSpPr>
            <p:cNvPr id="65" name="Organigramme : Délai 64"/>
            <p:cNvSpPr/>
            <p:nvPr/>
          </p:nvSpPr>
          <p:spPr>
            <a:xfrm rot="5400000" flipH="1" flipV="1">
              <a:off x="4650516" y="3537967"/>
              <a:ext cx="150429" cy="340242"/>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sp>
          <p:nvSpPr>
            <p:cNvPr id="66" name="Organigramme : Délai 65"/>
            <p:cNvSpPr/>
            <p:nvPr/>
          </p:nvSpPr>
          <p:spPr>
            <a:xfrm rot="5400000" flipH="1" flipV="1">
              <a:off x="5940262" y="3540494"/>
              <a:ext cx="150429" cy="340242"/>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sp>
          <p:nvSpPr>
            <p:cNvPr id="67" name="Organigramme : Délai 66"/>
            <p:cNvSpPr/>
            <p:nvPr/>
          </p:nvSpPr>
          <p:spPr>
            <a:xfrm rot="5400000" flipH="1" flipV="1">
              <a:off x="7243152" y="3533188"/>
              <a:ext cx="150429" cy="349798"/>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sp>
          <p:nvSpPr>
            <p:cNvPr id="68" name="Organigramme : Délai 67"/>
            <p:cNvSpPr/>
            <p:nvPr/>
          </p:nvSpPr>
          <p:spPr>
            <a:xfrm rot="5400000" flipH="1" flipV="1">
              <a:off x="8541222" y="3533368"/>
              <a:ext cx="150429" cy="354492"/>
            </a:xfrm>
            <a:prstGeom prst="flowChartDelay">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algn="ctr"/>
              <a:endParaRPr lang="fr-FR" sz="4000" dirty="0">
                <a:solidFill>
                  <a:schemeClr val="bg1"/>
                </a:solidFill>
                <a:latin typeface="Segoe UI" panose="020B0502040204020203" pitchFamily="34" charset="0"/>
                <a:cs typeface="Segoe UI" panose="020B0502040204020203" pitchFamily="34" charset="0"/>
              </a:endParaRPr>
            </a:p>
          </p:txBody>
        </p:sp>
      </p:grpSp>
      <p:sp>
        <p:nvSpPr>
          <p:cNvPr id="15" name="ZoneTexte 14">
            <a:extLst>
              <a:ext uri="{FF2B5EF4-FFF2-40B4-BE49-F238E27FC236}">
                <a16:creationId xmlns:a16="http://schemas.microsoft.com/office/drawing/2014/main" id="{F0CAB4E0-4FD8-411A-AFED-5AE36A7F7EF8}"/>
              </a:ext>
            </a:extLst>
          </p:cNvPr>
          <p:cNvSpPr txBox="1"/>
          <p:nvPr/>
        </p:nvSpPr>
        <p:spPr>
          <a:xfrm>
            <a:off x="8281245" y="12570478"/>
            <a:ext cx="15835172" cy="400110"/>
          </a:xfrm>
          <a:prstGeom prst="rect">
            <a:avLst/>
          </a:prstGeom>
          <a:noFill/>
        </p:spPr>
        <p:txBody>
          <a:bodyPr wrap="square" rtlCol="0">
            <a:spAutoFit/>
          </a:bodyPr>
          <a:lstStyle/>
          <a:p>
            <a:r>
              <a:rPr lang="fr-FR" sz="2000" dirty="0">
                <a:solidFill>
                  <a:srgbClr val="0C4392"/>
                </a:solidFill>
                <a:latin typeface="Segoe UI" panose="020B0502040204020203" pitchFamily="34" charset="0"/>
                <a:cs typeface="Segoe UI" panose="020B0502040204020203" pitchFamily="34" charset="0"/>
              </a:rPr>
              <a:t>https://moss-si.cm-cic.fr/Sites/D00116/Documentation/_layouts/15/DocIdRedir.aspx?ID=PJQFUVHKSAJQ-1373287592-186912</a:t>
            </a:r>
          </a:p>
        </p:txBody>
      </p:sp>
    </p:spTree>
    <p:extLst>
      <p:ext uri="{BB962C8B-B14F-4D97-AF65-F5344CB8AC3E}">
        <p14:creationId xmlns:p14="http://schemas.microsoft.com/office/powerpoint/2010/main" val="788869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pied de page 5"/>
          <p:cNvSpPr>
            <a:spLocks noGrp="1"/>
          </p:cNvSpPr>
          <p:nvPr>
            <p:ph type="ftr" sz="quarter" idx="11"/>
          </p:nvPr>
        </p:nvSpPr>
        <p:spPr/>
        <p:txBody>
          <a:bodyPr/>
          <a:lstStyle/>
          <a:p>
            <a:r>
              <a:rPr lang="fr-FR"/>
              <a:t>Présentation fonctionnelle de CADI – Classification : Interne</a:t>
            </a:r>
            <a:endParaRPr lang="fr-FR" dirty="0"/>
          </a:p>
        </p:txBody>
      </p:sp>
      <p:sp>
        <p:nvSpPr>
          <p:cNvPr id="7" name="Espace réservé du numéro de diapositive 6"/>
          <p:cNvSpPr>
            <a:spLocks noGrp="1"/>
          </p:cNvSpPr>
          <p:nvPr>
            <p:ph type="sldNum" sz="quarter" idx="12"/>
          </p:nvPr>
        </p:nvSpPr>
        <p:spPr/>
        <p:txBody>
          <a:bodyPr/>
          <a:lstStyle/>
          <a:p>
            <a:fld id="{86CB4B4D-7CA3-9044-876B-883B54F8677D}" type="slidenum">
              <a:rPr lang="fr-FR" smtClean="0"/>
              <a:pPr/>
              <a:t>12</a:t>
            </a:fld>
            <a:endParaRPr lang="fr-FR" dirty="0"/>
          </a:p>
        </p:txBody>
      </p:sp>
      <p:sp>
        <p:nvSpPr>
          <p:cNvPr id="3" name="Titre 2"/>
          <p:cNvSpPr>
            <a:spLocks noGrp="1"/>
          </p:cNvSpPr>
          <p:nvPr>
            <p:ph type="title"/>
          </p:nvPr>
        </p:nvSpPr>
        <p:spPr/>
        <p:txBody>
          <a:bodyPr/>
          <a:lstStyle/>
          <a:p>
            <a:r>
              <a:rPr lang="fr-FR" dirty="0"/>
              <a:t>Ecosystème CADI</a:t>
            </a:r>
          </a:p>
        </p:txBody>
      </p:sp>
      <p:sp>
        <p:nvSpPr>
          <p:cNvPr id="2" name="Espace réservé du texte 1"/>
          <p:cNvSpPr>
            <a:spLocks noGrp="1"/>
          </p:cNvSpPr>
          <p:nvPr>
            <p:ph type="body" sz="quarter" idx="14"/>
          </p:nvPr>
        </p:nvSpPr>
        <p:spPr/>
        <p:txBody>
          <a:bodyPr/>
          <a:lstStyle/>
          <a:p>
            <a:r>
              <a:rPr lang="fr-FR" dirty="0"/>
              <a:t>Flux</a:t>
            </a:r>
          </a:p>
        </p:txBody>
      </p:sp>
      <p:grpSp>
        <p:nvGrpSpPr>
          <p:cNvPr id="13" name="Groupe 12"/>
          <p:cNvGrpSpPr/>
          <p:nvPr/>
        </p:nvGrpSpPr>
        <p:grpSpPr>
          <a:xfrm>
            <a:off x="678425" y="1783610"/>
            <a:ext cx="23021102" cy="10199402"/>
            <a:chOff x="678425" y="1783610"/>
            <a:chExt cx="23021102" cy="10199402"/>
          </a:xfrm>
        </p:grpSpPr>
        <p:sp>
          <p:nvSpPr>
            <p:cNvPr id="4" name="Rectangle 3"/>
            <p:cNvSpPr/>
            <p:nvPr/>
          </p:nvSpPr>
          <p:spPr>
            <a:xfrm>
              <a:off x="678425" y="11017405"/>
              <a:ext cx="17536123" cy="959005"/>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CADI - Base données (SQL Server)</a:t>
              </a:r>
            </a:p>
          </p:txBody>
        </p:sp>
        <p:sp>
          <p:nvSpPr>
            <p:cNvPr id="17" name="Rectangle 16"/>
            <p:cNvSpPr/>
            <p:nvPr/>
          </p:nvSpPr>
          <p:spPr>
            <a:xfrm>
              <a:off x="10676228" y="3940799"/>
              <a:ext cx="1638031" cy="1382752"/>
            </a:xfrm>
            <a:prstGeom prst="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SUPJUG</a:t>
              </a:r>
            </a:p>
          </p:txBody>
        </p:sp>
        <p:sp>
          <p:nvSpPr>
            <p:cNvPr id="18" name="Rectangle 17"/>
            <p:cNvSpPr/>
            <p:nvPr/>
          </p:nvSpPr>
          <p:spPr>
            <a:xfrm>
              <a:off x="8317178" y="7092482"/>
              <a:ext cx="3715663" cy="1382752"/>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CADI - DLL</a:t>
              </a:r>
            </a:p>
          </p:txBody>
        </p:sp>
        <p:sp>
          <p:nvSpPr>
            <p:cNvPr id="19" name="Rectangle 18"/>
            <p:cNvSpPr/>
            <p:nvPr/>
          </p:nvSpPr>
          <p:spPr>
            <a:xfrm>
              <a:off x="18214549" y="3940799"/>
              <a:ext cx="3715663" cy="1382752"/>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CADI - Levée de doutes</a:t>
              </a:r>
            </a:p>
          </p:txBody>
        </p:sp>
        <p:cxnSp>
          <p:nvCxnSpPr>
            <p:cNvPr id="21" name="Connecteur droit avec flèche 20"/>
            <p:cNvCxnSpPr>
              <a:stCxn id="17" idx="2"/>
            </p:cNvCxnSpPr>
            <p:nvPr/>
          </p:nvCxnSpPr>
          <p:spPr>
            <a:xfrm>
              <a:off x="11495244" y="5323551"/>
              <a:ext cx="23038" cy="1768931"/>
            </a:xfrm>
            <a:prstGeom prst="straightConnector1">
              <a:avLst/>
            </a:prstGeom>
            <a:ln w="76200">
              <a:headEnd type="triangle"/>
              <a:tailEnd type="triangle"/>
            </a:ln>
          </p:spPr>
          <p:style>
            <a:lnRef idx="3">
              <a:schemeClr val="accent3"/>
            </a:lnRef>
            <a:fillRef idx="0">
              <a:schemeClr val="accent3"/>
            </a:fillRef>
            <a:effectRef idx="2">
              <a:schemeClr val="accent3"/>
            </a:effectRef>
            <a:fontRef idx="minor">
              <a:schemeClr val="tx1"/>
            </a:fontRef>
          </p:style>
        </p:cxnSp>
        <p:sp>
          <p:nvSpPr>
            <p:cNvPr id="24" name="Rectangle 23"/>
            <p:cNvSpPr/>
            <p:nvPr/>
          </p:nvSpPr>
          <p:spPr>
            <a:xfrm>
              <a:off x="13862661" y="3940799"/>
              <a:ext cx="2130760" cy="1382752"/>
            </a:xfrm>
            <a:prstGeom prst="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GJUG</a:t>
              </a:r>
            </a:p>
          </p:txBody>
        </p:sp>
        <p:cxnSp>
          <p:nvCxnSpPr>
            <p:cNvPr id="25" name="Connecteur droit avec flèche 24"/>
            <p:cNvCxnSpPr>
              <a:stCxn id="17" idx="3"/>
              <a:endCxn id="24" idx="1"/>
            </p:cNvCxnSpPr>
            <p:nvPr/>
          </p:nvCxnSpPr>
          <p:spPr>
            <a:xfrm>
              <a:off x="12314259" y="4632175"/>
              <a:ext cx="1548402" cy="0"/>
            </a:xfrm>
            <a:prstGeom prst="straightConnector1">
              <a:avLst/>
            </a:prstGeom>
            <a:ln w="76200">
              <a:headEnd type="triangle"/>
              <a:tailEnd type="triangle"/>
            </a:ln>
          </p:spPr>
          <p:style>
            <a:lnRef idx="3">
              <a:schemeClr val="accent3"/>
            </a:lnRef>
            <a:fillRef idx="0">
              <a:schemeClr val="accent3"/>
            </a:fillRef>
            <a:effectRef idx="2">
              <a:schemeClr val="accent3"/>
            </a:effectRef>
            <a:fontRef idx="minor">
              <a:schemeClr val="tx1"/>
            </a:fontRef>
          </p:style>
        </p:cxnSp>
        <p:sp>
          <p:nvSpPr>
            <p:cNvPr id="26" name="Rectangle 25"/>
            <p:cNvSpPr/>
            <p:nvPr/>
          </p:nvSpPr>
          <p:spPr>
            <a:xfrm>
              <a:off x="19007001" y="1911348"/>
              <a:ext cx="2130760" cy="1211387"/>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TRTA / CFA</a:t>
              </a:r>
            </a:p>
          </p:txBody>
        </p:sp>
        <p:cxnSp>
          <p:nvCxnSpPr>
            <p:cNvPr id="27" name="Connecteur droit avec flèche 26"/>
            <p:cNvCxnSpPr>
              <a:stCxn id="19" idx="0"/>
              <a:endCxn id="26" idx="2"/>
            </p:cNvCxnSpPr>
            <p:nvPr/>
          </p:nvCxnSpPr>
          <p:spPr>
            <a:xfrm flipV="1">
              <a:off x="20072381" y="3122735"/>
              <a:ext cx="0" cy="818064"/>
            </a:xfrm>
            <a:prstGeom prst="straightConnector1">
              <a:avLst/>
            </a:prstGeom>
            <a:ln w="76200">
              <a:headEnd type="triangle"/>
              <a:tailEnd type="triangle"/>
            </a:ln>
          </p:spPr>
          <p:style>
            <a:lnRef idx="3">
              <a:schemeClr val="accent3"/>
            </a:lnRef>
            <a:fillRef idx="0">
              <a:schemeClr val="accent3"/>
            </a:fillRef>
            <a:effectRef idx="2">
              <a:schemeClr val="accent3"/>
            </a:effectRef>
            <a:fontRef idx="minor">
              <a:schemeClr val="tx1"/>
            </a:fontRef>
          </p:style>
        </p:cxnSp>
        <p:sp>
          <p:nvSpPr>
            <p:cNvPr id="36" name="Rectangle 35"/>
            <p:cNvSpPr/>
            <p:nvPr/>
          </p:nvSpPr>
          <p:spPr>
            <a:xfrm>
              <a:off x="8351484" y="1783610"/>
              <a:ext cx="3523381" cy="1382752"/>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Application cliente</a:t>
              </a:r>
            </a:p>
          </p:txBody>
        </p:sp>
        <p:sp>
          <p:nvSpPr>
            <p:cNvPr id="62" name="Rectangle 61"/>
            <p:cNvSpPr/>
            <p:nvPr/>
          </p:nvSpPr>
          <p:spPr>
            <a:xfrm>
              <a:off x="1085779" y="5919241"/>
              <a:ext cx="2552700" cy="1371600"/>
            </a:xfrm>
            <a:prstGeom prst="rect">
              <a:avLst/>
            </a:prstGeom>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GED / GNF</a:t>
              </a:r>
            </a:p>
          </p:txBody>
        </p:sp>
        <p:sp>
          <p:nvSpPr>
            <p:cNvPr id="64" name="Rectangle 63"/>
            <p:cNvSpPr/>
            <p:nvPr/>
          </p:nvSpPr>
          <p:spPr>
            <a:xfrm>
              <a:off x="1085779" y="7709935"/>
              <a:ext cx="2552700" cy="1927316"/>
            </a:xfrm>
            <a:prstGeom prst="rect">
              <a:avLst/>
            </a:prstGeom>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Moteurs OCR</a:t>
              </a:r>
            </a:p>
            <a:p>
              <a:pPr algn="ctr"/>
              <a:r>
                <a:rPr lang="fr-FR" sz="2000" b="1" dirty="0">
                  <a:solidFill>
                    <a:schemeClr val="bg1"/>
                  </a:solidFill>
                  <a:latin typeface="Segoe UI" panose="020B0502040204020203" pitchFamily="34" charset="0"/>
                  <a:cs typeface="Segoe UI" panose="020B0502040204020203" pitchFamily="34" charset="0"/>
                </a:rPr>
                <a:t>(</a:t>
              </a:r>
              <a:r>
                <a:rPr lang="fr-FR" sz="2000" b="1" dirty="0" err="1">
                  <a:solidFill>
                    <a:schemeClr val="bg1"/>
                  </a:solidFill>
                  <a:latin typeface="Segoe UI" panose="020B0502040204020203" pitchFamily="34" charset="0"/>
                  <a:cs typeface="Segoe UI" panose="020B0502040204020203" pitchFamily="34" charset="0"/>
                </a:rPr>
                <a:t>IDnow</a:t>
              </a:r>
              <a:r>
                <a:rPr lang="fr-FR" sz="2000" b="1" dirty="0">
                  <a:solidFill>
                    <a:schemeClr val="bg1"/>
                  </a:solidFill>
                  <a:latin typeface="Segoe UI" panose="020B0502040204020203" pitchFamily="34" charset="0"/>
                  <a:cs typeface="Segoe UI" panose="020B0502040204020203" pitchFamily="34" charset="0"/>
                </a:rPr>
                <a:t>, ITC, Analyseur Générique, </a:t>
              </a:r>
              <a:r>
                <a:rPr lang="fr-FR" sz="2000" b="1" dirty="0" err="1">
                  <a:solidFill>
                    <a:schemeClr val="bg1"/>
                  </a:solidFill>
                  <a:latin typeface="Segoe UI" panose="020B0502040204020203" pitchFamily="34" charset="0"/>
                  <a:cs typeface="Segoe UI" panose="020B0502040204020203" pitchFamily="34" charset="0"/>
                </a:rPr>
                <a:t>Ws</a:t>
              </a:r>
              <a:r>
                <a:rPr lang="fr-FR" sz="2000" b="1" dirty="0">
                  <a:solidFill>
                    <a:schemeClr val="bg1"/>
                  </a:solidFill>
                  <a:latin typeface="Segoe UI" panose="020B0502040204020203" pitchFamily="34" charset="0"/>
                  <a:cs typeface="Segoe UI" panose="020B0502040204020203" pitchFamily="34" charset="0"/>
                </a:rPr>
                <a:t> </a:t>
              </a:r>
              <a:r>
                <a:rPr lang="fr-FR" sz="2000" b="1" dirty="0" err="1">
                  <a:solidFill>
                    <a:schemeClr val="bg1"/>
                  </a:solidFill>
                  <a:latin typeface="Segoe UI" panose="020B0502040204020203" pitchFamily="34" charset="0"/>
                  <a:cs typeface="Segoe UI" panose="020B0502040204020203" pitchFamily="34" charset="0"/>
                </a:rPr>
                <a:t>SyoReader</a:t>
              </a:r>
              <a:r>
                <a:rPr lang="fr-FR" sz="2000" b="1" dirty="0">
                  <a:solidFill>
                    <a:schemeClr val="bg1"/>
                  </a:solidFill>
                  <a:latin typeface="Segoe UI" panose="020B0502040204020203" pitchFamily="34" charset="0"/>
                  <a:cs typeface="Segoe UI" panose="020B0502040204020203" pitchFamily="34" charset="0"/>
                </a:rPr>
                <a:t> </a:t>
              </a:r>
              <a:r>
                <a:rPr lang="fr-FR" sz="2000" b="1" dirty="0" err="1">
                  <a:solidFill>
                    <a:schemeClr val="bg1"/>
                  </a:solidFill>
                  <a:latin typeface="Segoe UI" panose="020B0502040204020203" pitchFamily="34" charset="0"/>
                  <a:cs typeface="Segoe UI" panose="020B0502040204020203" pitchFamily="34" charset="0"/>
                </a:rPr>
                <a:t>Skapánê</a:t>
              </a:r>
              <a:r>
                <a:rPr lang="fr-FR" sz="2000" b="1" dirty="0">
                  <a:solidFill>
                    <a:schemeClr val="bg1"/>
                  </a:solidFill>
                  <a:latin typeface="Segoe UI" panose="020B0502040204020203" pitchFamily="34" charset="0"/>
                  <a:cs typeface="Segoe UI" panose="020B0502040204020203" pitchFamily="34" charset="0"/>
                </a:rPr>
                <a:t>) </a:t>
              </a:r>
            </a:p>
          </p:txBody>
        </p:sp>
        <p:cxnSp>
          <p:nvCxnSpPr>
            <p:cNvPr id="69" name="Connecteur en angle 68"/>
            <p:cNvCxnSpPr>
              <a:stCxn id="18" idx="1"/>
              <a:endCxn id="64" idx="3"/>
            </p:cNvCxnSpPr>
            <p:nvPr/>
          </p:nvCxnSpPr>
          <p:spPr>
            <a:xfrm rot="10800000" flipV="1">
              <a:off x="3638480" y="7783857"/>
              <a:ext cx="4678699" cy="889735"/>
            </a:xfrm>
            <a:prstGeom prst="bentConnector3">
              <a:avLst/>
            </a:prstGeom>
            <a:ln w="76200">
              <a:headEnd type="triangle" w="med" len="med"/>
              <a:tailEnd type="triangle" w="med" len="med"/>
            </a:ln>
          </p:spPr>
          <p:style>
            <a:lnRef idx="3">
              <a:schemeClr val="accent3"/>
            </a:lnRef>
            <a:fillRef idx="0">
              <a:schemeClr val="accent3"/>
            </a:fillRef>
            <a:effectRef idx="2">
              <a:schemeClr val="accent3"/>
            </a:effectRef>
            <a:fontRef idx="minor">
              <a:schemeClr val="tx1"/>
            </a:fontRef>
          </p:style>
        </p:cxnSp>
        <p:cxnSp>
          <p:nvCxnSpPr>
            <p:cNvPr id="73" name="Connecteur en angle 72"/>
            <p:cNvCxnSpPr>
              <a:stCxn id="62" idx="3"/>
              <a:endCxn id="18" idx="1"/>
            </p:cNvCxnSpPr>
            <p:nvPr/>
          </p:nvCxnSpPr>
          <p:spPr>
            <a:xfrm>
              <a:off x="3638479" y="6605041"/>
              <a:ext cx="4678699" cy="1178817"/>
            </a:xfrm>
            <a:prstGeom prst="bentConnector3">
              <a:avLst/>
            </a:prstGeom>
            <a:ln w="76200">
              <a:headEnd type="triangle" w="med" len="med"/>
              <a:tailEnd type="triangle" w="med" len="med"/>
            </a:ln>
          </p:spPr>
          <p:style>
            <a:lnRef idx="3">
              <a:schemeClr val="accent3"/>
            </a:lnRef>
            <a:fillRef idx="0">
              <a:schemeClr val="accent3"/>
            </a:fillRef>
            <a:effectRef idx="2">
              <a:schemeClr val="accent3"/>
            </a:effectRef>
            <a:fontRef idx="minor">
              <a:schemeClr val="tx1"/>
            </a:fontRef>
          </p:style>
        </p:cxnSp>
        <p:cxnSp>
          <p:nvCxnSpPr>
            <p:cNvPr id="81" name="Connecteur droit avec flèche 80"/>
            <p:cNvCxnSpPr>
              <a:stCxn id="18" idx="2"/>
            </p:cNvCxnSpPr>
            <p:nvPr/>
          </p:nvCxnSpPr>
          <p:spPr>
            <a:xfrm>
              <a:off x="10175010" y="8475234"/>
              <a:ext cx="12908" cy="2548773"/>
            </a:xfrm>
            <a:prstGeom prst="straightConnector1">
              <a:avLst/>
            </a:prstGeom>
            <a:ln w="76200">
              <a:headEnd type="triangle"/>
              <a:tailEnd type="triangle"/>
            </a:ln>
          </p:spPr>
          <p:style>
            <a:lnRef idx="3">
              <a:schemeClr val="accent3"/>
            </a:lnRef>
            <a:fillRef idx="0">
              <a:schemeClr val="accent3"/>
            </a:fillRef>
            <a:effectRef idx="2">
              <a:schemeClr val="accent3"/>
            </a:effectRef>
            <a:fontRef idx="minor">
              <a:schemeClr val="tx1"/>
            </a:fontRef>
          </p:style>
        </p:cxnSp>
        <p:sp>
          <p:nvSpPr>
            <p:cNvPr id="86" name="Rectangle 85"/>
            <p:cNvSpPr/>
            <p:nvPr/>
          </p:nvSpPr>
          <p:spPr>
            <a:xfrm>
              <a:off x="8767032" y="3951879"/>
              <a:ext cx="1638031" cy="1382752"/>
            </a:xfrm>
            <a:prstGeom prst="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GEDA</a:t>
              </a:r>
            </a:p>
          </p:txBody>
        </p:sp>
        <p:cxnSp>
          <p:nvCxnSpPr>
            <p:cNvPr id="91" name="Connecteur droit avec flèche 90"/>
            <p:cNvCxnSpPr>
              <a:stCxn id="86" idx="2"/>
            </p:cNvCxnSpPr>
            <p:nvPr/>
          </p:nvCxnSpPr>
          <p:spPr>
            <a:xfrm flipH="1">
              <a:off x="9584793" y="5334631"/>
              <a:ext cx="1255" cy="1757851"/>
            </a:xfrm>
            <a:prstGeom prst="straightConnector1">
              <a:avLst/>
            </a:prstGeom>
            <a:ln w="76200">
              <a:headEnd type="triangle"/>
              <a:tailEnd type="triangle"/>
            </a:ln>
          </p:spPr>
          <p:style>
            <a:lnRef idx="3">
              <a:schemeClr val="accent3"/>
            </a:lnRef>
            <a:fillRef idx="0">
              <a:schemeClr val="accent3"/>
            </a:fillRef>
            <a:effectRef idx="2">
              <a:schemeClr val="accent3"/>
            </a:effectRef>
            <a:fontRef idx="minor">
              <a:schemeClr val="tx1"/>
            </a:fontRef>
          </p:style>
        </p:cxnSp>
        <p:cxnSp>
          <p:nvCxnSpPr>
            <p:cNvPr id="94" name="Connecteur droit avec flèche 93"/>
            <p:cNvCxnSpPr>
              <a:endCxn id="86" idx="0"/>
            </p:cNvCxnSpPr>
            <p:nvPr/>
          </p:nvCxnSpPr>
          <p:spPr>
            <a:xfrm>
              <a:off x="9584793" y="3166362"/>
              <a:ext cx="1255" cy="785517"/>
            </a:xfrm>
            <a:prstGeom prst="straightConnector1">
              <a:avLst/>
            </a:prstGeom>
            <a:ln w="76200">
              <a:headEnd type="triangle"/>
              <a:tailEnd type="triangle"/>
            </a:ln>
          </p:spPr>
          <p:style>
            <a:lnRef idx="3">
              <a:schemeClr val="accent3"/>
            </a:lnRef>
            <a:fillRef idx="0">
              <a:schemeClr val="accent3"/>
            </a:fillRef>
            <a:effectRef idx="2">
              <a:schemeClr val="accent3"/>
            </a:effectRef>
            <a:fontRef idx="minor">
              <a:schemeClr val="tx1"/>
            </a:fontRef>
          </p:style>
        </p:cxnSp>
        <p:cxnSp>
          <p:nvCxnSpPr>
            <p:cNvPr id="96" name="Connecteur droit avec flèche 95"/>
            <p:cNvCxnSpPr>
              <a:endCxn id="17" idx="0"/>
            </p:cNvCxnSpPr>
            <p:nvPr/>
          </p:nvCxnSpPr>
          <p:spPr>
            <a:xfrm>
              <a:off x="11495243" y="3177442"/>
              <a:ext cx="1" cy="763357"/>
            </a:xfrm>
            <a:prstGeom prst="straightConnector1">
              <a:avLst/>
            </a:prstGeom>
            <a:ln w="76200">
              <a:headEnd type="triangle"/>
              <a:tailEnd type="triangle"/>
            </a:ln>
          </p:spPr>
          <p:style>
            <a:lnRef idx="3">
              <a:schemeClr val="accent3"/>
            </a:lnRef>
            <a:fillRef idx="0">
              <a:schemeClr val="accent3"/>
            </a:fillRef>
            <a:effectRef idx="2">
              <a:schemeClr val="accent3"/>
            </a:effectRef>
            <a:fontRef idx="minor">
              <a:schemeClr val="tx1"/>
            </a:fontRef>
          </p:style>
        </p:cxnSp>
        <p:cxnSp>
          <p:nvCxnSpPr>
            <p:cNvPr id="99" name="Connecteur en angle 98"/>
            <p:cNvCxnSpPr>
              <a:stCxn id="36" idx="1"/>
            </p:cNvCxnSpPr>
            <p:nvPr/>
          </p:nvCxnSpPr>
          <p:spPr>
            <a:xfrm rot="10800000" flipH="1" flipV="1">
              <a:off x="8351484" y="2474986"/>
              <a:ext cx="167930" cy="4617496"/>
            </a:xfrm>
            <a:prstGeom prst="bentConnector4">
              <a:avLst>
                <a:gd name="adj1" fmla="val -492536"/>
                <a:gd name="adj2" fmla="val 72968"/>
              </a:avLst>
            </a:prstGeom>
            <a:ln w="76200">
              <a:headEnd type="triangle" w="med" len="med"/>
              <a:tailEnd type="triangle" w="med" len="med"/>
            </a:ln>
          </p:spPr>
          <p:style>
            <a:lnRef idx="3">
              <a:schemeClr val="accent3"/>
            </a:lnRef>
            <a:fillRef idx="0">
              <a:schemeClr val="accent3"/>
            </a:fillRef>
            <a:effectRef idx="2">
              <a:schemeClr val="accent3"/>
            </a:effectRef>
            <a:fontRef idx="minor">
              <a:schemeClr val="tx1"/>
            </a:fontRef>
          </p:style>
        </p:cxnSp>
        <p:cxnSp>
          <p:nvCxnSpPr>
            <p:cNvPr id="106" name="Connecteur droit avec flèche 105"/>
            <p:cNvCxnSpPr>
              <a:stCxn id="24" idx="3"/>
              <a:endCxn id="19" idx="1"/>
            </p:cNvCxnSpPr>
            <p:nvPr/>
          </p:nvCxnSpPr>
          <p:spPr>
            <a:xfrm>
              <a:off x="15993421" y="4632175"/>
              <a:ext cx="2221128" cy="0"/>
            </a:xfrm>
            <a:prstGeom prst="straightConnector1">
              <a:avLst/>
            </a:prstGeom>
            <a:ln w="76200">
              <a:headEnd type="triangle"/>
              <a:tailEnd type="triangle"/>
            </a:ln>
          </p:spPr>
          <p:style>
            <a:lnRef idx="3">
              <a:schemeClr val="accent3"/>
            </a:lnRef>
            <a:fillRef idx="0">
              <a:schemeClr val="accent3"/>
            </a:fillRef>
            <a:effectRef idx="2">
              <a:schemeClr val="accent3"/>
            </a:effectRef>
            <a:fontRef idx="minor">
              <a:schemeClr val="tx1"/>
            </a:fontRef>
          </p:style>
        </p:cxnSp>
        <p:sp>
          <p:nvSpPr>
            <p:cNvPr id="115" name="Rectangle 114"/>
            <p:cNvSpPr/>
            <p:nvPr/>
          </p:nvSpPr>
          <p:spPr>
            <a:xfrm>
              <a:off x="13888907" y="5784974"/>
              <a:ext cx="2130760" cy="1382752"/>
            </a:xfrm>
            <a:prstGeom prst="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TIERS</a:t>
              </a:r>
            </a:p>
          </p:txBody>
        </p:sp>
        <p:sp>
          <p:nvSpPr>
            <p:cNvPr id="116" name="Rectangle 115"/>
            <p:cNvSpPr/>
            <p:nvPr/>
          </p:nvSpPr>
          <p:spPr>
            <a:xfrm>
              <a:off x="13888907" y="7574081"/>
              <a:ext cx="2130760" cy="1382752"/>
            </a:xfrm>
            <a:prstGeom prst="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FRAUDE</a:t>
              </a:r>
            </a:p>
          </p:txBody>
        </p:sp>
        <p:cxnSp>
          <p:nvCxnSpPr>
            <p:cNvPr id="120" name="Connecteur en angle 119"/>
            <p:cNvCxnSpPr>
              <a:stCxn id="19" idx="2"/>
              <a:endCxn id="115" idx="3"/>
            </p:cNvCxnSpPr>
            <p:nvPr/>
          </p:nvCxnSpPr>
          <p:spPr>
            <a:xfrm rot="5400000">
              <a:off x="17469625" y="3873593"/>
              <a:ext cx="1152799" cy="4052714"/>
            </a:xfrm>
            <a:prstGeom prst="bentConnector2">
              <a:avLst/>
            </a:prstGeom>
            <a:ln w="76200">
              <a:tailEnd type="triangle"/>
            </a:ln>
          </p:spPr>
          <p:style>
            <a:lnRef idx="3">
              <a:schemeClr val="accent3"/>
            </a:lnRef>
            <a:fillRef idx="0">
              <a:schemeClr val="accent3"/>
            </a:fillRef>
            <a:effectRef idx="2">
              <a:schemeClr val="accent3"/>
            </a:effectRef>
            <a:fontRef idx="minor">
              <a:schemeClr val="tx1"/>
            </a:fontRef>
          </p:style>
        </p:cxnSp>
        <p:cxnSp>
          <p:nvCxnSpPr>
            <p:cNvPr id="122" name="Connecteur en angle 121"/>
            <p:cNvCxnSpPr>
              <a:stCxn id="19" idx="2"/>
              <a:endCxn id="116" idx="3"/>
            </p:cNvCxnSpPr>
            <p:nvPr/>
          </p:nvCxnSpPr>
          <p:spPr>
            <a:xfrm rot="5400000">
              <a:off x="16575071" y="4768147"/>
              <a:ext cx="2941906" cy="4052714"/>
            </a:xfrm>
            <a:prstGeom prst="bentConnector2">
              <a:avLst/>
            </a:prstGeom>
            <a:ln w="76200">
              <a:tailEnd type="triangle"/>
            </a:ln>
          </p:spPr>
          <p:style>
            <a:lnRef idx="3">
              <a:schemeClr val="accent3"/>
            </a:lnRef>
            <a:fillRef idx="0">
              <a:schemeClr val="accent3"/>
            </a:fillRef>
            <a:effectRef idx="2">
              <a:schemeClr val="accent3"/>
            </a:effectRef>
            <a:fontRef idx="minor">
              <a:schemeClr val="tx1"/>
            </a:fontRef>
          </p:style>
        </p:cxnSp>
        <p:sp>
          <p:nvSpPr>
            <p:cNvPr id="41" name="Rectangle 40"/>
            <p:cNvSpPr/>
            <p:nvPr/>
          </p:nvSpPr>
          <p:spPr>
            <a:xfrm>
              <a:off x="19025634" y="11024007"/>
              <a:ext cx="4673893" cy="959005"/>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CADI - SIDU, Statistiques, Facturation, Purge</a:t>
              </a:r>
            </a:p>
          </p:txBody>
        </p:sp>
        <p:cxnSp>
          <p:nvCxnSpPr>
            <p:cNvPr id="23" name="Connecteur en angle 22"/>
            <p:cNvCxnSpPr/>
            <p:nvPr/>
          </p:nvCxnSpPr>
          <p:spPr>
            <a:xfrm rot="5400000">
              <a:off x="16363022" y="5717458"/>
              <a:ext cx="5682771" cy="4917120"/>
            </a:xfrm>
            <a:prstGeom prst="bentConnector3">
              <a:avLst>
                <a:gd name="adj1" fmla="val 60532"/>
              </a:avLst>
            </a:prstGeom>
            <a:ln w="76200">
              <a:headEnd type="triangle"/>
              <a:tailEnd type="triangle"/>
            </a:ln>
          </p:spPr>
          <p:style>
            <a:lnRef idx="3">
              <a:schemeClr val="accent3"/>
            </a:lnRef>
            <a:fillRef idx="0">
              <a:schemeClr val="accent3"/>
            </a:fillRef>
            <a:effectRef idx="2">
              <a:schemeClr val="accent3"/>
            </a:effectRef>
            <a:fontRef idx="minor">
              <a:schemeClr val="tx1"/>
            </a:fontRef>
          </p:style>
        </p:cxnSp>
        <p:cxnSp>
          <p:nvCxnSpPr>
            <p:cNvPr id="54" name="Connecteur droit avec flèche 53"/>
            <p:cNvCxnSpPr>
              <a:stCxn id="4" idx="3"/>
              <a:endCxn id="41" idx="1"/>
            </p:cNvCxnSpPr>
            <p:nvPr/>
          </p:nvCxnSpPr>
          <p:spPr>
            <a:xfrm>
              <a:off x="18214548" y="11496908"/>
              <a:ext cx="811086" cy="6602"/>
            </a:xfrm>
            <a:prstGeom prst="straightConnector1">
              <a:avLst/>
            </a:prstGeom>
            <a:ln w="76200">
              <a:headEnd type="triangle"/>
              <a:tailEnd type="triangle"/>
            </a:ln>
          </p:spPr>
          <p:style>
            <a:lnRef idx="3">
              <a:schemeClr val="accent3"/>
            </a:lnRef>
            <a:fillRef idx="0">
              <a:schemeClr val="accent3"/>
            </a:fillRef>
            <a:effectRef idx="2">
              <a:schemeClr val="accent3"/>
            </a:effectRef>
            <a:fontRef idx="minor">
              <a:schemeClr val="tx1"/>
            </a:fontRef>
          </p:style>
        </p:cxnSp>
        <p:cxnSp>
          <p:nvCxnSpPr>
            <p:cNvPr id="43" name="Connecteur droit avec flèche 42"/>
            <p:cNvCxnSpPr>
              <a:stCxn id="36" idx="3"/>
              <a:endCxn id="26" idx="1"/>
            </p:cNvCxnSpPr>
            <p:nvPr/>
          </p:nvCxnSpPr>
          <p:spPr>
            <a:xfrm>
              <a:off x="11874865" y="2474986"/>
              <a:ext cx="7132136" cy="42056"/>
            </a:xfrm>
            <a:prstGeom prst="straightConnector1">
              <a:avLst/>
            </a:prstGeom>
            <a:ln w="76200">
              <a:headEnd type="triangle"/>
              <a:tailEnd type="triangle"/>
            </a:ln>
          </p:spPr>
          <p:style>
            <a:lnRef idx="3">
              <a:schemeClr val="accent3"/>
            </a:lnRef>
            <a:fillRef idx="0">
              <a:schemeClr val="accent3"/>
            </a:fillRef>
            <a:effectRef idx="2">
              <a:schemeClr val="accent3"/>
            </a:effectRef>
            <a:fontRef idx="minor">
              <a:schemeClr val="tx1"/>
            </a:fontRef>
          </p:style>
        </p:cxnSp>
      </p:grpSp>
      <p:pic>
        <p:nvPicPr>
          <p:cNvPr id="8" name="Image 7"/>
          <p:cNvPicPr>
            <a:picLocks noChangeAspect="1"/>
          </p:cNvPicPr>
          <p:nvPr/>
        </p:nvPicPr>
        <p:blipFill>
          <a:blip r:embed="rId3">
            <a:clrChange>
              <a:clrFrom>
                <a:srgbClr val="FFFFFF"/>
              </a:clrFrom>
              <a:clrTo>
                <a:srgbClr val="FFFFFF">
                  <a:alpha val="0"/>
                </a:srgbClr>
              </a:clrTo>
            </a:clrChange>
          </a:blip>
          <a:stretch>
            <a:fillRect/>
          </a:stretch>
        </p:blipFill>
        <p:spPr>
          <a:xfrm>
            <a:off x="16546303" y="3775574"/>
            <a:ext cx="797867" cy="797867"/>
          </a:xfrm>
          <a:prstGeom prst="rect">
            <a:avLst/>
          </a:prstGeom>
        </p:spPr>
      </p:pic>
      <p:pic>
        <p:nvPicPr>
          <p:cNvPr id="42" name="Image 41"/>
          <p:cNvPicPr>
            <a:picLocks noChangeAspect="1"/>
          </p:cNvPicPr>
          <p:nvPr/>
        </p:nvPicPr>
        <p:blipFill>
          <a:blip r:embed="rId3">
            <a:clrChange>
              <a:clrFrom>
                <a:srgbClr val="FFFFFF"/>
              </a:clrFrom>
              <a:clrTo>
                <a:srgbClr val="FFFFFF">
                  <a:alpha val="0"/>
                </a:srgbClr>
              </a:clrTo>
            </a:clrChange>
          </a:blip>
          <a:stretch>
            <a:fillRect/>
          </a:stretch>
        </p:blipFill>
        <p:spPr>
          <a:xfrm>
            <a:off x="16563813" y="5625238"/>
            <a:ext cx="797867" cy="797867"/>
          </a:xfrm>
          <a:prstGeom prst="rect">
            <a:avLst/>
          </a:prstGeom>
        </p:spPr>
      </p:pic>
      <p:pic>
        <p:nvPicPr>
          <p:cNvPr id="5" name="Image 4"/>
          <p:cNvPicPr>
            <a:picLocks noChangeAspect="1"/>
          </p:cNvPicPr>
          <p:nvPr/>
        </p:nvPicPr>
        <p:blipFill>
          <a:blip r:embed="rId4"/>
          <a:stretch>
            <a:fillRect/>
          </a:stretch>
        </p:blipFill>
        <p:spPr>
          <a:xfrm>
            <a:off x="21926492" y="396711"/>
            <a:ext cx="1744053" cy="1514637"/>
          </a:xfrm>
          <a:prstGeom prst="rect">
            <a:avLst/>
          </a:prstGeom>
        </p:spPr>
      </p:pic>
      <p:sp>
        <p:nvSpPr>
          <p:cNvPr id="39" name="ZoneTexte 38">
            <a:extLst>
              <a:ext uri="{FF2B5EF4-FFF2-40B4-BE49-F238E27FC236}">
                <a16:creationId xmlns:a16="http://schemas.microsoft.com/office/drawing/2014/main" id="{F9EB69CE-2285-4733-A143-AC157C9DACE1}"/>
              </a:ext>
            </a:extLst>
          </p:cNvPr>
          <p:cNvSpPr txBox="1"/>
          <p:nvPr/>
        </p:nvSpPr>
        <p:spPr>
          <a:xfrm>
            <a:off x="8281245" y="12570478"/>
            <a:ext cx="15835172" cy="400110"/>
          </a:xfrm>
          <a:prstGeom prst="rect">
            <a:avLst/>
          </a:prstGeom>
          <a:noFill/>
        </p:spPr>
        <p:txBody>
          <a:bodyPr wrap="square" rtlCol="0">
            <a:spAutoFit/>
          </a:bodyPr>
          <a:lstStyle/>
          <a:p>
            <a:r>
              <a:rPr lang="fr-FR" sz="2000" dirty="0">
                <a:solidFill>
                  <a:srgbClr val="0C4392"/>
                </a:solidFill>
                <a:latin typeface="Segoe UI" panose="020B0502040204020203" pitchFamily="34" charset="0"/>
                <a:cs typeface="Segoe UI" panose="020B0502040204020203" pitchFamily="34" charset="0"/>
              </a:rPr>
              <a:t>https://moss-si.cm-cic.fr/Sites/D00116/Documentation/_layouts/15/DocIdRedir.aspx?ID=PJQFUVHKSAJQ-1373287592-186912</a:t>
            </a:r>
          </a:p>
        </p:txBody>
      </p:sp>
    </p:spTree>
    <p:extLst>
      <p:ext uri="{BB962C8B-B14F-4D97-AF65-F5344CB8AC3E}">
        <p14:creationId xmlns:p14="http://schemas.microsoft.com/office/powerpoint/2010/main" val="27295938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fontAlgn="ctr"/>
            <a:r>
              <a:rPr lang="fr-FR" dirty="0">
                <a:solidFill>
                  <a:srgbClr val="01398C"/>
                </a:solidFill>
              </a:rPr>
              <a:t>Ecosystème CADI</a:t>
            </a:r>
            <a:endParaRPr lang="fr-FR" sz="3200" dirty="0"/>
          </a:p>
        </p:txBody>
      </p:sp>
      <p:sp>
        <p:nvSpPr>
          <p:cNvPr id="3" name="Espace réservé du pied de page 2"/>
          <p:cNvSpPr>
            <a:spLocks noGrp="1"/>
          </p:cNvSpPr>
          <p:nvPr>
            <p:ph type="ftr" sz="quarter" idx="11"/>
          </p:nvPr>
        </p:nvSpPr>
        <p:spPr/>
        <p:txBody>
          <a:bodyPr/>
          <a:lstStyle/>
          <a:p>
            <a:r>
              <a:rPr lang="fr-FR"/>
              <a:t>Présentation fonctionnelle de CADI – Classification : Interne</a:t>
            </a:r>
            <a:endParaRPr lang="fr-FR" dirty="0"/>
          </a:p>
        </p:txBody>
      </p:sp>
      <p:sp>
        <p:nvSpPr>
          <p:cNvPr id="4" name="Espace réservé du numéro de diapositive 3"/>
          <p:cNvSpPr>
            <a:spLocks noGrp="1"/>
          </p:cNvSpPr>
          <p:nvPr>
            <p:ph type="sldNum" sz="quarter" idx="12"/>
          </p:nvPr>
        </p:nvSpPr>
        <p:spPr/>
        <p:txBody>
          <a:bodyPr/>
          <a:lstStyle/>
          <a:p>
            <a:fld id="{3EE1DE5A-27D4-4895-8E04-340D57AD09FB}" type="slidenum">
              <a:rPr lang="fr-FR" smtClean="0"/>
              <a:pPr/>
              <a:t>13</a:t>
            </a:fld>
            <a:endParaRPr lang="fr-FR"/>
          </a:p>
        </p:txBody>
      </p:sp>
      <p:sp>
        <p:nvSpPr>
          <p:cNvPr id="5" name="Espace réservé du texte 4"/>
          <p:cNvSpPr>
            <a:spLocks noGrp="1"/>
          </p:cNvSpPr>
          <p:nvPr>
            <p:ph type="body" sz="quarter" idx="13"/>
          </p:nvPr>
        </p:nvSpPr>
        <p:spPr>
          <a:xfrm>
            <a:off x="1426932" y="2348446"/>
            <a:ext cx="22063075" cy="9622365"/>
          </a:xfrm>
        </p:spPr>
        <p:txBody>
          <a:bodyPr/>
          <a:lstStyle/>
          <a:p>
            <a:pPr lvl="1"/>
            <a:r>
              <a:rPr lang="fr-FR" dirty="0"/>
              <a:t>GJUG = </a:t>
            </a:r>
            <a:r>
              <a:rPr lang="fr-FR" b="1" dirty="0"/>
              <a:t>G</a:t>
            </a:r>
            <a:r>
              <a:rPr lang="fr-FR" dirty="0"/>
              <a:t>estion des </a:t>
            </a:r>
            <a:r>
              <a:rPr lang="fr-FR" b="1" dirty="0" err="1"/>
              <a:t>JU</a:t>
            </a:r>
            <a:r>
              <a:rPr lang="fr-FR" dirty="0" err="1"/>
              <a:t>stificatifs</a:t>
            </a:r>
            <a:r>
              <a:rPr lang="fr-FR" dirty="0"/>
              <a:t> en </a:t>
            </a:r>
            <a:r>
              <a:rPr lang="fr-FR" b="1" dirty="0" err="1"/>
              <a:t>G</a:t>
            </a:r>
            <a:r>
              <a:rPr lang="fr-FR" dirty="0" err="1"/>
              <a:t>ed</a:t>
            </a:r>
            <a:endParaRPr lang="fr-FR" dirty="0"/>
          </a:p>
          <a:p>
            <a:pPr lvl="2"/>
            <a:r>
              <a:rPr lang="fr-FR" dirty="0"/>
              <a:t>Dossier créé au début du parcours de souscription client.</a:t>
            </a:r>
          </a:p>
          <a:p>
            <a:pPr lvl="2"/>
            <a:r>
              <a:rPr lang="fr-FR" dirty="0"/>
              <a:t>Il contient toutes les informations relatives aux justificatifs nécessaires à l’instruction en cours.</a:t>
            </a:r>
          </a:p>
          <a:p>
            <a:pPr lvl="2"/>
            <a:r>
              <a:rPr lang="fr-FR" dirty="0"/>
              <a:t>GJUG est l’un des appelants de CADI pour déclencher la LDD pour les agents d’acceptation de Cofidis.</a:t>
            </a:r>
          </a:p>
          <a:p>
            <a:pPr lvl="2"/>
            <a:r>
              <a:rPr lang="fr-FR" dirty="0"/>
              <a:t>Suite à la LDD, la conformité des justificatifs présents dans le dossier GJUG est mise à jour.</a:t>
            </a:r>
          </a:p>
          <a:p>
            <a:pPr lvl="2"/>
            <a:endParaRPr lang="fr-FR" dirty="0"/>
          </a:p>
          <a:p>
            <a:pPr lvl="1"/>
            <a:r>
              <a:rPr lang="fr-FR" dirty="0"/>
              <a:t>SUPJUG = </a:t>
            </a:r>
            <a:r>
              <a:rPr lang="fr-FR" b="1" dirty="0"/>
              <a:t>S</a:t>
            </a:r>
            <a:r>
              <a:rPr lang="fr-FR" dirty="0"/>
              <a:t>uivi et </a:t>
            </a:r>
            <a:r>
              <a:rPr lang="fr-FR" b="1" dirty="0" err="1"/>
              <a:t>UP</a:t>
            </a:r>
            <a:r>
              <a:rPr lang="fr-FR" dirty="0" err="1"/>
              <a:t>load</a:t>
            </a:r>
            <a:r>
              <a:rPr lang="fr-FR" dirty="0"/>
              <a:t> des </a:t>
            </a:r>
            <a:r>
              <a:rPr lang="fr-FR" b="1" dirty="0" err="1"/>
              <a:t>JU</a:t>
            </a:r>
            <a:r>
              <a:rPr lang="fr-FR" dirty="0" err="1"/>
              <a:t>stificatifs</a:t>
            </a:r>
            <a:r>
              <a:rPr lang="fr-FR" dirty="0"/>
              <a:t> en </a:t>
            </a:r>
            <a:r>
              <a:rPr lang="fr-FR" b="1" dirty="0" err="1"/>
              <a:t>G</a:t>
            </a:r>
            <a:r>
              <a:rPr lang="fr-FR" dirty="0" err="1"/>
              <a:t>ed</a:t>
            </a:r>
            <a:r>
              <a:rPr lang="fr-FR" dirty="0"/>
              <a:t> par le client via Internet</a:t>
            </a:r>
          </a:p>
          <a:p>
            <a:pPr lvl="2"/>
            <a:r>
              <a:rPr lang="fr-FR" dirty="0"/>
              <a:t>Le composant SUPJUG va permettre au client d’</a:t>
            </a:r>
            <a:r>
              <a:rPr lang="fr-FR" dirty="0" err="1"/>
              <a:t>uplaoder</a:t>
            </a:r>
            <a:r>
              <a:rPr lang="fr-FR" dirty="0"/>
              <a:t> le ou les documents par le client.</a:t>
            </a:r>
          </a:p>
          <a:p>
            <a:pPr lvl="2"/>
            <a:r>
              <a:rPr lang="fr-FR" dirty="0"/>
              <a:t>SUPJUG est l’un des appelants de CADI pour déclencher des analyses OCR.</a:t>
            </a:r>
          </a:p>
          <a:p>
            <a:pPr lvl="2"/>
            <a:r>
              <a:rPr lang="fr-FR" dirty="0"/>
              <a:t>SUPJUG utilise le motif de conformité retourné par l’analyse pour faire poursuivre le parcours ou demander un nouvel </a:t>
            </a:r>
            <a:r>
              <a:rPr lang="fr-FR" dirty="0" err="1"/>
              <a:t>upload</a:t>
            </a:r>
            <a:r>
              <a:rPr lang="fr-FR" dirty="0"/>
              <a:t> de document au client.</a:t>
            </a:r>
          </a:p>
          <a:p>
            <a:pPr lvl="2"/>
            <a:endParaRPr lang="fr-FR" dirty="0"/>
          </a:p>
          <a:p>
            <a:pPr lvl="1"/>
            <a:r>
              <a:rPr lang="fr-FR" dirty="0"/>
              <a:t>Tiers = Référentiels des clients</a:t>
            </a:r>
          </a:p>
          <a:p>
            <a:pPr lvl="2"/>
            <a:r>
              <a:rPr lang="fr-FR" dirty="0"/>
              <a:t>Utilisé lors des analyses pour récupérer les données du tiers (si l’identifiant a été transmis en entrée de l’appel). Permet d’effectuer les contrôles de cohérence entre ces données et les données lues par l’OCR.</a:t>
            </a:r>
          </a:p>
          <a:p>
            <a:pPr lvl="2"/>
            <a:r>
              <a:rPr lang="fr-FR" dirty="0"/>
              <a:t>Utilisé par l’intermédiaire de la base de validation pour mettre à jour les données des tiers suite à ce qui a été renseigné dans la LDD.</a:t>
            </a:r>
          </a:p>
          <a:p>
            <a:pPr lvl="2"/>
            <a:endParaRPr lang="fr-FR" dirty="0"/>
          </a:p>
          <a:p>
            <a:pPr lvl="1"/>
            <a:r>
              <a:rPr lang="fr-FR" dirty="0"/>
              <a:t>TRTA = Traitement Action</a:t>
            </a:r>
          </a:p>
          <a:p>
            <a:pPr lvl="2"/>
            <a:r>
              <a:rPr lang="fr-FR" dirty="0"/>
              <a:t>Regroupe l’ensemble des actions à réaliser par un conseiller.</a:t>
            </a:r>
          </a:p>
          <a:p>
            <a:pPr lvl="2"/>
            <a:r>
              <a:rPr lang="fr-FR" dirty="0"/>
              <a:t>Permet d’accéder aux LDD en attente d’analyse.</a:t>
            </a:r>
          </a:p>
          <a:p>
            <a:pPr lvl="2"/>
            <a:endParaRPr lang="fr-FR" dirty="0"/>
          </a:p>
          <a:p>
            <a:pPr lvl="1"/>
            <a:r>
              <a:rPr lang="fr-FR" dirty="0"/>
              <a:t>FRD2 = Référentiel des alertes fraudes</a:t>
            </a:r>
          </a:p>
          <a:p>
            <a:pPr lvl="2"/>
            <a:r>
              <a:rPr lang="fr-FR" dirty="0"/>
              <a:t>Cette application recense toutes alertes de suspicion de fraude dans tous les </a:t>
            </a:r>
            <a:r>
              <a:rPr lang="fr-FR" dirty="0" err="1"/>
              <a:t>process</a:t>
            </a:r>
            <a:r>
              <a:rPr lang="fr-FR" dirty="0"/>
              <a:t> EI.</a:t>
            </a:r>
          </a:p>
          <a:p>
            <a:pPr lvl="2"/>
            <a:r>
              <a:rPr lang="fr-FR" dirty="0"/>
              <a:t>Pour CADI c’est au niveau de la LDD que des alertes peuvent être positionnées si le motif « Fraude » est saisi par le conseiller d’acceptation</a:t>
            </a:r>
          </a:p>
          <a:p>
            <a:pPr lvl="2"/>
            <a:endParaRPr lang="fr-FR" dirty="0"/>
          </a:p>
          <a:p>
            <a:pPr lvl="2"/>
            <a:endParaRPr lang="fr-FR" dirty="0"/>
          </a:p>
          <a:p>
            <a:pPr lvl="1"/>
            <a:endParaRPr lang="fr-FR" dirty="0"/>
          </a:p>
          <a:p>
            <a:pPr lvl="1"/>
            <a:endParaRPr lang="fr-FR" dirty="0"/>
          </a:p>
          <a:p>
            <a:pPr lvl="1"/>
            <a:endParaRPr lang="fr-FR" dirty="0"/>
          </a:p>
          <a:p>
            <a:pPr lvl="1"/>
            <a:endParaRPr lang="fr-FR" dirty="0"/>
          </a:p>
          <a:p>
            <a:pPr lvl="1"/>
            <a:endParaRPr lang="fr-FR" dirty="0"/>
          </a:p>
          <a:p>
            <a:pPr lvl="1"/>
            <a:endParaRPr lang="fr-FR" dirty="0"/>
          </a:p>
          <a:p>
            <a:pPr lvl="1"/>
            <a:endParaRPr lang="fr-FR" dirty="0"/>
          </a:p>
          <a:p>
            <a:pPr marL="982662" lvl="3" indent="0">
              <a:buNone/>
            </a:pPr>
            <a:endParaRPr lang="fr-FR" dirty="0"/>
          </a:p>
          <a:p>
            <a:pPr lvl="2"/>
            <a:endParaRPr lang="fr-FR" dirty="0"/>
          </a:p>
          <a:p>
            <a:pPr lvl="3"/>
            <a:endParaRPr lang="fr-FR" dirty="0"/>
          </a:p>
          <a:p>
            <a:pPr lvl="3"/>
            <a:endParaRPr lang="fr-FR" dirty="0"/>
          </a:p>
        </p:txBody>
      </p:sp>
      <p:sp>
        <p:nvSpPr>
          <p:cNvPr id="6" name="Espace réservé du texte 5"/>
          <p:cNvSpPr>
            <a:spLocks noGrp="1"/>
          </p:cNvSpPr>
          <p:nvPr>
            <p:ph type="body" sz="quarter" idx="14"/>
          </p:nvPr>
        </p:nvSpPr>
        <p:spPr>
          <a:xfrm>
            <a:off x="1672755" y="1642533"/>
            <a:ext cx="22063075" cy="705913"/>
          </a:xfrm>
        </p:spPr>
        <p:txBody>
          <a:bodyPr/>
          <a:lstStyle/>
          <a:p>
            <a:r>
              <a:rPr lang="fr-FR" dirty="0"/>
              <a:t>Les applications autour de CADI</a:t>
            </a:r>
          </a:p>
        </p:txBody>
      </p:sp>
      <p:pic>
        <p:nvPicPr>
          <p:cNvPr id="10" name="Image 9"/>
          <p:cNvPicPr>
            <a:picLocks noChangeAspect="1"/>
          </p:cNvPicPr>
          <p:nvPr/>
        </p:nvPicPr>
        <p:blipFill>
          <a:blip r:embed="rId3"/>
          <a:stretch>
            <a:fillRect/>
          </a:stretch>
        </p:blipFill>
        <p:spPr>
          <a:xfrm>
            <a:off x="16924535" y="1995489"/>
            <a:ext cx="7057118" cy="3127778"/>
          </a:xfrm>
          <a:prstGeom prst="rect">
            <a:avLst/>
          </a:prstGeom>
        </p:spPr>
      </p:pic>
      <p:pic>
        <p:nvPicPr>
          <p:cNvPr id="9" name="Image 8"/>
          <p:cNvPicPr>
            <a:picLocks noChangeAspect="1"/>
          </p:cNvPicPr>
          <p:nvPr/>
        </p:nvPicPr>
        <p:blipFill>
          <a:blip r:embed="rId4"/>
          <a:stretch>
            <a:fillRect/>
          </a:stretch>
        </p:blipFill>
        <p:spPr>
          <a:xfrm>
            <a:off x="21926492" y="396711"/>
            <a:ext cx="1744053" cy="1514637"/>
          </a:xfrm>
          <a:prstGeom prst="rect">
            <a:avLst/>
          </a:prstGeom>
        </p:spPr>
      </p:pic>
      <p:sp>
        <p:nvSpPr>
          <p:cNvPr id="11" name="ZoneTexte 10">
            <a:extLst>
              <a:ext uri="{FF2B5EF4-FFF2-40B4-BE49-F238E27FC236}">
                <a16:creationId xmlns:a16="http://schemas.microsoft.com/office/drawing/2014/main" id="{F60CE915-E5C1-46C2-8B26-298AAF3779EB}"/>
              </a:ext>
            </a:extLst>
          </p:cNvPr>
          <p:cNvSpPr txBox="1"/>
          <p:nvPr/>
        </p:nvSpPr>
        <p:spPr>
          <a:xfrm>
            <a:off x="8281245" y="12570478"/>
            <a:ext cx="15835172" cy="400110"/>
          </a:xfrm>
          <a:prstGeom prst="rect">
            <a:avLst/>
          </a:prstGeom>
          <a:noFill/>
        </p:spPr>
        <p:txBody>
          <a:bodyPr wrap="square" rtlCol="0">
            <a:spAutoFit/>
          </a:bodyPr>
          <a:lstStyle/>
          <a:p>
            <a:r>
              <a:rPr lang="fr-FR" sz="2000" dirty="0">
                <a:solidFill>
                  <a:srgbClr val="0C4392"/>
                </a:solidFill>
                <a:latin typeface="Segoe UI" panose="020B0502040204020203" pitchFamily="34" charset="0"/>
                <a:cs typeface="Segoe UI" panose="020B0502040204020203" pitchFamily="34" charset="0"/>
              </a:rPr>
              <a:t>https://moss-si.cm-cic.fr/Sites/D00116/Documentation/_layouts/15/DocIdRedir.aspx?ID=PJQFUVHKSAJQ-1373287592-186912</a:t>
            </a:r>
          </a:p>
        </p:txBody>
      </p:sp>
    </p:spTree>
    <p:extLst>
      <p:ext uri="{BB962C8B-B14F-4D97-AF65-F5344CB8AC3E}">
        <p14:creationId xmlns:p14="http://schemas.microsoft.com/office/powerpoint/2010/main" val="8311582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 coins arrondis 1">
            <a:extLst>
              <a:ext uri="{FF2B5EF4-FFF2-40B4-BE49-F238E27FC236}">
                <a16:creationId xmlns:a16="http://schemas.microsoft.com/office/drawing/2014/main" id="{957E322D-41FC-423F-9D1D-7CD264CF2BC3}"/>
              </a:ext>
            </a:extLst>
          </p:cNvPr>
          <p:cNvSpPr/>
          <p:nvPr/>
        </p:nvSpPr>
        <p:spPr>
          <a:xfrm>
            <a:off x="15472900" y="2092058"/>
            <a:ext cx="7714514" cy="2753492"/>
          </a:xfrm>
          <a:prstGeom prst="roundRect">
            <a:avLst/>
          </a:prstGeom>
          <a:solidFill>
            <a:schemeClr val="bg1"/>
          </a:solidFill>
          <a:ln>
            <a:solidFill>
              <a:srgbClr val="00206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sp>
        <p:nvSpPr>
          <p:cNvPr id="4" name="Espace réservé du numéro de diapositive 3">
            <a:extLst>
              <a:ext uri="{FF2B5EF4-FFF2-40B4-BE49-F238E27FC236}">
                <a16:creationId xmlns:a16="http://schemas.microsoft.com/office/drawing/2014/main" id="{9FCB6B3B-D192-4194-BBD6-686E0C3AAFE5}"/>
              </a:ext>
            </a:extLst>
          </p:cNvPr>
          <p:cNvSpPr>
            <a:spLocks noGrp="1"/>
          </p:cNvSpPr>
          <p:nvPr>
            <p:ph type="sldNum" sz="quarter" idx="12"/>
          </p:nvPr>
        </p:nvSpPr>
        <p:spPr/>
        <p:txBody>
          <a:bodyPr/>
          <a:lstStyle/>
          <a:p>
            <a:pPr defTabSz="1828800"/>
            <a:fld id="{3EE1DE5A-27D4-4895-8E04-340D57AD09FB}" type="slidenum">
              <a:rPr lang="fr-FR"/>
              <a:pPr defTabSz="1828800"/>
              <a:t>14</a:t>
            </a:fld>
            <a:endParaRPr lang="fr-FR"/>
          </a:p>
        </p:txBody>
      </p:sp>
      <p:sp>
        <p:nvSpPr>
          <p:cNvPr id="6" name="Rectangle 1">
            <a:extLst>
              <a:ext uri="{FF2B5EF4-FFF2-40B4-BE49-F238E27FC236}">
                <a16:creationId xmlns:a16="http://schemas.microsoft.com/office/drawing/2014/main" id="{A52E14D6-1C02-42C3-9DB0-E026D1606E57}"/>
              </a:ext>
            </a:extLst>
          </p:cNvPr>
          <p:cNvSpPr>
            <a:spLocks noChangeArrowheads="1"/>
          </p:cNvSpPr>
          <p:nvPr/>
        </p:nvSpPr>
        <p:spPr bwMode="auto">
          <a:xfrm>
            <a:off x="1" y="-369330"/>
            <a:ext cx="369397"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82880" tIns="91440" rIns="182880" bIns="91440" numCol="1" anchor="ctr" anchorCtr="0" compatLnSpc="1">
            <a:prstTxWarp prst="textNoShape">
              <a:avLst/>
            </a:prstTxWarp>
            <a:spAutoFit/>
          </a:bodyPr>
          <a:lstStyle/>
          <a:p>
            <a:pPr defTabSz="1828800"/>
            <a:endParaRPr lang="fr-FR" sz="3600">
              <a:solidFill>
                <a:prstClr val="black"/>
              </a:solidFill>
              <a:latin typeface="Calibri" panose="020F0502020204030204"/>
            </a:endParaRPr>
          </a:p>
        </p:txBody>
      </p:sp>
      <p:sp>
        <p:nvSpPr>
          <p:cNvPr id="15" name="Rectangle : coins arrondis 14">
            <a:extLst>
              <a:ext uri="{FF2B5EF4-FFF2-40B4-BE49-F238E27FC236}">
                <a16:creationId xmlns:a16="http://schemas.microsoft.com/office/drawing/2014/main" id="{716ABBA3-F977-4288-B7D5-433B9596EF22}"/>
              </a:ext>
            </a:extLst>
          </p:cNvPr>
          <p:cNvSpPr/>
          <p:nvPr/>
        </p:nvSpPr>
        <p:spPr>
          <a:xfrm>
            <a:off x="15472900" y="10780622"/>
            <a:ext cx="8028495" cy="1376807"/>
          </a:xfrm>
          <a:prstGeom prst="roundRect">
            <a:avLst/>
          </a:prstGeom>
          <a:solidFill>
            <a:schemeClr val="bg1">
              <a:lumMod val="95000"/>
            </a:schemeClr>
          </a:solidFill>
          <a:ln w="285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lstStyle/>
          <a:p>
            <a:pPr algn="ctr" defTabSz="1828800"/>
            <a:r>
              <a:rPr lang="fr-FR" sz="2400" dirty="0">
                <a:solidFill>
                  <a:srgbClr val="4472C4">
                    <a:lumMod val="75000"/>
                  </a:srgbClr>
                </a:solidFill>
                <a:latin typeface="Segoe UI" panose="020B0502040204020203" pitchFamily="34" charset="0"/>
                <a:cs typeface="Segoe UI" panose="020B0502040204020203" pitchFamily="34" charset="0"/>
              </a:rPr>
              <a:t>x</a:t>
            </a:r>
          </a:p>
        </p:txBody>
      </p:sp>
      <p:grpSp>
        <p:nvGrpSpPr>
          <p:cNvPr id="20" name="Groupe 19">
            <a:extLst>
              <a:ext uri="{FF2B5EF4-FFF2-40B4-BE49-F238E27FC236}">
                <a16:creationId xmlns:a16="http://schemas.microsoft.com/office/drawing/2014/main" id="{CD7605DE-8087-4908-B2C6-CCA142D5B291}"/>
              </a:ext>
            </a:extLst>
          </p:cNvPr>
          <p:cNvGrpSpPr/>
          <p:nvPr/>
        </p:nvGrpSpPr>
        <p:grpSpPr>
          <a:xfrm>
            <a:off x="10343015" y="474376"/>
            <a:ext cx="4693390" cy="1425514"/>
            <a:chOff x="7883999" y="144434"/>
            <a:chExt cx="2346695" cy="712757"/>
          </a:xfrm>
        </p:grpSpPr>
        <p:sp>
          <p:nvSpPr>
            <p:cNvPr id="43" name="Rectangle à coins arrondis 16">
              <a:extLst>
                <a:ext uri="{FF2B5EF4-FFF2-40B4-BE49-F238E27FC236}">
                  <a16:creationId xmlns:a16="http://schemas.microsoft.com/office/drawing/2014/main" id="{8B5AA266-82DD-4892-9754-0688D8C6427B}"/>
                </a:ext>
              </a:extLst>
            </p:cNvPr>
            <p:cNvSpPr/>
            <p:nvPr/>
          </p:nvSpPr>
          <p:spPr>
            <a:xfrm>
              <a:off x="7883999" y="144434"/>
              <a:ext cx="2346695" cy="712757"/>
            </a:xfrm>
            <a:prstGeom prst="roundRect">
              <a:avLst/>
            </a:prstGeom>
            <a:solidFill>
              <a:schemeClr val="accent4">
                <a:lumMod val="20000"/>
                <a:lumOff val="8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endParaRPr lang="fr-FR" sz="1800" i="1" dirty="0">
                <a:solidFill>
                  <a:prstClr val="white">
                    <a:lumMod val="50000"/>
                  </a:prstClr>
                </a:solidFill>
                <a:latin typeface="Segoe UI" panose="020B0502040204020203" pitchFamily="34" charset="0"/>
                <a:cs typeface="Segoe UI" panose="020B0502040204020203" pitchFamily="34" charset="0"/>
              </a:endParaRPr>
            </a:p>
            <a:p>
              <a:pPr algn="ctr" defTabSz="1828800"/>
              <a:endParaRPr lang="fr-FR" sz="1800" i="1" dirty="0">
                <a:solidFill>
                  <a:prstClr val="white">
                    <a:lumMod val="50000"/>
                  </a:prstClr>
                </a:solidFill>
                <a:latin typeface="Segoe UI" panose="020B0502040204020203" pitchFamily="34" charset="0"/>
                <a:cs typeface="Segoe UI" panose="020B0502040204020203" pitchFamily="34" charset="0"/>
              </a:endParaRPr>
            </a:p>
            <a:p>
              <a:pPr algn="ctr" defTabSz="1828800"/>
              <a:r>
                <a:rPr lang="fr-FR" sz="1800" i="1" dirty="0">
                  <a:solidFill>
                    <a:prstClr val="white">
                      <a:lumMod val="50000"/>
                    </a:prstClr>
                  </a:solidFill>
                  <a:latin typeface="Segoe UI" panose="020B0502040204020203" pitchFamily="34" charset="0"/>
                  <a:cs typeface="Segoe UI" panose="020B0502040204020203" pitchFamily="34" charset="0"/>
                </a:rPr>
                <a:t>Les rectangles jaunes vous aident à remplir le document. </a:t>
              </a:r>
              <a:r>
                <a:rPr lang="fr-FR" sz="1800" b="1" i="1" dirty="0">
                  <a:solidFill>
                    <a:prstClr val="white">
                      <a:lumMod val="50000"/>
                    </a:prstClr>
                  </a:solidFill>
                  <a:latin typeface="Segoe UI" panose="020B0502040204020203" pitchFamily="34" charset="0"/>
                  <a:cs typeface="Segoe UI" panose="020B0502040204020203" pitchFamily="34" charset="0"/>
                </a:rPr>
                <a:t>Supprimez-les dans la version finalisée du document.</a:t>
              </a:r>
            </a:p>
          </p:txBody>
        </p:sp>
        <p:pic>
          <p:nvPicPr>
            <p:cNvPr id="44" name="Image 43">
              <a:extLst>
                <a:ext uri="{FF2B5EF4-FFF2-40B4-BE49-F238E27FC236}">
                  <a16:creationId xmlns:a16="http://schemas.microsoft.com/office/drawing/2014/main" id="{D9486E57-A186-4A20-B707-A0D72AFFEFB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5095" t="27707" r="48975" b="28753"/>
            <a:stretch/>
          </p:blipFill>
          <p:spPr>
            <a:xfrm>
              <a:off x="8916294" y="150122"/>
              <a:ext cx="216784" cy="305141"/>
            </a:xfrm>
            <a:prstGeom prst="rect">
              <a:avLst/>
            </a:prstGeom>
          </p:spPr>
        </p:pic>
      </p:grpSp>
      <p:sp>
        <p:nvSpPr>
          <p:cNvPr id="47" name="Titre 1">
            <a:extLst>
              <a:ext uri="{FF2B5EF4-FFF2-40B4-BE49-F238E27FC236}">
                <a16:creationId xmlns:a16="http://schemas.microsoft.com/office/drawing/2014/main" id="{0290000D-E6A3-4D0E-9B16-B9D43538F455}"/>
              </a:ext>
            </a:extLst>
          </p:cNvPr>
          <p:cNvSpPr>
            <a:spLocks noGrp="1"/>
          </p:cNvSpPr>
          <p:nvPr>
            <p:ph type="title"/>
          </p:nvPr>
        </p:nvSpPr>
        <p:spPr>
          <a:xfrm>
            <a:off x="1672754" y="590026"/>
            <a:ext cx="22033912" cy="1052508"/>
          </a:xfrm>
        </p:spPr>
        <p:txBody>
          <a:bodyPr/>
          <a:lstStyle/>
          <a:p>
            <a:r>
              <a:rPr lang="fr-FR" dirty="0"/>
              <a:t>[nom de l’application]</a:t>
            </a:r>
          </a:p>
        </p:txBody>
      </p:sp>
      <p:grpSp>
        <p:nvGrpSpPr>
          <p:cNvPr id="64" name="Groupe 63">
            <a:extLst>
              <a:ext uri="{FF2B5EF4-FFF2-40B4-BE49-F238E27FC236}">
                <a16:creationId xmlns:a16="http://schemas.microsoft.com/office/drawing/2014/main" id="{32B632E8-121D-4320-B552-528DA3296C70}"/>
              </a:ext>
            </a:extLst>
          </p:cNvPr>
          <p:cNvGrpSpPr/>
          <p:nvPr/>
        </p:nvGrpSpPr>
        <p:grpSpPr>
          <a:xfrm>
            <a:off x="17997201" y="2566699"/>
            <a:ext cx="2979891" cy="1425514"/>
            <a:chOff x="7883999" y="144434"/>
            <a:chExt cx="2346695" cy="712757"/>
          </a:xfrm>
        </p:grpSpPr>
        <p:sp>
          <p:nvSpPr>
            <p:cNvPr id="65" name="Rectangle à coins arrondis 16">
              <a:extLst>
                <a:ext uri="{FF2B5EF4-FFF2-40B4-BE49-F238E27FC236}">
                  <a16:creationId xmlns:a16="http://schemas.microsoft.com/office/drawing/2014/main" id="{5CD17D12-E9AB-49E3-B6F0-E8B92ABA02D1}"/>
                </a:ext>
              </a:extLst>
            </p:cNvPr>
            <p:cNvSpPr/>
            <p:nvPr/>
          </p:nvSpPr>
          <p:spPr>
            <a:xfrm>
              <a:off x="7883999" y="144434"/>
              <a:ext cx="2346695" cy="712757"/>
            </a:xfrm>
            <a:prstGeom prst="roundRect">
              <a:avLst/>
            </a:prstGeom>
            <a:solidFill>
              <a:schemeClr val="accent4">
                <a:lumMod val="20000"/>
                <a:lumOff val="8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endParaRPr lang="fr-FR" sz="1800" i="1" dirty="0">
                <a:solidFill>
                  <a:prstClr val="white">
                    <a:lumMod val="50000"/>
                  </a:prstClr>
                </a:solidFill>
                <a:latin typeface="Segoe UI" panose="020B0502040204020203" pitchFamily="34" charset="0"/>
                <a:cs typeface="Segoe UI" panose="020B0502040204020203" pitchFamily="34" charset="0"/>
              </a:endParaRPr>
            </a:p>
            <a:p>
              <a:pPr algn="ctr" defTabSz="1828800"/>
              <a:endParaRPr lang="fr-FR" sz="1800" i="1" dirty="0">
                <a:solidFill>
                  <a:prstClr val="white">
                    <a:lumMod val="50000"/>
                  </a:prstClr>
                </a:solidFill>
                <a:latin typeface="Segoe UI" panose="020B0502040204020203" pitchFamily="34" charset="0"/>
                <a:cs typeface="Segoe UI" panose="020B0502040204020203" pitchFamily="34" charset="0"/>
              </a:endParaRPr>
            </a:p>
            <a:p>
              <a:pPr algn="ctr" defTabSz="1828800"/>
              <a:r>
                <a:rPr lang="fr-FR" sz="1800" b="1" i="1" dirty="0">
                  <a:solidFill>
                    <a:prstClr val="white">
                      <a:lumMod val="50000"/>
                    </a:prstClr>
                  </a:solidFill>
                  <a:latin typeface="Segoe UI" panose="020B0502040204020203" pitchFamily="34" charset="0"/>
                  <a:cs typeface="Segoe UI" panose="020B0502040204020203" pitchFamily="34" charset="0"/>
                </a:rPr>
                <a:t>Capture d’écran / illustration optionnelle</a:t>
              </a:r>
            </a:p>
          </p:txBody>
        </p:sp>
        <p:pic>
          <p:nvPicPr>
            <p:cNvPr id="66" name="Image 65">
              <a:extLst>
                <a:ext uri="{FF2B5EF4-FFF2-40B4-BE49-F238E27FC236}">
                  <a16:creationId xmlns:a16="http://schemas.microsoft.com/office/drawing/2014/main" id="{7CCB8F6F-6248-46ED-BEC2-0C1D8D5A2A97}"/>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5095" t="27707" r="48975" b="28753"/>
            <a:stretch/>
          </p:blipFill>
          <p:spPr>
            <a:xfrm>
              <a:off x="8866254" y="265496"/>
              <a:ext cx="330965" cy="213354"/>
            </a:xfrm>
            <a:prstGeom prst="rect">
              <a:avLst/>
            </a:prstGeom>
          </p:spPr>
        </p:pic>
      </p:grpSp>
      <p:sp>
        <p:nvSpPr>
          <p:cNvPr id="7" name="Rectangle : avec coins arrondis en haut 6">
            <a:extLst>
              <a:ext uri="{FF2B5EF4-FFF2-40B4-BE49-F238E27FC236}">
                <a16:creationId xmlns:a16="http://schemas.microsoft.com/office/drawing/2014/main" id="{75C53B9B-A533-433A-8A15-753FE5546FDC}"/>
              </a:ext>
            </a:extLst>
          </p:cNvPr>
          <p:cNvSpPr/>
          <p:nvPr/>
        </p:nvSpPr>
        <p:spPr>
          <a:xfrm>
            <a:off x="15482180" y="10351712"/>
            <a:ext cx="8019050" cy="552163"/>
          </a:xfrm>
          <a:prstGeom prst="round2SameRect">
            <a:avLst/>
          </a:prstGeom>
          <a:solidFill>
            <a:srgbClr val="003A8D"/>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DOCUMENTATION PIXIS DISPONIBLE</a:t>
            </a:r>
          </a:p>
        </p:txBody>
      </p:sp>
      <p:sp>
        <p:nvSpPr>
          <p:cNvPr id="53" name="Rectangle : coins arrondis 52">
            <a:extLst>
              <a:ext uri="{FF2B5EF4-FFF2-40B4-BE49-F238E27FC236}">
                <a16:creationId xmlns:a16="http://schemas.microsoft.com/office/drawing/2014/main" id="{6A0ED574-1D2E-42AD-8F87-18BFBECA67B8}"/>
              </a:ext>
            </a:extLst>
          </p:cNvPr>
          <p:cNvSpPr/>
          <p:nvPr/>
        </p:nvSpPr>
        <p:spPr>
          <a:xfrm>
            <a:off x="9177867" y="2586040"/>
            <a:ext cx="5156469" cy="724932"/>
          </a:xfrm>
          <a:prstGeom prst="roundRect">
            <a:avLst/>
          </a:prstGeom>
          <a:solidFill>
            <a:schemeClr val="bg1">
              <a:lumMod val="95000"/>
            </a:schemeClr>
          </a:solidFill>
          <a:ln w="285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lstStyle/>
          <a:p>
            <a:pPr algn="ctr" defTabSz="1828800"/>
            <a:r>
              <a:rPr lang="fr-FR" sz="2400" dirty="0">
                <a:solidFill>
                  <a:srgbClr val="4472C4">
                    <a:lumMod val="75000"/>
                  </a:srgbClr>
                </a:solidFill>
                <a:latin typeface="Segoe UI" panose="020B0502040204020203" pitchFamily="34" charset="0"/>
                <a:cs typeface="Segoe UI" panose="020B0502040204020203" pitchFamily="34" charset="0"/>
              </a:rPr>
              <a:t>x</a:t>
            </a:r>
          </a:p>
        </p:txBody>
      </p:sp>
      <p:sp>
        <p:nvSpPr>
          <p:cNvPr id="56" name="Rectangle : avec coins arrondis en haut 55">
            <a:extLst>
              <a:ext uri="{FF2B5EF4-FFF2-40B4-BE49-F238E27FC236}">
                <a16:creationId xmlns:a16="http://schemas.microsoft.com/office/drawing/2014/main" id="{636E7100-1996-4D25-93EB-58FAAE118161}"/>
              </a:ext>
            </a:extLst>
          </p:cNvPr>
          <p:cNvSpPr/>
          <p:nvPr/>
        </p:nvSpPr>
        <p:spPr>
          <a:xfrm>
            <a:off x="9188724" y="2080986"/>
            <a:ext cx="5150403" cy="552163"/>
          </a:xfrm>
          <a:prstGeom prst="round2SameRect">
            <a:avLst/>
          </a:prstGeom>
          <a:solidFill>
            <a:srgbClr val="003A8D"/>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UTILISATEURS</a:t>
            </a:r>
          </a:p>
        </p:txBody>
      </p:sp>
      <p:sp>
        <p:nvSpPr>
          <p:cNvPr id="57" name="Rectangle à coins arrondis 16">
            <a:extLst>
              <a:ext uri="{FF2B5EF4-FFF2-40B4-BE49-F238E27FC236}">
                <a16:creationId xmlns:a16="http://schemas.microsoft.com/office/drawing/2014/main" id="{689F41E9-FDC9-4B86-B9E6-856DFFA22259}"/>
              </a:ext>
            </a:extLst>
          </p:cNvPr>
          <p:cNvSpPr/>
          <p:nvPr/>
        </p:nvSpPr>
        <p:spPr>
          <a:xfrm>
            <a:off x="10293624" y="2808824"/>
            <a:ext cx="2924954" cy="1059365"/>
          </a:xfrm>
          <a:prstGeom prst="roundRect">
            <a:avLst/>
          </a:prstGeom>
          <a:solidFill>
            <a:schemeClr val="accent4">
              <a:lumMod val="20000"/>
              <a:lumOff val="8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        </a:t>
            </a:r>
          </a:p>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Renseigner les utilisateurs de l’application : La CF, les clients, ETVS, l’OCR F</a:t>
            </a:r>
          </a:p>
          <a:p>
            <a:pPr algn="ctr" defTabSz="1828800"/>
            <a:endParaRPr lang="fr-FR" sz="1600" i="1" dirty="0">
              <a:solidFill>
                <a:prstClr val="white">
                  <a:lumMod val="50000"/>
                </a:prstClr>
              </a:solidFill>
              <a:latin typeface="Segoe UI" panose="020B0502040204020203" pitchFamily="34" charset="0"/>
              <a:cs typeface="Segoe UI" panose="020B0502040204020203" pitchFamily="34" charset="0"/>
            </a:endParaRPr>
          </a:p>
        </p:txBody>
      </p:sp>
      <p:sp>
        <p:nvSpPr>
          <p:cNvPr id="58" name="Rectangle : coins arrondis 57">
            <a:extLst>
              <a:ext uri="{FF2B5EF4-FFF2-40B4-BE49-F238E27FC236}">
                <a16:creationId xmlns:a16="http://schemas.microsoft.com/office/drawing/2014/main" id="{C45F9DE3-1B7F-4E3A-A98B-8CE59695A6DE}"/>
              </a:ext>
            </a:extLst>
          </p:cNvPr>
          <p:cNvSpPr/>
          <p:nvPr/>
        </p:nvSpPr>
        <p:spPr>
          <a:xfrm>
            <a:off x="1036578" y="4649468"/>
            <a:ext cx="13425871" cy="724932"/>
          </a:xfrm>
          <a:prstGeom prst="roundRect">
            <a:avLst/>
          </a:prstGeom>
          <a:solidFill>
            <a:schemeClr val="accent4">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lstStyle/>
          <a:p>
            <a:r>
              <a:rPr lang="fr-FR" sz="2000" b="1" dirty="0">
                <a:solidFill>
                  <a:srgbClr val="002060"/>
                </a:solidFill>
                <a:latin typeface="Segoe UI" panose="020B0502040204020203" pitchFamily="34" charset="0"/>
                <a:cs typeface="Segoe UI" panose="020B0502040204020203" pitchFamily="34" charset="0"/>
              </a:rPr>
              <a:t>x</a:t>
            </a:r>
          </a:p>
        </p:txBody>
      </p:sp>
      <p:sp>
        <p:nvSpPr>
          <p:cNvPr id="60" name="Rectangle : avec coins arrondis en haut 59">
            <a:extLst>
              <a:ext uri="{FF2B5EF4-FFF2-40B4-BE49-F238E27FC236}">
                <a16:creationId xmlns:a16="http://schemas.microsoft.com/office/drawing/2014/main" id="{CCD0CBC3-FF89-4C3A-AFA0-DDF439CE8E0A}"/>
              </a:ext>
            </a:extLst>
          </p:cNvPr>
          <p:cNvSpPr/>
          <p:nvPr/>
        </p:nvSpPr>
        <p:spPr>
          <a:xfrm>
            <a:off x="1045858" y="4069770"/>
            <a:ext cx="13410076" cy="552163"/>
          </a:xfrm>
          <a:prstGeom prst="round2SameRect">
            <a:avLst/>
          </a:prstGeom>
          <a:solidFill>
            <a:srgbClr val="003A8D"/>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OBJECTIF DE L’APPLICATION</a:t>
            </a:r>
          </a:p>
        </p:txBody>
      </p:sp>
      <p:sp>
        <p:nvSpPr>
          <p:cNvPr id="61" name="Rectangle à coins arrondis 16">
            <a:extLst>
              <a:ext uri="{FF2B5EF4-FFF2-40B4-BE49-F238E27FC236}">
                <a16:creationId xmlns:a16="http://schemas.microsoft.com/office/drawing/2014/main" id="{F8EE4742-F97A-415B-B072-018A75D4402F}"/>
              </a:ext>
            </a:extLst>
          </p:cNvPr>
          <p:cNvSpPr/>
          <p:nvPr/>
        </p:nvSpPr>
        <p:spPr>
          <a:xfrm>
            <a:off x="2316812" y="8362595"/>
            <a:ext cx="2924954" cy="1059365"/>
          </a:xfrm>
          <a:prstGeom prst="roundRect">
            <a:avLst/>
          </a:prstGeom>
          <a:solidFill>
            <a:schemeClr val="accent4">
              <a:lumMod val="20000"/>
              <a:lumOff val="8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        </a:t>
            </a:r>
          </a:p>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Indiquer si le composant est en « En cadrage », « En développement », « En production »</a:t>
            </a:r>
          </a:p>
          <a:p>
            <a:pPr algn="ctr" defTabSz="1828800"/>
            <a:endParaRPr lang="fr-FR" sz="1600" i="1" dirty="0">
              <a:solidFill>
                <a:prstClr val="white">
                  <a:lumMod val="50000"/>
                </a:prstClr>
              </a:solidFill>
              <a:latin typeface="Segoe UI" panose="020B0502040204020203" pitchFamily="34" charset="0"/>
              <a:cs typeface="Segoe UI" panose="020B0502040204020203" pitchFamily="34" charset="0"/>
            </a:endParaRPr>
          </a:p>
        </p:txBody>
      </p:sp>
      <p:sp>
        <p:nvSpPr>
          <p:cNvPr id="63" name="Rectangle : avec coins arrondis en haut 62">
            <a:extLst>
              <a:ext uri="{FF2B5EF4-FFF2-40B4-BE49-F238E27FC236}">
                <a16:creationId xmlns:a16="http://schemas.microsoft.com/office/drawing/2014/main" id="{2A53A2F3-BC77-4A6F-A615-9C91E45C06BB}"/>
              </a:ext>
            </a:extLst>
          </p:cNvPr>
          <p:cNvSpPr/>
          <p:nvPr/>
        </p:nvSpPr>
        <p:spPr>
          <a:xfrm>
            <a:off x="1045858" y="5544009"/>
            <a:ext cx="13410076" cy="552163"/>
          </a:xfrm>
          <a:prstGeom prst="round2SameRect">
            <a:avLst/>
          </a:prstGeom>
          <a:solidFill>
            <a:srgbClr val="003A8D"/>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PRINCIPALES FONCTIONALITES COUVERTES</a:t>
            </a:r>
          </a:p>
        </p:txBody>
      </p:sp>
      <p:sp>
        <p:nvSpPr>
          <p:cNvPr id="12" name="Rectangle 11">
            <a:extLst>
              <a:ext uri="{FF2B5EF4-FFF2-40B4-BE49-F238E27FC236}">
                <a16:creationId xmlns:a16="http://schemas.microsoft.com/office/drawing/2014/main" id="{C3E3F160-A3CB-4CB4-A38E-84C342ECD411}"/>
              </a:ext>
            </a:extLst>
          </p:cNvPr>
          <p:cNvSpPr/>
          <p:nvPr/>
        </p:nvSpPr>
        <p:spPr>
          <a:xfrm>
            <a:off x="1045858" y="6096172"/>
            <a:ext cx="13425871" cy="6052285"/>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0" tIns="360000" rIns="180000" bIns="180000" rtlCol="0" anchor="t"/>
          <a:lstStyle/>
          <a:p>
            <a:r>
              <a:rPr lang="fr-FR" sz="2000" dirty="0">
                <a:solidFill>
                  <a:srgbClr val="002060"/>
                </a:solidFill>
                <a:latin typeface="Segoe UI" panose="020B0502040204020203" pitchFamily="34" charset="0"/>
                <a:cs typeface="Segoe UI" panose="020B0502040204020203" pitchFamily="34" charset="0"/>
              </a:rPr>
              <a:t>Les principales fonctionnalités couvertes par l’outil sont :</a:t>
            </a:r>
          </a:p>
          <a:p>
            <a:pPr marL="342900" indent="-342900">
              <a:buFont typeface="Arial" panose="020B0604020202020204" pitchFamily="34" charset="0"/>
              <a:buChar char="•"/>
            </a:pPr>
            <a:r>
              <a:rPr lang="fr-FR" sz="2000" dirty="0">
                <a:solidFill>
                  <a:srgbClr val="002060"/>
                </a:solidFill>
                <a:latin typeface="Segoe UI" panose="020B0502040204020203" pitchFamily="34" charset="0"/>
                <a:cs typeface="Segoe UI" panose="020B0502040204020203" pitchFamily="34" charset="0"/>
              </a:rPr>
              <a:t>Service 1</a:t>
            </a:r>
          </a:p>
          <a:p>
            <a:pPr marL="342900" indent="-342900">
              <a:buFont typeface="Arial" panose="020B0604020202020204" pitchFamily="34" charset="0"/>
              <a:buChar char="•"/>
            </a:pPr>
            <a:r>
              <a:rPr lang="fr-FR" sz="2000" dirty="0">
                <a:solidFill>
                  <a:srgbClr val="002060"/>
                </a:solidFill>
                <a:latin typeface="Segoe UI" panose="020B0502040204020203" pitchFamily="34" charset="0"/>
                <a:cs typeface="Segoe UI" panose="020B0502040204020203" pitchFamily="34" charset="0"/>
              </a:rPr>
              <a:t>Service 2</a:t>
            </a:r>
          </a:p>
          <a:p>
            <a:pPr marL="342900" indent="-342900">
              <a:buFont typeface="Arial" panose="020B0604020202020204" pitchFamily="34" charset="0"/>
              <a:buChar char="•"/>
            </a:pPr>
            <a:r>
              <a:rPr lang="fr-FR" sz="2000" dirty="0">
                <a:solidFill>
                  <a:srgbClr val="002060"/>
                </a:solidFill>
                <a:latin typeface="Segoe UI" panose="020B0502040204020203" pitchFamily="34" charset="0"/>
                <a:cs typeface="Segoe UI" panose="020B0502040204020203" pitchFamily="34" charset="0"/>
              </a:rPr>
              <a:t>Service 3</a:t>
            </a:r>
          </a:p>
          <a:p>
            <a:pPr marL="342900" indent="-342900">
              <a:buFont typeface="Arial" panose="020B0604020202020204" pitchFamily="34" charset="0"/>
              <a:buChar char="•"/>
            </a:pPr>
            <a:r>
              <a:rPr lang="fr-FR" sz="2000" dirty="0" err="1">
                <a:solidFill>
                  <a:srgbClr val="002060"/>
                </a:solidFill>
                <a:latin typeface="Segoe UI" panose="020B0502040204020203" pitchFamily="34" charset="0"/>
                <a:cs typeface="Segoe UI" panose="020B0502040204020203" pitchFamily="34" charset="0"/>
              </a:rPr>
              <a:t>etc</a:t>
            </a:r>
            <a:endParaRPr lang="fr-FR" sz="2000" dirty="0">
              <a:solidFill>
                <a:srgbClr val="002060"/>
              </a:solidFill>
              <a:latin typeface="Segoe UI" panose="020B0502040204020203" pitchFamily="34" charset="0"/>
              <a:cs typeface="Segoe UI" panose="020B0502040204020203" pitchFamily="34" charset="0"/>
            </a:endParaRPr>
          </a:p>
        </p:txBody>
      </p:sp>
      <p:sp>
        <p:nvSpPr>
          <p:cNvPr id="67" name="Rectangle à coins arrondis 16">
            <a:extLst>
              <a:ext uri="{FF2B5EF4-FFF2-40B4-BE49-F238E27FC236}">
                <a16:creationId xmlns:a16="http://schemas.microsoft.com/office/drawing/2014/main" id="{06C66D1A-405B-4201-AE84-E6E3709F08DE}"/>
              </a:ext>
            </a:extLst>
          </p:cNvPr>
          <p:cNvSpPr/>
          <p:nvPr/>
        </p:nvSpPr>
        <p:spPr>
          <a:xfrm>
            <a:off x="4419184" y="7371511"/>
            <a:ext cx="6544857" cy="1889673"/>
          </a:xfrm>
          <a:prstGeom prst="roundRect">
            <a:avLst/>
          </a:prstGeom>
          <a:solidFill>
            <a:schemeClr val="accent4">
              <a:lumMod val="20000"/>
              <a:lumOff val="8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        </a:t>
            </a:r>
          </a:p>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Reprenez tout ou partie des services de rang 2 du catalogue couverts par le composant quand celui-ci est mentionné dans le catalogue</a:t>
            </a:r>
          </a:p>
          <a:p>
            <a:pPr algn="ctr" defTabSz="1828800"/>
            <a:endParaRPr lang="fr-FR" sz="1600" i="1" dirty="0">
              <a:solidFill>
                <a:prstClr val="white">
                  <a:lumMod val="50000"/>
                </a:prstClr>
              </a:solidFill>
              <a:latin typeface="Segoe UI" panose="020B0502040204020203" pitchFamily="34" charset="0"/>
              <a:cs typeface="Segoe UI" panose="020B0502040204020203" pitchFamily="34" charset="0"/>
            </a:endParaRPr>
          </a:p>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Apportez des compléments d’information si nécessaire</a:t>
            </a:r>
          </a:p>
          <a:p>
            <a:pPr algn="ctr" defTabSz="1828800"/>
            <a:endParaRPr lang="fr-FR" sz="1600" i="1" dirty="0">
              <a:solidFill>
                <a:prstClr val="white">
                  <a:lumMod val="50000"/>
                </a:prstClr>
              </a:solidFill>
              <a:latin typeface="Segoe UI" panose="020B0502040204020203" pitchFamily="34" charset="0"/>
              <a:cs typeface="Segoe UI" panose="020B0502040204020203" pitchFamily="34" charset="0"/>
            </a:endParaRPr>
          </a:p>
          <a:p>
            <a:pPr algn="ctr" defTabSz="1828800"/>
            <a:r>
              <a:rPr lang="fr-FR" sz="1600" i="1" dirty="0">
                <a:solidFill>
                  <a:prstClr val="white">
                    <a:lumMod val="50000"/>
                  </a:prstClr>
                </a:solidFill>
                <a:latin typeface="Segoe UI" panose="020B0502040204020203" pitchFamily="34" charset="0"/>
                <a:cs typeface="Segoe UI" panose="020B0502040204020203" pitchFamily="34" charset="0"/>
                <a:hlinkClick r:id="rId4"/>
              </a:rPr>
              <a:t>Lien vers le catalogue de service</a:t>
            </a:r>
            <a:endParaRPr lang="fr-FR" sz="1600" i="1" dirty="0">
              <a:solidFill>
                <a:prstClr val="white">
                  <a:lumMod val="50000"/>
                </a:prstClr>
              </a:solidFill>
              <a:latin typeface="Segoe UI" panose="020B0502040204020203" pitchFamily="34" charset="0"/>
              <a:cs typeface="Segoe UI" panose="020B0502040204020203" pitchFamily="34" charset="0"/>
            </a:endParaRPr>
          </a:p>
          <a:p>
            <a:pPr algn="ctr" defTabSz="1828800"/>
            <a:endParaRPr lang="fr-FR" sz="1600" i="1" dirty="0">
              <a:solidFill>
                <a:prstClr val="white">
                  <a:lumMod val="50000"/>
                </a:prstClr>
              </a:solidFill>
              <a:latin typeface="Segoe UI" panose="020B0502040204020203" pitchFamily="34" charset="0"/>
              <a:cs typeface="Segoe UI" panose="020B0502040204020203" pitchFamily="34" charset="0"/>
            </a:endParaRPr>
          </a:p>
        </p:txBody>
      </p:sp>
      <p:sp>
        <p:nvSpPr>
          <p:cNvPr id="68" name="Rectangle : coins arrondis 67">
            <a:extLst>
              <a:ext uri="{FF2B5EF4-FFF2-40B4-BE49-F238E27FC236}">
                <a16:creationId xmlns:a16="http://schemas.microsoft.com/office/drawing/2014/main" id="{C8D41EA9-E961-441D-947B-D312F8608EC9}"/>
              </a:ext>
            </a:extLst>
          </p:cNvPr>
          <p:cNvSpPr/>
          <p:nvPr/>
        </p:nvSpPr>
        <p:spPr>
          <a:xfrm>
            <a:off x="1130978" y="2586040"/>
            <a:ext cx="4961579" cy="724932"/>
          </a:xfrm>
          <a:prstGeom prst="roundRect">
            <a:avLst/>
          </a:prstGeom>
          <a:solidFill>
            <a:schemeClr val="bg1">
              <a:lumMod val="95000"/>
            </a:schemeClr>
          </a:solidFill>
          <a:ln w="2857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lstStyle/>
          <a:p>
            <a:pPr algn="ctr" defTabSz="1828800"/>
            <a:r>
              <a:rPr lang="fr-FR" sz="2400" dirty="0">
                <a:solidFill>
                  <a:srgbClr val="4472C4">
                    <a:lumMod val="75000"/>
                  </a:srgbClr>
                </a:solidFill>
                <a:latin typeface="Segoe UI" panose="020B0502040204020203" pitchFamily="34" charset="0"/>
                <a:cs typeface="Segoe UI" panose="020B0502040204020203" pitchFamily="34" charset="0"/>
              </a:rPr>
              <a:t>x</a:t>
            </a:r>
          </a:p>
        </p:txBody>
      </p:sp>
      <p:sp>
        <p:nvSpPr>
          <p:cNvPr id="69" name="Rectangle : avec coins arrondis en haut 68">
            <a:extLst>
              <a:ext uri="{FF2B5EF4-FFF2-40B4-BE49-F238E27FC236}">
                <a16:creationId xmlns:a16="http://schemas.microsoft.com/office/drawing/2014/main" id="{84AB77D7-CC47-4A16-962C-C97F5BB54437}"/>
              </a:ext>
            </a:extLst>
          </p:cNvPr>
          <p:cNvSpPr/>
          <p:nvPr/>
        </p:nvSpPr>
        <p:spPr>
          <a:xfrm>
            <a:off x="1140258" y="2080986"/>
            <a:ext cx="4955742" cy="552163"/>
          </a:xfrm>
          <a:prstGeom prst="round2SameRect">
            <a:avLst/>
          </a:prstGeom>
          <a:solidFill>
            <a:srgbClr val="003A8D"/>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CODE ROBIN</a:t>
            </a:r>
          </a:p>
        </p:txBody>
      </p:sp>
      <p:sp>
        <p:nvSpPr>
          <p:cNvPr id="70" name="Rectangle à coins arrondis 16">
            <a:extLst>
              <a:ext uri="{FF2B5EF4-FFF2-40B4-BE49-F238E27FC236}">
                <a16:creationId xmlns:a16="http://schemas.microsoft.com/office/drawing/2014/main" id="{DF7749AD-B6FC-452D-9875-2C8F9B3218FC}"/>
              </a:ext>
            </a:extLst>
          </p:cNvPr>
          <p:cNvSpPr/>
          <p:nvPr/>
        </p:nvSpPr>
        <p:spPr>
          <a:xfrm>
            <a:off x="1590462" y="2644358"/>
            <a:ext cx="2924954" cy="1059365"/>
          </a:xfrm>
          <a:prstGeom prst="roundRect">
            <a:avLst/>
          </a:prstGeom>
          <a:solidFill>
            <a:schemeClr val="accent4">
              <a:lumMod val="20000"/>
              <a:lumOff val="8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        </a:t>
            </a:r>
          </a:p>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Indiquer le code robin auquel est rattaché l’application</a:t>
            </a:r>
          </a:p>
        </p:txBody>
      </p:sp>
      <p:sp>
        <p:nvSpPr>
          <p:cNvPr id="71" name="Rectangle à coins arrondis 16">
            <a:extLst>
              <a:ext uri="{FF2B5EF4-FFF2-40B4-BE49-F238E27FC236}">
                <a16:creationId xmlns:a16="http://schemas.microsoft.com/office/drawing/2014/main" id="{DF5818AB-E78F-43A3-A437-1F9677028CC5}"/>
              </a:ext>
            </a:extLst>
          </p:cNvPr>
          <p:cNvSpPr/>
          <p:nvPr/>
        </p:nvSpPr>
        <p:spPr>
          <a:xfrm>
            <a:off x="4486364" y="4722206"/>
            <a:ext cx="6544857" cy="576792"/>
          </a:xfrm>
          <a:prstGeom prst="roundRect">
            <a:avLst/>
          </a:prstGeom>
          <a:solidFill>
            <a:schemeClr val="accent4">
              <a:lumMod val="20000"/>
              <a:lumOff val="8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        </a:t>
            </a:r>
          </a:p>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En quelques mots, à quoi sert l’outil</a:t>
            </a:r>
          </a:p>
          <a:p>
            <a:pPr algn="ctr" defTabSz="1828800"/>
            <a:endParaRPr lang="fr-FR" sz="1600" i="1" dirty="0">
              <a:solidFill>
                <a:prstClr val="white">
                  <a:lumMod val="50000"/>
                </a:prstClr>
              </a:solidFill>
              <a:latin typeface="Segoe UI" panose="020B0502040204020203" pitchFamily="34" charset="0"/>
              <a:cs typeface="Segoe UI" panose="020B0502040204020203" pitchFamily="34" charset="0"/>
            </a:endParaRPr>
          </a:p>
        </p:txBody>
      </p:sp>
      <p:sp>
        <p:nvSpPr>
          <p:cNvPr id="72" name="Rectangle : avec coins arrondis en haut 71">
            <a:extLst>
              <a:ext uri="{FF2B5EF4-FFF2-40B4-BE49-F238E27FC236}">
                <a16:creationId xmlns:a16="http://schemas.microsoft.com/office/drawing/2014/main" id="{ADDA173F-2211-4F1D-ADAE-1CFFCF57AF80}"/>
              </a:ext>
            </a:extLst>
          </p:cNvPr>
          <p:cNvSpPr/>
          <p:nvPr/>
        </p:nvSpPr>
        <p:spPr>
          <a:xfrm>
            <a:off x="15472900" y="5544009"/>
            <a:ext cx="8028496" cy="552163"/>
          </a:xfrm>
          <a:prstGeom prst="round2SameRect">
            <a:avLst/>
          </a:prstGeom>
          <a:solidFill>
            <a:srgbClr val="003A8D"/>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bg1"/>
                </a:solidFill>
                <a:latin typeface="Segoe UI" panose="020B0502040204020203" pitchFamily="34" charset="0"/>
                <a:cs typeface="Segoe UI" panose="020B0502040204020203" pitchFamily="34" charset="0"/>
              </a:rPr>
              <a:t>CARACTERISTIQUES TECHNIQUES</a:t>
            </a:r>
          </a:p>
        </p:txBody>
      </p:sp>
      <p:sp>
        <p:nvSpPr>
          <p:cNvPr id="73" name="Rectangle 72">
            <a:extLst>
              <a:ext uri="{FF2B5EF4-FFF2-40B4-BE49-F238E27FC236}">
                <a16:creationId xmlns:a16="http://schemas.microsoft.com/office/drawing/2014/main" id="{4AA1214B-2ECA-484B-8A83-EEC068A5E25B}"/>
              </a:ext>
            </a:extLst>
          </p:cNvPr>
          <p:cNvSpPr/>
          <p:nvPr/>
        </p:nvSpPr>
        <p:spPr>
          <a:xfrm>
            <a:off x="15472900" y="6096172"/>
            <a:ext cx="8028495" cy="3001986"/>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0" tIns="360000" rIns="180000" bIns="180000" rtlCol="0" anchor="t"/>
          <a:lstStyle/>
          <a:p>
            <a:pPr marL="342900" indent="-342900">
              <a:buFont typeface="Arial" panose="020B0604020202020204" pitchFamily="34" charset="0"/>
              <a:buChar char="•"/>
            </a:pPr>
            <a:r>
              <a:rPr lang="fr-FR" sz="2000" dirty="0">
                <a:solidFill>
                  <a:srgbClr val="002060"/>
                </a:solidFill>
                <a:latin typeface="Segoe UI" panose="020B0502040204020203" pitchFamily="34" charset="0"/>
                <a:cs typeface="Segoe UI" panose="020B0502040204020203" pitchFamily="34" charset="0"/>
              </a:rPr>
              <a:t>A </a:t>
            </a:r>
          </a:p>
          <a:p>
            <a:pPr marL="342900" indent="-342900">
              <a:buFont typeface="Arial" panose="020B0604020202020204" pitchFamily="34" charset="0"/>
              <a:buChar char="•"/>
            </a:pPr>
            <a:r>
              <a:rPr lang="fr-FR" sz="2000" dirty="0">
                <a:solidFill>
                  <a:srgbClr val="002060"/>
                </a:solidFill>
                <a:latin typeface="Segoe UI" panose="020B0502040204020203" pitchFamily="34" charset="0"/>
                <a:cs typeface="Segoe UI" panose="020B0502040204020203" pitchFamily="34" charset="0"/>
              </a:rPr>
              <a:t>B</a:t>
            </a:r>
          </a:p>
          <a:p>
            <a:pPr marL="342900" indent="-342900">
              <a:buFont typeface="Arial" panose="020B0604020202020204" pitchFamily="34" charset="0"/>
              <a:buChar char="•"/>
            </a:pPr>
            <a:r>
              <a:rPr lang="fr-FR" sz="2000" dirty="0">
                <a:solidFill>
                  <a:srgbClr val="002060"/>
                </a:solidFill>
                <a:latin typeface="Segoe UI" panose="020B0502040204020203" pitchFamily="34" charset="0"/>
                <a:cs typeface="Segoe UI" panose="020B0502040204020203" pitchFamily="34" charset="0"/>
              </a:rPr>
              <a:t>C</a:t>
            </a:r>
          </a:p>
          <a:p>
            <a:pPr marL="342900" indent="-342900">
              <a:buFont typeface="Arial" panose="020B0604020202020204" pitchFamily="34" charset="0"/>
              <a:buChar char="•"/>
            </a:pPr>
            <a:r>
              <a:rPr lang="fr-FR" sz="2000" dirty="0">
                <a:solidFill>
                  <a:srgbClr val="002060"/>
                </a:solidFill>
                <a:latin typeface="Segoe UI" panose="020B0502040204020203" pitchFamily="34" charset="0"/>
                <a:cs typeface="Segoe UI" panose="020B0502040204020203" pitchFamily="34" charset="0"/>
              </a:rPr>
              <a:t>D</a:t>
            </a:r>
          </a:p>
        </p:txBody>
      </p:sp>
      <p:sp>
        <p:nvSpPr>
          <p:cNvPr id="76" name="Rectangle à coins arrondis 16">
            <a:extLst>
              <a:ext uri="{FF2B5EF4-FFF2-40B4-BE49-F238E27FC236}">
                <a16:creationId xmlns:a16="http://schemas.microsoft.com/office/drawing/2014/main" id="{24364494-C0B8-4B84-9F9C-48355E9A997C}"/>
              </a:ext>
            </a:extLst>
          </p:cNvPr>
          <p:cNvSpPr/>
          <p:nvPr/>
        </p:nvSpPr>
        <p:spPr>
          <a:xfrm>
            <a:off x="16739201" y="6545696"/>
            <a:ext cx="6451052" cy="1059365"/>
          </a:xfrm>
          <a:prstGeom prst="roundRect">
            <a:avLst/>
          </a:prstGeom>
          <a:solidFill>
            <a:schemeClr val="accent4">
              <a:lumMod val="20000"/>
              <a:lumOff val="8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        </a:t>
            </a:r>
          </a:p>
          <a:p>
            <a:pPr algn="ctr" defTabSz="1828800"/>
            <a:r>
              <a:rPr lang="fr-FR" sz="1600" i="1" dirty="0">
                <a:solidFill>
                  <a:prstClr val="white">
                    <a:lumMod val="50000"/>
                  </a:prstClr>
                </a:solidFill>
                <a:highlight>
                  <a:srgbClr val="FFFF00"/>
                </a:highlight>
                <a:latin typeface="Segoe UI" panose="020B0502040204020203" pitchFamily="34" charset="0"/>
                <a:cs typeface="Segoe UI" panose="020B0502040204020203" pitchFamily="34" charset="0"/>
              </a:rPr>
              <a:t>A COMPLETER</a:t>
            </a:r>
          </a:p>
          <a:p>
            <a:pPr algn="ctr" defTabSz="1828800"/>
            <a:r>
              <a:rPr lang="fr-FR" sz="1600" i="1" dirty="0">
                <a:solidFill>
                  <a:prstClr val="white">
                    <a:lumMod val="50000"/>
                  </a:prstClr>
                </a:solidFill>
                <a:highlight>
                  <a:srgbClr val="FFFF00"/>
                </a:highlight>
                <a:latin typeface="Segoe UI" panose="020B0502040204020203" pitchFamily="34" charset="0"/>
                <a:cs typeface="Segoe UI" panose="020B0502040204020203" pitchFamily="34" charset="0"/>
              </a:rPr>
              <a:t>Api et son utilité, Webservice, les protocoles, ressources SAS nécessaires</a:t>
            </a:r>
          </a:p>
          <a:p>
            <a:pPr algn="ctr" defTabSz="1828800"/>
            <a:endParaRPr lang="fr-FR" sz="1600" i="1" dirty="0">
              <a:solidFill>
                <a:prstClr val="white">
                  <a:lumMod val="50000"/>
                </a:prstClr>
              </a:solidFill>
              <a:latin typeface="Segoe UI" panose="020B0502040204020203" pitchFamily="34" charset="0"/>
              <a:cs typeface="Segoe UI" panose="020B0502040204020203" pitchFamily="34" charset="0"/>
            </a:endParaRPr>
          </a:p>
        </p:txBody>
      </p:sp>
      <p:sp>
        <p:nvSpPr>
          <p:cNvPr id="81" name="Rectangle : coins arrondis 80">
            <a:extLst>
              <a:ext uri="{FF2B5EF4-FFF2-40B4-BE49-F238E27FC236}">
                <a16:creationId xmlns:a16="http://schemas.microsoft.com/office/drawing/2014/main" id="{67013385-87B0-4F8E-85C9-F264CC8C401F}"/>
              </a:ext>
            </a:extLst>
          </p:cNvPr>
          <p:cNvSpPr/>
          <p:nvPr/>
        </p:nvSpPr>
        <p:spPr>
          <a:xfrm>
            <a:off x="15472900" y="12886269"/>
            <a:ext cx="8028495" cy="492332"/>
          </a:xfrm>
          <a:prstGeom prst="roundRect">
            <a:avLst/>
          </a:prstGeom>
          <a:solidFill>
            <a:schemeClr val="bg1"/>
          </a:solidFill>
          <a:ln w="12700">
            <a:solidFill>
              <a:schemeClr val="bg1">
                <a:lumMod val="9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lstStyle/>
          <a:p>
            <a:pPr algn="ctr" defTabSz="1828800"/>
            <a:r>
              <a:rPr lang="fr-FR" sz="2000" i="1" dirty="0">
                <a:solidFill>
                  <a:schemeClr val="bg1">
                    <a:lumMod val="50000"/>
                  </a:schemeClr>
                </a:solidFill>
                <a:latin typeface="Segoe UI" panose="020B0502040204020203" pitchFamily="34" charset="0"/>
                <a:cs typeface="Segoe UI" panose="020B0502040204020203" pitchFamily="34" charset="0"/>
              </a:rPr>
              <a:t>Date de la dernière mise à jour : jj/mm/</a:t>
            </a:r>
            <a:r>
              <a:rPr lang="fr-FR" sz="2000" i="1" dirty="0" err="1">
                <a:solidFill>
                  <a:schemeClr val="bg1">
                    <a:lumMod val="50000"/>
                  </a:schemeClr>
                </a:solidFill>
                <a:latin typeface="Segoe UI" panose="020B0502040204020203" pitchFamily="34" charset="0"/>
                <a:cs typeface="Segoe UI" panose="020B0502040204020203" pitchFamily="34" charset="0"/>
              </a:rPr>
              <a:t>aaaa</a:t>
            </a:r>
            <a:endParaRPr lang="fr-FR" sz="2000" i="1" dirty="0">
              <a:solidFill>
                <a:schemeClr val="bg1">
                  <a:lumMod val="50000"/>
                </a:schemeClr>
              </a:solidFill>
              <a:latin typeface="Segoe UI" panose="020B0502040204020203" pitchFamily="34" charset="0"/>
              <a:cs typeface="Segoe UI" panose="020B0502040204020203" pitchFamily="34" charset="0"/>
            </a:endParaRPr>
          </a:p>
        </p:txBody>
      </p:sp>
      <p:sp>
        <p:nvSpPr>
          <p:cNvPr id="83" name="Rectangle 82">
            <a:extLst>
              <a:ext uri="{FF2B5EF4-FFF2-40B4-BE49-F238E27FC236}">
                <a16:creationId xmlns:a16="http://schemas.microsoft.com/office/drawing/2014/main" id="{9E153370-8895-4B07-BCE5-B272A9CDC113}"/>
              </a:ext>
            </a:extLst>
          </p:cNvPr>
          <p:cNvSpPr/>
          <p:nvPr/>
        </p:nvSpPr>
        <p:spPr>
          <a:xfrm rot="20319618">
            <a:off x="1228330" y="8328608"/>
            <a:ext cx="20433735" cy="923330"/>
          </a:xfrm>
          <a:prstGeom prst="rect">
            <a:avLst/>
          </a:prstGeom>
          <a:noFill/>
        </p:spPr>
        <p:txBody>
          <a:bodyPr wrap="none" lIns="91440" tIns="45720" rIns="91440" bIns="45720">
            <a:spAutoFit/>
          </a:bodyPr>
          <a:lstStyle/>
          <a:p>
            <a:pPr algn="ctr"/>
            <a:r>
              <a:rPr lang="fr-FR" sz="5400" b="1" dirty="0">
                <a:ln w="22225">
                  <a:solidFill>
                    <a:schemeClr val="accent2"/>
                  </a:solidFill>
                  <a:prstDash val="solid"/>
                </a:ln>
                <a:solidFill>
                  <a:schemeClr val="accent2">
                    <a:lumMod val="40000"/>
                    <a:lumOff val="60000"/>
                  </a:schemeClr>
                </a:solidFill>
              </a:rPr>
              <a:t>Proposition du </a:t>
            </a:r>
            <a:r>
              <a:rPr lang="fr-FR" sz="5400" b="1" dirty="0" err="1">
                <a:ln w="22225">
                  <a:solidFill>
                    <a:schemeClr val="accent2"/>
                  </a:solidFill>
                  <a:prstDash val="solid"/>
                </a:ln>
                <a:solidFill>
                  <a:schemeClr val="accent2">
                    <a:lumMod val="40000"/>
                    <a:lumOff val="60000"/>
                  </a:schemeClr>
                </a:solidFill>
              </a:rPr>
              <a:t>t</a:t>
            </a:r>
            <a:r>
              <a:rPr lang="fr-FR" sz="5400" b="1" cap="none" spc="0" dirty="0" err="1">
                <a:ln w="22225">
                  <a:solidFill>
                    <a:schemeClr val="accent2"/>
                  </a:solidFill>
                  <a:prstDash val="solid"/>
                </a:ln>
                <a:solidFill>
                  <a:schemeClr val="accent2">
                    <a:lumMod val="40000"/>
                    <a:lumOff val="60000"/>
                  </a:schemeClr>
                </a:solidFill>
                <a:effectLst/>
              </a:rPr>
              <a:t>emplate</a:t>
            </a:r>
            <a:r>
              <a:rPr lang="fr-FR" sz="5400" b="1" cap="none" spc="0" dirty="0">
                <a:ln w="22225">
                  <a:solidFill>
                    <a:schemeClr val="accent2"/>
                  </a:solidFill>
                  <a:prstDash val="solid"/>
                </a:ln>
                <a:solidFill>
                  <a:schemeClr val="accent2">
                    <a:lumMod val="40000"/>
                    <a:lumOff val="60000"/>
                  </a:schemeClr>
                </a:solidFill>
                <a:effectLst/>
              </a:rPr>
              <a:t> du </a:t>
            </a:r>
            <a:r>
              <a:rPr lang="fr-FR" sz="5400" b="1" cap="none" spc="0" dirty="0" err="1">
                <a:ln w="22225">
                  <a:solidFill>
                    <a:schemeClr val="accent2"/>
                  </a:solidFill>
                  <a:prstDash val="solid"/>
                </a:ln>
                <a:solidFill>
                  <a:schemeClr val="accent2">
                    <a:lumMod val="40000"/>
                    <a:lumOff val="60000"/>
                  </a:schemeClr>
                </a:solidFill>
                <a:effectLst/>
              </a:rPr>
              <a:t>onepager</a:t>
            </a:r>
            <a:r>
              <a:rPr lang="fr-FR" sz="5400" b="1" cap="none" spc="0" dirty="0">
                <a:ln w="22225">
                  <a:solidFill>
                    <a:schemeClr val="accent2"/>
                  </a:solidFill>
                  <a:prstDash val="solid"/>
                </a:ln>
                <a:solidFill>
                  <a:schemeClr val="accent2">
                    <a:lumMod val="40000"/>
                    <a:lumOff val="60000"/>
                  </a:schemeClr>
                </a:solidFill>
                <a:effectLst/>
              </a:rPr>
              <a:t> de présentation des applications</a:t>
            </a:r>
          </a:p>
        </p:txBody>
      </p:sp>
      <p:sp>
        <p:nvSpPr>
          <p:cNvPr id="37" name="Rectangle à coins arrondis 16">
            <a:extLst>
              <a:ext uri="{FF2B5EF4-FFF2-40B4-BE49-F238E27FC236}">
                <a16:creationId xmlns:a16="http://schemas.microsoft.com/office/drawing/2014/main" id="{91D4901A-FDE5-4B6D-B268-FBB8D5C17052}"/>
              </a:ext>
            </a:extLst>
          </p:cNvPr>
          <p:cNvSpPr/>
          <p:nvPr/>
        </p:nvSpPr>
        <p:spPr>
          <a:xfrm>
            <a:off x="16403802" y="11636062"/>
            <a:ext cx="6544857" cy="407647"/>
          </a:xfrm>
          <a:prstGeom prst="roundRect">
            <a:avLst/>
          </a:prstGeom>
          <a:solidFill>
            <a:schemeClr val="accent4">
              <a:lumMod val="20000"/>
              <a:lumOff val="8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        </a:t>
            </a:r>
          </a:p>
          <a:p>
            <a:pPr algn="ctr" defTabSz="1828800"/>
            <a:r>
              <a:rPr lang="fr-FR" sz="1600" i="1" dirty="0">
                <a:solidFill>
                  <a:prstClr val="white">
                    <a:lumMod val="50000"/>
                  </a:prstClr>
                </a:solidFill>
                <a:latin typeface="Segoe UI" panose="020B0502040204020203" pitchFamily="34" charset="0"/>
                <a:cs typeface="Segoe UI" panose="020B0502040204020203" pitchFamily="34" charset="0"/>
              </a:rPr>
              <a:t>Insérer les liens vers la documentation </a:t>
            </a:r>
            <a:r>
              <a:rPr lang="fr-FR" sz="1600" i="1" dirty="0" err="1">
                <a:solidFill>
                  <a:prstClr val="white">
                    <a:lumMod val="50000"/>
                  </a:prstClr>
                </a:solidFill>
                <a:latin typeface="Segoe UI" panose="020B0502040204020203" pitchFamily="34" charset="0"/>
                <a:cs typeface="Segoe UI" panose="020B0502040204020203" pitchFamily="34" charset="0"/>
              </a:rPr>
              <a:t>Pixis</a:t>
            </a:r>
            <a:r>
              <a:rPr lang="fr-FR" sz="1600" i="1" dirty="0">
                <a:solidFill>
                  <a:prstClr val="white">
                    <a:lumMod val="50000"/>
                  </a:prstClr>
                </a:solidFill>
                <a:latin typeface="Segoe UI" panose="020B0502040204020203" pitchFamily="34" charset="0"/>
                <a:cs typeface="Segoe UI" panose="020B0502040204020203" pitchFamily="34" charset="0"/>
              </a:rPr>
              <a:t> disponible</a:t>
            </a:r>
          </a:p>
          <a:p>
            <a:pPr algn="ctr" defTabSz="1828800"/>
            <a:endParaRPr lang="fr-FR" sz="1600" i="1" dirty="0">
              <a:solidFill>
                <a:prstClr val="white">
                  <a:lumMod val="50000"/>
                </a:prstClr>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3646583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ctrTitle"/>
          </p:nvPr>
        </p:nvSpPr>
        <p:spPr/>
        <p:txBody>
          <a:bodyPr/>
          <a:lstStyle/>
          <a:p>
            <a:r>
              <a:rPr lang="fr-FR" dirty="0"/>
              <a:t>Merci.</a:t>
            </a:r>
          </a:p>
        </p:txBody>
      </p:sp>
    </p:spTree>
    <p:extLst>
      <p:ext uri="{BB962C8B-B14F-4D97-AF65-F5344CB8AC3E}">
        <p14:creationId xmlns:p14="http://schemas.microsoft.com/office/powerpoint/2010/main" val="1080970537"/>
      </p:ext>
    </p:extLst>
  </p:cSld>
  <p:clrMapOvr>
    <a:masterClrMapping/>
  </p:clrMapOvr>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hème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3A8D"/>
        </a:solidFill>
        <a:ln>
          <a:noFill/>
        </a:ln>
      </a:spPr>
      <a:bodyPr rtlCol="0" anchor="ctr"/>
      <a:lstStyle>
        <a:defPPr algn="ctr">
          <a:defRPr sz="2000" dirty="0">
            <a:solidFill>
              <a:schemeClr val="bg1"/>
            </a:solidFill>
            <a:latin typeface="Segoe UI" panose="020B0502040204020203" pitchFamily="34" charset="0"/>
            <a:cs typeface="Segoe UI" panose="020B0502040204020203"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sz="2800" dirty="0">
            <a:solidFill>
              <a:srgbClr val="0C4392"/>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TaxKeywordTaxHTField xmlns="9da6f561-6c40-462f-af3e-6833fe74929f">
      <Terms xmlns="http://schemas.microsoft.com/office/infopath/2007/PartnerControls"/>
    </TaxKeywordTaxHTField>
    <e190d8c788134483bddf2fb4f7159d4b xmlns="8ff6ca53-9990-4cf6-aa9b-81190a5c5371">
      <Terms xmlns="http://schemas.microsoft.com/office/infopath/2007/PartnerControls">
        <TermInfo xmlns="http://schemas.microsoft.com/office/infopath/2007/PartnerControls">
          <TermName xmlns="http://schemas.microsoft.com/office/infopath/2007/PartnerControls">Document</TermName>
          <TermId xmlns="http://schemas.microsoft.com/office/infopath/2007/PartnerControls">f926a2be-6740-4577-ba49-e4b230c74a1c</TermId>
        </TermInfo>
      </Terms>
    </e190d8c788134483bddf2fb4f7159d4b>
    <l1bda498d0704770a9af2e7a0565edaa xmlns="8ff6ca53-9990-4cf6-aa9b-81190a5c5371">
      <Terms xmlns="http://schemas.microsoft.com/office/infopath/2007/PartnerControls">
        <TermInfo xmlns="http://schemas.microsoft.com/office/infopath/2007/PartnerControls">
          <TermName xmlns="http://schemas.microsoft.com/office/infopath/2007/PartnerControls">10 - Interne</TermName>
          <TermId xmlns="http://schemas.microsoft.com/office/infopath/2007/PartnerControls">88571201-3d77-41d7-bf2a-abb247897d97</TermId>
        </TermInfo>
      </Terms>
    </l1bda498d0704770a9af2e7a0565edaa>
    <IconOverlay xmlns="http://schemas.microsoft.com/sharepoint/v4" xsi:nil="true"/>
    <a9e56aaece9b46e58482a8eb4a8cc6ab xmlns="8ff6ca53-9990-4cf6-aa9b-81190a5c5371">
      <Terms xmlns="http://schemas.microsoft.com/office/infopath/2007/PartnerControls">
        <TermInfo xmlns="http://schemas.microsoft.com/office/infopath/2007/PartnerControls">
          <TermName xmlns="http://schemas.microsoft.com/office/infopath/2007/PartnerControls">OCDM</TermName>
          <TermId xmlns="http://schemas.microsoft.com/office/infopath/2007/PartnerControls">8955f7f1-8453-404e-bfde-7215dda84843</TermId>
        </TermInfo>
      </Terms>
    </a9e56aaece9b46e58482a8eb4a8cc6ab>
    <PublishingExpirationDate xmlns="http://schemas.microsoft.com/sharepoint/v3" xsi:nil="true"/>
    <PublishingStartDate xmlns="http://schemas.microsoft.com/sharepoint/v3" xsi:nil="true"/>
    <TaxCatchAll xmlns="9da6f561-6c40-462f-af3e-6833fe74929f">
      <Value>548</Value>
      <Value>1</Value>
      <Value>2</Value>
    </TaxCatchAll>
    <_dlc_DocId xmlns="9da6f561-6c40-462f-af3e-6833fe74929f">PJQFUVHKSAJQ-1373287592-275981</_dlc_DocId>
    <_dlc_DocIdUrl xmlns="9da6f561-6c40-462f-af3e-6833fe74929f">
      <Url>https://moss-si.cm-cic.fr/Sites/D00116/Documentation/_layouts/15/DocIdRedir.aspx?ID=PJQFUVHKSAJQ-1373287592-275981</Url>
      <Description>PJQFUVHKSAJQ-1373287592-275981</Description>
    </_dlc_DocIdUrl>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E2B8597FEB5E34494D505DA208C5F79" ma:contentTypeVersion="12" ma:contentTypeDescription="Crée un document." ma:contentTypeScope="" ma:versionID="9a955d830eb2036938b7573fab7ca669">
  <xsd:schema xmlns:xsd="http://www.w3.org/2001/XMLSchema" xmlns:xs="http://www.w3.org/2001/XMLSchema" xmlns:p="http://schemas.microsoft.com/office/2006/metadata/properties" xmlns:ns1="http://schemas.microsoft.com/sharepoint/v3" xmlns:ns2="9da6f561-6c40-462f-af3e-6833fe74929f" xmlns:ns3="8ff6ca53-9990-4cf6-aa9b-81190a5c5371" xmlns:ns4="99cee9d7-070e-44dd-ab97-3503062ab504" xmlns:ns5="http://schemas.microsoft.com/sharepoint/v4" targetNamespace="http://schemas.microsoft.com/office/2006/metadata/properties" ma:root="true" ma:fieldsID="8f4d48304bd6e109baf3a3f81bd2dacc" ns1:_="" ns2:_="" ns3:_="" ns4:_="" ns5:_="">
    <xsd:import namespace="http://schemas.microsoft.com/sharepoint/v3"/>
    <xsd:import namespace="9da6f561-6c40-462f-af3e-6833fe74929f"/>
    <xsd:import namespace="8ff6ca53-9990-4cf6-aa9b-81190a5c5371"/>
    <xsd:import namespace="99cee9d7-070e-44dd-ab97-3503062ab504"/>
    <xsd:import namespace="http://schemas.microsoft.com/sharepoint/v4"/>
    <xsd:element name="properties">
      <xsd:complexType>
        <xsd:sequence>
          <xsd:element name="documentManagement">
            <xsd:complexType>
              <xsd:all>
                <xsd:element ref="ns2:_dlc_DocId" minOccurs="0"/>
                <xsd:element ref="ns2:_dlc_DocIdUrl" minOccurs="0"/>
                <xsd:element ref="ns2:_dlc_DocIdPersistId" minOccurs="0"/>
                <xsd:element ref="ns2:TaxKeywordTaxHTField" minOccurs="0"/>
                <xsd:element ref="ns2:TaxCatchAll" minOccurs="0"/>
                <xsd:element ref="ns3:a9e56aaece9b46e58482a8eb4a8cc6ab" minOccurs="0"/>
                <xsd:element ref="ns3:e190d8c788134483bddf2fb4f7159d4b" minOccurs="0"/>
                <xsd:element ref="ns3:l1bda498d0704770a9af2e7a0565edaa" minOccurs="0"/>
                <xsd:element ref="ns1:PublishingStartDate" minOccurs="0"/>
                <xsd:element ref="ns1:PublishingExpirationDate" minOccurs="0"/>
                <xsd:element ref="ns4:SharedWithUsers" minOccurs="0"/>
                <xsd:element ref="ns5:IconOverla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20" nillable="true" ma:displayName="Date de début de planification" ma:description="La colonne de site Date de début de planification est créée par la fonctionnalité de publication. Elle permet de spécifier les date et heure auxquelles cette page apparaîtra la première fois aux visiteurs du site." ma:internalName="PublishingStartDate">
      <xsd:simpleType>
        <xsd:restriction base="dms:Unknown"/>
      </xsd:simpleType>
    </xsd:element>
    <xsd:element name="PublishingExpirationDate" ma:index="21" nillable="true" ma:displayName="Date de fin de planification" ma:description="La colonne de site Date de fin de planification est créée par la fonctionnalité de publication. Elle permet de spécifier les date et heure auxquelles cette page n'apparaîtra plus aux visiteurs du sit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da6f561-6c40-462f-af3e-6833fe74929f" elementFormDefault="qualified">
    <xsd:import namespace="http://schemas.microsoft.com/office/2006/documentManagement/types"/>
    <xsd:import namespace="http://schemas.microsoft.com/office/infopath/2007/PartnerControls"/>
    <xsd:element name="_dlc_DocId" ma:index="8" nillable="true" ma:displayName="Valeur d’ID de document" ma:description="Valeur de l’ID de document affecté à cet élément." ma:internalName="_dlc_DocId" ma:readOnly="true">
      <xsd:simpleType>
        <xsd:restriction base="dms:Text"/>
      </xsd:simpleType>
    </xsd:element>
    <xsd:element name="_dlc_DocIdUrl" ma:index="9" nillable="true" ma:displayName="ID de document" ma:description="Lien permanent vers ce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TaxKeywordTaxHTField" ma:index="12" nillable="true" ma:taxonomy="true" ma:internalName="TaxKeywordTaxHTField" ma:taxonomyFieldName="TaxKeyword" ma:displayName="Mots clés d’entreprise" ma:fieldId="{23f27201-bee3-471e-b2e7-b64fd8b7ca38}" ma:taxonomyMulti="true" ma:sspId="f6b5f850-50cb-46d6-8dd8-bdb5aeee437c" ma:termSetId="00000000-0000-0000-0000-000000000000" ma:anchorId="00000000-0000-0000-0000-000000000000" ma:open="true" ma:isKeyword="true">
      <xsd:complexType>
        <xsd:sequence>
          <xsd:element ref="pc:Terms" minOccurs="0" maxOccurs="1"/>
        </xsd:sequence>
      </xsd:complexType>
    </xsd:element>
    <xsd:element name="TaxCatchAll" ma:index="13" nillable="true" ma:displayName="Taxonomy Catch All Column" ma:hidden="true" ma:list="{f6065c2a-1385-449e-acd3-90fec65b6338}" ma:internalName="TaxCatchAll" ma:showField="CatchAllData" ma:web="9da6f561-6c40-462f-af3e-6833fe74929f">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8ff6ca53-9990-4cf6-aa9b-81190a5c5371" elementFormDefault="qualified">
    <xsd:import namespace="http://schemas.microsoft.com/office/2006/documentManagement/types"/>
    <xsd:import namespace="http://schemas.microsoft.com/office/infopath/2007/PartnerControls"/>
    <xsd:element name="a9e56aaece9b46e58482a8eb4a8cc6ab" ma:index="15" nillable="true" ma:taxonomy="true" ma:internalName="a9e56aaece9b46e58482a8eb4a8cc6ab" ma:taxonomyFieldName="ROBIN" ma:displayName="ROBIN" ma:indexed="true" ma:fieldId="{a9e56aae-ce9b-46e5-8482-a8eb4a8cc6ab}" ma:sspId="f6b5f850-50cb-46d6-8dd8-bdb5aeee437c" ma:termSetId="8519d0aa-f887-4b22-82ec-06f9900e4831" ma:anchorId="00000000-0000-0000-0000-000000000000" ma:open="false" ma:isKeyword="false">
      <xsd:complexType>
        <xsd:sequence>
          <xsd:element ref="pc:Terms" minOccurs="0" maxOccurs="1"/>
        </xsd:sequence>
      </xsd:complexType>
    </xsd:element>
    <xsd:element name="e190d8c788134483bddf2fb4f7159d4b" ma:index="17" ma:taxonomy="true" ma:internalName="e190d8c788134483bddf2fb4f7159d4b" ma:taxonomyFieldName="Nature_x0020_du_x0020_document" ma:displayName="Nature du document" ma:indexed="true" ma:fieldId="{e190d8c7-8813-4483-bddf-2fb4f7159d4b}" ma:sspId="f6b5f850-50cb-46d6-8dd8-bdb5aeee437c" ma:termSetId="8dbe4afc-678c-4167-a296-bde03c53c5ce" ma:anchorId="00000000-0000-0000-0000-000000000000" ma:open="false" ma:isKeyword="false">
      <xsd:complexType>
        <xsd:sequence>
          <xsd:element ref="pc:Terms" minOccurs="0" maxOccurs="1"/>
        </xsd:sequence>
      </xsd:complexType>
    </xsd:element>
    <xsd:element name="l1bda498d0704770a9af2e7a0565edaa" ma:index="19" ma:taxonomy="true" ma:internalName="l1bda498d0704770a9af2e7a0565edaa" ma:taxonomyFieldName="Classification" ma:displayName="Classification" ma:indexed="true" ma:fieldId="{51bda498-d070-4770-a9af-2e7a0565edaa}" ma:sspId="f6b5f850-50cb-46d6-8dd8-bdb5aeee437c" ma:termSetId="79a668a4-8950-49d8-972b-fe62befceb68"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99cee9d7-070e-44dd-ab97-3503062ab504" elementFormDefault="qualified">
    <xsd:import namespace="http://schemas.microsoft.com/office/2006/documentManagement/types"/>
    <xsd:import namespace="http://schemas.microsoft.com/office/infopath/2007/PartnerControls"/>
    <xsd:element name="SharedWithUsers" ma:index="22"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23" nillable="true" ma:displayName="IconOverlay" ma:hidden="true" ma:internalName="IconOverla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C4B5CEC-C8C8-40AA-B6AE-607E208A68A9}">
  <ds:schemaRefs>
    <ds:schemaRef ds:uri="http://www.w3.org/XML/1998/namespace"/>
    <ds:schemaRef ds:uri="http://schemas.microsoft.com/office/2006/metadata/properties"/>
    <ds:schemaRef ds:uri="http://schemas.microsoft.com/office/infopath/2007/PartnerControls"/>
    <ds:schemaRef ds:uri="http://schemas.microsoft.com/office/2006/documentManagement/types"/>
    <ds:schemaRef ds:uri="http://schemas.microsoft.com/sharepoint/v4"/>
    <ds:schemaRef ds:uri="http://purl.org/dc/terms/"/>
    <ds:schemaRef ds:uri="http://schemas.microsoft.com/sharepoint/v3"/>
    <ds:schemaRef ds:uri="http://schemas.openxmlformats.org/package/2006/metadata/core-properties"/>
    <ds:schemaRef ds:uri="99cee9d7-070e-44dd-ab97-3503062ab504"/>
    <ds:schemaRef ds:uri="http://purl.org/dc/elements/1.1/"/>
    <ds:schemaRef ds:uri="8ff6ca53-9990-4cf6-aa9b-81190a5c5371"/>
    <ds:schemaRef ds:uri="9da6f561-6c40-462f-af3e-6833fe74929f"/>
    <ds:schemaRef ds:uri="http://purl.org/dc/dcmitype/"/>
  </ds:schemaRefs>
</ds:datastoreItem>
</file>

<file path=customXml/itemProps2.xml><?xml version="1.0" encoding="utf-8"?>
<ds:datastoreItem xmlns:ds="http://schemas.openxmlformats.org/officeDocument/2006/customXml" ds:itemID="{E9422C3B-75B6-40EA-8BF9-01829C59B63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da6f561-6c40-462f-af3e-6833fe74929f"/>
    <ds:schemaRef ds:uri="8ff6ca53-9990-4cf6-aa9b-81190a5c5371"/>
    <ds:schemaRef ds:uri="99cee9d7-070e-44dd-ab97-3503062ab504"/>
    <ds:schemaRef ds:uri="http://schemas.microsoft.com/sharepoint/v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52BAA03-A600-4FE3-BD99-E53EBA2268B5}">
  <ds:schemaRefs>
    <ds:schemaRef ds:uri="http://schemas.microsoft.com/sharepoint/events"/>
  </ds:schemaRefs>
</ds:datastoreItem>
</file>

<file path=customXml/itemProps4.xml><?xml version="1.0" encoding="utf-8"?>
<ds:datastoreItem xmlns:ds="http://schemas.openxmlformats.org/officeDocument/2006/customXml" ds:itemID="{F1825C63-B403-4BB5-BF30-E1D3CA074A2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4418</TotalTime>
  <Words>2116</Words>
  <Application>Microsoft Office PowerPoint</Application>
  <PresentationFormat>Personnalisé</PresentationFormat>
  <Paragraphs>352</Paragraphs>
  <Slides>15</Slides>
  <Notes>9</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15</vt:i4>
      </vt:variant>
    </vt:vector>
  </HeadingPairs>
  <TitlesOfParts>
    <vt:vector size="22" baseType="lpstr">
      <vt:lpstr>Arial</vt:lpstr>
      <vt:lpstr>Calibri</vt:lpstr>
      <vt:lpstr>Segoe UI</vt:lpstr>
      <vt:lpstr>Segoe UI Light</vt:lpstr>
      <vt:lpstr>Wingdings</vt:lpstr>
      <vt:lpstr>Wingdings 3</vt:lpstr>
      <vt:lpstr>Thème Office</vt:lpstr>
      <vt:lpstr>Architecture fonctionnelle de l’OCR F Cadrage des besoins niv 2 et 3 Synthèse des entretiens REs</vt:lpstr>
      <vt:lpstr>Une architecture applicative et fonctionnelle de l’OCR F à 4 niveaux</vt:lpstr>
      <vt:lpstr>Entretiens avec les REs pendant l’été pour cadrer les besoins des niveaux 2 et 3 </vt:lpstr>
      <vt:lpstr>A quels cas d’usage cette documentation répond ?</vt:lpstr>
      <vt:lpstr>Qu’est ce qu’on a besoin de rendre visible dans la documentation ?</vt:lpstr>
      <vt:lpstr>Quelle solution envisager ?</vt:lpstr>
      <vt:lpstr>[nom de l’application]</vt:lpstr>
      <vt:lpstr>Présentation PowerPoint</vt:lpstr>
      <vt:lpstr>Qui met en œuvre et quand ?</vt:lpstr>
      <vt:lpstr>Exemples</vt:lpstr>
      <vt:lpstr>Briques fonctionnelles CADI</vt:lpstr>
      <vt:lpstr>Ecosystème CADI</vt:lpstr>
      <vt:lpstr>Ecosystème CADI</vt:lpstr>
      <vt:lpstr>[nom de l’application]</vt:lpstr>
      <vt:lpstr>Merci.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DUPIN Hermione</dc:creator>
  <cp:lastModifiedBy>ISSOULGHANE Morad (PRESTA EXT)</cp:lastModifiedBy>
  <cp:revision>235</cp:revision>
  <dcterms:created xsi:type="dcterms:W3CDTF">2021-02-02T09:58:04Z</dcterms:created>
  <dcterms:modified xsi:type="dcterms:W3CDTF">2026-09-03T09:42:44Z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fs.LastKnownPath">
    <vt:lpwstr>\\uf11-a01\ei_communication\00_STRATEGIE COMMUNICATION\Refonte Charte graphique\Modèle charte E-I 2021.pptx</vt:lpwstr>
  </property>
  <property fmtid="{D5CDD505-2E9C-101B-9397-08002B2CF9AE}" pid="3" name="ContentTypeId">
    <vt:lpwstr>0x010100BE2B8597FEB5E34494D505DA208C5F79</vt:lpwstr>
  </property>
  <property fmtid="{D5CDD505-2E9C-101B-9397-08002B2CF9AE}" pid="4" name="TaxKeyword">
    <vt:lpwstr/>
  </property>
  <property fmtid="{D5CDD505-2E9C-101B-9397-08002B2CF9AE}" pid="5" name="ROBIN">
    <vt:lpwstr>548;#OCDM|8955f7f1-8453-404e-bfde-7215dda84843</vt:lpwstr>
  </property>
  <property fmtid="{D5CDD505-2E9C-101B-9397-08002B2CF9AE}" pid="6" name="Classification">
    <vt:lpwstr>2;#10 - Interne|88571201-3d77-41d7-bf2a-abb247897d97</vt:lpwstr>
  </property>
  <property fmtid="{D5CDD505-2E9C-101B-9397-08002B2CF9AE}" pid="7" name="Nature du document">
    <vt:lpwstr>1;#Document|f926a2be-6740-4577-ba49-e4b230c74a1c</vt:lpwstr>
  </property>
  <property fmtid="{D5CDD505-2E9C-101B-9397-08002B2CF9AE}" pid="8" name="_dlc_DocIdItemGuid">
    <vt:lpwstr>f689b65a-ebd1-4509-8772-2d51387722aa</vt:lpwstr>
  </property>
</Properties>
</file>