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700" r:id="rId6"/>
  </p:sldMasterIdLst>
  <p:notesMasterIdLst>
    <p:notesMasterId r:id="rId9"/>
  </p:notesMasterIdLst>
  <p:sldIdLst>
    <p:sldId id="1552" r:id="rId14"/>
    <p:sldId id="1551" r:id="rId8"/>
    <p:sldId id="1553"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C04B401-AB5B-4CC3-BCD4-0907565926F3}">
          <p14:sldIdLst>
            <p14:sldId id="349"/>
            <p14:sldId id="1551"/>
          </p14:sldIdLst>
        </p14:section>
        <p14:section name="WIP" id="{D241315A-8BB6-4F33-AC00-638400520F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A8D"/>
    <a:srgbClr val="548235"/>
    <a:srgbClr val="ED7D31"/>
    <a:srgbClr val="525252"/>
    <a:srgbClr val="A0C1F6"/>
    <a:srgbClr val="DEEBF7"/>
    <a:srgbClr val="43C5F3"/>
    <a:srgbClr val="BFEBFB"/>
    <a:srgbClr val="FFE080"/>
    <a:srgbClr val="80DA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20" autoAdjust="0"/>
    <p:restoredTop sz="90177" autoAdjust="0"/>
  </p:normalViewPr>
  <p:slideViewPr>
    <p:cSldViewPr snapToGrid="0">
      <p:cViewPr varScale="1">
        <p:scale>
          <a:sx n="91" d="100"/>
          <a:sy n="91" d="100"/>
        </p:scale>
        <p:origin x="1760" y="192"/>
      </p:cViewPr>
      <p:guideLst/>
    </p:cSldViewPr>
  </p:slideViewPr>
  <p:notesTextViewPr>
    <p:cViewPr>
      <p:scale>
        <a:sx n="100" d="100"/>
        <a:sy n="100" d="100"/>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2.xml"/><Relationship Id="rId1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viewProps" Target="viewProps.xml"/><Relationship Id="rId5" Type="http://schemas.openxmlformats.org/officeDocument/2006/relationships/slideMaster" Target="slideMasters/slideMaster1.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notesMaster" Target="notesMasters/notesMaster1.xml"/>  <Relationship Id="rId14" Type="http://schemas.openxmlformats.org/officeDocument/2006/relationships/slide" Target="slides/slide3.xml"/>
  <Relationship Id="rId15" Type="http://schemas.openxmlformats.org/officeDocument/2006/relationships/slide" Target="slides/slide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B5261-C031-49F8-943A-CD006FB30A1D}" type="datetimeFigureOut">
              <a:rPr lang="fr-FR" smtClean="0"/>
              <a:t>31/07/2026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6AEA5-3059-4396-9AD5-377EBC490947}" type="slidenum">
              <a:rPr lang="fr-FR" smtClean="0"/>
              <a:t>‹N°›</a:t>
            </a:fld>
            <a:endParaRPr lang="fr-FR"/>
          </a:p>
        </p:txBody>
      </p:sp>
    </p:spTree>
    <p:extLst>
      <p:ext uri="{BB962C8B-B14F-4D97-AF65-F5344CB8AC3E}">
        <p14:creationId xmlns:p14="http://schemas.microsoft.com/office/powerpoint/2010/main" val="414317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dirty="0"/>
              <a:t>Amélioration : ajouter le détail à destination des architectes. </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2</a:t>
            </a:fld>
            <a:endParaRPr lang="fr-FR"/>
          </a:p>
        </p:txBody>
      </p:sp>
    </p:spTree>
    <p:extLst>
      <p:ext uri="{BB962C8B-B14F-4D97-AF65-F5344CB8AC3E}">
        <p14:creationId xmlns:p14="http://schemas.microsoft.com/office/powerpoint/2010/main" val="19024915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gif"/><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tif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5" Type="http://schemas.openxmlformats.org/officeDocument/2006/relationships/image" Target="../media/image16.svg"/><Relationship Id="rId4" Type="http://schemas.openxmlformats.org/officeDocument/2006/relationships/image" Target="../media/image15.sv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image" Target="../media/image20.gif"/><Relationship Id="rId1" Type="http://schemas.openxmlformats.org/officeDocument/2006/relationships/slideMaster" Target="../slideMasters/slideMaster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tif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9" name="Rectangle 13"/>
          <p:cNvSpPr/>
          <p:nvPr userDrawn="1"/>
        </p:nvSpPr>
        <p:spPr>
          <a:xfrm>
            <a:off x="4880008" y="3858686"/>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5" y="5805721"/>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07" y="6307272"/>
            <a:ext cx="531475" cy="274695"/>
          </a:xfrm>
          <a:prstGeom prst="rect">
            <a:avLst/>
          </a:prstGeom>
        </p:spPr>
      </p:pic>
    </p:spTree>
    <p:extLst>
      <p:ext uri="{BB962C8B-B14F-4D97-AF65-F5344CB8AC3E}">
        <p14:creationId xmlns:p14="http://schemas.microsoft.com/office/powerpoint/2010/main" val="3808682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61680098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15" name="Rectangle 14"/>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589686895"/>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2139469002"/>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sp>
        <p:nvSpPr>
          <p:cNvPr id="12" name="Rectangle 11"/>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670587996"/>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33641"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822265566"/>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sp>
        <p:nvSpPr>
          <p:cNvPr id="12" name="Rectangle 11"/>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403478319"/>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4648200"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12"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Tree>
    <p:extLst>
      <p:ext uri="{BB962C8B-B14F-4D97-AF65-F5344CB8AC3E}">
        <p14:creationId xmlns:p14="http://schemas.microsoft.com/office/powerpoint/2010/main" val="1401418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sp>
        <p:nvSpPr>
          <p:cNvPr id="19" name="Rectangle 18"/>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56" name="Espace réservé du pied de page 4"/>
          <p:cNvSpPr>
            <a:spLocks noGrp="1"/>
          </p:cNvSpPr>
          <p:nvPr>
            <p:ph type="ftr" sz="quarter" idx="11"/>
          </p:nvPr>
        </p:nvSpPr>
        <p:spPr>
          <a:xfrm>
            <a:off x="4648200"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16"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548552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20"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399711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sp>
        <p:nvSpPr>
          <p:cNvPr id="9" name="Rectangle 8"/>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21"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124156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3447514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endParaRPr lang="fr-FR" dirty="0"/>
          </a:p>
        </p:txBody>
      </p:sp>
    </p:spTree>
    <p:extLst>
      <p:ext uri="{BB962C8B-B14F-4D97-AF65-F5344CB8AC3E}">
        <p14:creationId xmlns:p14="http://schemas.microsoft.com/office/powerpoint/2010/main" val="1128792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re image 2">
    <p:bg>
      <p:bgPr>
        <a:solidFill>
          <a:srgbClr val="003A8D"/>
        </a:solidFill>
        <a:effectLst/>
      </p:bgPr>
    </p:bg>
    <p:spTree>
      <p:nvGrpSpPr>
        <p:cNvPr id="1" name=""/>
        <p:cNvGrpSpPr/>
        <p:nvPr/>
      </p:nvGrpSpPr>
      <p:grpSpPr>
        <a:xfrm>
          <a:off x="0" y="0"/>
          <a:ext cx="0" cy="0"/>
          <a:chOff x="0" y="0"/>
          <a:chExt cx="0" cy="0"/>
        </a:xfrm>
      </p:grpSpPr>
      <p:pic>
        <p:nvPicPr>
          <p:cNvPr id="15" name="Image 14"/>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2508" y="1854000"/>
            <a:ext cx="6652800" cy="5004000"/>
          </a:xfrm>
          <a:prstGeom prst="rect">
            <a:avLst/>
          </a:prstGeom>
        </p:spPr>
      </p:pic>
      <p:sp>
        <p:nvSpPr>
          <p:cNvPr id="3" name="Décision 2"/>
          <p:cNvSpPr/>
          <p:nvPr/>
        </p:nvSpPr>
        <p:spPr>
          <a:xfrm>
            <a:off x="-8382" y="0"/>
            <a:ext cx="3328907" cy="68691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2" h="10003">
                <a:moveTo>
                  <a:pt x="0" y="10003"/>
                </a:moveTo>
                <a:cubicBezTo>
                  <a:pt x="7" y="6670"/>
                  <a:pt x="6" y="3333"/>
                  <a:pt x="13" y="0"/>
                </a:cubicBezTo>
                <a:lnTo>
                  <a:pt x="6284" y="0"/>
                </a:lnTo>
                <a:lnTo>
                  <a:pt x="9992" y="2700"/>
                </a:lnTo>
                <a:lnTo>
                  <a:pt x="0" y="10003"/>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Parallélogramme 1"/>
          <p:cNvSpPr/>
          <p:nvPr/>
        </p:nvSpPr>
        <p:spPr>
          <a:xfrm flipV="1">
            <a:off x="4217879" y="5680001"/>
            <a:ext cx="4704608" cy="779982"/>
          </a:xfrm>
          <a:prstGeom prst="parallelogram">
            <a:avLst>
              <a:gd name="adj" fmla="val 66928"/>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55" name="Shape 55"/>
          <p:cNvSpPr>
            <a:spLocks noGrp="1"/>
          </p:cNvSpPr>
          <p:nvPr>
            <p:ph type="title"/>
          </p:nvPr>
        </p:nvSpPr>
        <p:spPr>
          <a:xfrm>
            <a:off x="4069709" y="288713"/>
            <a:ext cx="7859251" cy="2874104"/>
          </a:xfrm>
          <a:prstGeom prst="rect">
            <a:avLst/>
          </a:prstGeom>
        </p:spPr>
        <p:txBody>
          <a:bodyPr/>
          <a:lstStyle>
            <a:lvl1pPr>
              <a:defRPr sz="3225" b="0">
                <a:solidFill>
                  <a:srgbClr val="FFFFFF"/>
                </a:solidFill>
              </a:defRPr>
            </a:lvl1pPr>
          </a:lstStyle>
          <a:p>
            <a:r>
              <a:rPr lang="fr-FR"/>
              <a:t>Modifiez le style du titre</a:t>
            </a:r>
            <a:endParaRPr dirty="0"/>
          </a:p>
        </p:txBody>
      </p:sp>
      <p:sp>
        <p:nvSpPr>
          <p:cNvPr id="56" name="Shape 56"/>
          <p:cNvSpPr>
            <a:spLocks noGrp="1"/>
          </p:cNvSpPr>
          <p:nvPr>
            <p:ph type="body" sz="quarter" idx="1"/>
          </p:nvPr>
        </p:nvSpPr>
        <p:spPr>
          <a:xfrm>
            <a:off x="6766275" y="2692852"/>
            <a:ext cx="3880640" cy="4021755"/>
          </a:xfrm>
          <a:prstGeom prst="rect">
            <a:avLst/>
          </a:prstGeom>
        </p:spPr>
        <p:txBody>
          <a:bodyPr anchor="ctr"/>
          <a:lstStyle>
            <a:lvl1pPr algn="r">
              <a:lnSpc>
                <a:spcPct val="100000"/>
              </a:lnSpc>
              <a:spcBef>
                <a:spcPts val="0"/>
              </a:spcBef>
              <a:defRPr sz="1350">
                <a:solidFill>
                  <a:srgbClr val="FFFFFF"/>
                </a:solidFill>
                <a:latin typeface="+mn-lt"/>
              </a:defRPr>
            </a:lvl1pPr>
            <a:lvl2pPr marL="0" indent="85725" algn="r">
              <a:lnSpc>
                <a:spcPct val="100000"/>
              </a:lnSpc>
              <a:spcBef>
                <a:spcPts val="0"/>
              </a:spcBef>
              <a:buClrTx/>
              <a:buSzTx/>
              <a:buNone/>
              <a:defRPr sz="1350">
                <a:solidFill>
                  <a:srgbClr val="DCDEE0"/>
                </a:solidFill>
                <a:latin typeface="Swis721 Lt BT"/>
                <a:ea typeface="Swis721 Lt BT"/>
                <a:cs typeface="Swis721 Lt BT"/>
                <a:sym typeface="Swis721 Lt BT"/>
              </a:defRPr>
            </a:lvl2pPr>
            <a:lvl3pPr marL="0" indent="171450" algn="r">
              <a:lnSpc>
                <a:spcPct val="100000"/>
              </a:lnSpc>
              <a:spcBef>
                <a:spcPts val="0"/>
              </a:spcBef>
              <a:buClrTx/>
              <a:buSzTx/>
              <a:buNone/>
              <a:defRPr sz="1200">
                <a:solidFill>
                  <a:srgbClr val="DCDEE0"/>
                </a:solidFill>
                <a:latin typeface="Swis721 Lt BT"/>
                <a:ea typeface="Swis721 Lt BT"/>
                <a:cs typeface="Swis721 Lt BT"/>
                <a:sym typeface="Swis721 Lt BT"/>
              </a:defRPr>
            </a:lvl3pPr>
            <a:lvl4pPr marL="0" indent="257175" algn="r">
              <a:lnSpc>
                <a:spcPct val="100000"/>
              </a:lnSpc>
              <a:spcBef>
                <a:spcPts val="0"/>
              </a:spcBef>
              <a:buClrTx/>
              <a:buSzTx/>
              <a:buNone/>
              <a:defRPr sz="1050">
                <a:solidFill>
                  <a:srgbClr val="DCDEE0"/>
                </a:solidFill>
                <a:latin typeface="Swis721 Lt BT"/>
                <a:ea typeface="Swis721 Lt BT"/>
                <a:cs typeface="Swis721 Lt BT"/>
                <a:sym typeface="Swis721 Lt BT"/>
              </a:defRPr>
            </a:lvl4pPr>
            <a:lvl5pPr marL="0" indent="342900" algn="r">
              <a:lnSpc>
                <a:spcPct val="100000"/>
              </a:lnSpc>
              <a:spcBef>
                <a:spcPts val="0"/>
              </a:spcBef>
              <a:buClrTx/>
              <a:buSzTx/>
              <a:buNone/>
              <a:defRPr sz="900">
                <a:solidFill>
                  <a:srgbClr val="DCDEE0"/>
                </a:solidFill>
                <a:latin typeface="Swis721 Lt BT"/>
                <a:ea typeface="Swis721 Lt BT"/>
                <a:cs typeface="Swis721 Lt BT"/>
                <a:sym typeface="Swis721 Lt BT"/>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dirty="0"/>
          </a:p>
        </p:txBody>
      </p:sp>
      <p:sp>
        <p:nvSpPr>
          <p:cNvPr id="16" name="Shape 224"/>
          <p:cNvSpPr/>
          <p:nvPr/>
        </p:nvSpPr>
        <p:spPr>
          <a:xfrm flipH="1">
            <a:off x="4217879" y="5678753"/>
            <a:ext cx="4704608" cy="78123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19" y="0"/>
                </a:lnTo>
                <a:lnTo>
                  <a:pt x="21600" y="0"/>
                </a:lnTo>
                <a:lnTo>
                  <a:pt x="19192" y="21567"/>
                </a:lnTo>
                <a:lnTo>
                  <a:pt x="0" y="21600"/>
                </a:lnTo>
                <a:close/>
              </a:path>
            </a:pathLst>
          </a:custGeom>
          <a:solidFill>
            <a:srgbClr val="FFFFFF"/>
          </a:solidFill>
          <a:ln w="12700">
            <a:miter lim="400000"/>
          </a:ln>
        </p:spPr>
        <p:txBody>
          <a:bodyPr lIns="26789" tIns="26789" rIns="26789" bIns="26789" anchor="ctr"/>
          <a:lstStyle/>
          <a:p>
            <a:pPr>
              <a:defRPr sz="3200"/>
            </a:pPr>
            <a:endParaRPr sz="1200"/>
          </a:p>
        </p:txBody>
      </p:sp>
      <p:pic>
        <p:nvPicPr>
          <p:cNvPr id="17" name="pasted-image.tif"/>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771840" y="5919154"/>
            <a:ext cx="2108455" cy="292967"/>
          </a:xfrm>
          <a:prstGeom prst="rect">
            <a:avLst/>
          </a:prstGeom>
          <a:ln w="12700">
            <a:miter lim="400000"/>
          </a:ln>
        </p:spPr>
      </p:pic>
      <p:pic>
        <p:nvPicPr>
          <p:cNvPr id="18" name="pasted-image.tif"/>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280773" y="5852367"/>
            <a:ext cx="872531" cy="394256"/>
          </a:xfrm>
          <a:prstGeom prst="rect">
            <a:avLst/>
          </a:prstGeom>
          <a:ln w="12700">
            <a:miter lim="400000"/>
          </a:ln>
        </p:spPr>
      </p:pic>
      <p:pic>
        <p:nvPicPr>
          <p:cNvPr id="11" name="pasted-image.pdf"/>
          <p:cNvPicPr>
            <a:picLocks noChangeAspect="1"/>
          </p:cNvPicPr>
          <p:nvPr/>
        </p:nvPicPr>
        <p:blipFill>
          <a:blip r:embed="rId5"/>
          <a:stretch>
            <a:fillRect/>
          </a:stretch>
        </p:blipFill>
        <p:spPr>
          <a:xfrm>
            <a:off x="183461" y="198890"/>
            <a:ext cx="1584368" cy="1464101"/>
          </a:xfrm>
          <a:prstGeom prst="rect">
            <a:avLst/>
          </a:prstGeom>
          <a:ln w="12700">
            <a:miter lim="400000"/>
          </a:ln>
        </p:spPr>
      </p:pic>
      <p:sp>
        <p:nvSpPr>
          <p:cNvPr id="14" name="Décision 2"/>
          <p:cNvSpPr/>
          <p:nvPr/>
        </p:nvSpPr>
        <p:spPr>
          <a:xfrm flipH="1">
            <a:off x="10756747" y="2559242"/>
            <a:ext cx="1427356" cy="4288970"/>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3" name="Shape 27"/>
          <p:cNvSpPr/>
          <p:nvPr/>
        </p:nvSpPr>
        <p:spPr>
          <a:xfrm>
            <a:off x="5900959" y="5339312"/>
            <a:ext cx="2524791" cy="261850"/>
          </a:xfrm>
          <a:prstGeom prst="rect">
            <a:avLst/>
          </a:prstGeom>
          <a:ln w="12700">
            <a:miter lim="400000"/>
          </a:ln>
          <a:extLst>
            <a:ext uri="{C572A759-6A51-4108-AA02-DFA0A04FC94B}">
              <ma14:wrappingTextBoxFlag xmlns="" xmlns:ma14="http://schemas.microsoft.com/office/mac/drawingml/2011/main" val="1"/>
            </a:ext>
          </a:extLst>
        </p:spPr>
        <p:txBody>
          <a:bodyPr wrap="square" lIns="26789" tIns="26789" rIns="26789" bIns="26789" anchor="ctr">
            <a:spAutoFit/>
          </a:bodyPr>
          <a:lstStyle>
            <a:lvl1pPr algn="l">
              <a:defRPr sz="3600">
                <a:solidFill>
                  <a:srgbClr val="CBCDCF"/>
                </a:solidFill>
                <a:latin typeface="Swis721 BT"/>
                <a:ea typeface="Swis721 BT"/>
                <a:cs typeface="Swis721 BT"/>
                <a:sym typeface="Swis721 BT"/>
              </a:defRPr>
            </a:lvl1pPr>
          </a:lstStyle>
          <a:p>
            <a:r>
              <a:rPr sz="1350" dirty="0">
                <a:latin typeface="+mn-lt"/>
                <a:ea typeface="Segoe UI Black" panose="020B0A02040204020203" pitchFamily="34" charset="0"/>
                <a:cs typeface="Segoe UI Semilight" panose="020B0402040204020203" pitchFamily="34" charset="0"/>
              </a:rPr>
              <a:t>Informatique</a:t>
            </a:r>
          </a:p>
        </p:txBody>
      </p:sp>
    </p:spTree>
    <p:extLst>
      <p:ext uri="{BB962C8B-B14F-4D97-AF65-F5344CB8AC3E}">
        <p14:creationId xmlns:p14="http://schemas.microsoft.com/office/powerpoint/2010/main" val="154403065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35980628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47187181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3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82890307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4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359960908"/>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5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6911406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6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49323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43" indent="0" algn="ctr">
              <a:buNone/>
              <a:defRPr sz="2000"/>
            </a:lvl2pPr>
            <a:lvl3pPr marL="914286" indent="0" algn="ctr">
              <a:buNone/>
              <a:defRPr sz="1800"/>
            </a:lvl3pPr>
            <a:lvl4pPr marL="1371430" indent="0" algn="ctr">
              <a:buNone/>
              <a:defRPr sz="1600"/>
            </a:lvl4pPr>
            <a:lvl5pPr marL="1828573" indent="0" algn="ctr">
              <a:buNone/>
              <a:defRPr sz="1600"/>
            </a:lvl5pPr>
            <a:lvl6pPr marL="2285718" indent="0" algn="ctr">
              <a:buNone/>
              <a:defRPr sz="1600"/>
            </a:lvl6pPr>
            <a:lvl7pPr marL="2742858" indent="0" algn="ctr">
              <a:buNone/>
              <a:defRPr sz="1600"/>
            </a:lvl7pPr>
            <a:lvl8pPr marL="3200000" indent="0" algn="ctr">
              <a:buNone/>
              <a:defRPr sz="1600"/>
            </a:lvl8pPr>
            <a:lvl9pPr marL="3657143" indent="0" algn="ctr">
              <a:buNone/>
              <a:defRPr sz="1600"/>
            </a:lvl9pPr>
          </a:lstStyle>
          <a:p>
            <a:r>
              <a:rPr lang="fr-FR"/>
              <a:t>Modifiez le style des sous-titres du masque</a:t>
            </a:r>
            <a:endParaRPr lang="en-US"/>
          </a:p>
        </p:txBody>
      </p:sp>
      <p:sp>
        <p:nvSpPr>
          <p:cNvPr id="9" name="Rectangle 13"/>
          <p:cNvSpPr/>
          <p:nvPr/>
        </p:nvSpPr>
        <p:spPr>
          <a:xfrm>
            <a:off x="4880015" y="3858691"/>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996" y="5805726"/>
            <a:ext cx="1018605" cy="941409"/>
          </a:xfrm>
          <a:prstGeom prst="rect">
            <a:avLst/>
          </a:prstGeom>
        </p:spPr>
      </p:pic>
      <p:pic>
        <p:nvPicPr>
          <p:cNvPr id="11" name="Imag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3109" y="6307278"/>
            <a:ext cx="531475" cy="274695"/>
          </a:xfrm>
          <a:prstGeom prst="rect">
            <a:avLst/>
          </a:prstGeom>
        </p:spPr>
      </p:pic>
    </p:spTree>
    <p:extLst>
      <p:ext uri="{BB962C8B-B14F-4D97-AF65-F5344CB8AC3E}">
        <p14:creationId xmlns:p14="http://schemas.microsoft.com/office/powerpoint/2010/main" val="1254357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537860620"/>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re et contenu (PIP)">
    <p:spTree>
      <p:nvGrpSpPr>
        <p:cNvPr id="1" name=""/>
        <p:cNvGrpSpPr/>
        <p:nvPr/>
      </p:nvGrpSpPr>
      <p:grpSpPr>
        <a:xfrm>
          <a:off x="0" y="0"/>
          <a:ext cx="0" cy="0"/>
          <a:chOff x="0" y="0"/>
          <a:chExt cx="0" cy="0"/>
        </a:xfrm>
      </p:grpSpPr>
      <p:sp>
        <p:nvSpPr>
          <p:cNvPr id="15" name="Rectangle 14"/>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5"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585588527"/>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re, contenu 2 colonnes">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8"/>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0"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12" name="Espace réservé du texte 3"/>
          <p:cNvSpPr>
            <a:spLocks noGrp="1"/>
          </p:cNvSpPr>
          <p:nvPr>
            <p:ph type="body" sz="quarter" idx="13"/>
          </p:nvPr>
        </p:nvSpPr>
        <p:spPr>
          <a:xfrm>
            <a:off x="821535"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3"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941367861"/>
      </p:ext>
    </p:extLst>
  </p:cSld>
  <p:clrMapOvr>
    <a:masterClrMapping/>
  </p:clrMapOvr>
  <p:extLst>
    <p:ext uri="{DCECCB84-F9BA-43D5-87BE-67443E8EF086}">
      <p15:sldGuideLst xmlns:p15="http://schemas.microsoft.com/office/powerpoint/2012/main">
        <p15:guide id="1" orient="horz" pos="794">
          <p15:clr>
            <a:srgbClr val="FBAE40"/>
          </p15:clr>
        </p15:guide>
        <p15:guide id="2" pos="136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re, contenu 2 colonnes (PIP)">
    <p:spTree>
      <p:nvGrpSpPr>
        <p:cNvPr id="1" name=""/>
        <p:cNvGrpSpPr/>
        <p:nvPr/>
      </p:nvGrpSpPr>
      <p:grpSpPr>
        <a:xfrm>
          <a:off x="0" y="0"/>
          <a:ext cx="0" cy="0"/>
          <a:chOff x="0" y="0"/>
          <a:chExt cx="0" cy="0"/>
        </a:xfrm>
      </p:grpSpPr>
      <p:sp>
        <p:nvSpPr>
          <p:cNvPr id="12" name="Rectangle 11"/>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16" name="Espace réservé du texte 5"/>
          <p:cNvSpPr>
            <a:spLocks noGrp="1"/>
          </p:cNvSpPr>
          <p:nvPr>
            <p:ph type="body" sz="quarter" idx="15"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0" name="Espace réservé du texte 3"/>
          <p:cNvSpPr>
            <a:spLocks noGrp="1"/>
          </p:cNvSpPr>
          <p:nvPr>
            <p:ph type="body" sz="quarter" idx="13"/>
          </p:nvPr>
        </p:nvSpPr>
        <p:spPr>
          <a:xfrm>
            <a:off x="821535"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3"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4113989712"/>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contenu et image centrale">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5" y="3515525"/>
            <a:ext cx="10933640"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483810017"/>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re, contenu et image centrale (PIP)">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sp>
        <p:nvSpPr>
          <p:cNvPr id="12" name="Rectangle 11"/>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7" y="3515525"/>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540826296"/>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contenu et image à gauche ">
    <p:spTree>
      <p:nvGrpSpPr>
        <p:cNvPr id="1" name=""/>
        <p:cNvGrpSpPr/>
        <p:nvPr/>
      </p:nvGrpSpPr>
      <p:grpSpPr>
        <a:xfrm>
          <a:off x="0" y="0"/>
          <a:ext cx="0" cy="0"/>
          <a:chOff x="0" y="0"/>
          <a:chExt cx="0" cy="0"/>
        </a:xfrm>
      </p:grpSpPr>
      <p:grpSp>
        <p:nvGrpSpPr>
          <p:cNvPr id="16" name="Groupe 15"/>
          <p:cNvGrpSpPr/>
          <p:nvPr/>
        </p:nvGrpSpPr>
        <p:grpSpPr>
          <a:xfrm>
            <a:off x="62152" y="6153415"/>
            <a:ext cx="630000" cy="630000"/>
            <a:chOff x="11254317" y="5942649"/>
            <a:chExt cx="630000" cy="630000"/>
          </a:xfrm>
        </p:grpSpPr>
        <p:sp>
          <p:nvSpPr>
            <p:cNvPr id="17"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6"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4" name="Espace réservé du pied de page 4"/>
          <p:cNvSpPr>
            <a:spLocks noGrp="1"/>
          </p:cNvSpPr>
          <p:nvPr>
            <p:ph type="ftr" sz="quarter" idx="11"/>
          </p:nvPr>
        </p:nvSpPr>
        <p:spPr>
          <a:xfrm>
            <a:off x="4648201" y="6443138"/>
            <a:ext cx="7196667"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2" name="Espace réservé du texte 3"/>
          <p:cNvSpPr>
            <a:spLocks noGrp="1"/>
          </p:cNvSpPr>
          <p:nvPr>
            <p:ph type="body" sz="quarter" idx="13"/>
          </p:nvPr>
        </p:nvSpPr>
        <p:spPr>
          <a:xfrm>
            <a:off x="4648201" y="1559431"/>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405" y="868903"/>
            <a:ext cx="7214671"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6" name="Titre 1"/>
          <p:cNvSpPr>
            <a:spLocks noGrp="1"/>
          </p:cNvSpPr>
          <p:nvPr>
            <p:ph type="title"/>
          </p:nvPr>
        </p:nvSpPr>
        <p:spPr>
          <a:xfrm>
            <a:off x="4648200" y="295018"/>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Tree>
    <p:extLst>
      <p:ext uri="{BB962C8B-B14F-4D97-AF65-F5344CB8AC3E}">
        <p14:creationId xmlns:p14="http://schemas.microsoft.com/office/powerpoint/2010/main" val="37496330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re, contenu et image à gauche (PIP)">
    <p:spTree>
      <p:nvGrpSpPr>
        <p:cNvPr id="1" name=""/>
        <p:cNvGrpSpPr/>
        <p:nvPr/>
      </p:nvGrpSpPr>
      <p:grpSpPr>
        <a:xfrm>
          <a:off x="0" y="0"/>
          <a:ext cx="0" cy="0"/>
          <a:chOff x="0" y="0"/>
          <a:chExt cx="0" cy="0"/>
        </a:xfrm>
      </p:grpSpPr>
      <p:sp>
        <p:nvSpPr>
          <p:cNvPr id="19" name="Rectangle 18"/>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35" name="Groupe 34"/>
          <p:cNvGrpSpPr/>
          <p:nvPr/>
        </p:nvGrpSpPr>
        <p:grpSpPr>
          <a:xfrm>
            <a:off x="62152" y="6153415"/>
            <a:ext cx="630000" cy="630000"/>
            <a:chOff x="11254317" y="5942649"/>
            <a:chExt cx="630000" cy="630000"/>
          </a:xfrm>
        </p:grpSpPr>
        <p:sp>
          <p:nvSpPr>
            <p:cNvPr id="36"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37" name="Image 3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6"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56" name="Espace réservé du pied de page 4"/>
          <p:cNvSpPr>
            <a:spLocks noGrp="1"/>
          </p:cNvSpPr>
          <p:nvPr>
            <p:ph type="ftr" sz="quarter" idx="11"/>
          </p:nvPr>
        </p:nvSpPr>
        <p:spPr>
          <a:xfrm>
            <a:off x="4648203" y="6443138"/>
            <a:ext cx="7264401"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6" name="Espace réservé du texte 3"/>
          <p:cNvSpPr>
            <a:spLocks noGrp="1"/>
          </p:cNvSpPr>
          <p:nvPr>
            <p:ph type="body" sz="quarter" idx="13"/>
          </p:nvPr>
        </p:nvSpPr>
        <p:spPr>
          <a:xfrm>
            <a:off x="4648201" y="1559431"/>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8"/>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4638405" y="868903"/>
            <a:ext cx="7214671"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520840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et vide (PIP)">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0" name="Image 1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8"/>
            <a:ext cx="10521000" cy="225425"/>
          </a:xfrm>
          <a:prstGeom prst="rect">
            <a:avLst/>
          </a:prstGeom>
        </p:spPr>
        <p:txBody>
          <a:bodyPr anchor="ctr"/>
          <a:lstStyle>
            <a:lvl1pPr>
              <a:defRPr lang="fr-FR" sz="900" kern="1200" spc="151" dirty="0" smtClean="0">
                <a:solidFill>
                  <a:srgbClr val="003A8D"/>
                </a:solidFill>
                <a:latin typeface="Segoe UI" panose="020B0502040204020203" pitchFamily="34" charset="0"/>
                <a:ea typeface="+mn-ea"/>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1"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3"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8"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 name="Ellipse 1">
            <a:extLst>
              <a:ext uri="{FF2B5EF4-FFF2-40B4-BE49-F238E27FC236}">
                <a16:creationId xmlns:a16="http://schemas.microsoft.com/office/drawing/2014/main" id="{FEFAB52E-6F3B-3115-F9F8-8E5A06D4765F}"/>
              </a:ext>
            </a:extLst>
          </p:cNvPr>
          <p:cNvSpPr/>
          <p:nvPr userDrawn="1"/>
        </p:nvSpPr>
        <p:spPr>
          <a:xfrm>
            <a:off x="663117" y="1653979"/>
            <a:ext cx="901832" cy="901832"/>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sp>
        <p:nvSpPr>
          <p:cNvPr id="3" name="Ellipse 2">
            <a:extLst>
              <a:ext uri="{FF2B5EF4-FFF2-40B4-BE49-F238E27FC236}">
                <a16:creationId xmlns:a16="http://schemas.microsoft.com/office/drawing/2014/main" id="{89C0302C-CDA5-1959-B928-B6A664A07477}"/>
              </a:ext>
            </a:extLst>
          </p:cNvPr>
          <p:cNvSpPr/>
          <p:nvPr userDrawn="1"/>
        </p:nvSpPr>
        <p:spPr>
          <a:xfrm>
            <a:off x="2596044" y="1646341"/>
            <a:ext cx="901832" cy="901832"/>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sp>
        <p:nvSpPr>
          <p:cNvPr id="4" name="Ellipse 3">
            <a:extLst>
              <a:ext uri="{FF2B5EF4-FFF2-40B4-BE49-F238E27FC236}">
                <a16:creationId xmlns:a16="http://schemas.microsoft.com/office/drawing/2014/main" id="{4858BC39-4E29-12B5-9DBD-22986CD631BF}"/>
              </a:ext>
            </a:extLst>
          </p:cNvPr>
          <p:cNvSpPr/>
          <p:nvPr userDrawn="1"/>
        </p:nvSpPr>
        <p:spPr>
          <a:xfrm>
            <a:off x="4910961" y="1661859"/>
            <a:ext cx="901832" cy="90183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pic>
        <p:nvPicPr>
          <p:cNvPr id="5" name="Graphique 4" descr="Mille avec un remplissage uni">
            <a:extLst>
              <a:ext uri="{FF2B5EF4-FFF2-40B4-BE49-F238E27FC236}">
                <a16:creationId xmlns:a16="http://schemas.microsoft.com/office/drawing/2014/main" id="{F75CC333-2BB8-77CA-ACB9-F3ECC353BBF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23366" y="1765942"/>
            <a:ext cx="677025" cy="677025"/>
          </a:xfrm>
          <a:prstGeom prst="rect">
            <a:avLst/>
          </a:prstGeom>
        </p:spPr>
      </p:pic>
      <p:pic>
        <p:nvPicPr>
          <p:cNvPr id="6" name="Graphique 5" descr="Groupe d’hommes avec un remplissage uni">
            <a:extLst>
              <a:ext uri="{FF2B5EF4-FFF2-40B4-BE49-F238E27FC236}">
                <a16:creationId xmlns:a16="http://schemas.microsoft.com/office/drawing/2014/main" id="{A1F1D8E0-811C-EEFE-86FE-C73F2BAD75F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15701" y="1744621"/>
            <a:ext cx="677025" cy="677025"/>
          </a:xfrm>
          <a:prstGeom prst="rect">
            <a:avLst/>
          </a:prstGeom>
        </p:spPr>
      </p:pic>
      <p:pic>
        <p:nvPicPr>
          <p:cNvPr id="7" name="Graphique 6" descr="Sablier 60% avec un remplissage uni">
            <a:extLst>
              <a:ext uri="{FF2B5EF4-FFF2-40B4-BE49-F238E27FC236}">
                <a16:creationId xmlns:a16="http://schemas.microsoft.com/office/drawing/2014/main" id="{BF761236-DA53-F1D8-54C7-6F9A9BAA0A9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78594" y="1756910"/>
            <a:ext cx="677025" cy="677025"/>
          </a:xfrm>
          <a:prstGeom prst="rect">
            <a:avLst/>
          </a:prstGeom>
        </p:spPr>
      </p:pic>
      <p:sp>
        <p:nvSpPr>
          <p:cNvPr id="8" name="ZoneTexte 7">
            <a:extLst>
              <a:ext uri="{FF2B5EF4-FFF2-40B4-BE49-F238E27FC236}">
                <a16:creationId xmlns:a16="http://schemas.microsoft.com/office/drawing/2014/main" id="{7B9A3405-E62E-00E3-B6A1-3E99A3859A2D}"/>
              </a:ext>
            </a:extLst>
          </p:cNvPr>
          <p:cNvSpPr txBox="1"/>
          <p:nvPr userDrawn="1"/>
        </p:nvSpPr>
        <p:spPr>
          <a:xfrm flipH="1">
            <a:off x="492211" y="2708817"/>
            <a:ext cx="1236991" cy="205121"/>
          </a:xfrm>
          <a:prstGeom prst="rect">
            <a:avLst/>
          </a:prstGeom>
          <a:noFill/>
        </p:spPr>
        <p:txBody>
          <a:bodyPr wrap="square" lIns="0" tIns="0" rIns="0" bIns="0" rtlCol="0" anchor="ctr">
            <a:spAutoFit/>
          </a:bodyPr>
          <a:lstStyle/>
          <a:p>
            <a:pPr algn="ctr"/>
            <a:r>
              <a:rPr lang="fr-FR" sz="1333" b="1">
                <a:solidFill>
                  <a:schemeClr val="accent4"/>
                </a:solidFill>
                <a:latin typeface="Segoe UI" panose="020B0502040204020203" pitchFamily="34" charset="0"/>
                <a:cs typeface="Segoe UI" panose="020B0502040204020203" pitchFamily="34" charset="0"/>
              </a:rPr>
              <a:t>Durée</a:t>
            </a:r>
          </a:p>
        </p:txBody>
      </p:sp>
      <p:sp>
        <p:nvSpPr>
          <p:cNvPr id="10" name="ZoneTexte 9">
            <a:extLst>
              <a:ext uri="{FF2B5EF4-FFF2-40B4-BE49-F238E27FC236}">
                <a16:creationId xmlns:a16="http://schemas.microsoft.com/office/drawing/2014/main" id="{050BF24A-086E-CC9E-2749-4DE36A166859}"/>
              </a:ext>
            </a:extLst>
          </p:cNvPr>
          <p:cNvSpPr txBox="1"/>
          <p:nvPr userDrawn="1"/>
        </p:nvSpPr>
        <p:spPr>
          <a:xfrm flipH="1">
            <a:off x="2431803" y="2701180"/>
            <a:ext cx="1236991" cy="205121"/>
          </a:xfrm>
          <a:prstGeom prst="rect">
            <a:avLst/>
          </a:prstGeom>
          <a:noFill/>
        </p:spPr>
        <p:txBody>
          <a:bodyPr wrap="square" lIns="0" tIns="0" rIns="0" bIns="0" rtlCol="0" anchor="ctr">
            <a:spAutoFit/>
          </a:bodyPr>
          <a:lstStyle/>
          <a:p>
            <a:pPr algn="ctr"/>
            <a:r>
              <a:rPr lang="fr-FR" sz="1333" b="1">
                <a:solidFill>
                  <a:schemeClr val="accent6"/>
                </a:solidFill>
                <a:latin typeface="Segoe UI" panose="020B0502040204020203" pitchFamily="34" charset="0"/>
                <a:cs typeface="Segoe UI" panose="020B0502040204020203" pitchFamily="34" charset="0"/>
              </a:rPr>
              <a:t>Format</a:t>
            </a:r>
          </a:p>
        </p:txBody>
      </p:sp>
      <p:sp>
        <p:nvSpPr>
          <p:cNvPr id="11" name="ZoneTexte 10">
            <a:extLst>
              <a:ext uri="{FF2B5EF4-FFF2-40B4-BE49-F238E27FC236}">
                <a16:creationId xmlns:a16="http://schemas.microsoft.com/office/drawing/2014/main" id="{4FCF8939-22FA-F500-A735-6BF934C1DB98}"/>
              </a:ext>
            </a:extLst>
          </p:cNvPr>
          <p:cNvSpPr txBox="1"/>
          <p:nvPr userDrawn="1"/>
        </p:nvSpPr>
        <p:spPr>
          <a:xfrm flipH="1">
            <a:off x="4746721" y="2722502"/>
            <a:ext cx="1236991" cy="205121"/>
          </a:xfrm>
          <a:prstGeom prst="rect">
            <a:avLst/>
          </a:prstGeom>
          <a:noFill/>
        </p:spPr>
        <p:txBody>
          <a:bodyPr wrap="square" lIns="0" tIns="0" rIns="0" bIns="0" rtlCol="0" anchor="ctr">
            <a:spAutoFit/>
          </a:bodyPr>
          <a:lstStyle/>
          <a:p>
            <a:pPr algn="ctr"/>
            <a:r>
              <a:rPr lang="fr-FR" sz="1333" b="1">
                <a:solidFill>
                  <a:schemeClr val="accent5"/>
                </a:solidFill>
                <a:latin typeface="Segoe UI" panose="020B0502040204020203" pitchFamily="34" charset="0"/>
                <a:cs typeface="Segoe UI" panose="020B0502040204020203" pitchFamily="34" charset="0"/>
              </a:rPr>
              <a:t>Objectif</a:t>
            </a:r>
          </a:p>
        </p:txBody>
      </p:sp>
      <p:sp>
        <p:nvSpPr>
          <p:cNvPr id="12" name="ZoneTexte 11">
            <a:extLst>
              <a:ext uri="{FF2B5EF4-FFF2-40B4-BE49-F238E27FC236}">
                <a16:creationId xmlns:a16="http://schemas.microsoft.com/office/drawing/2014/main" id="{3C831EE1-EB91-A3DF-E80B-1FD08C72C5DA}"/>
              </a:ext>
            </a:extLst>
          </p:cNvPr>
          <p:cNvSpPr txBox="1"/>
          <p:nvPr userDrawn="1"/>
        </p:nvSpPr>
        <p:spPr>
          <a:xfrm>
            <a:off x="512379" y="3812800"/>
            <a:ext cx="4823053" cy="205121"/>
          </a:xfrm>
          <a:prstGeom prst="rect">
            <a:avLst/>
          </a:prstGeom>
          <a:noFill/>
        </p:spPr>
        <p:txBody>
          <a:bodyPr wrap="square" lIns="0" tIns="0" rIns="0" bIns="0" rtlCol="0" anchor="ctr">
            <a:spAutoFit/>
          </a:bodyPr>
          <a:lstStyle/>
          <a:p>
            <a:r>
              <a:rPr lang="fr-FR" sz="1333" b="1">
                <a:latin typeface="Segoe UI" panose="020B0502040204020203" pitchFamily="34" charset="0"/>
                <a:cs typeface="Segoe UI" panose="020B0502040204020203" pitchFamily="34" charset="0"/>
              </a:rPr>
              <a:t>Consignes de l’atelier</a:t>
            </a:r>
          </a:p>
        </p:txBody>
      </p:sp>
      <p:sp>
        <p:nvSpPr>
          <p:cNvPr id="16" name="Espace réservé du texte 29">
            <a:extLst>
              <a:ext uri="{FF2B5EF4-FFF2-40B4-BE49-F238E27FC236}">
                <a16:creationId xmlns:a16="http://schemas.microsoft.com/office/drawing/2014/main" id="{49FA598D-C862-D3B5-7BB4-8902CF4F6FEE}"/>
              </a:ext>
            </a:extLst>
          </p:cNvPr>
          <p:cNvSpPr>
            <a:spLocks noGrp="1"/>
          </p:cNvSpPr>
          <p:nvPr>
            <p:ph type="body" sz="quarter" idx="15"/>
          </p:nvPr>
        </p:nvSpPr>
        <p:spPr>
          <a:xfrm>
            <a:off x="492209" y="4190031"/>
            <a:ext cx="6003952" cy="1799068"/>
          </a:xfrm>
          <a:prstGeom prst="rect">
            <a:avLst/>
          </a:prstGeom>
        </p:spPr>
        <p:txBody>
          <a:bodyPr/>
          <a:lstStyle>
            <a:lvl1pPr marL="0" indent="0">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endParaRPr lang="fr-FR"/>
          </a:p>
        </p:txBody>
      </p:sp>
      <p:sp>
        <p:nvSpPr>
          <p:cNvPr id="19" name="Espace réservé du texte 29">
            <a:extLst>
              <a:ext uri="{FF2B5EF4-FFF2-40B4-BE49-F238E27FC236}">
                <a16:creationId xmlns:a16="http://schemas.microsoft.com/office/drawing/2014/main" id="{2333FD7E-52FC-6C26-C5BC-55CE8B1EAEEA}"/>
              </a:ext>
            </a:extLst>
          </p:cNvPr>
          <p:cNvSpPr>
            <a:spLocks noGrp="1"/>
          </p:cNvSpPr>
          <p:nvPr>
            <p:ph type="body" sz="quarter" idx="13" hasCustomPrompt="1"/>
          </p:nvPr>
        </p:nvSpPr>
        <p:spPr>
          <a:xfrm>
            <a:off x="499124" y="3026620"/>
            <a:ext cx="1244008"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XX minutes</a:t>
            </a:r>
          </a:p>
        </p:txBody>
      </p:sp>
      <p:sp>
        <p:nvSpPr>
          <p:cNvPr id="22" name="Espace réservé du texte 29">
            <a:extLst>
              <a:ext uri="{FF2B5EF4-FFF2-40B4-BE49-F238E27FC236}">
                <a16:creationId xmlns:a16="http://schemas.microsoft.com/office/drawing/2014/main" id="{B6F4EBEF-9F35-B3E8-CED2-23B0974294D0}"/>
              </a:ext>
            </a:extLst>
          </p:cNvPr>
          <p:cNvSpPr>
            <a:spLocks noGrp="1"/>
          </p:cNvSpPr>
          <p:nvPr>
            <p:ph type="body" sz="quarter" idx="16" hasCustomPrompt="1"/>
          </p:nvPr>
        </p:nvSpPr>
        <p:spPr>
          <a:xfrm>
            <a:off x="2447413" y="3019504"/>
            <a:ext cx="1244008"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En plénière</a:t>
            </a:r>
          </a:p>
        </p:txBody>
      </p:sp>
      <p:sp>
        <p:nvSpPr>
          <p:cNvPr id="23" name="Espace réservé du texte 29">
            <a:extLst>
              <a:ext uri="{FF2B5EF4-FFF2-40B4-BE49-F238E27FC236}">
                <a16:creationId xmlns:a16="http://schemas.microsoft.com/office/drawing/2014/main" id="{9FB56F7E-DFF1-F1B9-FDA3-86949DC431D2}"/>
              </a:ext>
            </a:extLst>
          </p:cNvPr>
          <p:cNvSpPr>
            <a:spLocks noGrp="1"/>
          </p:cNvSpPr>
          <p:nvPr>
            <p:ph type="body" sz="quarter" idx="17" hasCustomPrompt="1"/>
          </p:nvPr>
        </p:nvSpPr>
        <p:spPr>
          <a:xfrm>
            <a:off x="4371395" y="3033191"/>
            <a:ext cx="1987639"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Détailler l’objectif</a:t>
            </a:r>
          </a:p>
        </p:txBody>
      </p:sp>
    </p:spTree>
    <p:extLst>
      <p:ext uri="{BB962C8B-B14F-4D97-AF65-F5344CB8AC3E}">
        <p14:creationId xmlns:p14="http://schemas.microsoft.com/office/powerpoint/2010/main" val="4151045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re et vide">
    <p:spTree>
      <p:nvGrpSpPr>
        <p:cNvPr id="1" name=""/>
        <p:cNvGrpSpPr/>
        <p:nvPr/>
      </p:nvGrpSpPr>
      <p:grpSpPr>
        <a:xfrm>
          <a:off x="0" y="0"/>
          <a:ext cx="0" cy="0"/>
          <a:chOff x="0" y="0"/>
          <a:chExt cx="0" cy="0"/>
        </a:xfrm>
      </p:grpSpPr>
      <p:grpSp>
        <p:nvGrpSpPr>
          <p:cNvPr id="13" name="Groupe 12"/>
          <p:cNvGrpSpPr/>
          <p:nvPr/>
        </p:nvGrpSpPr>
        <p:grpSpPr>
          <a:xfrm>
            <a:off x="62152" y="6153415"/>
            <a:ext cx="630000" cy="630000"/>
            <a:chOff x="11254317" y="5942649"/>
            <a:chExt cx="630000" cy="630000"/>
          </a:xfrm>
        </p:grpSpPr>
        <p:sp>
          <p:nvSpPr>
            <p:cNvPr id="14"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8"/>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0"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6"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3922433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1_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fr-FR"/>
              <a:t>Modifiez le style des sous-titres du masque</a:t>
            </a:r>
            <a:endParaRPr lang="en-US"/>
          </a:p>
        </p:txBody>
      </p:sp>
      <p:sp>
        <p:nvSpPr>
          <p:cNvPr id="9" name="Rectangle 13"/>
          <p:cNvSpPr/>
          <p:nvPr/>
        </p:nvSpPr>
        <p:spPr>
          <a:xfrm>
            <a:off x="4880014" y="3858690"/>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996" y="5805725"/>
            <a:ext cx="1018605" cy="941409"/>
          </a:xfrm>
          <a:prstGeom prst="rect">
            <a:avLst/>
          </a:prstGeom>
        </p:spPr>
      </p:pic>
      <p:pic>
        <p:nvPicPr>
          <p:cNvPr id="11" name="Imag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3109" y="6307277"/>
            <a:ext cx="531475" cy="274695"/>
          </a:xfrm>
          <a:prstGeom prst="rect">
            <a:avLst/>
          </a:prstGeom>
        </p:spPr>
      </p:pic>
    </p:spTree>
    <p:extLst>
      <p:ext uri="{BB962C8B-B14F-4D97-AF65-F5344CB8AC3E}">
        <p14:creationId xmlns:p14="http://schemas.microsoft.com/office/powerpoint/2010/main" val="25487682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7"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306420901"/>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re et contenu (PIP)">
    <p:spTree>
      <p:nvGrpSpPr>
        <p:cNvPr id="1" name=""/>
        <p:cNvGrpSpPr/>
        <p:nvPr/>
      </p:nvGrpSpPr>
      <p:grpSpPr>
        <a:xfrm>
          <a:off x="0" y="0"/>
          <a:ext cx="0" cy="0"/>
          <a:chOff x="0" y="0"/>
          <a:chExt cx="0" cy="0"/>
        </a:xfrm>
      </p:grpSpPr>
      <p:sp>
        <p:nvSpPr>
          <p:cNvPr id="15" name="Rectangle 14"/>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5"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999760806"/>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re, contenu 2 colonnes">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7"/>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0"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12" name="Espace réservé du texte 3"/>
          <p:cNvSpPr>
            <a:spLocks noGrp="1"/>
          </p:cNvSpPr>
          <p:nvPr>
            <p:ph type="body" sz="quarter" idx="13"/>
          </p:nvPr>
        </p:nvSpPr>
        <p:spPr>
          <a:xfrm>
            <a:off x="821535"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3"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458150501"/>
      </p:ext>
    </p:extLst>
  </p:cSld>
  <p:clrMapOvr>
    <a:masterClrMapping/>
  </p:clrMapOvr>
  <p:extLst>
    <p:ext uri="{DCECCB84-F9BA-43D5-87BE-67443E8EF086}">
      <p15:sldGuideLst xmlns:p15="http://schemas.microsoft.com/office/powerpoint/2012/main">
        <p15:guide id="1" orient="horz" pos="1058">
          <p15:clr>
            <a:srgbClr val="FBAE40"/>
          </p15:clr>
        </p15:guide>
        <p15:guide id="2" pos="182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re, contenu 2 colonnes (PIP)">
    <p:spTree>
      <p:nvGrpSpPr>
        <p:cNvPr id="1" name=""/>
        <p:cNvGrpSpPr/>
        <p:nvPr/>
      </p:nvGrpSpPr>
      <p:grpSpPr>
        <a:xfrm>
          <a:off x="0" y="0"/>
          <a:ext cx="0" cy="0"/>
          <a:chOff x="0" y="0"/>
          <a:chExt cx="0" cy="0"/>
        </a:xfrm>
      </p:grpSpPr>
      <p:sp>
        <p:nvSpPr>
          <p:cNvPr id="12" name="Rectangle 11"/>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16" name="Espace réservé du texte 5"/>
          <p:cNvSpPr>
            <a:spLocks noGrp="1"/>
          </p:cNvSpPr>
          <p:nvPr>
            <p:ph type="body" sz="quarter" idx="15"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20" name="Espace réservé du texte 3"/>
          <p:cNvSpPr>
            <a:spLocks noGrp="1"/>
          </p:cNvSpPr>
          <p:nvPr>
            <p:ph type="body" sz="quarter" idx="13"/>
          </p:nvPr>
        </p:nvSpPr>
        <p:spPr>
          <a:xfrm>
            <a:off x="821535"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3"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791428978"/>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itre, contenu et image centrale">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5" y="3515523"/>
            <a:ext cx="10933640"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070059160"/>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Titre, contenu et image centrale (PIP)">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sp>
        <p:nvSpPr>
          <p:cNvPr id="12" name="Rectangle 11"/>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7" y="3515523"/>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430431386"/>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re, contenu et image à gauche ">
    <p:spTree>
      <p:nvGrpSpPr>
        <p:cNvPr id="1" name=""/>
        <p:cNvGrpSpPr/>
        <p:nvPr/>
      </p:nvGrpSpPr>
      <p:grpSpPr>
        <a:xfrm>
          <a:off x="0" y="0"/>
          <a:ext cx="0" cy="0"/>
          <a:chOff x="0" y="0"/>
          <a:chExt cx="0" cy="0"/>
        </a:xfrm>
      </p:grpSpPr>
      <p:grpSp>
        <p:nvGrpSpPr>
          <p:cNvPr id="16" name="Groupe 15"/>
          <p:cNvGrpSpPr/>
          <p:nvPr/>
        </p:nvGrpSpPr>
        <p:grpSpPr>
          <a:xfrm>
            <a:off x="62152" y="6153415"/>
            <a:ext cx="630000" cy="630000"/>
            <a:chOff x="11254317" y="5942649"/>
            <a:chExt cx="630000" cy="630000"/>
          </a:xfrm>
        </p:grpSpPr>
        <p:sp>
          <p:nvSpPr>
            <p:cNvPr id="17"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5"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4" name="Espace réservé du pied de page 4"/>
          <p:cNvSpPr>
            <a:spLocks noGrp="1"/>
          </p:cNvSpPr>
          <p:nvPr>
            <p:ph type="ftr" sz="quarter" idx="11"/>
          </p:nvPr>
        </p:nvSpPr>
        <p:spPr>
          <a:xfrm>
            <a:off x="4648201" y="6443137"/>
            <a:ext cx="7196667"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2" name="Espace réservé du texte 3"/>
          <p:cNvSpPr>
            <a:spLocks noGrp="1"/>
          </p:cNvSpPr>
          <p:nvPr>
            <p:ph type="body" sz="quarter" idx="13"/>
          </p:nvPr>
        </p:nvSpPr>
        <p:spPr>
          <a:xfrm>
            <a:off x="4648201" y="1559430"/>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403" y="868903"/>
            <a:ext cx="7214671"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26" name="Titre 1"/>
          <p:cNvSpPr>
            <a:spLocks noGrp="1"/>
          </p:cNvSpPr>
          <p:nvPr>
            <p:ph type="title"/>
          </p:nvPr>
        </p:nvSpPr>
        <p:spPr>
          <a:xfrm>
            <a:off x="4648200" y="295017"/>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Tree>
    <p:extLst>
      <p:ext uri="{BB962C8B-B14F-4D97-AF65-F5344CB8AC3E}">
        <p14:creationId xmlns:p14="http://schemas.microsoft.com/office/powerpoint/2010/main" val="10640991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Titre, contenu et image à gauche (PIP)">
    <p:spTree>
      <p:nvGrpSpPr>
        <p:cNvPr id="1" name=""/>
        <p:cNvGrpSpPr/>
        <p:nvPr/>
      </p:nvGrpSpPr>
      <p:grpSpPr>
        <a:xfrm>
          <a:off x="0" y="0"/>
          <a:ext cx="0" cy="0"/>
          <a:chOff x="0" y="0"/>
          <a:chExt cx="0" cy="0"/>
        </a:xfrm>
      </p:grpSpPr>
      <p:sp>
        <p:nvSpPr>
          <p:cNvPr id="19" name="Rectangle 18"/>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35" name="Groupe 34"/>
          <p:cNvGrpSpPr/>
          <p:nvPr/>
        </p:nvGrpSpPr>
        <p:grpSpPr>
          <a:xfrm>
            <a:off x="62152" y="6153415"/>
            <a:ext cx="630000" cy="630000"/>
            <a:chOff x="11254317" y="5942649"/>
            <a:chExt cx="630000" cy="630000"/>
          </a:xfrm>
        </p:grpSpPr>
        <p:sp>
          <p:nvSpPr>
            <p:cNvPr id="36"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37" name="Image 3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5"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56" name="Espace réservé du pied de page 4"/>
          <p:cNvSpPr>
            <a:spLocks noGrp="1"/>
          </p:cNvSpPr>
          <p:nvPr>
            <p:ph type="ftr" sz="quarter" idx="11"/>
          </p:nvPr>
        </p:nvSpPr>
        <p:spPr>
          <a:xfrm>
            <a:off x="4648203" y="6443137"/>
            <a:ext cx="7264401"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6" name="Espace réservé du texte 3"/>
          <p:cNvSpPr>
            <a:spLocks noGrp="1"/>
          </p:cNvSpPr>
          <p:nvPr>
            <p:ph type="body" sz="quarter" idx="13"/>
          </p:nvPr>
        </p:nvSpPr>
        <p:spPr>
          <a:xfrm>
            <a:off x="4648201" y="1559430"/>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7"/>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4638403" y="868903"/>
            <a:ext cx="7214671"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2282020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Titre et vide">
    <p:spTree>
      <p:nvGrpSpPr>
        <p:cNvPr id="1" name=""/>
        <p:cNvGrpSpPr/>
        <p:nvPr/>
      </p:nvGrpSpPr>
      <p:grpSpPr>
        <a:xfrm>
          <a:off x="0" y="0"/>
          <a:ext cx="0" cy="0"/>
          <a:chOff x="0" y="0"/>
          <a:chExt cx="0" cy="0"/>
        </a:xfrm>
      </p:grpSpPr>
      <p:grpSp>
        <p:nvGrpSpPr>
          <p:cNvPr id="13" name="Groupe 12"/>
          <p:cNvGrpSpPr/>
          <p:nvPr/>
        </p:nvGrpSpPr>
        <p:grpSpPr>
          <a:xfrm>
            <a:off x="62152" y="6153415"/>
            <a:ext cx="630000" cy="630000"/>
            <a:chOff x="11254317" y="5942649"/>
            <a:chExt cx="630000" cy="630000"/>
          </a:xfrm>
        </p:grpSpPr>
        <p:sp>
          <p:nvSpPr>
            <p:cNvPr id="14"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7"/>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0"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6"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6794180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itre et vide (PIP)">
    <p:spTree>
      <p:nvGrpSpPr>
        <p:cNvPr id="1" name=""/>
        <p:cNvGrpSpPr/>
        <p:nvPr/>
      </p:nvGrpSpPr>
      <p:grpSpPr>
        <a:xfrm>
          <a:off x="0" y="0"/>
          <a:ext cx="0" cy="0"/>
          <a:chOff x="0" y="0"/>
          <a:chExt cx="0" cy="0"/>
        </a:xfrm>
      </p:grpSpPr>
      <p:sp>
        <p:nvSpPr>
          <p:cNvPr id="9" name="Rectangle 8"/>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0" name="Image 1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7"/>
            <a:ext cx="10521000" cy="225425"/>
          </a:xfrm>
          <a:prstGeom prst="rect">
            <a:avLst/>
          </a:prstGeom>
        </p:spPr>
        <p:txBody>
          <a:bodyPr anchor="ctr"/>
          <a:lstStyle>
            <a:lvl1pPr>
              <a:defRPr lang="fr-FR" sz="900" kern="1200" spc="151" dirty="0" smtClean="0">
                <a:solidFill>
                  <a:srgbClr val="003A8D"/>
                </a:solidFill>
                <a:latin typeface="Segoe UI" panose="020B0502040204020203" pitchFamily="34" charset="0"/>
                <a:ea typeface="+mn-ea"/>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1"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3"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8"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852393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hapitre fond bleu">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3"/>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p>
        </p:txBody>
      </p:sp>
    </p:spTree>
    <p:extLst>
      <p:ext uri="{BB962C8B-B14F-4D97-AF65-F5344CB8AC3E}">
        <p14:creationId xmlns:p14="http://schemas.microsoft.com/office/powerpoint/2010/main" val="28739884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hapitre fond blanc">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3"/>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p>
        </p:txBody>
      </p:sp>
    </p:spTree>
    <p:extLst>
      <p:ext uri="{BB962C8B-B14F-4D97-AF65-F5344CB8AC3E}">
        <p14:creationId xmlns:p14="http://schemas.microsoft.com/office/powerpoint/2010/main" val="28530553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Septembre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5"/>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7"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353355282"/>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Septembre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5"/>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445124011"/>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a:xfrm>
            <a:off x="609599" y="1379660"/>
            <a:ext cx="10972800" cy="4526280"/>
          </a:xfrm>
        </p:spPr>
        <p:txBody>
          <a:bodyPr lIns="0" tIns="0" rIns="0" bIns="0"/>
          <a:lstStyle>
            <a:lvl1pPr>
              <a:defRPr/>
            </a:lvl1pPr>
          </a:lstStyle>
          <a:p>
            <a:endParaRPr/>
          </a:p>
        </p:txBody>
      </p:sp>
      <p:sp>
        <p:nvSpPr>
          <p:cNvPr id="6" name="Holder 6"/>
          <p:cNvSpPr>
            <a:spLocks noGrp="1"/>
          </p:cNvSpPr>
          <p:nvPr>
            <p:ph type="sldNum" sz="quarter" idx="7"/>
          </p:nvPr>
        </p:nvSpPr>
        <p:spPr/>
        <p:txBody>
          <a:bodyPr lIns="0" tIns="0" rIns="0" bIns="0"/>
          <a:lstStyle>
            <a:lvl1pPr>
              <a:defRPr sz="1200" b="0" i="0">
                <a:solidFill>
                  <a:srgbClr val="6C6D6F"/>
                </a:solidFill>
                <a:latin typeface="Arial"/>
                <a:cs typeface="Arial"/>
              </a:defRPr>
            </a:lvl1pPr>
          </a:lstStyle>
          <a:p>
            <a:pPr marL="33866">
              <a:spcBef>
                <a:spcPts val="20"/>
              </a:spcBef>
            </a:pPr>
            <a:fld id="{81D60167-4931-47E6-BA6A-407CBD079E47}" type="slidenum">
              <a:rPr lang="en-FR" spc="-7" smtClean="0"/>
              <a:pPr marL="33866">
                <a:spcBef>
                  <a:spcPts val="20"/>
                </a:spcBef>
              </a:pPr>
              <a:t>‹N°›</a:t>
            </a:fld>
            <a:endParaRPr lang="en-FR" spc="-7"/>
          </a:p>
        </p:txBody>
      </p:sp>
      <p:sp>
        <p:nvSpPr>
          <p:cNvPr id="5" name="ZoneTexte 4">
            <a:extLst>
              <a:ext uri="{FF2B5EF4-FFF2-40B4-BE49-F238E27FC236}">
                <a16:creationId xmlns:a16="http://schemas.microsoft.com/office/drawing/2014/main" id="{3196482B-8B3F-0F4C-B316-9FAC51EA4D3A}"/>
              </a:ext>
            </a:extLst>
          </p:cNvPr>
          <p:cNvSpPr txBox="1"/>
          <p:nvPr userDrawn="1"/>
        </p:nvSpPr>
        <p:spPr>
          <a:xfrm>
            <a:off x="5168184" y="6231798"/>
            <a:ext cx="1855637" cy="461665"/>
          </a:xfrm>
          <a:prstGeom prst="rect">
            <a:avLst/>
          </a:prstGeom>
          <a:noFill/>
        </p:spPr>
        <p:txBody>
          <a:bodyPr wrap="square" rtlCol="0">
            <a:spAutoFit/>
          </a:bodyPr>
          <a:lstStyle/>
          <a:p>
            <a:pPr algn="ctr"/>
            <a:r>
              <a:rPr lang="en-GB" sz="1200">
                <a:solidFill>
                  <a:schemeClr val="bg1">
                    <a:lumMod val="50000"/>
                  </a:schemeClr>
                </a:solidFill>
              </a:rPr>
              <a:t>Mars 2022</a:t>
            </a:r>
          </a:p>
          <a:p>
            <a:pPr algn="ctr"/>
            <a:r>
              <a:rPr lang="en-GB" sz="1200">
                <a:solidFill>
                  <a:schemeClr val="bg1">
                    <a:lumMod val="50000"/>
                  </a:schemeClr>
                </a:solidFill>
              </a:rPr>
              <a:t>IBM &amp; </a:t>
            </a:r>
            <a:r>
              <a:rPr lang="en-GB" sz="1200" err="1">
                <a:solidFill>
                  <a:schemeClr val="bg1">
                    <a:lumMod val="50000"/>
                  </a:schemeClr>
                </a:solidFill>
              </a:rPr>
              <a:t>CLIENTconfidentiel</a:t>
            </a:r>
            <a:endParaRPr lang="en-GB" sz="1200">
              <a:solidFill>
                <a:schemeClr val="bg1">
                  <a:lumMod val="50000"/>
                </a:schemeClr>
              </a:solidFill>
            </a:endParaRPr>
          </a:p>
        </p:txBody>
      </p:sp>
      <p:sp>
        <p:nvSpPr>
          <p:cNvPr id="11" name="object 10">
            <a:extLst>
              <a:ext uri="{FF2B5EF4-FFF2-40B4-BE49-F238E27FC236}">
                <a16:creationId xmlns:a16="http://schemas.microsoft.com/office/drawing/2014/main" id="{0EC37999-ECD1-DE46-8F48-93DD12E30265}"/>
              </a:ext>
            </a:extLst>
          </p:cNvPr>
          <p:cNvSpPr/>
          <p:nvPr userDrawn="1"/>
        </p:nvSpPr>
        <p:spPr>
          <a:xfrm>
            <a:off x="432819" y="6339839"/>
            <a:ext cx="688847" cy="276352"/>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endParaRPr sz="2400"/>
          </a:p>
        </p:txBody>
      </p:sp>
      <p:sp>
        <p:nvSpPr>
          <p:cNvPr id="12" name="Titre 11">
            <a:extLst>
              <a:ext uri="{FF2B5EF4-FFF2-40B4-BE49-F238E27FC236}">
                <a16:creationId xmlns:a16="http://schemas.microsoft.com/office/drawing/2014/main" id="{04109B8E-C0CA-CF4A-A1DA-37DAFFC1382C}"/>
              </a:ext>
            </a:extLst>
          </p:cNvPr>
          <p:cNvSpPr>
            <a:spLocks noGrp="1"/>
          </p:cNvSpPr>
          <p:nvPr>
            <p:ph type="title"/>
          </p:nvPr>
        </p:nvSpPr>
        <p:spPr>
          <a:xfrm>
            <a:off x="101600" y="156899"/>
            <a:ext cx="10383024" cy="523624"/>
          </a:xfrm>
          <a:prstGeom prst="rect">
            <a:avLst/>
          </a:prstGeom>
        </p:spPr>
        <p:txBody>
          <a:bodyPr/>
          <a:lstStyle>
            <a:lvl1pPr>
              <a:defRPr b="1">
                <a:latin typeface="Arial" panose="020B0604020202020204" pitchFamily="34" charset="0"/>
                <a:cs typeface="Arial" panose="020B0604020202020204" pitchFamily="34" charset="0"/>
              </a:defRPr>
            </a:lvl1pPr>
          </a:lstStyle>
          <a:p>
            <a:r>
              <a:rPr lang="fr-FR"/>
              <a:t>Modifiez le style du titre</a:t>
            </a:r>
            <a:endParaRPr lang="en-GB"/>
          </a:p>
        </p:txBody>
      </p:sp>
      <p:cxnSp>
        <p:nvCxnSpPr>
          <p:cNvPr id="13" name="Connecteur droit 28">
            <a:extLst>
              <a:ext uri="{FF2B5EF4-FFF2-40B4-BE49-F238E27FC236}">
                <a16:creationId xmlns:a16="http://schemas.microsoft.com/office/drawing/2014/main" id="{EFAF0010-ADA1-7748-A509-B96B2DC55E23}"/>
              </a:ext>
            </a:extLst>
          </p:cNvPr>
          <p:cNvCxnSpPr/>
          <p:nvPr userDrawn="1"/>
        </p:nvCxnSpPr>
        <p:spPr>
          <a:xfrm>
            <a:off x="0" y="779407"/>
            <a:ext cx="121920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pic>
        <p:nvPicPr>
          <p:cNvPr id="10" name="Immagine 13">
            <a:extLst>
              <a:ext uri="{FF2B5EF4-FFF2-40B4-BE49-F238E27FC236}">
                <a16:creationId xmlns:a16="http://schemas.microsoft.com/office/drawing/2014/main" id="{E4C47D91-C9E2-7449-8FEE-B36157A746D4}"/>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320800" y="6242072"/>
            <a:ext cx="1968000" cy="471885"/>
          </a:xfrm>
          <a:prstGeom prst="rect">
            <a:avLst/>
          </a:prstGeom>
          <a:solidFill>
            <a:srgbClr val="30302F"/>
          </a:solidFill>
          <a:ln>
            <a:noFill/>
          </a:ln>
        </p:spPr>
      </p:pic>
    </p:spTree>
    <p:extLst>
      <p:ext uri="{BB962C8B-B14F-4D97-AF65-F5344CB8AC3E}">
        <p14:creationId xmlns:p14="http://schemas.microsoft.com/office/powerpoint/2010/main" val="27095453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ibm sign-off (blue6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30932" y="3083850"/>
            <a:ext cx="1730141" cy="690308"/>
          </a:xfrm>
          <a:prstGeom prst="rect">
            <a:avLst/>
          </a:prstGeom>
        </p:spPr>
      </p:pic>
    </p:spTree>
    <p:extLst>
      <p:ext uri="{BB962C8B-B14F-4D97-AF65-F5344CB8AC3E}">
        <p14:creationId xmlns:p14="http://schemas.microsoft.com/office/powerpoint/2010/main" val="13443724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re image">
    <p:spTree>
      <p:nvGrpSpPr>
        <p:cNvPr id="1" name=""/>
        <p:cNvGrpSpPr/>
        <p:nvPr/>
      </p:nvGrpSpPr>
      <p:grpSpPr>
        <a:xfrm>
          <a:off x="0" y="0"/>
          <a:ext cx="0" cy="0"/>
          <a:chOff x="0" y="0"/>
          <a:chExt cx="0" cy="0"/>
        </a:xfrm>
      </p:grpSpPr>
      <p:pic>
        <p:nvPicPr>
          <p:cNvPr id="16" name="Image 1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61972" y="3065822"/>
            <a:ext cx="5029200" cy="3803333"/>
          </a:xfrm>
          <a:prstGeom prst="rect">
            <a:avLst/>
          </a:prstGeom>
        </p:spPr>
      </p:pic>
      <p:sp>
        <p:nvSpPr>
          <p:cNvPr id="15" name="Décision 2"/>
          <p:cNvSpPr/>
          <p:nvPr userDrawn="1"/>
        </p:nvSpPr>
        <p:spPr>
          <a:xfrm flipH="1">
            <a:off x="10763817" y="2559241"/>
            <a:ext cx="1427356" cy="428897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14" name="Décision 2"/>
          <p:cNvSpPr/>
          <p:nvPr userDrawn="1"/>
        </p:nvSpPr>
        <p:spPr>
          <a:xfrm>
            <a:off x="-8382" y="1"/>
            <a:ext cx="3328908" cy="6869155"/>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2" h="10003">
                <a:moveTo>
                  <a:pt x="0" y="10003"/>
                </a:moveTo>
                <a:cubicBezTo>
                  <a:pt x="7" y="6670"/>
                  <a:pt x="6" y="3333"/>
                  <a:pt x="13" y="0"/>
                </a:cubicBezTo>
                <a:lnTo>
                  <a:pt x="6284" y="0"/>
                </a:lnTo>
                <a:lnTo>
                  <a:pt x="9992" y="2700"/>
                </a:lnTo>
                <a:lnTo>
                  <a:pt x="0" y="10003"/>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36" name="Shape 36"/>
          <p:cNvSpPr>
            <a:spLocks noGrp="1"/>
          </p:cNvSpPr>
          <p:nvPr>
            <p:ph type="title"/>
          </p:nvPr>
        </p:nvSpPr>
        <p:spPr>
          <a:xfrm>
            <a:off x="3625149" y="288715"/>
            <a:ext cx="8303812" cy="2874104"/>
          </a:xfrm>
          <a:prstGeom prst="rect">
            <a:avLst/>
          </a:prstGeom>
        </p:spPr>
        <p:txBody>
          <a:bodyPr/>
          <a:lstStyle>
            <a:lvl1pPr>
              <a:defRPr sz="3225" b="0">
                <a:solidFill>
                  <a:srgbClr val="FFFFFF"/>
                </a:solidFill>
              </a:defRPr>
            </a:lvl1pPr>
          </a:lstStyle>
          <a:p>
            <a:r>
              <a:rPr lang="en-US"/>
              <a:t>Click to edit Master title style</a:t>
            </a:r>
            <a:endParaRPr/>
          </a:p>
        </p:txBody>
      </p:sp>
      <p:sp>
        <p:nvSpPr>
          <p:cNvPr id="37" name="Shape 37"/>
          <p:cNvSpPr>
            <a:spLocks noGrp="1"/>
          </p:cNvSpPr>
          <p:nvPr>
            <p:ph type="body" sz="half" idx="1"/>
          </p:nvPr>
        </p:nvSpPr>
        <p:spPr>
          <a:xfrm>
            <a:off x="3361309" y="2360054"/>
            <a:ext cx="4508528" cy="4021755"/>
          </a:xfrm>
          <a:prstGeom prst="rect">
            <a:avLst/>
          </a:prstGeom>
        </p:spPr>
        <p:txBody>
          <a:bodyPr anchor="ctr"/>
          <a:lstStyle>
            <a:lvl1pPr algn="r">
              <a:lnSpc>
                <a:spcPct val="100000"/>
              </a:lnSpc>
              <a:spcBef>
                <a:spcPts val="0"/>
              </a:spcBef>
              <a:defRPr sz="1351">
                <a:solidFill>
                  <a:srgbClr val="FFFFFF"/>
                </a:solidFill>
                <a:latin typeface="+mn-lt"/>
              </a:defRPr>
            </a:lvl1pPr>
            <a:lvl2pPr marL="0" indent="85721" algn="r">
              <a:lnSpc>
                <a:spcPct val="100000"/>
              </a:lnSpc>
              <a:spcBef>
                <a:spcPts val="0"/>
              </a:spcBef>
              <a:buClrTx/>
              <a:buSzTx/>
              <a:buNone/>
              <a:defRPr sz="1200">
                <a:solidFill>
                  <a:srgbClr val="DCDEE0"/>
                </a:solidFill>
                <a:latin typeface="Swis721 Lt BT"/>
                <a:ea typeface="Swis721 Lt BT"/>
                <a:cs typeface="Swis721 Lt BT"/>
                <a:sym typeface="Swis721 Lt BT"/>
              </a:defRPr>
            </a:lvl2pPr>
            <a:lvl3pPr marL="0" indent="171442" algn="r">
              <a:lnSpc>
                <a:spcPct val="100000"/>
              </a:lnSpc>
              <a:spcBef>
                <a:spcPts val="0"/>
              </a:spcBef>
              <a:buClrTx/>
              <a:buSzTx/>
              <a:buNone/>
              <a:defRPr sz="1200">
                <a:solidFill>
                  <a:srgbClr val="DCDEE0"/>
                </a:solidFill>
                <a:latin typeface="Swis721 Lt BT"/>
                <a:ea typeface="Swis721 Lt BT"/>
                <a:cs typeface="Swis721 Lt BT"/>
                <a:sym typeface="Swis721 Lt BT"/>
              </a:defRPr>
            </a:lvl3pPr>
            <a:lvl4pPr marL="0" indent="257163" algn="r">
              <a:lnSpc>
                <a:spcPct val="100000"/>
              </a:lnSpc>
              <a:spcBef>
                <a:spcPts val="0"/>
              </a:spcBef>
              <a:buClrTx/>
              <a:buSzTx/>
              <a:buNone/>
              <a:defRPr sz="1200">
                <a:solidFill>
                  <a:srgbClr val="DCDEE0"/>
                </a:solidFill>
                <a:latin typeface="Swis721 Lt BT"/>
                <a:ea typeface="Swis721 Lt BT"/>
                <a:cs typeface="Swis721 Lt BT"/>
                <a:sym typeface="Swis721 Lt BT"/>
              </a:defRPr>
            </a:lvl4pPr>
            <a:lvl5pPr marL="0" indent="342883" algn="r">
              <a:lnSpc>
                <a:spcPct val="100000"/>
              </a:lnSpc>
              <a:spcBef>
                <a:spcPts val="0"/>
              </a:spcBef>
              <a:buClrTx/>
              <a:buSzTx/>
              <a:buNone/>
              <a:defRPr sz="1200">
                <a:solidFill>
                  <a:srgbClr val="DCDEE0"/>
                </a:solidFill>
                <a:latin typeface="Swis721 Lt BT"/>
                <a:ea typeface="Swis721 Lt BT"/>
                <a:cs typeface="Swis721 Lt BT"/>
                <a:sym typeface="Swis721 Lt B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4" name="Shape 44"/>
          <p:cNvSpPr/>
          <p:nvPr/>
        </p:nvSpPr>
        <p:spPr>
          <a:xfrm>
            <a:off x="423328" y="5670333"/>
            <a:ext cx="4710959" cy="786391"/>
          </a:xfrm>
          <a:custGeom>
            <a:avLst/>
            <a:gdLst/>
            <a:ahLst/>
            <a:cxnLst>
              <a:cxn ang="0">
                <a:pos x="wd2" y="hd2"/>
              </a:cxn>
              <a:cxn ang="5400000">
                <a:pos x="wd2" y="hd2"/>
              </a:cxn>
              <a:cxn ang="10800000">
                <a:pos x="wd2" y="hd2"/>
              </a:cxn>
              <a:cxn ang="16200000">
                <a:pos x="wd2" y="hd2"/>
              </a:cxn>
            </a:cxnLst>
            <a:rect l="0" t="0" r="r" b="b"/>
            <a:pathLst>
              <a:path w="21600" h="21600" extrusionOk="0">
                <a:moveTo>
                  <a:pt x="0" y="21458"/>
                </a:moveTo>
                <a:lnTo>
                  <a:pt x="2445" y="0"/>
                </a:lnTo>
                <a:lnTo>
                  <a:pt x="21600" y="174"/>
                </a:lnTo>
                <a:lnTo>
                  <a:pt x="19166" y="21600"/>
                </a:lnTo>
                <a:lnTo>
                  <a:pt x="0" y="21458"/>
                </a:lnTo>
                <a:close/>
              </a:path>
            </a:pathLst>
          </a:custGeom>
          <a:solidFill>
            <a:srgbClr val="FFFFFF"/>
          </a:solidFill>
          <a:ln w="12700">
            <a:miter lim="400000"/>
          </a:ln>
        </p:spPr>
        <p:txBody>
          <a:bodyPr lIns="26789" tIns="26789" rIns="26789" bIns="26789" anchor="ctr"/>
          <a:lstStyle/>
          <a:p>
            <a:pPr>
              <a:defRPr sz="3200"/>
            </a:pPr>
            <a:endParaRPr sz="1200"/>
          </a:p>
        </p:txBody>
      </p:sp>
      <p:pic>
        <p:nvPicPr>
          <p:cNvPr id="45" name="pasted-image.tif"/>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83639" y="5917081"/>
            <a:ext cx="2108455" cy="292967"/>
          </a:xfrm>
          <a:prstGeom prst="rect">
            <a:avLst/>
          </a:prstGeom>
          <a:ln w="12700">
            <a:miter lim="400000"/>
          </a:ln>
        </p:spPr>
      </p:pic>
      <p:pic>
        <p:nvPicPr>
          <p:cNvPr id="46" name="pasted-image.tif"/>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492571" y="5850295"/>
            <a:ext cx="872531" cy="394256"/>
          </a:xfrm>
          <a:prstGeom prst="rect">
            <a:avLst/>
          </a:prstGeom>
          <a:ln w="12700">
            <a:miter lim="400000"/>
          </a:ln>
        </p:spPr>
      </p:pic>
      <p:pic>
        <p:nvPicPr>
          <p:cNvPr id="12" name="pasted-image.pdf"/>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83463" y="198888"/>
            <a:ext cx="1584368" cy="1464101"/>
          </a:xfrm>
          <a:prstGeom prst="rect">
            <a:avLst/>
          </a:prstGeom>
          <a:ln w="12700">
            <a:miter lim="400000"/>
          </a:ln>
        </p:spPr>
      </p:pic>
      <p:pic>
        <p:nvPicPr>
          <p:cNvPr id="17" name="Picture 5" descr="IBM_black_logo">
            <a:extLst>
              <a:ext uri="{FF2B5EF4-FFF2-40B4-BE49-F238E27FC236}">
                <a16:creationId xmlns:a16="http://schemas.microsoft.com/office/drawing/2014/main" id="{0C94F7B7-96FE-0C45-862B-158C4940792E}"/>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669005" y="1861875"/>
            <a:ext cx="987068" cy="37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869717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12" name="Espace réservé du pied de page 1">
            <a:extLst>
              <a:ext uri="{FF2B5EF4-FFF2-40B4-BE49-F238E27FC236}">
                <a16:creationId xmlns:a16="http://schemas.microsoft.com/office/drawing/2014/main" id="{F20C0310-E344-43F6-9D43-6DDF494E2184}"/>
              </a:ext>
            </a:extLst>
          </p:cNvPr>
          <p:cNvSpPr>
            <a:spLocks noGrp="1"/>
          </p:cNvSpPr>
          <p:nvPr>
            <p:ph type="ftr" sz="quarter" idx="3"/>
          </p:nvPr>
        </p:nvSpPr>
        <p:spPr>
          <a:xfrm>
            <a:off x="507524" y="6589856"/>
            <a:ext cx="1918431" cy="216000"/>
          </a:xfrm>
          <a:prstGeom prst="rect">
            <a:avLst/>
          </a:prstGeom>
        </p:spPr>
        <p:txBody>
          <a:bodyPr wrap="none" lIns="36000" tIns="0" rIns="72000" bIns="0" anchor="ctr"/>
          <a:lstStyle>
            <a:lvl1pPr>
              <a:defRPr sz="900"/>
            </a:lvl1pPr>
          </a:lstStyle>
          <a:p>
            <a:endParaRPr lang="fr-FR"/>
          </a:p>
        </p:txBody>
      </p:sp>
      <p:sp>
        <p:nvSpPr>
          <p:cNvPr id="13" name="Espace réservé du numéro de diapositive 2">
            <a:extLst>
              <a:ext uri="{FF2B5EF4-FFF2-40B4-BE49-F238E27FC236}">
                <a16:creationId xmlns:a16="http://schemas.microsoft.com/office/drawing/2014/main" id="{48532099-53A3-423B-A837-EC630AC2AE32}"/>
              </a:ext>
            </a:extLst>
          </p:cNvPr>
          <p:cNvSpPr>
            <a:spLocks noGrp="1"/>
          </p:cNvSpPr>
          <p:nvPr>
            <p:ph type="sldNum" sz="quarter" idx="4"/>
          </p:nvPr>
        </p:nvSpPr>
        <p:spPr>
          <a:xfrm>
            <a:off x="170669" y="6587027"/>
            <a:ext cx="305192" cy="216000"/>
          </a:xfrm>
          <a:prstGeom prst="rect">
            <a:avLst/>
          </a:prstGeom>
        </p:spPr>
        <p:txBody>
          <a:bodyPr wrap="none" lIns="36000" tIns="0" rIns="72000" bIns="0" anchor="ctr"/>
          <a:lstStyle>
            <a:lvl1pPr>
              <a:defRPr sz="900" b="1">
                <a:solidFill>
                  <a:schemeClr val="accent1">
                    <a:lumMod val="75000"/>
                  </a:schemeClr>
                </a:solidFill>
              </a:defRPr>
            </a:lvl1pPr>
          </a:lstStyle>
          <a:p>
            <a:fld id="{86CB4B4D-7CA3-9044-876B-883B54F8677D}" type="slidenum">
              <a:rPr lang="fr-FR" smtClean="0"/>
              <a:pPr/>
              <a:t>‹N°›</a:t>
            </a:fld>
            <a:endParaRPr lang="fr-FR"/>
          </a:p>
        </p:txBody>
      </p:sp>
      <p:sp>
        <p:nvSpPr>
          <p:cNvPr id="6" name="Title 1">
            <a:extLst>
              <a:ext uri="{FF2B5EF4-FFF2-40B4-BE49-F238E27FC236}">
                <a16:creationId xmlns:a16="http://schemas.microsoft.com/office/drawing/2014/main" id="{7FE159C4-170F-4DE7-9DA3-221316A5214C}"/>
              </a:ext>
            </a:extLst>
          </p:cNvPr>
          <p:cNvSpPr>
            <a:spLocks noGrp="1"/>
          </p:cNvSpPr>
          <p:nvPr>
            <p:ph type="title"/>
          </p:nvPr>
        </p:nvSpPr>
        <p:spPr>
          <a:xfrm>
            <a:off x="838200" y="127713"/>
            <a:ext cx="10515600" cy="841712"/>
          </a:xfrm>
          <a:prstGeom prst="rect">
            <a:avLst/>
          </a:prstGeom>
        </p:spPr>
        <p:txBody>
          <a:bodyPr anchor="ctr"/>
          <a:lstStyle>
            <a:lvl1pPr>
              <a:defRPr lang="fr-FR" sz="2400" b="1" dirty="0">
                <a:solidFill>
                  <a:schemeClr val="tx1"/>
                </a:solidFill>
                <a:latin typeface="Calibri" panose="020F0502020204030204" pitchFamily="34" charset="0"/>
                <a:cs typeface="Calibri" panose="020F0502020204030204" pitchFamily="34" charset="0"/>
              </a:defRPr>
            </a:lvl1pPr>
          </a:lstStyle>
          <a:p>
            <a:pPr marL="0" lvl="0"/>
            <a:r>
              <a:rPr lang="en-US"/>
              <a:t>Click to edit Master title style</a:t>
            </a:r>
            <a:endParaRPr lang="fr-FR"/>
          </a:p>
        </p:txBody>
      </p:sp>
    </p:spTree>
    <p:extLst>
      <p:ext uri="{BB962C8B-B14F-4D97-AF65-F5344CB8AC3E}">
        <p14:creationId xmlns:p14="http://schemas.microsoft.com/office/powerpoint/2010/main" val="3513593960"/>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re et texte">
    <p:spTree>
      <p:nvGrpSpPr>
        <p:cNvPr id="1" name=""/>
        <p:cNvGrpSpPr/>
        <p:nvPr/>
      </p:nvGrpSpPr>
      <p:grpSpPr>
        <a:xfrm>
          <a:off x="0" y="0"/>
          <a:ext cx="0" cy="0"/>
          <a:chOff x="0" y="0"/>
          <a:chExt cx="0" cy="0"/>
        </a:xfrm>
      </p:grpSpPr>
      <p:sp>
        <p:nvSpPr>
          <p:cNvPr id="12" name="Décision 2"/>
          <p:cNvSpPr/>
          <p:nvPr userDrawn="1"/>
        </p:nvSpPr>
        <p:spPr>
          <a:xfrm>
            <a:off x="974" y="-120"/>
            <a:ext cx="700631" cy="1597855"/>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8" name="Espace réservé du texte 7"/>
          <p:cNvSpPr>
            <a:spLocks noGrp="1"/>
          </p:cNvSpPr>
          <p:nvPr>
            <p:ph type="body" sz="quarter" idx="15"/>
          </p:nvPr>
        </p:nvSpPr>
        <p:spPr>
          <a:xfrm>
            <a:off x="838200" y="1178669"/>
            <a:ext cx="10515600" cy="5112000"/>
          </a:xfrm>
          <a:prstGeom prst="rect">
            <a:avLst/>
          </a:prstGeom>
        </p:spPr>
        <p:txBody>
          <a:bodyPr/>
          <a:lstStyle>
            <a:lvl1pPr>
              <a:defRPr lang="en-US" sz="1800" b="1" dirty="0">
                <a:solidFill>
                  <a:schemeClr val="tx1"/>
                </a:solidFill>
                <a:latin typeface="Calibri" panose="020F0502020204030204" pitchFamily="34" charset="0"/>
                <a:cs typeface="Calibri" panose="020F0502020204030204" pitchFamily="34" charset="0"/>
              </a:defRPr>
            </a:lvl1pPr>
            <a:lvl2pPr marL="220657" indent="-220657">
              <a:defRPr lang="en-US" sz="1600" dirty="0">
                <a:solidFill>
                  <a:schemeClr val="tx1"/>
                </a:solidFill>
                <a:latin typeface="Calibri" panose="020F0502020204030204" pitchFamily="34" charset="0"/>
                <a:cs typeface="Calibri" panose="020F0502020204030204" pitchFamily="34" charset="0"/>
              </a:defRPr>
            </a:lvl2pPr>
            <a:lvl3pPr marL="357179" indent="-201608">
              <a:defRPr lang="en-US" sz="1400" dirty="0">
                <a:solidFill>
                  <a:schemeClr val="tx1"/>
                </a:solidFill>
                <a:latin typeface="Calibri" panose="020F0502020204030204" pitchFamily="34" charset="0"/>
                <a:cs typeface="Calibri" panose="020F0502020204030204" pitchFamily="34" charset="0"/>
              </a:defRPr>
            </a:lvl3pPr>
            <a:lvl4pPr marL="534975" indent="-220657">
              <a:defRPr lang="en-US" sz="1200" dirty="0">
                <a:solidFill>
                  <a:schemeClr val="tx1"/>
                </a:solidFill>
                <a:latin typeface="Calibri" panose="020F0502020204030204" pitchFamily="34" charset="0"/>
                <a:cs typeface="Calibri" panose="020F0502020204030204" pitchFamily="34" charset="0"/>
              </a:defRPr>
            </a:lvl4pPr>
            <a:lvl5pPr marL="714357" indent="-220657">
              <a:defRPr lang="fr-FR" sz="1100" dirty="0">
                <a:solidFill>
                  <a:schemeClr val="tx1"/>
                </a:solidFill>
                <a:latin typeface="Calibri" panose="020F0502020204030204" pitchFamily="34" charset="0"/>
                <a:cs typeface="Calibri" panose="020F0502020204030204" pitchFamily="34" charset="0"/>
              </a:defRPr>
            </a:lvl5pPr>
          </a:lstStyle>
          <a:p>
            <a:pPr lvl="0">
              <a:spcBef>
                <a:spcPts val="0"/>
              </a:spcBef>
              <a:spcAft>
                <a:spcPts val="300"/>
              </a:spcAft>
            </a:pPr>
            <a:r>
              <a:rPr lang="en-US"/>
              <a:t>Click to edit Master text styles</a:t>
            </a:r>
          </a:p>
          <a:p>
            <a:pPr lvl="1">
              <a:spcBef>
                <a:spcPts val="0"/>
              </a:spcBef>
              <a:spcAft>
                <a:spcPts val="300"/>
              </a:spcAft>
            </a:pPr>
            <a:r>
              <a:rPr lang="en-US"/>
              <a:t>Second level</a:t>
            </a:r>
          </a:p>
          <a:p>
            <a:pPr lvl="2">
              <a:spcBef>
                <a:spcPts val="0"/>
              </a:spcBef>
              <a:spcAft>
                <a:spcPts val="300"/>
              </a:spcAft>
            </a:pPr>
            <a:r>
              <a:rPr lang="en-US"/>
              <a:t>Third level</a:t>
            </a:r>
          </a:p>
          <a:p>
            <a:pPr lvl="3">
              <a:spcBef>
                <a:spcPts val="0"/>
              </a:spcBef>
              <a:spcAft>
                <a:spcPts val="300"/>
              </a:spcAft>
            </a:pPr>
            <a:r>
              <a:rPr lang="en-US"/>
              <a:t>Fourth level</a:t>
            </a:r>
          </a:p>
          <a:p>
            <a:pPr lvl="4">
              <a:spcBef>
                <a:spcPts val="0"/>
              </a:spcBef>
              <a:spcAft>
                <a:spcPts val="300"/>
              </a:spcAft>
            </a:pPr>
            <a:r>
              <a:rPr lang="en-US"/>
              <a:t>Fifth level</a:t>
            </a:r>
            <a:endParaRPr lang="fr-FR"/>
          </a:p>
        </p:txBody>
      </p:sp>
      <p:pic>
        <p:nvPicPr>
          <p:cNvPr id="15" name="pasted-image.pdf">
            <a:extLst>
              <a:ext uri="{FF2B5EF4-FFF2-40B4-BE49-F238E27FC236}">
                <a16:creationId xmlns:a16="http://schemas.microsoft.com/office/drawing/2014/main" id="{74B1F0E4-2D93-4F44-9DB9-63C7D7768BA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46303" y="6322374"/>
            <a:ext cx="513999" cy="474981"/>
          </a:xfrm>
          <a:prstGeom prst="rect">
            <a:avLst/>
          </a:prstGeom>
          <a:ln w="12700">
            <a:miter lim="400000"/>
          </a:ln>
        </p:spPr>
      </p:pic>
      <p:sp>
        <p:nvSpPr>
          <p:cNvPr id="16" name="Décision 2">
            <a:extLst>
              <a:ext uri="{FF2B5EF4-FFF2-40B4-BE49-F238E27FC236}">
                <a16:creationId xmlns:a16="http://schemas.microsoft.com/office/drawing/2014/main" id="{71527B2B-558F-4983-B807-9201141CE944}"/>
              </a:ext>
            </a:extLst>
          </p:cNvPr>
          <p:cNvSpPr/>
          <p:nvPr userDrawn="1"/>
        </p:nvSpPr>
        <p:spPr>
          <a:xfrm>
            <a:off x="973" y="6533871"/>
            <a:ext cx="120668" cy="333463"/>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pic>
        <p:nvPicPr>
          <p:cNvPr id="19" name="Picture 5" descr="IBM_black_logo">
            <a:extLst>
              <a:ext uri="{FF2B5EF4-FFF2-40B4-BE49-F238E27FC236}">
                <a16:creationId xmlns:a16="http://schemas.microsoft.com/office/drawing/2014/main" id="{BCFE4F7F-2089-4901-8719-9ED2C21A4672}"/>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875133" y="6499914"/>
            <a:ext cx="609971" cy="2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Espace réservé du pied de page 1">
            <a:extLst>
              <a:ext uri="{FF2B5EF4-FFF2-40B4-BE49-F238E27FC236}">
                <a16:creationId xmlns:a16="http://schemas.microsoft.com/office/drawing/2014/main" id="{C301514A-6F2D-4410-A99E-7694FFBECBD2}"/>
              </a:ext>
            </a:extLst>
          </p:cNvPr>
          <p:cNvSpPr>
            <a:spLocks noGrp="1"/>
          </p:cNvSpPr>
          <p:nvPr>
            <p:ph type="ftr" sz="quarter" idx="3"/>
          </p:nvPr>
        </p:nvSpPr>
        <p:spPr>
          <a:xfrm>
            <a:off x="507524" y="6589856"/>
            <a:ext cx="1918431" cy="216000"/>
          </a:xfrm>
          <a:prstGeom prst="rect">
            <a:avLst/>
          </a:prstGeom>
        </p:spPr>
        <p:txBody>
          <a:bodyPr wrap="none" lIns="36000" tIns="0" rIns="72000" bIns="0" anchor="ctr"/>
          <a:lstStyle>
            <a:lvl1pPr>
              <a:defRPr sz="900"/>
            </a:lvl1pPr>
          </a:lstStyle>
          <a:p>
            <a:endParaRPr lang="fr-FR"/>
          </a:p>
        </p:txBody>
      </p:sp>
      <p:sp>
        <p:nvSpPr>
          <p:cNvPr id="23" name="Espace réservé du numéro de diapositive 2">
            <a:extLst>
              <a:ext uri="{FF2B5EF4-FFF2-40B4-BE49-F238E27FC236}">
                <a16:creationId xmlns:a16="http://schemas.microsoft.com/office/drawing/2014/main" id="{4894F215-B394-4F54-8173-B4F7A64A3E66}"/>
              </a:ext>
            </a:extLst>
          </p:cNvPr>
          <p:cNvSpPr>
            <a:spLocks noGrp="1"/>
          </p:cNvSpPr>
          <p:nvPr>
            <p:ph type="sldNum" sz="quarter" idx="4"/>
          </p:nvPr>
        </p:nvSpPr>
        <p:spPr>
          <a:xfrm>
            <a:off x="170669" y="6587027"/>
            <a:ext cx="305192" cy="216000"/>
          </a:xfrm>
          <a:prstGeom prst="rect">
            <a:avLst/>
          </a:prstGeom>
        </p:spPr>
        <p:txBody>
          <a:bodyPr wrap="none" lIns="36000" tIns="0" rIns="72000" bIns="0" anchor="ctr"/>
          <a:lstStyle>
            <a:lvl1pPr>
              <a:defRPr sz="900" b="1">
                <a:solidFill>
                  <a:schemeClr val="accent1">
                    <a:lumMod val="75000"/>
                  </a:schemeClr>
                </a:solidFill>
              </a:defRPr>
            </a:lvl1pPr>
          </a:lstStyle>
          <a:p>
            <a:fld id="{86CB4B4D-7CA3-9044-876B-883B54F8677D}" type="slidenum">
              <a:rPr lang="fr-FR" smtClean="0"/>
              <a:pPr/>
              <a:t>‹N°›</a:t>
            </a:fld>
            <a:endParaRPr lang="fr-FR"/>
          </a:p>
        </p:txBody>
      </p:sp>
      <p:sp>
        <p:nvSpPr>
          <p:cNvPr id="11" name="Title 1">
            <a:extLst>
              <a:ext uri="{FF2B5EF4-FFF2-40B4-BE49-F238E27FC236}">
                <a16:creationId xmlns:a16="http://schemas.microsoft.com/office/drawing/2014/main" id="{BACEF26F-B0A9-4591-BDE0-50FB33CF3EF3}"/>
              </a:ext>
            </a:extLst>
          </p:cNvPr>
          <p:cNvSpPr>
            <a:spLocks noGrp="1"/>
          </p:cNvSpPr>
          <p:nvPr>
            <p:ph type="title"/>
          </p:nvPr>
        </p:nvSpPr>
        <p:spPr>
          <a:xfrm>
            <a:off x="838200" y="127713"/>
            <a:ext cx="10515600" cy="841712"/>
          </a:xfrm>
          <a:prstGeom prst="rect">
            <a:avLst/>
          </a:prstGeom>
        </p:spPr>
        <p:txBody>
          <a:bodyPr anchor="ctr"/>
          <a:lstStyle>
            <a:lvl1pPr>
              <a:defRPr lang="fr-FR" sz="2400" b="1" dirty="0">
                <a:solidFill>
                  <a:schemeClr val="tx1"/>
                </a:solidFill>
                <a:latin typeface="Calibri" panose="020F0502020204030204" pitchFamily="34" charset="0"/>
                <a:cs typeface="Calibri" panose="020F0502020204030204" pitchFamily="34" charset="0"/>
              </a:defRPr>
            </a:lvl1pPr>
          </a:lstStyle>
          <a:p>
            <a:pPr marL="0" lvl="0"/>
            <a:r>
              <a:rPr lang="en-US"/>
              <a:t>Click to edit Master title style</a:t>
            </a:r>
            <a:endParaRPr lang="fr-FR"/>
          </a:p>
        </p:txBody>
      </p:sp>
    </p:spTree>
    <p:extLst>
      <p:ext uri="{BB962C8B-B14F-4D97-AF65-F5344CB8AC3E}">
        <p14:creationId xmlns:p14="http://schemas.microsoft.com/office/powerpoint/2010/main" val="1191784119"/>
      </p:ext>
    </p:extLst>
  </p:cSld>
  <p:clrMapOvr>
    <a:masterClrMapping/>
  </p:clrMapOvr>
  <p:transition spd="med"/>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slideLayout" Target="../slideLayouts/slideLayout49.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32" Type="http://schemas.openxmlformats.org/officeDocument/2006/relationships/theme" Target="../theme/theme2.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31" Type="http://schemas.openxmlformats.org/officeDocument/2006/relationships/slideLayout" Target="../slideLayouts/slideLayout51.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30"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0"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5" name="Espace réservé du numéro de diapositive 5"/>
          <p:cNvSpPr>
            <a:spLocks noGrp="1"/>
          </p:cNvSpPr>
          <p:nvPr>
            <p:ph type="sldNum" sz="quarter" idx="4"/>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8153470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76" r:id="rId15"/>
    <p:sldLayoutId id="2147483677" r:id="rId16"/>
    <p:sldLayoutId id="2147483678" r:id="rId17"/>
    <p:sldLayoutId id="2147483679" r:id="rId18"/>
    <p:sldLayoutId id="2147483680" r:id="rId19"/>
    <p:sldLayoutId id="2147483681" r:id="rId20"/>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7000">
              <a:schemeClr val="bg1"/>
            </a:gs>
            <a:gs pos="100000">
              <a:srgbClr val="003A8D"/>
            </a:gs>
          </a:gsLst>
          <a:lin ang="8100000" scaled="1"/>
          <a:tileRect/>
        </a:gradFill>
        <a:effectLst/>
      </p:bgPr>
    </p:bg>
    <p:spTree>
      <p:nvGrpSpPr>
        <p:cNvPr id="1" name=""/>
        <p:cNvGrpSpPr/>
        <p:nvPr/>
      </p:nvGrpSpPr>
      <p:grpSpPr>
        <a:xfrm>
          <a:off x="0" y="0"/>
          <a:ext cx="0" cy="0"/>
          <a:chOff x="0" y="0"/>
          <a:chExt cx="0" cy="0"/>
        </a:xfrm>
      </p:grpSpPr>
      <p:sp>
        <p:nvSpPr>
          <p:cNvPr id="6" name="Rectangle à coins arrondis 5"/>
          <p:cNvSpPr/>
          <p:nvPr/>
        </p:nvSpPr>
        <p:spPr>
          <a:xfrm>
            <a:off x="127001" y="101605"/>
            <a:ext cx="11946467" cy="6639481"/>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Janvier 2024</a:t>
            </a:r>
            <a:endParaRPr lang="en-US" dirty="0"/>
          </a:p>
        </p:txBody>
      </p:sp>
      <p:sp>
        <p:nvSpPr>
          <p:cNvPr id="5" name="Espace réservé du numéro de diapositive 5"/>
          <p:cNvSpPr>
            <a:spLocks noGrp="1"/>
          </p:cNvSpPr>
          <p:nvPr>
            <p:ph type="sldNum" sz="quarter" idx="4"/>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2" name="Group 1">
            <a:extLst>
              <a:ext uri="{FF2B5EF4-FFF2-40B4-BE49-F238E27FC236}">
                <a16:creationId xmlns:a16="http://schemas.microsoft.com/office/drawing/2014/main" id="{08602E2B-ACAE-F214-77F8-530BA794AD06}"/>
              </a:ext>
            </a:extLst>
          </p:cNvPr>
          <p:cNvGrpSpPr/>
          <p:nvPr userDrawn="1"/>
        </p:nvGrpSpPr>
        <p:grpSpPr>
          <a:xfrm>
            <a:off x="5852160" y="-212034"/>
            <a:ext cx="470008" cy="210260"/>
            <a:chOff x="4389120" y="-159026"/>
            <a:chExt cx="352506" cy="157695"/>
          </a:xfrm>
        </p:grpSpPr>
        <p:cxnSp>
          <p:nvCxnSpPr>
            <p:cNvPr id="3" name="Straight Connector 2">
              <a:extLst>
                <a:ext uri="{FF2B5EF4-FFF2-40B4-BE49-F238E27FC236}">
                  <a16:creationId xmlns:a16="http://schemas.microsoft.com/office/drawing/2014/main" id="{D968870E-E915-F42F-1294-51253169D874}"/>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293D63-7FB8-ED97-9AD4-E457EE97A462}"/>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C56F22-EA76-6C47-CB26-F750F188D57D}"/>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30BF1332-0A05-D424-DF87-FEE60E11B61A}"/>
              </a:ext>
            </a:extLst>
          </p:cNvPr>
          <p:cNvGrpSpPr/>
          <p:nvPr userDrawn="1"/>
        </p:nvGrpSpPr>
        <p:grpSpPr>
          <a:xfrm>
            <a:off x="8737597" y="-222634"/>
            <a:ext cx="470008" cy="210260"/>
            <a:chOff x="4389120" y="-159026"/>
            <a:chExt cx="352506" cy="157695"/>
          </a:xfrm>
        </p:grpSpPr>
        <p:cxnSp>
          <p:nvCxnSpPr>
            <p:cNvPr id="10" name="Straight Connector 9">
              <a:extLst>
                <a:ext uri="{FF2B5EF4-FFF2-40B4-BE49-F238E27FC236}">
                  <a16:creationId xmlns:a16="http://schemas.microsoft.com/office/drawing/2014/main" id="{9FF1DA4B-0E13-0798-191C-ED7FB5FFD6B9}"/>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5E55582-D785-31E4-DD29-95F55C7D13B9}"/>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C00F8B-B0C9-01D8-7580-21B536FF3828}"/>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574DC492-E93E-CBEB-93E9-1D613A4CD839}"/>
              </a:ext>
            </a:extLst>
          </p:cNvPr>
          <p:cNvGrpSpPr/>
          <p:nvPr userDrawn="1"/>
        </p:nvGrpSpPr>
        <p:grpSpPr>
          <a:xfrm>
            <a:off x="2972128" y="-231461"/>
            <a:ext cx="470008" cy="210260"/>
            <a:chOff x="4389120" y="-159026"/>
            <a:chExt cx="352506" cy="157695"/>
          </a:xfrm>
        </p:grpSpPr>
        <p:cxnSp>
          <p:nvCxnSpPr>
            <p:cNvPr id="14" name="Straight Connector 13">
              <a:extLst>
                <a:ext uri="{FF2B5EF4-FFF2-40B4-BE49-F238E27FC236}">
                  <a16:creationId xmlns:a16="http://schemas.microsoft.com/office/drawing/2014/main" id="{3940EB56-ACC7-1CE0-1A2F-8F71EC0D8216}"/>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0553000-51CE-B254-1CBD-21B8A1DAA5AA}"/>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8B25738-87FA-7320-DA44-F118F9FD1D21}"/>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0188FCAB-10C9-0643-8FAA-8370C9D56443}"/>
              </a:ext>
            </a:extLst>
          </p:cNvPr>
          <p:cNvGrpSpPr/>
          <p:nvPr userDrawn="1"/>
        </p:nvGrpSpPr>
        <p:grpSpPr>
          <a:xfrm rot="16200000">
            <a:off x="-347329" y="3273593"/>
            <a:ext cx="470008" cy="210260"/>
            <a:chOff x="4389120" y="-159026"/>
            <a:chExt cx="352506" cy="157695"/>
          </a:xfrm>
        </p:grpSpPr>
        <p:cxnSp>
          <p:nvCxnSpPr>
            <p:cNvPr id="18" name="Straight Connector 17">
              <a:extLst>
                <a:ext uri="{FF2B5EF4-FFF2-40B4-BE49-F238E27FC236}">
                  <a16:creationId xmlns:a16="http://schemas.microsoft.com/office/drawing/2014/main" id="{3AC8E3A1-096A-8836-5560-0077A1C9F3AB}"/>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9D3A70-D242-7D60-8A72-6C907CA70608}"/>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57E085D-56D9-4F48-1EF5-3777AEE77457}"/>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A016345D-1506-FA3D-01BA-53CF6F210494}"/>
              </a:ext>
            </a:extLst>
          </p:cNvPr>
          <p:cNvCxnSpPr/>
          <p:nvPr userDrawn="1"/>
        </p:nvCxnSpPr>
        <p:spPr>
          <a:xfrm>
            <a:off x="11925300" y="-215582"/>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4A93FF-0A2F-03DF-CEC8-59CC91716623}"/>
              </a:ext>
            </a:extLst>
          </p:cNvPr>
          <p:cNvCxnSpPr/>
          <p:nvPr userDrawn="1"/>
        </p:nvCxnSpPr>
        <p:spPr>
          <a:xfrm>
            <a:off x="277412" y="-249145"/>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6B5CB0-3AF5-9F3B-7459-FD659519CA5D}"/>
              </a:ext>
            </a:extLst>
          </p:cNvPr>
          <p:cNvCxnSpPr>
            <a:cxnSpLocks/>
          </p:cNvCxnSpPr>
          <p:nvPr userDrawn="1"/>
        </p:nvCxnSpPr>
        <p:spPr>
          <a:xfrm>
            <a:off x="-182440" y="190503"/>
            <a:ext cx="1644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A5658D-09DC-CE8A-EBCC-2F1CE3FB7487}"/>
              </a:ext>
            </a:extLst>
          </p:cNvPr>
          <p:cNvCxnSpPr>
            <a:cxnSpLocks/>
          </p:cNvCxnSpPr>
          <p:nvPr userDrawn="1"/>
        </p:nvCxnSpPr>
        <p:spPr>
          <a:xfrm>
            <a:off x="-208799" y="6441671"/>
            <a:ext cx="1644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192864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Lst>
  <p:hf hdr="0" dt="0"/>
  <p:txStyles>
    <p:titleStyle>
      <a:lvl1pPr algn="l" defTabSz="914309"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309"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578" indent="-228578" algn="l" defTabSz="914309"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23" indent="-228578" algn="l" defTabSz="914309"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1925" indent="-270643" algn="l" defTabSz="914309"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195"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5"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4" algn="l" defTabSz="914309" rtl="0" eaLnBrk="1" latinLnBrk="0" hangingPunct="1">
        <a:defRPr sz="1800" kern="1200">
          <a:solidFill>
            <a:schemeClr val="tx1"/>
          </a:solidFill>
          <a:latin typeface="+mn-lt"/>
          <a:ea typeface="+mn-ea"/>
          <a:cs typeface="+mn-cs"/>
        </a:defRPr>
      </a:lvl4pPr>
      <a:lvl5pPr marL="1828618" algn="l" defTabSz="914309" rtl="0" eaLnBrk="1" latinLnBrk="0" hangingPunct="1">
        <a:defRPr sz="1800" kern="1200">
          <a:solidFill>
            <a:schemeClr val="tx1"/>
          </a:solidFill>
          <a:latin typeface="+mn-lt"/>
          <a:ea typeface="+mn-ea"/>
          <a:cs typeface="+mn-cs"/>
        </a:defRPr>
      </a:lvl5pPr>
      <a:lvl6pPr marL="2285774"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5" algn="l" defTabSz="914309"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 Contexte</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cap="small" dirty="0">
                <a:solidFill>
                  <a:srgbClr val="003A8D"/>
                </a:solidFill>
                <a:ea typeface="+mj-ea"/>
              </a:rPr>
              <a:t>02. interop GenAI / OCR Studio – la spécificité SYO : un score de confiance</a:t>
            </a:r>
          </a:p>
        </p:txBody>
      </p:sp>
      <p:sp>
        <p:nvSpPr>
          <p:cNvPr id="6" name="Rectangle 5">
            <a:extLst>
              <a:ext uri="{FF2B5EF4-FFF2-40B4-BE49-F238E27FC236}">
                <a16:creationId xmlns:a16="http://schemas.microsoft.com/office/drawing/2014/main" id="{CCAC1443-A06A-451B-816E-DA8CBBC8D9DB}"/>
              </a:ext>
            </a:extLst>
          </p:cNvPr>
          <p:cNvSpPr/>
          <p:nvPr/>
        </p:nvSpPr>
        <p:spPr>
          <a:xfrm>
            <a:off x="836377" y="1851557"/>
            <a:ext cx="2634956" cy="35295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Appel à </a:t>
            </a:r>
            <a:r>
              <a:rPr lang="fr-FR" sz="1000" dirty="0" err="1">
                <a:solidFill>
                  <a:schemeClr val="tx1"/>
                </a:solidFill>
                <a:latin typeface="Segoe UI" panose="020B0502040204020203" pitchFamily="34" charset="0"/>
                <a:cs typeface="Segoe UI" panose="020B0502040204020203" pitchFamily="34" charset="0"/>
              </a:rPr>
              <a:t>SyoReader</a:t>
            </a:r>
            <a:r>
              <a:rPr lang="fr-FR" sz="1000" dirty="0">
                <a:solidFill>
                  <a:schemeClr val="tx1"/>
                </a:solidFill>
                <a:latin typeface="Segoe UI" panose="020B0502040204020203" pitchFamily="34" charset="0"/>
                <a:cs typeface="Segoe UI" panose="020B0502040204020203" pitchFamily="34" charset="0"/>
              </a:rPr>
              <a:t> pour extraction</a:t>
            </a:r>
          </a:p>
        </p:txBody>
      </p:sp>
      <p:sp>
        <p:nvSpPr>
          <p:cNvPr id="3" name="Losange 2">
            <a:extLst>
              <a:ext uri="{FF2B5EF4-FFF2-40B4-BE49-F238E27FC236}">
                <a16:creationId xmlns:a16="http://schemas.microsoft.com/office/drawing/2014/main" id="{A3B7F7C0-F73F-45B4-9C42-0C55244117DB}"/>
              </a:ext>
            </a:extLst>
          </p:cNvPr>
          <p:cNvSpPr/>
          <p:nvPr/>
        </p:nvSpPr>
        <p:spPr>
          <a:xfrm>
            <a:off x="4080934" y="1851557"/>
            <a:ext cx="338666" cy="352957"/>
          </a:xfrm>
          <a:prstGeom prst="diamond">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cxnSp>
        <p:nvCxnSpPr>
          <p:cNvPr id="8" name="Connecteur droit avec flèche 7">
            <a:extLst>
              <a:ext uri="{FF2B5EF4-FFF2-40B4-BE49-F238E27FC236}">
                <a16:creationId xmlns:a16="http://schemas.microsoft.com/office/drawing/2014/main" id="{09961653-F3FE-4543-9BEC-72913E419BF0}"/>
              </a:ext>
            </a:extLst>
          </p:cNvPr>
          <p:cNvCxnSpPr>
            <a:stCxn id="6" idx="3"/>
            <a:endCxn id="3" idx="1"/>
          </p:cNvCxnSpPr>
          <p:nvPr/>
        </p:nvCxnSpPr>
        <p:spPr>
          <a:xfrm>
            <a:off x="3471333" y="2028036"/>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7015B72-4FA1-4ED0-A29C-037F405E0A43}"/>
              </a:ext>
            </a:extLst>
          </p:cNvPr>
          <p:cNvSpPr/>
          <p:nvPr/>
        </p:nvSpPr>
        <p:spPr>
          <a:xfrm>
            <a:off x="3471333" y="2235477"/>
            <a:ext cx="1557869" cy="639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Si le score d’extraction &gt; seuil min de score</a:t>
            </a:r>
          </a:p>
          <a:p>
            <a:pPr marR="0" lvl="0" algn="ctr" defTabSz="914400" rtl="0" eaLnBrk="0" fontAlgn="base" latinLnBrk="0" hangingPunct="0">
              <a:lnSpc>
                <a:spcPct val="100000"/>
              </a:lnSpc>
              <a:spcBef>
                <a:spcPct val="0"/>
              </a:spcBef>
              <a:spcAft>
                <a:spcPct val="0"/>
              </a:spcAft>
              <a:buClrTx/>
              <a:buSzTx/>
              <a:tabLst/>
            </a:pPr>
            <a:r>
              <a:rPr lang="fr-FR" sz="700" i="1" dirty="0">
                <a:solidFill>
                  <a:schemeClr val="tx1"/>
                </a:solidFill>
                <a:latin typeface="Segoe UI" panose="020B0502040204020203" pitchFamily="34" charset="0"/>
                <a:cs typeface="Segoe UI" panose="020B0502040204020203" pitchFamily="34" charset="0"/>
              </a:rPr>
              <a:t>Ce score est positionné selon la criticité du champ &amp; performance du modèle</a:t>
            </a:r>
          </a:p>
        </p:txBody>
      </p:sp>
      <p:sp>
        <p:nvSpPr>
          <p:cNvPr id="12" name="Rectangle 11">
            <a:extLst>
              <a:ext uri="{FF2B5EF4-FFF2-40B4-BE49-F238E27FC236}">
                <a16:creationId xmlns:a16="http://schemas.microsoft.com/office/drawing/2014/main" id="{E3EB0778-DAAB-4A21-97F2-791D0CD28AC8}"/>
              </a:ext>
            </a:extLst>
          </p:cNvPr>
          <p:cNvSpPr/>
          <p:nvPr/>
        </p:nvSpPr>
        <p:spPr>
          <a:xfrm>
            <a:off x="5029201" y="1851556"/>
            <a:ext cx="2634956" cy="35295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Alimentation du champ métier + exécution des règles de validations</a:t>
            </a:r>
          </a:p>
        </p:txBody>
      </p:sp>
      <p:cxnSp>
        <p:nvCxnSpPr>
          <p:cNvPr id="10" name="Connecteur droit avec flèche 9">
            <a:extLst>
              <a:ext uri="{FF2B5EF4-FFF2-40B4-BE49-F238E27FC236}">
                <a16:creationId xmlns:a16="http://schemas.microsoft.com/office/drawing/2014/main" id="{7445CDB3-334C-475F-A7E2-2B1EE769908B}"/>
              </a:ext>
            </a:extLst>
          </p:cNvPr>
          <p:cNvCxnSpPr>
            <a:stCxn id="3" idx="3"/>
            <a:endCxn id="12" idx="1"/>
          </p:cNvCxnSpPr>
          <p:nvPr/>
        </p:nvCxnSpPr>
        <p:spPr>
          <a:xfrm flipV="1">
            <a:off x="4419600" y="2028035"/>
            <a:ext cx="6096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Losange 14">
            <a:extLst>
              <a:ext uri="{FF2B5EF4-FFF2-40B4-BE49-F238E27FC236}">
                <a16:creationId xmlns:a16="http://schemas.microsoft.com/office/drawing/2014/main" id="{E288A529-0A3B-4D1C-8FC4-C5A2FF189999}"/>
              </a:ext>
            </a:extLst>
          </p:cNvPr>
          <p:cNvSpPr/>
          <p:nvPr/>
        </p:nvSpPr>
        <p:spPr>
          <a:xfrm>
            <a:off x="8273757" y="1820593"/>
            <a:ext cx="338666" cy="352957"/>
          </a:xfrm>
          <a:prstGeom prst="diamond">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cxnSp>
        <p:nvCxnSpPr>
          <p:cNvPr id="16" name="Connecteur droit avec flèche 15">
            <a:extLst>
              <a:ext uri="{FF2B5EF4-FFF2-40B4-BE49-F238E27FC236}">
                <a16:creationId xmlns:a16="http://schemas.microsoft.com/office/drawing/2014/main" id="{16A1341E-ECF3-4512-92DB-B9CAEF0D0775}"/>
              </a:ext>
            </a:extLst>
          </p:cNvPr>
          <p:cNvCxnSpPr>
            <a:endCxn id="15" idx="1"/>
          </p:cNvCxnSpPr>
          <p:nvPr/>
        </p:nvCxnSpPr>
        <p:spPr>
          <a:xfrm>
            <a:off x="7664156" y="1997072"/>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785FE360-5029-4933-891C-9445128B7BF2}"/>
              </a:ext>
            </a:extLst>
          </p:cNvPr>
          <p:cNvSpPr/>
          <p:nvPr/>
        </p:nvSpPr>
        <p:spPr>
          <a:xfrm>
            <a:off x="8632678" y="1770216"/>
            <a:ext cx="501358"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Ok</a:t>
            </a:r>
          </a:p>
        </p:txBody>
      </p:sp>
      <p:cxnSp>
        <p:nvCxnSpPr>
          <p:cNvPr id="18" name="Connecteur droit avec flèche 17">
            <a:extLst>
              <a:ext uri="{FF2B5EF4-FFF2-40B4-BE49-F238E27FC236}">
                <a16:creationId xmlns:a16="http://schemas.microsoft.com/office/drawing/2014/main" id="{5101B162-B21C-478A-94FE-D78AF55C0DD7}"/>
              </a:ext>
            </a:extLst>
          </p:cNvPr>
          <p:cNvCxnSpPr>
            <a:stCxn id="15" idx="3"/>
          </p:cNvCxnSpPr>
          <p:nvPr/>
        </p:nvCxnSpPr>
        <p:spPr>
          <a:xfrm flipV="1">
            <a:off x="8612423" y="1997071"/>
            <a:ext cx="6096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016B42B8-8630-4F72-AA6C-2D9C5A8694CC}"/>
              </a:ext>
            </a:extLst>
          </p:cNvPr>
          <p:cNvSpPr/>
          <p:nvPr/>
        </p:nvSpPr>
        <p:spPr>
          <a:xfrm>
            <a:off x="9222023" y="1836074"/>
            <a:ext cx="2634956" cy="35295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Champ validé et non présenté pour saisie à un opérateur</a:t>
            </a:r>
          </a:p>
        </p:txBody>
      </p:sp>
      <p:sp>
        <p:nvSpPr>
          <p:cNvPr id="20" name="Rectangle 19">
            <a:extLst>
              <a:ext uri="{FF2B5EF4-FFF2-40B4-BE49-F238E27FC236}">
                <a16:creationId xmlns:a16="http://schemas.microsoft.com/office/drawing/2014/main" id="{07048E3C-F524-4A2D-AA3B-0318CAF6CE72}"/>
              </a:ext>
            </a:extLst>
          </p:cNvPr>
          <p:cNvSpPr/>
          <p:nvPr/>
        </p:nvSpPr>
        <p:spPr>
          <a:xfrm>
            <a:off x="9222023" y="2964243"/>
            <a:ext cx="2634956" cy="35295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Présentation du champ à un opérateur pour saisi</a:t>
            </a:r>
          </a:p>
        </p:txBody>
      </p:sp>
      <p:cxnSp>
        <p:nvCxnSpPr>
          <p:cNvPr id="14" name="Connecteur : en angle 13">
            <a:extLst>
              <a:ext uri="{FF2B5EF4-FFF2-40B4-BE49-F238E27FC236}">
                <a16:creationId xmlns:a16="http://schemas.microsoft.com/office/drawing/2014/main" id="{5A9D431E-0571-424D-8FA5-539369CB0D6F}"/>
              </a:ext>
            </a:extLst>
          </p:cNvPr>
          <p:cNvCxnSpPr>
            <a:cxnSpLocks/>
            <a:stCxn id="15" idx="2"/>
            <a:endCxn id="20" idx="1"/>
          </p:cNvCxnSpPr>
          <p:nvPr/>
        </p:nvCxnSpPr>
        <p:spPr>
          <a:xfrm rot="16200000" flipH="1">
            <a:off x="8348970" y="2267669"/>
            <a:ext cx="967172" cy="77893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3B0962E-5B80-4654-8C45-776F68CD6DC9}"/>
              </a:ext>
            </a:extLst>
          </p:cNvPr>
          <p:cNvSpPr/>
          <p:nvPr/>
        </p:nvSpPr>
        <p:spPr>
          <a:xfrm>
            <a:off x="8581877" y="2948762"/>
            <a:ext cx="501358"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Ko</a:t>
            </a:r>
          </a:p>
        </p:txBody>
      </p:sp>
      <p:sp>
        <p:nvSpPr>
          <p:cNvPr id="24" name="Rectangle 23">
            <a:extLst>
              <a:ext uri="{FF2B5EF4-FFF2-40B4-BE49-F238E27FC236}">
                <a16:creationId xmlns:a16="http://schemas.microsoft.com/office/drawing/2014/main" id="{CB49C847-318F-42E7-B551-5C9990440C03}"/>
              </a:ext>
            </a:extLst>
          </p:cNvPr>
          <p:cNvSpPr/>
          <p:nvPr/>
        </p:nvSpPr>
        <p:spPr>
          <a:xfrm>
            <a:off x="836377" y="3140721"/>
            <a:ext cx="6827779"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0" fontAlgn="base" latinLnBrk="0" hangingPunct="0">
              <a:lnSpc>
                <a:spcPct val="100000"/>
              </a:lnSpc>
              <a:spcBef>
                <a:spcPct val="0"/>
              </a:spcBef>
              <a:spcAft>
                <a:spcPct val="0"/>
              </a:spcAft>
              <a:buClrTx/>
              <a:buSzTx/>
              <a:tabLst/>
            </a:pPr>
            <a:r>
              <a:rPr lang="fr-FR" sz="800" b="1" dirty="0">
                <a:solidFill>
                  <a:schemeClr val="tx1"/>
                </a:solidFill>
                <a:latin typeface="Segoe UI" panose="020B0502040204020203" pitchFamily="34" charset="0"/>
                <a:cs typeface="Segoe UI" panose="020B0502040204020203" pitchFamily="34" charset="0"/>
              </a:rPr>
              <a:t>NB : </a:t>
            </a:r>
            <a:r>
              <a:rPr lang="fr-FR" sz="800" dirty="0">
                <a:solidFill>
                  <a:schemeClr val="tx1"/>
                </a:solidFill>
                <a:latin typeface="Segoe UI" panose="020B0502040204020203" pitchFamily="34" charset="0"/>
                <a:cs typeface="Segoe UI" panose="020B0502040204020203" pitchFamily="34" charset="0"/>
              </a:rPr>
              <a:t>Selon la criticité du champ, on peut parfois combiner saisi humaine et extraction OCR (Contrôle à 4 yeux)</a:t>
            </a:r>
          </a:p>
        </p:txBody>
      </p:sp>
      <p:sp>
        <p:nvSpPr>
          <p:cNvPr id="27" name="Organigramme : Opération manuelle 26">
            <a:extLst>
              <a:ext uri="{FF2B5EF4-FFF2-40B4-BE49-F238E27FC236}">
                <a16:creationId xmlns:a16="http://schemas.microsoft.com/office/drawing/2014/main" id="{E217E03C-0798-42C5-A446-CD68D1731CA5}"/>
              </a:ext>
            </a:extLst>
          </p:cNvPr>
          <p:cNvSpPr/>
          <p:nvPr/>
        </p:nvSpPr>
        <p:spPr>
          <a:xfrm rot="16200000">
            <a:off x="4494892" y="4010407"/>
            <a:ext cx="1447800" cy="652169"/>
          </a:xfrm>
          <a:prstGeom prst="flowChartManualOperation">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bg1"/>
                </a:solidFill>
                <a:latin typeface="Segoe UI" panose="020B0502040204020203" pitchFamily="34" charset="0"/>
                <a:cs typeface="Segoe UI" panose="020B0502040204020203" pitchFamily="34" charset="0"/>
              </a:rPr>
              <a:t>OCR</a:t>
            </a:r>
          </a:p>
        </p:txBody>
      </p:sp>
      <p:sp>
        <p:nvSpPr>
          <p:cNvPr id="29" name="Organigramme : Opération manuelle 28">
            <a:extLst>
              <a:ext uri="{FF2B5EF4-FFF2-40B4-BE49-F238E27FC236}">
                <a16:creationId xmlns:a16="http://schemas.microsoft.com/office/drawing/2014/main" id="{17F4186C-1689-446B-83EF-A45D976C3312}"/>
              </a:ext>
            </a:extLst>
          </p:cNvPr>
          <p:cNvSpPr/>
          <p:nvPr/>
        </p:nvSpPr>
        <p:spPr>
          <a:xfrm rot="16200000">
            <a:off x="5536294" y="4010406"/>
            <a:ext cx="838197" cy="652169"/>
          </a:xfrm>
          <a:prstGeom prst="flowChartManualOperation">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bg1"/>
              </a:solidFill>
              <a:latin typeface="Segoe UI" panose="020B0502040204020203" pitchFamily="34" charset="0"/>
              <a:cs typeface="Segoe UI" panose="020B0502040204020203" pitchFamily="34" charset="0"/>
            </a:endParaRPr>
          </a:p>
        </p:txBody>
      </p:sp>
      <p:sp>
        <p:nvSpPr>
          <p:cNvPr id="30" name="Rectangle 29">
            <a:extLst>
              <a:ext uri="{FF2B5EF4-FFF2-40B4-BE49-F238E27FC236}">
                <a16:creationId xmlns:a16="http://schemas.microsoft.com/office/drawing/2014/main" id="{9DC8EDF0-121E-4606-B070-381A87D7F788}"/>
              </a:ext>
            </a:extLst>
          </p:cNvPr>
          <p:cNvSpPr/>
          <p:nvPr/>
        </p:nvSpPr>
        <p:spPr>
          <a:xfrm rot="16200000">
            <a:off x="5525919" y="4224097"/>
            <a:ext cx="842012"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b="1" dirty="0">
                <a:solidFill>
                  <a:schemeClr val="bg1"/>
                </a:solidFill>
                <a:latin typeface="Segoe UI" panose="020B0502040204020203" pitchFamily="34" charset="0"/>
                <a:cs typeface="Segoe UI" panose="020B0502040204020203" pitchFamily="34" charset="0"/>
              </a:rPr>
              <a:t>Opérateurs</a:t>
            </a:r>
            <a:endParaRPr lang="fr-FR" sz="800" dirty="0">
              <a:solidFill>
                <a:schemeClr val="bg1"/>
              </a:solidFill>
              <a:latin typeface="Segoe UI" panose="020B0502040204020203" pitchFamily="34" charset="0"/>
              <a:cs typeface="Segoe UI" panose="020B0502040204020203" pitchFamily="34" charset="0"/>
            </a:endParaRPr>
          </a:p>
        </p:txBody>
      </p:sp>
      <p:sp>
        <p:nvSpPr>
          <p:cNvPr id="31" name="Rectangle 30">
            <a:extLst>
              <a:ext uri="{FF2B5EF4-FFF2-40B4-BE49-F238E27FC236}">
                <a16:creationId xmlns:a16="http://schemas.microsoft.com/office/drawing/2014/main" id="{BB4422A9-3B93-41CB-9656-C232F134D5B6}"/>
              </a:ext>
            </a:extLst>
          </p:cNvPr>
          <p:cNvSpPr/>
          <p:nvPr/>
        </p:nvSpPr>
        <p:spPr>
          <a:xfrm>
            <a:off x="821531" y="4018889"/>
            <a:ext cx="3783428" cy="7366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On peut associer cette logique à un entonnoir ou l’OCR + RDG de validation métier permettent de réduire le nombre d’activité manuelle à remonter aux opérateurs</a:t>
            </a:r>
          </a:p>
        </p:txBody>
      </p:sp>
      <p:sp>
        <p:nvSpPr>
          <p:cNvPr id="32" name="Rectangle 31">
            <a:extLst>
              <a:ext uri="{FF2B5EF4-FFF2-40B4-BE49-F238E27FC236}">
                <a16:creationId xmlns:a16="http://schemas.microsoft.com/office/drawing/2014/main" id="{A37BA3F8-8535-41C9-818B-5AD36147BAE1}"/>
              </a:ext>
            </a:extLst>
          </p:cNvPr>
          <p:cNvSpPr/>
          <p:nvPr/>
        </p:nvSpPr>
        <p:spPr>
          <a:xfrm>
            <a:off x="765708" y="5357003"/>
            <a:ext cx="11031538" cy="3529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rtl="0" eaLnBrk="0" fontAlgn="base" latinLnBrk="0" hangingPunct="0">
              <a:lnSpc>
                <a:spcPct val="100000"/>
              </a:lnSpc>
              <a:spcBef>
                <a:spcPct val="0"/>
              </a:spcBef>
              <a:spcAft>
                <a:spcPct val="0"/>
              </a:spcAft>
              <a:buClrTx/>
              <a:buSzTx/>
              <a:tabLst/>
            </a:pPr>
            <a:r>
              <a:rPr lang="fr-FR" sz="1200" b="1" dirty="0">
                <a:solidFill>
                  <a:schemeClr val="tx1"/>
                </a:solidFill>
                <a:latin typeface="Segoe UI" panose="020B0502040204020203" pitchFamily="34" charset="0"/>
                <a:cs typeface="Segoe UI" panose="020B0502040204020203" pitchFamily="34" charset="0"/>
              </a:rPr>
              <a:t>Spécificité SYO : pour exploiter LLMAAS / OCR Studio sur des traitements de type SYO, les services de classification et d’extraction doivent fournir un score de confiance, support de l’aiguillage automatique entre validation directe et reprise opérateur.</a:t>
            </a:r>
          </a:p>
        </p:txBody>
      </p:sp>
      <p:sp>
        <p:nvSpPr>
          <p:cNvPr id="80" name="Rectangle Specificite SYO"/>
          <p:cNvSpPr/>
          <p:nvPr/>
        </p:nvSpPr>
        <p:spPr>
          <a:xfrm>
            <a:off x="6320000" y="3680000"/>
            <a:ext cx="5476000" cy="1430000"/>
          </a:xfrm>
          <a:prstGeom prst="rect">
            <a:avLst/>
          </a:prstGeom>
          <a:solidFill>
            <a:srgbClr val="003A8D"/>
          </a:solidFill>
          <a:ln>
            <a:noFill/>
          </a:ln>
        </p:spPr>
        <p:txBody>
          <a:bodyPr rtlCol="0" anchor="ctr">
            <a:normAutofit/>
          </a:bodyPr>
          <a:lstStyle/>
          <a:p>
            <a:pPr marL="0" indent="0" algn="l"/>
            <a:r>
              <a:rPr lang="fr-FR" sz="1100" b="1" dirty="0">
                <a:solidFill>
                  <a:schemeClr val="bg1"/>
                </a:solidFill>
                <a:latin typeface="Segoe UI" panose="020B0502040204020203" pitchFamily="34" charset="0"/>
                <a:cs typeface="Segoe UI" panose="020B0502040204020203" pitchFamily="34" charset="0"/>
              </a:rPr>
              <a:t>Pourquoi un score de confiance ?</a:t>
            </a:r>
          </a:p>
          <a:p>
            <a:pPr marL="171450" indent="-171450" algn="l">
              <a:buFont typeface="Arial" panose="020B0604020202020204" pitchFamily="34" charset="0"/>
              <a:buChar char="•"/>
            </a:pPr>
            <a:r>
              <a:rPr lang="fr-FR" sz="1000" dirty="0">
                <a:solidFill>
                  <a:schemeClr val="bg1"/>
                </a:solidFill>
                <a:latin typeface="Segoe UI" panose="020B0502040204020203" pitchFamily="34" charset="0"/>
                <a:cs typeface="Segoe UI" panose="020B0502040204020203" pitchFamily="34" charset="0"/>
              </a:rPr>
              <a:t>Il conditionne l’automatisation : au-delà d’un seuil, le champ est alimenté et validé sans intervention humaine.</a:t>
            </a:r>
          </a:p>
          <a:p>
            <a:pPr marL="171450" indent="-171450" algn="l">
              <a:buFont typeface="Arial" panose="020B0604020202020204" pitchFamily="34" charset="0"/>
              <a:buChar char="•"/>
            </a:pPr>
            <a:r>
              <a:rPr lang="fr-FR" sz="1000" dirty="0">
                <a:solidFill>
                  <a:schemeClr val="bg1"/>
                </a:solidFill>
                <a:latin typeface="Segoe UI" panose="020B0502040204020203" pitchFamily="34" charset="0"/>
                <a:cs typeface="Segoe UI" panose="020B0502040204020203" pitchFamily="34" charset="0"/>
              </a:rPr>
              <a:t>Le seuil est calibré selon la criticité du champ et la performance du modèle : effet entonnoir réduisant la charge opérateur.</a:t>
            </a:r>
          </a:p>
          <a:p>
            <a:pPr marL="171450" indent="-171450" algn="l">
              <a:buFont typeface="Arial" panose="020B0604020202020204" pitchFamily="34" charset="0"/>
              <a:buChar char="•"/>
            </a:pPr>
            <a:r>
              <a:rPr lang="fr-FR" sz="1000" dirty="0">
                <a:solidFill>
                  <a:schemeClr val="bg1"/>
                </a:solidFill>
                <a:latin typeface="Segoe UI" panose="020B0502040204020203" pitchFamily="34" charset="0"/>
                <a:cs typeface="Segoe UI" panose="020B0502040204020203" pitchFamily="34" charset="0"/>
              </a:rPr>
              <a:t>Les services CADI / OCR Studio doivent donc exposer ce même mécanisme pour s’intégrer aux flux SYO.</a:t>
            </a:r>
          </a:p>
        </p:txBody>
      </p:sp>
    </p:spTree>
    <p:extLst>
      <p:ext uri="{BB962C8B-B14F-4D97-AF65-F5344CB8AC3E}">
        <p14:creationId xmlns:p14="http://schemas.microsoft.com/office/powerpoint/2010/main" val="429706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SyoReader] - Deux logiques d’automatisation OCR</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solidFill>
                  <a:srgbClr val="003A8D"/>
                </a:solidFill>
                <a:latin typeface="Segoe UI" panose="020B0502040204020203" pitchFamily="34" charset="0"/>
                <a:cs typeface="Segoe UI" panose="020B0502040204020203" pitchFamily="34" charset="0"/>
              </a:rPr>
              <a:t>01. Panorama comparé — deux logiques d’automatisation face au score OCR</a:t>
            </a:r>
          </a:p>
        </p:txBody>
      </p:sp>
      <p:sp>
        <p:nvSpPr>
          <p:cNvPr id="201" name="Label Solution 1"/>
          <p:cNvSpPr txBox="1"/>
          <p:nvPr/>
        </p:nvSpPr>
        <p:spPr>
          <a:xfrm>
            <a:off x="768096" y="1280160"/>
            <a:ext cx="5486400" cy="256032"/>
          </a:xfrm>
          <a:prstGeom prst="rect">
            <a:avLst/>
          </a:prstGeom>
        </p:spPr>
        <p:txBody>
          <a:bodyPr wrap="square">
            <a:noAutofit/>
          </a:bodyPr>
          <a:lstStyle/>
          <a:p>
            <a:pPr algn="l"/>
            <a:r>
              <a:rPr lang="fr-FR" sz="1100" b="1" dirty="0">
                <a:solidFill>
                  <a:srgbClr val="003A8D"/>
                </a:solidFill>
                <a:latin typeface="Segoe UI" panose="020B0502040204020203" pitchFamily="34" charset="0"/>
                <a:cs typeface="Segoe UI" panose="020B0502040204020203" pitchFamily="34" charset="0"/>
              </a:rPr>
              <a:t>SOLUTION 1 — Score exploité  (SYO / RAFALE)</a:t>
            </a:r>
          </a:p>
        </p:txBody>
      </p:sp>
      <p:sp>
        <p:nvSpPr>
          <p:cNvPr id="202" name="Label Solution 2"/>
          <p:cNvSpPr txBox="1"/>
          <p:nvPr/>
        </p:nvSpPr>
        <p:spPr>
          <a:xfrm>
            <a:off x="768096" y="2834640"/>
            <a:ext cx="5943600" cy="256032"/>
          </a:xfrm>
          <a:prstGeom prst="rect">
            <a:avLst/>
          </a:prstGeom>
        </p:spPr>
        <p:txBody>
          <a:bodyPr wrap="square">
            <a:noAutofit/>
          </a:bodyPr>
          <a:lstStyle/>
          <a:p>
            <a:pPr algn="l"/>
            <a:r>
              <a:rPr lang="fr-FR" sz="1100" b="1" dirty="0">
                <a:solidFill>
                  <a:srgbClr val="003A8D"/>
                </a:solidFill>
                <a:latin typeface="Segoe UI" panose="020B0502040204020203" pitchFamily="34" charset="0"/>
                <a:cs typeface="Segoe UI" panose="020B0502040204020203" pitchFamily="34" charset="0"/>
              </a:rPr>
              <a:t>SOLUTION 2 — Sans exploitation du score  (CADI / LDD)</a:t>
            </a:r>
          </a:p>
        </p:txBody>
      </p:sp>
      <p:sp>
        <p:nvSpPr>
          <p:cNvPr id="203" name="Box Extraction OCR"/>
          <p:cNvSpPr/>
          <p:nvPr/>
        </p:nvSpPr>
        <p:spPr>
          <a:xfrm>
            <a:off x="768096" y="1783080"/>
            <a:ext cx="2148840" cy="384048"/>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50" dirty="0">
                <a:solidFill>
                  <a:schemeClr val="tx1"/>
                </a:solidFill>
                <a:latin typeface="Segoe UI" panose="020B0502040204020203" pitchFamily="34" charset="0"/>
                <a:cs typeface="Segoe UI" panose="020B0502040204020203" pitchFamily="34" charset="0"/>
              </a:rPr>
              <a:t>Extraction OCR (score de confiance)</a:t>
            </a:r>
          </a:p>
        </p:txBody>
      </p:sp>
      <p:cxnSp>
        <p:nvCxnSpPr>
          <p:cNvPr id="204" name="Conn A1"/>
          <p:cNvCxnSpPr/>
          <p:nvPr/>
        </p:nvCxnSpPr>
        <p:spPr>
          <a:xfrm>
            <a:off x="2916936" y="1975104"/>
            <a:ext cx="32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5" name="Diamant Score"/>
          <p:cNvSpPr/>
          <p:nvPr/>
        </p:nvSpPr>
        <p:spPr>
          <a:xfrm>
            <a:off x="3236976" y="1810512"/>
            <a:ext cx="292608" cy="329184"/>
          </a:xfrm>
          <a:prstGeom prst="diamond">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206" name="Conn A OK"/>
          <p:cNvCxnSpPr/>
          <p:nvPr/>
        </p:nvCxnSpPr>
        <p:spPr>
          <a:xfrm flipV="1">
            <a:off x="3529584" y="1645920"/>
            <a:ext cx="539496" cy="3291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7" name="Conn A KO"/>
          <p:cNvCxnSpPr/>
          <p:nvPr/>
        </p:nvCxnSpPr>
        <p:spPr>
          <a:xfrm>
            <a:off x="3529584" y="1975104"/>
            <a:ext cx="539496" cy="53035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8" name="Box Score OK"/>
          <p:cNvSpPr/>
          <p:nvPr/>
        </p:nvSpPr>
        <p:spPr>
          <a:xfrm>
            <a:off x="4069080" y="1645920"/>
            <a:ext cx="233172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dirty="0">
                <a:solidFill>
                  <a:schemeClr val="tx1"/>
                </a:solidFill>
                <a:latin typeface="Segoe UI" panose="020B0502040204020203" pitchFamily="34" charset="0"/>
                <a:cs typeface="Segoe UI" panose="020B0502040204020203" pitchFamily="34" charset="0"/>
              </a:rPr>
              <a:t>Score ≥ seuil + validation métier OK</a:t>
            </a:r>
          </a:p>
        </p:txBody>
      </p:sp>
      <p:cxnSp>
        <p:nvCxnSpPr>
          <p:cNvPr id="209" name="Conn OK-out"/>
          <p:cNvCxnSpPr/>
          <p:nvPr/>
        </p:nvCxnSpPr>
        <p:spPr>
          <a:xfrm>
            <a:off x="6400800" y="1828800"/>
            <a:ext cx="274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0" name="Box Aucune saisie"/>
          <p:cNvSpPr/>
          <p:nvPr/>
        </p:nvSpPr>
        <p:spPr>
          <a:xfrm>
            <a:off x="6675120" y="1645920"/>
            <a:ext cx="2606040" cy="36576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50" b="1" dirty="0">
                <a:solidFill>
                  <a:schemeClr val="bg1"/>
                </a:solidFill>
                <a:latin typeface="Segoe UI" panose="020B0502040204020203" pitchFamily="34" charset="0"/>
                <a:cs typeface="Segoe UI" panose="020B0502040204020203" pitchFamily="34" charset="0"/>
              </a:rPr>
              <a:t>Aucune saisie (automatisé)</a:t>
            </a:r>
          </a:p>
        </p:txBody>
      </p:sp>
      <p:sp>
        <p:nvSpPr>
          <p:cNvPr id="211" name="Box Score KO"/>
          <p:cNvSpPr/>
          <p:nvPr/>
        </p:nvSpPr>
        <p:spPr>
          <a:xfrm>
            <a:off x="4069080" y="2322576"/>
            <a:ext cx="233172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dirty="0">
                <a:solidFill>
                  <a:schemeClr val="tx1"/>
                </a:solidFill>
                <a:latin typeface="Segoe UI" panose="020B0502040204020203" pitchFamily="34" charset="0"/>
                <a:cs typeface="Segoe UI" panose="020B0502040204020203" pitchFamily="34" charset="0"/>
              </a:rPr>
              <a:t>Score &lt; seuil, ou validation métier KO</a:t>
            </a:r>
          </a:p>
        </p:txBody>
      </p:sp>
      <p:cxnSp>
        <p:nvCxnSpPr>
          <p:cNvPr id="212" name="Conn KO-out"/>
          <p:cNvCxnSpPr/>
          <p:nvPr/>
        </p:nvCxnSpPr>
        <p:spPr>
          <a:xfrm>
            <a:off x="6400800" y="2505456"/>
            <a:ext cx="274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3" name="Box Saisie manuelle"/>
          <p:cNvSpPr/>
          <p:nvPr/>
        </p:nvSpPr>
        <p:spPr>
          <a:xfrm>
            <a:off x="6675120" y="2322576"/>
            <a:ext cx="2606040" cy="36576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50" b="1" dirty="0">
                <a:solidFill>
                  <a:schemeClr val="bg1"/>
                </a:solidFill>
                <a:latin typeface="Segoe UI" panose="020B0502040204020203" pitchFamily="34" charset="0"/>
                <a:cs typeface="Segoe UI" panose="020B0502040204020203" pitchFamily="34" charset="0"/>
              </a:rPr>
              <a:t>Saisie manuelle opérateur</a:t>
            </a:r>
          </a:p>
        </p:txBody>
      </p:sp>
      <p:sp>
        <p:nvSpPr>
          <p:cNvPr id="214" name="Box Levee de doute"/>
          <p:cNvSpPr/>
          <p:nvPr/>
        </p:nvSpPr>
        <p:spPr>
          <a:xfrm>
            <a:off x="768096" y="3200400"/>
            <a:ext cx="2606040" cy="384048"/>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dirty="0">
                <a:solidFill>
                  <a:schemeClr val="tx1"/>
                </a:solidFill>
                <a:latin typeface="Segoe UI" panose="020B0502040204020203" pitchFamily="34" charset="0"/>
                <a:cs typeface="Segoe UI" panose="020B0502040204020203" pitchFamily="34" charset="0"/>
              </a:rPr>
              <a:t>Levée de doute demandée par le flux</a:t>
            </a:r>
          </a:p>
        </p:txBody>
      </p:sp>
      <p:cxnSp>
        <p:nvCxnSpPr>
          <p:cNvPr id="215" name="Conn B1"/>
          <p:cNvCxnSpPr/>
          <p:nvPr/>
        </p:nvCxnSpPr>
        <p:spPr>
          <a:xfrm>
            <a:off x="3374136" y="3392424"/>
            <a:ext cx="32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6" name="Box Operation systematique"/>
          <p:cNvSpPr/>
          <p:nvPr/>
        </p:nvSpPr>
        <p:spPr>
          <a:xfrm>
            <a:off x="3694176" y="3200400"/>
            <a:ext cx="2697480" cy="384048"/>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50" b="1" dirty="0">
                <a:solidFill>
                  <a:schemeClr val="bg1"/>
                </a:solidFill>
                <a:latin typeface="Segoe UI" panose="020B0502040204020203" pitchFamily="34" charset="0"/>
                <a:cs typeface="Segoe UI" panose="020B0502040204020203" pitchFamily="34" charset="0"/>
              </a:rPr>
              <a:t>Opération manuelle systématique</a:t>
            </a:r>
          </a:p>
        </p:txBody>
      </p:sp>
      <p:cxnSp>
        <p:nvCxnSpPr>
          <p:cNvPr id="217" name="Conn B2"/>
          <p:cNvCxnSpPr/>
          <p:nvPr/>
        </p:nvCxnSpPr>
        <p:spPr>
          <a:xfrm>
            <a:off x="6391656" y="3392424"/>
            <a:ext cx="32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8" name="Box quel que soit score"/>
          <p:cNvSpPr/>
          <p:nvPr/>
        </p:nvSpPr>
        <p:spPr>
          <a:xfrm>
            <a:off x="6711696" y="3200400"/>
            <a:ext cx="2651760" cy="384048"/>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i="1" dirty="0">
                <a:solidFill>
                  <a:schemeClr val="tx1"/>
                </a:solidFill>
                <a:latin typeface="Segoe UI" panose="020B0502040204020203" pitchFamily="34" charset="0"/>
                <a:cs typeface="Segoe UI" panose="020B0502040204020203" pitchFamily="34" charset="0"/>
              </a:rPr>
              <a:t>Quel que soit le score OCR obtenu</a:t>
            </a:r>
          </a:p>
        </p:txBody>
      </p:sp>
      <p:sp>
        <p:nvSpPr>
          <p:cNvPr id="219" name="Entonnoir S1 grand"/>
          <p:cNvSpPr/>
          <p:nvPr/>
        </p:nvSpPr>
        <p:spPr>
          <a:xfrm>
            <a:off x="822960" y="3749040"/>
            <a:ext cx="1417320" cy="566928"/>
          </a:xfrm>
          <a:prstGeom prst="flowChartManualOperation">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latin typeface="Segoe UI" panose="020B0502040204020203" pitchFamily="34" charset="0"/>
                <a:cs typeface="Segoe UI" panose="020B0502040204020203" pitchFamily="34" charset="0"/>
              </a:rPr>
              <a:t>Volume entrant</a:t>
            </a:r>
          </a:p>
        </p:txBody>
      </p:sp>
      <p:sp>
        <p:nvSpPr>
          <p:cNvPr id="220" name="Entonnoir S1 petit"/>
          <p:cNvSpPr/>
          <p:nvPr/>
        </p:nvSpPr>
        <p:spPr>
          <a:xfrm>
            <a:off x="2395728" y="3749040"/>
            <a:ext cx="731520" cy="566928"/>
          </a:xfrm>
          <a:prstGeom prst="flowChartManualOperation">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1" name="Label Operateurs S1"/>
          <p:cNvSpPr txBox="1"/>
          <p:nvPr/>
        </p:nvSpPr>
        <p:spPr>
          <a:xfrm>
            <a:off x="2258568" y="4334256"/>
            <a:ext cx="1005840" cy="219456"/>
          </a:xfrm>
          <a:prstGeom prst="rect">
            <a:avLst/>
          </a:prstGeom>
        </p:spPr>
        <p:txBody>
          <a:bodyPr wrap="square">
            <a:noAutofit/>
          </a:bodyPr>
          <a:lstStyle/>
          <a:p>
            <a:pPr algn="ctr"/>
            <a:r>
              <a:rPr lang="fr-FR" sz="800" dirty="0">
                <a:solidFill>
                  <a:schemeClr val="tx1"/>
                </a:solidFill>
                <a:latin typeface="Segoe UI" panose="020B0502040204020203" pitchFamily="34" charset="0"/>
                <a:cs typeface="Segoe UI" panose="020B0502040204020203" pitchFamily="34" charset="0"/>
              </a:rPr>
              <a:t>Opérateurs</a:t>
            </a:r>
          </a:p>
        </p:txBody>
      </p:sp>
      <p:sp>
        <p:nvSpPr>
          <p:cNvPr id="222" name="Texte funnel S1"/>
          <p:cNvSpPr txBox="1"/>
          <p:nvPr/>
        </p:nvSpPr>
        <p:spPr>
          <a:xfrm>
            <a:off x="3310128" y="3749040"/>
            <a:ext cx="2971800" cy="786384"/>
          </a:xfrm>
          <a:prstGeom prst="rect">
            <a:avLst/>
          </a:prstGeom>
        </p:spPr>
        <p:txBody>
          <a:bodyPr wrap="square">
            <a:noAutofit/>
          </a:bodyPr>
          <a:lstStyle/>
          <a:p>
            <a:pPr algn="l"/>
            <a:r>
              <a:rPr lang="fr-FR" sz="950" dirty="0">
                <a:solidFill>
                  <a:schemeClr val="tx1"/>
                </a:solidFill>
                <a:latin typeface="Segoe UI" panose="020B0502040204020203" pitchFamily="34" charset="0"/>
                <a:cs typeface="Segoe UI" panose="020B0502040204020203" pitchFamily="34" charset="0"/>
              </a:rPr>
              <a:t>Le volume présenté aux opérateurs diminue avec la performance du score OCR.</a:t>
            </a:r>
          </a:p>
        </p:txBody>
      </p:sp>
      <p:sp>
        <p:nvSpPr>
          <p:cNvPr id="223" name="Entonnoir S2 grand"/>
          <p:cNvSpPr/>
          <p:nvPr/>
        </p:nvSpPr>
        <p:spPr>
          <a:xfrm>
            <a:off x="6355080" y="3749040"/>
            <a:ext cx="1417320" cy="566928"/>
          </a:xfrm>
          <a:prstGeom prst="flowChartManualOperation">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latin typeface="Segoe UI" panose="020B0502040204020203" pitchFamily="34" charset="0"/>
                <a:cs typeface="Segoe UI" panose="020B0502040204020203" pitchFamily="34" charset="0"/>
              </a:rPr>
              <a:t>Volume entrant</a:t>
            </a:r>
          </a:p>
        </p:txBody>
      </p:sp>
      <p:sp>
        <p:nvSpPr>
          <p:cNvPr id="224" name="Entonnoir S2 grand2"/>
          <p:cNvSpPr/>
          <p:nvPr/>
        </p:nvSpPr>
        <p:spPr>
          <a:xfrm>
            <a:off x="7927848" y="3749040"/>
            <a:ext cx="1417320" cy="566928"/>
          </a:xfrm>
          <a:prstGeom prst="flowChartManualOperation">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5" name="Label Operateurs S2"/>
          <p:cNvSpPr txBox="1"/>
          <p:nvPr/>
        </p:nvSpPr>
        <p:spPr>
          <a:xfrm>
            <a:off x="7927848" y="4334256"/>
            <a:ext cx="1417320" cy="219456"/>
          </a:xfrm>
          <a:prstGeom prst="rect">
            <a:avLst/>
          </a:prstGeom>
        </p:spPr>
        <p:txBody>
          <a:bodyPr wrap="square">
            <a:noAutofit/>
          </a:bodyPr>
          <a:lstStyle/>
          <a:p>
            <a:pPr algn="ctr"/>
            <a:r>
              <a:rPr lang="fr-FR" sz="800" dirty="0">
                <a:solidFill>
                  <a:schemeClr val="tx1"/>
                </a:solidFill>
                <a:latin typeface="Segoe UI" panose="020B0502040204020203" pitchFamily="34" charset="0"/>
                <a:cs typeface="Segoe UI" panose="020B0502040204020203" pitchFamily="34" charset="0"/>
              </a:rPr>
              <a:t>Opérateurs</a:t>
            </a:r>
          </a:p>
        </p:txBody>
      </p:sp>
      <p:sp>
        <p:nvSpPr>
          <p:cNvPr id="226" name="Texte funnel S2"/>
          <p:cNvSpPr txBox="1"/>
          <p:nvPr/>
        </p:nvSpPr>
        <p:spPr>
          <a:xfrm>
            <a:off x="9528048" y="3749040"/>
            <a:ext cx="1920240" cy="786384"/>
          </a:xfrm>
          <a:prstGeom prst="rect">
            <a:avLst/>
          </a:prstGeom>
        </p:spPr>
        <p:txBody>
          <a:bodyPr wrap="square">
            <a:noAutofit/>
          </a:bodyPr>
          <a:lstStyle/>
          <a:p>
            <a:pPr algn="l"/>
            <a:r>
              <a:rPr lang="fr-FR" sz="950" dirty="0">
                <a:solidFill>
                  <a:schemeClr val="tx1"/>
                </a:solidFill>
                <a:latin typeface="Segoe UI" panose="020B0502040204020203" pitchFamily="34" charset="0"/>
                <a:cs typeface="Segoe UI" panose="020B0502040204020203" pitchFamily="34" charset="0"/>
              </a:rPr>
              <a:t>Le volume présenté aux opérateurs reste constant, quel que soit le score.</a:t>
            </a:r>
          </a:p>
        </p:txBody>
      </p:sp>
      <p:sp>
        <p:nvSpPr>
          <p:cNvPr id="227" name="Callout Pourquoi"/>
          <p:cNvSpPr/>
          <p:nvPr/>
        </p:nvSpPr>
        <p:spPr>
          <a:xfrm>
            <a:off x="768096" y="4663440"/>
            <a:ext cx="11027664" cy="960120"/>
          </a:xfrm>
          <a:prstGeom prst="rect">
            <a:avLst/>
          </a:prstGeom>
          <a:solidFill>
            <a:srgbClr val="003A8D"/>
          </a:solidFill>
          <a:ln>
            <a:noFill/>
          </a:ln>
        </p:spPr>
        <p:txBody>
          <a:bodyPr rtlCol="0" anchor="ctr">
            <a:normAutofit/>
          </a:bodyPr>
          <a:lstStyle/>
          <a:p>
            <a:pPr marL="0" indent="0" algn="l"/>
            <a:r>
              <a:rPr lang="fr-FR" sz="1200" b="1" dirty="0">
                <a:solidFill>
                  <a:schemeClr val="bg1"/>
                </a:solidFill>
                <a:latin typeface="Segoe UI" panose="020B0502040204020203" pitchFamily="34" charset="0"/>
                <a:cs typeface="Segoe UI" panose="020B0502040204020203" pitchFamily="34" charset="0"/>
              </a:rPr>
              <a:t>Pourquoi cette différence ?</a:t>
            </a:r>
          </a:p>
          <a:p>
            <a:pPr marL="171450" indent="-171450" algn="l">
              <a:buFont typeface="Arial" panose="020B0604020202020204" pitchFamily="34" charset="0"/>
              <a:buChar char="•"/>
            </a:pPr>
            <a:r>
              <a:rPr lang="fr-FR" sz="1050" dirty="0">
                <a:solidFill>
                  <a:schemeClr val="bg1"/>
                </a:solidFill>
                <a:latin typeface="Segoe UI" panose="020B0502040204020203" pitchFamily="34" charset="0"/>
                <a:cs typeface="Segoe UI" panose="020B0502040204020203" pitchFamily="34" charset="0"/>
              </a:rPr>
              <a:t>Solution 1 : le score conditionne l’automatisation — au-delà du seuil, aucune saisie n’est nécessaire.</a:t>
            </a:r>
          </a:p>
          <a:p>
            <a:pPr marL="171450" indent="-171450" algn="l">
              <a:buFont typeface="Arial" panose="020B0604020202020204" pitchFamily="34" charset="0"/>
              <a:buChar char="•"/>
            </a:pPr>
            <a:r>
              <a:rPr lang="fr-FR" sz="1050" dirty="0">
                <a:solidFill>
                  <a:schemeClr val="bg1"/>
                </a:solidFill>
                <a:latin typeface="Segoe UI" panose="020B0502040204020203" pitchFamily="34" charset="0"/>
                <a:cs typeface="Segoe UI" panose="020B0502040204020203" pitchFamily="34" charset="0"/>
              </a:rPr>
              <a:t>Solution 2 : le contrôle humain reste systématique, indépendamment du score obtenu.</a:t>
            </a:r>
          </a:p>
          <a:p>
            <a:pPr marL="171450" indent="-171450" algn="l">
              <a:buFont typeface="Arial" panose="020B0604020202020204" pitchFamily="34" charset="0"/>
              <a:buChar char="•"/>
            </a:pPr>
            <a:r>
              <a:rPr lang="fr-FR" sz="1050" dirty="0">
                <a:solidFill>
                  <a:schemeClr val="bg1"/>
                </a:solidFill>
                <a:latin typeface="Segoe UI" panose="020B0502040204020203" pitchFamily="34" charset="0"/>
                <a:cs typeface="Segoe UI" panose="020B0502040204020203" pitchFamily="34" charset="0"/>
              </a:rPr>
              <a:t>Conséquence : un OCR plus performant réduit le coût de traitement en Solution 1, mais améliore seulement la qualité du contrôle en Solution 2.</a:t>
            </a:r>
          </a:p>
        </p:txBody>
      </p:sp>
      <p:sp>
        <p:nvSpPr>
          <p:cNvPr id="228" name="NB line"/>
          <p:cNvSpPr txBox="1"/>
          <p:nvPr/>
        </p:nvSpPr>
        <p:spPr>
          <a:xfrm>
            <a:off x="768096" y="5742432"/>
            <a:ext cx="11027664" cy="502920"/>
          </a:xfrm>
          <a:prstGeom prst="rect">
            <a:avLst/>
          </a:prstGeom>
        </p:spPr>
        <p:txBody>
          <a:bodyPr wrap="square">
            <a:normAutofit/>
          </a:bodyPr>
          <a:lstStyle/>
          <a:p>
            <a:pPr algn="l"/>
            <a:r>
              <a:rPr lang="fr-FR" sz="950" dirty="0">
                <a:solidFill>
                  <a:schemeClr val="tx1"/>
                </a:solidFill>
                <a:latin typeface="Segoe UI" panose="020B0502040204020203" pitchFamily="34" charset="0"/>
                <a:cs typeface="Segoe UI" panose="020B0502040204020203" pitchFamily="34" charset="0"/>
              </a:rPr>
              <a:t>NB : les deux mécanismes peuvent coexister sur un même SI ; le choix dépend de la criticité du contrôle attendu sur chaque flux — cf. slide suivante pour le détail du mécanisme SYO.</a:t>
            </a:r>
          </a:p>
        </p:txBody>
      </p:sp>
    </p:spTree>
    <p:extLst>
      <p:ext uri="{BB962C8B-B14F-4D97-AF65-F5344CB8AC3E}">
        <p14:creationId xmlns:p14="http://schemas.microsoft.com/office/powerpoint/2010/main" val="429706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SyoReader] - Découpler les CW du moteur OCR</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solidFill>
                  <a:srgbClr val="003A8D"/>
                </a:solidFill>
                <a:latin typeface="Segoe UI" panose="020B0502040204020203" pitchFamily="34" charset="0"/>
                <a:cs typeface="Segoe UI" panose="020B0502040204020203" pitchFamily="34" charset="0"/>
              </a:rPr>
              <a:t>03. Trajectoire de bascule — indépendance des CW vis-à-vis du moteur OCR</a:t>
            </a:r>
          </a:p>
        </p:txBody>
      </p:sp>
      <p:sp>
        <p:nvSpPr>
          <p:cNvPr id="301" name="Label Aujourdhui"/>
          <p:cNvSpPr txBox="1"/>
          <p:nvPr/>
        </p:nvSpPr>
        <p:spPr>
          <a:xfrm>
            <a:off x="768096" y="1207008"/>
            <a:ext cx="7315200" cy="237744"/>
          </a:xfrm>
          <a:prstGeom prst="rect">
            <a:avLst/>
          </a:prstGeom>
        </p:spPr>
        <p:txBody>
          <a:bodyPr wrap="square">
            <a:noAutofit/>
          </a:bodyPr>
          <a:lstStyle/>
          <a:p>
            <a:pPr algn="l"/>
            <a:r>
              <a:rPr lang="fr-FR" sz="1100" b="1" dirty="0">
                <a:solidFill>
                  <a:srgbClr val="003A8D"/>
                </a:solidFill>
                <a:latin typeface="Segoe UI" panose="020B0502040204020203" pitchFamily="34" charset="0"/>
                <a:cs typeface="Segoe UI" panose="020B0502040204020203" pitchFamily="34" charset="0"/>
              </a:rPr>
              <a:t>AUJOURD’HUI — Couplage direct au moteur OCR</a:t>
            </a:r>
          </a:p>
        </p:txBody>
      </p:sp>
      <p:sp>
        <p:nvSpPr>
          <p:cNvPr id="302" name="Box CW historique 1"/>
          <p:cNvSpPr/>
          <p:nvPr/>
        </p:nvSpPr>
        <p:spPr>
          <a:xfrm>
            <a:off x="768096" y="1517904"/>
            <a:ext cx="210312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dirty="0">
                <a:solidFill>
                  <a:schemeClr val="tx1"/>
                </a:solidFill>
                <a:latin typeface="Segoe UI" panose="020B0502040204020203" pitchFamily="34" charset="0"/>
                <a:cs typeface="Segoe UI" panose="020B0502040204020203" pitchFamily="34" charset="0"/>
              </a:rPr>
              <a:t>CW historique</a:t>
            </a:r>
          </a:p>
        </p:txBody>
      </p:sp>
      <p:cxnSp>
        <p:nvCxnSpPr>
          <p:cNvPr id="303" name="Conn1"/>
          <p:cNvCxnSpPr/>
          <p:nvPr/>
        </p:nvCxnSpPr>
        <p:spPr>
          <a:xfrm>
            <a:off x="2871216" y="170078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4" name="Box Appel direct"/>
          <p:cNvSpPr/>
          <p:nvPr/>
        </p:nvSpPr>
        <p:spPr>
          <a:xfrm>
            <a:off x="3099816" y="1517904"/>
            <a:ext cx="3931920" cy="36576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b="1" dirty="0">
                <a:solidFill>
                  <a:schemeClr val="bg1"/>
                </a:solidFill>
                <a:latin typeface="Segoe UI" panose="020B0502040204020203" pitchFamily="34" charset="0"/>
                <a:cs typeface="Segoe UI" panose="020B0502040204020203" pitchFamily="34" charset="0"/>
              </a:rPr>
              <a:t>Appel direct au moteur OCR (ex. A2IA — montants)</a:t>
            </a:r>
          </a:p>
        </p:txBody>
      </p:sp>
      <p:cxnSp>
        <p:nvCxnSpPr>
          <p:cNvPr id="305" name="Conn2"/>
          <p:cNvCxnSpPr/>
          <p:nvPr/>
        </p:nvCxnSpPr>
        <p:spPr>
          <a:xfrm>
            <a:off x="7031736" y="170078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6" name="Label dependance"/>
          <p:cNvSpPr txBox="1"/>
          <p:nvPr/>
        </p:nvSpPr>
        <p:spPr>
          <a:xfrm>
            <a:off x="7260336" y="1517904"/>
            <a:ext cx="3749040" cy="365760"/>
          </a:xfrm>
          <a:prstGeom prst="rect">
            <a:avLst/>
          </a:prstGeom>
        </p:spPr>
        <p:txBody>
          <a:bodyPr wrap="square">
            <a:noAutofit/>
          </a:bodyPr>
          <a:lstStyle/>
          <a:p>
            <a:pPr algn="l"/>
            <a:r>
              <a:rPr lang="fr-FR" sz="950" i="1" dirty="0">
                <a:solidFill>
                  <a:schemeClr val="tx1"/>
                </a:solidFill>
                <a:latin typeface="Segoe UI" panose="020B0502040204020203" pitchFamily="34" charset="0"/>
                <a:cs typeface="Segoe UI" panose="020B0502040204020203" pitchFamily="34" charset="0"/>
              </a:rPr>
              <a:t>Dépendance technique forte à un moteur donné</a:t>
            </a:r>
          </a:p>
        </p:txBody>
      </p:sp>
      <p:sp>
        <p:nvSpPr>
          <p:cNvPr id="307" name="Label Cible"/>
          <p:cNvSpPr txBox="1"/>
          <p:nvPr/>
        </p:nvSpPr>
        <p:spPr>
          <a:xfrm>
            <a:off x="768096" y="2029968"/>
            <a:ext cx="7315200" cy="237744"/>
          </a:xfrm>
          <a:prstGeom prst="rect">
            <a:avLst/>
          </a:prstGeom>
        </p:spPr>
        <p:txBody>
          <a:bodyPr wrap="square">
            <a:noAutofit/>
          </a:bodyPr>
          <a:lstStyle/>
          <a:p>
            <a:pPr algn="l"/>
            <a:r>
              <a:rPr lang="fr-FR" sz="1100" b="1" dirty="0">
                <a:solidFill>
                  <a:srgbClr val="003A8D"/>
                </a:solidFill>
                <a:latin typeface="Segoe UI" panose="020B0502040204020203" pitchFamily="34" charset="0"/>
                <a:cs typeface="Segoe UI" panose="020B0502040204020203" pitchFamily="34" charset="0"/>
              </a:rPr>
              <a:t>CIBLE — Indépendance via SyoReader</a:t>
            </a:r>
          </a:p>
        </p:txBody>
      </p:sp>
      <p:sp>
        <p:nvSpPr>
          <p:cNvPr id="308" name="Box CW OCRUS"/>
          <p:cNvSpPr/>
          <p:nvPr/>
        </p:nvSpPr>
        <p:spPr>
          <a:xfrm>
            <a:off x="768096" y="2395728"/>
            <a:ext cx="210312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dirty="0">
                <a:solidFill>
                  <a:schemeClr val="tx1"/>
                </a:solidFill>
                <a:latin typeface="Segoe UI" panose="020B0502040204020203" pitchFamily="34" charset="0"/>
                <a:cs typeface="Segoe UI" panose="020B0502040204020203" pitchFamily="34" charset="0"/>
              </a:rPr>
              <a:t>CW (flux OCRUS)</a:t>
            </a:r>
          </a:p>
        </p:txBody>
      </p:sp>
      <p:cxnSp>
        <p:nvCxnSpPr>
          <p:cNvPr id="309" name="Conn3"/>
          <p:cNvCxnSpPr/>
          <p:nvPr/>
        </p:nvCxnSpPr>
        <p:spPr>
          <a:xfrm>
            <a:off x="2871216" y="2578608"/>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0" name="Box Appel SyoReader"/>
          <p:cNvSpPr/>
          <p:nvPr/>
        </p:nvSpPr>
        <p:spPr>
          <a:xfrm>
            <a:off x="3099816" y="2395728"/>
            <a:ext cx="1920240" cy="36576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50" b="1" dirty="0">
                <a:solidFill>
                  <a:schemeClr val="bg1"/>
                </a:solidFill>
                <a:latin typeface="Segoe UI" panose="020B0502040204020203" pitchFamily="34" charset="0"/>
                <a:cs typeface="Segoe UI" panose="020B0502040204020203" pitchFamily="34" charset="0"/>
              </a:rPr>
              <a:t>Appel SyoReader</a:t>
            </a:r>
          </a:p>
        </p:txBody>
      </p:sp>
      <p:cxnSp>
        <p:nvCxnSpPr>
          <p:cNvPr id="311" name="Conn4"/>
          <p:cNvCxnSpPr/>
          <p:nvPr/>
        </p:nvCxnSpPr>
        <p:spPr>
          <a:xfrm>
            <a:off x="5020056" y="2578608"/>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2" name="Box Moteur OCR"/>
          <p:cNvSpPr/>
          <p:nvPr/>
        </p:nvSpPr>
        <p:spPr>
          <a:xfrm>
            <a:off x="5248656" y="2395728"/>
            <a:ext cx="228600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dirty="0">
                <a:solidFill>
                  <a:schemeClr val="tx1"/>
                </a:solidFill>
                <a:latin typeface="Segoe UI" panose="020B0502040204020203" pitchFamily="34" charset="0"/>
                <a:cs typeface="Segoe UI" panose="020B0502040204020203" pitchFamily="34" charset="0"/>
              </a:rPr>
              <a:t>Moteur OCR (A2IA, autre…)</a:t>
            </a:r>
          </a:p>
        </p:txBody>
      </p:sp>
      <p:cxnSp>
        <p:nvCxnSpPr>
          <p:cNvPr id="313" name="Conn5"/>
          <p:cNvCxnSpPr/>
          <p:nvPr/>
        </p:nvCxnSpPr>
        <p:spPr>
          <a:xfrm>
            <a:off x="7534656" y="2578608"/>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4" name="Label independance"/>
          <p:cNvSpPr txBox="1"/>
          <p:nvPr/>
        </p:nvSpPr>
        <p:spPr>
          <a:xfrm>
            <a:off x="7763256" y="2395728"/>
            <a:ext cx="3246120" cy="365760"/>
          </a:xfrm>
          <a:prstGeom prst="rect">
            <a:avLst/>
          </a:prstGeom>
        </p:spPr>
        <p:txBody>
          <a:bodyPr wrap="square">
            <a:noAutofit/>
          </a:bodyPr>
          <a:lstStyle/>
          <a:p>
            <a:pPr algn="l"/>
            <a:r>
              <a:rPr lang="fr-FR" sz="950" i="1" dirty="0">
                <a:solidFill>
                  <a:schemeClr val="tx1"/>
                </a:solidFill>
                <a:latin typeface="Segoe UI" panose="020B0502040204020203" pitchFamily="34" charset="0"/>
                <a:cs typeface="Segoe UI" panose="020B0502040204020203" pitchFamily="34" charset="0"/>
              </a:rPr>
              <a:t>CW indépendant du moteur sous-jacent</a:t>
            </a:r>
          </a:p>
        </p:txBody>
      </p:sp>
      <p:sp>
        <p:nvSpPr>
          <p:cNvPr id="315" name="Label Trajectoire"/>
          <p:cNvSpPr txBox="1"/>
          <p:nvPr/>
        </p:nvSpPr>
        <p:spPr>
          <a:xfrm>
            <a:off x="768096" y="2907792"/>
            <a:ext cx="7772400" cy="237744"/>
          </a:xfrm>
          <a:prstGeom prst="rect">
            <a:avLst/>
          </a:prstGeom>
        </p:spPr>
        <p:txBody>
          <a:bodyPr wrap="square">
            <a:noAutofit/>
          </a:bodyPr>
          <a:lstStyle/>
          <a:p>
            <a:pPr algn="l"/>
            <a:r>
              <a:rPr lang="fr-FR" sz="1100" b="1" dirty="0">
                <a:solidFill>
                  <a:srgbClr val="003A8D"/>
                </a:solidFill>
                <a:latin typeface="Segoe UI" panose="020B0502040204020203" pitchFamily="34" charset="0"/>
                <a:cs typeface="Segoe UI" panose="020B0502040204020203" pitchFamily="34" charset="0"/>
              </a:rPr>
              <a:t>TRAJECTOIRE DE BASCULE — CW historiques (appel bas niveau A2IA)</a:t>
            </a:r>
          </a:p>
        </p:txBody>
      </p:sp>
      <p:sp>
        <p:nvSpPr>
          <p:cNvPr id="316" name="Box CW hist bascule"/>
          <p:cNvSpPr/>
          <p:nvPr/>
        </p:nvSpPr>
        <p:spPr>
          <a:xfrm>
            <a:off x="768096" y="3474720"/>
            <a:ext cx="233172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850" dirty="0">
                <a:solidFill>
                  <a:schemeClr val="tx1"/>
                </a:solidFill>
                <a:latin typeface="Segoe UI" panose="020B0502040204020203" pitchFamily="34" charset="0"/>
                <a:cs typeface="Segoe UI" panose="020B0502040204020203" pitchFamily="34" charset="0"/>
              </a:rPr>
              <a:t>CW historique (appel direct A2IA)</a:t>
            </a:r>
          </a:p>
        </p:txBody>
      </p:sp>
      <p:cxnSp>
        <p:nvCxnSpPr>
          <p:cNvPr id="317" name="Conn6"/>
          <p:cNvCxnSpPr/>
          <p:nvPr/>
        </p:nvCxnSpPr>
        <p:spPr>
          <a:xfrm>
            <a:off x="3099816" y="3657600"/>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8" name="Box Bascule SyoReader"/>
          <p:cNvSpPr/>
          <p:nvPr/>
        </p:nvSpPr>
        <p:spPr>
          <a:xfrm>
            <a:off x="3328416" y="3474720"/>
            <a:ext cx="2331720" cy="36576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900" b="1" dirty="0">
                <a:solidFill>
                  <a:schemeClr val="bg1"/>
                </a:solidFill>
                <a:latin typeface="Segoe UI" panose="020B0502040204020203" pitchFamily="34" charset="0"/>
                <a:cs typeface="Segoe UI" panose="020B0502040204020203" pitchFamily="34" charset="0"/>
              </a:rPr>
              <a:t>Bascule : appel via SyoReader</a:t>
            </a:r>
          </a:p>
        </p:txBody>
      </p:sp>
      <p:cxnSp>
        <p:nvCxnSpPr>
          <p:cNvPr id="319" name="Conn7"/>
          <p:cNvCxnSpPr/>
          <p:nvPr/>
        </p:nvCxnSpPr>
        <p:spPr>
          <a:xfrm>
            <a:off x="5660136" y="3657600"/>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0" name="Diamant NonRegression"/>
          <p:cNvSpPr/>
          <p:nvPr/>
        </p:nvSpPr>
        <p:spPr>
          <a:xfrm>
            <a:off x="5888736" y="3493008"/>
            <a:ext cx="274320" cy="329184"/>
          </a:xfrm>
          <a:prstGeom prst="diamond">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321" name="Conn OK branch"/>
          <p:cNvCxnSpPr/>
          <p:nvPr/>
        </p:nvCxnSpPr>
        <p:spPr>
          <a:xfrm flipV="1">
            <a:off x="6163056" y="3236976"/>
            <a:ext cx="192024" cy="42062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22" name="Box NonReg OK"/>
          <p:cNvSpPr/>
          <p:nvPr/>
        </p:nvSpPr>
        <p:spPr>
          <a:xfrm>
            <a:off x="6355080" y="3172968"/>
            <a:ext cx="2148840" cy="329184"/>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850" dirty="0">
                <a:solidFill>
                  <a:schemeClr val="tx1"/>
                </a:solidFill>
                <a:latin typeface="Segoe UI" panose="020B0502040204020203" pitchFamily="34" charset="0"/>
                <a:cs typeface="Segoe UI" panose="020B0502040204020203" pitchFamily="34" charset="0"/>
              </a:rPr>
              <a:t>Non-régression validée</a:t>
            </a:r>
          </a:p>
        </p:txBody>
      </p:sp>
      <p:cxnSp>
        <p:nvCxnSpPr>
          <p:cNvPr id="323" name="Conn OK-out"/>
          <p:cNvCxnSpPr/>
          <p:nvPr/>
        </p:nvCxnSpPr>
        <p:spPr>
          <a:xfrm>
            <a:off x="8503920" y="3337560"/>
            <a:ext cx="2011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4" name="Box Cible atteinte"/>
          <p:cNvSpPr/>
          <p:nvPr/>
        </p:nvSpPr>
        <p:spPr>
          <a:xfrm>
            <a:off x="8705088" y="3172968"/>
            <a:ext cx="2331720" cy="329184"/>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850" b="1" dirty="0">
                <a:solidFill>
                  <a:schemeClr val="bg1"/>
                </a:solidFill>
                <a:latin typeface="Segoe UI" panose="020B0502040204020203" pitchFamily="34" charset="0"/>
                <a:cs typeface="Segoe UI" panose="020B0502040204020203" pitchFamily="34" charset="0"/>
              </a:rPr>
              <a:t>Cible atteinte : CW découplé</a:t>
            </a:r>
          </a:p>
        </p:txBody>
      </p:sp>
      <p:cxnSp>
        <p:nvCxnSpPr>
          <p:cNvPr id="325" name="Conn KO branch"/>
          <p:cNvCxnSpPr/>
          <p:nvPr/>
        </p:nvCxnSpPr>
        <p:spPr>
          <a:xfrm>
            <a:off x="6163056" y="3657600"/>
            <a:ext cx="192024" cy="38404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26" name="Box NonReg KO"/>
          <p:cNvSpPr/>
          <p:nvPr/>
        </p:nvSpPr>
        <p:spPr>
          <a:xfrm>
            <a:off x="6355080" y="3840480"/>
            <a:ext cx="2148840" cy="329184"/>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850" dirty="0">
                <a:solidFill>
                  <a:schemeClr val="tx1"/>
                </a:solidFill>
                <a:latin typeface="Segoe UI" panose="020B0502040204020203" pitchFamily="34" charset="0"/>
                <a:cs typeface="Segoe UI" panose="020B0502040204020203" pitchFamily="34" charset="0"/>
              </a:rPr>
              <a:t>Non-régression KO</a:t>
            </a:r>
          </a:p>
        </p:txBody>
      </p:sp>
      <p:cxnSp>
        <p:nvCxnSpPr>
          <p:cNvPr id="327" name="Conn KO-out"/>
          <p:cNvCxnSpPr/>
          <p:nvPr/>
        </p:nvCxnSpPr>
        <p:spPr>
          <a:xfrm>
            <a:off x="8503920" y="4005072"/>
            <a:ext cx="2011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8" name="Box Migration OCRUS"/>
          <p:cNvSpPr/>
          <p:nvPr/>
        </p:nvSpPr>
        <p:spPr>
          <a:xfrm>
            <a:off x="8705088" y="3840480"/>
            <a:ext cx="2331720" cy="329184"/>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normAutofit/>
          </a:bodyPr>
          <a:lstStyle/>
          <a:p>
            <a:pPr algn="ctr"/>
            <a:r>
              <a:rPr lang="fr-FR" sz="850" b="1" dirty="0">
                <a:solidFill>
                  <a:schemeClr val="bg1"/>
                </a:solidFill>
                <a:latin typeface="Segoe UI" panose="020B0502040204020203" pitchFamily="34" charset="0"/>
                <a:cs typeface="Segoe UI" panose="020B0502040204020203" pitchFamily="34" charset="0"/>
              </a:rPr>
              <a:t>Migration OCRUS complète</a:t>
            </a:r>
          </a:p>
        </p:txBody>
      </p:sp>
      <p:sp>
        <p:nvSpPr>
          <p:cNvPr id="329" name="Callout Message cle"/>
          <p:cNvSpPr/>
          <p:nvPr/>
        </p:nvSpPr>
        <p:spPr>
          <a:xfrm>
            <a:off x="768096" y="4572000"/>
            <a:ext cx="11027664" cy="1005840"/>
          </a:xfrm>
          <a:prstGeom prst="rect">
            <a:avLst/>
          </a:prstGeom>
          <a:solidFill>
            <a:srgbClr val="003A8D"/>
          </a:solidFill>
          <a:ln>
            <a:noFill/>
          </a:ln>
        </p:spPr>
        <p:txBody>
          <a:bodyPr rtlCol="0" anchor="ctr">
            <a:normAutofit/>
          </a:bodyPr>
          <a:lstStyle/>
          <a:p>
            <a:pPr marL="0" indent="0" algn="l"/>
            <a:r>
              <a:rPr lang="fr-FR" sz="1200" b="1" dirty="0">
                <a:solidFill>
                  <a:schemeClr val="bg1"/>
                </a:solidFill>
                <a:latin typeface="Segoe UI" panose="020B0502040204020203" pitchFamily="34" charset="0"/>
                <a:cs typeface="Segoe UI" panose="020B0502040204020203" pitchFamily="34" charset="0"/>
              </a:rPr>
              <a:t>Message clé</a:t>
            </a:r>
          </a:p>
          <a:p>
            <a:pPr marL="171450" indent="-171450" algn="l">
              <a:buFont typeface="Arial" panose="020B0604020202020204" pitchFamily="34" charset="0"/>
              <a:buChar char="•"/>
            </a:pPr>
            <a:r>
              <a:rPr lang="fr-FR" sz="1050" dirty="0">
                <a:solidFill>
                  <a:schemeClr val="bg1"/>
                </a:solidFill>
                <a:latin typeface="Segoe UI" panose="020B0502040204020203" pitchFamily="34" charset="0"/>
                <a:cs typeface="Segoe UI" panose="020B0502040204020203" pitchFamily="34" charset="0"/>
              </a:rPr>
              <a:t>Aujourd’hui, certains CW appellent directement les moteurs OCR (ex. A2IA pour les montants) : dépendance technique forte à un moteur donné.</a:t>
            </a:r>
          </a:p>
          <a:p>
            <a:pPr marL="171450" indent="-171450" algn="l">
              <a:buFont typeface="Arial" panose="020B0604020202020204" pitchFamily="34" charset="0"/>
              <a:buChar char="•"/>
            </a:pPr>
            <a:r>
              <a:rPr lang="fr-FR" sz="1050" dirty="0">
                <a:solidFill>
                  <a:schemeClr val="bg1"/>
                </a:solidFill>
                <a:latin typeface="Segoe UI" panose="020B0502040204020203" pitchFamily="34" charset="0"/>
                <a:cs typeface="Segoe UI" panose="020B0502040204020203" pitchFamily="34" charset="0"/>
              </a:rPr>
              <a:t>La refonte fait de SyoReader le point de passage unique : tout flux OCRUS transite par SyoReader, indépendamment du moteur sous-jacent.</a:t>
            </a:r>
          </a:p>
          <a:p>
            <a:pPr marL="171450" indent="-171450" algn="l">
              <a:buFont typeface="Arial" panose="020B0604020202020204" pitchFamily="34" charset="0"/>
              <a:buChar char="•"/>
            </a:pPr>
            <a:r>
              <a:rPr lang="fr-FR" sz="1050" dirty="0">
                <a:solidFill>
                  <a:schemeClr val="bg1"/>
                </a:solidFill>
                <a:latin typeface="Segoe UI" panose="020B0502040204020203" pitchFamily="34" charset="0"/>
                <a:cs typeface="Segoe UI" panose="020B0502040204020203" pitchFamily="34" charset="0"/>
              </a:rPr>
              <a:t>Pour les CW historiques : bascule de l’appel vers SyoReader avec non-régression garantie — à défaut, migration OCRUS complète du flux.</a:t>
            </a:r>
          </a:p>
        </p:txBody>
      </p:sp>
      <p:sp>
        <p:nvSpPr>
          <p:cNvPr id="330" name="NB line"/>
          <p:cNvSpPr txBox="1"/>
          <p:nvPr/>
        </p:nvSpPr>
        <p:spPr>
          <a:xfrm>
            <a:off x="768096" y="5687568"/>
            <a:ext cx="11027664" cy="411480"/>
          </a:xfrm>
          <a:prstGeom prst="rect">
            <a:avLst/>
          </a:prstGeom>
        </p:spPr>
        <p:txBody>
          <a:bodyPr wrap="square">
            <a:normAutofit/>
          </a:bodyPr>
          <a:lstStyle/>
          <a:p>
            <a:pPr algn="l"/>
            <a:r>
              <a:rPr lang="fr-FR" sz="950" dirty="0">
                <a:solidFill>
                  <a:schemeClr val="tx1"/>
                </a:solidFill>
                <a:latin typeface="Segoe UI" panose="020B0502040204020203" pitchFamily="34" charset="0"/>
                <a:cs typeface="Segoe UI" panose="020B0502040204020203" pitchFamily="34" charset="0"/>
              </a:rPr>
              <a:t>NB : la bascule est réalisée flux par flux, avec un jeu de tests de non-régression dédié avant toute mise en production.</a:t>
            </a:r>
          </a:p>
        </p:txBody>
      </p:sp>
    </p:spTree>
    <p:extLst>
      <p:ext uri="{BB962C8B-B14F-4D97-AF65-F5344CB8AC3E}">
        <p14:creationId xmlns:p14="http://schemas.microsoft.com/office/powerpoint/2010/main" val="429706240"/>
      </p:ext>
    </p:extLst>
  </p:cSld>
  <p:clrMapOvr>
    <a:masterClrMapping/>
  </p:clrMapOvr>
</p:sld>
</file>

<file path=ppt/theme/theme1.xml><?xml version="1.0" encoding="utf-8"?>
<a:theme xmlns:a="http://schemas.openxmlformats.org/drawingml/2006/main" name="1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Modele_support_formation.pptx" id="{FC8938AE-3DEC-44F8-93B0-AA7B42287810}" vid="{67FF885F-2E36-427C-A700-E19870749266}"/>
    </a:ext>
  </a:extLst>
</a:theme>
</file>

<file path=ppt/theme/theme2.xml><?xml version="1.0" encoding="utf-8"?>
<a:theme xmlns:a="http://schemas.openxmlformats.org/drawingml/2006/main" name="Thème1">
  <a:themeElements>
    <a:clrScheme name="Custom 3">
      <a:dk1>
        <a:srgbClr val="000000"/>
      </a:dk1>
      <a:lt1>
        <a:srgbClr val="FFFFFF"/>
      </a:lt1>
      <a:dk2>
        <a:srgbClr val="44546A"/>
      </a:dk2>
      <a:lt2>
        <a:srgbClr val="E7E6E6"/>
      </a:lt2>
      <a:accent1>
        <a:srgbClr val="0E4194"/>
      </a:accent1>
      <a:accent2>
        <a:srgbClr val="E40613"/>
      </a:accent2>
      <a:accent3>
        <a:srgbClr val="A5A5A5"/>
      </a:accent3>
      <a:accent4>
        <a:srgbClr val="007B81"/>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marL="171450" indent="-171450" algn="l">
          <a:buFont typeface="Arial" panose="020B0604020202020204" pitchFamily="34" charset="0"/>
          <a:buChar char="•"/>
          <a:defRPr sz="12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Quantum_Business Case_Approach &amp; Timeline V.3.1" id="{5EECDFF5-D0BA-C945-BD95-8BA53C6B4E52}" vid="{789D138D-4F33-B548-9A05-51F0AC8B2FB7}"/>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PJQFUVHKSAJQ-1373287592-264195</_dlc_DocId>
    <_dlc_DocIdUrl xmlns="9da6f561-6c40-462f-af3e-6833fe74929f">
      <Url>https://moss-si.cm-cic.fr/Sites/D00116/Documentation/_layouts/15/DocIdRedir.aspx?ID=PJQFUVHKSAJQ-1373287592-264195</Url>
      <Description>PJQFUVHKSAJQ-1373287592-264195</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FD0BBD-EDEB-4CD6-9CC8-875E3D02A543}">
  <ds:schemaRefs>
    <ds:schemaRef ds:uri="http://schemas.microsoft.com/sharepoint/events"/>
  </ds:schemaRefs>
</ds:datastoreItem>
</file>

<file path=customXml/itemProps2.xml><?xml version="1.0" encoding="utf-8"?>
<ds:datastoreItem xmlns:ds="http://schemas.openxmlformats.org/officeDocument/2006/customXml" ds:itemID="{20075BA0-91C9-459B-92C2-AA1AE2F039CC}">
  <ds:schemaRefs>
    <ds:schemaRef ds:uri="http://schemas.microsoft.com/office/2006/metadata/properties"/>
    <ds:schemaRef ds:uri="http://purl.org/dc/elements/1.1/"/>
    <ds:schemaRef ds:uri="http://schemas.microsoft.com/office/2006/documentManagement/types"/>
    <ds:schemaRef ds:uri="99cee9d7-070e-44dd-ab97-3503062ab504"/>
    <ds:schemaRef ds:uri="8ff6ca53-9990-4cf6-aa9b-81190a5c5371"/>
    <ds:schemaRef ds:uri="http://schemas.microsoft.com/sharepoint/v3"/>
    <ds:schemaRef ds:uri="http://schemas.microsoft.com/office/infopath/2007/PartnerControls"/>
    <ds:schemaRef ds:uri="http://schemas.openxmlformats.org/package/2006/metadata/core-properties"/>
    <ds:schemaRef ds:uri="http://purl.org/dc/dcmitype/"/>
    <ds:schemaRef ds:uri="http://schemas.microsoft.com/sharepoint/v4"/>
    <ds:schemaRef ds:uri="9da6f561-6c40-462f-af3e-6833fe74929f"/>
    <ds:schemaRef ds:uri="http://www.w3.org/XML/1998/namespace"/>
    <ds:schemaRef ds:uri="http://purl.org/dc/terms/"/>
  </ds:schemaRefs>
</ds:datastoreItem>
</file>

<file path=customXml/itemProps3.xml><?xml version="1.0" encoding="utf-8"?>
<ds:datastoreItem xmlns:ds="http://schemas.openxmlformats.org/officeDocument/2006/customXml" ds:itemID="{8ADBD462-6937-403A-AAB3-D84BA26E5F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EC20321C-A03F-4F49-A9C2-F14EF749603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16129</TotalTime>
  <Words>254</Words>
  <Application>Microsoft Macintosh PowerPoint</Application>
  <PresentationFormat>Grand écran</PresentationFormat>
  <Paragraphs>24</Paragraphs>
  <Slides>2</Slides>
  <Notes>1</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2</vt:i4>
      </vt:variant>
    </vt:vector>
  </HeadingPairs>
  <TitlesOfParts>
    <vt:vector size="11" baseType="lpstr">
      <vt:lpstr>Arial</vt:lpstr>
      <vt:lpstr>Calibri</vt:lpstr>
      <vt:lpstr>Segoe UI</vt:lpstr>
      <vt:lpstr>Segoe UI Light</vt:lpstr>
      <vt:lpstr>Swis721 BT Roman</vt:lpstr>
      <vt:lpstr>Swis721 Lt BT</vt:lpstr>
      <vt:lpstr>Wingdings 3</vt:lpstr>
      <vt:lpstr>1_Thème Office</vt:lpstr>
      <vt:lpstr>Thème1</vt:lpstr>
      <vt:lpstr>[Refonte SyoReader]  Pré-cadrage</vt:lpstr>
      <vt:lpstr>[Refonte SyoReader] - Contexte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de Confiance (IAC)</dc:title>
  <dc:creator>BELIN Valentin (PRESTA EXT)</dc:creator>
  <cp:lastModifiedBy>MORAD ISSOULGHANE</cp:lastModifiedBy>
  <cp:revision>287</cp:revision>
  <dcterms:created xsi:type="dcterms:W3CDTF">2025-10-06T09:05:57Z</dcterms:created>
  <dcterms:modified xsi:type="dcterms:W3CDTF">2026-07-31T13:11:50Z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ROBIN">
    <vt:lpwstr/>
  </property>
  <property fmtid="{D5CDD505-2E9C-101B-9397-08002B2CF9AE}" pid="5" name="Nature du document">
    <vt:lpwstr>1;#Document|f926a2be-6740-4577-ba49-e4b230c74a1c</vt:lpwstr>
  </property>
  <property fmtid="{D5CDD505-2E9C-101B-9397-08002B2CF9AE}" pid="6" name="Classification">
    <vt:lpwstr>2;#10 - Interne|88571201-3d77-41d7-bf2a-abb247897d97</vt:lpwstr>
  </property>
  <property fmtid="{D5CDD505-2E9C-101B-9397-08002B2CF9AE}" pid="7" name="_dlc_DocIdItemGuid">
    <vt:lpwstr>b4689213-5034-4e88-afd9-6251ba529d6d</vt:lpwstr>
  </property>
</Properties>
</file>