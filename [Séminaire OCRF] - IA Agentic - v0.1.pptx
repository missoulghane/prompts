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700" r:id="rId6"/>
  </p:sldMasterIdLst>
  <p:notesMasterIdLst>
    <p:notesMasterId r:id="rId16"/>
  </p:notesMasterIdLst>
  <p:sldIdLst>
    <p:sldId id="349" r:id="rId7"/>
    <p:sldId id="1553" r:id="rId8"/>
    <p:sldId id="1546" r:id="rId9"/>
    <p:sldId id="1548" r:id="rId10"/>
    <p:sldId id="1549" r:id="rId11"/>
    <p:sldId id="1554" r:id="rId12"/>
    <p:sldId id="1550" r:id="rId13"/>
    <p:sldId id="1551" r:id="rId14"/>
    <p:sldId id="1552"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C04B401-AB5B-4CC3-BCD4-0907565926F3}">
          <p14:sldIdLst>
            <p14:sldId id="349"/>
            <p14:sldId id="1553"/>
            <p14:sldId id="1546"/>
            <p14:sldId id="1548"/>
            <p14:sldId id="1549"/>
            <p14:sldId id="1554"/>
            <p14:sldId id="1550"/>
            <p14:sldId id="1551"/>
            <p14:sldId id="1552"/>
          </p14:sldIdLst>
        </p14:section>
        <p14:section name="WIP" id="{D241315A-8BB6-4F33-AC00-638400520F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003A8D"/>
    <a:srgbClr val="548235"/>
    <a:srgbClr val="ED7D31"/>
    <a:srgbClr val="525252"/>
    <a:srgbClr val="A0C1F6"/>
    <a:srgbClr val="43C5F3"/>
    <a:srgbClr val="BFEBFB"/>
    <a:srgbClr val="FFE080"/>
    <a:srgbClr val="80D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3" autoAdjust="0"/>
    <p:restoredTop sz="74259" autoAdjust="0"/>
  </p:normalViewPr>
  <p:slideViewPr>
    <p:cSldViewPr snapToGrid="0">
      <p:cViewPr varScale="1">
        <p:scale>
          <a:sx n="53" d="100"/>
          <a:sy n="53" d="100"/>
        </p:scale>
        <p:origin x="916" y="5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B5261-C031-49F8-943A-CD006FB30A1D}" type="datetimeFigureOut">
              <a:rPr lang="fr-FR" smtClean="0"/>
              <a:t>20/05/2026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6AEA5-3059-4396-9AD5-377EBC490947}" type="slidenum">
              <a:rPr lang="fr-FR" smtClean="0"/>
              <a:t>‹N°›</a:t>
            </a:fld>
            <a:endParaRPr lang="fr-FR"/>
          </a:p>
        </p:txBody>
      </p:sp>
    </p:spTree>
    <p:extLst>
      <p:ext uri="{BB962C8B-B14F-4D97-AF65-F5344CB8AC3E}">
        <p14:creationId xmlns:p14="http://schemas.microsoft.com/office/powerpoint/2010/main" val="414317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2</a:t>
            </a:fld>
            <a:endParaRPr lang="fr-FR"/>
          </a:p>
        </p:txBody>
      </p:sp>
    </p:spTree>
    <p:extLst>
      <p:ext uri="{BB962C8B-B14F-4D97-AF65-F5344CB8AC3E}">
        <p14:creationId xmlns:p14="http://schemas.microsoft.com/office/powerpoint/2010/main" val="2149610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"Imaginez un chef de projet qui ne passe plus ses lundis à rédiger ses comptes-rendus et ses </a:t>
            </a:r>
            <a:r>
              <a:rPr lang="fr-FR" dirty="0" err="1"/>
              <a:t>specs</a:t>
            </a:r>
            <a:r>
              <a:rPr lang="fr-FR" dirty="0"/>
              <a:t>. Un architecte dont les diagrammes sont générés en 20 minutes. Un développeur qui ne passe plus 3 heures à débugger un </a:t>
            </a:r>
            <a:r>
              <a:rPr lang="fr-FR" dirty="0" err="1"/>
              <a:t>worker</a:t>
            </a:r>
            <a:r>
              <a:rPr lang="fr-FR" dirty="0"/>
              <a:t> C#. Ce n'est plus de la science-fiction — c'est ce que l'IA </a:t>
            </a:r>
            <a:r>
              <a:rPr lang="fr-FR" dirty="0" err="1"/>
              <a:t>Agentic</a:t>
            </a:r>
            <a:r>
              <a:rPr lang="fr-FR" dirty="0"/>
              <a:t> rend possible aujourd'hui."</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3</a:t>
            </a:fld>
            <a:endParaRPr lang="fr-FR"/>
          </a:p>
        </p:txBody>
      </p:sp>
    </p:spTree>
    <p:extLst>
      <p:ext uri="{BB962C8B-B14F-4D97-AF65-F5344CB8AC3E}">
        <p14:creationId xmlns:p14="http://schemas.microsoft.com/office/powerpoint/2010/main" val="267752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va produire plus vite, c'est certain. Mais voilà la vraie question qu'on doit se poser collectivement : si on livre deux fois plus vite, est-ce que nos métiers, nos clients internes, nos processus de validation sont prêts à absorber deux fois plus vite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4</a:t>
            </a:fld>
            <a:endParaRPr lang="fr-FR"/>
          </a:p>
        </p:txBody>
      </p:sp>
    </p:spTree>
    <p:extLst>
      <p:ext uri="{BB962C8B-B14F-4D97-AF65-F5344CB8AC3E}">
        <p14:creationId xmlns:p14="http://schemas.microsoft.com/office/powerpoint/2010/main" val="883890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va produire plus vite, c'est certain. Mais voilà la vraie question qu'on doit se poser collectivement : si on livre deux fois plus vite, est-ce que nos métiers, nos clients internes, nos processus de validation sont prêts à absorber deux fois plus vite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5</a:t>
            </a:fld>
            <a:endParaRPr lang="fr-FR"/>
          </a:p>
        </p:txBody>
      </p:sp>
    </p:spTree>
    <p:extLst>
      <p:ext uri="{BB962C8B-B14F-4D97-AF65-F5344CB8AC3E}">
        <p14:creationId xmlns:p14="http://schemas.microsoft.com/office/powerpoint/2010/main" val="3757710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"L'OCRF a construit quelque chose de rare : un savoir-faire industriel sur la combinaison IA + opérateurs humains pour traiter l'incertitude documentaire. Ce qu'on fait depuis des années sur la numérisation et la fraude documentaire, c'est exactement le pattern dont tous les acteurs qui déploient de l'IA vont avoir besoin demain."</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7</a:t>
            </a:fld>
            <a:endParaRPr lang="fr-FR"/>
          </a:p>
        </p:txBody>
      </p:sp>
    </p:spTree>
    <p:extLst>
      <p:ext uri="{BB962C8B-B14F-4D97-AF65-F5344CB8AC3E}">
        <p14:creationId xmlns:p14="http://schemas.microsoft.com/office/powerpoint/2010/main" val="2677949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"Demain, chaque modèle IA qui s'exécute dans la banque va produire des scores. Et pour chaque score ambigu, il va falloir un process de validation, un workflow de supervision, une interface opérateur. On sait faire ça. On le fait déjà. La question, c'est : est-ce qu'on reste dans notre périmètre actuel, ou est-ce qu'on devient le centre d'expertise de la levée de doute IA pour toute la DSI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8</a:t>
            </a:fld>
            <a:endParaRPr lang="fr-FR"/>
          </a:p>
        </p:txBody>
      </p:sp>
    </p:spTree>
    <p:extLst>
      <p:ext uri="{BB962C8B-B14F-4D97-AF65-F5344CB8AC3E}">
        <p14:creationId xmlns:p14="http://schemas.microsoft.com/office/powerpoint/2010/main" val="3048833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résumé, l'IA </a:t>
            </a:r>
            <a:r>
              <a:rPr lang="fr-FR" dirty="0" err="1"/>
              <a:t>Agentic</a:t>
            </a:r>
            <a:r>
              <a:rPr lang="fr-FR" dirty="0"/>
              <a:t> ne nous menace pas — elle nous donne une raison d'exister encore plus forte. Parce que plus il y a d'agents, plus il y a de décisions à superviser. Et superviser les décisions d'une IA, c'est précisément ce qu'on fait."</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9</a:t>
            </a:fld>
            <a:endParaRPr lang="fr-FR"/>
          </a:p>
        </p:txBody>
      </p:sp>
    </p:spTree>
    <p:extLst>
      <p:ext uri="{BB962C8B-B14F-4D97-AF65-F5344CB8AC3E}">
        <p14:creationId xmlns:p14="http://schemas.microsoft.com/office/powerpoint/2010/main" val="27848242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gif"/><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tif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image" Target="../media/image23.gif"/><Relationship Id="rId1" Type="http://schemas.openxmlformats.org/officeDocument/2006/relationships/slideMaster" Target="../slideMasters/slideMaster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tif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808682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61680098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15" name="Rectangle 14"/>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89686895"/>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139469002"/>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67058799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82226556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403478319"/>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140141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sp>
        <p:nvSpPr>
          <p:cNvPr id="19" name="Rectangle 1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56" name="Espace réservé du pied de page 4"/>
          <p:cNvSpPr>
            <a:spLocks noGrp="1"/>
          </p:cNvSpPr>
          <p:nvPr>
            <p:ph type="ftr" sz="quarter" idx="11"/>
          </p:nvPr>
        </p:nvSpPr>
        <p:spPr>
          <a:xfrm>
            <a:off x="4648200"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6"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48552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39971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sp>
        <p:nvSpPr>
          <p:cNvPr id="9" name="Rectangle 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1"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124156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3447514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112879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re image 2">
    <p:bg>
      <p:bgPr>
        <a:solidFill>
          <a:srgbClr val="003A8D"/>
        </a:solidFill>
        <a:effectLst/>
      </p:bgPr>
    </p:bg>
    <p:spTree>
      <p:nvGrpSpPr>
        <p:cNvPr id="1" name=""/>
        <p:cNvGrpSpPr/>
        <p:nvPr/>
      </p:nvGrpSpPr>
      <p:grpSpPr>
        <a:xfrm>
          <a:off x="0" y="0"/>
          <a:ext cx="0" cy="0"/>
          <a:chOff x="0" y="0"/>
          <a:chExt cx="0" cy="0"/>
        </a:xfrm>
      </p:grpSpPr>
      <p:pic>
        <p:nvPicPr>
          <p:cNvPr id="15" name="Image 14"/>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2508" y="1854000"/>
            <a:ext cx="6652800" cy="5004000"/>
          </a:xfrm>
          <a:prstGeom prst="rect">
            <a:avLst/>
          </a:prstGeom>
        </p:spPr>
      </p:pic>
      <p:sp>
        <p:nvSpPr>
          <p:cNvPr id="3" name="Décision 2"/>
          <p:cNvSpPr/>
          <p:nvPr/>
        </p:nvSpPr>
        <p:spPr>
          <a:xfrm>
            <a:off x="-8382" y="0"/>
            <a:ext cx="3328907" cy="68691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Parallélogramme 1"/>
          <p:cNvSpPr/>
          <p:nvPr/>
        </p:nvSpPr>
        <p:spPr>
          <a:xfrm flipV="1">
            <a:off x="4217879" y="5680001"/>
            <a:ext cx="4704608" cy="779982"/>
          </a:xfrm>
          <a:prstGeom prst="parallelogram">
            <a:avLst>
              <a:gd name="adj" fmla="val 66928"/>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55" name="Shape 55"/>
          <p:cNvSpPr>
            <a:spLocks noGrp="1"/>
          </p:cNvSpPr>
          <p:nvPr>
            <p:ph type="title"/>
          </p:nvPr>
        </p:nvSpPr>
        <p:spPr>
          <a:xfrm>
            <a:off x="4069709" y="288713"/>
            <a:ext cx="7859251" cy="2874104"/>
          </a:xfrm>
          <a:prstGeom prst="rect">
            <a:avLst/>
          </a:prstGeom>
        </p:spPr>
        <p:txBody>
          <a:bodyPr/>
          <a:lstStyle>
            <a:lvl1pPr>
              <a:defRPr sz="3225" b="0">
                <a:solidFill>
                  <a:srgbClr val="FFFFFF"/>
                </a:solidFill>
              </a:defRPr>
            </a:lvl1pPr>
          </a:lstStyle>
          <a:p>
            <a:r>
              <a:rPr lang="fr-FR"/>
              <a:t>Modifiez le style du titre</a:t>
            </a:r>
            <a:endParaRPr dirty="0"/>
          </a:p>
        </p:txBody>
      </p:sp>
      <p:sp>
        <p:nvSpPr>
          <p:cNvPr id="56" name="Shape 56"/>
          <p:cNvSpPr>
            <a:spLocks noGrp="1"/>
          </p:cNvSpPr>
          <p:nvPr>
            <p:ph type="body" sz="quarter" idx="1"/>
          </p:nvPr>
        </p:nvSpPr>
        <p:spPr>
          <a:xfrm>
            <a:off x="6766275" y="2692852"/>
            <a:ext cx="3880640" cy="4021755"/>
          </a:xfrm>
          <a:prstGeom prst="rect">
            <a:avLst/>
          </a:prstGeom>
        </p:spPr>
        <p:txBody>
          <a:bodyPr anchor="ctr"/>
          <a:lstStyle>
            <a:lvl1pPr algn="r">
              <a:lnSpc>
                <a:spcPct val="100000"/>
              </a:lnSpc>
              <a:spcBef>
                <a:spcPts val="0"/>
              </a:spcBef>
              <a:defRPr sz="1350">
                <a:solidFill>
                  <a:srgbClr val="FFFFFF"/>
                </a:solidFill>
                <a:latin typeface="+mn-lt"/>
              </a:defRPr>
            </a:lvl1pPr>
            <a:lvl2pPr marL="0" indent="85725" algn="r">
              <a:lnSpc>
                <a:spcPct val="100000"/>
              </a:lnSpc>
              <a:spcBef>
                <a:spcPts val="0"/>
              </a:spcBef>
              <a:buClrTx/>
              <a:buSzTx/>
              <a:buNone/>
              <a:defRPr sz="1350">
                <a:solidFill>
                  <a:srgbClr val="DCDEE0"/>
                </a:solidFill>
                <a:latin typeface="Swis721 Lt BT"/>
                <a:ea typeface="Swis721 Lt BT"/>
                <a:cs typeface="Swis721 Lt BT"/>
                <a:sym typeface="Swis721 Lt BT"/>
              </a:defRPr>
            </a:lvl2pPr>
            <a:lvl3pPr marL="0" indent="171450"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75" algn="r">
              <a:lnSpc>
                <a:spcPct val="100000"/>
              </a:lnSpc>
              <a:spcBef>
                <a:spcPts val="0"/>
              </a:spcBef>
              <a:buClrTx/>
              <a:buSzTx/>
              <a:buNone/>
              <a:defRPr sz="1050">
                <a:solidFill>
                  <a:srgbClr val="DCDEE0"/>
                </a:solidFill>
                <a:latin typeface="Swis721 Lt BT"/>
                <a:ea typeface="Swis721 Lt BT"/>
                <a:cs typeface="Swis721 Lt BT"/>
                <a:sym typeface="Swis721 Lt BT"/>
              </a:defRPr>
            </a:lvl4pPr>
            <a:lvl5pPr marL="0" indent="342900" algn="r">
              <a:lnSpc>
                <a:spcPct val="100000"/>
              </a:lnSpc>
              <a:spcBef>
                <a:spcPts val="0"/>
              </a:spcBef>
              <a:buClrTx/>
              <a:buSzTx/>
              <a:buNone/>
              <a:defRPr sz="900">
                <a:solidFill>
                  <a:srgbClr val="DCDEE0"/>
                </a:solidFill>
                <a:latin typeface="Swis721 Lt BT"/>
                <a:ea typeface="Swis721 Lt BT"/>
                <a:cs typeface="Swis721 Lt BT"/>
                <a:sym typeface="Swis721 Lt BT"/>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dirty="0"/>
          </a:p>
        </p:txBody>
      </p:sp>
      <p:sp>
        <p:nvSpPr>
          <p:cNvPr id="16" name="Shape 224"/>
          <p:cNvSpPr/>
          <p:nvPr/>
        </p:nvSpPr>
        <p:spPr>
          <a:xfrm flipH="1">
            <a:off x="4217879" y="5678753"/>
            <a:ext cx="4704608" cy="78123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19" y="0"/>
                </a:lnTo>
                <a:lnTo>
                  <a:pt x="21600" y="0"/>
                </a:lnTo>
                <a:lnTo>
                  <a:pt x="19192" y="21567"/>
                </a:lnTo>
                <a:lnTo>
                  <a:pt x="0" y="21600"/>
                </a:lnTo>
                <a:close/>
              </a:path>
            </a:pathLst>
          </a:custGeom>
          <a:solidFill>
            <a:srgbClr val="FFFFFF"/>
          </a:solidFill>
          <a:ln w="12700">
            <a:miter lim="400000"/>
          </a:ln>
        </p:spPr>
        <p:txBody>
          <a:bodyPr lIns="26789" tIns="26789" rIns="26789" bIns="26789" anchor="ctr"/>
          <a:lstStyle/>
          <a:p>
            <a:pPr>
              <a:defRPr sz="3200"/>
            </a:pPr>
            <a:endParaRPr sz="1200"/>
          </a:p>
        </p:txBody>
      </p:sp>
      <p:pic>
        <p:nvPicPr>
          <p:cNvPr id="17"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771840" y="5919154"/>
            <a:ext cx="2108455" cy="292967"/>
          </a:xfrm>
          <a:prstGeom prst="rect">
            <a:avLst/>
          </a:prstGeom>
          <a:ln w="12700">
            <a:miter lim="400000"/>
          </a:ln>
        </p:spPr>
      </p:pic>
      <p:pic>
        <p:nvPicPr>
          <p:cNvPr id="18"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280773" y="5852367"/>
            <a:ext cx="872531" cy="394256"/>
          </a:xfrm>
          <a:prstGeom prst="rect">
            <a:avLst/>
          </a:prstGeom>
          <a:ln w="12700">
            <a:miter lim="400000"/>
          </a:ln>
        </p:spPr>
      </p:pic>
      <p:pic>
        <p:nvPicPr>
          <p:cNvPr id="11" name="pasted-image.pdf"/>
          <p:cNvPicPr>
            <a:picLocks noChangeAspect="1"/>
          </p:cNvPicPr>
          <p:nvPr/>
        </p:nvPicPr>
        <p:blipFill>
          <a:blip r:embed="rId5"/>
          <a:stretch>
            <a:fillRect/>
          </a:stretch>
        </p:blipFill>
        <p:spPr>
          <a:xfrm>
            <a:off x="183461" y="198890"/>
            <a:ext cx="1584368" cy="1464101"/>
          </a:xfrm>
          <a:prstGeom prst="rect">
            <a:avLst/>
          </a:prstGeom>
          <a:ln w="12700">
            <a:miter lim="400000"/>
          </a:ln>
        </p:spPr>
      </p:pic>
      <p:sp>
        <p:nvSpPr>
          <p:cNvPr id="14" name="Décision 2"/>
          <p:cNvSpPr/>
          <p:nvPr/>
        </p:nvSpPr>
        <p:spPr>
          <a:xfrm flipH="1">
            <a:off x="10756747" y="2559242"/>
            <a:ext cx="1427356" cy="4288970"/>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3" name="Shape 27"/>
          <p:cNvSpPr/>
          <p:nvPr/>
        </p:nvSpPr>
        <p:spPr>
          <a:xfrm>
            <a:off x="5900959" y="5339312"/>
            <a:ext cx="2524791" cy="261850"/>
          </a:xfrm>
          <a:prstGeom prst="rect">
            <a:avLst/>
          </a:prstGeom>
          <a:ln w="12700">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lgn="l">
              <a:defRPr sz="3600">
                <a:solidFill>
                  <a:srgbClr val="CBCDCF"/>
                </a:solidFill>
                <a:latin typeface="Swis721 BT"/>
                <a:ea typeface="Swis721 BT"/>
                <a:cs typeface="Swis721 BT"/>
                <a:sym typeface="Swis721 BT"/>
              </a:defRPr>
            </a:lvl1pPr>
          </a:lstStyle>
          <a:p>
            <a:r>
              <a:rPr sz="1350" dirty="0">
                <a:latin typeface="+mn-lt"/>
                <a:ea typeface="Segoe UI Black" panose="020B0A02040204020203" pitchFamily="34" charset="0"/>
                <a:cs typeface="Segoe UI Semilight" panose="020B0402040204020203" pitchFamily="34" charset="0"/>
              </a:rPr>
              <a:t>Informatique</a:t>
            </a:r>
          </a:p>
        </p:txBody>
      </p:sp>
    </p:spTree>
    <p:extLst>
      <p:ext uri="{BB962C8B-B14F-4D97-AF65-F5344CB8AC3E}">
        <p14:creationId xmlns:p14="http://schemas.microsoft.com/office/powerpoint/2010/main" val="15440306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35980628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7187181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3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82890307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35996090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5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6911406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49323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43" indent="0" algn="ctr">
              <a:buNone/>
              <a:defRPr sz="2000"/>
            </a:lvl2pPr>
            <a:lvl3pPr marL="914286" indent="0" algn="ctr">
              <a:buNone/>
              <a:defRPr sz="1800"/>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fr-FR"/>
              <a:t>Modifiez le style des sous-titres du masque</a:t>
            </a:r>
            <a:endParaRPr lang="en-US"/>
          </a:p>
        </p:txBody>
      </p:sp>
      <p:sp>
        <p:nvSpPr>
          <p:cNvPr id="9" name="Rectangle 13"/>
          <p:cNvSpPr/>
          <p:nvPr/>
        </p:nvSpPr>
        <p:spPr>
          <a:xfrm>
            <a:off x="4880015" y="3858691"/>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6"/>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8"/>
            <a:ext cx="531475" cy="274695"/>
          </a:xfrm>
          <a:prstGeom prst="rect">
            <a:avLst/>
          </a:prstGeom>
        </p:spPr>
      </p:pic>
    </p:spTree>
    <p:extLst>
      <p:ext uri="{BB962C8B-B14F-4D97-AF65-F5344CB8AC3E}">
        <p14:creationId xmlns:p14="http://schemas.microsoft.com/office/powerpoint/2010/main" val="1254357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537860620"/>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re et contenu (PIP)">
    <p:spTree>
      <p:nvGrpSpPr>
        <p:cNvPr id="1" name=""/>
        <p:cNvGrpSpPr/>
        <p:nvPr/>
      </p:nvGrpSpPr>
      <p:grpSpPr>
        <a:xfrm>
          <a:off x="0" y="0"/>
          <a:ext cx="0" cy="0"/>
          <a:chOff x="0" y="0"/>
          <a:chExt cx="0" cy="0"/>
        </a:xfrm>
      </p:grpSpPr>
      <p:sp>
        <p:nvSpPr>
          <p:cNvPr id="15" name="Rectangle 14"/>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585588527"/>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941367861"/>
      </p:ext>
    </p:extLst>
  </p:cSld>
  <p:clrMapOvr>
    <a:masterClrMapping/>
  </p:clrMapOvr>
  <p:extLst>
    <p:ext uri="{DCECCB84-F9BA-43D5-87BE-67443E8EF086}">
      <p15:sldGuideLst xmlns:p15="http://schemas.microsoft.com/office/powerpoint/2012/main">
        <p15:guide id="1" orient="horz" pos="794">
          <p15:clr>
            <a:srgbClr val="FBAE40"/>
          </p15:clr>
        </p15:guide>
        <p15:guide id="2" pos="136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re, contenu 2 colonnes (PIP)">
    <p:spTree>
      <p:nvGrpSpPr>
        <p:cNvPr id="1" name=""/>
        <p:cNvGrpSpPr/>
        <p:nvPr/>
      </p:nvGrpSpPr>
      <p:grpSpPr>
        <a:xfrm>
          <a:off x="0" y="0"/>
          <a:ext cx="0" cy="0"/>
          <a:chOff x="0" y="0"/>
          <a:chExt cx="0" cy="0"/>
        </a:xfrm>
      </p:grpSpPr>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4113989712"/>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5"/>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483810017"/>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5"/>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40826296"/>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8"/>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3749633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contenu et image à gauche (PIP)">
    <p:spTree>
      <p:nvGrpSpPr>
        <p:cNvPr id="1" name=""/>
        <p:cNvGrpSpPr/>
        <p:nvPr/>
      </p:nvGrpSpPr>
      <p:grpSpPr>
        <a:xfrm>
          <a:off x="0" y="0"/>
          <a:ext cx="0" cy="0"/>
          <a:chOff x="0" y="0"/>
          <a:chExt cx="0" cy="0"/>
        </a:xfrm>
      </p:grpSpPr>
      <p:sp>
        <p:nvSpPr>
          <p:cNvPr id="19" name="Rectangle 18"/>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8"/>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20840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et vide (PIP)">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 name="Ellipse 1">
            <a:extLst>
              <a:ext uri="{FF2B5EF4-FFF2-40B4-BE49-F238E27FC236}">
                <a16:creationId xmlns:a16="http://schemas.microsoft.com/office/drawing/2014/main" id="{FEFAB52E-6F3B-3115-F9F8-8E5A06D4765F}"/>
              </a:ext>
            </a:extLst>
          </p:cNvPr>
          <p:cNvSpPr/>
          <p:nvPr userDrawn="1"/>
        </p:nvSpPr>
        <p:spPr>
          <a:xfrm>
            <a:off x="663117" y="1653979"/>
            <a:ext cx="901832" cy="901832"/>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3" name="Ellipse 2">
            <a:extLst>
              <a:ext uri="{FF2B5EF4-FFF2-40B4-BE49-F238E27FC236}">
                <a16:creationId xmlns:a16="http://schemas.microsoft.com/office/drawing/2014/main" id="{89C0302C-CDA5-1959-B928-B6A664A07477}"/>
              </a:ext>
            </a:extLst>
          </p:cNvPr>
          <p:cNvSpPr/>
          <p:nvPr userDrawn="1"/>
        </p:nvSpPr>
        <p:spPr>
          <a:xfrm>
            <a:off x="2596044" y="1646341"/>
            <a:ext cx="901832" cy="90183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4" name="Ellipse 3">
            <a:extLst>
              <a:ext uri="{FF2B5EF4-FFF2-40B4-BE49-F238E27FC236}">
                <a16:creationId xmlns:a16="http://schemas.microsoft.com/office/drawing/2014/main" id="{4858BC39-4E29-12B5-9DBD-22986CD631BF}"/>
              </a:ext>
            </a:extLst>
          </p:cNvPr>
          <p:cNvSpPr/>
          <p:nvPr userDrawn="1"/>
        </p:nvSpPr>
        <p:spPr>
          <a:xfrm>
            <a:off x="4910961" y="1661859"/>
            <a:ext cx="901832" cy="90183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pic>
        <p:nvPicPr>
          <p:cNvPr id="5" name="Graphique 4" descr="Mille avec un remplissage uni">
            <a:extLst>
              <a:ext uri="{FF2B5EF4-FFF2-40B4-BE49-F238E27FC236}">
                <a16:creationId xmlns:a16="http://schemas.microsoft.com/office/drawing/2014/main" id="{F75CC333-2BB8-77CA-ACB9-F3ECC353BBF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23366" y="1765942"/>
            <a:ext cx="677025" cy="677025"/>
          </a:xfrm>
          <a:prstGeom prst="rect">
            <a:avLst/>
          </a:prstGeom>
        </p:spPr>
      </p:pic>
      <p:pic>
        <p:nvPicPr>
          <p:cNvPr id="6" name="Graphique 5" descr="Groupe d’hommes avec un remplissage uni">
            <a:extLst>
              <a:ext uri="{FF2B5EF4-FFF2-40B4-BE49-F238E27FC236}">
                <a16:creationId xmlns:a16="http://schemas.microsoft.com/office/drawing/2014/main" id="{A1F1D8E0-811C-EEFE-86FE-C73F2BAD75F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15701" y="1744621"/>
            <a:ext cx="677025" cy="677025"/>
          </a:xfrm>
          <a:prstGeom prst="rect">
            <a:avLst/>
          </a:prstGeom>
        </p:spPr>
      </p:pic>
      <p:pic>
        <p:nvPicPr>
          <p:cNvPr id="7" name="Graphique 6" descr="Sablier 60% avec un remplissage uni">
            <a:extLst>
              <a:ext uri="{FF2B5EF4-FFF2-40B4-BE49-F238E27FC236}">
                <a16:creationId xmlns:a16="http://schemas.microsoft.com/office/drawing/2014/main" id="{BF761236-DA53-F1D8-54C7-6F9A9BAA0A90}"/>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78594" y="1756910"/>
            <a:ext cx="677025" cy="677025"/>
          </a:xfrm>
          <a:prstGeom prst="rect">
            <a:avLst/>
          </a:prstGeom>
        </p:spPr>
      </p:pic>
      <p:sp>
        <p:nvSpPr>
          <p:cNvPr id="8" name="ZoneTexte 7">
            <a:extLst>
              <a:ext uri="{FF2B5EF4-FFF2-40B4-BE49-F238E27FC236}">
                <a16:creationId xmlns:a16="http://schemas.microsoft.com/office/drawing/2014/main" id="{7B9A3405-E62E-00E3-B6A1-3E99A3859A2D}"/>
              </a:ext>
            </a:extLst>
          </p:cNvPr>
          <p:cNvSpPr txBox="1"/>
          <p:nvPr userDrawn="1"/>
        </p:nvSpPr>
        <p:spPr>
          <a:xfrm flipH="1">
            <a:off x="492211" y="2708817"/>
            <a:ext cx="1236991" cy="205121"/>
          </a:xfrm>
          <a:prstGeom prst="rect">
            <a:avLst/>
          </a:prstGeom>
          <a:noFill/>
        </p:spPr>
        <p:txBody>
          <a:bodyPr wrap="square" lIns="0" tIns="0" rIns="0" bIns="0" rtlCol="0" anchor="ctr">
            <a:spAutoFit/>
          </a:bodyPr>
          <a:lstStyle/>
          <a:p>
            <a:pPr algn="ctr"/>
            <a:r>
              <a:rPr lang="fr-FR" sz="1333" b="1">
                <a:solidFill>
                  <a:schemeClr val="accent4"/>
                </a:solidFill>
                <a:latin typeface="Segoe UI" panose="020B0502040204020203" pitchFamily="34" charset="0"/>
                <a:cs typeface="Segoe UI" panose="020B0502040204020203" pitchFamily="34" charset="0"/>
              </a:rPr>
              <a:t>Durée</a:t>
            </a:r>
          </a:p>
        </p:txBody>
      </p:sp>
      <p:sp>
        <p:nvSpPr>
          <p:cNvPr id="10" name="ZoneTexte 9">
            <a:extLst>
              <a:ext uri="{FF2B5EF4-FFF2-40B4-BE49-F238E27FC236}">
                <a16:creationId xmlns:a16="http://schemas.microsoft.com/office/drawing/2014/main" id="{050BF24A-086E-CC9E-2749-4DE36A166859}"/>
              </a:ext>
            </a:extLst>
          </p:cNvPr>
          <p:cNvSpPr txBox="1"/>
          <p:nvPr userDrawn="1"/>
        </p:nvSpPr>
        <p:spPr>
          <a:xfrm flipH="1">
            <a:off x="2431803" y="2701180"/>
            <a:ext cx="1236991" cy="205121"/>
          </a:xfrm>
          <a:prstGeom prst="rect">
            <a:avLst/>
          </a:prstGeom>
          <a:noFill/>
        </p:spPr>
        <p:txBody>
          <a:bodyPr wrap="square" lIns="0" tIns="0" rIns="0" bIns="0" rtlCol="0" anchor="ctr">
            <a:spAutoFit/>
          </a:bodyPr>
          <a:lstStyle/>
          <a:p>
            <a:pPr algn="ctr"/>
            <a:r>
              <a:rPr lang="fr-FR" sz="1333" b="1">
                <a:solidFill>
                  <a:schemeClr val="accent6"/>
                </a:solidFill>
                <a:latin typeface="Segoe UI" panose="020B0502040204020203" pitchFamily="34" charset="0"/>
                <a:cs typeface="Segoe UI" panose="020B0502040204020203" pitchFamily="34" charset="0"/>
              </a:rPr>
              <a:t>Format</a:t>
            </a:r>
          </a:p>
        </p:txBody>
      </p:sp>
      <p:sp>
        <p:nvSpPr>
          <p:cNvPr id="11" name="ZoneTexte 10">
            <a:extLst>
              <a:ext uri="{FF2B5EF4-FFF2-40B4-BE49-F238E27FC236}">
                <a16:creationId xmlns:a16="http://schemas.microsoft.com/office/drawing/2014/main" id="{4FCF8939-22FA-F500-A735-6BF934C1DB98}"/>
              </a:ext>
            </a:extLst>
          </p:cNvPr>
          <p:cNvSpPr txBox="1"/>
          <p:nvPr userDrawn="1"/>
        </p:nvSpPr>
        <p:spPr>
          <a:xfrm flipH="1">
            <a:off x="4746721" y="2722502"/>
            <a:ext cx="1236991" cy="205121"/>
          </a:xfrm>
          <a:prstGeom prst="rect">
            <a:avLst/>
          </a:prstGeom>
          <a:noFill/>
        </p:spPr>
        <p:txBody>
          <a:bodyPr wrap="square" lIns="0" tIns="0" rIns="0" bIns="0" rtlCol="0" anchor="ctr">
            <a:spAutoFit/>
          </a:bodyPr>
          <a:lstStyle/>
          <a:p>
            <a:pPr algn="ctr"/>
            <a:r>
              <a:rPr lang="fr-FR" sz="1333" b="1">
                <a:solidFill>
                  <a:schemeClr val="accent5"/>
                </a:solidFill>
                <a:latin typeface="Segoe UI" panose="020B0502040204020203" pitchFamily="34" charset="0"/>
                <a:cs typeface="Segoe UI" panose="020B0502040204020203" pitchFamily="34" charset="0"/>
              </a:rPr>
              <a:t>Objectif</a:t>
            </a:r>
          </a:p>
        </p:txBody>
      </p:sp>
      <p:sp>
        <p:nvSpPr>
          <p:cNvPr id="12" name="ZoneTexte 11">
            <a:extLst>
              <a:ext uri="{FF2B5EF4-FFF2-40B4-BE49-F238E27FC236}">
                <a16:creationId xmlns:a16="http://schemas.microsoft.com/office/drawing/2014/main" id="{3C831EE1-EB91-A3DF-E80B-1FD08C72C5DA}"/>
              </a:ext>
            </a:extLst>
          </p:cNvPr>
          <p:cNvSpPr txBox="1"/>
          <p:nvPr userDrawn="1"/>
        </p:nvSpPr>
        <p:spPr>
          <a:xfrm>
            <a:off x="512379" y="3812800"/>
            <a:ext cx="4823053" cy="205121"/>
          </a:xfrm>
          <a:prstGeom prst="rect">
            <a:avLst/>
          </a:prstGeom>
          <a:noFill/>
        </p:spPr>
        <p:txBody>
          <a:bodyPr wrap="square" lIns="0" tIns="0" rIns="0" bIns="0" rtlCol="0" anchor="ctr">
            <a:spAutoFit/>
          </a:bodyPr>
          <a:lstStyle/>
          <a:p>
            <a:r>
              <a:rPr lang="fr-FR" sz="1333" b="1">
                <a:latin typeface="Segoe UI" panose="020B0502040204020203" pitchFamily="34" charset="0"/>
                <a:cs typeface="Segoe UI" panose="020B0502040204020203" pitchFamily="34" charset="0"/>
              </a:rPr>
              <a:t>Consignes de l’atelier</a:t>
            </a:r>
          </a:p>
        </p:txBody>
      </p:sp>
      <p:sp>
        <p:nvSpPr>
          <p:cNvPr id="16" name="Espace réservé du texte 29">
            <a:extLst>
              <a:ext uri="{FF2B5EF4-FFF2-40B4-BE49-F238E27FC236}">
                <a16:creationId xmlns:a16="http://schemas.microsoft.com/office/drawing/2014/main" id="{49FA598D-C862-D3B5-7BB4-8902CF4F6FEE}"/>
              </a:ext>
            </a:extLst>
          </p:cNvPr>
          <p:cNvSpPr>
            <a:spLocks noGrp="1"/>
          </p:cNvSpPr>
          <p:nvPr>
            <p:ph type="body" sz="quarter" idx="15"/>
          </p:nvPr>
        </p:nvSpPr>
        <p:spPr>
          <a:xfrm>
            <a:off x="492209" y="4190031"/>
            <a:ext cx="6003952" cy="1799068"/>
          </a:xfrm>
          <a:prstGeom prst="rect">
            <a:avLst/>
          </a:prstGeom>
        </p:spPr>
        <p:txBody>
          <a:bodyPr/>
          <a:lstStyle>
            <a:lvl1pPr marL="0" indent="0">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endParaRPr lang="fr-FR"/>
          </a:p>
        </p:txBody>
      </p:sp>
      <p:sp>
        <p:nvSpPr>
          <p:cNvPr id="19" name="Espace réservé du texte 29">
            <a:extLst>
              <a:ext uri="{FF2B5EF4-FFF2-40B4-BE49-F238E27FC236}">
                <a16:creationId xmlns:a16="http://schemas.microsoft.com/office/drawing/2014/main" id="{2333FD7E-52FC-6C26-C5BC-55CE8B1EAEEA}"/>
              </a:ext>
            </a:extLst>
          </p:cNvPr>
          <p:cNvSpPr>
            <a:spLocks noGrp="1"/>
          </p:cNvSpPr>
          <p:nvPr>
            <p:ph type="body" sz="quarter" idx="13" hasCustomPrompt="1"/>
          </p:nvPr>
        </p:nvSpPr>
        <p:spPr>
          <a:xfrm>
            <a:off x="499124" y="3026620"/>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XX minutes</a:t>
            </a:r>
          </a:p>
        </p:txBody>
      </p:sp>
      <p:sp>
        <p:nvSpPr>
          <p:cNvPr id="22" name="Espace réservé du texte 29">
            <a:extLst>
              <a:ext uri="{FF2B5EF4-FFF2-40B4-BE49-F238E27FC236}">
                <a16:creationId xmlns:a16="http://schemas.microsoft.com/office/drawing/2014/main" id="{B6F4EBEF-9F35-B3E8-CED2-23B0974294D0}"/>
              </a:ext>
            </a:extLst>
          </p:cNvPr>
          <p:cNvSpPr>
            <a:spLocks noGrp="1"/>
          </p:cNvSpPr>
          <p:nvPr>
            <p:ph type="body" sz="quarter" idx="16" hasCustomPrompt="1"/>
          </p:nvPr>
        </p:nvSpPr>
        <p:spPr>
          <a:xfrm>
            <a:off x="2447413" y="3019504"/>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En plénière</a:t>
            </a:r>
          </a:p>
        </p:txBody>
      </p:sp>
      <p:sp>
        <p:nvSpPr>
          <p:cNvPr id="23" name="Espace réservé du texte 29">
            <a:extLst>
              <a:ext uri="{FF2B5EF4-FFF2-40B4-BE49-F238E27FC236}">
                <a16:creationId xmlns:a16="http://schemas.microsoft.com/office/drawing/2014/main" id="{9FB56F7E-DFF1-F1B9-FDA3-86949DC431D2}"/>
              </a:ext>
            </a:extLst>
          </p:cNvPr>
          <p:cNvSpPr>
            <a:spLocks noGrp="1"/>
          </p:cNvSpPr>
          <p:nvPr>
            <p:ph type="body" sz="quarter" idx="17" hasCustomPrompt="1"/>
          </p:nvPr>
        </p:nvSpPr>
        <p:spPr>
          <a:xfrm>
            <a:off x="4371395" y="3033191"/>
            <a:ext cx="1987639"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Détailler l’objectif</a:t>
            </a:r>
          </a:p>
        </p:txBody>
      </p:sp>
    </p:spTree>
    <p:extLst>
      <p:ext uri="{BB962C8B-B14F-4D97-AF65-F5344CB8AC3E}">
        <p14:creationId xmlns:p14="http://schemas.microsoft.com/office/powerpoint/2010/main" val="4151045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922433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1_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fr-FR"/>
              <a:t>Modifiez le style des sous-titres du masque</a:t>
            </a:r>
            <a:endParaRPr lang="en-US"/>
          </a:p>
        </p:txBody>
      </p:sp>
      <p:sp>
        <p:nvSpPr>
          <p:cNvPr id="9" name="Rectangle 13"/>
          <p:cNvSpPr/>
          <p:nvPr/>
        </p:nvSpPr>
        <p:spPr>
          <a:xfrm>
            <a:off x="4880014" y="3858690"/>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5"/>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7"/>
            <a:ext cx="531475" cy="274695"/>
          </a:xfrm>
          <a:prstGeom prst="rect">
            <a:avLst/>
          </a:prstGeom>
        </p:spPr>
      </p:pic>
    </p:spTree>
    <p:extLst>
      <p:ext uri="{BB962C8B-B14F-4D97-AF65-F5344CB8AC3E}">
        <p14:creationId xmlns:p14="http://schemas.microsoft.com/office/powerpoint/2010/main" val="25487682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306420901"/>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re et contenu (PIP)">
    <p:spTree>
      <p:nvGrpSpPr>
        <p:cNvPr id="1" name=""/>
        <p:cNvGrpSpPr/>
        <p:nvPr/>
      </p:nvGrpSpPr>
      <p:grpSpPr>
        <a:xfrm>
          <a:off x="0" y="0"/>
          <a:ext cx="0" cy="0"/>
          <a:chOff x="0" y="0"/>
          <a:chExt cx="0" cy="0"/>
        </a:xfrm>
      </p:grpSpPr>
      <p:sp>
        <p:nvSpPr>
          <p:cNvPr id="15" name="Rectangle 14"/>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999760806"/>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458150501"/>
      </p:ext>
    </p:extLst>
  </p:cSld>
  <p:clrMapOvr>
    <a:masterClrMapping/>
  </p:clrMapOvr>
  <p:extLst>
    <p:ext uri="{DCECCB84-F9BA-43D5-87BE-67443E8EF086}">
      <p15:sldGuideLst xmlns:p15="http://schemas.microsoft.com/office/powerpoint/2012/main">
        <p15:guide id="1" orient="horz" pos="1058">
          <p15:clr>
            <a:srgbClr val="FBAE40"/>
          </p15:clr>
        </p15:guide>
        <p15:guide id="2" pos="182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re, contenu 2 colonnes (PIP)">
    <p:spTree>
      <p:nvGrpSpPr>
        <p:cNvPr id="1" name=""/>
        <p:cNvGrpSpPr/>
        <p:nvPr/>
      </p:nvGrpSpPr>
      <p:grpSpPr>
        <a:xfrm>
          <a:off x="0" y="0"/>
          <a:ext cx="0" cy="0"/>
          <a:chOff x="0" y="0"/>
          <a:chExt cx="0" cy="0"/>
        </a:xfrm>
      </p:grpSpPr>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791428978"/>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3"/>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070059160"/>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3"/>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430431386"/>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7"/>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10640991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itre, contenu et image à gauche (PIP)">
    <p:spTree>
      <p:nvGrpSpPr>
        <p:cNvPr id="1" name=""/>
        <p:cNvGrpSpPr/>
        <p:nvPr/>
      </p:nvGrpSpPr>
      <p:grpSpPr>
        <a:xfrm>
          <a:off x="0" y="0"/>
          <a:ext cx="0" cy="0"/>
          <a:chOff x="0" y="0"/>
          <a:chExt cx="0" cy="0"/>
        </a:xfrm>
      </p:grpSpPr>
      <p:sp>
        <p:nvSpPr>
          <p:cNvPr id="19" name="Rectangle 1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7"/>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228202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6794180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itre et vide (PIP)">
    <p:spTree>
      <p:nvGrpSpPr>
        <p:cNvPr id="1" name=""/>
        <p:cNvGrpSpPr/>
        <p:nvPr/>
      </p:nvGrpSpPr>
      <p:grpSpPr>
        <a:xfrm>
          <a:off x="0" y="0"/>
          <a:ext cx="0" cy="0"/>
          <a:chOff x="0" y="0"/>
          <a:chExt cx="0" cy="0"/>
        </a:xfrm>
      </p:grpSpPr>
      <p:sp>
        <p:nvSpPr>
          <p:cNvPr id="9" name="Rectangle 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852393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pitre fond bleu">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3"/>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2873988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hapitre fond blanc">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3"/>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p>
        </p:txBody>
      </p:sp>
    </p:spTree>
    <p:extLst>
      <p:ext uri="{BB962C8B-B14F-4D97-AF65-F5344CB8AC3E}">
        <p14:creationId xmlns:p14="http://schemas.microsoft.com/office/powerpoint/2010/main" val="28530553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53355282"/>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445124011"/>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a:xfrm>
            <a:off x="609599" y="1379660"/>
            <a:ext cx="10972800" cy="4526280"/>
          </a:xfrm>
        </p:spPr>
        <p:txBody>
          <a:bodyPr lIns="0" tIns="0" rIns="0" bIns="0"/>
          <a:lstStyle>
            <a:lvl1pPr>
              <a:defRPr/>
            </a:lvl1pPr>
          </a:lstStyle>
          <a:p>
            <a:endParaRPr/>
          </a:p>
        </p:txBody>
      </p:sp>
      <p:sp>
        <p:nvSpPr>
          <p:cNvPr id="6" name="Holder 6"/>
          <p:cNvSpPr>
            <a:spLocks noGrp="1"/>
          </p:cNvSpPr>
          <p:nvPr>
            <p:ph type="sldNum" sz="quarter" idx="7"/>
          </p:nvPr>
        </p:nvSpPr>
        <p:spPr/>
        <p:txBody>
          <a:bodyPr lIns="0" tIns="0" rIns="0" bIns="0"/>
          <a:lstStyle>
            <a:lvl1pPr>
              <a:defRPr sz="1200" b="0" i="0">
                <a:solidFill>
                  <a:srgbClr val="6C6D6F"/>
                </a:solidFill>
                <a:latin typeface="Arial"/>
                <a:cs typeface="Arial"/>
              </a:defRPr>
            </a:lvl1pPr>
          </a:lstStyle>
          <a:p>
            <a:pPr marL="33866">
              <a:spcBef>
                <a:spcPts val="20"/>
              </a:spcBef>
            </a:pPr>
            <a:fld id="{81D60167-4931-47E6-BA6A-407CBD079E47}" type="slidenum">
              <a:rPr lang="en-FR" spc="-7" smtClean="0"/>
              <a:pPr marL="33866">
                <a:spcBef>
                  <a:spcPts val="20"/>
                </a:spcBef>
              </a:pPr>
              <a:t>‹N°›</a:t>
            </a:fld>
            <a:endParaRPr lang="en-FR" spc="-7"/>
          </a:p>
        </p:txBody>
      </p:sp>
      <p:sp>
        <p:nvSpPr>
          <p:cNvPr id="5" name="ZoneTexte 4">
            <a:extLst>
              <a:ext uri="{FF2B5EF4-FFF2-40B4-BE49-F238E27FC236}">
                <a16:creationId xmlns:a16="http://schemas.microsoft.com/office/drawing/2014/main" id="{3196482B-8B3F-0F4C-B316-9FAC51EA4D3A}"/>
              </a:ext>
            </a:extLst>
          </p:cNvPr>
          <p:cNvSpPr txBox="1"/>
          <p:nvPr userDrawn="1"/>
        </p:nvSpPr>
        <p:spPr>
          <a:xfrm>
            <a:off x="5168184" y="6231798"/>
            <a:ext cx="1855637" cy="461665"/>
          </a:xfrm>
          <a:prstGeom prst="rect">
            <a:avLst/>
          </a:prstGeom>
          <a:noFill/>
        </p:spPr>
        <p:txBody>
          <a:bodyPr wrap="square" rtlCol="0">
            <a:spAutoFit/>
          </a:bodyPr>
          <a:lstStyle/>
          <a:p>
            <a:pPr algn="ctr"/>
            <a:r>
              <a:rPr lang="en-GB" sz="1200">
                <a:solidFill>
                  <a:schemeClr val="bg1">
                    <a:lumMod val="50000"/>
                  </a:schemeClr>
                </a:solidFill>
              </a:rPr>
              <a:t>Mars 2022</a:t>
            </a:r>
          </a:p>
          <a:p>
            <a:pPr algn="ctr"/>
            <a:r>
              <a:rPr lang="en-GB" sz="1200">
                <a:solidFill>
                  <a:schemeClr val="bg1">
                    <a:lumMod val="50000"/>
                  </a:schemeClr>
                </a:solidFill>
              </a:rPr>
              <a:t>IBM &amp; </a:t>
            </a:r>
            <a:r>
              <a:rPr lang="en-GB" sz="1200" err="1">
                <a:solidFill>
                  <a:schemeClr val="bg1">
                    <a:lumMod val="50000"/>
                  </a:schemeClr>
                </a:solidFill>
              </a:rPr>
              <a:t>CLIENTconfidentiel</a:t>
            </a:r>
            <a:endParaRPr lang="en-GB" sz="1200">
              <a:solidFill>
                <a:schemeClr val="bg1">
                  <a:lumMod val="50000"/>
                </a:schemeClr>
              </a:solidFill>
            </a:endParaRPr>
          </a:p>
        </p:txBody>
      </p:sp>
      <p:sp>
        <p:nvSpPr>
          <p:cNvPr id="11" name="object 10">
            <a:extLst>
              <a:ext uri="{FF2B5EF4-FFF2-40B4-BE49-F238E27FC236}">
                <a16:creationId xmlns:a16="http://schemas.microsoft.com/office/drawing/2014/main" id="{0EC37999-ECD1-DE46-8F48-93DD12E30265}"/>
              </a:ext>
            </a:extLst>
          </p:cNvPr>
          <p:cNvSpPr/>
          <p:nvPr userDrawn="1"/>
        </p:nvSpPr>
        <p:spPr>
          <a:xfrm>
            <a:off x="432819" y="6339839"/>
            <a:ext cx="688847" cy="276352"/>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sz="2400"/>
          </a:p>
        </p:txBody>
      </p:sp>
      <p:sp>
        <p:nvSpPr>
          <p:cNvPr id="12" name="Titre 11">
            <a:extLst>
              <a:ext uri="{FF2B5EF4-FFF2-40B4-BE49-F238E27FC236}">
                <a16:creationId xmlns:a16="http://schemas.microsoft.com/office/drawing/2014/main" id="{04109B8E-C0CA-CF4A-A1DA-37DAFFC1382C}"/>
              </a:ext>
            </a:extLst>
          </p:cNvPr>
          <p:cNvSpPr>
            <a:spLocks noGrp="1"/>
          </p:cNvSpPr>
          <p:nvPr>
            <p:ph type="title"/>
          </p:nvPr>
        </p:nvSpPr>
        <p:spPr>
          <a:xfrm>
            <a:off x="101600" y="156899"/>
            <a:ext cx="10383024" cy="523624"/>
          </a:xfrm>
          <a:prstGeom prst="rect">
            <a:avLst/>
          </a:prstGeom>
        </p:spPr>
        <p:txBody>
          <a:bodyPr/>
          <a:lstStyle>
            <a:lvl1pPr>
              <a:defRPr b="1">
                <a:latin typeface="Arial" panose="020B0604020202020204" pitchFamily="34" charset="0"/>
                <a:cs typeface="Arial" panose="020B0604020202020204" pitchFamily="34" charset="0"/>
              </a:defRPr>
            </a:lvl1pPr>
          </a:lstStyle>
          <a:p>
            <a:r>
              <a:rPr lang="fr-FR"/>
              <a:t>Modifiez le style du titre</a:t>
            </a:r>
            <a:endParaRPr lang="en-GB"/>
          </a:p>
        </p:txBody>
      </p:sp>
      <p:cxnSp>
        <p:nvCxnSpPr>
          <p:cNvPr id="13" name="Connecteur droit 28">
            <a:extLst>
              <a:ext uri="{FF2B5EF4-FFF2-40B4-BE49-F238E27FC236}">
                <a16:creationId xmlns:a16="http://schemas.microsoft.com/office/drawing/2014/main" id="{EFAF0010-ADA1-7748-A509-B96B2DC55E23}"/>
              </a:ext>
            </a:extLst>
          </p:cNvPr>
          <p:cNvCxnSpPr/>
          <p:nvPr userDrawn="1"/>
        </p:nvCxnSpPr>
        <p:spPr>
          <a:xfrm>
            <a:off x="0" y="779407"/>
            <a:ext cx="121920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Immagine 13">
            <a:extLst>
              <a:ext uri="{FF2B5EF4-FFF2-40B4-BE49-F238E27FC236}">
                <a16:creationId xmlns:a16="http://schemas.microsoft.com/office/drawing/2014/main" id="{E4C47D91-C9E2-7449-8FEE-B36157A746D4}"/>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320800" y="6242072"/>
            <a:ext cx="1968000" cy="471885"/>
          </a:xfrm>
          <a:prstGeom prst="rect">
            <a:avLst/>
          </a:prstGeom>
          <a:solidFill>
            <a:srgbClr val="30302F"/>
          </a:solidFill>
          <a:ln>
            <a:noFill/>
          </a:ln>
        </p:spPr>
      </p:pic>
    </p:spTree>
    <p:extLst>
      <p:ext uri="{BB962C8B-B14F-4D97-AF65-F5344CB8AC3E}">
        <p14:creationId xmlns:p14="http://schemas.microsoft.com/office/powerpoint/2010/main" val="27095453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30932" y="3083850"/>
            <a:ext cx="1730141" cy="690308"/>
          </a:xfrm>
          <a:prstGeom prst="rect">
            <a:avLst/>
          </a:prstGeom>
        </p:spPr>
      </p:pic>
    </p:spTree>
    <p:extLst>
      <p:ext uri="{BB962C8B-B14F-4D97-AF65-F5344CB8AC3E}">
        <p14:creationId xmlns:p14="http://schemas.microsoft.com/office/powerpoint/2010/main" val="13443724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re image">
    <p:spTree>
      <p:nvGrpSpPr>
        <p:cNvPr id="1" name=""/>
        <p:cNvGrpSpPr/>
        <p:nvPr/>
      </p:nvGrpSpPr>
      <p:grpSpPr>
        <a:xfrm>
          <a:off x="0" y="0"/>
          <a:ext cx="0" cy="0"/>
          <a:chOff x="0" y="0"/>
          <a:chExt cx="0" cy="0"/>
        </a:xfrm>
      </p:grpSpPr>
      <p:pic>
        <p:nvPicPr>
          <p:cNvPr id="16" name="Image 1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1972" y="3065822"/>
            <a:ext cx="5029200" cy="3803333"/>
          </a:xfrm>
          <a:prstGeom prst="rect">
            <a:avLst/>
          </a:prstGeom>
        </p:spPr>
      </p:pic>
      <p:sp>
        <p:nvSpPr>
          <p:cNvPr id="15" name="Décision 2"/>
          <p:cNvSpPr/>
          <p:nvPr userDrawn="1"/>
        </p:nvSpPr>
        <p:spPr>
          <a:xfrm flipH="1">
            <a:off x="10763817" y="2559241"/>
            <a:ext cx="1427356" cy="428897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14" name="Décision 2"/>
          <p:cNvSpPr/>
          <p:nvPr userDrawn="1"/>
        </p:nvSpPr>
        <p:spPr>
          <a:xfrm>
            <a:off x="-8382" y="1"/>
            <a:ext cx="3328908" cy="68691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36" name="Shape 36"/>
          <p:cNvSpPr>
            <a:spLocks noGrp="1"/>
          </p:cNvSpPr>
          <p:nvPr>
            <p:ph type="title"/>
          </p:nvPr>
        </p:nvSpPr>
        <p:spPr>
          <a:xfrm>
            <a:off x="3625149" y="288715"/>
            <a:ext cx="8303812" cy="2874104"/>
          </a:xfrm>
          <a:prstGeom prst="rect">
            <a:avLst/>
          </a:prstGeom>
        </p:spPr>
        <p:txBody>
          <a:bodyPr/>
          <a:lstStyle>
            <a:lvl1pPr>
              <a:defRPr sz="3225" b="0">
                <a:solidFill>
                  <a:srgbClr val="FFFFFF"/>
                </a:solidFill>
              </a:defRPr>
            </a:lvl1pPr>
          </a:lstStyle>
          <a:p>
            <a:r>
              <a:rPr lang="en-US"/>
              <a:t>Click to edit Master title style</a:t>
            </a:r>
            <a:endParaRPr/>
          </a:p>
        </p:txBody>
      </p:sp>
      <p:sp>
        <p:nvSpPr>
          <p:cNvPr id="37" name="Shape 37"/>
          <p:cNvSpPr>
            <a:spLocks noGrp="1"/>
          </p:cNvSpPr>
          <p:nvPr>
            <p:ph type="body" sz="half" idx="1"/>
          </p:nvPr>
        </p:nvSpPr>
        <p:spPr>
          <a:xfrm>
            <a:off x="3361309" y="2360054"/>
            <a:ext cx="4508528" cy="4021755"/>
          </a:xfrm>
          <a:prstGeom prst="rect">
            <a:avLst/>
          </a:prstGeom>
        </p:spPr>
        <p:txBody>
          <a:bodyPr anchor="ctr"/>
          <a:lstStyle>
            <a:lvl1pPr algn="r">
              <a:lnSpc>
                <a:spcPct val="100000"/>
              </a:lnSpc>
              <a:spcBef>
                <a:spcPts val="0"/>
              </a:spcBef>
              <a:defRPr sz="1351">
                <a:solidFill>
                  <a:srgbClr val="FFFFFF"/>
                </a:solidFill>
                <a:latin typeface="+mn-lt"/>
              </a:defRPr>
            </a:lvl1pPr>
            <a:lvl2pPr marL="0" indent="85721" algn="r">
              <a:lnSpc>
                <a:spcPct val="100000"/>
              </a:lnSpc>
              <a:spcBef>
                <a:spcPts val="0"/>
              </a:spcBef>
              <a:buClrTx/>
              <a:buSzTx/>
              <a:buNone/>
              <a:defRPr sz="1200">
                <a:solidFill>
                  <a:srgbClr val="DCDEE0"/>
                </a:solidFill>
                <a:latin typeface="Swis721 Lt BT"/>
                <a:ea typeface="Swis721 Lt BT"/>
                <a:cs typeface="Swis721 Lt BT"/>
                <a:sym typeface="Swis721 Lt BT"/>
              </a:defRPr>
            </a:lvl2pPr>
            <a:lvl3pPr marL="0" indent="171442"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63" algn="r">
              <a:lnSpc>
                <a:spcPct val="100000"/>
              </a:lnSpc>
              <a:spcBef>
                <a:spcPts val="0"/>
              </a:spcBef>
              <a:buClrTx/>
              <a:buSzTx/>
              <a:buNone/>
              <a:defRPr sz="1200">
                <a:solidFill>
                  <a:srgbClr val="DCDEE0"/>
                </a:solidFill>
                <a:latin typeface="Swis721 Lt BT"/>
                <a:ea typeface="Swis721 Lt BT"/>
                <a:cs typeface="Swis721 Lt BT"/>
                <a:sym typeface="Swis721 Lt BT"/>
              </a:defRPr>
            </a:lvl4pPr>
            <a:lvl5pPr marL="0" indent="342883" algn="r">
              <a:lnSpc>
                <a:spcPct val="100000"/>
              </a:lnSpc>
              <a:spcBef>
                <a:spcPts val="0"/>
              </a:spcBef>
              <a:buClrTx/>
              <a:buSzTx/>
              <a:buNone/>
              <a:defRPr sz="1200">
                <a:solidFill>
                  <a:srgbClr val="DCDEE0"/>
                </a:solidFill>
                <a:latin typeface="Swis721 Lt BT"/>
                <a:ea typeface="Swis721 Lt BT"/>
                <a:cs typeface="Swis721 Lt BT"/>
                <a:sym typeface="Swis721 Lt B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4" name="Shape 44"/>
          <p:cNvSpPr/>
          <p:nvPr/>
        </p:nvSpPr>
        <p:spPr>
          <a:xfrm>
            <a:off x="423328" y="5670333"/>
            <a:ext cx="4710959" cy="786391"/>
          </a:xfrm>
          <a:custGeom>
            <a:avLst/>
            <a:gdLst/>
            <a:ahLst/>
            <a:cxnLst>
              <a:cxn ang="0">
                <a:pos x="wd2" y="hd2"/>
              </a:cxn>
              <a:cxn ang="5400000">
                <a:pos x="wd2" y="hd2"/>
              </a:cxn>
              <a:cxn ang="10800000">
                <a:pos x="wd2" y="hd2"/>
              </a:cxn>
              <a:cxn ang="16200000">
                <a:pos x="wd2" y="hd2"/>
              </a:cxn>
            </a:cxnLst>
            <a:rect l="0" t="0" r="r" b="b"/>
            <a:pathLst>
              <a:path w="21600" h="21600" extrusionOk="0">
                <a:moveTo>
                  <a:pt x="0" y="21458"/>
                </a:moveTo>
                <a:lnTo>
                  <a:pt x="2445" y="0"/>
                </a:lnTo>
                <a:lnTo>
                  <a:pt x="21600" y="174"/>
                </a:lnTo>
                <a:lnTo>
                  <a:pt x="19166" y="21600"/>
                </a:lnTo>
                <a:lnTo>
                  <a:pt x="0" y="21458"/>
                </a:lnTo>
                <a:close/>
              </a:path>
            </a:pathLst>
          </a:custGeom>
          <a:solidFill>
            <a:srgbClr val="FFFFFF"/>
          </a:solidFill>
          <a:ln w="12700">
            <a:miter lim="400000"/>
          </a:ln>
        </p:spPr>
        <p:txBody>
          <a:bodyPr lIns="26789" tIns="26789" rIns="26789" bIns="26789" anchor="ctr"/>
          <a:lstStyle/>
          <a:p>
            <a:pPr>
              <a:defRPr sz="3200"/>
            </a:pPr>
            <a:endParaRPr sz="1200"/>
          </a:p>
        </p:txBody>
      </p:sp>
      <p:pic>
        <p:nvPicPr>
          <p:cNvPr id="45"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83639" y="5917081"/>
            <a:ext cx="2108455" cy="292967"/>
          </a:xfrm>
          <a:prstGeom prst="rect">
            <a:avLst/>
          </a:prstGeom>
          <a:ln w="12700">
            <a:miter lim="400000"/>
          </a:ln>
        </p:spPr>
      </p:pic>
      <p:pic>
        <p:nvPicPr>
          <p:cNvPr id="46"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492571" y="5850295"/>
            <a:ext cx="872531" cy="394256"/>
          </a:xfrm>
          <a:prstGeom prst="rect">
            <a:avLst/>
          </a:prstGeom>
          <a:ln w="12700">
            <a:miter lim="400000"/>
          </a:ln>
        </p:spPr>
      </p:pic>
      <p:pic>
        <p:nvPicPr>
          <p:cNvPr id="12" name="pasted-image.pdf"/>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83463" y="198888"/>
            <a:ext cx="1584368" cy="1464101"/>
          </a:xfrm>
          <a:prstGeom prst="rect">
            <a:avLst/>
          </a:prstGeom>
          <a:ln w="12700">
            <a:miter lim="400000"/>
          </a:ln>
        </p:spPr>
      </p:pic>
      <p:pic>
        <p:nvPicPr>
          <p:cNvPr id="17" name="Picture 5" descr="IBM_black_logo">
            <a:extLst>
              <a:ext uri="{FF2B5EF4-FFF2-40B4-BE49-F238E27FC236}">
                <a16:creationId xmlns:a16="http://schemas.microsoft.com/office/drawing/2014/main" id="{0C94F7B7-96FE-0C45-862B-158C4940792E}"/>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669005" y="1861875"/>
            <a:ext cx="987068" cy="37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869717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12" name="Espace réservé du pied de page 1">
            <a:extLst>
              <a:ext uri="{FF2B5EF4-FFF2-40B4-BE49-F238E27FC236}">
                <a16:creationId xmlns:a16="http://schemas.microsoft.com/office/drawing/2014/main" id="{F20C0310-E344-43F6-9D43-6DDF494E2184}"/>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13" name="Espace réservé du numéro de diapositive 2">
            <a:extLst>
              <a:ext uri="{FF2B5EF4-FFF2-40B4-BE49-F238E27FC236}">
                <a16:creationId xmlns:a16="http://schemas.microsoft.com/office/drawing/2014/main" id="{48532099-53A3-423B-A837-EC630AC2AE32}"/>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6" name="Title 1">
            <a:extLst>
              <a:ext uri="{FF2B5EF4-FFF2-40B4-BE49-F238E27FC236}">
                <a16:creationId xmlns:a16="http://schemas.microsoft.com/office/drawing/2014/main" id="{7FE159C4-170F-4DE7-9DA3-221316A5214C}"/>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3513593960"/>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et texte">
    <p:spTree>
      <p:nvGrpSpPr>
        <p:cNvPr id="1" name=""/>
        <p:cNvGrpSpPr/>
        <p:nvPr/>
      </p:nvGrpSpPr>
      <p:grpSpPr>
        <a:xfrm>
          <a:off x="0" y="0"/>
          <a:ext cx="0" cy="0"/>
          <a:chOff x="0" y="0"/>
          <a:chExt cx="0" cy="0"/>
        </a:xfrm>
      </p:grpSpPr>
      <p:sp>
        <p:nvSpPr>
          <p:cNvPr id="12" name="Décision 2"/>
          <p:cNvSpPr/>
          <p:nvPr userDrawn="1"/>
        </p:nvSpPr>
        <p:spPr>
          <a:xfrm>
            <a:off x="974" y="-120"/>
            <a:ext cx="700631" cy="15978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8" name="Espace réservé du texte 7"/>
          <p:cNvSpPr>
            <a:spLocks noGrp="1"/>
          </p:cNvSpPr>
          <p:nvPr>
            <p:ph type="body" sz="quarter" idx="15"/>
          </p:nvPr>
        </p:nvSpPr>
        <p:spPr>
          <a:xfrm>
            <a:off x="838200" y="1178669"/>
            <a:ext cx="10515600" cy="5112000"/>
          </a:xfrm>
          <a:prstGeom prst="rect">
            <a:avLst/>
          </a:prstGeom>
        </p:spPr>
        <p:txBody>
          <a:bodyPr/>
          <a:lstStyle>
            <a:lvl1pPr>
              <a:defRPr lang="en-US" sz="1800" b="1" dirty="0">
                <a:solidFill>
                  <a:schemeClr val="tx1"/>
                </a:solidFill>
                <a:latin typeface="Calibri" panose="020F0502020204030204" pitchFamily="34" charset="0"/>
                <a:cs typeface="Calibri" panose="020F0502020204030204" pitchFamily="34" charset="0"/>
              </a:defRPr>
            </a:lvl1pPr>
            <a:lvl2pPr marL="220657" indent="-220657">
              <a:defRPr lang="en-US" sz="1600" dirty="0">
                <a:solidFill>
                  <a:schemeClr val="tx1"/>
                </a:solidFill>
                <a:latin typeface="Calibri" panose="020F0502020204030204" pitchFamily="34" charset="0"/>
                <a:cs typeface="Calibri" panose="020F0502020204030204" pitchFamily="34" charset="0"/>
              </a:defRPr>
            </a:lvl2pPr>
            <a:lvl3pPr marL="357179" indent="-201608">
              <a:defRPr lang="en-US" sz="1400" dirty="0">
                <a:solidFill>
                  <a:schemeClr val="tx1"/>
                </a:solidFill>
                <a:latin typeface="Calibri" panose="020F0502020204030204" pitchFamily="34" charset="0"/>
                <a:cs typeface="Calibri" panose="020F0502020204030204" pitchFamily="34" charset="0"/>
              </a:defRPr>
            </a:lvl3pPr>
            <a:lvl4pPr marL="534975" indent="-220657">
              <a:defRPr lang="en-US" sz="1200" dirty="0">
                <a:solidFill>
                  <a:schemeClr val="tx1"/>
                </a:solidFill>
                <a:latin typeface="Calibri" panose="020F0502020204030204" pitchFamily="34" charset="0"/>
                <a:cs typeface="Calibri" panose="020F0502020204030204" pitchFamily="34" charset="0"/>
              </a:defRPr>
            </a:lvl4pPr>
            <a:lvl5pPr marL="714357" indent="-220657">
              <a:defRPr lang="fr-FR" sz="1100" dirty="0">
                <a:solidFill>
                  <a:schemeClr val="tx1"/>
                </a:solidFill>
                <a:latin typeface="Calibri" panose="020F0502020204030204" pitchFamily="34" charset="0"/>
                <a:cs typeface="Calibri" panose="020F0502020204030204" pitchFamily="34" charset="0"/>
              </a:defRPr>
            </a:lvl5pPr>
          </a:lstStyle>
          <a:p>
            <a:pPr lvl="0">
              <a:spcBef>
                <a:spcPts val="0"/>
              </a:spcBef>
              <a:spcAft>
                <a:spcPts val="300"/>
              </a:spcAft>
            </a:pPr>
            <a:r>
              <a:rPr lang="en-US"/>
              <a:t>Click to edit Master text styles</a:t>
            </a:r>
          </a:p>
          <a:p>
            <a:pPr lvl="1">
              <a:spcBef>
                <a:spcPts val="0"/>
              </a:spcBef>
              <a:spcAft>
                <a:spcPts val="300"/>
              </a:spcAft>
            </a:pPr>
            <a:r>
              <a:rPr lang="en-US"/>
              <a:t>Second level</a:t>
            </a:r>
          </a:p>
          <a:p>
            <a:pPr lvl="2">
              <a:spcBef>
                <a:spcPts val="0"/>
              </a:spcBef>
              <a:spcAft>
                <a:spcPts val="300"/>
              </a:spcAft>
            </a:pPr>
            <a:r>
              <a:rPr lang="en-US"/>
              <a:t>Third level</a:t>
            </a:r>
          </a:p>
          <a:p>
            <a:pPr lvl="3">
              <a:spcBef>
                <a:spcPts val="0"/>
              </a:spcBef>
              <a:spcAft>
                <a:spcPts val="300"/>
              </a:spcAft>
            </a:pPr>
            <a:r>
              <a:rPr lang="en-US"/>
              <a:t>Fourth level</a:t>
            </a:r>
          </a:p>
          <a:p>
            <a:pPr lvl="4">
              <a:spcBef>
                <a:spcPts val="0"/>
              </a:spcBef>
              <a:spcAft>
                <a:spcPts val="300"/>
              </a:spcAft>
            </a:pPr>
            <a:r>
              <a:rPr lang="en-US"/>
              <a:t>Fifth level</a:t>
            </a:r>
            <a:endParaRPr lang="fr-FR"/>
          </a:p>
        </p:txBody>
      </p:sp>
      <p:pic>
        <p:nvPicPr>
          <p:cNvPr id="15" name="pasted-image.pdf">
            <a:extLst>
              <a:ext uri="{FF2B5EF4-FFF2-40B4-BE49-F238E27FC236}">
                <a16:creationId xmlns:a16="http://schemas.microsoft.com/office/drawing/2014/main" id="{74B1F0E4-2D93-4F44-9DB9-63C7D7768BA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46303" y="6322374"/>
            <a:ext cx="513999" cy="474981"/>
          </a:xfrm>
          <a:prstGeom prst="rect">
            <a:avLst/>
          </a:prstGeom>
          <a:ln w="12700">
            <a:miter lim="400000"/>
          </a:ln>
        </p:spPr>
      </p:pic>
      <p:sp>
        <p:nvSpPr>
          <p:cNvPr id="16" name="Décision 2">
            <a:extLst>
              <a:ext uri="{FF2B5EF4-FFF2-40B4-BE49-F238E27FC236}">
                <a16:creationId xmlns:a16="http://schemas.microsoft.com/office/drawing/2014/main" id="{71527B2B-558F-4983-B807-9201141CE944}"/>
              </a:ext>
            </a:extLst>
          </p:cNvPr>
          <p:cNvSpPr/>
          <p:nvPr userDrawn="1"/>
        </p:nvSpPr>
        <p:spPr>
          <a:xfrm>
            <a:off x="973" y="6533871"/>
            <a:ext cx="120668" cy="333463"/>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pic>
        <p:nvPicPr>
          <p:cNvPr id="19" name="Picture 5" descr="IBM_black_logo">
            <a:extLst>
              <a:ext uri="{FF2B5EF4-FFF2-40B4-BE49-F238E27FC236}">
                <a16:creationId xmlns:a16="http://schemas.microsoft.com/office/drawing/2014/main" id="{BCFE4F7F-2089-4901-8719-9ED2C21A4672}"/>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875133" y="6499914"/>
            <a:ext cx="609971" cy="2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Espace réservé du pied de page 1">
            <a:extLst>
              <a:ext uri="{FF2B5EF4-FFF2-40B4-BE49-F238E27FC236}">
                <a16:creationId xmlns:a16="http://schemas.microsoft.com/office/drawing/2014/main" id="{C301514A-6F2D-4410-A99E-7694FFBECBD2}"/>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23" name="Espace réservé du numéro de diapositive 2">
            <a:extLst>
              <a:ext uri="{FF2B5EF4-FFF2-40B4-BE49-F238E27FC236}">
                <a16:creationId xmlns:a16="http://schemas.microsoft.com/office/drawing/2014/main" id="{4894F215-B394-4F54-8173-B4F7A64A3E66}"/>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11" name="Title 1">
            <a:extLst>
              <a:ext uri="{FF2B5EF4-FFF2-40B4-BE49-F238E27FC236}">
                <a16:creationId xmlns:a16="http://schemas.microsoft.com/office/drawing/2014/main" id="{BACEF26F-B0A9-4591-BDE0-50FB33CF3EF3}"/>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1191784119"/>
      </p:ext>
    </p:extLst>
  </p:cSld>
  <p:clrMapOvr>
    <a:masterClrMapping/>
  </p:clrMapOvr>
  <p:transition spd="med"/>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slideLayout" Target="../slideLayouts/slideLayout49.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theme" Target="../theme/theme2.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slideLayout" Target="../slideLayouts/slideLayout51.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8153470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 id="2147483680" r:id="rId19"/>
    <p:sldLayoutId id="2147483681" r:id="rId20"/>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7000">
              <a:schemeClr val="bg1"/>
            </a:gs>
            <a:gs pos="100000">
              <a:srgbClr val="003A8D"/>
            </a:gs>
          </a:gsLst>
          <a:lin ang="8100000" scaled="1"/>
          <a:tileRect/>
        </a:gradFill>
        <a:effectLst/>
      </p:bgPr>
    </p:bg>
    <p:spTree>
      <p:nvGrpSpPr>
        <p:cNvPr id="1" name=""/>
        <p:cNvGrpSpPr/>
        <p:nvPr/>
      </p:nvGrpSpPr>
      <p:grpSpPr>
        <a:xfrm>
          <a:off x="0" y="0"/>
          <a:ext cx="0" cy="0"/>
          <a:chOff x="0" y="0"/>
          <a:chExt cx="0" cy="0"/>
        </a:xfrm>
      </p:grpSpPr>
      <p:sp>
        <p:nvSpPr>
          <p:cNvPr id="6" name="Rectangle à coins arrondis 5"/>
          <p:cNvSpPr/>
          <p:nvPr/>
        </p:nvSpPr>
        <p:spPr>
          <a:xfrm>
            <a:off x="127001" y="101605"/>
            <a:ext cx="11946467" cy="6639481"/>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Janvier 2024</a:t>
            </a:r>
            <a:endParaRPr lang="en-US" dirty="0"/>
          </a:p>
        </p:txBody>
      </p:sp>
      <p:sp>
        <p:nvSpPr>
          <p:cNvPr id="5" name="Espace réservé du numéro de diapositive 5"/>
          <p:cNvSpPr>
            <a:spLocks noGrp="1"/>
          </p:cNvSpPr>
          <p:nvPr>
            <p:ph type="sldNum" sz="quarter" idx="4"/>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2" name="Group 1">
            <a:extLst>
              <a:ext uri="{FF2B5EF4-FFF2-40B4-BE49-F238E27FC236}">
                <a16:creationId xmlns:a16="http://schemas.microsoft.com/office/drawing/2014/main" id="{08602E2B-ACAE-F214-77F8-530BA794AD06}"/>
              </a:ext>
            </a:extLst>
          </p:cNvPr>
          <p:cNvGrpSpPr/>
          <p:nvPr userDrawn="1"/>
        </p:nvGrpSpPr>
        <p:grpSpPr>
          <a:xfrm>
            <a:off x="5852160" y="-212034"/>
            <a:ext cx="470008" cy="210260"/>
            <a:chOff x="4389120" y="-159026"/>
            <a:chExt cx="352506" cy="157695"/>
          </a:xfrm>
        </p:grpSpPr>
        <p:cxnSp>
          <p:nvCxnSpPr>
            <p:cNvPr id="3" name="Straight Connector 2">
              <a:extLst>
                <a:ext uri="{FF2B5EF4-FFF2-40B4-BE49-F238E27FC236}">
                  <a16:creationId xmlns:a16="http://schemas.microsoft.com/office/drawing/2014/main" id="{D968870E-E915-F42F-1294-51253169D874}"/>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293D63-7FB8-ED97-9AD4-E457EE97A462}"/>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C56F22-EA76-6C47-CB26-F750F188D57D}"/>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0BF1332-0A05-D424-DF87-FEE60E11B61A}"/>
              </a:ext>
            </a:extLst>
          </p:cNvPr>
          <p:cNvGrpSpPr/>
          <p:nvPr userDrawn="1"/>
        </p:nvGrpSpPr>
        <p:grpSpPr>
          <a:xfrm>
            <a:off x="8737597" y="-222634"/>
            <a:ext cx="470008" cy="210260"/>
            <a:chOff x="4389120" y="-159026"/>
            <a:chExt cx="352506" cy="157695"/>
          </a:xfrm>
        </p:grpSpPr>
        <p:cxnSp>
          <p:nvCxnSpPr>
            <p:cNvPr id="10" name="Straight Connector 9">
              <a:extLst>
                <a:ext uri="{FF2B5EF4-FFF2-40B4-BE49-F238E27FC236}">
                  <a16:creationId xmlns:a16="http://schemas.microsoft.com/office/drawing/2014/main" id="{9FF1DA4B-0E13-0798-191C-ED7FB5FFD6B9}"/>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E55582-D785-31E4-DD29-95F55C7D13B9}"/>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C00F8B-B0C9-01D8-7580-21B536FF3828}"/>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74DC492-E93E-CBEB-93E9-1D613A4CD839}"/>
              </a:ext>
            </a:extLst>
          </p:cNvPr>
          <p:cNvGrpSpPr/>
          <p:nvPr userDrawn="1"/>
        </p:nvGrpSpPr>
        <p:grpSpPr>
          <a:xfrm>
            <a:off x="2972128" y="-231461"/>
            <a:ext cx="470008" cy="210260"/>
            <a:chOff x="4389120" y="-159026"/>
            <a:chExt cx="352506" cy="157695"/>
          </a:xfrm>
        </p:grpSpPr>
        <p:cxnSp>
          <p:nvCxnSpPr>
            <p:cNvPr id="14" name="Straight Connector 13">
              <a:extLst>
                <a:ext uri="{FF2B5EF4-FFF2-40B4-BE49-F238E27FC236}">
                  <a16:creationId xmlns:a16="http://schemas.microsoft.com/office/drawing/2014/main" id="{3940EB56-ACC7-1CE0-1A2F-8F71EC0D8216}"/>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553000-51CE-B254-1CBD-21B8A1DAA5AA}"/>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B25738-87FA-7320-DA44-F118F9FD1D21}"/>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0188FCAB-10C9-0643-8FAA-8370C9D56443}"/>
              </a:ext>
            </a:extLst>
          </p:cNvPr>
          <p:cNvGrpSpPr/>
          <p:nvPr userDrawn="1"/>
        </p:nvGrpSpPr>
        <p:grpSpPr>
          <a:xfrm rot="16200000">
            <a:off x="-347329" y="3273593"/>
            <a:ext cx="470008" cy="210260"/>
            <a:chOff x="4389120" y="-159026"/>
            <a:chExt cx="352506" cy="157695"/>
          </a:xfrm>
        </p:grpSpPr>
        <p:cxnSp>
          <p:nvCxnSpPr>
            <p:cNvPr id="18" name="Straight Connector 17">
              <a:extLst>
                <a:ext uri="{FF2B5EF4-FFF2-40B4-BE49-F238E27FC236}">
                  <a16:creationId xmlns:a16="http://schemas.microsoft.com/office/drawing/2014/main" id="{3AC8E3A1-096A-8836-5560-0077A1C9F3AB}"/>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9D3A70-D242-7D60-8A72-6C907CA70608}"/>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7E085D-56D9-4F48-1EF5-3777AEE77457}"/>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A016345D-1506-FA3D-01BA-53CF6F210494}"/>
              </a:ext>
            </a:extLst>
          </p:cNvPr>
          <p:cNvCxnSpPr/>
          <p:nvPr userDrawn="1"/>
        </p:nvCxnSpPr>
        <p:spPr>
          <a:xfrm>
            <a:off x="11925300" y="-215582"/>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A93FF-0A2F-03DF-CEC8-59CC91716623}"/>
              </a:ext>
            </a:extLst>
          </p:cNvPr>
          <p:cNvCxnSpPr/>
          <p:nvPr userDrawn="1"/>
        </p:nvCxnSpPr>
        <p:spPr>
          <a:xfrm>
            <a:off x="277412" y="-249145"/>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6B5CB0-3AF5-9F3B-7459-FD659519CA5D}"/>
              </a:ext>
            </a:extLst>
          </p:cNvPr>
          <p:cNvCxnSpPr>
            <a:cxnSpLocks/>
          </p:cNvCxnSpPr>
          <p:nvPr userDrawn="1"/>
        </p:nvCxnSpPr>
        <p:spPr>
          <a:xfrm>
            <a:off x="-182440" y="190503"/>
            <a:ext cx="164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A5658D-09DC-CE8A-EBCC-2F1CE3FB7487}"/>
              </a:ext>
            </a:extLst>
          </p:cNvPr>
          <p:cNvCxnSpPr>
            <a:cxnSpLocks/>
          </p:cNvCxnSpPr>
          <p:nvPr userDrawn="1"/>
        </p:nvCxnSpPr>
        <p:spPr>
          <a:xfrm>
            <a:off x="-208799" y="6441671"/>
            <a:ext cx="164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92864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Lst>
  <p:hf hdr="0" dt="0"/>
  <p:txStyles>
    <p:titleStyle>
      <a:lvl1pPr algn="l" defTabSz="914309"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309"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578" indent="-228578" algn="l" defTabSz="914309"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23" indent="-228578" algn="l" defTabSz="914309"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1925" indent="-270643" algn="l" defTabSz="914309"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4880008" y="1652564"/>
            <a:ext cx="6413805" cy="2145456"/>
          </a:xfrm>
        </p:spPr>
        <p:txBody>
          <a:bodyPr anchor="ctr"/>
          <a:lstStyle/>
          <a:p>
            <a:r>
              <a:rPr lang="fr-FR" sz="4800" b="1" cap="small" dirty="0">
                <a:latin typeface="Segoe UI" panose="020B0502040204020203" pitchFamily="34" charset="0"/>
                <a:cs typeface="Segoe UI" panose="020B0502040204020203" pitchFamily="34" charset="0"/>
              </a:rPr>
              <a:t>[Séminaire OCRF 2026] </a:t>
            </a:r>
            <a:br>
              <a:rPr lang="fr-FR" sz="7200" b="1" cap="small" dirty="0">
                <a:latin typeface="Segoe UI" panose="020B0502040204020203" pitchFamily="34" charset="0"/>
                <a:cs typeface="Segoe UI" panose="020B0502040204020203" pitchFamily="34" charset="0"/>
              </a:rPr>
            </a:br>
            <a:r>
              <a:rPr lang="fr-FR" sz="2400" dirty="0"/>
              <a:t>OCRF 4.0 — L'IA comme levier stratégique de transformation</a:t>
            </a:r>
            <a:endParaRPr lang="fr-FR" sz="7200" b="1" i="1" cap="small" dirty="0">
              <a:latin typeface="Segoe UI" panose="020B0502040204020203" pitchFamily="34" charset="0"/>
              <a:cs typeface="Segoe UI" panose="020B0502040204020203" pitchFamily="34" charset="0"/>
            </a:endParaRPr>
          </a:p>
        </p:txBody>
      </p:sp>
      <p:sp>
        <p:nvSpPr>
          <p:cNvPr id="5" name="Espace réservé du texte 4"/>
          <p:cNvSpPr>
            <a:spLocks noGrp="1"/>
          </p:cNvSpPr>
          <p:nvPr>
            <p:ph type="subTitle" idx="1"/>
          </p:nvPr>
        </p:nvSpPr>
        <p:spPr/>
        <p:txBody>
          <a:bodyPr/>
          <a:lstStyle/>
          <a:p>
            <a:r>
              <a:rPr lang="fr-FR" i="1" dirty="0">
                <a:solidFill>
                  <a:schemeClr val="bg1">
                    <a:lumMod val="75000"/>
                  </a:schemeClr>
                </a:solidFill>
              </a:rPr>
              <a:t>Ayoub El </a:t>
            </a:r>
            <a:r>
              <a:rPr lang="fr-FR" i="1" dirty="0" err="1">
                <a:solidFill>
                  <a:schemeClr val="bg1">
                    <a:lumMod val="75000"/>
                  </a:schemeClr>
                </a:solidFill>
              </a:rPr>
              <a:t>Bouchtili</a:t>
            </a:r>
            <a:endParaRPr lang="fr-FR" i="1" dirty="0">
              <a:solidFill>
                <a:schemeClr val="bg1">
                  <a:lumMod val="75000"/>
                </a:schemeClr>
              </a:solidFill>
            </a:endParaRPr>
          </a:p>
          <a:p>
            <a:r>
              <a:rPr lang="fr-FR" i="1" dirty="0">
                <a:solidFill>
                  <a:schemeClr val="bg1">
                    <a:lumMod val="75000"/>
                  </a:schemeClr>
                </a:solidFill>
              </a:rPr>
              <a:t>Morad </a:t>
            </a:r>
            <a:r>
              <a:rPr lang="fr-FR" i="1" dirty="0" err="1">
                <a:solidFill>
                  <a:schemeClr val="bg1">
                    <a:lumMod val="75000"/>
                  </a:schemeClr>
                </a:solidFill>
              </a:rPr>
              <a:t>Issoulghane</a:t>
            </a:r>
            <a:endParaRPr lang="fr-FR" i="1" dirty="0">
              <a:solidFill>
                <a:schemeClr val="bg1">
                  <a:lumMod val="75000"/>
                </a:schemeClr>
              </a:solidFill>
            </a:endParaRPr>
          </a:p>
        </p:txBody>
      </p:sp>
    </p:spTree>
    <p:extLst>
      <p:ext uri="{BB962C8B-B14F-4D97-AF65-F5344CB8AC3E}">
        <p14:creationId xmlns:p14="http://schemas.microsoft.com/office/powerpoint/2010/main" val="336881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cap="small" dirty="0"/>
              <a:t>L’</a:t>
            </a:r>
            <a:r>
              <a:rPr lang="fr-FR" sz="3200" b="1" cap="small" dirty="0"/>
              <a:t>IA Agentique : un virage stratégique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Notre façon de travailler et notre proposition de valeur ne seront plus jamais les mêmes</a:t>
            </a:r>
            <a:endParaRPr lang="en-US" dirty="0"/>
          </a:p>
        </p:txBody>
      </p:sp>
      <p:sp>
        <p:nvSpPr>
          <p:cNvPr id="22" name="Rectangle 21">
            <a:extLst>
              <a:ext uri="{FF2B5EF4-FFF2-40B4-BE49-F238E27FC236}">
                <a16:creationId xmlns:a16="http://schemas.microsoft.com/office/drawing/2014/main" id="{2DCC726A-B370-4383-9D6C-8DD1FAACDDDC}"/>
              </a:ext>
            </a:extLst>
          </p:cNvPr>
          <p:cNvSpPr/>
          <p:nvPr/>
        </p:nvSpPr>
        <p:spPr>
          <a:xfrm>
            <a:off x="821532" y="1614860"/>
            <a:ext cx="5374732" cy="25886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L'IA Agentique n'est pas une </a:t>
            </a:r>
            <a:r>
              <a:rPr kumimoji="0" lang="fr-FR" altLang="fr-FR" sz="140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évolution</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de plus dans la longue liste des innovations technologiques. C'est un changement de nature dans la façon de produire, de concevoir, de délivrer de la valeur.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Pour notre équipe, cela soulève deux questions simples mais structurantes :</a:t>
            </a:r>
          </a:p>
          <a:p>
            <a:pPr marL="628650" lvl="1" indent="-171450" eaLnBrk="0" fontAlgn="base" hangingPunct="0">
              <a:spcBef>
                <a:spcPct val="0"/>
              </a:spcBef>
              <a:spcAft>
                <a:spcPct val="0"/>
              </a:spcAft>
              <a:buFont typeface="Arial" panose="020B0604020202020204" pitchFamily="34" charset="0"/>
              <a:buChar char="•"/>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Comment travaillons-nous demain ?</a:t>
            </a:r>
          </a:p>
          <a:p>
            <a:pPr marL="628650" lvl="1" indent="-171450" eaLnBrk="0" fontAlgn="base" hangingPunct="0">
              <a:spcBef>
                <a:spcPct val="0"/>
              </a:spcBef>
              <a:spcAft>
                <a:spcPct val="0"/>
              </a:spcAft>
              <a:buFont typeface="Arial" panose="020B0604020202020204" pitchFamily="34" charset="0"/>
              <a:buChar char="•"/>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Que proposons-nous à nos clients demain ?</a:t>
            </a:r>
          </a:p>
          <a:p>
            <a:pPr lvl="1" eaLnBrk="0" fontAlgn="base" hangingPunct="0">
              <a:spcBef>
                <a:spcPct val="0"/>
              </a:spcBef>
              <a:spcAft>
                <a:spcPct val="0"/>
              </a:spcAft>
            </a:pPr>
            <a:endParaRPr lang="fr-FR" altLang="fr-FR" sz="1400" dirty="0">
              <a:solidFill>
                <a:schemeClr val="tx1"/>
              </a:solidFill>
              <a:latin typeface="Segoe UI" panose="020B0502040204020203" pitchFamily="34" charset="0"/>
              <a:cs typeface="Segoe UI" panose="020B0502040204020203" pitchFamily="34" charset="0"/>
            </a:endParaRPr>
          </a:p>
          <a:p>
            <a:pPr marL="12700" lvl="1" indent="-12700" eaLnBrk="0" fontAlgn="base" hangingPunct="0">
              <a:spcBef>
                <a:spcPct val="0"/>
              </a:spcBef>
              <a:spcAft>
                <a:spcPct val="0"/>
              </a:spcAf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Ces deux questions méritent qu'on s'y arrête </a:t>
            </a:r>
            <a:r>
              <a:rPr kumimoji="0" lang="fr-FR" altLang="fr-FR" sz="1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ensemble et maintenant</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avant que les réponses nous soient imposées.</a:t>
            </a:r>
          </a:p>
        </p:txBody>
      </p:sp>
      <p:sp>
        <p:nvSpPr>
          <p:cNvPr id="23" name="ZoneTexte 22">
            <a:extLst>
              <a:ext uri="{FF2B5EF4-FFF2-40B4-BE49-F238E27FC236}">
                <a16:creationId xmlns:a16="http://schemas.microsoft.com/office/drawing/2014/main" id="{958FA555-4001-4AD7-9769-DB61C87212D9}"/>
              </a:ext>
            </a:extLst>
          </p:cNvPr>
          <p:cNvSpPr txBox="1"/>
          <p:nvPr/>
        </p:nvSpPr>
        <p:spPr>
          <a:xfrm>
            <a:off x="1937084" y="5125454"/>
            <a:ext cx="9661358" cy="1015663"/>
          </a:xfrm>
          <a:prstGeom prst="rect">
            <a:avLst/>
          </a:prstGeom>
          <a:solidFill>
            <a:srgbClr val="DEEBF7"/>
          </a:solidFill>
        </p:spPr>
        <p:txBody>
          <a:bodyPr wrap="square">
            <a:spAutoFit/>
          </a:bodyPr>
          <a:lstStyle/>
          <a:p>
            <a:pPr algn="just"/>
            <a:r>
              <a:rPr lang="fr-FR" sz="1200" i="1" dirty="0">
                <a:latin typeface="Segoe UI" panose="020B0502040204020203" pitchFamily="34" charset="0"/>
                <a:cs typeface="Segoe UI" panose="020B0502040204020203" pitchFamily="34" charset="0"/>
              </a:rPr>
              <a:t>« The </a:t>
            </a:r>
            <a:r>
              <a:rPr lang="fr-FR" sz="1200" i="1" dirty="0" err="1">
                <a:latin typeface="Segoe UI" panose="020B0502040204020203" pitchFamily="34" charset="0"/>
                <a:cs typeface="Segoe UI" panose="020B0502040204020203" pitchFamily="34" charset="0"/>
              </a:rPr>
              <a:t>greatest</a:t>
            </a:r>
            <a:r>
              <a:rPr lang="fr-FR" sz="1200" i="1" dirty="0">
                <a:latin typeface="Segoe UI" panose="020B0502040204020203" pitchFamily="34" charset="0"/>
                <a:cs typeface="Segoe UI" panose="020B0502040204020203" pitchFamily="34" charset="0"/>
              </a:rPr>
              <a:t> danger in times of turbulence </a:t>
            </a:r>
            <a:r>
              <a:rPr lang="fr-FR" sz="1200" i="1" dirty="0" err="1">
                <a:latin typeface="Segoe UI" panose="020B0502040204020203" pitchFamily="34" charset="0"/>
                <a:cs typeface="Segoe UI" panose="020B0502040204020203" pitchFamily="34" charset="0"/>
              </a:rPr>
              <a:t>is</a:t>
            </a:r>
            <a:r>
              <a:rPr lang="fr-FR" sz="1200" i="1" dirty="0">
                <a:latin typeface="Segoe UI" panose="020B0502040204020203" pitchFamily="34" charset="0"/>
                <a:cs typeface="Segoe UI" panose="020B0502040204020203" pitchFamily="34" charset="0"/>
              </a:rPr>
              <a:t> not the turbulence; </a:t>
            </a:r>
            <a:r>
              <a:rPr lang="fr-FR" sz="1200" i="1" dirty="0" err="1">
                <a:latin typeface="Segoe UI" panose="020B0502040204020203" pitchFamily="34" charset="0"/>
                <a:cs typeface="Segoe UI" panose="020B0502040204020203" pitchFamily="34" charset="0"/>
              </a:rPr>
              <a:t>it</a:t>
            </a:r>
            <a:r>
              <a:rPr lang="fr-FR" sz="1200" i="1" dirty="0">
                <a:latin typeface="Segoe UI" panose="020B0502040204020203" pitchFamily="34" charset="0"/>
                <a:cs typeface="Segoe UI" panose="020B0502040204020203" pitchFamily="34" charset="0"/>
              </a:rPr>
              <a:t> </a:t>
            </a:r>
            <a:r>
              <a:rPr lang="fr-FR" sz="1200" i="1" dirty="0" err="1">
                <a:latin typeface="Segoe UI" panose="020B0502040204020203" pitchFamily="34" charset="0"/>
                <a:cs typeface="Segoe UI" panose="020B0502040204020203" pitchFamily="34" charset="0"/>
              </a:rPr>
              <a:t>is</a:t>
            </a:r>
            <a:r>
              <a:rPr lang="fr-FR" sz="1200" i="1" dirty="0">
                <a:latin typeface="Segoe UI" panose="020B0502040204020203" pitchFamily="34" charset="0"/>
                <a:cs typeface="Segoe UI" panose="020B0502040204020203" pitchFamily="34" charset="0"/>
              </a:rPr>
              <a:t> to </a:t>
            </a:r>
            <a:r>
              <a:rPr lang="fr-FR" sz="1200" i="1" dirty="0" err="1">
                <a:latin typeface="Segoe UI" panose="020B0502040204020203" pitchFamily="34" charset="0"/>
                <a:cs typeface="Segoe UI" panose="020B0502040204020203" pitchFamily="34" charset="0"/>
              </a:rPr>
              <a:t>act</a:t>
            </a:r>
            <a:r>
              <a:rPr lang="fr-FR" sz="1200" i="1" dirty="0">
                <a:latin typeface="Segoe UI" panose="020B0502040204020203" pitchFamily="34" charset="0"/>
                <a:cs typeface="Segoe UI" panose="020B0502040204020203" pitchFamily="34" charset="0"/>
              </a:rPr>
              <a:t> </a:t>
            </a:r>
            <a:r>
              <a:rPr lang="fr-FR" sz="1200" i="1" dirty="0" err="1">
                <a:latin typeface="Segoe UI" panose="020B0502040204020203" pitchFamily="34" charset="0"/>
                <a:cs typeface="Segoe UI" panose="020B0502040204020203" pitchFamily="34" charset="0"/>
              </a:rPr>
              <a:t>with</a:t>
            </a:r>
            <a:r>
              <a:rPr lang="fr-FR" sz="1200" i="1" dirty="0">
                <a:latin typeface="Segoe UI" panose="020B0502040204020203" pitchFamily="34" charset="0"/>
                <a:cs typeface="Segoe UI" panose="020B0502040204020203" pitchFamily="34" charset="0"/>
              </a:rPr>
              <a:t> </a:t>
            </a:r>
            <a:r>
              <a:rPr lang="fr-FR" sz="1200" i="1" dirty="0" err="1">
                <a:latin typeface="Segoe UI" panose="020B0502040204020203" pitchFamily="34" charset="0"/>
                <a:cs typeface="Segoe UI" panose="020B0502040204020203" pitchFamily="34" charset="0"/>
              </a:rPr>
              <a:t>yesterday’s</a:t>
            </a:r>
            <a:r>
              <a:rPr lang="fr-FR" sz="1200" i="1" dirty="0">
                <a:latin typeface="Segoe UI" panose="020B0502040204020203" pitchFamily="34" charset="0"/>
                <a:cs typeface="Segoe UI" panose="020B0502040204020203" pitchFamily="34" charset="0"/>
              </a:rPr>
              <a:t> </a:t>
            </a:r>
            <a:r>
              <a:rPr lang="fr-FR" sz="1200" i="1" dirty="0" err="1">
                <a:latin typeface="Segoe UI" panose="020B0502040204020203" pitchFamily="34" charset="0"/>
                <a:cs typeface="Segoe UI" panose="020B0502040204020203" pitchFamily="34" charset="0"/>
              </a:rPr>
              <a:t>logic</a:t>
            </a:r>
            <a:r>
              <a:rPr lang="fr-FR" sz="1200" i="1" dirty="0">
                <a:latin typeface="Segoe UI" panose="020B0502040204020203" pitchFamily="34" charset="0"/>
                <a:cs typeface="Segoe UI" panose="020B0502040204020203" pitchFamily="34" charset="0"/>
              </a:rPr>
              <a:t>. »</a:t>
            </a:r>
          </a:p>
          <a:p>
            <a:pPr algn="just"/>
            <a:endParaRPr lang="fr-FR" sz="1200" i="1" dirty="0">
              <a:latin typeface="Segoe UI" panose="020B0502040204020203" pitchFamily="34" charset="0"/>
              <a:cs typeface="Segoe UI" panose="020B0502040204020203" pitchFamily="34" charset="0"/>
            </a:endParaRPr>
          </a:p>
          <a:p>
            <a:pPr algn="just"/>
            <a:r>
              <a:rPr lang="fr-FR" sz="1200" i="1" dirty="0">
                <a:latin typeface="Segoe UI" panose="020B0502040204020203" pitchFamily="34" charset="0"/>
                <a:cs typeface="Segoe UI" panose="020B0502040204020203" pitchFamily="34" charset="0"/>
              </a:rPr>
              <a:t>« Le plus grand danger en période de turbulence, ce n’est pas la turbulence elle-même, mais d’agir avec la logique d’hier. »</a:t>
            </a:r>
          </a:p>
          <a:p>
            <a:pPr algn="just"/>
            <a:endParaRPr lang="fr-FR" sz="1200" i="1" dirty="0">
              <a:latin typeface="Segoe UI" panose="020B0502040204020203" pitchFamily="34" charset="0"/>
              <a:cs typeface="Segoe UI" panose="020B0502040204020203" pitchFamily="34" charset="0"/>
            </a:endParaRPr>
          </a:p>
          <a:p>
            <a:pPr algn="just"/>
            <a:r>
              <a:rPr lang="fr-FR" sz="1200" b="1" i="1" dirty="0">
                <a:latin typeface="Segoe UI" panose="020B0502040204020203" pitchFamily="34" charset="0"/>
                <a:cs typeface="Segoe UI" panose="020B0502040204020203" pitchFamily="34" charset="0"/>
              </a:rPr>
              <a:t>Peter Drucker</a:t>
            </a:r>
          </a:p>
        </p:txBody>
      </p:sp>
      <p:pic>
        <p:nvPicPr>
          <p:cNvPr id="6146" name="Picture 2" descr="Peter Drucker: os ensinamentos do Pai da Administração Moderna">
            <a:extLst>
              <a:ext uri="{FF2B5EF4-FFF2-40B4-BE49-F238E27FC236}">
                <a16:creationId xmlns:a16="http://schemas.microsoft.com/office/drawing/2014/main" id="{DB39574A-C5CE-4646-82B5-225F7160CA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377" y="5125454"/>
            <a:ext cx="980697" cy="10215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gentic AI's strategic ascent: Shifting operations from incremental gains  to net-new impact | IBM">
            <a:extLst>
              <a:ext uri="{FF2B5EF4-FFF2-40B4-BE49-F238E27FC236}">
                <a16:creationId xmlns:a16="http://schemas.microsoft.com/office/drawing/2014/main" id="{1609B544-9488-4DA5-A25B-AEC6C9CAD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535" y="1614860"/>
            <a:ext cx="4663907" cy="3208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890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t>AXE 1 — </a:t>
            </a:r>
            <a:r>
              <a:rPr lang="fr-FR" sz="3200" cap="small" dirty="0"/>
              <a:t>L’</a:t>
            </a:r>
            <a:r>
              <a:rPr lang="fr-FR" sz="3200" b="1" cap="small" dirty="0"/>
              <a:t>IA Agentique pour les collaborateurs de l'OCRF</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cap="small" dirty="0">
                <a:solidFill>
                  <a:srgbClr val="003A8D"/>
                </a:solidFill>
                <a:ea typeface="+mj-ea"/>
              </a:rPr>
              <a:t>Les agents aux services de </a:t>
            </a:r>
            <a:r>
              <a:rPr lang="en-US" b="1" cap="small" dirty="0" err="1">
                <a:solidFill>
                  <a:srgbClr val="003A8D"/>
                </a:solidFill>
                <a:ea typeface="+mj-ea"/>
              </a:rPr>
              <a:t>l’OCRF</a:t>
            </a:r>
            <a:endParaRPr lang="en-US" dirty="0"/>
          </a:p>
        </p:txBody>
      </p:sp>
      <p:sp>
        <p:nvSpPr>
          <p:cNvPr id="37" name="Rectangle 36">
            <a:extLst>
              <a:ext uri="{FF2B5EF4-FFF2-40B4-BE49-F238E27FC236}">
                <a16:creationId xmlns:a16="http://schemas.microsoft.com/office/drawing/2014/main" id="{DCF5BFBE-624F-49D7-BAED-4C6251919A85}"/>
              </a:ext>
            </a:extLst>
          </p:cNvPr>
          <p:cNvSpPr/>
          <p:nvPr/>
        </p:nvSpPr>
        <p:spPr>
          <a:xfrm>
            <a:off x="1031391" y="1594190"/>
            <a:ext cx="2120518"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latin typeface="Segoe UI" panose="020B0502040204020203" pitchFamily="34" charset="0"/>
                <a:cs typeface="Segoe UI" panose="020B0502040204020203" pitchFamily="34" charset="0"/>
              </a:rPr>
              <a:t>Managers &amp; Chefs de projet</a:t>
            </a:r>
          </a:p>
        </p:txBody>
      </p:sp>
      <p:sp>
        <p:nvSpPr>
          <p:cNvPr id="38" name="Rectangle 37">
            <a:extLst>
              <a:ext uri="{FF2B5EF4-FFF2-40B4-BE49-F238E27FC236}">
                <a16:creationId xmlns:a16="http://schemas.microsoft.com/office/drawing/2014/main" id="{28231FC5-F42A-45FA-A921-C042F812410D}"/>
              </a:ext>
            </a:extLst>
          </p:cNvPr>
          <p:cNvSpPr/>
          <p:nvPr/>
        </p:nvSpPr>
        <p:spPr>
          <a:xfrm>
            <a:off x="491894" y="2042976"/>
            <a:ext cx="2660015" cy="1698845"/>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Agents de synthèse, de suivi de portefeuille, de génération de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reporting</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projet automatisé. </a:t>
            </a:r>
          </a:p>
          <a:p>
            <a:pPr marR="0" lvl="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 temps libéré se réinvestit dans la prise de décision et la relation client interne.</a:t>
            </a:r>
          </a:p>
        </p:txBody>
      </p:sp>
      <p:sp>
        <p:nvSpPr>
          <p:cNvPr id="41" name="Rectangle 40">
            <a:extLst>
              <a:ext uri="{FF2B5EF4-FFF2-40B4-BE49-F238E27FC236}">
                <a16:creationId xmlns:a16="http://schemas.microsoft.com/office/drawing/2014/main" id="{D854B8C5-98A1-41FD-800E-46B5FFE177EA}"/>
              </a:ext>
            </a:extLst>
          </p:cNvPr>
          <p:cNvSpPr/>
          <p:nvPr/>
        </p:nvSpPr>
        <p:spPr>
          <a:xfrm>
            <a:off x="3925500" y="1594190"/>
            <a:ext cx="2120518"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latin typeface="Segoe UI" panose="020B0502040204020203" pitchFamily="34" charset="0"/>
                <a:cs typeface="Segoe UI" panose="020B0502040204020203" pitchFamily="34" charset="0"/>
              </a:rPr>
              <a:t>Architectes </a:t>
            </a:r>
            <a:endParaRPr lang="fr-FR" sz="1000" b="1" dirty="0">
              <a:solidFill>
                <a:schemeClr val="bg1"/>
              </a:solidFill>
              <a:latin typeface="Segoe UI" panose="020B0502040204020203" pitchFamily="34" charset="0"/>
              <a:cs typeface="Segoe UI" panose="020B0502040204020203" pitchFamily="34" charset="0"/>
            </a:endParaRPr>
          </a:p>
        </p:txBody>
      </p:sp>
      <p:sp>
        <p:nvSpPr>
          <p:cNvPr id="42" name="Rectangle 41">
            <a:extLst>
              <a:ext uri="{FF2B5EF4-FFF2-40B4-BE49-F238E27FC236}">
                <a16:creationId xmlns:a16="http://schemas.microsoft.com/office/drawing/2014/main" id="{FB0933EF-A1A9-4B4F-A581-D43D5CB90D83}"/>
              </a:ext>
            </a:extLst>
          </p:cNvPr>
          <p:cNvSpPr/>
          <p:nvPr/>
        </p:nvSpPr>
        <p:spPr>
          <a:xfrm>
            <a:off x="3386003" y="2042976"/>
            <a:ext cx="2660015" cy="1698845"/>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Agents de conception qui génèrent des architectures cibles, comparent des patterns, documentent les choix techniques. L'architecture devient un actif vivant, pas un artefact figé.</a:t>
            </a:r>
            <a:endParaRPr lang="fr-FR" sz="1000" dirty="0">
              <a:solidFill>
                <a:schemeClr val="tx1"/>
              </a:solidFill>
              <a:latin typeface="Segoe UI" panose="020B0502040204020203" pitchFamily="34" charset="0"/>
              <a:cs typeface="Segoe UI" panose="020B0502040204020203" pitchFamily="34" charset="0"/>
            </a:endParaRPr>
          </a:p>
        </p:txBody>
      </p:sp>
      <p:sp>
        <p:nvSpPr>
          <p:cNvPr id="45" name="Rectangle 44">
            <a:extLst>
              <a:ext uri="{FF2B5EF4-FFF2-40B4-BE49-F238E27FC236}">
                <a16:creationId xmlns:a16="http://schemas.microsoft.com/office/drawing/2014/main" id="{BB67EE21-93BB-47BC-938D-E300198CB238}"/>
              </a:ext>
            </a:extLst>
          </p:cNvPr>
          <p:cNvSpPr/>
          <p:nvPr/>
        </p:nvSpPr>
        <p:spPr>
          <a:xfrm>
            <a:off x="6866991" y="1594190"/>
            <a:ext cx="2120518"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latin typeface="Segoe UI" panose="020B0502040204020203" pitchFamily="34" charset="0"/>
                <a:cs typeface="Segoe UI" panose="020B0502040204020203" pitchFamily="34" charset="0"/>
              </a:rPr>
              <a:t>Business Analystes </a:t>
            </a:r>
            <a:endParaRPr lang="fr-FR" sz="1000" b="1" dirty="0">
              <a:solidFill>
                <a:schemeClr val="bg1"/>
              </a:solidFill>
              <a:latin typeface="Segoe UI" panose="020B0502040204020203" pitchFamily="34" charset="0"/>
              <a:cs typeface="Segoe UI" panose="020B0502040204020203" pitchFamily="34" charset="0"/>
            </a:endParaRPr>
          </a:p>
        </p:txBody>
      </p:sp>
      <p:sp>
        <p:nvSpPr>
          <p:cNvPr id="46" name="Rectangle 45">
            <a:extLst>
              <a:ext uri="{FF2B5EF4-FFF2-40B4-BE49-F238E27FC236}">
                <a16:creationId xmlns:a16="http://schemas.microsoft.com/office/drawing/2014/main" id="{38F08708-9982-4611-9293-39FAC46AF563}"/>
              </a:ext>
            </a:extLst>
          </p:cNvPr>
          <p:cNvSpPr/>
          <p:nvPr/>
        </p:nvSpPr>
        <p:spPr>
          <a:xfrm>
            <a:off x="6327494" y="2042976"/>
            <a:ext cx="2660015" cy="1698845"/>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Agents d'analyse fonctionnelle qui transforment une expression de besoin en spécifications structurées, identifient les cas limites, génèrent les matrices de tests fonctionnels.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sz="1000" dirty="0">
              <a:solidFill>
                <a:schemeClr val="tx1"/>
              </a:solidFill>
              <a:latin typeface="Segoe UI" panose="020B0502040204020203" pitchFamily="34" charset="0"/>
              <a:cs typeface="Segoe UI" panose="020B0502040204020203" pitchFamily="34" charset="0"/>
            </a:endParaRPr>
          </a:p>
        </p:txBody>
      </p:sp>
      <p:sp>
        <p:nvSpPr>
          <p:cNvPr id="16" name="Rectangle 15">
            <a:extLst>
              <a:ext uri="{FF2B5EF4-FFF2-40B4-BE49-F238E27FC236}">
                <a16:creationId xmlns:a16="http://schemas.microsoft.com/office/drawing/2014/main" id="{9AA701FF-89DA-4143-A9E4-72310D6296AD}"/>
              </a:ext>
            </a:extLst>
          </p:cNvPr>
          <p:cNvSpPr/>
          <p:nvPr/>
        </p:nvSpPr>
        <p:spPr>
          <a:xfrm>
            <a:off x="9847705" y="1594190"/>
            <a:ext cx="2120518"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latin typeface="Segoe UI" panose="020B0502040204020203" pitchFamily="34" charset="0"/>
                <a:cs typeface="Segoe UI" panose="020B0502040204020203" pitchFamily="34" charset="0"/>
              </a:rPr>
              <a:t>Développeurs </a:t>
            </a:r>
            <a:endParaRPr lang="fr-FR" sz="1000" b="1" dirty="0">
              <a:solidFill>
                <a:schemeClr val="bg1"/>
              </a:solidFill>
              <a:latin typeface="Segoe UI" panose="020B0502040204020203" pitchFamily="34" charset="0"/>
              <a:cs typeface="Segoe UI" panose="020B0502040204020203" pitchFamily="34" charset="0"/>
            </a:endParaRPr>
          </a:p>
        </p:txBody>
      </p:sp>
      <p:sp>
        <p:nvSpPr>
          <p:cNvPr id="17" name="Rectangle 16">
            <a:extLst>
              <a:ext uri="{FF2B5EF4-FFF2-40B4-BE49-F238E27FC236}">
                <a16:creationId xmlns:a16="http://schemas.microsoft.com/office/drawing/2014/main" id="{14D1ADB5-BAF8-457F-8702-3D8F29C07298}"/>
              </a:ext>
            </a:extLst>
          </p:cNvPr>
          <p:cNvSpPr/>
          <p:nvPr/>
        </p:nvSpPr>
        <p:spPr>
          <a:xfrm>
            <a:off x="9308208" y="2042976"/>
            <a:ext cx="2660015" cy="1698845"/>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Agents de code (génération, revue,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refactoring</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agents de tests (unitaires, d'intégration), agents de validation (conformité aux standards, détection de régressions).</a:t>
            </a:r>
          </a:p>
        </p:txBody>
      </p:sp>
      <p:sp>
        <p:nvSpPr>
          <p:cNvPr id="22" name="Rectangle 21">
            <a:extLst>
              <a:ext uri="{FF2B5EF4-FFF2-40B4-BE49-F238E27FC236}">
                <a16:creationId xmlns:a16="http://schemas.microsoft.com/office/drawing/2014/main" id="{2DCC726A-B370-4383-9D6C-8DD1FAACDDDC}"/>
              </a:ext>
            </a:extLst>
          </p:cNvPr>
          <p:cNvSpPr/>
          <p:nvPr/>
        </p:nvSpPr>
        <p:spPr>
          <a:xfrm>
            <a:off x="491894" y="3851735"/>
            <a:ext cx="11476329" cy="588304"/>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Chaque rôle dispose désormais d'un copilote IA adapté à ses livrables. Le SDLC de l'OCRF entre dans une nouvelle ère de productivité augmentée.</a:t>
            </a:r>
          </a:p>
        </p:txBody>
      </p:sp>
      <p:sp>
        <p:nvSpPr>
          <p:cNvPr id="3" name="Rectangle 2">
            <a:extLst>
              <a:ext uri="{FF2B5EF4-FFF2-40B4-BE49-F238E27FC236}">
                <a16:creationId xmlns:a16="http://schemas.microsoft.com/office/drawing/2014/main" id="{547C4EFA-BA36-42A0-B9BA-694C86848181}"/>
              </a:ext>
            </a:extLst>
          </p:cNvPr>
          <p:cNvSpPr/>
          <p:nvPr/>
        </p:nvSpPr>
        <p:spPr>
          <a:xfrm>
            <a:off x="9719688" y="821266"/>
            <a:ext cx="2248535" cy="63928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err="1">
                <a:solidFill>
                  <a:schemeClr val="bg2">
                    <a:lumMod val="10000"/>
                  </a:schemeClr>
                </a:solidFill>
                <a:latin typeface="Segoe UI" panose="020B0502040204020203" pitchFamily="34" charset="0"/>
                <a:cs typeface="Segoe UI" panose="020B0502040204020203" pitchFamily="34" charset="0"/>
              </a:rPr>
              <a:t>Demo</a:t>
            </a:r>
            <a:endParaRPr lang="fr-FR" sz="2000" dirty="0">
              <a:solidFill>
                <a:schemeClr val="bg2">
                  <a:lumMod val="10000"/>
                </a:schemeClr>
              </a:solidFill>
              <a:latin typeface="Segoe UI" panose="020B0502040204020203" pitchFamily="34" charset="0"/>
              <a:cs typeface="Segoe UI" panose="020B0502040204020203" pitchFamily="34" charset="0"/>
            </a:endParaRPr>
          </a:p>
          <a:p>
            <a:pPr algn="ctr"/>
            <a:r>
              <a:rPr lang="fr-FR" sz="2000" dirty="0">
                <a:solidFill>
                  <a:schemeClr val="bg2">
                    <a:lumMod val="10000"/>
                  </a:schemeClr>
                </a:solidFill>
                <a:latin typeface="Segoe UI" panose="020B0502040204020203" pitchFamily="34" charset="0"/>
                <a:cs typeface="Segoe UI" panose="020B0502040204020203" pitchFamily="34" charset="0"/>
              </a:rPr>
              <a:t>Bob / Kilo ?</a:t>
            </a:r>
          </a:p>
        </p:txBody>
      </p:sp>
      <p:sp>
        <p:nvSpPr>
          <p:cNvPr id="24" name="Rectangle 23">
            <a:extLst>
              <a:ext uri="{FF2B5EF4-FFF2-40B4-BE49-F238E27FC236}">
                <a16:creationId xmlns:a16="http://schemas.microsoft.com/office/drawing/2014/main" id="{6BBD8CF9-508D-4BC5-BAD0-64AC077BA60B}"/>
              </a:ext>
            </a:extLst>
          </p:cNvPr>
          <p:cNvSpPr/>
          <p:nvPr/>
        </p:nvSpPr>
        <p:spPr>
          <a:xfrm>
            <a:off x="9527300" y="5349815"/>
            <a:ext cx="2248535" cy="63928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2">
                    <a:lumMod val="10000"/>
                  </a:schemeClr>
                </a:solidFill>
                <a:latin typeface="Segoe UI" panose="020B0502040204020203" pitchFamily="34" charset="0"/>
                <a:cs typeface="Segoe UI" panose="020B0502040204020203" pitchFamily="34" charset="0"/>
              </a:rPr>
              <a:t>Schéma ?</a:t>
            </a:r>
          </a:p>
        </p:txBody>
      </p:sp>
      <p:pic>
        <p:nvPicPr>
          <p:cNvPr id="2050" name="Picture 2" descr="Developer Icon Vector Art, Icons, and Graphics for Free Download">
            <a:extLst>
              <a:ext uri="{FF2B5EF4-FFF2-40B4-BE49-F238E27FC236}">
                <a16:creationId xmlns:a16="http://schemas.microsoft.com/office/drawing/2014/main" id="{EE61B038-C4A5-487B-9A8E-FEEEB6AD9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3503" y="1624211"/>
            <a:ext cx="323825" cy="32382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Developer Icon Vector Art, Icons, and Graphics for Free Download">
            <a:extLst>
              <a:ext uri="{FF2B5EF4-FFF2-40B4-BE49-F238E27FC236}">
                <a16:creationId xmlns:a16="http://schemas.microsoft.com/office/drawing/2014/main" id="{9E000900-5924-445D-8722-08654A534C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2984" y="1631465"/>
            <a:ext cx="323825" cy="32382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Developer Icon Vector Art, Icons, and Graphics for Free Download">
            <a:extLst>
              <a:ext uri="{FF2B5EF4-FFF2-40B4-BE49-F238E27FC236}">
                <a16:creationId xmlns:a16="http://schemas.microsoft.com/office/drawing/2014/main" id="{96F7AA7F-C3C2-4CE7-B888-A5505C383A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6792" y="1613933"/>
            <a:ext cx="323825" cy="32382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Developer Icon Vector Art, Icons, and Graphics for Free Download">
            <a:extLst>
              <a:ext uri="{FF2B5EF4-FFF2-40B4-BE49-F238E27FC236}">
                <a16:creationId xmlns:a16="http://schemas.microsoft.com/office/drawing/2014/main" id="{8438684E-1513-411A-8253-FE0B92571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706" y="1643497"/>
            <a:ext cx="323825" cy="32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420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t>AXE 1 — </a:t>
            </a:r>
            <a:r>
              <a:rPr lang="fr-FR" sz="3200" cap="small" dirty="0"/>
              <a:t>L’</a:t>
            </a:r>
            <a:r>
              <a:rPr lang="fr-FR" sz="3200" b="1" cap="small" dirty="0"/>
              <a:t>IA Agentique pour les collaborateurs de l'OCRF</a:t>
            </a:r>
            <a:endParaRPr lang="fr-FR" sz="3200" cap="small"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le vrai défi n'est pas là où on croit</a:t>
            </a:r>
            <a:endParaRPr lang="en-US" dirty="0"/>
          </a:p>
        </p:txBody>
      </p:sp>
      <p:sp>
        <p:nvSpPr>
          <p:cNvPr id="22" name="Rectangle 21">
            <a:extLst>
              <a:ext uri="{FF2B5EF4-FFF2-40B4-BE49-F238E27FC236}">
                <a16:creationId xmlns:a16="http://schemas.microsoft.com/office/drawing/2014/main" id="{2DCC726A-B370-4383-9D6C-8DD1FAACDDDC}"/>
              </a:ext>
            </a:extLst>
          </p:cNvPr>
          <p:cNvSpPr/>
          <p:nvPr/>
        </p:nvSpPr>
        <p:spPr>
          <a:xfrm>
            <a:off x="821532" y="1807148"/>
            <a:ext cx="10209142" cy="357096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L'IA </a:t>
            </a:r>
            <a:r>
              <a:rPr kumimoji="0" lang="fr-FR" altLang="fr-FR" sz="14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Agentic</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crée un effet de levier massif côté </a:t>
            </a:r>
            <a:r>
              <a:rPr kumimoji="0" lang="fr-FR" altLang="fr-FR" sz="14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delivery</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technique. Mais elle révèle en miroir les goulots d'étranglement qui n'étaient pas visibles quand le rythme était imposé par la capacité humaine de production. Les nouveaux points de friction à anticiper :</a:t>
            </a:r>
          </a:p>
          <a:p>
            <a:pPr marL="628650" lvl="1" indent="-171450" eaLnBrk="0" fontAlgn="base" hangingPunct="0">
              <a:spcBef>
                <a:spcPct val="0"/>
              </a:spcBef>
              <a:spcAft>
                <a:spcPct val="0"/>
              </a:spcAft>
              <a:buFont typeface="Arial" panose="020B0604020202020204" pitchFamily="34" charset="0"/>
              <a:buChar char="•"/>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Les métiers : sont-ils prêts à exprimer leurs besoins plus vite ? À valider des spécifications générées par IA ? À arbitrer plus rapidement ?</a:t>
            </a:r>
          </a:p>
          <a:p>
            <a:pPr marL="628650" lvl="1" indent="-171450" eaLnBrk="0" fontAlgn="base" hangingPunct="0">
              <a:spcBef>
                <a:spcPct val="0"/>
              </a:spcBef>
              <a:spcAft>
                <a:spcPct val="0"/>
              </a:spcAft>
              <a:buFont typeface="Arial" panose="020B0604020202020204" pitchFamily="34" charset="0"/>
              <a:buChar char="•"/>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La conduite du changement : qui accompagne les utilisateurs finaux de nos applications de levée de doute dans l'adoption de nouvelles interfaces, de nouveaux workflows, de nouvelles logiques de traitement ?</a:t>
            </a:r>
          </a:p>
          <a:p>
            <a:pPr marL="628650" lvl="1" indent="-171450" eaLnBrk="0" fontAlgn="base" hangingPunct="0">
              <a:spcBef>
                <a:spcPct val="0"/>
              </a:spcBef>
              <a:spcAft>
                <a:spcPct val="0"/>
              </a:spcAft>
              <a:buFont typeface="Arial" panose="020B0604020202020204" pitchFamily="34" charset="0"/>
              <a:buChar char="•"/>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La gouvernance : qui valide qu'un livrable généré par un agent est conforme, sécurisé, auditables ? Les comités de validation sont-ils calibrés pour ce nouveau rythme ?</a:t>
            </a:r>
            <a:endParaRPr lang="fr-FR" altLang="fr-FR" sz="1400" dirty="0">
              <a:solidFill>
                <a:schemeClr val="tx1"/>
              </a:solidFill>
              <a:latin typeface="Segoe UI" panose="020B0502040204020203" pitchFamily="34" charset="0"/>
              <a:cs typeface="Segoe UI" panose="020B0502040204020203" pitchFamily="34" charset="0"/>
            </a:endParaRPr>
          </a:p>
          <a:p>
            <a:pPr lvl="1" eaLnBrk="0" fontAlgn="base" hangingPunct="0">
              <a:spcBef>
                <a:spcPct val="0"/>
              </a:spcBef>
              <a:spcAft>
                <a:spcPct val="0"/>
              </a:spcAf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Question ouverte :</a:t>
            </a: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"Demain, si l'OCRF livre en 3 semaines ce qui prenait 3 mois, qui dans l'organisation est prêt à en face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La transformation IA </a:t>
            </a:r>
            <a:r>
              <a:rPr kumimoji="0" lang="fr-FR" altLang="fr-FR" sz="14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Agentic</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n'est pas un projet technologique. C'est avant tout un projet de transformation organisationnelle. La technologie sera prête avant les organisations.</a:t>
            </a:r>
          </a:p>
          <a:p>
            <a:pPr marL="0" marR="0" lvl="0" indent="0" algn="l" defTabSz="914400" rtl="0" eaLnBrk="0" fontAlgn="base" latinLnBrk="0" hangingPunct="0">
              <a:lnSpc>
                <a:spcPct val="100000"/>
              </a:lnSpc>
              <a:spcBef>
                <a:spcPct val="0"/>
              </a:spcBef>
              <a:spcAft>
                <a:spcPct val="0"/>
              </a:spcAft>
              <a:buClrTx/>
              <a:buSzTx/>
              <a:buFontTx/>
              <a:buNone/>
              <a:tabLst/>
            </a:pPr>
            <a:endParaRPr lang="fr-FR" altLang="fr-FR" sz="1400" i="1" dirty="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05372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t>AXE 1 — De la productivité à la transformation</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le vrai défi n'est pas là où on croit</a:t>
            </a:r>
            <a:endParaRPr lang="en-US" dirty="0"/>
          </a:p>
        </p:txBody>
      </p:sp>
      <p:graphicFrame>
        <p:nvGraphicFramePr>
          <p:cNvPr id="3" name="Tableau 2">
            <a:extLst>
              <a:ext uri="{FF2B5EF4-FFF2-40B4-BE49-F238E27FC236}">
                <a16:creationId xmlns:a16="http://schemas.microsoft.com/office/drawing/2014/main" id="{E010ADB6-735C-4323-9F5E-B39302E65092}"/>
              </a:ext>
            </a:extLst>
          </p:cNvPr>
          <p:cNvGraphicFramePr>
            <a:graphicFrameLocks noGrp="1"/>
          </p:cNvGraphicFramePr>
          <p:nvPr>
            <p:extLst>
              <p:ext uri="{D42A27DB-BD31-4B8C-83A1-F6EECF244321}">
                <p14:modId xmlns:p14="http://schemas.microsoft.com/office/powerpoint/2010/main" val="1000136042"/>
              </p:ext>
            </p:extLst>
          </p:nvPr>
        </p:nvGraphicFramePr>
        <p:xfrm>
          <a:off x="838199" y="1605013"/>
          <a:ext cx="10515600" cy="2377440"/>
        </p:xfrm>
        <a:graphic>
          <a:graphicData uri="http://schemas.openxmlformats.org/drawingml/2006/table">
            <a:tbl>
              <a:tblPr/>
              <a:tblGrid>
                <a:gridCol w="3505200">
                  <a:extLst>
                    <a:ext uri="{9D8B030D-6E8A-4147-A177-3AD203B41FA5}">
                      <a16:colId xmlns:a16="http://schemas.microsoft.com/office/drawing/2014/main" val="1411586927"/>
                    </a:ext>
                  </a:extLst>
                </a:gridCol>
                <a:gridCol w="3505200">
                  <a:extLst>
                    <a:ext uri="{9D8B030D-6E8A-4147-A177-3AD203B41FA5}">
                      <a16:colId xmlns:a16="http://schemas.microsoft.com/office/drawing/2014/main" val="2563043882"/>
                    </a:ext>
                  </a:extLst>
                </a:gridCol>
                <a:gridCol w="3505200">
                  <a:extLst>
                    <a:ext uri="{9D8B030D-6E8A-4147-A177-3AD203B41FA5}">
                      <a16:colId xmlns:a16="http://schemas.microsoft.com/office/drawing/2014/main" val="511453170"/>
                    </a:ext>
                  </a:extLst>
                </a:gridCol>
              </a:tblGrid>
              <a:tr h="0">
                <a:tc>
                  <a:txBody>
                    <a:bodyPr/>
                    <a:lstStyle/>
                    <a:p>
                      <a:r>
                        <a:rPr lang="fr-FR" sz="1400" b="1"/>
                        <a:t>Rôle</a:t>
                      </a:r>
                    </a:p>
                  </a:txBody>
                  <a:tcPr anchor="ctr">
                    <a:lnL>
                      <a:noFill/>
                    </a:lnL>
                    <a:lnR>
                      <a:noFill/>
                    </a:lnR>
                    <a:lnT>
                      <a:noFill/>
                    </a:lnT>
                    <a:lnB>
                      <a:noFill/>
                    </a:lnB>
                  </a:tcPr>
                </a:tc>
                <a:tc>
                  <a:txBody>
                    <a:bodyPr/>
                    <a:lstStyle/>
                    <a:p>
                      <a:r>
                        <a:rPr lang="fr-FR" sz="1400" b="1"/>
                        <a:t>Avant</a:t>
                      </a:r>
                    </a:p>
                  </a:txBody>
                  <a:tcPr anchor="ctr">
                    <a:lnL>
                      <a:noFill/>
                    </a:lnL>
                    <a:lnR>
                      <a:noFill/>
                    </a:lnR>
                    <a:lnT>
                      <a:noFill/>
                    </a:lnT>
                    <a:lnB>
                      <a:noFill/>
                    </a:lnB>
                  </a:tcPr>
                </a:tc>
                <a:tc>
                  <a:txBody>
                    <a:bodyPr/>
                    <a:lstStyle/>
                    <a:p>
                      <a:r>
                        <a:rPr lang="fr-FR" sz="1400" b="1" dirty="0"/>
                        <a:t>Avec l'IA </a:t>
                      </a:r>
                      <a:r>
                        <a:rPr lang="fr-FR" sz="1400" b="1" dirty="0" err="1"/>
                        <a:t>Agentic</a:t>
                      </a:r>
                      <a:endParaRPr lang="fr-FR" sz="1400" b="1" dirty="0"/>
                    </a:p>
                  </a:txBody>
                  <a:tcPr anchor="ctr">
                    <a:lnL>
                      <a:noFill/>
                    </a:lnL>
                    <a:lnR>
                      <a:noFill/>
                    </a:lnR>
                    <a:lnT>
                      <a:noFill/>
                    </a:lnT>
                    <a:lnB>
                      <a:noFill/>
                    </a:lnB>
                  </a:tcPr>
                </a:tc>
                <a:extLst>
                  <a:ext uri="{0D108BD9-81ED-4DB2-BD59-A6C34878D82A}">
                    <a16:rowId xmlns:a16="http://schemas.microsoft.com/office/drawing/2014/main" val="875852156"/>
                  </a:ext>
                </a:extLst>
              </a:tr>
              <a:tr h="0">
                <a:tc>
                  <a:txBody>
                    <a:bodyPr/>
                    <a:lstStyle/>
                    <a:p>
                      <a:r>
                        <a:rPr lang="fr-FR" sz="1400"/>
                        <a:t>Chef de projet</a:t>
                      </a:r>
                    </a:p>
                  </a:txBody>
                  <a:tcPr anchor="ctr">
                    <a:lnL>
                      <a:noFill/>
                    </a:lnL>
                    <a:lnR>
                      <a:noFill/>
                    </a:lnR>
                    <a:lnT>
                      <a:noFill/>
                    </a:lnT>
                    <a:lnB>
                      <a:noFill/>
                    </a:lnB>
                  </a:tcPr>
                </a:tc>
                <a:tc>
                  <a:txBody>
                    <a:bodyPr/>
                    <a:lstStyle/>
                    <a:p>
                      <a:r>
                        <a:rPr lang="fr-FR" sz="1400"/>
                        <a:t>Rédige ses CR, suit manuellement les risques</a:t>
                      </a:r>
                    </a:p>
                  </a:txBody>
                  <a:tcPr anchor="ctr">
                    <a:lnL>
                      <a:noFill/>
                    </a:lnL>
                    <a:lnR>
                      <a:noFill/>
                    </a:lnR>
                    <a:lnT>
                      <a:noFill/>
                    </a:lnT>
                    <a:lnB>
                      <a:noFill/>
                    </a:lnB>
                  </a:tcPr>
                </a:tc>
                <a:tc>
                  <a:txBody>
                    <a:bodyPr/>
                    <a:lstStyle/>
                    <a:p>
                      <a:r>
                        <a:rPr lang="fr-FR" sz="1400"/>
                        <a:t>Agent de suivi génère le reporting, alerte sur les dérives</a:t>
                      </a:r>
                    </a:p>
                  </a:txBody>
                  <a:tcPr anchor="ctr">
                    <a:lnL>
                      <a:noFill/>
                    </a:lnL>
                    <a:lnR>
                      <a:noFill/>
                    </a:lnR>
                    <a:lnT>
                      <a:noFill/>
                    </a:lnT>
                    <a:lnB>
                      <a:noFill/>
                    </a:lnB>
                  </a:tcPr>
                </a:tc>
                <a:extLst>
                  <a:ext uri="{0D108BD9-81ED-4DB2-BD59-A6C34878D82A}">
                    <a16:rowId xmlns:a16="http://schemas.microsoft.com/office/drawing/2014/main" val="1797408548"/>
                  </a:ext>
                </a:extLst>
              </a:tr>
              <a:tr h="0">
                <a:tc>
                  <a:txBody>
                    <a:bodyPr/>
                    <a:lstStyle/>
                    <a:p>
                      <a:r>
                        <a:rPr lang="fr-FR" sz="1400" dirty="0"/>
                        <a:t>Architecte</a:t>
                      </a:r>
                    </a:p>
                  </a:txBody>
                  <a:tcPr anchor="ctr">
                    <a:lnL>
                      <a:noFill/>
                    </a:lnL>
                    <a:lnR>
                      <a:noFill/>
                    </a:lnR>
                    <a:lnT>
                      <a:noFill/>
                    </a:lnT>
                    <a:lnB>
                      <a:noFill/>
                    </a:lnB>
                  </a:tcPr>
                </a:tc>
                <a:tc>
                  <a:txBody>
                    <a:bodyPr/>
                    <a:lstStyle/>
                    <a:p>
                      <a:r>
                        <a:rPr lang="fr-FR" sz="1400"/>
                        <a:t>Documente à posteriori</a:t>
                      </a:r>
                    </a:p>
                  </a:txBody>
                  <a:tcPr anchor="ctr">
                    <a:lnL>
                      <a:noFill/>
                    </a:lnL>
                    <a:lnR>
                      <a:noFill/>
                    </a:lnR>
                    <a:lnT>
                      <a:noFill/>
                    </a:lnT>
                    <a:lnB>
                      <a:noFill/>
                    </a:lnB>
                  </a:tcPr>
                </a:tc>
                <a:tc>
                  <a:txBody>
                    <a:bodyPr/>
                    <a:lstStyle/>
                    <a:p>
                      <a:r>
                        <a:rPr lang="fr-FR" sz="1400"/>
                        <a:t>L'architecture est générée et maintenue en continu</a:t>
                      </a:r>
                    </a:p>
                  </a:txBody>
                  <a:tcPr anchor="ctr">
                    <a:lnL>
                      <a:noFill/>
                    </a:lnL>
                    <a:lnR>
                      <a:noFill/>
                    </a:lnR>
                    <a:lnT>
                      <a:noFill/>
                    </a:lnT>
                    <a:lnB>
                      <a:noFill/>
                    </a:lnB>
                  </a:tcPr>
                </a:tc>
                <a:extLst>
                  <a:ext uri="{0D108BD9-81ED-4DB2-BD59-A6C34878D82A}">
                    <a16:rowId xmlns:a16="http://schemas.microsoft.com/office/drawing/2014/main" val="2598882334"/>
                  </a:ext>
                </a:extLst>
              </a:tr>
              <a:tr h="0">
                <a:tc>
                  <a:txBody>
                    <a:bodyPr/>
                    <a:lstStyle/>
                    <a:p>
                      <a:r>
                        <a:rPr lang="fr-FR" sz="1400"/>
                        <a:t>BA</a:t>
                      </a:r>
                    </a:p>
                  </a:txBody>
                  <a:tcPr anchor="ctr">
                    <a:lnL>
                      <a:noFill/>
                    </a:lnL>
                    <a:lnR>
                      <a:noFill/>
                    </a:lnR>
                    <a:lnT>
                      <a:noFill/>
                    </a:lnT>
                    <a:lnB>
                      <a:noFill/>
                    </a:lnB>
                  </a:tcPr>
                </a:tc>
                <a:tc>
                  <a:txBody>
                    <a:bodyPr/>
                    <a:lstStyle/>
                    <a:p>
                      <a:r>
                        <a:rPr lang="fr-FR" sz="1400" dirty="0"/>
                        <a:t>Spécifie manuellement, itère en réunion</a:t>
                      </a:r>
                    </a:p>
                  </a:txBody>
                  <a:tcPr anchor="ctr">
                    <a:lnL>
                      <a:noFill/>
                    </a:lnL>
                    <a:lnR>
                      <a:noFill/>
                    </a:lnR>
                    <a:lnT>
                      <a:noFill/>
                    </a:lnT>
                    <a:lnB>
                      <a:noFill/>
                    </a:lnB>
                  </a:tcPr>
                </a:tc>
                <a:tc>
                  <a:txBody>
                    <a:bodyPr/>
                    <a:lstStyle/>
                    <a:p>
                      <a:r>
                        <a:rPr lang="fr-FR" sz="1400"/>
                        <a:t>L'agent structure le besoin, le BA valide et enrichit</a:t>
                      </a:r>
                    </a:p>
                  </a:txBody>
                  <a:tcPr anchor="ctr">
                    <a:lnL>
                      <a:noFill/>
                    </a:lnL>
                    <a:lnR>
                      <a:noFill/>
                    </a:lnR>
                    <a:lnT>
                      <a:noFill/>
                    </a:lnT>
                    <a:lnB>
                      <a:noFill/>
                    </a:lnB>
                  </a:tcPr>
                </a:tc>
                <a:extLst>
                  <a:ext uri="{0D108BD9-81ED-4DB2-BD59-A6C34878D82A}">
                    <a16:rowId xmlns:a16="http://schemas.microsoft.com/office/drawing/2014/main" val="1456828538"/>
                  </a:ext>
                </a:extLst>
              </a:tr>
              <a:tr h="0">
                <a:tc>
                  <a:txBody>
                    <a:bodyPr/>
                    <a:lstStyle/>
                    <a:p>
                      <a:r>
                        <a:rPr lang="fr-FR" sz="1400"/>
                        <a:t>Développeur</a:t>
                      </a:r>
                    </a:p>
                  </a:txBody>
                  <a:tcPr anchor="ctr">
                    <a:lnL>
                      <a:noFill/>
                    </a:lnL>
                    <a:lnR>
                      <a:noFill/>
                    </a:lnR>
                    <a:lnT>
                      <a:noFill/>
                    </a:lnT>
                    <a:lnB>
                      <a:noFill/>
                    </a:lnB>
                  </a:tcPr>
                </a:tc>
                <a:tc>
                  <a:txBody>
                    <a:bodyPr/>
                    <a:lstStyle/>
                    <a:p>
                      <a:r>
                        <a:rPr lang="fr-FR" sz="1400"/>
                        <a:t>Code, teste, débugge en séquence</a:t>
                      </a:r>
                    </a:p>
                  </a:txBody>
                  <a:tcPr anchor="ctr">
                    <a:lnL>
                      <a:noFill/>
                    </a:lnL>
                    <a:lnR>
                      <a:noFill/>
                    </a:lnR>
                    <a:lnT>
                      <a:noFill/>
                    </a:lnT>
                    <a:lnB>
                      <a:noFill/>
                    </a:lnB>
                  </a:tcPr>
                </a:tc>
                <a:tc>
                  <a:txBody>
                    <a:bodyPr/>
                    <a:lstStyle/>
                    <a:p>
                      <a:r>
                        <a:rPr lang="fr-FR" sz="1400" dirty="0"/>
                        <a:t>L'agent génère, teste et propose les corrections</a:t>
                      </a:r>
                    </a:p>
                  </a:txBody>
                  <a:tcPr anchor="ctr">
                    <a:lnL>
                      <a:noFill/>
                    </a:lnL>
                    <a:lnR>
                      <a:noFill/>
                    </a:lnR>
                    <a:lnT>
                      <a:noFill/>
                    </a:lnT>
                    <a:lnB>
                      <a:noFill/>
                    </a:lnB>
                  </a:tcPr>
                </a:tc>
                <a:extLst>
                  <a:ext uri="{0D108BD9-81ED-4DB2-BD59-A6C34878D82A}">
                    <a16:rowId xmlns:a16="http://schemas.microsoft.com/office/drawing/2014/main" val="440071438"/>
                  </a:ext>
                </a:extLst>
              </a:tr>
            </a:tbl>
          </a:graphicData>
        </a:graphic>
      </p:graphicFrame>
      <p:sp>
        <p:nvSpPr>
          <p:cNvPr id="7" name="ZoneTexte 6">
            <a:extLst>
              <a:ext uri="{FF2B5EF4-FFF2-40B4-BE49-F238E27FC236}">
                <a16:creationId xmlns:a16="http://schemas.microsoft.com/office/drawing/2014/main" id="{CB0CC2BA-F5B4-4594-91F5-60E607E3281F}"/>
              </a:ext>
            </a:extLst>
          </p:cNvPr>
          <p:cNvSpPr txBox="1"/>
          <p:nvPr/>
        </p:nvSpPr>
        <p:spPr>
          <a:xfrm>
            <a:off x="821531" y="4606656"/>
            <a:ext cx="10515599" cy="646331"/>
          </a:xfrm>
          <a:prstGeom prst="rect">
            <a:avLst/>
          </a:prstGeom>
          <a:noFill/>
        </p:spPr>
        <p:txBody>
          <a:bodyPr wrap="square">
            <a:spAutoFit/>
          </a:bodyPr>
          <a:lstStyle/>
          <a:p>
            <a:r>
              <a:rPr lang="fr-FR" dirty="0">
                <a:latin typeface="Segoe UI" panose="020B0502040204020203" pitchFamily="34" charset="0"/>
                <a:cs typeface="Segoe UI" panose="020B0502040204020203" pitchFamily="34" charset="0"/>
              </a:rPr>
              <a:t>Le rôle de chacun ne disparaît pas — il monte en valeur. On passe de la production à la supervision, de l'exécution au jugement.</a:t>
            </a:r>
          </a:p>
        </p:txBody>
      </p:sp>
    </p:spTree>
    <p:extLst>
      <p:ext uri="{BB962C8B-B14F-4D97-AF65-F5344CB8AC3E}">
        <p14:creationId xmlns:p14="http://schemas.microsoft.com/office/powerpoint/2010/main" val="3967899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3522AF-517A-4061-AAF0-456D957DE258}"/>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D9B6DE81-37EC-4636-9F8F-B0B5A992E2D9}"/>
              </a:ext>
            </a:extLst>
          </p:cNvPr>
          <p:cNvSpPr>
            <a:spLocks noGrp="1"/>
          </p:cNvSpPr>
          <p:nvPr>
            <p:ph type="ftr" sz="quarter" idx="11"/>
          </p:nvPr>
        </p:nvSpPr>
        <p:spPr/>
        <p:txBody>
          <a:bodyPr/>
          <a:lstStyle/>
          <a:p>
            <a:r>
              <a:rPr lang="fr-FR"/>
              <a:t>&lt;Nom du document-Classification : Interne (par défaut) /Public/Confidentiel&gt; (titre modifiable via l’onglet INSERTION puis En-tête/Pied)</a:t>
            </a:r>
            <a:endParaRPr lang="fr-FR" dirty="0"/>
          </a:p>
        </p:txBody>
      </p:sp>
      <p:sp>
        <p:nvSpPr>
          <p:cNvPr id="4" name="Espace réservé du texte 3">
            <a:extLst>
              <a:ext uri="{FF2B5EF4-FFF2-40B4-BE49-F238E27FC236}">
                <a16:creationId xmlns:a16="http://schemas.microsoft.com/office/drawing/2014/main" id="{F5B2CB7E-B769-43C6-BF6E-5B44886CFD8A}"/>
              </a:ext>
            </a:extLst>
          </p:cNvPr>
          <p:cNvSpPr>
            <a:spLocks noGrp="1"/>
          </p:cNvSpPr>
          <p:nvPr>
            <p:ph type="body" sz="quarter" idx="13"/>
          </p:nvPr>
        </p:nvSpPr>
        <p:spPr/>
        <p:txBody>
          <a:bodyPr/>
          <a:lstStyle/>
          <a:p>
            <a:endParaRPr lang="fr-FR"/>
          </a:p>
        </p:txBody>
      </p:sp>
      <p:sp>
        <p:nvSpPr>
          <p:cNvPr id="5" name="Espace réservé du texte 4">
            <a:extLst>
              <a:ext uri="{FF2B5EF4-FFF2-40B4-BE49-F238E27FC236}">
                <a16:creationId xmlns:a16="http://schemas.microsoft.com/office/drawing/2014/main" id="{481C8ABE-F0AD-4696-BB97-9A940B869A14}"/>
              </a:ext>
            </a:extLst>
          </p:cNvPr>
          <p:cNvSpPr>
            <a:spLocks noGrp="1"/>
          </p:cNvSpPr>
          <p:nvPr>
            <p:ph type="body" sz="quarter" idx="14"/>
          </p:nvPr>
        </p:nvSpPr>
        <p:spPr/>
        <p:txBody>
          <a:bodyPr/>
          <a:lstStyle/>
          <a:p>
            <a:endParaRPr lang="fr-FR"/>
          </a:p>
        </p:txBody>
      </p:sp>
    </p:spTree>
    <p:extLst>
      <p:ext uri="{BB962C8B-B14F-4D97-AF65-F5344CB8AC3E}">
        <p14:creationId xmlns:p14="http://schemas.microsoft.com/office/powerpoint/2010/main" val="398633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AXE 2 — IA </a:t>
            </a:r>
            <a:r>
              <a:rPr lang="fr-FR" sz="3200" b="1" cap="small" dirty="0" err="1">
                <a:latin typeface="Segoe UI" panose="020B0502040204020203" pitchFamily="34" charset="0"/>
                <a:cs typeface="Segoe UI" panose="020B0502040204020203" pitchFamily="34" charset="0"/>
              </a:rPr>
              <a:t>Agentic</a:t>
            </a:r>
            <a:r>
              <a:rPr lang="fr-FR" sz="3200" b="1" cap="small" dirty="0">
                <a:latin typeface="Segoe UI" panose="020B0502040204020203" pitchFamily="34" charset="0"/>
                <a:cs typeface="Segoe UI" panose="020B0502040204020203" pitchFamily="34" charset="0"/>
              </a:rPr>
              <a:t> pour les clients</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Notre proposition de valeur aujourd'hui : un actif sous-exploité</a:t>
            </a:r>
            <a:endParaRPr lang="en-US" dirty="0"/>
          </a:p>
        </p:txBody>
      </p:sp>
      <p:sp>
        <p:nvSpPr>
          <p:cNvPr id="6" name="Rectangle 5">
            <a:extLst>
              <a:ext uri="{FF2B5EF4-FFF2-40B4-BE49-F238E27FC236}">
                <a16:creationId xmlns:a16="http://schemas.microsoft.com/office/drawing/2014/main" id="{D9023121-9F64-4C88-8948-F0DA72EC34DB}"/>
              </a:ext>
            </a:extLst>
          </p:cNvPr>
          <p:cNvSpPr/>
          <p:nvPr/>
        </p:nvSpPr>
        <p:spPr>
          <a:xfrm>
            <a:off x="821532" y="1807149"/>
            <a:ext cx="10209142" cy="2209266"/>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La proposition de valeur actuelle de l'OCRF repose sur deux piliers complémentaires :Des assets IA : classification, extraction, reconnaissance full-</a:t>
            </a:r>
            <a:r>
              <a:rPr kumimoji="0" lang="fr-FR" altLang="fr-FR" sz="14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text</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détection de fraude documentaire — des modèles entraînés, validés, opérationnels. Des applications de levée de doute : quand le score IA est insuffisant ou absent, des opérateurs back-office prennent le relais via des interfaces métier dédiées. C'est là que réside la vraie différenciation — la capacité à gérer l'incertitude à l'échelle industrielle.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solidFill>
                <a:schemeClr val="tx1"/>
              </a:solidFill>
              <a:latin typeface="Segoe UI" panose="020B0502040204020203" pitchFamily="34" charset="0"/>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Ce tandem IA + humain dans la boucle est un actif stratégique. Mais il est aujourd'hui cantonné aux traitements documentaires.</a:t>
            </a:r>
          </a:p>
          <a:p>
            <a:pPr marR="0" lvl="0" algn="l" defTabSz="914400" rtl="0" eaLnBrk="0" fontAlgn="base" latinLnBrk="0" hangingPunct="0">
              <a:lnSpc>
                <a:spcPct val="100000"/>
              </a:lnSpc>
              <a:spcBef>
                <a:spcPct val="0"/>
              </a:spcBef>
              <a:spcAft>
                <a:spcPct val="0"/>
              </a:spcAft>
              <a:buClrTx/>
              <a:buSzTx/>
              <a:tabLst/>
            </a:pPr>
            <a:endParaRPr lang="fr-FR" altLang="fr-FR" sz="1400" dirty="0">
              <a:solidFill>
                <a:schemeClr val="tx1"/>
              </a:solidFill>
              <a:latin typeface="Segoe UI" panose="020B0502040204020203" pitchFamily="34" charset="0"/>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Notre savoir-faire n'est pas que "faire de l'OCR". Notre savoir-faire, c'est industrialiser la levée de doute sur un traitement IA. Et ça, ça se généralise.</a:t>
            </a:r>
          </a:p>
        </p:txBody>
      </p:sp>
      <p:sp>
        <p:nvSpPr>
          <p:cNvPr id="5" name="Rectangle 4">
            <a:extLst>
              <a:ext uri="{FF2B5EF4-FFF2-40B4-BE49-F238E27FC236}">
                <a16:creationId xmlns:a16="http://schemas.microsoft.com/office/drawing/2014/main" id="{932C78E8-DFDD-448C-BA34-F67498E7F932}"/>
              </a:ext>
            </a:extLst>
          </p:cNvPr>
          <p:cNvSpPr/>
          <p:nvPr/>
        </p:nvSpPr>
        <p:spPr>
          <a:xfrm>
            <a:off x="8782139" y="5349815"/>
            <a:ext cx="2248535" cy="63928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2">
                    <a:lumMod val="10000"/>
                  </a:schemeClr>
                </a:solidFill>
                <a:latin typeface="Segoe UI" panose="020B0502040204020203" pitchFamily="34" charset="0"/>
                <a:cs typeface="Segoe UI" panose="020B0502040204020203" pitchFamily="34" charset="0"/>
              </a:rPr>
              <a:t>Schéma ?</a:t>
            </a:r>
          </a:p>
        </p:txBody>
      </p:sp>
      <p:sp>
        <p:nvSpPr>
          <p:cNvPr id="7" name="Rectangle 6">
            <a:extLst>
              <a:ext uri="{FF2B5EF4-FFF2-40B4-BE49-F238E27FC236}">
                <a16:creationId xmlns:a16="http://schemas.microsoft.com/office/drawing/2014/main" id="{B4047B42-5380-4DFA-B69D-426447975D1C}"/>
              </a:ext>
            </a:extLst>
          </p:cNvPr>
          <p:cNvSpPr/>
          <p:nvPr/>
        </p:nvSpPr>
        <p:spPr>
          <a:xfrm>
            <a:off x="6337300" y="5349814"/>
            <a:ext cx="2248535" cy="63928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2">
                    <a:lumMod val="10000"/>
                  </a:schemeClr>
                </a:solidFill>
                <a:latin typeface="Segoe UI" panose="020B0502040204020203" pitchFamily="34" charset="0"/>
                <a:cs typeface="Segoe UI" panose="020B0502040204020203" pitchFamily="34" charset="0"/>
              </a:rPr>
              <a:t>Démo ?</a:t>
            </a:r>
          </a:p>
        </p:txBody>
      </p:sp>
    </p:spTree>
    <p:extLst>
      <p:ext uri="{BB962C8B-B14F-4D97-AF65-F5344CB8AC3E}">
        <p14:creationId xmlns:p14="http://schemas.microsoft.com/office/powerpoint/2010/main" val="3722586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AXE 2 — IA </a:t>
            </a:r>
            <a:r>
              <a:rPr lang="fr-FR" sz="3200" b="1" cap="small" dirty="0" err="1">
                <a:latin typeface="Segoe UI" panose="020B0502040204020203" pitchFamily="34" charset="0"/>
                <a:cs typeface="Segoe UI" panose="020B0502040204020203" pitchFamily="34" charset="0"/>
              </a:rPr>
              <a:t>Agentic</a:t>
            </a:r>
            <a:r>
              <a:rPr lang="fr-FR" sz="3200" b="1" cap="small" dirty="0">
                <a:latin typeface="Segoe UI" panose="020B0502040204020203" pitchFamily="34" charset="0"/>
                <a:cs typeface="Segoe UI" panose="020B0502040204020203" pitchFamily="34" charset="0"/>
              </a:rPr>
              <a:t> pour les clients</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Notre proposition de valeur aujourd'hui : un actif sous-exploité</a:t>
            </a:r>
            <a:endParaRPr lang="en-US" dirty="0"/>
          </a:p>
        </p:txBody>
      </p:sp>
      <p:sp>
        <p:nvSpPr>
          <p:cNvPr id="6" name="Rectangle 5">
            <a:extLst>
              <a:ext uri="{FF2B5EF4-FFF2-40B4-BE49-F238E27FC236}">
                <a16:creationId xmlns:a16="http://schemas.microsoft.com/office/drawing/2014/main" id="{D9023121-9F64-4C88-8948-F0DA72EC34DB}"/>
              </a:ext>
            </a:extLst>
          </p:cNvPr>
          <p:cNvSpPr/>
          <p:nvPr/>
        </p:nvSpPr>
        <p:spPr>
          <a:xfrm>
            <a:off x="821532" y="1807149"/>
            <a:ext cx="10209142" cy="3486746"/>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 modèle OCRF peut s'étendre naturellement à tout cas d'usage IA qui nécessite une supervision humaine sur les cas ambigus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Exemple concret — </a:t>
            </a:r>
            <a:r>
              <a:rPr kumimoji="0" lang="fr-FR" altLang="fr-FR" sz="1400" b="1"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Scoring</a:t>
            </a:r>
            <a:r>
              <a:rPr kumimoji="0" lang="fr-FR" altLang="fr-FR" sz="1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de risque fraude :</a:t>
            </a: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Un modèle de </a:t>
            </a:r>
            <a:r>
              <a:rPr kumimoji="0" lang="fr-FR" altLang="fr-FR" sz="14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scoring</a:t>
            </a: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fraude évalue le risque d'une transaction ou d'un dossier. Pour les scores dans la zone grise (ni clairement sûr, ni clairement frauduleux), un conseiller doit lever le doute. L'OCRF dispose exactement du savoir-faire pour industrialiser ce workflow : définir les seuils de déclenchement, concevoir l'interface de décision, intégrer le feedback opérateur dans la boucle de réentraînement.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solidFill>
                <a:schemeClr val="tx1"/>
              </a:solidFill>
              <a:latin typeface="Segoe UI" panose="020B0502040204020203" pitchFamily="34" charset="0"/>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tabLst/>
            </a:pPr>
            <a:endParaRPr lang="fr-FR" altLang="fr-FR" sz="1400" dirty="0">
              <a:solidFill>
                <a:schemeClr val="tx1"/>
              </a:solidFill>
              <a:latin typeface="Segoe UI" panose="020B0502040204020203" pitchFamily="34" charset="0"/>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tabLst/>
            </a:pPr>
            <a:r>
              <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L'OCRF ne change pas de métier. Il élargit son périmètre. Le pattern "IA + opérateur dans la boucle + feedback" est le standard de supervision IA de demain </a:t>
            </a:r>
            <a:r>
              <a:rPr kumimoji="0" lang="fr-FR" altLang="fr-FR" sz="1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et on est les seuls dans la DSI à l'avoir déjà industrialisé.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solidFill>
                <a:schemeClr val="tx1"/>
              </a:solidFill>
              <a:latin typeface="Segoe UI" panose="020B0502040204020203"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14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79523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a:bodyPr>
          <a:lstStyle/>
          <a:p>
            <a:r>
              <a:rPr lang="fr-FR" sz="2000" b="1" cap="small" dirty="0"/>
              <a:t>AXE 2 — IA </a:t>
            </a:r>
            <a:r>
              <a:rPr lang="fr-FR" sz="2000" b="1" cap="small" dirty="0" err="1"/>
              <a:t>Agentic</a:t>
            </a:r>
            <a:r>
              <a:rPr lang="fr-FR" sz="2000" b="1" cap="small" dirty="0"/>
              <a:t> pour les clients</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Notre proposition de valeur aujourd'hui : un actif sous-exploité</a:t>
            </a:r>
            <a:endParaRPr lang="en-US" dirty="0"/>
          </a:p>
        </p:txBody>
      </p:sp>
      <p:graphicFrame>
        <p:nvGraphicFramePr>
          <p:cNvPr id="3" name="Tableau 2">
            <a:extLst>
              <a:ext uri="{FF2B5EF4-FFF2-40B4-BE49-F238E27FC236}">
                <a16:creationId xmlns:a16="http://schemas.microsoft.com/office/drawing/2014/main" id="{9005AD1A-EF63-4FC4-A108-3AF24B0DFD04}"/>
              </a:ext>
            </a:extLst>
          </p:cNvPr>
          <p:cNvGraphicFramePr>
            <a:graphicFrameLocks noGrp="1"/>
          </p:cNvGraphicFramePr>
          <p:nvPr>
            <p:extLst>
              <p:ext uri="{D42A27DB-BD31-4B8C-83A1-F6EECF244321}">
                <p14:modId xmlns:p14="http://schemas.microsoft.com/office/powerpoint/2010/main" val="1348023722"/>
              </p:ext>
            </p:extLst>
          </p:nvPr>
        </p:nvGraphicFramePr>
        <p:xfrm>
          <a:off x="977096" y="1489588"/>
          <a:ext cx="10515600" cy="1828800"/>
        </p:xfrm>
        <a:graphic>
          <a:graphicData uri="http://schemas.openxmlformats.org/drawingml/2006/table">
            <a:tbl>
              <a:tblPr/>
              <a:tblGrid>
                <a:gridCol w="5257800">
                  <a:extLst>
                    <a:ext uri="{9D8B030D-6E8A-4147-A177-3AD203B41FA5}">
                      <a16:colId xmlns:a16="http://schemas.microsoft.com/office/drawing/2014/main" val="1882969229"/>
                    </a:ext>
                  </a:extLst>
                </a:gridCol>
                <a:gridCol w="5257800">
                  <a:extLst>
                    <a:ext uri="{9D8B030D-6E8A-4147-A177-3AD203B41FA5}">
                      <a16:colId xmlns:a16="http://schemas.microsoft.com/office/drawing/2014/main" val="2237329481"/>
                    </a:ext>
                  </a:extLst>
                </a:gridCol>
              </a:tblGrid>
              <a:tr h="0">
                <a:tc>
                  <a:txBody>
                    <a:bodyPr/>
                    <a:lstStyle/>
                    <a:p>
                      <a:r>
                        <a:rPr lang="fr-FR" dirty="0"/>
                        <a:t>Avant</a:t>
                      </a:r>
                    </a:p>
                  </a:txBody>
                  <a:tcPr anchor="ctr">
                    <a:lnL>
                      <a:noFill/>
                    </a:lnL>
                    <a:lnR>
                      <a:noFill/>
                    </a:lnR>
                    <a:lnT>
                      <a:noFill/>
                    </a:lnT>
                    <a:lnB>
                      <a:noFill/>
                    </a:lnB>
                  </a:tcPr>
                </a:tc>
                <a:tc>
                  <a:txBody>
                    <a:bodyPr/>
                    <a:lstStyle/>
                    <a:p>
                      <a:r>
                        <a:rPr lang="fr-FR"/>
                        <a:t>Avec l'IA Agentic</a:t>
                      </a:r>
                    </a:p>
                  </a:txBody>
                  <a:tcPr anchor="ctr">
                    <a:lnL>
                      <a:noFill/>
                    </a:lnL>
                    <a:lnR>
                      <a:noFill/>
                    </a:lnR>
                    <a:lnT>
                      <a:noFill/>
                    </a:lnT>
                    <a:lnB>
                      <a:noFill/>
                    </a:lnB>
                  </a:tcPr>
                </a:tc>
                <a:extLst>
                  <a:ext uri="{0D108BD9-81ED-4DB2-BD59-A6C34878D82A}">
                    <a16:rowId xmlns:a16="http://schemas.microsoft.com/office/drawing/2014/main" val="291857871"/>
                  </a:ext>
                </a:extLst>
              </a:tr>
              <a:tr h="0">
                <a:tc>
                  <a:txBody>
                    <a:bodyPr/>
                    <a:lstStyle/>
                    <a:p>
                      <a:r>
                        <a:rPr lang="fr-FR"/>
                        <a:t>Centre de traitement documentaire</a:t>
                      </a:r>
                    </a:p>
                  </a:txBody>
                  <a:tcPr anchor="ctr">
                    <a:lnL>
                      <a:noFill/>
                    </a:lnL>
                    <a:lnR>
                      <a:noFill/>
                    </a:lnR>
                    <a:lnT>
                      <a:noFill/>
                    </a:lnT>
                    <a:lnB>
                      <a:noFill/>
                    </a:lnB>
                  </a:tcPr>
                </a:tc>
                <a:tc>
                  <a:txBody>
                    <a:bodyPr/>
                    <a:lstStyle/>
                    <a:p>
                      <a:r>
                        <a:rPr lang="fr-FR"/>
                        <a:t>Centre d'excellence en supervision IA</a:t>
                      </a:r>
                    </a:p>
                  </a:txBody>
                  <a:tcPr anchor="ctr">
                    <a:lnL>
                      <a:noFill/>
                    </a:lnL>
                    <a:lnR>
                      <a:noFill/>
                    </a:lnR>
                    <a:lnT>
                      <a:noFill/>
                    </a:lnT>
                    <a:lnB>
                      <a:noFill/>
                    </a:lnB>
                  </a:tcPr>
                </a:tc>
                <a:extLst>
                  <a:ext uri="{0D108BD9-81ED-4DB2-BD59-A6C34878D82A}">
                    <a16:rowId xmlns:a16="http://schemas.microsoft.com/office/drawing/2014/main" val="2552293421"/>
                  </a:ext>
                </a:extLst>
              </a:tr>
              <a:tr h="0">
                <a:tc>
                  <a:txBody>
                    <a:bodyPr/>
                    <a:lstStyle/>
                    <a:p>
                      <a:r>
                        <a:rPr lang="fr-FR"/>
                        <a:t>Levée de doute sur l'OCR et la classification</a:t>
                      </a:r>
                    </a:p>
                  </a:txBody>
                  <a:tcPr anchor="ctr">
                    <a:lnL>
                      <a:noFill/>
                    </a:lnL>
                    <a:lnR>
                      <a:noFill/>
                    </a:lnR>
                    <a:lnT>
                      <a:noFill/>
                    </a:lnT>
                    <a:lnB>
                      <a:noFill/>
                    </a:lnB>
                  </a:tcPr>
                </a:tc>
                <a:tc>
                  <a:txBody>
                    <a:bodyPr/>
                    <a:lstStyle/>
                    <a:p>
                      <a:r>
                        <a:rPr lang="fr-FR"/>
                        <a:t>Levée de doute sur tout traitement IA ambiguïté</a:t>
                      </a:r>
                    </a:p>
                  </a:txBody>
                  <a:tcPr anchor="ctr">
                    <a:lnL>
                      <a:noFill/>
                    </a:lnL>
                    <a:lnR>
                      <a:noFill/>
                    </a:lnR>
                    <a:lnT>
                      <a:noFill/>
                    </a:lnT>
                    <a:lnB>
                      <a:noFill/>
                    </a:lnB>
                  </a:tcPr>
                </a:tc>
                <a:extLst>
                  <a:ext uri="{0D108BD9-81ED-4DB2-BD59-A6C34878D82A}">
                    <a16:rowId xmlns:a16="http://schemas.microsoft.com/office/drawing/2014/main" val="3122567494"/>
                  </a:ext>
                </a:extLst>
              </a:tr>
              <a:tr h="0">
                <a:tc>
                  <a:txBody>
                    <a:bodyPr/>
                    <a:lstStyle/>
                    <a:p>
                      <a:r>
                        <a:rPr lang="fr-FR"/>
                        <a:t>Opérateurs spécialisés documents</a:t>
                      </a:r>
                    </a:p>
                  </a:txBody>
                  <a:tcPr anchor="ctr">
                    <a:lnL>
                      <a:noFill/>
                    </a:lnL>
                    <a:lnR>
                      <a:noFill/>
                    </a:lnR>
                    <a:lnT>
                      <a:noFill/>
                    </a:lnT>
                    <a:lnB>
                      <a:noFill/>
                    </a:lnB>
                  </a:tcPr>
                </a:tc>
                <a:tc>
                  <a:txBody>
                    <a:bodyPr/>
                    <a:lstStyle/>
                    <a:p>
                      <a:r>
                        <a:rPr lang="fr-FR"/>
                        <a:t>Opérateurs polyvalents supervision IA</a:t>
                      </a:r>
                    </a:p>
                  </a:txBody>
                  <a:tcPr anchor="ctr">
                    <a:lnL>
                      <a:noFill/>
                    </a:lnL>
                    <a:lnR>
                      <a:noFill/>
                    </a:lnR>
                    <a:lnT>
                      <a:noFill/>
                    </a:lnT>
                    <a:lnB>
                      <a:noFill/>
                    </a:lnB>
                  </a:tcPr>
                </a:tc>
                <a:extLst>
                  <a:ext uri="{0D108BD9-81ED-4DB2-BD59-A6C34878D82A}">
                    <a16:rowId xmlns:a16="http://schemas.microsoft.com/office/drawing/2014/main" val="3312179496"/>
                  </a:ext>
                </a:extLst>
              </a:tr>
              <a:tr h="0">
                <a:tc>
                  <a:txBody>
                    <a:bodyPr/>
                    <a:lstStyle/>
                    <a:p>
                      <a:r>
                        <a:rPr lang="fr-FR"/>
                        <a:t>Assets IA propriétaires (fraude doc)</a:t>
                      </a:r>
                    </a:p>
                  </a:txBody>
                  <a:tcPr anchor="ctr">
                    <a:lnL>
                      <a:noFill/>
                    </a:lnL>
                    <a:lnR>
                      <a:noFill/>
                    </a:lnR>
                    <a:lnT>
                      <a:noFill/>
                    </a:lnT>
                    <a:lnB>
                      <a:noFill/>
                    </a:lnB>
                  </a:tcPr>
                </a:tc>
                <a:tc>
                  <a:txBody>
                    <a:bodyPr/>
                    <a:lstStyle/>
                    <a:p>
                      <a:r>
                        <a:rPr lang="fr-FR" dirty="0"/>
                        <a:t>Plateforme de supervision multi-modèles</a:t>
                      </a:r>
                    </a:p>
                  </a:txBody>
                  <a:tcPr anchor="ctr">
                    <a:lnL>
                      <a:noFill/>
                    </a:lnL>
                    <a:lnR>
                      <a:noFill/>
                    </a:lnR>
                    <a:lnT>
                      <a:noFill/>
                    </a:lnT>
                    <a:lnB>
                      <a:noFill/>
                    </a:lnB>
                  </a:tcPr>
                </a:tc>
                <a:extLst>
                  <a:ext uri="{0D108BD9-81ED-4DB2-BD59-A6C34878D82A}">
                    <a16:rowId xmlns:a16="http://schemas.microsoft.com/office/drawing/2014/main" val="843639924"/>
                  </a:ext>
                </a:extLst>
              </a:tr>
            </a:tbl>
          </a:graphicData>
        </a:graphic>
      </p:graphicFrame>
      <p:sp>
        <p:nvSpPr>
          <p:cNvPr id="4" name="Rectangle 1">
            <a:extLst>
              <a:ext uri="{FF2B5EF4-FFF2-40B4-BE49-F238E27FC236}">
                <a16:creationId xmlns:a16="http://schemas.microsoft.com/office/drawing/2014/main" id="{2EFCC553-757E-4368-9ABA-F36CD28E9566}"/>
              </a:ext>
            </a:extLst>
          </p:cNvPr>
          <p:cNvSpPr>
            <a:spLocks noChangeArrowheads="1"/>
          </p:cNvSpPr>
          <p:nvPr/>
        </p:nvSpPr>
        <p:spPr bwMode="auto">
          <a:xfrm>
            <a:off x="821531" y="3704504"/>
            <a:ext cx="1067116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Ambition :</a:t>
            </a:r>
            <a:endParaRPr kumimoji="0" lang="fr-FR" altLang="fr-FR" sz="18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Devenir le partenaire naturel de tout projet IA dans le groupe qui nécessite une boucle humaine dans la validation — et capitaliser sur notre infrastructure, notre expérience métier et nos outils pour l'industrialiser rapidement.</a:t>
            </a:r>
          </a:p>
        </p:txBody>
      </p:sp>
      <p:sp>
        <p:nvSpPr>
          <p:cNvPr id="8" name="ZoneTexte 7">
            <a:extLst>
              <a:ext uri="{FF2B5EF4-FFF2-40B4-BE49-F238E27FC236}">
                <a16:creationId xmlns:a16="http://schemas.microsoft.com/office/drawing/2014/main" id="{40551A5D-8F86-44BF-8B17-0921F9D39039}"/>
              </a:ext>
            </a:extLst>
          </p:cNvPr>
          <p:cNvSpPr txBox="1"/>
          <p:nvPr/>
        </p:nvSpPr>
        <p:spPr>
          <a:xfrm>
            <a:off x="751880" y="5342767"/>
            <a:ext cx="10671165" cy="646331"/>
          </a:xfrm>
          <a:prstGeom prst="rect">
            <a:avLst/>
          </a:prstGeom>
          <a:noFill/>
        </p:spPr>
        <p:txBody>
          <a:bodyPr wrap="square">
            <a:spAutoFit/>
          </a:bodyPr>
          <a:lstStyle/>
          <a:p>
            <a:r>
              <a:rPr lang="fr-FR" dirty="0">
                <a:latin typeface="Segoe UI" panose="020B0502040204020203" pitchFamily="34" charset="0"/>
                <a:cs typeface="Segoe UI" panose="020B0502040204020203" pitchFamily="34" charset="0"/>
              </a:rPr>
              <a:t>L'IA </a:t>
            </a:r>
            <a:r>
              <a:rPr lang="fr-FR" dirty="0" err="1">
                <a:latin typeface="Segoe UI" panose="020B0502040204020203" pitchFamily="34" charset="0"/>
                <a:cs typeface="Segoe UI" panose="020B0502040204020203" pitchFamily="34" charset="0"/>
              </a:rPr>
              <a:t>Agentic</a:t>
            </a:r>
            <a:r>
              <a:rPr lang="fr-FR" dirty="0">
                <a:latin typeface="Segoe UI" panose="020B0502040204020203" pitchFamily="34" charset="0"/>
                <a:cs typeface="Segoe UI" panose="020B0502040204020203" pitchFamily="34" charset="0"/>
              </a:rPr>
              <a:t> est notre chance de passer de prestataire de services documentaires à opérateur de confiance de l'IA dans le groupe.</a:t>
            </a:r>
          </a:p>
        </p:txBody>
      </p:sp>
    </p:spTree>
    <p:extLst>
      <p:ext uri="{BB962C8B-B14F-4D97-AF65-F5344CB8AC3E}">
        <p14:creationId xmlns:p14="http://schemas.microsoft.com/office/powerpoint/2010/main" val="487203937"/>
      </p:ext>
    </p:extLst>
  </p:cSld>
  <p:clrMapOvr>
    <a:masterClrMapping/>
  </p:clrMapOvr>
</p:sld>
</file>

<file path=ppt/theme/theme1.xml><?xml version="1.0" encoding="utf-8"?>
<a:theme xmlns:a="http://schemas.openxmlformats.org/drawingml/2006/main" name="1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support_formation.pptx" id="{FC8938AE-3DEC-44F8-93B0-AA7B42287810}" vid="{67FF885F-2E36-427C-A700-E19870749266}"/>
    </a:ext>
  </a:extLst>
</a:theme>
</file>

<file path=ppt/theme/theme2.xml><?xml version="1.0" encoding="utf-8"?>
<a:theme xmlns:a="http://schemas.openxmlformats.org/drawingml/2006/main" name="Thème1">
  <a:themeElements>
    <a:clrScheme name="Custom 3">
      <a:dk1>
        <a:srgbClr val="000000"/>
      </a:dk1>
      <a:lt1>
        <a:srgbClr val="FFFFFF"/>
      </a:lt1>
      <a:dk2>
        <a:srgbClr val="44546A"/>
      </a:dk2>
      <a:lt2>
        <a:srgbClr val="E7E6E6"/>
      </a:lt2>
      <a:accent1>
        <a:srgbClr val="0E4194"/>
      </a:accent1>
      <a:accent2>
        <a:srgbClr val="E40613"/>
      </a:accent2>
      <a:accent3>
        <a:srgbClr val="A5A5A5"/>
      </a:accent3>
      <a:accent4>
        <a:srgbClr val="007B81"/>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marL="171450" indent="-171450" algn="l">
          <a:buFont typeface="Arial" panose="020B0604020202020204" pitchFamily="34" charset="0"/>
          <a:buChar char="•"/>
          <a:defRPr sz="12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Quantum_Business Case_Approach &amp; Timeline V.3.1" id="{5EECDFF5-D0BA-C945-BD95-8BA53C6B4E52}" vid="{789D138D-4F33-B548-9A05-51F0AC8B2FB7}"/>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PJQFUVHKSAJQ-1373287592-264195</_dlc_DocId>
    <_dlc_DocIdUrl xmlns="9da6f561-6c40-462f-af3e-6833fe74929f">
      <Url>https://moss-si.cm-cic.fr/Sites/D00116/Documentation/_layouts/15/DocIdRedir.aspx?ID=PJQFUVHKSAJQ-1373287592-264195</Url>
      <Description>PJQFUVHKSAJQ-1373287592-264195</Description>
    </_dlc_DocIdUrl>
  </documentManagement>
</p:properties>
</file>

<file path=customXml/itemProps1.xml><?xml version="1.0" encoding="utf-8"?>
<ds:datastoreItem xmlns:ds="http://schemas.openxmlformats.org/officeDocument/2006/customXml" ds:itemID="{8ADBD462-6937-403A-AAB3-D84BA26E5F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C20321C-A03F-4F49-A9C2-F14EF749603B}">
  <ds:schemaRefs>
    <ds:schemaRef ds:uri="http://schemas.microsoft.com/sharepoint/v3/contenttype/forms"/>
  </ds:schemaRefs>
</ds:datastoreItem>
</file>

<file path=customXml/itemProps3.xml><?xml version="1.0" encoding="utf-8"?>
<ds:datastoreItem xmlns:ds="http://schemas.openxmlformats.org/officeDocument/2006/customXml" ds:itemID="{00FD0BBD-EDEB-4CD6-9CC8-875E3D02A543}">
  <ds:schemaRefs>
    <ds:schemaRef ds:uri="http://schemas.microsoft.com/sharepoint/events"/>
  </ds:schemaRefs>
</ds:datastoreItem>
</file>

<file path=customXml/itemProps4.xml><?xml version="1.0" encoding="utf-8"?>
<ds:datastoreItem xmlns:ds="http://schemas.openxmlformats.org/officeDocument/2006/customXml" ds:itemID="{20075BA0-91C9-459B-92C2-AA1AE2F039CC}">
  <ds:schemaRefs>
    <ds:schemaRef ds:uri="http://schemas.microsoft.com/office/2006/metadata/properties"/>
    <ds:schemaRef ds:uri="http://purl.org/dc/elements/1.1/"/>
    <ds:schemaRef ds:uri="http://schemas.microsoft.com/office/2006/documentManagement/types"/>
    <ds:schemaRef ds:uri="99cee9d7-070e-44dd-ab97-3503062ab504"/>
    <ds:schemaRef ds:uri="8ff6ca53-9990-4cf6-aa9b-81190a5c5371"/>
    <ds:schemaRef ds:uri="http://schemas.microsoft.com/sharepoint/v3"/>
    <ds:schemaRef ds:uri="http://schemas.microsoft.com/office/infopath/2007/PartnerControls"/>
    <ds:schemaRef ds:uri="http://schemas.openxmlformats.org/package/2006/metadata/core-properties"/>
    <ds:schemaRef ds:uri="http://purl.org/dc/dcmitype/"/>
    <ds:schemaRef ds:uri="http://schemas.microsoft.com/sharepoint/v4"/>
    <ds:schemaRef ds:uri="9da6f561-6c40-462f-af3e-6833fe74929f"/>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14106</TotalTime>
  <Words>1482</Words>
  <Application>Microsoft Office PowerPoint</Application>
  <PresentationFormat>Grand écran</PresentationFormat>
  <Paragraphs>111</Paragraphs>
  <Slides>9</Slides>
  <Notes>7</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9</vt:i4>
      </vt:variant>
    </vt:vector>
  </HeadingPairs>
  <TitlesOfParts>
    <vt:vector size="18" baseType="lpstr">
      <vt:lpstr>Arial</vt:lpstr>
      <vt:lpstr>Calibri</vt:lpstr>
      <vt:lpstr>Segoe UI</vt:lpstr>
      <vt:lpstr>Segoe UI Light</vt:lpstr>
      <vt:lpstr>Swis721 BT Roman</vt:lpstr>
      <vt:lpstr>Swis721 Lt BT</vt:lpstr>
      <vt:lpstr>Wingdings 3</vt:lpstr>
      <vt:lpstr>1_Thème Office</vt:lpstr>
      <vt:lpstr>Thème1</vt:lpstr>
      <vt:lpstr>[Séminaire OCRF 2026]  OCRF 4.0 — L'IA comme levier stratégique de transformation</vt:lpstr>
      <vt:lpstr>L’IA Agentique : un virage stratégique</vt:lpstr>
      <vt:lpstr>AXE 1 — L’IA Agentique pour les collaborateurs de l'OCRF</vt:lpstr>
      <vt:lpstr>AXE 1 — L’IA Agentique pour les collaborateurs de l'OCRF</vt:lpstr>
      <vt:lpstr>AXE 1 — De la productivité à la transformation</vt:lpstr>
      <vt:lpstr>Présentation PowerPoint</vt:lpstr>
      <vt:lpstr>AXE 2 — IA Agentic pour les clients</vt:lpstr>
      <vt:lpstr>AXE 2 — IA Agentic pour les clients</vt:lpstr>
      <vt:lpstr>AXE 2 — IA Agentic pour les clients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de Confiance (IAC)</dc:title>
  <dc:creator>BELIN Valentin (PRESTA EXT)</dc:creator>
  <cp:lastModifiedBy>ISSOULGHANE Morad (PRESTA EXT)</cp:lastModifiedBy>
  <cp:revision>283</cp:revision>
  <dcterms:created xsi:type="dcterms:W3CDTF">2025-10-06T09:05:57Z</dcterms:created>
  <dcterms:modified xsi:type="dcterms:W3CDTF">2026-05-20T15:34:12Z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ROBIN">
    <vt:lpwstr/>
  </property>
  <property fmtid="{D5CDD505-2E9C-101B-9397-08002B2CF9AE}" pid="5" name="Nature du document">
    <vt:lpwstr>1;#Document|f926a2be-6740-4577-ba49-e4b230c74a1c</vt:lpwstr>
  </property>
  <property fmtid="{D5CDD505-2E9C-101B-9397-08002B2CF9AE}" pid="6" name="Classification">
    <vt:lpwstr>2;#10 - Interne|88571201-3d77-41d7-bf2a-abb247897d97</vt:lpwstr>
  </property>
  <property fmtid="{D5CDD505-2E9C-101B-9397-08002B2CF9AE}" pid="7" name="_dlc_DocIdItemGuid">
    <vt:lpwstr>b4689213-5034-4e88-afd9-6251ba529d6d</vt:lpwstr>
  </property>
</Properties>
</file>