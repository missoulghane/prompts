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76" r:id="rId6"/>
  </p:sldMasterIdLst>
  <p:notesMasterIdLst>
    <p:notesMasterId r:id="rId16"/>
  </p:notesMasterIdLst>
  <p:sldIdLst>
    <p:sldId id="276" r:id="rId7"/>
    <p:sldId id="287" r:id="rId8"/>
    <p:sldId id="291" r:id="rId9"/>
    <p:sldId id="289" r:id="rId10"/>
    <p:sldId id="290" r:id="rId11"/>
    <p:sldId id="292" r:id="rId12"/>
    <p:sldId id="280" r:id="rId13"/>
    <p:sldId id="295" r:id="rId14"/>
    <p:sldId id="293"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F68DCDE7-8DE5-4817-BDE0-19994DBFD137}">
          <p14:sldIdLst>
            <p14:sldId id="276"/>
            <p14:sldId id="287"/>
            <p14:sldId id="291"/>
            <p14:sldId id="289"/>
            <p14:sldId id="290"/>
            <p14:sldId id="292"/>
            <p14:sldId id="280"/>
            <p14:sldId id="295"/>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A8D"/>
    <a:srgbClr val="8F9CB6"/>
    <a:srgbClr val="B8C0D1"/>
    <a:srgbClr val="BF9000"/>
    <a:srgbClr val="C55A11"/>
    <a:srgbClr val="7F7F7F"/>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31" autoAdjust="0"/>
    <p:restoredTop sz="93826" autoAdjust="0"/>
  </p:normalViewPr>
  <p:slideViewPr>
    <p:cSldViewPr snapToGrid="0">
      <p:cViewPr>
        <p:scale>
          <a:sx n="100" d="100"/>
          <a:sy n="100" d="100"/>
        </p:scale>
        <p:origin x="11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100DA-EF6E-43A6-BE42-0328AC92E799}" type="datetimeFigureOut">
              <a:rPr lang="fr-FR" smtClean="0"/>
              <a:t>02/09/2026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E3A16-A2CC-405A-BF79-D9EF9861C593}" type="slidenum">
              <a:rPr lang="fr-FR" smtClean="0"/>
              <a:t>‹N°›</a:t>
            </a:fld>
            <a:endParaRPr lang="fr-FR"/>
          </a:p>
        </p:txBody>
      </p:sp>
    </p:spTree>
    <p:extLst>
      <p:ext uri="{BB962C8B-B14F-4D97-AF65-F5344CB8AC3E}">
        <p14:creationId xmlns:p14="http://schemas.microsoft.com/office/powerpoint/2010/main" val="3472101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1</a:t>
            </a:fld>
            <a:endParaRPr lang="fr-FR"/>
          </a:p>
        </p:txBody>
      </p:sp>
    </p:spTree>
    <p:extLst>
      <p:ext uri="{BB962C8B-B14F-4D97-AF65-F5344CB8AC3E}">
        <p14:creationId xmlns:p14="http://schemas.microsoft.com/office/powerpoint/2010/main" val="3091968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28600" indent="-228600" rtl="0">
              <a:buAutoNum type="arabicPeriod"/>
            </a:pPr>
            <a:r>
              <a:rPr lang="fr-FR" b="1" dirty="0"/>
              <a:t>Couche Objectifs / Métier</a:t>
            </a:r>
            <a:r>
              <a:rPr lang="fr-FR" dirty="0"/>
              <a:t> — </a:t>
            </a:r>
            <a:r>
              <a:rPr lang="fr-FR" i="1" dirty="0"/>
              <a:t>« Pourquoi on fait ça ? »</a:t>
            </a:r>
            <a:br>
              <a:rPr lang="fr-FR" dirty="0"/>
            </a:br>
            <a:r>
              <a:rPr lang="fr-FR" dirty="0"/>
              <a:t>Elle décrit les objectifs stratégiques, les processus métier et les acteurs. C'est la couche qui permet de dire non : sans elle, tout projet est justifiable et le portefeuille se remplit d'initiatives orphelines. </a:t>
            </a:r>
          </a:p>
          <a:p>
            <a:pPr marL="228600" indent="-228600" rtl="0">
              <a:buAutoNum type="arabicPeriod"/>
            </a:pPr>
            <a:endParaRPr lang="fr-FR" b="1" dirty="0"/>
          </a:p>
          <a:p>
            <a:pPr marL="0" indent="0" rtl="0">
              <a:buNone/>
            </a:pPr>
            <a:r>
              <a:rPr lang="fr-FR" b="1" dirty="0"/>
              <a:t>2. Couche Fonctionnelle</a:t>
            </a:r>
            <a:r>
              <a:rPr lang="fr-FR" dirty="0"/>
              <a:t> — </a:t>
            </a:r>
            <a:r>
              <a:rPr lang="fr-FR" i="1" dirty="0"/>
              <a:t>« Quelles capacités doit-on couvrir ? »</a:t>
            </a:r>
            <a:br>
              <a:rPr lang="fr-FR" dirty="0"/>
            </a:br>
            <a:r>
              <a:rPr lang="fr-FR" dirty="0"/>
              <a:t>Elle découpe le SI en blocs fonctionnels indépendants des outils (ex. « Outils OCR», « Outils d’acquisition de document», « Traitement de la Fraude »). C'est ici que se voient les </a:t>
            </a:r>
            <a:r>
              <a:rPr lang="fr-FR" b="1" dirty="0"/>
              <a:t>doublons</a:t>
            </a:r>
            <a:r>
              <a:rPr lang="fr-FR" dirty="0"/>
              <a:t> : deux applications qui portent la même fonction (Exemple : Annotation de document). Cette couche est aussi la seule qui reste stable dans le temps — les applications changent, les fonctions du métier beaucoup moins. C'est donc la cible de référence pour piloter la trajectoire.</a:t>
            </a:r>
          </a:p>
          <a:p>
            <a:pPr marL="0" indent="0" rtl="0">
              <a:buNone/>
            </a:pPr>
            <a:endParaRPr lang="fr-FR" dirty="0"/>
          </a:p>
          <a:p>
            <a:pPr rtl="0"/>
            <a:r>
              <a:rPr lang="fr-FR" b="1" dirty="0"/>
              <a:t>3. Couche Applicative &amp; Données</a:t>
            </a:r>
            <a:r>
              <a:rPr lang="fr-FR" dirty="0"/>
              <a:t> — </a:t>
            </a:r>
            <a:r>
              <a:rPr lang="fr-FR" i="1" dirty="0"/>
              <a:t>« Avec quoi le fait-on, et qui détient la donnée ? »</a:t>
            </a:r>
            <a:br>
              <a:rPr lang="fr-FR" dirty="0"/>
            </a:br>
            <a:r>
              <a:rPr lang="fr-FR" dirty="0"/>
              <a:t>Elle cartographie les applications, leurs flux et le référentiel des données (qui est producteur, qui est consommateur, quelle est la donnée d'or). C'est la couche du </a:t>
            </a:r>
            <a:r>
              <a:rPr lang="fr-FR" b="1" dirty="0"/>
              <a:t>coût réel</a:t>
            </a:r>
            <a:r>
              <a:rPr lang="fr-FR" dirty="0"/>
              <a:t> : décommissionnement, réduction des interfaces point-à-point. C'est aussi elle qui donne la capacité d'</a:t>
            </a:r>
            <a:r>
              <a:rPr lang="fr-FR" b="1" dirty="0"/>
              <a:t>analyse d'impact</a:t>
            </a:r>
            <a:r>
              <a:rPr lang="fr-FR" dirty="0"/>
              <a:t>. </a:t>
            </a:r>
          </a:p>
          <a:p>
            <a:pPr rtl="0"/>
            <a:endParaRPr lang="fr-FR" b="1" dirty="0"/>
          </a:p>
          <a:p>
            <a:pPr rtl="0"/>
            <a:r>
              <a:rPr lang="fr-FR" b="1" dirty="0"/>
              <a:t>4. Couche Technique</a:t>
            </a:r>
            <a:r>
              <a:rPr lang="fr-FR" dirty="0"/>
              <a:t> — </a:t>
            </a:r>
            <a:r>
              <a:rPr lang="fr-FR" i="1" dirty="0"/>
              <a:t>« Sur quoi ça tourne ? »</a:t>
            </a:r>
            <a:br>
              <a:rPr lang="fr-FR" dirty="0"/>
            </a:br>
            <a:r>
              <a:rPr lang="fr-FR" dirty="0"/>
              <a:t>Infrastructures, socles, middlewares, hébergement. Elle porte les enjeux d'obsolescence, de dette, de sécurité et de résilience. Découplée des trois autres, elle permet de moderniser le socle sans réécrire le métier — et inversement, de faire évoluer le métier sans être bloqué par le socle.</a:t>
            </a:r>
          </a:p>
          <a:p>
            <a:pPr marL="0" indent="0">
              <a:lnSpc>
                <a:spcPct val="110000"/>
              </a:lnSpc>
              <a:buNone/>
            </a:pPr>
            <a:endParaRPr lang="en-US" sz="1200" i="1" dirty="0">
              <a:solidFill>
                <a:srgbClr val="1B2433"/>
              </a:solidFill>
              <a:latin typeface="Calibri" pitchFamily="34" charset="0"/>
              <a:ea typeface="Calibri" pitchFamily="34" charset="-122"/>
              <a:cs typeface="Calibri" pitchFamily="34" charset="-120"/>
            </a:endParaRP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3</a:t>
            </a:fld>
            <a:endParaRPr lang="fr-FR"/>
          </a:p>
        </p:txBody>
      </p:sp>
    </p:spTree>
    <p:extLst>
      <p:ext uri="{BB962C8B-B14F-4D97-AF65-F5344CB8AC3E}">
        <p14:creationId xmlns:p14="http://schemas.microsoft.com/office/powerpoint/2010/main" val="3251751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lnSpc>
                <a:spcPct val="110000"/>
              </a:lnSpc>
              <a:buNone/>
            </a:pPr>
            <a:endParaRPr lang="en-US" sz="1200" i="1" dirty="0">
              <a:solidFill>
                <a:srgbClr val="1B2433"/>
              </a:solidFill>
              <a:latin typeface="Calibri" pitchFamily="34" charset="0"/>
              <a:ea typeface="Calibri" pitchFamily="34" charset="-122"/>
              <a:cs typeface="Calibri" pitchFamily="34" charset="-120"/>
            </a:endParaRP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4</a:t>
            </a:fld>
            <a:endParaRPr lang="fr-FR"/>
          </a:p>
        </p:txBody>
      </p:sp>
    </p:spTree>
    <p:extLst>
      <p:ext uri="{BB962C8B-B14F-4D97-AF65-F5344CB8AC3E}">
        <p14:creationId xmlns:p14="http://schemas.microsoft.com/office/powerpoint/2010/main" val="1103916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lnSpc>
                <a:spcPct val="110000"/>
              </a:lnSpc>
              <a:buNone/>
            </a:pPr>
            <a:endParaRPr lang="en-US" sz="1200" i="1" dirty="0">
              <a:solidFill>
                <a:srgbClr val="1B2433"/>
              </a:solidFill>
              <a:latin typeface="Calibri" pitchFamily="34" charset="0"/>
              <a:ea typeface="Calibri" pitchFamily="34" charset="-122"/>
              <a:cs typeface="Calibri" pitchFamily="34" charset="-120"/>
            </a:endParaRP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5</a:t>
            </a:fld>
            <a:endParaRPr lang="fr-FR"/>
          </a:p>
        </p:txBody>
      </p:sp>
    </p:spTree>
    <p:extLst>
      <p:ext uri="{BB962C8B-B14F-4D97-AF65-F5344CB8AC3E}">
        <p14:creationId xmlns:p14="http://schemas.microsoft.com/office/powerpoint/2010/main" val="4129009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lnSpc>
                <a:spcPct val="110000"/>
              </a:lnSpc>
              <a:buNone/>
            </a:pPr>
            <a:endParaRPr lang="en-US" sz="1200" i="1" dirty="0">
              <a:solidFill>
                <a:srgbClr val="1B2433"/>
              </a:solidFill>
              <a:latin typeface="Calibri" pitchFamily="34" charset="0"/>
              <a:ea typeface="Calibri" pitchFamily="34" charset="-122"/>
              <a:cs typeface="Calibri" pitchFamily="34" charset="-120"/>
            </a:endParaRP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6</a:t>
            </a:fld>
            <a:endParaRPr lang="fr-FR"/>
          </a:p>
        </p:txBody>
      </p:sp>
    </p:spTree>
    <p:extLst>
      <p:ext uri="{BB962C8B-B14F-4D97-AF65-F5344CB8AC3E}">
        <p14:creationId xmlns:p14="http://schemas.microsoft.com/office/powerpoint/2010/main" val="2626605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lnSpc>
                <a:spcPct val="110000"/>
              </a:lnSpc>
              <a:buNone/>
            </a:pPr>
            <a:endParaRPr lang="en-US" sz="1200" i="1" dirty="0">
              <a:solidFill>
                <a:srgbClr val="1B2433"/>
              </a:solidFill>
              <a:latin typeface="Calibri" pitchFamily="34" charset="0"/>
              <a:ea typeface="Calibri" pitchFamily="34" charset="-122"/>
              <a:cs typeface="Calibri" pitchFamily="34" charset="-120"/>
            </a:endParaRP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8</a:t>
            </a:fld>
            <a:endParaRPr lang="fr-FR"/>
          </a:p>
        </p:txBody>
      </p:sp>
    </p:spTree>
    <p:extLst>
      <p:ext uri="{BB962C8B-B14F-4D97-AF65-F5344CB8AC3E}">
        <p14:creationId xmlns:p14="http://schemas.microsoft.com/office/powerpoint/2010/main" val="3100826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dirty="0"/>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endParaRPr lang="en-US" dirty="0"/>
          </a:p>
        </p:txBody>
      </p:sp>
      <p:sp>
        <p:nvSpPr>
          <p:cNvPr id="9" name="Rectangle 13"/>
          <p:cNvSpPr/>
          <p:nvPr userDrawn="1"/>
        </p:nvSpPr>
        <p:spPr>
          <a:xfrm>
            <a:off x="4880008" y="3858688"/>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8" y="5805724"/>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10" y="6307275"/>
            <a:ext cx="531475" cy="274695"/>
          </a:xfrm>
          <a:prstGeom prst="rect">
            <a:avLst/>
          </a:prstGeom>
        </p:spPr>
      </p:pic>
    </p:spTree>
    <p:extLst>
      <p:ext uri="{BB962C8B-B14F-4D97-AF65-F5344CB8AC3E}">
        <p14:creationId xmlns:p14="http://schemas.microsoft.com/office/powerpoint/2010/main" val="3523622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2"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6"/>
            <a:ext cx="1103153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43365310"/>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IP)">
    <p:bg>
      <p:bgPr>
        <a:solidFill>
          <a:srgbClr val="003A8D"/>
        </a:solidFill>
        <a:effectLst/>
      </p:bgPr>
    </p:bg>
    <p:spTree>
      <p:nvGrpSpPr>
        <p:cNvPr id="1" name=""/>
        <p:cNvGrpSpPr/>
        <p:nvPr/>
      </p:nvGrpSpPr>
      <p:grpSpPr>
        <a:xfrm>
          <a:off x="0" y="0"/>
          <a:ext cx="0" cy="0"/>
          <a:chOff x="0" y="0"/>
          <a:chExt cx="0" cy="0"/>
        </a:xfrm>
      </p:grpSpPr>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2"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1" y="1480876"/>
            <a:ext cx="1103153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4"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5"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00463036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2" name="Espace réservé du texte 3"/>
          <p:cNvSpPr>
            <a:spLocks noGrp="1"/>
          </p:cNvSpPr>
          <p:nvPr>
            <p:ph type="body" sz="quarter" idx="15"/>
          </p:nvPr>
        </p:nvSpPr>
        <p:spPr>
          <a:xfrm>
            <a:off x="6477001"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2119570270"/>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2 colonnes (PIP)">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6" name="Espace réservé du texte 5"/>
          <p:cNvSpPr>
            <a:spLocks noGrp="1"/>
          </p:cNvSpPr>
          <p:nvPr>
            <p:ph type="body" sz="quarter" idx="15"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0" name="Espace réservé du texte 3"/>
          <p:cNvSpPr>
            <a:spLocks noGrp="1"/>
          </p:cNvSpPr>
          <p:nvPr>
            <p:ph type="body" sz="quarter" idx="13"/>
          </p:nvPr>
        </p:nvSpPr>
        <p:spPr>
          <a:xfrm>
            <a:off x="821532"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3" name="Espace réservé du texte 3"/>
          <p:cNvSpPr>
            <a:spLocks noGrp="1"/>
          </p:cNvSpPr>
          <p:nvPr>
            <p:ph type="body" sz="quarter" idx="16"/>
          </p:nvPr>
        </p:nvSpPr>
        <p:spPr>
          <a:xfrm>
            <a:off x="6477001"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4108027272"/>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3" y="1239417"/>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6" name="Espace réservé du texte 5"/>
          <p:cNvSpPr>
            <a:spLocks noGrp="1"/>
          </p:cNvSpPr>
          <p:nvPr>
            <p:ph type="body" sz="quarter" idx="18"/>
          </p:nvPr>
        </p:nvSpPr>
        <p:spPr>
          <a:xfrm>
            <a:off x="911228" y="3515521"/>
            <a:ext cx="10933641" cy="2688431"/>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814422790"/>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IP)">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3" y="1239417"/>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6" name="Espace réservé du texte 5"/>
          <p:cNvSpPr>
            <a:spLocks noGrp="1"/>
          </p:cNvSpPr>
          <p:nvPr>
            <p:ph type="body" sz="quarter" idx="18"/>
          </p:nvPr>
        </p:nvSpPr>
        <p:spPr>
          <a:xfrm>
            <a:off x="911225" y="3515521"/>
            <a:ext cx="10941844" cy="2688431"/>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357452392"/>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8"/>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23"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a:solidFill>
                  <a:prstClr val="white">
                    <a:lumMod val="50000"/>
                  </a:prstClr>
                </a:solidFill>
              </a:rPr>
              <a:pPr/>
              <a:t>‹N°›</a:t>
            </a:fld>
            <a:endParaRPr>
              <a:solidFill>
                <a:prstClr val="white">
                  <a:lumMod val="50000"/>
                </a:prstClr>
              </a:solidFill>
            </a:endParaRPr>
          </a:p>
        </p:txBody>
      </p:sp>
      <p:sp>
        <p:nvSpPr>
          <p:cNvPr id="24" name="Espace réservé du pied de page 4"/>
          <p:cNvSpPr>
            <a:spLocks noGrp="1"/>
          </p:cNvSpPr>
          <p:nvPr>
            <p:ph type="ftr" sz="quarter" idx="11"/>
          </p:nvPr>
        </p:nvSpPr>
        <p:spPr>
          <a:xfrm>
            <a:off x="4648201"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2" name="Espace réservé du texte 3"/>
          <p:cNvSpPr>
            <a:spLocks noGrp="1"/>
          </p:cNvSpPr>
          <p:nvPr>
            <p:ph type="body" sz="quarter" idx="13"/>
          </p:nvPr>
        </p:nvSpPr>
        <p:spPr>
          <a:xfrm>
            <a:off x="4648201" y="1559428"/>
            <a:ext cx="7196667" cy="4446407"/>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Tree>
    <p:extLst>
      <p:ext uri="{BB962C8B-B14F-4D97-AF65-F5344CB8AC3E}">
        <p14:creationId xmlns:p14="http://schemas.microsoft.com/office/powerpoint/2010/main" val="744012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PIP)">
    <p:bg>
      <p:bgPr>
        <a:solidFill>
          <a:srgbClr val="003A8D"/>
        </a:solidFill>
        <a:effectLst/>
      </p:bgPr>
    </p:bg>
    <p:spTree>
      <p:nvGrpSpPr>
        <p:cNvPr id="1" name=""/>
        <p:cNvGrpSpPr/>
        <p:nvPr/>
      </p:nvGrpSpPr>
      <p:grpSpPr>
        <a:xfrm>
          <a:off x="0" y="0"/>
          <a:ext cx="0" cy="0"/>
          <a:chOff x="0" y="0"/>
          <a:chExt cx="0" cy="0"/>
        </a:xfrm>
      </p:grpSpPr>
      <p:grpSp>
        <p:nvGrpSpPr>
          <p:cNvPr id="35" name="Groupe 34"/>
          <p:cNvGrpSpPr/>
          <p:nvPr userDrawn="1"/>
        </p:nvGrpSpPr>
        <p:grpSpPr>
          <a:xfrm>
            <a:off x="62153" y="6153414"/>
            <a:ext cx="630000" cy="630000"/>
            <a:chOff x="11254317" y="5942649"/>
            <a:chExt cx="630000" cy="630000"/>
          </a:xfrm>
        </p:grpSpPr>
        <p:sp>
          <p:nvSpPr>
            <p:cNvPr id="36"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37" name="Image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0" y="111128"/>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55"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a:solidFill>
                  <a:prstClr val="white">
                    <a:lumMod val="50000"/>
                  </a:prstClr>
                </a:solidFill>
              </a:rPr>
              <a:pPr/>
              <a:t>‹N°›</a:t>
            </a:fld>
            <a:endParaRPr>
              <a:solidFill>
                <a:prstClr val="white">
                  <a:lumMod val="50000"/>
                </a:prstClr>
              </a:solidFill>
            </a:endParaRPr>
          </a:p>
        </p:txBody>
      </p:sp>
      <p:sp>
        <p:nvSpPr>
          <p:cNvPr id="56" name="Espace réservé du pied de page 4"/>
          <p:cNvSpPr>
            <a:spLocks noGrp="1"/>
          </p:cNvSpPr>
          <p:nvPr>
            <p:ph type="ftr" sz="quarter" idx="11"/>
          </p:nvPr>
        </p:nvSpPr>
        <p:spPr>
          <a:xfrm>
            <a:off x="4648203" y="6443131"/>
            <a:ext cx="7264401"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6" name="Espace réservé du texte 3"/>
          <p:cNvSpPr>
            <a:spLocks noGrp="1"/>
          </p:cNvSpPr>
          <p:nvPr>
            <p:ph type="body" sz="quarter" idx="13"/>
          </p:nvPr>
        </p:nvSpPr>
        <p:spPr>
          <a:xfrm>
            <a:off x="4648201" y="1559428"/>
            <a:ext cx="7196667" cy="4446407"/>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577373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5"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0"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630952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vide (PIP)">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0" name="Imag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21000" cy="225426"/>
          </a:xfrm>
          <a:prstGeom prst="rect">
            <a:avLst/>
          </a:prstGeom>
        </p:spPr>
        <p:txBody>
          <a:bodyPr anchor="ctr"/>
          <a:lstStyle>
            <a:lvl1pPr>
              <a:defRPr lang="fr-FR" sz="900" kern="1200" spc="150" dirty="0" smtClean="0">
                <a:solidFill>
                  <a:srgbClr val="003A8D"/>
                </a:solidFill>
                <a:latin typeface="Segoe UI" panose="020B0502040204020203" pitchFamily="34" charset="0"/>
                <a:ea typeface="+mn-ea"/>
                <a:cs typeface="Segoe UI" panose="020B0502040204020203" pitchFamily="34" charset="0"/>
              </a:defRPr>
            </a:lvl1pPr>
          </a:lstStyle>
          <a:p>
            <a:r>
              <a:rPr lang="fr-FR"/>
              <a:t>Atterrissage Alexandrie - Gouvernance et Organisation</a:t>
            </a:r>
            <a:endParaRPr/>
          </a:p>
        </p:txBody>
      </p:sp>
      <p:sp>
        <p:nvSpPr>
          <p:cNvPr id="21"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13"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8"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988982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dirty="0"/>
              <a:t>Modifiez le style du titre</a:t>
            </a:r>
          </a:p>
        </p:txBody>
      </p:sp>
    </p:spTree>
    <p:extLst>
      <p:ext uri="{BB962C8B-B14F-4D97-AF65-F5344CB8AC3E}">
        <p14:creationId xmlns:p14="http://schemas.microsoft.com/office/powerpoint/2010/main" val="3058598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dirty="0"/>
              <a:t>Modifiez le style du titre</a:t>
            </a:r>
          </a:p>
        </p:txBody>
      </p:sp>
    </p:spTree>
    <p:extLst>
      <p:ext uri="{BB962C8B-B14F-4D97-AF65-F5344CB8AC3E}">
        <p14:creationId xmlns:p14="http://schemas.microsoft.com/office/powerpoint/2010/main" val="2322462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pitre image">
    <p:bg>
      <p:bgPr>
        <a:solidFill>
          <a:srgbClr val="003A8D"/>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7262446"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2" name="Titre 1"/>
          <p:cNvSpPr>
            <a:spLocks noGrp="1"/>
          </p:cNvSpPr>
          <p:nvPr>
            <p:ph type="title"/>
          </p:nvPr>
        </p:nvSpPr>
        <p:spPr>
          <a:xfrm>
            <a:off x="7603067" y="1384304"/>
            <a:ext cx="4485216" cy="2362199"/>
          </a:xfrm>
          <a:prstGeom prst="rect">
            <a:avLst/>
          </a:prstGeom>
        </p:spPr>
        <p:txBody>
          <a:bodyPr anchor="b">
            <a:normAutofit/>
          </a:bodyPr>
          <a:lstStyle>
            <a:lvl1pPr algn="l">
              <a:defRPr sz="5500">
                <a:solidFill>
                  <a:schemeClr val="bg1"/>
                </a:solidFill>
              </a:defRPr>
            </a:lvl1pPr>
          </a:lstStyle>
          <a:p>
            <a:r>
              <a:rPr lang="fr-FR" dirty="0"/>
              <a:t>Modifiez le style du titre</a:t>
            </a:r>
          </a:p>
        </p:txBody>
      </p:sp>
      <p:sp>
        <p:nvSpPr>
          <p:cNvPr id="5" name="Rectangle 4"/>
          <p:cNvSpPr/>
          <p:nvPr userDrawn="1"/>
        </p:nvSpPr>
        <p:spPr>
          <a:xfrm>
            <a:off x="9128846" y="3848103"/>
            <a:ext cx="2891704" cy="46893"/>
          </a:xfrm>
          <a:prstGeom prst="rect">
            <a:avLst/>
          </a:prstGeom>
          <a:solidFill>
            <a:schemeClr val="bg1">
              <a:alpha val="96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Tree>
    <p:extLst>
      <p:ext uri="{BB962C8B-B14F-4D97-AF65-F5344CB8AC3E}">
        <p14:creationId xmlns:p14="http://schemas.microsoft.com/office/powerpoint/2010/main" val="3956929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clusion">
    <p:bg>
      <p:bgPr>
        <a:solidFill>
          <a:schemeClr val="bg1"/>
        </a:solidFill>
        <a:effectLst/>
      </p:bgPr>
    </p:bg>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9" name="Rectangle à coins arrondis 8"/>
          <p:cNvSpPr/>
          <p:nvPr userDrawn="1"/>
        </p:nvSpPr>
        <p:spPr>
          <a:xfrm>
            <a:off x="266700" y="190501"/>
            <a:ext cx="11658600" cy="5549900"/>
          </a:xfrm>
          <a:prstGeom prst="roundRect">
            <a:avLst>
              <a:gd name="adj" fmla="val 3479"/>
            </a:avLst>
          </a:prstGeom>
          <a:solidFill>
            <a:srgbClr val="003A8D">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2" name="Titre 1"/>
          <p:cNvSpPr>
            <a:spLocks noGrp="1"/>
          </p:cNvSpPr>
          <p:nvPr>
            <p:ph type="ctrTitle" hasCustomPrompt="1"/>
          </p:nvPr>
        </p:nvSpPr>
        <p:spPr>
          <a:xfrm>
            <a:off x="4800600" y="1471085"/>
            <a:ext cx="6400800" cy="2387600"/>
          </a:xfrm>
          <a:prstGeom prst="rect">
            <a:avLst/>
          </a:prstGeom>
        </p:spPr>
        <p:txBody>
          <a:bodyPr anchor="b"/>
          <a:lstStyle>
            <a:lvl1pPr algn="l">
              <a:defRPr sz="6000">
                <a:solidFill>
                  <a:schemeClr val="bg1"/>
                </a:solidFill>
              </a:defRPr>
            </a:lvl1pPr>
          </a:lstStyle>
          <a:p>
            <a:r>
              <a:rPr lang="fr-FR" dirty="0"/>
              <a:t>Diapositive de conclusion</a:t>
            </a: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8" y="5805724"/>
            <a:ext cx="1018605" cy="941409"/>
          </a:xfrm>
          <a:prstGeom prst="rect">
            <a:avLst/>
          </a:prstGeom>
        </p:spPr>
      </p:pic>
      <p:pic>
        <p:nvPicPr>
          <p:cNvPr id="12" name="Imag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4772" y="6152708"/>
            <a:ext cx="1969397" cy="247164"/>
          </a:xfrm>
          <a:prstGeom prst="rect">
            <a:avLst/>
          </a:prstGeom>
        </p:spPr>
      </p:pic>
      <p:pic>
        <p:nvPicPr>
          <p:cNvPr id="13" name="Image 1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799241" y="6126109"/>
            <a:ext cx="693258" cy="358313"/>
          </a:xfrm>
          <a:prstGeom prst="rect">
            <a:avLst/>
          </a:prstGeom>
        </p:spPr>
      </p:pic>
    </p:spTree>
    <p:extLst>
      <p:ext uri="{BB962C8B-B14F-4D97-AF65-F5344CB8AC3E}">
        <p14:creationId xmlns:p14="http://schemas.microsoft.com/office/powerpoint/2010/main" val="1756363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700" y="190501"/>
            <a:ext cx="11659455" cy="5549901"/>
          </a:xfrm>
          <a:prstGeom prst="rect">
            <a:avLst/>
          </a:prstGeom>
        </p:spPr>
      </p:pic>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9" name="Rectangle 13"/>
          <p:cNvSpPr/>
          <p:nvPr userDrawn="1"/>
        </p:nvSpPr>
        <p:spPr>
          <a:xfrm>
            <a:off x="4880008" y="3858686"/>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5" y="5805721"/>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07" y="6307272"/>
            <a:ext cx="531475" cy="274695"/>
          </a:xfrm>
          <a:prstGeom prst="rect">
            <a:avLst/>
          </a:prstGeom>
        </p:spPr>
      </p:pic>
    </p:spTree>
    <p:extLst>
      <p:ext uri="{BB962C8B-B14F-4D97-AF65-F5344CB8AC3E}">
        <p14:creationId xmlns:p14="http://schemas.microsoft.com/office/powerpoint/2010/main" val="3009374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172750918"/>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2314374591"/>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33641"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529653675"/>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4648200"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12"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Tree>
    <p:extLst>
      <p:ext uri="{BB962C8B-B14F-4D97-AF65-F5344CB8AC3E}">
        <p14:creationId xmlns:p14="http://schemas.microsoft.com/office/powerpoint/2010/main" val="2294287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20"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2886674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endParaRPr lang="fr-FR" dirty="0"/>
          </a:p>
        </p:txBody>
      </p:sp>
    </p:spTree>
    <p:extLst>
      <p:ext uri="{BB962C8B-B14F-4D97-AF65-F5344CB8AC3E}">
        <p14:creationId xmlns:p14="http://schemas.microsoft.com/office/powerpoint/2010/main" val="1174611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endParaRPr lang="fr-FR" dirty="0"/>
          </a:p>
        </p:txBody>
      </p:sp>
    </p:spTree>
    <p:extLst>
      <p:ext uri="{BB962C8B-B14F-4D97-AF65-F5344CB8AC3E}">
        <p14:creationId xmlns:p14="http://schemas.microsoft.com/office/powerpoint/2010/main" val="3978373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3"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5" name="Espace réservé du numéro de diapositive 5"/>
          <p:cNvSpPr>
            <a:spLocks noGrp="1"/>
          </p:cNvSpPr>
          <p:nvPr>
            <p:ph type="sldNum" sz="quarter" idx="4"/>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7876364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0"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5" name="Espace réservé du numéro de diapositive 5"/>
          <p:cNvSpPr>
            <a:spLocks noGrp="1"/>
          </p:cNvSpPr>
          <p:nvPr>
            <p:ph type="sldNum" sz="quarter" idx="4"/>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224549937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Lst>
  <p:hf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960C5A-DFC9-4E6A-8597-36B478C8101C}"/>
              </a:ext>
            </a:extLst>
          </p:cNvPr>
          <p:cNvSpPr>
            <a:spLocks noGrp="1"/>
          </p:cNvSpPr>
          <p:nvPr>
            <p:ph type="ctrTitle"/>
          </p:nvPr>
        </p:nvSpPr>
        <p:spPr>
          <a:xfrm>
            <a:off x="3334043" y="1652564"/>
            <a:ext cx="7333957" cy="2145456"/>
          </a:xfrm>
        </p:spPr>
        <p:txBody>
          <a:bodyPr/>
          <a:lstStyle/>
          <a:p>
            <a:pPr algn="r"/>
            <a:r>
              <a:rPr lang="fr-FR" b="1" dirty="0"/>
              <a:t>Architecture OCRF</a:t>
            </a:r>
            <a:endParaRPr lang="fr-FR" sz="4800" b="1" dirty="0"/>
          </a:p>
        </p:txBody>
      </p:sp>
      <p:sp>
        <p:nvSpPr>
          <p:cNvPr id="3" name="Sous-titre 2">
            <a:extLst>
              <a:ext uri="{FF2B5EF4-FFF2-40B4-BE49-F238E27FC236}">
                <a16:creationId xmlns:a16="http://schemas.microsoft.com/office/drawing/2014/main" id="{0CD9C4D3-A366-427C-BAF0-6C977F3D41D1}"/>
              </a:ext>
            </a:extLst>
          </p:cNvPr>
          <p:cNvSpPr>
            <a:spLocks noGrp="1"/>
          </p:cNvSpPr>
          <p:nvPr>
            <p:ph type="subTitle" idx="1"/>
          </p:nvPr>
        </p:nvSpPr>
        <p:spPr/>
        <p:txBody>
          <a:bodyPr/>
          <a:lstStyle/>
          <a:p>
            <a:pPr algn="r"/>
            <a:r>
              <a:rPr lang="fr-FR" dirty="0"/>
              <a:t>Version 0.6 — 31/08/2026  |  Support d'atelier de travail</a:t>
            </a:r>
          </a:p>
        </p:txBody>
      </p:sp>
    </p:spTree>
    <p:extLst>
      <p:ext uri="{BB962C8B-B14F-4D97-AF65-F5344CB8AC3E}">
        <p14:creationId xmlns:p14="http://schemas.microsoft.com/office/powerpoint/2010/main" val="4276776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A36A5-7DAA-5397-CA5F-5B960D16CD2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CA57C4-F270-F88B-7838-80B84EA80EDC}"/>
              </a:ext>
            </a:extLst>
          </p:cNvPr>
          <p:cNvSpPr>
            <a:spLocks noGrp="1"/>
          </p:cNvSpPr>
          <p:nvPr>
            <p:ph type="title"/>
          </p:nvPr>
        </p:nvSpPr>
        <p:spPr/>
        <p:txBody>
          <a:bodyPr/>
          <a:lstStyle/>
          <a:p>
            <a:r>
              <a:rPr lang="fr-FR" dirty="0"/>
              <a:t>Sommaire</a:t>
            </a:r>
          </a:p>
        </p:txBody>
      </p:sp>
      <p:sp>
        <p:nvSpPr>
          <p:cNvPr id="3" name="Espace réservé du pied de page 2">
            <a:extLst>
              <a:ext uri="{FF2B5EF4-FFF2-40B4-BE49-F238E27FC236}">
                <a16:creationId xmlns:a16="http://schemas.microsoft.com/office/drawing/2014/main" id="{6A5745DD-F76F-0766-9C35-F60B24090557}"/>
              </a:ext>
            </a:extLst>
          </p:cNvPr>
          <p:cNvSpPr>
            <a:spLocks noGrp="1"/>
          </p:cNvSpPr>
          <p:nvPr>
            <p:ph type="ftr" sz="quarter" idx="11"/>
          </p:nvPr>
        </p:nvSpPr>
        <p:spPr/>
        <p:txBody>
          <a:bodyPr/>
          <a:lstStyle/>
          <a:p>
            <a:r>
              <a:rPr lang="fr-FR" dirty="0"/>
              <a:t>Nadia – Dossier de pré-cadrage</a:t>
            </a:r>
          </a:p>
        </p:txBody>
      </p:sp>
      <p:sp>
        <p:nvSpPr>
          <p:cNvPr id="5" name="Espace réservé du texte 4">
            <a:extLst>
              <a:ext uri="{FF2B5EF4-FFF2-40B4-BE49-F238E27FC236}">
                <a16:creationId xmlns:a16="http://schemas.microsoft.com/office/drawing/2014/main" id="{0A474941-92DF-0CB1-DC49-CEE316A7D93E}"/>
              </a:ext>
            </a:extLst>
          </p:cNvPr>
          <p:cNvSpPr>
            <a:spLocks noGrp="1"/>
          </p:cNvSpPr>
          <p:nvPr>
            <p:ph type="body" sz="quarter" idx="14"/>
          </p:nvPr>
        </p:nvSpPr>
        <p:spPr/>
        <p:txBody>
          <a:bodyPr/>
          <a:lstStyle/>
          <a:p>
            <a:endParaRPr lang="fr-FR" dirty="0"/>
          </a:p>
        </p:txBody>
      </p:sp>
      <p:sp>
        <p:nvSpPr>
          <p:cNvPr id="4" name="Shape 2">
            <a:extLst>
              <a:ext uri="{FF2B5EF4-FFF2-40B4-BE49-F238E27FC236}">
                <a16:creationId xmlns:a16="http://schemas.microsoft.com/office/drawing/2014/main" id="{6B8BC50B-F836-96C3-DFD9-B7A07FED34B4}"/>
              </a:ext>
            </a:extLst>
          </p:cNvPr>
          <p:cNvSpPr/>
          <p:nvPr/>
        </p:nvSpPr>
        <p:spPr>
          <a:xfrm>
            <a:off x="821531" y="1561979"/>
            <a:ext cx="11018520" cy="969264"/>
          </a:xfrm>
          <a:prstGeom prst="roundRect">
            <a:avLst>
              <a:gd name="adj" fmla="val 7547"/>
            </a:avLst>
          </a:prstGeom>
          <a:solidFill>
            <a:srgbClr val="F4F7FB"/>
          </a:solidFill>
          <a:ln/>
        </p:spPr>
        <p:txBody>
          <a:bodyPr/>
          <a:lstStyle/>
          <a:p>
            <a:endParaRPr lang="fr-FR"/>
          </a:p>
        </p:txBody>
      </p:sp>
      <p:sp>
        <p:nvSpPr>
          <p:cNvPr id="36" name="Shape 3">
            <a:extLst>
              <a:ext uri="{FF2B5EF4-FFF2-40B4-BE49-F238E27FC236}">
                <a16:creationId xmlns:a16="http://schemas.microsoft.com/office/drawing/2014/main" id="{490FA051-16EF-06D6-28A5-6CF25BB64969}"/>
              </a:ext>
            </a:extLst>
          </p:cNvPr>
          <p:cNvSpPr/>
          <p:nvPr/>
        </p:nvSpPr>
        <p:spPr>
          <a:xfrm>
            <a:off x="1050131" y="1708283"/>
            <a:ext cx="658368" cy="658368"/>
          </a:xfrm>
          <a:prstGeom prst="ellipse">
            <a:avLst/>
          </a:prstGeom>
          <a:solidFill>
            <a:srgbClr val="21295C"/>
          </a:solidFill>
          <a:ln/>
        </p:spPr>
        <p:txBody>
          <a:bodyPr/>
          <a:lstStyle/>
          <a:p>
            <a:endParaRPr lang="fr-FR"/>
          </a:p>
        </p:txBody>
      </p:sp>
      <p:pic>
        <p:nvPicPr>
          <p:cNvPr id="37" name="Image 0" descr="preencoded.png">
            <a:extLst>
              <a:ext uri="{FF2B5EF4-FFF2-40B4-BE49-F238E27FC236}">
                <a16:creationId xmlns:a16="http://schemas.microsoft.com/office/drawing/2014/main" id="{67C149CD-25BF-A678-FF07-6B22984BA17B}"/>
              </a:ext>
            </a:extLst>
          </p:cNvPr>
          <p:cNvPicPr>
            <a:picLocks noChangeAspect="1"/>
          </p:cNvPicPr>
          <p:nvPr/>
        </p:nvPicPr>
        <p:blipFill>
          <a:blip r:embed="rId2"/>
          <a:stretch>
            <a:fillRect/>
          </a:stretch>
        </p:blipFill>
        <p:spPr>
          <a:xfrm>
            <a:off x="1208139" y="1866291"/>
            <a:ext cx="342351" cy="342351"/>
          </a:xfrm>
          <a:prstGeom prst="rect">
            <a:avLst/>
          </a:prstGeom>
        </p:spPr>
      </p:pic>
      <p:sp>
        <p:nvSpPr>
          <p:cNvPr id="38" name="Text 4">
            <a:extLst>
              <a:ext uri="{FF2B5EF4-FFF2-40B4-BE49-F238E27FC236}">
                <a16:creationId xmlns:a16="http://schemas.microsoft.com/office/drawing/2014/main" id="{25866458-F897-A391-23D5-78A91EF97AB2}"/>
              </a:ext>
            </a:extLst>
          </p:cNvPr>
          <p:cNvSpPr/>
          <p:nvPr/>
        </p:nvSpPr>
        <p:spPr>
          <a:xfrm>
            <a:off x="1918811" y="1653419"/>
            <a:ext cx="914400" cy="457200"/>
          </a:xfrm>
          <a:prstGeom prst="rect">
            <a:avLst/>
          </a:prstGeom>
          <a:noFill/>
          <a:ln/>
        </p:spPr>
        <p:txBody>
          <a:bodyPr wrap="square" lIns="0" tIns="0" rIns="0" bIns="0" rtlCol="0" anchor="ctr"/>
          <a:lstStyle/>
          <a:p>
            <a:pPr marL="0" indent="0">
              <a:buNone/>
            </a:pPr>
            <a:r>
              <a:rPr lang="en-US" sz="2200" b="1" dirty="0">
                <a:solidFill>
                  <a:srgbClr val="1C7293"/>
                </a:solidFill>
                <a:latin typeface="Calibri" pitchFamily="34" charset="0"/>
                <a:ea typeface="Calibri" pitchFamily="34" charset="-122"/>
                <a:cs typeface="Calibri" pitchFamily="34" charset="-120"/>
              </a:rPr>
              <a:t>01</a:t>
            </a:r>
            <a:endParaRPr lang="en-US" sz="2200" dirty="0"/>
          </a:p>
        </p:txBody>
      </p:sp>
      <p:sp>
        <p:nvSpPr>
          <p:cNvPr id="39" name="Text 5">
            <a:extLst>
              <a:ext uri="{FF2B5EF4-FFF2-40B4-BE49-F238E27FC236}">
                <a16:creationId xmlns:a16="http://schemas.microsoft.com/office/drawing/2014/main" id="{F255EDC1-51EC-FAE1-07CC-CF00F5181535}"/>
              </a:ext>
            </a:extLst>
          </p:cNvPr>
          <p:cNvSpPr/>
          <p:nvPr/>
        </p:nvSpPr>
        <p:spPr>
          <a:xfrm>
            <a:off x="2787491" y="1635131"/>
            <a:ext cx="6035040" cy="384048"/>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xxx</a:t>
            </a:r>
            <a:endParaRPr lang="en-US" sz="1700" dirty="0"/>
          </a:p>
        </p:txBody>
      </p:sp>
      <p:sp>
        <p:nvSpPr>
          <p:cNvPr id="40" name="Text 6">
            <a:extLst>
              <a:ext uri="{FF2B5EF4-FFF2-40B4-BE49-F238E27FC236}">
                <a16:creationId xmlns:a16="http://schemas.microsoft.com/office/drawing/2014/main" id="{4A820FF0-3C74-EE2C-9120-B064A7414AD5}"/>
              </a:ext>
            </a:extLst>
          </p:cNvPr>
          <p:cNvSpPr/>
          <p:nvPr/>
        </p:nvSpPr>
        <p:spPr>
          <a:xfrm>
            <a:off x="2787491" y="2019179"/>
            <a:ext cx="9052560" cy="41148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xxx</a:t>
            </a:r>
            <a:endParaRPr lang="en-US" sz="1200" dirty="0"/>
          </a:p>
        </p:txBody>
      </p:sp>
      <p:sp>
        <p:nvSpPr>
          <p:cNvPr id="41" name="Shape 7">
            <a:extLst>
              <a:ext uri="{FF2B5EF4-FFF2-40B4-BE49-F238E27FC236}">
                <a16:creationId xmlns:a16="http://schemas.microsoft.com/office/drawing/2014/main" id="{7E9068A3-ABF5-45D5-CBF5-2D05DF0808DC}"/>
              </a:ext>
            </a:extLst>
          </p:cNvPr>
          <p:cNvSpPr/>
          <p:nvPr/>
        </p:nvSpPr>
        <p:spPr>
          <a:xfrm>
            <a:off x="821531" y="2732411"/>
            <a:ext cx="11031538" cy="969264"/>
          </a:xfrm>
          <a:prstGeom prst="roundRect">
            <a:avLst>
              <a:gd name="adj" fmla="val 7547"/>
            </a:avLst>
          </a:prstGeom>
          <a:solidFill>
            <a:srgbClr val="FFFFFF"/>
          </a:solidFill>
          <a:ln/>
        </p:spPr>
        <p:txBody>
          <a:bodyPr/>
          <a:lstStyle/>
          <a:p>
            <a:endParaRPr lang="fr-FR"/>
          </a:p>
        </p:txBody>
      </p:sp>
      <p:sp>
        <p:nvSpPr>
          <p:cNvPr id="42" name="Shape 8">
            <a:extLst>
              <a:ext uri="{FF2B5EF4-FFF2-40B4-BE49-F238E27FC236}">
                <a16:creationId xmlns:a16="http://schemas.microsoft.com/office/drawing/2014/main" id="{F39BFA8A-A407-075A-066F-597E2560D251}"/>
              </a:ext>
            </a:extLst>
          </p:cNvPr>
          <p:cNvSpPr/>
          <p:nvPr/>
        </p:nvSpPr>
        <p:spPr>
          <a:xfrm>
            <a:off x="1050131" y="2878715"/>
            <a:ext cx="658368" cy="658368"/>
          </a:xfrm>
          <a:prstGeom prst="ellipse">
            <a:avLst/>
          </a:prstGeom>
          <a:solidFill>
            <a:srgbClr val="21295C"/>
          </a:solidFill>
          <a:ln/>
        </p:spPr>
        <p:txBody>
          <a:bodyPr/>
          <a:lstStyle/>
          <a:p>
            <a:endParaRPr lang="fr-FR"/>
          </a:p>
        </p:txBody>
      </p:sp>
      <p:pic>
        <p:nvPicPr>
          <p:cNvPr id="43" name="Image 1" descr="preencoded.png">
            <a:extLst>
              <a:ext uri="{FF2B5EF4-FFF2-40B4-BE49-F238E27FC236}">
                <a16:creationId xmlns:a16="http://schemas.microsoft.com/office/drawing/2014/main" id="{4AECC7AE-8134-8FCC-8847-2B187CD3B2C4}"/>
              </a:ext>
            </a:extLst>
          </p:cNvPr>
          <p:cNvPicPr>
            <a:picLocks noChangeAspect="1"/>
          </p:cNvPicPr>
          <p:nvPr/>
        </p:nvPicPr>
        <p:blipFill>
          <a:blip r:embed="rId3"/>
          <a:stretch>
            <a:fillRect/>
          </a:stretch>
        </p:blipFill>
        <p:spPr>
          <a:xfrm>
            <a:off x="1208139" y="3036723"/>
            <a:ext cx="342351" cy="342351"/>
          </a:xfrm>
          <a:prstGeom prst="rect">
            <a:avLst/>
          </a:prstGeom>
        </p:spPr>
      </p:pic>
      <p:sp>
        <p:nvSpPr>
          <p:cNvPr id="44" name="Text 9">
            <a:extLst>
              <a:ext uri="{FF2B5EF4-FFF2-40B4-BE49-F238E27FC236}">
                <a16:creationId xmlns:a16="http://schemas.microsoft.com/office/drawing/2014/main" id="{D4D97303-9312-CCB1-2DE6-20A98E709283}"/>
              </a:ext>
            </a:extLst>
          </p:cNvPr>
          <p:cNvSpPr/>
          <p:nvPr/>
        </p:nvSpPr>
        <p:spPr>
          <a:xfrm>
            <a:off x="1918811" y="2823851"/>
            <a:ext cx="914400" cy="457200"/>
          </a:xfrm>
          <a:prstGeom prst="rect">
            <a:avLst/>
          </a:prstGeom>
          <a:noFill/>
          <a:ln/>
        </p:spPr>
        <p:txBody>
          <a:bodyPr wrap="square" lIns="0" tIns="0" rIns="0" bIns="0" rtlCol="0" anchor="ctr"/>
          <a:lstStyle/>
          <a:p>
            <a:pPr marL="0" indent="0">
              <a:buNone/>
            </a:pPr>
            <a:r>
              <a:rPr lang="en-US" sz="2200" b="1" dirty="0">
                <a:solidFill>
                  <a:srgbClr val="1C7293"/>
                </a:solidFill>
                <a:latin typeface="Calibri" pitchFamily="34" charset="0"/>
                <a:ea typeface="Calibri" pitchFamily="34" charset="-122"/>
                <a:cs typeface="Calibri" pitchFamily="34" charset="-120"/>
              </a:rPr>
              <a:t>02</a:t>
            </a:r>
            <a:endParaRPr lang="en-US" sz="2200" dirty="0"/>
          </a:p>
        </p:txBody>
      </p:sp>
      <p:sp>
        <p:nvSpPr>
          <p:cNvPr id="45" name="Text 10">
            <a:extLst>
              <a:ext uri="{FF2B5EF4-FFF2-40B4-BE49-F238E27FC236}">
                <a16:creationId xmlns:a16="http://schemas.microsoft.com/office/drawing/2014/main" id="{D7F8E36C-99C4-ECA8-42D3-55C508281E9A}"/>
              </a:ext>
            </a:extLst>
          </p:cNvPr>
          <p:cNvSpPr/>
          <p:nvPr/>
        </p:nvSpPr>
        <p:spPr>
          <a:xfrm>
            <a:off x="2787491" y="2805563"/>
            <a:ext cx="6035040" cy="384048"/>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xxx</a:t>
            </a:r>
            <a:endParaRPr lang="en-US" sz="1700" dirty="0"/>
          </a:p>
        </p:txBody>
      </p:sp>
      <p:sp>
        <p:nvSpPr>
          <p:cNvPr id="46" name="Text 11">
            <a:extLst>
              <a:ext uri="{FF2B5EF4-FFF2-40B4-BE49-F238E27FC236}">
                <a16:creationId xmlns:a16="http://schemas.microsoft.com/office/drawing/2014/main" id="{D87F9646-1F89-6F20-606D-C9412A333F4D}"/>
              </a:ext>
            </a:extLst>
          </p:cNvPr>
          <p:cNvSpPr/>
          <p:nvPr/>
        </p:nvSpPr>
        <p:spPr>
          <a:xfrm>
            <a:off x="2787491" y="3189611"/>
            <a:ext cx="9052560" cy="41148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xxx</a:t>
            </a:r>
            <a:endParaRPr lang="en-US" sz="1200" dirty="0"/>
          </a:p>
        </p:txBody>
      </p:sp>
      <p:sp>
        <p:nvSpPr>
          <p:cNvPr id="47" name="Shape 12">
            <a:extLst>
              <a:ext uri="{FF2B5EF4-FFF2-40B4-BE49-F238E27FC236}">
                <a16:creationId xmlns:a16="http://schemas.microsoft.com/office/drawing/2014/main" id="{625D37C3-7CAC-6EAF-90E1-302B4C0B8ECC}"/>
              </a:ext>
            </a:extLst>
          </p:cNvPr>
          <p:cNvSpPr/>
          <p:nvPr/>
        </p:nvSpPr>
        <p:spPr>
          <a:xfrm>
            <a:off x="821531" y="3902843"/>
            <a:ext cx="11018520" cy="969264"/>
          </a:xfrm>
          <a:prstGeom prst="roundRect">
            <a:avLst>
              <a:gd name="adj" fmla="val 7547"/>
            </a:avLst>
          </a:prstGeom>
          <a:solidFill>
            <a:srgbClr val="F4F7FB"/>
          </a:solidFill>
          <a:ln/>
        </p:spPr>
        <p:txBody>
          <a:bodyPr/>
          <a:lstStyle/>
          <a:p>
            <a:endParaRPr lang="fr-FR"/>
          </a:p>
        </p:txBody>
      </p:sp>
      <p:sp>
        <p:nvSpPr>
          <p:cNvPr id="48" name="Shape 13">
            <a:extLst>
              <a:ext uri="{FF2B5EF4-FFF2-40B4-BE49-F238E27FC236}">
                <a16:creationId xmlns:a16="http://schemas.microsoft.com/office/drawing/2014/main" id="{B9DE47E0-9D41-2DFF-6448-3B48E5DA827A}"/>
              </a:ext>
            </a:extLst>
          </p:cNvPr>
          <p:cNvSpPr/>
          <p:nvPr/>
        </p:nvSpPr>
        <p:spPr>
          <a:xfrm>
            <a:off x="1050131" y="4049147"/>
            <a:ext cx="658368" cy="658368"/>
          </a:xfrm>
          <a:prstGeom prst="ellipse">
            <a:avLst/>
          </a:prstGeom>
          <a:solidFill>
            <a:srgbClr val="21295C"/>
          </a:solidFill>
          <a:ln/>
        </p:spPr>
        <p:txBody>
          <a:bodyPr/>
          <a:lstStyle/>
          <a:p>
            <a:endParaRPr lang="fr-FR"/>
          </a:p>
        </p:txBody>
      </p:sp>
      <p:pic>
        <p:nvPicPr>
          <p:cNvPr id="49" name="Image 2" descr="preencoded.png">
            <a:extLst>
              <a:ext uri="{FF2B5EF4-FFF2-40B4-BE49-F238E27FC236}">
                <a16:creationId xmlns:a16="http://schemas.microsoft.com/office/drawing/2014/main" id="{777DB51B-27B3-A98A-162A-616BDECE4914}"/>
              </a:ext>
            </a:extLst>
          </p:cNvPr>
          <p:cNvPicPr>
            <a:picLocks noChangeAspect="1"/>
          </p:cNvPicPr>
          <p:nvPr/>
        </p:nvPicPr>
        <p:blipFill>
          <a:blip r:embed="rId4"/>
          <a:stretch>
            <a:fillRect/>
          </a:stretch>
        </p:blipFill>
        <p:spPr>
          <a:xfrm>
            <a:off x="1208139" y="4207155"/>
            <a:ext cx="342351" cy="342351"/>
          </a:xfrm>
          <a:prstGeom prst="rect">
            <a:avLst/>
          </a:prstGeom>
        </p:spPr>
      </p:pic>
      <p:sp>
        <p:nvSpPr>
          <p:cNvPr id="50" name="Text 14">
            <a:extLst>
              <a:ext uri="{FF2B5EF4-FFF2-40B4-BE49-F238E27FC236}">
                <a16:creationId xmlns:a16="http://schemas.microsoft.com/office/drawing/2014/main" id="{14929D0A-6BDF-DCB2-CE02-15DE3BDCD6DF}"/>
              </a:ext>
            </a:extLst>
          </p:cNvPr>
          <p:cNvSpPr/>
          <p:nvPr/>
        </p:nvSpPr>
        <p:spPr>
          <a:xfrm>
            <a:off x="1918811" y="3994283"/>
            <a:ext cx="914400" cy="457200"/>
          </a:xfrm>
          <a:prstGeom prst="rect">
            <a:avLst/>
          </a:prstGeom>
          <a:noFill/>
          <a:ln/>
        </p:spPr>
        <p:txBody>
          <a:bodyPr wrap="square" lIns="0" tIns="0" rIns="0" bIns="0" rtlCol="0" anchor="ctr"/>
          <a:lstStyle/>
          <a:p>
            <a:pPr marL="0" indent="0">
              <a:buNone/>
            </a:pPr>
            <a:r>
              <a:rPr lang="en-US" sz="2200" b="1" dirty="0">
                <a:solidFill>
                  <a:srgbClr val="1C7293"/>
                </a:solidFill>
                <a:latin typeface="Calibri" pitchFamily="34" charset="0"/>
                <a:ea typeface="Calibri" pitchFamily="34" charset="-122"/>
                <a:cs typeface="Calibri" pitchFamily="34" charset="-120"/>
              </a:rPr>
              <a:t>03</a:t>
            </a:r>
            <a:endParaRPr lang="en-US" sz="2200" dirty="0"/>
          </a:p>
        </p:txBody>
      </p:sp>
      <p:sp>
        <p:nvSpPr>
          <p:cNvPr id="51" name="Text 15">
            <a:extLst>
              <a:ext uri="{FF2B5EF4-FFF2-40B4-BE49-F238E27FC236}">
                <a16:creationId xmlns:a16="http://schemas.microsoft.com/office/drawing/2014/main" id="{CC8004DB-3A14-8421-880E-AEA65DDC3576}"/>
              </a:ext>
            </a:extLst>
          </p:cNvPr>
          <p:cNvSpPr/>
          <p:nvPr/>
        </p:nvSpPr>
        <p:spPr>
          <a:xfrm>
            <a:off x="2787491" y="3975995"/>
            <a:ext cx="6035040" cy="384048"/>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xxx</a:t>
            </a:r>
            <a:endParaRPr lang="en-US" sz="1700" dirty="0"/>
          </a:p>
        </p:txBody>
      </p:sp>
      <p:sp>
        <p:nvSpPr>
          <p:cNvPr id="52" name="Text 16">
            <a:extLst>
              <a:ext uri="{FF2B5EF4-FFF2-40B4-BE49-F238E27FC236}">
                <a16:creationId xmlns:a16="http://schemas.microsoft.com/office/drawing/2014/main" id="{83CD84B7-043B-2218-9555-456A4FFDE703}"/>
              </a:ext>
            </a:extLst>
          </p:cNvPr>
          <p:cNvSpPr/>
          <p:nvPr/>
        </p:nvSpPr>
        <p:spPr>
          <a:xfrm>
            <a:off x="2787491" y="4360043"/>
            <a:ext cx="9052560" cy="41148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xxx</a:t>
            </a:r>
            <a:endParaRPr lang="en-US" sz="1200" dirty="0"/>
          </a:p>
        </p:txBody>
      </p:sp>
      <p:sp>
        <p:nvSpPr>
          <p:cNvPr id="53" name="Shape 17">
            <a:extLst>
              <a:ext uri="{FF2B5EF4-FFF2-40B4-BE49-F238E27FC236}">
                <a16:creationId xmlns:a16="http://schemas.microsoft.com/office/drawing/2014/main" id="{99782443-E620-8578-1586-EF87FD7DB2C4}"/>
              </a:ext>
            </a:extLst>
          </p:cNvPr>
          <p:cNvSpPr/>
          <p:nvPr/>
        </p:nvSpPr>
        <p:spPr>
          <a:xfrm>
            <a:off x="821531" y="5073275"/>
            <a:ext cx="11018520" cy="969264"/>
          </a:xfrm>
          <a:prstGeom prst="roundRect">
            <a:avLst>
              <a:gd name="adj" fmla="val 7547"/>
            </a:avLst>
          </a:prstGeom>
          <a:solidFill>
            <a:srgbClr val="FFFFFF"/>
          </a:solidFill>
          <a:ln/>
        </p:spPr>
        <p:txBody>
          <a:bodyPr/>
          <a:lstStyle/>
          <a:p>
            <a:endParaRPr lang="fr-FR"/>
          </a:p>
        </p:txBody>
      </p:sp>
      <p:sp>
        <p:nvSpPr>
          <p:cNvPr id="54" name="Shape 18">
            <a:extLst>
              <a:ext uri="{FF2B5EF4-FFF2-40B4-BE49-F238E27FC236}">
                <a16:creationId xmlns:a16="http://schemas.microsoft.com/office/drawing/2014/main" id="{B01B448F-BA4B-BF24-0684-8FC31D9E33C9}"/>
              </a:ext>
            </a:extLst>
          </p:cNvPr>
          <p:cNvSpPr/>
          <p:nvPr/>
        </p:nvSpPr>
        <p:spPr>
          <a:xfrm>
            <a:off x="1050131" y="5219579"/>
            <a:ext cx="658368" cy="658368"/>
          </a:xfrm>
          <a:prstGeom prst="ellipse">
            <a:avLst/>
          </a:prstGeom>
          <a:solidFill>
            <a:srgbClr val="21295C"/>
          </a:solidFill>
          <a:ln/>
        </p:spPr>
        <p:txBody>
          <a:bodyPr/>
          <a:lstStyle/>
          <a:p>
            <a:endParaRPr lang="fr-FR"/>
          </a:p>
        </p:txBody>
      </p:sp>
      <p:pic>
        <p:nvPicPr>
          <p:cNvPr id="55" name="Image 3" descr="preencoded.png">
            <a:extLst>
              <a:ext uri="{FF2B5EF4-FFF2-40B4-BE49-F238E27FC236}">
                <a16:creationId xmlns:a16="http://schemas.microsoft.com/office/drawing/2014/main" id="{DBC47AD6-1B6E-8FA4-6D63-999845B604EC}"/>
              </a:ext>
            </a:extLst>
          </p:cNvPr>
          <p:cNvPicPr>
            <a:picLocks noChangeAspect="1"/>
          </p:cNvPicPr>
          <p:nvPr/>
        </p:nvPicPr>
        <p:blipFill>
          <a:blip r:embed="rId5"/>
          <a:stretch>
            <a:fillRect/>
          </a:stretch>
        </p:blipFill>
        <p:spPr>
          <a:xfrm>
            <a:off x="1208139" y="5377587"/>
            <a:ext cx="342351" cy="342351"/>
          </a:xfrm>
          <a:prstGeom prst="rect">
            <a:avLst/>
          </a:prstGeom>
        </p:spPr>
      </p:pic>
      <p:sp>
        <p:nvSpPr>
          <p:cNvPr id="56" name="Text 19">
            <a:extLst>
              <a:ext uri="{FF2B5EF4-FFF2-40B4-BE49-F238E27FC236}">
                <a16:creationId xmlns:a16="http://schemas.microsoft.com/office/drawing/2014/main" id="{F8219E81-F511-73EA-5653-4F6975465D1B}"/>
              </a:ext>
            </a:extLst>
          </p:cNvPr>
          <p:cNvSpPr/>
          <p:nvPr/>
        </p:nvSpPr>
        <p:spPr>
          <a:xfrm>
            <a:off x="1918811" y="5164715"/>
            <a:ext cx="914400" cy="457200"/>
          </a:xfrm>
          <a:prstGeom prst="rect">
            <a:avLst/>
          </a:prstGeom>
          <a:noFill/>
          <a:ln/>
        </p:spPr>
        <p:txBody>
          <a:bodyPr wrap="square" lIns="0" tIns="0" rIns="0" bIns="0" rtlCol="0" anchor="ctr"/>
          <a:lstStyle/>
          <a:p>
            <a:pPr marL="0" indent="0">
              <a:buNone/>
            </a:pPr>
            <a:r>
              <a:rPr lang="en-US" sz="2200" b="1" dirty="0">
                <a:solidFill>
                  <a:srgbClr val="1C7293"/>
                </a:solidFill>
                <a:latin typeface="Calibri" pitchFamily="34" charset="0"/>
                <a:ea typeface="Calibri" pitchFamily="34" charset="-122"/>
                <a:cs typeface="Calibri" pitchFamily="34" charset="-120"/>
              </a:rPr>
              <a:t>04</a:t>
            </a:r>
            <a:endParaRPr lang="en-US" sz="2200" dirty="0"/>
          </a:p>
        </p:txBody>
      </p:sp>
      <p:sp>
        <p:nvSpPr>
          <p:cNvPr id="57" name="Text 20">
            <a:extLst>
              <a:ext uri="{FF2B5EF4-FFF2-40B4-BE49-F238E27FC236}">
                <a16:creationId xmlns:a16="http://schemas.microsoft.com/office/drawing/2014/main" id="{175C4E68-1FAE-15FA-3EFF-A62063691020}"/>
              </a:ext>
            </a:extLst>
          </p:cNvPr>
          <p:cNvSpPr/>
          <p:nvPr/>
        </p:nvSpPr>
        <p:spPr>
          <a:xfrm>
            <a:off x="2787491" y="5146427"/>
            <a:ext cx="6035040" cy="384048"/>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xxx</a:t>
            </a:r>
            <a:endParaRPr lang="en-US" sz="1700" dirty="0"/>
          </a:p>
        </p:txBody>
      </p:sp>
      <p:sp>
        <p:nvSpPr>
          <p:cNvPr id="58" name="Text 21">
            <a:extLst>
              <a:ext uri="{FF2B5EF4-FFF2-40B4-BE49-F238E27FC236}">
                <a16:creationId xmlns:a16="http://schemas.microsoft.com/office/drawing/2014/main" id="{27F4C245-2C0A-D8A8-10A8-31720862A0F6}"/>
              </a:ext>
            </a:extLst>
          </p:cNvPr>
          <p:cNvSpPr/>
          <p:nvPr/>
        </p:nvSpPr>
        <p:spPr>
          <a:xfrm>
            <a:off x="2787491" y="5530475"/>
            <a:ext cx="9052560" cy="41148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xxx</a:t>
            </a:r>
            <a:endParaRPr lang="en-US" sz="1200" dirty="0"/>
          </a:p>
        </p:txBody>
      </p:sp>
    </p:spTree>
    <p:extLst>
      <p:ext uri="{BB962C8B-B14F-4D97-AF65-F5344CB8AC3E}">
        <p14:creationId xmlns:p14="http://schemas.microsoft.com/office/powerpoint/2010/main" val="2159492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8DF8-50A6-3127-AAFB-9FAA76D74D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456CDD-0613-CAE9-AC27-1B0985836BA0}"/>
              </a:ext>
            </a:extLst>
          </p:cNvPr>
          <p:cNvSpPr>
            <a:spLocks noGrp="1"/>
          </p:cNvSpPr>
          <p:nvPr>
            <p:ph type="title"/>
          </p:nvPr>
        </p:nvSpPr>
        <p:spPr/>
        <p:txBody>
          <a:bodyPr>
            <a:normAutofit fontScale="90000"/>
          </a:bodyPr>
          <a:lstStyle/>
          <a:p>
            <a:r>
              <a:rPr lang="fr-FR" sz="3200" dirty="0">
                <a:ea typeface="Calibri" pitchFamily="34" charset="-122"/>
              </a:rPr>
              <a:t>Contexte</a:t>
            </a:r>
            <a:endParaRPr lang="fr-FR" sz="3200" dirty="0"/>
          </a:p>
        </p:txBody>
      </p:sp>
      <p:sp>
        <p:nvSpPr>
          <p:cNvPr id="3" name="Shape 4">
            <a:extLst>
              <a:ext uri="{FF2B5EF4-FFF2-40B4-BE49-F238E27FC236}">
                <a16:creationId xmlns:a16="http://schemas.microsoft.com/office/drawing/2014/main" id="{A5491C0F-13DB-93D2-0403-687368838A83}"/>
              </a:ext>
            </a:extLst>
          </p:cNvPr>
          <p:cNvSpPr/>
          <p:nvPr/>
        </p:nvSpPr>
        <p:spPr>
          <a:xfrm>
            <a:off x="6302669" y="1290865"/>
            <a:ext cx="91440" cy="256032"/>
          </a:xfrm>
          <a:prstGeom prst="roundRect">
            <a:avLst>
              <a:gd name="adj" fmla="val 40000"/>
            </a:avLst>
          </a:prstGeom>
          <a:solidFill>
            <a:srgbClr val="003A8D"/>
          </a:solidFill>
          <a:ln w="12700">
            <a:noFill/>
            <a:prstDash val="solid"/>
          </a:ln>
        </p:spPr>
      </p:sp>
      <p:sp>
        <p:nvSpPr>
          <p:cNvPr id="4" name="Text 5">
            <a:extLst>
              <a:ext uri="{FF2B5EF4-FFF2-40B4-BE49-F238E27FC236}">
                <a16:creationId xmlns:a16="http://schemas.microsoft.com/office/drawing/2014/main" id="{A391444D-2E5D-6D19-FFE4-4C96FF396EDA}"/>
              </a:ext>
            </a:extLst>
          </p:cNvPr>
          <p:cNvSpPr txBox="1"/>
          <p:nvPr/>
        </p:nvSpPr>
        <p:spPr>
          <a:xfrm>
            <a:off x="6540413" y="1236001"/>
            <a:ext cx="5029200" cy="292608"/>
          </a:xfrm>
          <a:prstGeom prst="rect">
            <a:avLst/>
          </a:prstGeom>
          <a:noFill/>
          <a:ln/>
        </p:spPr>
        <p:txBody>
          <a:bodyPr wrap="square" lIns="0" tIns="0" rIns="0" bIns="0" rtlCol="0" anchor="ctr"/>
          <a:lstStyle/>
          <a:p>
            <a:pPr marL="0" indent="0">
              <a:buNone/>
            </a:pPr>
            <a:r>
              <a:rPr lang="en-US" sz="1400" b="1" dirty="0">
                <a:solidFill>
                  <a:srgbClr val="14203A"/>
                </a:solidFill>
                <a:latin typeface="Segoe UI" panose="020B0502040204020203" pitchFamily="34" charset="0"/>
                <a:ea typeface="Calibri" pitchFamily="34" charset="-122"/>
                <a:cs typeface="Segoe UI" panose="020B0502040204020203" pitchFamily="34" charset="0"/>
              </a:rPr>
              <a:t>Robin : Un référentiel, pas une description</a:t>
            </a:r>
            <a:endParaRPr lang="en-US" sz="1400" dirty="0">
              <a:latin typeface="Segoe UI" panose="020B0502040204020203" pitchFamily="34" charset="0"/>
              <a:cs typeface="Segoe UI" panose="020B0502040204020203" pitchFamily="34" charset="0"/>
            </a:endParaRPr>
          </a:p>
        </p:txBody>
      </p:sp>
      <p:sp>
        <p:nvSpPr>
          <p:cNvPr id="5" name="Text 6">
            <a:extLst>
              <a:ext uri="{FF2B5EF4-FFF2-40B4-BE49-F238E27FC236}">
                <a16:creationId xmlns:a16="http://schemas.microsoft.com/office/drawing/2014/main" id="{FD1697C3-6385-5842-25D6-64766D33D7D5}"/>
              </a:ext>
            </a:extLst>
          </p:cNvPr>
          <p:cNvSpPr txBox="1"/>
          <p:nvPr/>
        </p:nvSpPr>
        <p:spPr>
          <a:xfrm>
            <a:off x="6540413" y="1583473"/>
            <a:ext cx="5029200" cy="1051560"/>
          </a:xfrm>
          <a:prstGeom prst="rect">
            <a:avLst/>
          </a:prstGeom>
          <a:noFill/>
          <a:ln/>
        </p:spPr>
        <p:txBody>
          <a:bodyPr wrap="square" lIns="0" tIns="0" rIns="0" bIns="0" rtlCol="0" anchor="t"/>
          <a:lstStyle/>
          <a:p>
            <a:pPr marL="0" indent="0">
              <a:lnSpc>
                <a:spcPts val="1600"/>
              </a:lnSpc>
              <a:buNone/>
            </a:pPr>
            <a:r>
              <a:rPr lang="en-US" sz="1250" dirty="0">
                <a:solidFill>
                  <a:srgbClr val="33415C"/>
                </a:solidFill>
                <a:latin typeface="Segoe UI" panose="020B0502040204020203" pitchFamily="34" charset="0"/>
                <a:ea typeface="Calibri" pitchFamily="34" charset="-122"/>
                <a:cs typeface="Segoe UI" panose="020B0502040204020203" pitchFamily="34" charset="0"/>
              </a:rPr>
              <a:t>ROBIN recense les applications et leurs interactions, mais ne porte pas le découpage fonctionnel : un même code application y regroupe parfois plusieurs applications, pour faciliter la gestion du patrimoine.</a:t>
            </a:r>
            <a:endParaRPr lang="en-US" sz="1250" dirty="0">
              <a:latin typeface="Segoe UI" panose="020B0502040204020203" pitchFamily="34" charset="0"/>
              <a:cs typeface="Segoe UI" panose="020B0502040204020203" pitchFamily="34" charset="0"/>
            </a:endParaRPr>
          </a:p>
        </p:txBody>
      </p:sp>
      <p:sp>
        <p:nvSpPr>
          <p:cNvPr id="6" name="Shape 7">
            <a:extLst>
              <a:ext uri="{FF2B5EF4-FFF2-40B4-BE49-F238E27FC236}">
                <a16:creationId xmlns:a16="http://schemas.microsoft.com/office/drawing/2014/main" id="{49D80F22-4402-5D60-4736-B2A608FAFBBF}"/>
              </a:ext>
            </a:extLst>
          </p:cNvPr>
          <p:cNvSpPr/>
          <p:nvPr/>
        </p:nvSpPr>
        <p:spPr>
          <a:xfrm>
            <a:off x="6302669" y="2827057"/>
            <a:ext cx="91440" cy="256032"/>
          </a:xfrm>
          <a:prstGeom prst="roundRect">
            <a:avLst>
              <a:gd name="adj" fmla="val 40000"/>
            </a:avLst>
          </a:prstGeom>
          <a:solidFill>
            <a:srgbClr val="003A8D"/>
          </a:solidFill>
          <a:ln w="12700">
            <a:noFill/>
            <a:prstDash val="solid"/>
          </a:ln>
        </p:spPr>
      </p:sp>
      <p:sp>
        <p:nvSpPr>
          <p:cNvPr id="7" name="Text 8">
            <a:extLst>
              <a:ext uri="{FF2B5EF4-FFF2-40B4-BE49-F238E27FC236}">
                <a16:creationId xmlns:a16="http://schemas.microsoft.com/office/drawing/2014/main" id="{C6A8C3AF-4CC8-A402-76D2-9D2322787ECF}"/>
              </a:ext>
            </a:extLst>
          </p:cNvPr>
          <p:cNvSpPr txBox="1"/>
          <p:nvPr/>
        </p:nvSpPr>
        <p:spPr>
          <a:xfrm>
            <a:off x="6540413" y="2772193"/>
            <a:ext cx="5029200" cy="292608"/>
          </a:xfrm>
          <a:prstGeom prst="rect">
            <a:avLst/>
          </a:prstGeom>
          <a:noFill/>
          <a:ln/>
        </p:spPr>
        <p:txBody>
          <a:bodyPr wrap="square" lIns="0" tIns="0" rIns="0" bIns="0" rtlCol="0" anchor="ctr"/>
          <a:lstStyle/>
          <a:p>
            <a:pPr marL="0" indent="0">
              <a:buNone/>
            </a:pPr>
            <a:r>
              <a:rPr lang="en-US" sz="1400" b="1" dirty="0">
                <a:solidFill>
                  <a:srgbClr val="14203A"/>
                </a:solidFill>
                <a:latin typeface="Segoe UI" panose="020B0502040204020203" pitchFamily="34" charset="0"/>
                <a:ea typeface="Calibri" pitchFamily="34" charset="-122"/>
                <a:cs typeface="Segoe UI" panose="020B0502040204020203" pitchFamily="34" charset="0"/>
              </a:rPr>
              <a:t>Des dépendances partielles</a:t>
            </a:r>
            <a:endParaRPr lang="en-US" sz="1400" dirty="0">
              <a:latin typeface="Segoe UI" panose="020B0502040204020203" pitchFamily="34" charset="0"/>
              <a:cs typeface="Segoe UI" panose="020B0502040204020203" pitchFamily="34" charset="0"/>
            </a:endParaRPr>
          </a:p>
        </p:txBody>
      </p:sp>
      <p:sp>
        <p:nvSpPr>
          <p:cNvPr id="8" name="Text 9">
            <a:extLst>
              <a:ext uri="{FF2B5EF4-FFF2-40B4-BE49-F238E27FC236}">
                <a16:creationId xmlns:a16="http://schemas.microsoft.com/office/drawing/2014/main" id="{4FAB78D2-1DE9-37F7-C4E2-91074063709B}"/>
              </a:ext>
            </a:extLst>
          </p:cNvPr>
          <p:cNvSpPr txBox="1"/>
          <p:nvPr/>
        </p:nvSpPr>
        <p:spPr>
          <a:xfrm>
            <a:off x="6540413" y="3119665"/>
            <a:ext cx="5029200" cy="1051560"/>
          </a:xfrm>
          <a:prstGeom prst="rect">
            <a:avLst/>
          </a:prstGeom>
          <a:noFill/>
          <a:ln/>
        </p:spPr>
        <p:txBody>
          <a:bodyPr wrap="square" lIns="0" tIns="0" rIns="0" bIns="0" rtlCol="0" anchor="t"/>
          <a:lstStyle/>
          <a:p>
            <a:pPr marL="0" indent="0">
              <a:lnSpc>
                <a:spcPts val="1600"/>
              </a:lnSpc>
              <a:buNone/>
            </a:pPr>
            <a:r>
              <a:rPr lang="en-US" sz="1250" dirty="0">
                <a:solidFill>
                  <a:srgbClr val="33415C"/>
                </a:solidFill>
                <a:latin typeface="Segoe UI" panose="020B0502040204020203" pitchFamily="34" charset="0"/>
                <a:ea typeface="Calibri" pitchFamily="34" charset="-122"/>
                <a:cs typeface="Segoe UI" panose="020B0502040204020203" pitchFamily="34" charset="0"/>
              </a:rPr>
              <a:t>Seules remontent les dépendances ATEL et les accès directs aux bases. Le Cloud, les flux fichiers et batchs et les dépendances hors norme groupe restent invisibles — et aucune dépendance ne peut être déclarée manuellement.</a:t>
            </a:r>
            <a:endParaRPr lang="en-US" sz="1250" dirty="0">
              <a:latin typeface="Segoe UI" panose="020B0502040204020203" pitchFamily="34" charset="0"/>
              <a:cs typeface="Segoe UI" panose="020B0502040204020203" pitchFamily="34" charset="0"/>
            </a:endParaRPr>
          </a:p>
        </p:txBody>
      </p:sp>
      <p:sp>
        <p:nvSpPr>
          <p:cNvPr id="9" name="Shape 10">
            <a:extLst>
              <a:ext uri="{FF2B5EF4-FFF2-40B4-BE49-F238E27FC236}">
                <a16:creationId xmlns:a16="http://schemas.microsoft.com/office/drawing/2014/main" id="{E11C7B23-13A3-ECDB-903D-2C74F2D6F98B}"/>
              </a:ext>
            </a:extLst>
          </p:cNvPr>
          <p:cNvSpPr/>
          <p:nvPr/>
        </p:nvSpPr>
        <p:spPr>
          <a:xfrm>
            <a:off x="6302669" y="4363249"/>
            <a:ext cx="91440" cy="256032"/>
          </a:xfrm>
          <a:prstGeom prst="roundRect">
            <a:avLst>
              <a:gd name="adj" fmla="val 40000"/>
            </a:avLst>
          </a:prstGeom>
          <a:solidFill>
            <a:srgbClr val="003A8D"/>
          </a:solidFill>
          <a:ln w="12700">
            <a:noFill/>
            <a:prstDash val="solid"/>
          </a:ln>
        </p:spPr>
      </p:sp>
      <p:sp>
        <p:nvSpPr>
          <p:cNvPr id="10" name="Text 11">
            <a:extLst>
              <a:ext uri="{FF2B5EF4-FFF2-40B4-BE49-F238E27FC236}">
                <a16:creationId xmlns:a16="http://schemas.microsoft.com/office/drawing/2014/main" id="{1E9FCD99-FBFB-D722-BA15-8E13D44D50A9}"/>
              </a:ext>
            </a:extLst>
          </p:cNvPr>
          <p:cNvSpPr txBox="1"/>
          <p:nvPr/>
        </p:nvSpPr>
        <p:spPr>
          <a:xfrm>
            <a:off x="6540413" y="4308385"/>
            <a:ext cx="5029200" cy="292608"/>
          </a:xfrm>
          <a:prstGeom prst="rect">
            <a:avLst/>
          </a:prstGeom>
          <a:noFill/>
          <a:ln/>
        </p:spPr>
        <p:txBody>
          <a:bodyPr wrap="square" lIns="0" tIns="0" rIns="0" bIns="0" rtlCol="0" anchor="ctr"/>
          <a:lstStyle/>
          <a:p>
            <a:pPr marL="0" indent="0">
              <a:buNone/>
            </a:pPr>
            <a:r>
              <a:rPr lang="en-US" sz="1400" b="1" dirty="0">
                <a:solidFill>
                  <a:srgbClr val="14203A"/>
                </a:solidFill>
                <a:latin typeface="Segoe UI" panose="020B0502040204020203" pitchFamily="34" charset="0"/>
                <a:ea typeface="Calibri" pitchFamily="34" charset="-122"/>
                <a:cs typeface="Segoe UI" panose="020B0502040204020203" pitchFamily="34" charset="0"/>
              </a:rPr>
              <a:t>Position i-archi</a:t>
            </a:r>
            <a:endParaRPr lang="en-US" sz="1400" dirty="0">
              <a:latin typeface="Segoe UI" panose="020B0502040204020203" pitchFamily="34" charset="0"/>
              <a:cs typeface="Segoe UI" panose="020B0502040204020203" pitchFamily="34" charset="0"/>
            </a:endParaRPr>
          </a:p>
        </p:txBody>
      </p:sp>
      <p:sp>
        <p:nvSpPr>
          <p:cNvPr id="11" name="Text 12">
            <a:extLst>
              <a:ext uri="{FF2B5EF4-FFF2-40B4-BE49-F238E27FC236}">
                <a16:creationId xmlns:a16="http://schemas.microsoft.com/office/drawing/2014/main" id="{4B6181C9-77B8-4829-C6DA-CFD480D505D2}"/>
              </a:ext>
            </a:extLst>
          </p:cNvPr>
          <p:cNvSpPr txBox="1"/>
          <p:nvPr/>
        </p:nvSpPr>
        <p:spPr>
          <a:xfrm>
            <a:off x="6540413" y="4655857"/>
            <a:ext cx="5029200" cy="1051560"/>
          </a:xfrm>
          <a:prstGeom prst="rect">
            <a:avLst/>
          </a:prstGeom>
          <a:noFill/>
          <a:ln/>
        </p:spPr>
        <p:txBody>
          <a:bodyPr wrap="square" lIns="0" tIns="0" rIns="0" bIns="0" rtlCol="0" anchor="t"/>
          <a:lstStyle/>
          <a:p>
            <a:pPr marL="0" indent="0">
              <a:lnSpc>
                <a:spcPts val="1600"/>
              </a:lnSpc>
              <a:buNone/>
            </a:pPr>
            <a:r>
              <a:rPr lang="en-US" sz="1250" dirty="0">
                <a:solidFill>
                  <a:srgbClr val="33415C"/>
                </a:solidFill>
                <a:latin typeface="Segoe UI" panose="020B0502040204020203" pitchFamily="34" charset="0"/>
                <a:ea typeface="Calibri" pitchFamily="34" charset="-122"/>
                <a:cs typeface="Segoe UI" panose="020B0502040204020203" pitchFamily="34" charset="0"/>
              </a:rPr>
              <a:t>Aucun outil de modélisation n'est préconisé au niveau groupe. Il revient donc à chaque équipe de maintenir son architecture applicative et de données pour gouverner son patrimoine.</a:t>
            </a:r>
            <a:endParaRPr lang="en-US" sz="1250" dirty="0">
              <a:latin typeface="Segoe UI" panose="020B0502040204020203" pitchFamily="34" charset="0"/>
              <a:cs typeface="Segoe UI" panose="020B0502040204020203" pitchFamily="34" charset="0"/>
            </a:endParaRPr>
          </a:p>
        </p:txBody>
      </p:sp>
      <p:sp>
        <p:nvSpPr>
          <p:cNvPr id="12" name="Text 13">
            <a:extLst>
              <a:ext uri="{FF2B5EF4-FFF2-40B4-BE49-F238E27FC236}">
                <a16:creationId xmlns:a16="http://schemas.microsoft.com/office/drawing/2014/main" id="{1F360B74-9E93-3273-4050-F534B9634304}"/>
              </a:ext>
            </a:extLst>
          </p:cNvPr>
          <p:cNvSpPr txBox="1"/>
          <p:nvPr/>
        </p:nvSpPr>
        <p:spPr>
          <a:xfrm>
            <a:off x="585812" y="1098841"/>
            <a:ext cx="5303520" cy="274320"/>
          </a:xfrm>
          <a:prstGeom prst="rect">
            <a:avLst/>
          </a:prstGeom>
          <a:noFill/>
          <a:ln/>
        </p:spPr>
        <p:txBody>
          <a:bodyPr wrap="square" lIns="0" tIns="0" rIns="0" bIns="0" rtlCol="0" anchor="ctr"/>
          <a:lstStyle/>
          <a:p>
            <a:pPr marL="0" indent="0">
              <a:buNone/>
            </a:pPr>
            <a:r>
              <a:rPr lang="fr-FR" sz="1150" b="1" dirty="0">
                <a:solidFill>
                  <a:srgbClr val="7A8699"/>
                </a:solidFill>
                <a:latin typeface="Segoe UI" panose="020B0502040204020203" pitchFamily="34" charset="0"/>
                <a:ea typeface="Calibri" pitchFamily="34" charset="-122"/>
                <a:cs typeface="Segoe UI" panose="020B0502040204020203" pitchFamily="34" charset="0"/>
              </a:rPr>
              <a:t>Cadre d'urbanisation du système d'information </a:t>
            </a:r>
            <a:r>
              <a:rPr lang="fr-FR" sz="1150" b="1" baseline="30000" dirty="0">
                <a:solidFill>
                  <a:srgbClr val="7A8699"/>
                </a:solidFill>
                <a:latin typeface="Segoe UI" panose="020B0502040204020203" pitchFamily="34" charset="0"/>
                <a:ea typeface="Calibri" pitchFamily="34" charset="-122"/>
                <a:cs typeface="Segoe UI" panose="020B0502040204020203" pitchFamily="34" charset="0"/>
              </a:rPr>
              <a:t>(*)</a:t>
            </a:r>
            <a:endParaRPr lang="fr-FR" sz="1150" baseline="30000" dirty="0">
              <a:latin typeface="Segoe UI" panose="020B0502040204020203" pitchFamily="34" charset="0"/>
              <a:cs typeface="Segoe UI" panose="020B0502040204020203" pitchFamily="34" charset="0"/>
            </a:endParaRPr>
          </a:p>
        </p:txBody>
      </p:sp>
      <p:sp>
        <p:nvSpPr>
          <p:cNvPr id="13" name="Shape 14">
            <a:extLst>
              <a:ext uri="{FF2B5EF4-FFF2-40B4-BE49-F238E27FC236}">
                <a16:creationId xmlns:a16="http://schemas.microsoft.com/office/drawing/2014/main" id="{F6963834-5ACF-F59C-3CE4-49FA3FE0873F}"/>
              </a:ext>
            </a:extLst>
          </p:cNvPr>
          <p:cNvSpPr/>
          <p:nvPr/>
        </p:nvSpPr>
        <p:spPr>
          <a:xfrm>
            <a:off x="585812" y="1443191"/>
            <a:ext cx="5303520" cy="841248"/>
          </a:xfrm>
          <a:prstGeom prst="roundRect">
            <a:avLst>
              <a:gd name="adj" fmla="val 5435"/>
            </a:avLst>
          </a:prstGeom>
          <a:solidFill>
            <a:srgbClr val="EFF2F7"/>
          </a:solidFill>
          <a:ln w="12700">
            <a:solidFill>
              <a:srgbClr val="D8DEE9"/>
            </a:solidFill>
            <a:prstDash val="solid"/>
          </a:ln>
        </p:spPr>
      </p:sp>
      <p:sp>
        <p:nvSpPr>
          <p:cNvPr id="14" name="Text 15">
            <a:extLst>
              <a:ext uri="{FF2B5EF4-FFF2-40B4-BE49-F238E27FC236}">
                <a16:creationId xmlns:a16="http://schemas.microsoft.com/office/drawing/2014/main" id="{5026C0BD-1065-62FC-73A5-C9FE775C5AB1}"/>
              </a:ext>
            </a:extLst>
          </p:cNvPr>
          <p:cNvSpPr txBox="1"/>
          <p:nvPr/>
        </p:nvSpPr>
        <p:spPr>
          <a:xfrm>
            <a:off x="860132" y="1571207"/>
            <a:ext cx="4754880" cy="274320"/>
          </a:xfrm>
          <a:prstGeom prst="rect">
            <a:avLst/>
          </a:prstGeom>
          <a:noFill/>
          <a:ln/>
        </p:spPr>
        <p:txBody>
          <a:bodyPr wrap="square" lIns="0" tIns="0" rIns="0" bIns="0" rtlCol="0" anchor="ctr"/>
          <a:lstStyle/>
          <a:p>
            <a:pPr marL="0" indent="0">
              <a:buNone/>
            </a:pPr>
            <a:r>
              <a:rPr lang="en-US" sz="1350" b="1" dirty="0">
                <a:solidFill>
                  <a:srgbClr val="6B7C9E"/>
                </a:solidFill>
                <a:latin typeface="Segoe UI" panose="020B0502040204020203" pitchFamily="34" charset="0"/>
                <a:ea typeface="Calibri" pitchFamily="34" charset="-122"/>
                <a:cs typeface="Segoe UI" panose="020B0502040204020203" pitchFamily="34" charset="0"/>
              </a:rPr>
              <a:t>Objectifs &amp; Processus Métier</a:t>
            </a:r>
            <a:endParaRPr lang="en-US" sz="1350" dirty="0">
              <a:latin typeface="Segoe UI" panose="020B0502040204020203" pitchFamily="34" charset="0"/>
              <a:cs typeface="Segoe UI" panose="020B0502040204020203" pitchFamily="34" charset="0"/>
            </a:endParaRPr>
          </a:p>
        </p:txBody>
      </p:sp>
      <p:sp>
        <p:nvSpPr>
          <p:cNvPr id="16" name="Shape 17">
            <a:extLst>
              <a:ext uri="{FF2B5EF4-FFF2-40B4-BE49-F238E27FC236}">
                <a16:creationId xmlns:a16="http://schemas.microsoft.com/office/drawing/2014/main" id="{9E9F116E-330E-A60E-A680-541238206F49}"/>
              </a:ext>
            </a:extLst>
          </p:cNvPr>
          <p:cNvSpPr/>
          <p:nvPr/>
        </p:nvSpPr>
        <p:spPr>
          <a:xfrm>
            <a:off x="585812" y="2401749"/>
            <a:ext cx="5303520" cy="841248"/>
          </a:xfrm>
          <a:prstGeom prst="roundRect">
            <a:avLst>
              <a:gd name="adj" fmla="val 5435"/>
            </a:avLst>
          </a:prstGeom>
          <a:solidFill>
            <a:srgbClr val="2A4574"/>
          </a:solidFill>
          <a:ln w="12700">
            <a:solidFill>
              <a:srgbClr val="2A4574"/>
            </a:solidFill>
            <a:prstDash val="solid"/>
          </a:ln>
          <a:effectLst>
            <a:outerShdw blurRad="127000" dist="25400" dir="5400000" algn="bl" rotWithShape="0">
              <a:srgbClr val="9AA6BA">
                <a:alpha val="22000"/>
              </a:srgbClr>
            </a:outerShdw>
          </a:effectLst>
        </p:spPr>
      </p:sp>
      <p:sp>
        <p:nvSpPr>
          <p:cNvPr id="17" name="Text 18">
            <a:extLst>
              <a:ext uri="{FF2B5EF4-FFF2-40B4-BE49-F238E27FC236}">
                <a16:creationId xmlns:a16="http://schemas.microsoft.com/office/drawing/2014/main" id="{EF8C020A-4311-3B5B-E769-B7EF2D2B1E88}"/>
              </a:ext>
            </a:extLst>
          </p:cNvPr>
          <p:cNvSpPr txBox="1"/>
          <p:nvPr/>
        </p:nvSpPr>
        <p:spPr>
          <a:xfrm>
            <a:off x="860132" y="2529765"/>
            <a:ext cx="4754880" cy="274320"/>
          </a:xfrm>
          <a:prstGeom prst="rect">
            <a:avLst/>
          </a:prstGeom>
          <a:noFill/>
          <a:ln/>
        </p:spPr>
        <p:txBody>
          <a:bodyPr wrap="square" lIns="0" tIns="0" rIns="0" bIns="0" rtlCol="0" anchor="ctr"/>
          <a:lstStyle/>
          <a:p>
            <a:pPr marL="0" indent="0">
              <a:buNone/>
            </a:pPr>
            <a:r>
              <a:rPr lang="en-US" sz="1350" b="1" dirty="0">
                <a:solidFill>
                  <a:schemeClr val="bg1"/>
                </a:solidFill>
                <a:latin typeface="Segoe UI" panose="020B0502040204020203" pitchFamily="34" charset="0"/>
                <a:ea typeface="Calibri" pitchFamily="34" charset="-122"/>
                <a:cs typeface="Segoe UI" panose="020B0502040204020203" pitchFamily="34" charset="0"/>
              </a:rPr>
              <a:t>Architecture Fonctionnelle</a:t>
            </a:r>
            <a:endParaRPr lang="en-US" sz="1350" dirty="0">
              <a:solidFill>
                <a:schemeClr val="bg1"/>
              </a:solidFill>
              <a:latin typeface="Segoe UI" panose="020B0502040204020203" pitchFamily="34" charset="0"/>
              <a:cs typeface="Segoe UI" panose="020B0502040204020203" pitchFamily="34" charset="0"/>
            </a:endParaRPr>
          </a:p>
        </p:txBody>
      </p:sp>
      <p:sp>
        <p:nvSpPr>
          <p:cNvPr id="19" name="Shape 20">
            <a:extLst>
              <a:ext uri="{FF2B5EF4-FFF2-40B4-BE49-F238E27FC236}">
                <a16:creationId xmlns:a16="http://schemas.microsoft.com/office/drawing/2014/main" id="{C909A15D-2ED4-EF63-B7E2-CD1A3E2B4EB9}"/>
              </a:ext>
            </a:extLst>
          </p:cNvPr>
          <p:cNvSpPr/>
          <p:nvPr/>
        </p:nvSpPr>
        <p:spPr>
          <a:xfrm>
            <a:off x="585812" y="3360307"/>
            <a:ext cx="5303520" cy="841248"/>
          </a:xfrm>
          <a:prstGeom prst="roundRect">
            <a:avLst>
              <a:gd name="adj" fmla="val 5435"/>
            </a:avLst>
          </a:prstGeom>
          <a:solidFill>
            <a:srgbClr val="2A4574"/>
          </a:solidFill>
          <a:ln w="12700">
            <a:solidFill>
              <a:srgbClr val="2A4574"/>
            </a:solidFill>
            <a:prstDash val="solid"/>
          </a:ln>
          <a:effectLst>
            <a:outerShdw blurRad="127000" dist="25400" dir="5400000" algn="bl" rotWithShape="0">
              <a:srgbClr val="9AA6BA">
                <a:alpha val="22000"/>
              </a:srgbClr>
            </a:outerShdw>
          </a:effectLst>
        </p:spPr>
      </p:sp>
      <p:sp>
        <p:nvSpPr>
          <p:cNvPr id="20" name="Text 21">
            <a:extLst>
              <a:ext uri="{FF2B5EF4-FFF2-40B4-BE49-F238E27FC236}">
                <a16:creationId xmlns:a16="http://schemas.microsoft.com/office/drawing/2014/main" id="{7BC8D8BB-4E79-4BF3-425E-F585A5134DD5}"/>
              </a:ext>
            </a:extLst>
          </p:cNvPr>
          <p:cNvSpPr txBox="1"/>
          <p:nvPr/>
        </p:nvSpPr>
        <p:spPr>
          <a:xfrm>
            <a:off x="860132" y="3488323"/>
            <a:ext cx="4754880" cy="274320"/>
          </a:xfrm>
          <a:prstGeom prst="rect">
            <a:avLst/>
          </a:prstGeom>
          <a:noFill/>
          <a:ln/>
        </p:spPr>
        <p:txBody>
          <a:bodyPr wrap="square" lIns="0" tIns="0" rIns="0" bIns="0" rtlCol="0" anchor="ctr"/>
          <a:lstStyle/>
          <a:p>
            <a:pPr marL="0" indent="0">
              <a:buNone/>
            </a:pPr>
            <a:r>
              <a:rPr lang="en-US" sz="1350" b="1" dirty="0">
                <a:solidFill>
                  <a:srgbClr val="FFFFFF"/>
                </a:solidFill>
                <a:latin typeface="Segoe UI" panose="020B0502040204020203" pitchFamily="34" charset="0"/>
                <a:ea typeface="Calibri" pitchFamily="34" charset="-122"/>
                <a:cs typeface="Segoe UI" panose="020B0502040204020203" pitchFamily="34" charset="0"/>
              </a:rPr>
              <a:t>Architecture Applicative &amp; Données</a:t>
            </a:r>
            <a:endParaRPr lang="en-US" sz="1350" dirty="0">
              <a:latin typeface="Segoe UI" panose="020B0502040204020203" pitchFamily="34" charset="0"/>
              <a:cs typeface="Segoe UI" panose="020B0502040204020203" pitchFamily="34" charset="0"/>
            </a:endParaRPr>
          </a:p>
        </p:txBody>
      </p:sp>
      <p:sp>
        <p:nvSpPr>
          <p:cNvPr id="21" name="Text 22">
            <a:extLst>
              <a:ext uri="{FF2B5EF4-FFF2-40B4-BE49-F238E27FC236}">
                <a16:creationId xmlns:a16="http://schemas.microsoft.com/office/drawing/2014/main" id="{C7C26066-70B5-2402-96E4-2FD15E64A1E1}"/>
              </a:ext>
            </a:extLst>
          </p:cNvPr>
          <p:cNvSpPr txBox="1"/>
          <p:nvPr/>
        </p:nvSpPr>
        <p:spPr>
          <a:xfrm>
            <a:off x="860132" y="3780931"/>
            <a:ext cx="4754880" cy="256032"/>
          </a:xfrm>
          <a:prstGeom prst="rect">
            <a:avLst/>
          </a:prstGeom>
          <a:noFill/>
          <a:ln/>
        </p:spPr>
        <p:txBody>
          <a:bodyPr wrap="square" lIns="0" tIns="0" rIns="0" bIns="0" rtlCol="0" anchor="ctr"/>
          <a:lstStyle/>
          <a:p>
            <a:pPr marL="0" indent="0">
              <a:buNone/>
            </a:pPr>
            <a:r>
              <a:rPr lang="en-US" sz="1100" i="1" dirty="0">
                <a:solidFill>
                  <a:srgbClr val="C6D3E8"/>
                </a:solidFill>
                <a:latin typeface="Segoe UI" panose="020B0502040204020203" pitchFamily="34" charset="0"/>
                <a:ea typeface="Calibri" pitchFamily="34" charset="-122"/>
                <a:cs typeface="Segoe UI" panose="020B0502040204020203" pitchFamily="34" charset="0"/>
              </a:rPr>
              <a:t>socle du chantier</a:t>
            </a:r>
            <a:endParaRPr lang="en-US" sz="1100" dirty="0">
              <a:latin typeface="Segoe UI" panose="020B0502040204020203" pitchFamily="34" charset="0"/>
              <a:cs typeface="Segoe UI" panose="020B0502040204020203" pitchFamily="34" charset="0"/>
            </a:endParaRPr>
          </a:p>
        </p:txBody>
      </p:sp>
      <p:sp>
        <p:nvSpPr>
          <p:cNvPr id="22" name="Shape 23">
            <a:extLst>
              <a:ext uri="{FF2B5EF4-FFF2-40B4-BE49-F238E27FC236}">
                <a16:creationId xmlns:a16="http://schemas.microsoft.com/office/drawing/2014/main" id="{91DCDB37-6734-C177-6FF8-399CFB6F49B0}"/>
              </a:ext>
            </a:extLst>
          </p:cNvPr>
          <p:cNvSpPr/>
          <p:nvPr/>
        </p:nvSpPr>
        <p:spPr>
          <a:xfrm>
            <a:off x="585812" y="4336262"/>
            <a:ext cx="5303520" cy="841248"/>
          </a:xfrm>
          <a:prstGeom prst="roundRect">
            <a:avLst>
              <a:gd name="adj" fmla="val 5435"/>
            </a:avLst>
          </a:prstGeom>
          <a:solidFill>
            <a:srgbClr val="EFF2F7"/>
          </a:solidFill>
          <a:ln w="12700">
            <a:solidFill>
              <a:srgbClr val="D8DEE9"/>
            </a:solidFill>
            <a:prstDash val="solid"/>
          </a:ln>
        </p:spPr>
      </p:sp>
      <p:sp>
        <p:nvSpPr>
          <p:cNvPr id="23" name="Text 24">
            <a:extLst>
              <a:ext uri="{FF2B5EF4-FFF2-40B4-BE49-F238E27FC236}">
                <a16:creationId xmlns:a16="http://schemas.microsoft.com/office/drawing/2014/main" id="{B0DB4EB6-AAC3-199B-B8CB-60D907845561}"/>
              </a:ext>
            </a:extLst>
          </p:cNvPr>
          <p:cNvSpPr txBox="1"/>
          <p:nvPr/>
        </p:nvSpPr>
        <p:spPr>
          <a:xfrm>
            <a:off x="860132" y="4464278"/>
            <a:ext cx="4754880" cy="274320"/>
          </a:xfrm>
          <a:prstGeom prst="rect">
            <a:avLst/>
          </a:prstGeom>
          <a:noFill/>
          <a:ln/>
        </p:spPr>
        <p:txBody>
          <a:bodyPr wrap="square" lIns="0" tIns="0" rIns="0" bIns="0" rtlCol="0" anchor="ctr"/>
          <a:lstStyle/>
          <a:p>
            <a:pPr marL="0" indent="0">
              <a:buNone/>
            </a:pPr>
            <a:r>
              <a:rPr lang="en-US" sz="1350" b="1" dirty="0">
                <a:solidFill>
                  <a:srgbClr val="6B7C9E"/>
                </a:solidFill>
                <a:latin typeface="Segoe UI" panose="020B0502040204020203" pitchFamily="34" charset="0"/>
                <a:ea typeface="Calibri" pitchFamily="34" charset="-122"/>
                <a:cs typeface="Segoe UI" panose="020B0502040204020203" pitchFamily="34" charset="0"/>
              </a:rPr>
              <a:t>Architecture Technique</a:t>
            </a:r>
            <a:endParaRPr lang="en-US" sz="1350" dirty="0">
              <a:latin typeface="Segoe UI" panose="020B0502040204020203" pitchFamily="34" charset="0"/>
              <a:cs typeface="Segoe UI" panose="020B0502040204020203" pitchFamily="34" charset="0"/>
            </a:endParaRPr>
          </a:p>
        </p:txBody>
      </p:sp>
      <p:sp>
        <p:nvSpPr>
          <p:cNvPr id="25" name="Text 16">
            <a:extLst>
              <a:ext uri="{FF2B5EF4-FFF2-40B4-BE49-F238E27FC236}">
                <a16:creationId xmlns:a16="http://schemas.microsoft.com/office/drawing/2014/main" id="{23A06B7A-F177-1322-5370-0E1E03A99247}"/>
              </a:ext>
            </a:extLst>
          </p:cNvPr>
          <p:cNvSpPr txBox="1"/>
          <p:nvPr/>
        </p:nvSpPr>
        <p:spPr>
          <a:xfrm>
            <a:off x="4716965" y="1546897"/>
            <a:ext cx="1104715" cy="316918"/>
          </a:xfrm>
          <a:prstGeom prst="rect">
            <a:avLst/>
          </a:prstGeom>
          <a:noFill/>
          <a:ln/>
        </p:spPr>
        <p:txBody>
          <a:bodyPr wrap="square" lIns="0" tIns="0" rIns="0" bIns="0" rtlCol="0" anchor="ctr"/>
          <a:lstStyle/>
          <a:p>
            <a:pPr marL="0" indent="0" algn="r">
              <a:buNone/>
            </a:pPr>
            <a:r>
              <a:rPr lang="fr-FR" sz="1100" i="1" dirty="0">
                <a:solidFill>
                  <a:srgbClr val="7A8699"/>
                </a:solidFill>
                <a:latin typeface="Segoe UI" panose="020B0502040204020203" pitchFamily="34" charset="0"/>
                <a:ea typeface="Calibri" pitchFamily="34" charset="-122"/>
                <a:cs typeface="Segoe UI" panose="020B0502040204020203" pitchFamily="34" charset="0"/>
              </a:rPr>
              <a:t>Pourquoi ?</a:t>
            </a:r>
            <a:endParaRPr lang="fr-FR" sz="1100" dirty="0">
              <a:latin typeface="Segoe UI" panose="020B0502040204020203" pitchFamily="34" charset="0"/>
              <a:cs typeface="Segoe UI" panose="020B0502040204020203" pitchFamily="34" charset="0"/>
            </a:endParaRPr>
          </a:p>
        </p:txBody>
      </p:sp>
      <p:sp>
        <p:nvSpPr>
          <p:cNvPr id="26" name="Text 16">
            <a:extLst>
              <a:ext uri="{FF2B5EF4-FFF2-40B4-BE49-F238E27FC236}">
                <a16:creationId xmlns:a16="http://schemas.microsoft.com/office/drawing/2014/main" id="{AE0FBBA2-18DE-51EA-89F9-B08786185AEA}"/>
              </a:ext>
            </a:extLst>
          </p:cNvPr>
          <p:cNvSpPr txBox="1"/>
          <p:nvPr/>
        </p:nvSpPr>
        <p:spPr>
          <a:xfrm>
            <a:off x="4226314" y="2464270"/>
            <a:ext cx="1595366" cy="314355"/>
          </a:xfrm>
          <a:prstGeom prst="rect">
            <a:avLst/>
          </a:prstGeom>
          <a:noFill/>
          <a:ln/>
        </p:spPr>
        <p:txBody>
          <a:bodyPr wrap="square" lIns="0" tIns="0" rIns="0" bIns="0" rtlCol="0" anchor="ctr"/>
          <a:lstStyle/>
          <a:p>
            <a:pPr marL="0" indent="0" algn="r">
              <a:buNone/>
            </a:pPr>
            <a:r>
              <a:rPr lang="fr-FR" sz="1100" i="1" dirty="0">
                <a:solidFill>
                  <a:srgbClr val="7A8699"/>
                </a:solidFill>
                <a:latin typeface="Segoe UI" panose="020B0502040204020203" pitchFamily="34" charset="0"/>
                <a:ea typeface="Calibri" pitchFamily="34" charset="-122"/>
                <a:cs typeface="Segoe UI" panose="020B0502040204020203" pitchFamily="34" charset="0"/>
              </a:rPr>
              <a:t>Quelles capacités ?</a:t>
            </a:r>
            <a:endParaRPr lang="fr-FR" sz="1100" dirty="0">
              <a:latin typeface="Segoe UI" panose="020B0502040204020203" pitchFamily="34" charset="0"/>
              <a:cs typeface="Segoe UI" panose="020B0502040204020203" pitchFamily="34" charset="0"/>
            </a:endParaRPr>
          </a:p>
        </p:txBody>
      </p:sp>
      <p:sp>
        <p:nvSpPr>
          <p:cNvPr id="27" name="Text 16">
            <a:extLst>
              <a:ext uri="{FF2B5EF4-FFF2-40B4-BE49-F238E27FC236}">
                <a16:creationId xmlns:a16="http://schemas.microsoft.com/office/drawing/2014/main" id="{999DB856-409D-1AD9-804B-933FD377DFA1}"/>
              </a:ext>
            </a:extLst>
          </p:cNvPr>
          <p:cNvSpPr txBox="1"/>
          <p:nvPr/>
        </p:nvSpPr>
        <p:spPr>
          <a:xfrm>
            <a:off x="4647457" y="3405358"/>
            <a:ext cx="1104715" cy="316918"/>
          </a:xfrm>
          <a:prstGeom prst="rect">
            <a:avLst/>
          </a:prstGeom>
          <a:noFill/>
          <a:ln/>
        </p:spPr>
        <p:txBody>
          <a:bodyPr wrap="square" lIns="0" tIns="0" rIns="0" bIns="0" rtlCol="0" anchor="ctr"/>
          <a:lstStyle/>
          <a:p>
            <a:pPr marL="0" indent="0" algn="r">
              <a:buNone/>
            </a:pPr>
            <a:r>
              <a:rPr lang="fr-FR" sz="1100" i="1" dirty="0">
                <a:solidFill>
                  <a:srgbClr val="7A8699"/>
                </a:solidFill>
                <a:latin typeface="Segoe UI" panose="020B0502040204020203" pitchFamily="34" charset="0"/>
                <a:ea typeface="Calibri" pitchFamily="34" charset="-122"/>
                <a:cs typeface="Segoe UI" panose="020B0502040204020203" pitchFamily="34" charset="0"/>
              </a:rPr>
              <a:t>Avec quoi ?</a:t>
            </a:r>
            <a:endParaRPr lang="fr-FR" sz="1100" dirty="0">
              <a:latin typeface="Segoe UI" panose="020B0502040204020203" pitchFamily="34" charset="0"/>
              <a:cs typeface="Segoe UI" panose="020B0502040204020203" pitchFamily="34" charset="0"/>
            </a:endParaRPr>
          </a:p>
        </p:txBody>
      </p:sp>
      <p:sp>
        <p:nvSpPr>
          <p:cNvPr id="28" name="Text 16">
            <a:extLst>
              <a:ext uri="{FF2B5EF4-FFF2-40B4-BE49-F238E27FC236}">
                <a16:creationId xmlns:a16="http://schemas.microsoft.com/office/drawing/2014/main" id="{79359938-2610-DD83-BF4C-9CA3BC370AD6}"/>
              </a:ext>
            </a:extLst>
          </p:cNvPr>
          <p:cNvSpPr txBox="1"/>
          <p:nvPr/>
        </p:nvSpPr>
        <p:spPr>
          <a:xfrm>
            <a:off x="4226313" y="1990716"/>
            <a:ext cx="1595366" cy="316918"/>
          </a:xfrm>
          <a:prstGeom prst="rect">
            <a:avLst/>
          </a:prstGeom>
          <a:noFill/>
          <a:ln/>
        </p:spPr>
        <p:txBody>
          <a:bodyPr wrap="square" lIns="0" tIns="0" rIns="0" bIns="0" rtlCol="0" anchor="ctr"/>
          <a:lstStyle/>
          <a:p>
            <a:pPr marL="0" indent="0" algn="r">
              <a:buNone/>
            </a:pPr>
            <a:r>
              <a:rPr lang="fr-FR" sz="1100" i="1" dirty="0">
                <a:solidFill>
                  <a:srgbClr val="7A8699"/>
                </a:solidFill>
                <a:latin typeface="Segoe UI" panose="020B0502040204020203" pitchFamily="34" charset="0"/>
                <a:ea typeface="Calibri" pitchFamily="34" charset="-122"/>
                <a:cs typeface="Segoe UI" panose="020B0502040204020203" pitchFamily="34" charset="0"/>
              </a:rPr>
              <a:t>Évènements &amp; Process ?</a:t>
            </a:r>
            <a:endParaRPr lang="fr-FR" sz="1100" dirty="0">
              <a:latin typeface="Segoe UI" panose="020B0502040204020203" pitchFamily="34" charset="0"/>
              <a:cs typeface="Segoe UI" panose="020B0502040204020203" pitchFamily="34" charset="0"/>
            </a:endParaRPr>
          </a:p>
        </p:txBody>
      </p:sp>
      <p:sp>
        <p:nvSpPr>
          <p:cNvPr id="29" name="Text 13">
            <a:extLst>
              <a:ext uri="{FF2B5EF4-FFF2-40B4-BE49-F238E27FC236}">
                <a16:creationId xmlns:a16="http://schemas.microsoft.com/office/drawing/2014/main" id="{5522658F-7A4B-43C6-E209-EFBFA1655353}"/>
              </a:ext>
            </a:extLst>
          </p:cNvPr>
          <p:cNvSpPr txBox="1"/>
          <p:nvPr/>
        </p:nvSpPr>
        <p:spPr>
          <a:xfrm>
            <a:off x="585812" y="5768526"/>
            <a:ext cx="5303520" cy="274320"/>
          </a:xfrm>
          <a:prstGeom prst="rect">
            <a:avLst/>
          </a:prstGeom>
          <a:noFill/>
          <a:ln/>
        </p:spPr>
        <p:txBody>
          <a:bodyPr wrap="square" lIns="0" tIns="0" rIns="0" bIns="0" rtlCol="0" anchor="ctr"/>
          <a:lstStyle/>
          <a:p>
            <a:pPr marL="0" indent="0">
              <a:buNone/>
            </a:pPr>
            <a:r>
              <a:rPr lang="fr-FR" sz="1150" b="1" baseline="30000" dirty="0">
                <a:solidFill>
                  <a:srgbClr val="7A8699"/>
                </a:solidFill>
                <a:latin typeface="Segoe UI" panose="020B0502040204020203" pitchFamily="34" charset="0"/>
                <a:ea typeface="Calibri" pitchFamily="34" charset="-122"/>
                <a:cs typeface="Segoe UI" panose="020B0502040204020203" pitchFamily="34" charset="0"/>
              </a:rPr>
              <a:t>(*)</a:t>
            </a:r>
            <a:r>
              <a:rPr lang="fr-FR" sz="900" baseline="30000" dirty="0">
                <a:solidFill>
                  <a:srgbClr val="7A8699"/>
                </a:solidFill>
                <a:latin typeface="Segoe UI" panose="020B0502040204020203" pitchFamily="34" charset="0"/>
                <a:ea typeface="Calibri" pitchFamily="34" charset="-122"/>
                <a:cs typeface="Segoe UI" panose="020B0502040204020203" pitchFamily="34" charset="0"/>
              </a:rPr>
              <a:t> </a:t>
            </a:r>
            <a:r>
              <a:rPr lang="fr-FR" sz="900" dirty="0">
                <a:solidFill>
                  <a:srgbClr val="7A8699"/>
                </a:solidFill>
                <a:latin typeface="Segoe UI" panose="020B0502040204020203" pitchFamily="34" charset="0"/>
                <a:ea typeface="Calibri" pitchFamily="34" charset="-122"/>
                <a:cs typeface="Segoe UI" panose="020B0502040204020203" pitchFamily="34" charset="0"/>
              </a:rPr>
              <a:t>quatre niveaux de modélisation indépendants mais interconnectés (approche formalisée par le </a:t>
            </a:r>
            <a:r>
              <a:rPr lang="fr-FR" sz="900" dirty="0" err="1">
                <a:solidFill>
                  <a:srgbClr val="7A8699"/>
                </a:solidFill>
                <a:latin typeface="Segoe UI" panose="020B0502040204020203" pitchFamily="34" charset="0"/>
                <a:ea typeface="Calibri" pitchFamily="34" charset="-122"/>
                <a:cs typeface="Segoe UI" panose="020B0502040204020203" pitchFamily="34" charset="0"/>
              </a:rPr>
              <a:t>framework</a:t>
            </a:r>
            <a:r>
              <a:rPr lang="fr-FR" sz="900" dirty="0">
                <a:solidFill>
                  <a:srgbClr val="7A8699"/>
                </a:solidFill>
                <a:latin typeface="Segoe UI" panose="020B0502040204020203" pitchFamily="34" charset="0"/>
                <a:ea typeface="Calibri" pitchFamily="34" charset="-122"/>
                <a:cs typeface="Segoe UI" panose="020B0502040204020203" pitchFamily="34" charset="0"/>
              </a:rPr>
              <a:t> TOGAF</a:t>
            </a:r>
            <a:endParaRPr lang="fr-FR" sz="900" baseline="30000" dirty="0">
              <a:latin typeface="Segoe UI" panose="020B0502040204020203" pitchFamily="34" charset="0"/>
              <a:cs typeface="Segoe UI" panose="020B0502040204020203" pitchFamily="34" charset="0"/>
            </a:endParaRPr>
          </a:p>
        </p:txBody>
      </p:sp>
      <p:sp>
        <p:nvSpPr>
          <p:cNvPr id="31" name="Text 16">
            <a:extLst>
              <a:ext uri="{FF2B5EF4-FFF2-40B4-BE49-F238E27FC236}">
                <a16:creationId xmlns:a16="http://schemas.microsoft.com/office/drawing/2014/main" id="{C1DBC440-8335-1406-EB1E-A56D949375E4}"/>
              </a:ext>
            </a:extLst>
          </p:cNvPr>
          <p:cNvSpPr txBox="1"/>
          <p:nvPr/>
        </p:nvSpPr>
        <p:spPr>
          <a:xfrm>
            <a:off x="3947533" y="4349531"/>
            <a:ext cx="1789623" cy="306326"/>
          </a:xfrm>
          <a:prstGeom prst="rect">
            <a:avLst/>
          </a:prstGeom>
          <a:noFill/>
          <a:ln/>
        </p:spPr>
        <p:txBody>
          <a:bodyPr wrap="square" lIns="0" tIns="0" rIns="0" bIns="0" rtlCol="0" anchor="ctr"/>
          <a:lstStyle/>
          <a:p>
            <a:pPr marL="0" indent="0" algn="r">
              <a:buNone/>
            </a:pPr>
            <a:r>
              <a:rPr lang="fr-FR" sz="1100" i="1" dirty="0">
                <a:solidFill>
                  <a:srgbClr val="7A8699"/>
                </a:solidFill>
                <a:latin typeface="Segoe UI" panose="020B0502040204020203" pitchFamily="34" charset="0"/>
                <a:ea typeface="Calibri" pitchFamily="34" charset="-122"/>
                <a:cs typeface="Segoe UI" panose="020B0502040204020203" pitchFamily="34" charset="0"/>
              </a:rPr>
              <a:t>Sur quoi  ça tourne? </a:t>
            </a:r>
            <a:endParaRPr lang="fr-FR" sz="1100" dirty="0">
              <a:latin typeface="Segoe UI" panose="020B0502040204020203" pitchFamily="34" charset="0"/>
              <a:cs typeface="Segoe UI" panose="020B0502040204020203" pitchFamily="34" charset="0"/>
            </a:endParaRPr>
          </a:p>
        </p:txBody>
      </p:sp>
      <p:sp>
        <p:nvSpPr>
          <p:cNvPr id="35" name="Text 16">
            <a:extLst>
              <a:ext uri="{FF2B5EF4-FFF2-40B4-BE49-F238E27FC236}">
                <a16:creationId xmlns:a16="http://schemas.microsoft.com/office/drawing/2014/main" id="{66D7F14E-64C7-949A-0481-53C1FD0F5634}"/>
              </a:ext>
            </a:extLst>
          </p:cNvPr>
          <p:cNvSpPr txBox="1"/>
          <p:nvPr/>
        </p:nvSpPr>
        <p:spPr>
          <a:xfrm>
            <a:off x="3947533" y="4825687"/>
            <a:ext cx="1804640" cy="316918"/>
          </a:xfrm>
          <a:prstGeom prst="rect">
            <a:avLst/>
          </a:prstGeom>
          <a:noFill/>
          <a:ln/>
        </p:spPr>
        <p:txBody>
          <a:bodyPr wrap="square" lIns="0" tIns="0" rIns="0" bIns="0" rtlCol="0" anchor="ctr"/>
          <a:lstStyle/>
          <a:p>
            <a:pPr marL="0" indent="0" algn="r">
              <a:buNone/>
            </a:pPr>
            <a:r>
              <a:rPr lang="fr-FR" sz="1100" i="1" dirty="0">
                <a:solidFill>
                  <a:srgbClr val="7A8699"/>
                </a:solidFill>
                <a:latin typeface="Segoe UI" panose="020B0502040204020203" pitchFamily="34" charset="0"/>
                <a:ea typeface="Calibri" pitchFamily="34" charset="-122"/>
                <a:cs typeface="Segoe UI" panose="020B0502040204020203" pitchFamily="34" charset="0"/>
              </a:rPr>
              <a:t>Eléments techniques</a:t>
            </a:r>
            <a:endParaRPr lang="fr-FR" sz="1100" dirty="0">
              <a:latin typeface="Segoe UI" panose="020B0502040204020203" pitchFamily="34" charset="0"/>
              <a:cs typeface="Segoe UI" panose="020B0502040204020203" pitchFamily="34" charset="0"/>
            </a:endParaRPr>
          </a:p>
        </p:txBody>
      </p:sp>
      <p:sp>
        <p:nvSpPr>
          <p:cNvPr id="40" name="Text 16">
            <a:extLst>
              <a:ext uri="{FF2B5EF4-FFF2-40B4-BE49-F238E27FC236}">
                <a16:creationId xmlns:a16="http://schemas.microsoft.com/office/drawing/2014/main" id="{F29CA21B-9764-FAF7-CFE5-C69E39C8016B}"/>
              </a:ext>
            </a:extLst>
          </p:cNvPr>
          <p:cNvSpPr txBox="1"/>
          <p:nvPr/>
        </p:nvSpPr>
        <p:spPr>
          <a:xfrm>
            <a:off x="4449338" y="3856983"/>
            <a:ext cx="1302834" cy="316918"/>
          </a:xfrm>
          <a:prstGeom prst="rect">
            <a:avLst/>
          </a:prstGeom>
          <a:noFill/>
          <a:ln/>
        </p:spPr>
        <p:txBody>
          <a:bodyPr wrap="square" lIns="0" tIns="0" rIns="0" bIns="0" rtlCol="0" anchor="ctr"/>
          <a:lstStyle/>
          <a:p>
            <a:pPr marL="0" indent="0" algn="r">
              <a:buNone/>
            </a:pPr>
            <a:r>
              <a:rPr lang="fr-FR" sz="1100" i="1" dirty="0">
                <a:solidFill>
                  <a:srgbClr val="7A8699"/>
                </a:solidFill>
                <a:latin typeface="Segoe UI" panose="020B0502040204020203" pitchFamily="34" charset="0"/>
                <a:ea typeface="Calibri" pitchFamily="34" charset="-122"/>
                <a:cs typeface="Segoe UI" panose="020B0502040204020203" pitchFamily="34" charset="0"/>
              </a:rPr>
              <a:t>Eléments applicatifs</a:t>
            </a:r>
            <a:endParaRPr lang="fr-FR" sz="1100" dirty="0">
              <a:latin typeface="Segoe UI" panose="020B0502040204020203" pitchFamily="34" charset="0"/>
              <a:cs typeface="Segoe UI" panose="020B0502040204020203" pitchFamily="34" charset="0"/>
            </a:endParaRPr>
          </a:p>
        </p:txBody>
      </p:sp>
      <p:sp>
        <p:nvSpPr>
          <p:cNvPr id="41" name="Text 16">
            <a:extLst>
              <a:ext uri="{FF2B5EF4-FFF2-40B4-BE49-F238E27FC236}">
                <a16:creationId xmlns:a16="http://schemas.microsoft.com/office/drawing/2014/main" id="{89C14655-C4F5-A59A-BE22-9C905A3FB039}"/>
              </a:ext>
            </a:extLst>
          </p:cNvPr>
          <p:cNvSpPr txBox="1"/>
          <p:nvPr/>
        </p:nvSpPr>
        <p:spPr>
          <a:xfrm>
            <a:off x="4226314" y="2895935"/>
            <a:ext cx="1593286" cy="316918"/>
          </a:xfrm>
          <a:prstGeom prst="rect">
            <a:avLst/>
          </a:prstGeom>
          <a:noFill/>
          <a:ln/>
        </p:spPr>
        <p:txBody>
          <a:bodyPr wrap="square" lIns="0" tIns="0" rIns="0" bIns="0" rtlCol="0" anchor="ctr"/>
          <a:lstStyle/>
          <a:p>
            <a:pPr marL="0" indent="0" algn="r">
              <a:buNone/>
            </a:pPr>
            <a:r>
              <a:rPr lang="fr-FR" sz="1100" i="1" dirty="0">
                <a:solidFill>
                  <a:srgbClr val="7A8699"/>
                </a:solidFill>
                <a:latin typeface="Segoe UI" panose="020B0502040204020203" pitchFamily="34" charset="0"/>
                <a:ea typeface="Calibri" pitchFamily="34" charset="-122"/>
                <a:cs typeface="Segoe UI" panose="020B0502040204020203" pitchFamily="34" charset="0"/>
              </a:rPr>
              <a:t>Eléments fonctionnels</a:t>
            </a:r>
            <a:endParaRPr lang="fr-FR" sz="1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7261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8DF8-50A6-3127-AAFB-9FAA76D74D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456CDD-0613-CAE9-AC27-1B0985836BA0}"/>
              </a:ext>
            </a:extLst>
          </p:cNvPr>
          <p:cNvSpPr>
            <a:spLocks noGrp="1"/>
          </p:cNvSpPr>
          <p:nvPr>
            <p:ph type="title"/>
          </p:nvPr>
        </p:nvSpPr>
        <p:spPr/>
        <p:txBody>
          <a:bodyPr>
            <a:normAutofit fontScale="90000"/>
          </a:bodyPr>
          <a:lstStyle/>
          <a:p>
            <a:r>
              <a:rPr lang="fr-FR" sz="3200" dirty="0">
                <a:ea typeface="Calibri" pitchFamily="34" charset="-122"/>
              </a:rPr>
              <a:t>SYNTHÈSE DES ATELIERS</a:t>
            </a:r>
            <a:endParaRPr lang="fr-FR" sz="3200" dirty="0"/>
          </a:p>
        </p:txBody>
      </p:sp>
      <p:sp>
        <p:nvSpPr>
          <p:cNvPr id="30" name="Shape 4">
            <a:extLst>
              <a:ext uri="{FF2B5EF4-FFF2-40B4-BE49-F238E27FC236}">
                <a16:creationId xmlns:a16="http://schemas.microsoft.com/office/drawing/2014/main" id="{BB753339-5C08-3C4D-0121-2211325E9676}"/>
              </a:ext>
            </a:extLst>
          </p:cNvPr>
          <p:cNvSpPr/>
          <p:nvPr/>
        </p:nvSpPr>
        <p:spPr>
          <a:xfrm>
            <a:off x="609600" y="1116238"/>
            <a:ext cx="5486400" cy="4351204"/>
          </a:xfrm>
          <a:prstGeom prst="roundRect">
            <a:avLst>
              <a:gd name="adj" fmla="val 1446"/>
            </a:avLst>
          </a:prstGeom>
          <a:solidFill>
            <a:srgbClr val="EFF2F7"/>
          </a:solidFill>
          <a:ln w="12700">
            <a:solidFill>
              <a:srgbClr val="EFF2F7"/>
            </a:solidFill>
            <a:prstDash val="solid"/>
          </a:ln>
          <a:effectLst>
            <a:outerShdw blurRad="127000" dist="25400" dir="5400000" algn="bl" rotWithShape="0">
              <a:srgbClr val="9AA6BA">
                <a:alpha val="22000"/>
              </a:srgbClr>
            </a:outerShdw>
          </a:effectLst>
        </p:spPr>
      </p:sp>
      <p:sp>
        <p:nvSpPr>
          <p:cNvPr id="32" name="Text 5">
            <a:extLst>
              <a:ext uri="{FF2B5EF4-FFF2-40B4-BE49-F238E27FC236}">
                <a16:creationId xmlns:a16="http://schemas.microsoft.com/office/drawing/2014/main" id="{2735CE53-784B-837D-52CE-1D5F91F0BB64}"/>
              </a:ext>
            </a:extLst>
          </p:cNvPr>
          <p:cNvSpPr txBox="1"/>
          <p:nvPr/>
        </p:nvSpPr>
        <p:spPr>
          <a:xfrm>
            <a:off x="902208" y="1390558"/>
            <a:ext cx="4937760" cy="310896"/>
          </a:xfrm>
          <a:prstGeom prst="rect">
            <a:avLst/>
          </a:prstGeom>
          <a:noFill/>
          <a:ln/>
        </p:spPr>
        <p:txBody>
          <a:bodyPr wrap="square" lIns="0" tIns="0" rIns="0" bIns="0" rtlCol="0" anchor="ctr"/>
          <a:lstStyle/>
          <a:p>
            <a:pPr marL="0" indent="0">
              <a:buNone/>
            </a:pPr>
            <a:r>
              <a:rPr lang="en-US" sz="1500" b="1" dirty="0">
                <a:solidFill>
                  <a:srgbClr val="14203A"/>
                </a:solidFill>
                <a:latin typeface="Segoe UI" panose="020B0502040204020203" pitchFamily="34" charset="0"/>
                <a:ea typeface="Calibri" pitchFamily="34" charset="-122"/>
                <a:cs typeface="Segoe UI" panose="020B0502040204020203" pitchFamily="34" charset="0"/>
              </a:rPr>
              <a:t>Ce qui fait consensus</a:t>
            </a:r>
            <a:endParaRPr lang="en-US" sz="1500" dirty="0">
              <a:latin typeface="Segoe UI" panose="020B0502040204020203" pitchFamily="34" charset="0"/>
              <a:cs typeface="Segoe UI" panose="020B0502040204020203" pitchFamily="34" charset="0"/>
            </a:endParaRPr>
          </a:p>
        </p:txBody>
      </p:sp>
      <p:sp>
        <p:nvSpPr>
          <p:cNvPr id="33" name="Text 6">
            <a:extLst>
              <a:ext uri="{FF2B5EF4-FFF2-40B4-BE49-F238E27FC236}">
                <a16:creationId xmlns:a16="http://schemas.microsoft.com/office/drawing/2014/main" id="{7A8326C1-73A5-010D-F124-812A9B51D7AF}"/>
              </a:ext>
            </a:extLst>
          </p:cNvPr>
          <p:cNvSpPr txBox="1"/>
          <p:nvPr/>
        </p:nvSpPr>
        <p:spPr>
          <a:xfrm>
            <a:off x="902208" y="1820326"/>
            <a:ext cx="4937760" cy="3044952"/>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fr-FR" sz="1200" b="1" dirty="0">
                <a:solidFill>
                  <a:srgbClr val="33415C"/>
                </a:solidFill>
                <a:latin typeface="Segoe UI" panose="020B0502040204020203" pitchFamily="34" charset="0"/>
                <a:ea typeface="Calibri" pitchFamily="34" charset="-122"/>
                <a:cs typeface="Segoe UI" panose="020B0502040204020203" pitchFamily="34" charset="0"/>
              </a:rPr>
              <a:t>Le besoin est réel et transverse </a:t>
            </a:r>
            <a:r>
              <a:rPr lang="fr-FR" sz="1200" dirty="0">
                <a:solidFill>
                  <a:srgbClr val="33415C"/>
                </a:solidFill>
                <a:latin typeface="Segoe UI" panose="020B0502040204020203" pitchFamily="34" charset="0"/>
                <a:ea typeface="Calibri" pitchFamily="34" charset="-122"/>
                <a:cs typeface="Segoe UI" panose="020B0502040204020203" pitchFamily="34" charset="0"/>
              </a:rPr>
              <a:t>: maintenir une architecture applicative et de données est nécessaire pour gouverner le patrimoine.</a:t>
            </a:r>
            <a:endParaRPr lang="fr-FR"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fr-FR" sz="1200" b="1" dirty="0">
                <a:solidFill>
                  <a:srgbClr val="33415C"/>
                </a:solidFill>
                <a:latin typeface="Segoe UI" panose="020B0502040204020203" pitchFamily="34" charset="0"/>
                <a:ea typeface="Calibri" pitchFamily="34" charset="-122"/>
                <a:cs typeface="Segoe UI" panose="020B0502040204020203" pitchFamily="34" charset="0"/>
              </a:rPr>
              <a:t>Quatre usages prioritaires : </a:t>
            </a:r>
            <a:r>
              <a:rPr lang="fr-FR" sz="1200" dirty="0">
                <a:solidFill>
                  <a:srgbClr val="33415C"/>
                </a:solidFill>
                <a:latin typeface="Segoe UI" panose="020B0502040204020203" pitchFamily="34" charset="0"/>
                <a:ea typeface="Calibri" pitchFamily="34" charset="-122"/>
                <a:cs typeface="Segoe UI" panose="020B0502040204020203" pitchFamily="34" charset="0"/>
              </a:rPr>
              <a:t>onboarding et formation, analyse d'impact en Run, communication inter-équipes et pédagogie MOA, capitalisation sur les pratiques.</a:t>
            </a:r>
            <a:endParaRPr lang="fr-FR"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fr-FR" sz="1200" b="1" dirty="0">
                <a:solidFill>
                  <a:srgbClr val="33415C"/>
                </a:solidFill>
                <a:latin typeface="Segoe UI" panose="020B0502040204020203" pitchFamily="34" charset="0"/>
                <a:ea typeface="Calibri" pitchFamily="34" charset="-122"/>
                <a:cs typeface="Segoe UI" panose="020B0502040204020203" pitchFamily="34" charset="0"/>
              </a:rPr>
              <a:t>Deux vues attendues : </a:t>
            </a:r>
            <a:r>
              <a:rPr lang="fr-FR" sz="1200" dirty="0">
                <a:solidFill>
                  <a:srgbClr val="33415C"/>
                </a:solidFill>
                <a:latin typeface="Segoe UI" panose="020B0502040204020203" pitchFamily="34" charset="0"/>
                <a:ea typeface="Calibri" pitchFamily="34" charset="-122"/>
                <a:cs typeface="Segoe UI" panose="020B0502040204020203" pitchFamily="34" charset="0"/>
              </a:rPr>
              <a:t>statique (de quoi est fait le patrimoine) et dynamique (comment les éléments du patrimoines interagissent avec leurs écosystèmes).</a:t>
            </a:r>
            <a:endParaRPr lang="fr-FR"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fr-FR" sz="1200" b="1" dirty="0">
                <a:solidFill>
                  <a:srgbClr val="33415C"/>
                </a:solidFill>
                <a:latin typeface="Segoe UI" panose="020B0502040204020203" pitchFamily="34" charset="0"/>
                <a:ea typeface="Calibri" pitchFamily="34" charset="-122"/>
                <a:cs typeface="Segoe UI" panose="020B0502040204020203" pitchFamily="34" charset="0"/>
              </a:rPr>
              <a:t>Le format doit rester visuel et lisible : </a:t>
            </a:r>
            <a:r>
              <a:rPr lang="fr-FR" sz="1200" dirty="0">
                <a:solidFill>
                  <a:srgbClr val="33415C"/>
                </a:solidFill>
                <a:latin typeface="Segoe UI" panose="020B0502040204020203" pitchFamily="34" charset="0"/>
                <a:ea typeface="Calibri" pitchFamily="34" charset="-122"/>
                <a:cs typeface="Segoe UI" panose="020B0502040204020203" pitchFamily="34" charset="0"/>
              </a:rPr>
              <a:t>PowerPoint privilégié à Visio, malgré un effort de maintenance supérieur.</a:t>
            </a:r>
            <a:endParaRPr lang="fr-FR"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fr-FR" sz="1200" b="1" dirty="0">
                <a:solidFill>
                  <a:srgbClr val="33415C"/>
                </a:solidFill>
                <a:latin typeface="Segoe UI" panose="020B0502040204020203" pitchFamily="34" charset="0"/>
                <a:ea typeface="Calibri" pitchFamily="34" charset="-122"/>
                <a:cs typeface="Segoe UI" panose="020B0502040204020203" pitchFamily="34" charset="0"/>
              </a:rPr>
              <a:t>La production &amp; la maintenance </a:t>
            </a:r>
            <a:r>
              <a:rPr lang="fr-FR" sz="1200" dirty="0">
                <a:solidFill>
                  <a:srgbClr val="33415C"/>
                </a:solidFill>
                <a:latin typeface="Segoe UI" panose="020B0502040204020203" pitchFamily="34" charset="0"/>
                <a:ea typeface="Calibri" pitchFamily="34" charset="-122"/>
                <a:cs typeface="Segoe UI" panose="020B0502040204020203" pitchFamily="34" charset="0"/>
              </a:rPr>
              <a:t>revient aux propriétaires d'applications.</a:t>
            </a:r>
            <a:endParaRPr lang="fr-FR"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fr-FR" sz="1200" b="1" dirty="0">
                <a:solidFill>
                  <a:srgbClr val="33415C"/>
                </a:solidFill>
                <a:latin typeface="Segoe UI" panose="020B0502040204020203" pitchFamily="34" charset="0"/>
                <a:ea typeface="Calibri" pitchFamily="34" charset="-122"/>
                <a:cs typeface="Segoe UI" panose="020B0502040204020203" pitchFamily="34" charset="0"/>
              </a:rPr>
              <a:t>Des règles et canevas communs sont indispensables </a:t>
            </a:r>
            <a:r>
              <a:rPr lang="fr-FR" sz="1200" dirty="0">
                <a:solidFill>
                  <a:srgbClr val="33415C"/>
                </a:solidFill>
                <a:latin typeface="Segoe UI" panose="020B0502040204020203" pitchFamily="34" charset="0"/>
                <a:ea typeface="Calibri" pitchFamily="34" charset="-122"/>
                <a:cs typeface="Segoe UI" panose="020B0502040204020203" pitchFamily="34" charset="0"/>
              </a:rPr>
              <a:t>pour harmoniser le formalisme.</a:t>
            </a:r>
            <a:endParaRPr lang="fr-FR" sz="1200" dirty="0">
              <a:latin typeface="Segoe UI" panose="020B0502040204020203" pitchFamily="34" charset="0"/>
              <a:cs typeface="Segoe UI" panose="020B0502040204020203" pitchFamily="34" charset="0"/>
            </a:endParaRPr>
          </a:p>
        </p:txBody>
      </p:sp>
      <p:sp>
        <p:nvSpPr>
          <p:cNvPr id="34" name="Shape 7">
            <a:extLst>
              <a:ext uri="{FF2B5EF4-FFF2-40B4-BE49-F238E27FC236}">
                <a16:creationId xmlns:a16="http://schemas.microsoft.com/office/drawing/2014/main" id="{E0970C41-26F1-9702-3CD7-3FD10211299C}"/>
              </a:ext>
            </a:extLst>
          </p:cNvPr>
          <p:cNvSpPr/>
          <p:nvPr/>
        </p:nvSpPr>
        <p:spPr>
          <a:xfrm>
            <a:off x="6370320" y="1116237"/>
            <a:ext cx="5303520" cy="4351203"/>
          </a:xfrm>
          <a:prstGeom prst="roundRect">
            <a:avLst>
              <a:gd name="adj" fmla="val 1446"/>
            </a:avLst>
          </a:prstGeom>
          <a:solidFill>
            <a:schemeClr val="accent4">
              <a:lumMod val="20000"/>
              <a:lumOff val="80000"/>
            </a:schemeClr>
          </a:solidFill>
          <a:ln w="12700">
            <a:solidFill>
              <a:srgbClr val="F7F1E6"/>
            </a:solidFill>
            <a:prstDash val="solid"/>
          </a:ln>
          <a:effectLst>
            <a:outerShdw blurRad="127000" dist="25400" dir="5400000" algn="bl" rotWithShape="0">
              <a:srgbClr val="9AA6BA">
                <a:alpha val="22000"/>
              </a:srgbClr>
            </a:outerShdw>
          </a:effectLst>
        </p:spPr>
      </p:sp>
      <p:sp>
        <p:nvSpPr>
          <p:cNvPr id="36" name="Text 8">
            <a:extLst>
              <a:ext uri="{FF2B5EF4-FFF2-40B4-BE49-F238E27FC236}">
                <a16:creationId xmlns:a16="http://schemas.microsoft.com/office/drawing/2014/main" id="{C24C9C41-B194-A52F-5708-6FCC7833994D}"/>
              </a:ext>
            </a:extLst>
          </p:cNvPr>
          <p:cNvSpPr txBox="1"/>
          <p:nvPr/>
        </p:nvSpPr>
        <p:spPr>
          <a:xfrm>
            <a:off x="6662928" y="1390558"/>
            <a:ext cx="4754880" cy="310896"/>
          </a:xfrm>
          <a:prstGeom prst="rect">
            <a:avLst/>
          </a:prstGeom>
          <a:noFill/>
          <a:ln/>
        </p:spPr>
        <p:txBody>
          <a:bodyPr wrap="square" lIns="0" tIns="0" rIns="0" bIns="0" rtlCol="0" anchor="ctr"/>
          <a:lstStyle/>
          <a:p>
            <a:pPr marL="0" indent="0">
              <a:buNone/>
            </a:pPr>
            <a:r>
              <a:rPr lang="en-US" sz="1500" b="1" dirty="0">
                <a:solidFill>
                  <a:srgbClr val="9A6E28"/>
                </a:solidFill>
                <a:latin typeface="Segoe UI" panose="020B0502040204020203" pitchFamily="34" charset="0"/>
                <a:ea typeface="Calibri" pitchFamily="34" charset="-122"/>
                <a:cs typeface="Segoe UI" panose="020B0502040204020203" pitchFamily="34" charset="0"/>
              </a:rPr>
              <a:t>Ce qui reste à arbitrer</a:t>
            </a:r>
            <a:endParaRPr lang="en-US" sz="1500" dirty="0">
              <a:latin typeface="Segoe UI" panose="020B0502040204020203" pitchFamily="34" charset="0"/>
              <a:cs typeface="Segoe UI" panose="020B0502040204020203" pitchFamily="34" charset="0"/>
            </a:endParaRPr>
          </a:p>
        </p:txBody>
      </p:sp>
      <p:sp>
        <p:nvSpPr>
          <p:cNvPr id="37" name="Text 9">
            <a:extLst>
              <a:ext uri="{FF2B5EF4-FFF2-40B4-BE49-F238E27FC236}">
                <a16:creationId xmlns:a16="http://schemas.microsoft.com/office/drawing/2014/main" id="{56E09238-7D28-CB4A-A250-C4BE656736F7}"/>
              </a:ext>
            </a:extLst>
          </p:cNvPr>
          <p:cNvSpPr txBox="1"/>
          <p:nvPr/>
        </p:nvSpPr>
        <p:spPr>
          <a:xfrm>
            <a:off x="6662928" y="1820326"/>
            <a:ext cx="4754880" cy="2550953"/>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fr-FR" sz="1200" b="1" dirty="0">
                <a:solidFill>
                  <a:srgbClr val="4A3A1F"/>
                </a:solidFill>
                <a:latin typeface="Segoe UI" panose="020B0502040204020203" pitchFamily="34" charset="0"/>
                <a:ea typeface="Calibri" pitchFamily="34" charset="-122"/>
                <a:cs typeface="Segoe UI" panose="020B0502040204020203" pitchFamily="34" charset="0"/>
              </a:rPr>
              <a:t>Niveau de vue : </a:t>
            </a:r>
            <a:r>
              <a:rPr lang="fr-FR" sz="1200" dirty="0">
                <a:solidFill>
                  <a:srgbClr val="4A3A1F"/>
                </a:solidFill>
                <a:latin typeface="Segoe UI" panose="020B0502040204020203" pitchFamily="34" charset="0"/>
                <a:ea typeface="Calibri" pitchFamily="34" charset="-122"/>
                <a:cs typeface="Segoe UI" panose="020B0502040204020203" pitchFamily="34" charset="0"/>
              </a:rPr>
              <a:t>H630 privilégie la vue fonctionnelle et juge la vue applicative peu structurante ; une vue technique est aussi demandée (Sur quels serveurs on déploie nos solutions).</a:t>
            </a:r>
          </a:p>
          <a:p>
            <a:pPr marL="342900" indent="-342900">
              <a:lnSpc>
                <a:spcPts val="1600"/>
              </a:lnSpc>
              <a:spcAft>
                <a:spcPts val="700"/>
              </a:spcAft>
              <a:buSzPct val="100000"/>
              <a:buChar char="–"/>
            </a:pPr>
            <a:r>
              <a:rPr lang="fr-FR" sz="1200" b="1" dirty="0">
                <a:solidFill>
                  <a:srgbClr val="4A3A1F"/>
                </a:solidFill>
                <a:latin typeface="Segoe UI" panose="020B0502040204020203" pitchFamily="34" charset="0"/>
                <a:ea typeface="Calibri" pitchFamily="34" charset="-122"/>
                <a:cs typeface="Segoe UI" panose="020B0502040204020203" pitchFamily="34" charset="0"/>
              </a:rPr>
              <a:t>Outillage</a:t>
            </a:r>
            <a:r>
              <a:rPr lang="fr-FR" sz="1200" dirty="0">
                <a:solidFill>
                  <a:srgbClr val="4A3A1F"/>
                </a:solidFill>
                <a:latin typeface="Segoe UI" panose="020B0502040204020203" pitchFamily="34" charset="0"/>
                <a:ea typeface="Calibri" pitchFamily="34" charset="-122"/>
                <a:cs typeface="Segoe UI" panose="020B0502040204020203" pitchFamily="34" charset="0"/>
              </a:rPr>
              <a:t> : PowerPoint, Visio, ROBIN ou </a:t>
            </a:r>
            <a:r>
              <a:rPr lang="fr-FR" sz="1200" dirty="0" err="1">
                <a:solidFill>
                  <a:srgbClr val="4A3A1F"/>
                </a:solidFill>
                <a:latin typeface="Segoe UI" panose="020B0502040204020203" pitchFamily="34" charset="0"/>
                <a:ea typeface="Calibri" pitchFamily="34" charset="-122"/>
                <a:cs typeface="Segoe UI" panose="020B0502040204020203" pitchFamily="34" charset="0"/>
              </a:rPr>
              <a:t>Excalidraw</a:t>
            </a:r>
            <a:r>
              <a:rPr lang="fr-FR" sz="1200" dirty="0">
                <a:solidFill>
                  <a:srgbClr val="4A3A1F"/>
                </a:solidFill>
                <a:latin typeface="Segoe UI" panose="020B0502040204020203" pitchFamily="34" charset="0"/>
                <a:ea typeface="Calibri" pitchFamily="34" charset="-122"/>
                <a:cs typeface="Segoe UI" panose="020B0502040204020203" pitchFamily="34" charset="0"/>
              </a:rPr>
              <a:t> — aucun standard groupe, plusieurs pratiques coexistent.</a:t>
            </a:r>
            <a:endParaRPr lang="fr-FR"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fr-FR" sz="1200" b="1" dirty="0">
                <a:solidFill>
                  <a:srgbClr val="4A3A1F"/>
                </a:solidFill>
                <a:latin typeface="Segoe UI" panose="020B0502040204020203" pitchFamily="34" charset="0"/>
                <a:ea typeface="Calibri" pitchFamily="34" charset="-122"/>
                <a:cs typeface="Segoe UI" panose="020B0502040204020203" pitchFamily="34" charset="0"/>
              </a:rPr>
              <a:t>Source de la vue dynamique </a:t>
            </a:r>
            <a:r>
              <a:rPr lang="fr-FR" sz="1200" dirty="0">
                <a:solidFill>
                  <a:srgbClr val="4A3A1F"/>
                </a:solidFill>
                <a:latin typeface="Segoe UI" panose="020B0502040204020203" pitchFamily="34" charset="0"/>
                <a:ea typeface="Calibri" pitchFamily="34" charset="-122"/>
                <a:cs typeface="Segoe UI" panose="020B0502040204020203" pitchFamily="34" charset="0"/>
              </a:rPr>
              <a:t>: se satisfaire de l'information ROBIN ou produire une représentation graphique ?</a:t>
            </a:r>
            <a:endParaRPr lang="fr-FR"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fr-FR" sz="1200" b="1" dirty="0">
                <a:solidFill>
                  <a:srgbClr val="4A3A1F"/>
                </a:solidFill>
                <a:latin typeface="Segoe UI" panose="020B0502040204020203" pitchFamily="34" charset="0"/>
                <a:ea typeface="Calibri" pitchFamily="34" charset="-122"/>
                <a:cs typeface="Segoe UI" panose="020B0502040204020203" pitchFamily="34" charset="0"/>
              </a:rPr>
              <a:t>Granularité</a:t>
            </a:r>
            <a:r>
              <a:rPr lang="fr-FR" sz="1200" dirty="0">
                <a:solidFill>
                  <a:srgbClr val="4A3A1F"/>
                </a:solidFill>
                <a:latin typeface="Segoe UI" panose="020B0502040204020203" pitchFamily="34" charset="0"/>
                <a:ea typeface="Calibri" pitchFamily="34" charset="-122"/>
                <a:cs typeface="Segoe UI" panose="020B0502040204020203" pitchFamily="34" charset="0"/>
              </a:rPr>
              <a:t> : quel niveau de détail pour expliquer le « comment ça marche » sans rendre la mise à jour intenable ?</a:t>
            </a:r>
            <a:endParaRPr lang="fr-FR" sz="1200" dirty="0">
              <a:latin typeface="Segoe UI" panose="020B0502040204020203" pitchFamily="34" charset="0"/>
              <a:cs typeface="Segoe UI" panose="020B0502040204020203" pitchFamily="34" charset="0"/>
            </a:endParaRPr>
          </a:p>
        </p:txBody>
      </p:sp>
      <p:sp>
        <p:nvSpPr>
          <p:cNvPr id="38" name="Shape 10">
            <a:extLst>
              <a:ext uri="{FF2B5EF4-FFF2-40B4-BE49-F238E27FC236}">
                <a16:creationId xmlns:a16="http://schemas.microsoft.com/office/drawing/2014/main" id="{CE47EA9A-F0D4-004F-F04F-311D207484AE}"/>
              </a:ext>
            </a:extLst>
          </p:cNvPr>
          <p:cNvSpPr/>
          <p:nvPr/>
        </p:nvSpPr>
        <p:spPr>
          <a:xfrm>
            <a:off x="609600" y="5613744"/>
            <a:ext cx="91440" cy="457200"/>
          </a:xfrm>
          <a:prstGeom prst="roundRect">
            <a:avLst>
              <a:gd name="adj" fmla="val 40000"/>
            </a:avLst>
          </a:prstGeom>
          <a:solidFill>
            <a:srgbClr val="003A8D"/>
          </a:solidFill>
          <a:ln w="12700">
            <a:noFill/>
            <a:prstDash val="solid"/>
          </a:ln>
        </p:spPr>
      </p:sp>
      <p:sp>
        <p:nvSpPr>
          <p:cNvPr id="39" name="Text 11">
            <a:extLst>
              <a:ext uri="{FF2B5EF4-FFF2-40B4-BE49-F238E27FC236}">
                <a16:creationId xmlns:a16="http://schemas.microsoft.com/office/drawing/2014/main" id="{6783466B-37DD-1793-CCD4-66B5BCFA54FE}"/>
              </a:ext>
            </a:extLst>
          </p:cNvPr>
          <p:cNvSpPr txBox="1"/>
          <p:nvPr/>
        </p:nvSpPr>
        <p:spPr>
          <a:xfrm>
            <a:off x="865632" y="5586312"/>
            <a:ext cx="10789920" cy="548640"/>
          </a:xfrm>
          <a:prstGeom prst="rect">
            <a:avLst/>
          </a:prstGeom>
          <a:noFill/>
          <a:ln/>
        </p:spPr>
        <p:txBody>
          <a:bodyPr wrap="square" lIns="0" tIns="0" rIns="0" bIns="0" rtlCol="0" anchor="ctr"/>
          <a:lstStyle/>
          <a:p>
            <a:pPr marL="0" indent="0">
              <a:lnSpc>
                <a:spcPts val="1700"/>
              </a:lnSpc>
              <a:buNone/>
            </a:pPr>
            <a:r>
              <a:rPr lang="en-US" sz="1250" i="1" dirty="0">
                <a:solidFill>
                  <a:srgbClr val="33415C"/>
                </a:solidFill>
                <a:latin typeface="Segoe UI" panose="020B0502040204020203" pitchFamily="34" charset="0"/>
                <a:ea typeface="Calibri" pitchFamily="34" charset="-122"/>
                <a:cs typeface="Segoe UI" panose="020B0502040204020203" pitchFamily="34" charset="0"/>
              </a:rPr>
              <a:t>Ces quatre arbitrages constituent l'ordre du jour de la réunion de synthèse : ils conditionnent le contenu des canevas et le choix de l'outil, donc la capacité des équipes à produire.</a:t>
            </a:r>
            <a:endParaRPr lang="en-US" sz="125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1242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8DF8-50A6-3127-AAFB-9FAA76D74D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456CDD-0613-CAE9-AC27-1B0985836BA0}"/>
              </a:ext>
            </a:extLst>
          </p:cNvPr>
          <p:cNvSpPr>
            <a:spLocks noGrp="1"/>
          </p:cNvSpPr>
          <p:nvPr>
            <p:ph type="title"/>
          </p:nvPr>
        </p:nvSpPr>
        <p:spPr/>
        <p:txBody>
          <a:bodyPr>
            <a:normAutofit fontScale="90000"/>
          </a:bodyPr>
          <a:lstStyle/>
          <a:p>
            <a:r>
              <a:rPr lang="fr-FR" sz="3200" dirty="0">
                <a:ea typeface="Calibri" pitchFamily="34" charset="-122"/>
              </a:rPr>
              <a:t>Vue d’architecture</a:t>
            </a:r>
            <a:endParaRPr lang="fr-FR" sz="3200" dirty="0"/>
          </a:p>
        </p:txBody>
      </p:sp>
      <p:sp>
        <p:nvSpPr>
          <p:cNvPr id="3" name="Shape 4">
            <a:extLst>
              <a:ext uri="{FF2B5EF4-FFF2-40B4-BE49-F238E27FC236}">
                <a16:creationId xmlns:a16="http://schemas.microsoft.com/office/drawing/2014/main" id="{678FC479-E9B7-2636-D295-E27DC19F9720}"/>
              </a:ext>
            </a:extLst>
          </p:cNvPr>
          <p:cNvSpPr/>
          <p:nvPr/>
        </p:nvSpPr>
        <p:spPr>
          <a:xfrm>
            <a:off x="548640" y="1417320"/>
            <a:ext cx="5486400" cy="3063240"/>
          </a:xfrm>
          <a:prstGeom prst="roundRect">
            <a:avLst>
              <a:gd name="adj" fmla="val 1791"/>
            </a:avLst>
          </a:prstGeom>
          <a:solidFill>
            <a:srgbClr val="EFF2F7"/>
          </a:solidFill>
          <a:ln w="12700">
            <a:solidFill>
              <a:srgbClr val="EFF2F7"/>
            </a:solidFill>
            <a:prstDash val="solid"/>
          </a:ln>
          <a:effectLst>
            <a:outerShdw blurRad="127000" dist="25400" dir="5400000" algn="bl" rotWithShape="0">
              <a:srgbClr val="9AA6BA">
                <a:alpha val="22000"/>
              </a:srgbClr>
            </a:outerShdw>
          </a:effectLst>
        </p:spPr>
      </p:sp>
      <p:sp>
        <p:nvSpPr>
          <p:cNvPr id="4" name="Shape 5">
            <a:extLst>
              <a:ext uri="{FF2B5EF4-FFF2-40B4-BE49-F238E27FC236}">
                <a16:creationId xmlns:a16="http://schemas.microsoft.com/office/drawing/2014/main" id="{EE61FBE5-4A36-5E9F-34BD-677D10955CBE}"/>
              </a:ext>
            </a:extLst>
          </p:cNvPr>
          <p:cNvSpPr/>
          <p:nvPr/>
        </p:nvSpPr>
        <p:spPr>
          <a:xfrm>
            <a:off x="841248" y="1691640"/>
            <a:ext cx="365760" cy="365760"/>
          </a:xfrm>
          <a:prstGeom prst="roundRect">
            <a:avLst>
              <a:gd name="adj" fmla="val 20000"/>
            </a:avLst>
          </a:prstGeom>
          <a:solidFill>
            <a:srgbClr val="2A4574"/>
          </a:solidFill>
          <a:ln w="12700">
            <a:solidFill>
              <a:srgbClr val="2A4574"/>
            </a:solidFill>
            <a:prstDash val="solid"/>
          </a:ln>
        </p:spPr>
      </p:sp>
      <p:sp>
        <p:nvSpPr>
          <p:cNvPr id="5" name="Text 6">
            <a:extLst>
              <a:ext uri="{FF2B5EF4-FFF2-40B4-BE49-F238E27FC236}">
                <a16:creationId xmlns:a16="http://schemas.microsoft.com/office/drawing/2014/main" id="{A57074FC-517E-21B8-21F9-9599B2FD5FCC}"/>
              </a:ext>
            </a:extLst>
          </p:cNvPr>
          <p:cNvSpPr txBox="1"/>
          <p:nvPr/>
        </p:nvSpPr>
        <p:spPr>
          <a:xfrm>
            <a:off x="841248" y="1691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anose="020B0502040204020203" pitchFamily="34" charset="0"/>
                <a:ea typeface="Calibri" pitchFamily="34" charset="-122"/>
                <a:cs typeface="Segoe UI" panose="020B0502040204020203" pitchFamily="34" charset="0"/>
              </a:rPr>
              <a:t>1</a:t>
            </a:r>
            <a:endParaRPr lang="en-US" sz="1400" dirty="0">
              <a:latin typeface="Segoe UI" panose="020B0502040204020203" pitchFamily="34" charset="0"/>
              <a:cs typeface="Segoe UI" panose="020B0502040204020203" pitchFamily="34" charset="0"/>
            </a:endParaRPr>
          </a:p>
        </p:txBody>
      </p:sp>
      <p:sp>
        <p:nvSpPr>
          <p:cNvPr id="6" name="Text 7">
            <a:extLst>
              <a:ext uri="{FF2B5EF4-FFF2-40B4-BE49-F238E27FC236}">
                <a16:creationId xmlns:a16="http://schemas.microsoft.com/office/drawing/2014/main" id="{52C57023-E593-0E9E-97C1-7E8B9A33E4EF}"/>
              </a:ext>
            </a:extLst>
          </p:cNvPr>
          <p:cNvSpPr txBox="1"/>
          <p:nvPr/>
        </p:nvSpPr>
        <p:spPr>
          <a:xfrm>
            <a:off x="1335024" y="1691640"/>
            <a:ext cx="4389120" cy="256032"/>
          </a:xfrm>
          <a:prstGeom prst="rect">
            <a:avLst/>
          </a:prstGeom>
          <a:noFill/>
          <a:ln/>
        </p:spPr>
        <p:txBody>
          <a:bodyPr wrap="square" lIns="0" tIns="0" rIns="0" bIns="0" rtlCol="0" anchor="ctr"/>
          <a:lstStyle/>
          <a:p>
            <a:pPr marL="0" indent="0">
              <a:buNone/>
            </a:pPr>
            <a:r>
              <a:rPr lang="en-US" sz="1500" b="1" dirty="0">
                <a:solidFill>
                  <a:srgbClr val="14203A"/>
                </a:solidFill>
                <a:latin typeface="Segoe UI" panose="020B0502040204020203" pitchFamily="34" charset="0"/>
                <a:ea typeface="Calibri" pitchFamily="34" charset="-122"/>
                <a:cs typeface="Segoe UI" panose="020B0502040204020203" pitchFamily="34" charset="0"/>
              </a:rPr>
              <a:t>Vue statique</a:t>
            </a:r>
            <a:endParaRPr lang="en-US" sz="1500" dirty="0">
              <a:latin typeface="Segoe UI" panose="020B0502040204020203" pitchFamily="34" charset="0"/>
              <a:cs typeface="Segoe UI" panose="020B0502040204020203" pitchFamily="34" charset="0"/>
            </a:endParaRPr>
          </a:p>
        </p:txBody>
      </p:sp>
      <p:sp>
        <p:nvSpPr>
          <p:cNvPr id="7" name="Text 8">
            <a:extLst>
              <a:ext uri="{FF2B5EF4-FFF2-40B4-BE49-F238E27FC236}">
                <a16:creationId xmlns:a16="http://schemas.microsoft.com/office/drawing/2014/main" id="{10CF040F-21E6-F9ED-E20C-E46F0373A361}"/>
              </a:ext>
            </a:extLst>
          </p:cNvPr>
          <p:cNvSpPr txBox="1"/>
          <p:nvPr/>
        </p:nvSpPr>
        <p:spPr>
          <a:xfrm>
            <a:off x="1335024" y="1956816"/>
            <a:ext cx="4389120" cy="237744"/>
          </a:xfrm>
          <a:prstGeom prst="rect">
            <a:avLst/>
          </a:prstGeom>
          <a:noFill/>
          <a:ln/>
        </p:spPr>
        <p:txBody>
          <a:bodyPr wrap="square" lIns="0" tIns="0" rIns="0" bIns="0" rtlCol="0" anchor="ctr"/>
          <a:lstStyle/>
          <a:p>
            <a:pPr marL="0" indent="0">
              <a:buNone/>
            </a:pPr>
            <a:r>
              <a:rPr lang="en-US" sz="1150" i="1" dirty="0">
                <a:solidFill>
                  <a:srgbClr val="7A8699"/>
                </a:solidFill>
                <a:latin typeface="Segoe UI" panose="020B0502040204020203" pitchFamily="34" charset="0"/>
                <a:ea typeface="Calibri" pitchFamily="34" charset="-122"/>
                <a:cs typeface="Segoe UI" panose="020B0502040204020203" pitchFamily="34" charset="0"/>
              </a:rPr>
              <a:t>De quoi est fait le patrimoine</a:t>
            </a:r>
            <a:endParaRPr lang="en-US" sz="1150" dirty="0">
              <a:latin typeface="Segoe UI" panose="020B0502040204020203" pitchFamily="34" charset="0"/>
              <a:cs typeface="Segoe UI" panose="020B0502040204020203" pitchFamily="34" charset="0"/>
            </a:endParaRPr>
          </a:p>
        </p:txBody>
      </p:sp>
      <p:sp>
        <p:nvSpPr>
          <p:cNvPr id="8" name="Text 9">
            <a:extLst>
              <a:ext uri="{FF2B5EF4-FFF2-40B4-BE49-F238E27FC236}">
                <a16:creationId xmlns:a16="http://schemas.microsoft.com/office/drawing/2014/main" id="{38D1E092-4123-D413-D1B8-640A3DA2BAE3}"/>
              </a:ext>
            </a:extLst>
          </p:cNvPr>
          <p:cNvSpPr txBox="1"/>
          <p:nvPr/>
        </p:nvSpPr>
        <p:spPr>
          <a:xfrm>
            <a:off x="841248" y="2395728"/>
            <a:ext cx="4937760" cy="197555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33415C"/>
                </a:solidFill>
                <a:latin typeface="Segoe UI" panose="020B0502040204020203" pitchFamily="34" charset="0"/>
                <a:ea typeface="Calibri" pitchFamily="34" charset="-122"/>
                <a:cs typeface="Segoe UI" panose="020B0502040204020203" pitchFamily="34" charset="0"/>
              </a:rPr>
              <a:t>Description fonctionnelle de chaque </a:t>
            </a:r>
            <a:r>
              <a:rPr lang="en-US" sz="1200" b="1" dirty="0">
                <a:solidFill>
                  <a:srgbClr val="33415C"/>
                </a:solidFill>
                <a:latin typeface="Segoe UI" panose="020B0502040204020203" pitchFamily="34" charset="0"/>
                <a:ea typeface="Calibri" pitchFamily="34" charset="-122"/>
                <a:cs typeface="Segoe UI" panose="020B0502040204020203" pitchFamily="34" charset="0"/>
              </a:rPr>
              <a:t>application</a:t>
            </a:r>
            <a:r>
              <a:rPr lang="en-US" sz="1200" dirty="0">
                <a:solidFill>
                  <a:srgbClr val="33415C"/>
                </a:solidFill>
                <a:latin typeface="Segoe UI" panose="020B0502040204020203" pitchFamily="34" charset="0"/>
                <a:ea typeface="Calibri" pitchFamily="34" charset="-122"/>
                <a:cs typeface="Segoe UI" panose="020B0502040204020203" pitchFamily="34" charset="0"/>
              </a:rPr>
              <a:t> par code ROBIN, sous forme de fiche d'identité (modèle CADI / one-pager).</a:t>
            </a:r>
            <a:endParaRPr lang="en-US"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en-US" sz="1200" dirty="0">
                <a:solidFill>
                  <a:srgbClr val="33415C"/>
                </a:solidFill>
                <a:latin typeface="Segoe UI" panose="020B0502040204020203" pitchFamily="34" charset="0"/>
                <a:ea typeface="Calibri" pitchFamily="34" charset="-122"/>
                <a:cs typeface="Segoe UI" panose="020B0502040204020203" pitchFamily="34" charset="0"/>
              </a:rPr>
              <a:t>Schéma haut niveau des interactions entre codes ROBIN, au sein de l'équipe et avec les autres équipes EI.</a:t>
            </a:r>
            <a:endParaRPr lang="en-US"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en-US" sz="1200" dirty="0">
                <a:solidFill>
                  <a:srgbClr val="33415C"/>
                </a:solidFill>
                <a:latin typeface="Segoe UI" panose="020B0502040204020203" pitchFamily="34" charset="0"/>
                <a:ea typeface="Calibri" pitchFamily="34" charset="-122"/>
                <a:cs typeface="Segoe UI" panose="020B0502040204020203" pitchFamily="34" charset="0"/>
              </a:rPr>
              <a:t>Mise en visibilité des applications redondantes sur un même usage (ex. annotation : SyoReaderReport et Tagtic).</a:t>
            </a:r>
            <a:endParaRPr lang="en-US"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en-US" sz="1200" dirty="0">
                <a:solidFill>
                  <a:srgbClr val="33415C"/>
                </a:solidFill>
                <a:latin typeface="Segoe UI" panose="020B0502040204020203" pitchFamily="34" charset="0"/>
                <a:ea typeface="Calibri" pitchFamily="34" charset="-122"/>
                <a:cs typeface="Segoe UI" panose="020B0502040204020203" pitchFamily="34" charset="0"/>
              </a:rPr>
              <a:t>Rattachement de chaque application à la chaîne de valeur, pour relier le patrimoine aux usages métier.</a:t>
            </a:r>
            <a:endParaRPr lang="en-US" sz="1200" dirty="0">
              <a:latin typeface="Segoe UI" panose="020B0502040204020203" pitchFamily="34" charset="0"/>
              <a:cs typeface="Segoe UI" panose="020B0502040204020203" pitchFamily="34" charset="0"/>
            </a:endParaRPr>
          </a:p>
        </p:txBody>
      </p:sp>
      <p:sp>
        <p:nvSpPr>
          <p:cNvPr id="9" name="Shape 10">
            <a:extLst>
              <a:ext uri="{FF2B5EF4-FFF2-40B4-BE49-F238E27FC236}">
                <a16:creationId xmlns:a16="http://schemas.microsoft.com/office/drawing/2014/main" id="{84F782B8-88DD-96AF-C6DA-430C8459A76B}"/>
              </a:ext>
            </a:extLst>
          </p:cNvPr>
          <p:cNvSpPr/>
          <p:nvPr/>
        </p:nvSpPr>
        <p:spPr>
          <a:xfrm>
            <a:off x="6309360" y="1417320"/>
            <a:ext cx="5303520" cy="3063240"/>
          </a:xfrm>
          <a:prstGeom prst="roundRect">
            <a:avLst>
              <a:gd name="adj" fmla="val 1791"/>
            </a:avLst>
          </a:prstGeom>
          <a:solidFill>
            <a:srgbClr val="EFF2F7"/>
          </a:solidFill>
          <a:ln w="12700">
            <a:solidFill>
              <a:srgbClr val="EFF2F7"/>
            </a:solidFill>
            <a:prstDash val="solid"/>
          </a:ln>
          <a:effectLst>
            <a:outerShdw blurRad="127000" dist="25400" dir="5400000" algn="bl" rotWithShape="0">
              <a:srgbClr val="9AA6BA">
                <a:alpha val="22000"/>
              </a:srgbClr>
            </a:outerShdw>
          </a:effectLst>
        </p:spPr>
      </p:sp>
      <p:sp>
        <p:nvSpPr>
          <p:cNvPr id="10" name="Shape 11">
            <a:extLst>
              <a:ext uri="{FF2B5EF4-FFF2-40B4-BE49-F238E27FC236}">
                <a16:creationId xmlns:a16="http://schemas.microsoft.com/office/drawing/2014/main" id="{C6DEA9F3-1140-BEEF-FAA6-3D828CB05AB9}"/>
              </a:ext>
            </a:extLst>
          </p:cNvPr>
          <p:cNvSpPr/>
          <p:nvPr/>
        </p:nvSpPr>
        <p:spPr>
          <a:xfrm>
            <a:off x="6601968" y="1691640"/>
            <a:ext cx="365760" cy="365760"/>
          </a:xfrm>
          <a:prstGeom prst="roundRect">
            <a:avLst>
              <a:gd name="adj" fmla="val 20000"/>
            </a:avLst>
          </a:prstGeom>
          <a:solidFill>
            <a:srgbClr val="2A4574"/>
          </a:solidFill>
          <a:ln w="12700">
            <a:solidFill>
              <a:srgbClr val="2A4574"/>
            </a:solidFill>
            <a:prstDash val="solid"/>
          </a:ln>
        </p:spPr>
      </p:sp>
      <p:sp>
        <p:nvSpPr>
          <p:cNvPr id="11" name="Text 12">
            <a:extLst>
              <a:ext uri="{FF2B5EF4-FFF2-40B4-BE49-F238E27FC236}">
                <a16:creationId xmlns:a16="http://schemas.microsoft.com/office/drawing/2014/main" id="{D29E8512-4938-70AF-9913-8E6A0265FFA1}"/>
              </a:ext>
            </a:extLst>
          </p:cNvPr>
          <p:cNvSpPr txBox="1"/>
          <p:nvPr/>
        </p:nvSpPr>
        <p:spPr>
          <a:xfrm>
            <a:off x="6601968" y="1691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anose="020B0502040204020203" pitchFamily="34" charset="0"/>
                <a:ea typeface="Calibri" pitchFamily="34" charset="-122"/>
                <a:cs typeface="Segoe UI" panose="020B0502040204020203" pitchFamily="34" charset="0"/>
              </a:rPr>
              <a:t>2</a:t>
            </a:r>
            <a:endParaRPr lang="en-US" sz="1400" dirty="0">
              <a:latin typeface="Segoe UI" panose="020B0502040204020203" pitchFamily="34" charset="0"/>
              <a:cs typeface="Segoe UI" panose="020B0502040204020203" pitchFamily="34" charset="0"/>
            </a:endParaRPr>
          </a:p>
        </p:txBody>
      </p:sp>
      <p:sp>
        <p:nvSpPr>
          <p:cNvPr id="12" name="Text 13">
            <a:extLst>
              <a:ext uri="{FF2B5EF4-FFF2-40B4-BE49-F238E27FC236}">
                <a16:creationId xmlns:a16="http://schemas.microsoft.com/office/drawing/2014/main" id="{43388061-C554-C0AE-9CF6-B6EF8E72524C}"/>
              </a:ext>
            </a:extLst>
          </p:cNvPr>
          <p:cNvSpPr txBox="1"/>
          <p:nvPr/>
        </p:nvSpPr>
        <p:spPr>
          <a:xfrm>
            <a:off x="7095744" y="1691640"/>
            <a:ext cx="4206240" cy="256032"/>
          </a:xfrm>
          <a:prstGeom prst="rect">
            <a:avLst/>
          </a:prstGeom>
          <a:noFill/>
          <a:ln/>
        </p:spPr>
        <p:txBody>
          <a:bodyPr wrap="square" lIns="0" tIns="0" rIns="0" bIns="0" rtlCol="0" anchor="ctr"/>
          <a:lstStyle/>
          <a:p>
            <a:pPr marL="0" indent="0">
              <a:buNone/>
            </a:pPr>
            <a:r>
              <a:rPr lang="en-US" sz="1500" b="1" dirty="0">
                <a:solidFill>
                  <a:srgbClr val="14203A"/>
                </a:solidFill>
                <a:latin typeface="Segoe UI" panose="020B0502040204020203" pitchFamily="34" charset="0"/>
                <a:ea typeface="Calibri" pitchFamily="34" charset="-122"/>
                <a:cs typeface="Segoe UI" panose="020B0502040204020203" pitchFamily="34" charset="0"/>
              </a:rPr>
              <a:t>Vue dynamique</a:t>
            </a:r>
            <a:endParaRPr lang="en-US" sz="1500" dirty="0">
              <a:latin typeface="Segoe UI" panose="020B0502040204020203" pitchFamily="34" charset="0"/>
              <a:cs typeface="Segoe UI" panose="020B0502040204020203" pitchFamily="34" charset="0"/>
            </a:endParaRPr>
          </a:p>
        </p:txBody>
      </p:sp>
      <p:sp>
        <p:nvSpPr>
          <p:cNvPr id="13" name="Text 14">
            <a:extLst>
              <a:ext uri="{FF2B5EF4-FFF2-40B4-BE49-F238E27FC236}">
                <a16:creationId xmlns:a16="http://schemas.microsoft.com/office/drawing/2014/main" id="{D46CD7A3-FB45-8EC6-15FA-523BE14FF23D}"/>
              </a:ext>
            </a:extLst>
          </p:cNvPr>
          <p:cNvSpPr txBox="1"/>
          <p:nvPr/>
        </p:nvSpPr>
        <p:spPr>
          <a:xfrm>
            <a:off x="7095744" y="1956816"/>
            <a:ext cx="4206240" cy="237744"/>
          </a:xfrm>
          <a:prstGeom prst="rect">
            <a:avLst/>
          </a:prstGeom>
          <a:noFill/>
          <a:ln/>
        </p:spPr>
        <p:txBody>
          <a:bodyPr wrap="square" lIns="0" tIns="0" rIns="0" bIns="0" rtlCol="0" anchor="ctr"/>
          <a:lstStyle/>
          <a:p>
            <a:pPr marL="0" indent="0">
              <a:buNone/>
            </a:pPr>
            <a:r>
              <a:rPr lang="fr-FR" sz="1150" i="1" dirty="0">
                <a:solidFill>
                  <a:srgbClr val="7A8699"/>
                </a:solidFill>
                <a:latin typeface="Segoe UI" panose="020B0502040204020203" pitchFamily="34" charset="0"/>
                <a:ea typeface="Calibri" pitchFamily="34" charset="-122"/>
                <a:cs typeface="Segoe UI" panose="020B0502040204020203" pitchFamily="34" charset="0"/>
              </a:rPr>
              <a:t>Comment les éléments de patrimoine interagissent entre elles</a:t>
            </a:r>
            <a:endParaRPr lang="fr-FR" sz="1150" dirty="0">
              <a:latin typeface="Segoe UI" panose="020B0502040204020203" pitchFamily="34" charset="0"/>
              <a:cs typeface="Segoe UI" panose="020B0502040204020203" pitchFamily="34" charset="0"/>
            </a:endParaRPr>
          </a:p>
        </p:txBody>
      </p:sp>
      <p:sp>
        <p:nvSpPr>
          <p:cNvPr id="14" name="Text 15">
            <a:extLst>
              <a:ext uri="{FF2B5EF4-FFF2-40B4-BE49-F238E27FC236}">
                <a16:creationId xmlns:a16="http://schemas.microsoft.com/office/drawing/2014/main" id="{64AC50B8-8B97-331B-6AFB-D7E66C43A6F8}"/>
              </a:ext>
            </a:extLst>
          </p:cNvPr>
          <p:cNvSpPr txBox="1"/>
          <p:nvPr/>
        </p:nvSpPr>
        <p:spPr>
          <a:xfrm>
            <a:off x="6601968" y="2395728"/>
            <a:ext cx="4754880" cy="2084832"/>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33415C"/>
                </a:solidFill>
                <a:latin typeface="Segoe UI" panose="020B0502040204020203" pitchFamily="34" charset="0"/>
                <a:ea typeface="Calibri" pitchFamily="34" charset="-122"/>
                <a:cs typeface="Segoe UI" panose="020B0502040204020203" pitchFamily="34" charset="0"/>
              </a:rPr>
              <a:t>Schéma des services et de leurs interactions, alimenté par la colonne « dépendances entre services » du catalogue.</a:t>
            </a:r>
            <a:endParaRPr lang="en-US"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en-US" sz="1200" dirty="0">
                <a:solidFill>
                  <a:srgbClr val="33415C"/>
                </a:solidFill>
                <a:latin typeface="Segoe UI" panose="020B0502040204020203" pitchFamily="34" charset="0"/>
                <a:ea typeface="Calibri" pitchFamily="34" charset="-122"/>
                <a:cs typeface="Segoe UI" panose="020B0502040204020203" pitchFamily="34" charset="0"/>
              </a:rPr>
              <a:t>Trois strates de dépendances à couvrir : ATEL (physiques), hors ROBIN (bases et fichiers), hors ATEL (Cloud).</a:t>
            </a:r>
            <a:endParaRPr lang="en-US" sz="1200" dirty="0">
              <a:latin typeface="Segoe UI" panose="020B0502040204020203" pitchFamily="34" charset="0"/>
              <a:cs typeface="Segoe UI" panose="020B0502040204020203" pitchFamily="34" charset="0"/>
            </a:endParaRPr>
          </a:p>
          <a:p>
            <a:pPr marL="342900" indent="-342900">
              <a:lnSpc>
                <a:spcPts val="1600"/>
              </a:lnSpc>
              <a:spcAft>
                <a:spcPts val="700"/>
              </a:spcAft>
              <a:buSzPct val="100000"/>
              <a:buChar char="–"/>
            </a:pPr>
            <a:r>
              <a:rPr lang="en-US" sz="1200" dirty="0" err="1">
                <a:solidFill>
                  <a:srgbClr val="33415C"/>
                </a:solidFill>
                <a:latin typeface="Segoe UI" panose="020B0502040204020203" pitchFamily="34" charset="0"/>
                <a:ea typeface="Calibri" pitchFamily="34" charset="-122"/>
                <a:cs typeface="Segoe UI" panose="020B0502040204020203" pitchFamily="34" charset="0"/>
              </a:rPr>
              <a:t>Niveau</a:t>
            </a:r>
            <a:r>
              <a:rPr lang="en-US" sz="1200" dirty="0">
                <a:solidFill>
                  <a:srgbClr val="33415C"/>
                </a:solidFill>
                <a:latin typeface="Segoe UI" panose="020B0502040204020203" pitchFamily="34" charset="0"/>
                <a:ea typeface="Calibri" pitchFamily="34" charset="-122"/>
                <a:cs typeface="Segoe UI" panose="020B0502040204020203" pitchFamily="34" charset="0"/>
              </a:rPr>
              <a:t> de détail calibré sur l'analyse d'impact en Run : si un service tombe, quel périmètre est touché ?</a:t>
            </a:r>
            <a:endParaRPr lang="en-US" sz="1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76430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8DF8-50A6-3127-AAFB-9FAA76D74D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456CDD-0613-CAE9-AC27-1B0985836BA0}"/>
              </a:ext>
            </a:extLst>
          </p:cNvPr>
          <p:cNvSpPr>
            <a:spLocks noGrp="1"/>
          </p:cNvSpPr>
          <p:nvPr>
            <p:ph type="title"/>
          </p:nvPr>
        </p:nvSpPr>
        <p:spPr/>
        <p:txBody>
          <a:bodyPr>
            <a:normAutofit fontScale="90000"/>
          </a:bodyPr>
          <a:lstStyle/>
          <a:p>
            <a:r>
              <a:rPr lang="fr-FR" sz="3200" dirty="0">
                <a:ea typeface="Calibri" pitchFamily="34" charset="-122"/>
              </a:rPr>
              <a:t>Qui maintient, et à quel moment</a:t>
            </a:r>
          </a:p>
        </p:txBody>
      </p:sp>
      <p:sp>
        <p:nvSpPr>
          <p:cNvPr id="15" name="Text 4">
            <a:extLst>
              <a:ext uri="{FF2B5EF4-FFF2-40B4-BE49-F238E27FC236}">
                <a16:creationId xmlns:a16="http://schemas.microsoft.com/office/drawing/2014/main" id="{B1E8AB32-4633-7D9A-73FF-879793FBE2D6}"/>
              </a:ext>
            </a:extLst>
          </p:cNvPr>
          <p:cNvSpPr txBox="1"/>
          <p:nvPr/>
        </p:nvSpPr>
        <p:spPr>
          <a:xfrm>
            <a:off x="548640" y="1417320"/>
            <a:ext cx="6400800" cy="274320"/>
          </a:xfrm>
          <a:prstGeom prst="rect">
            <a:avLst/>
          </a:prstGeom>
          <a:noFill/>
          <a:ln/>
        </p:spPr>
        <p:txBody>
          <a:bodyPr wrap="square" lIns="0" tIns="0" rIns="0" bIns="0" rtlCol="0" anchor="ctr"/>
          <a:lstStyle/>
          <a:p>
            <a:pPr marL="0" indent="0">
              <a:buNone/>
            </a:pPr>
            <a:r>
              <a:rPr lang="fr-FR" sz="1200" b="1" dirty="0">
                <a:solidFill>
                  <a:srgbClr val="7A8699"/>
                </a:solidFill>
                <a:latin typeface="Segoe UI" panose="020B0502040204020203" pitchFamily="34" charset="0"/>
                <a:ea typeface="Calibri" pitchFamily="34" charset="-122"/>
                <a:cs typeface="Segoe UI" panose="020B0502040204020203" pitchFamily="34" charset="0"/>
              </a:rPr>
              <a:t>Eléments identifiés en atelier</a:t>
            </a:r>
            <a:endParaRPr lang="fr-FR" sz="1200" dirty="0">
              <a:latin typeface="Segoe UI" panose="020B0502040204020203" pitchFamily="34" charset="0"/>
              <a:cs typeface="Segoe UI" panose="020B0502040204020203" pitchFamily="34" charset="0"/>
            </a:endParaRPr>
          </a:p>
        </p:txBody>
      </p:sp>
      <p:graphicFrame>
        <p:nvGraphicFramePr>
          <p:cNvPr id="16" name="Table 0">
            <a:extLst>
              <a:ext uri="{FF2B5EF4-FFF2-40B4-BE49-F238E27FC236}">
                <a16:creationId xmlns:a16="http://schemas.microsoft.com/office/drawing/2014/main" id="{F342CDE3-6A68-8E3B-9728-BC6FC85C600D}"/>
              </a:ext>
            </a:extLst>
          </p:cNvPr>
          <p:cNvGraphicFramePr>
            <a:graphicFrameLocks noGrp="1"/>
          </p:cNvGraphicFramePr>
          <p:nvPr>
            <p:extLst>
              <p:ext uri="{D42A27DB-BD31-4B8C-83A1-F6EECF244321}">
                <p14:modId xmlns:p14="http://schemas.microsoft.com/office/powerpoint/2010/main" val="4021821337"/>
              </p:ext>
            </p:extLst>
          </p:nvPr>
        </p:nvGraphicFramePr>
        <p:xfrm>
          <a:off x="548640" y="1783080"/>
          <a:ext cx="6400800" cy="2834640"/>
        </p:xfrm>
        <a:graphic>
          <a:graphicData uri="http://schemas.openxmlformats.org/drawingml/2006/table">
            <a:tbl>
              <a:tblPr/>
              <a:tblGrid>
                <a:gridCol w="105156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Équipe</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2A457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Production et maintenance des schémas</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2A4574"/>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H550</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Pas d'architecte dans l'équipe : appui transverse H510 / H520, ou architecte à nommer.</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H630</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Responsables d'application aujourd'hui ; cible : un tech lead ou architecte transverse (Franck) pour harmoniser les pratiques.</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H620</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Responsables de pôle : Louis (Fraude), Tairan (Moteur OCR), Omar (Moteur OCR externe), Jeremy (Points d'entrée externes).</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H560</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Par axe : Axel (Outillage AC), Julien (Projet Client).</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7" name="Text 2">
            <a:extLst>
              <a:ext uri="{FF2B5EF4-FFF2-40B4-BE49-F238E27FC236}">
                <a16:creationId xmlns:a16="http://schemas.microsoft.com/office/drawing/2014/main" id="{C076633F-C642-1AA6-3B67-022A8F62779C}"/>
              </a:ext>
            </a:extLst>
          </p:cNvPr>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1000" dirty="0">
                <a:solidFill>
                  <a:srgbClr val="7A8699"/>
                </a:solidFill>
                <a:latin typeface="Calibri" pitchFamily="34" charset="0"/>
                <a:ea typeface="Calibri" pitchFamily="34" charset="-122"/>
                <a:cs typeface="Calibri" pitchFamily="34" charset="-120"/>
              </a:rPr>
              <a:t>4</a:t>
            </a:r>
            <a:endParaRPr lang="en-US" sz="1000" dirty="0"/>
          </a:p>
        </p:txBody>
      </p:sp>
      <p:sp>
        <p:nvSpPr>
          <p:cNvPr id="18" name="Shape 8">
            <a:extLst>
              <a:ext uri="{FF2B5EF4-FFF2-40B4-BE49-F238E27FC236}">
                <a16:creationId xmlns:a16="http://schemas.microsoft.com/office/drawing/2014/main" id="{64B5D251-E2CD-CD84-735D-478AD7142437}"/>
              </a:ext>
            </a:extLst>
          </p:cNvPr>
          <p:cNvSpPr/>
          <p:nvPr/>
        </p:nvSpPr>
        <p:spPr>
          <a:xfrm>
            <a:off x="7223760" y="1417320"/>
            <a:ext cx="4389120" cy="4709160"/>
          </a:xfrm>
          <a:prstGeom prst="roundRect">
            <a:avLst>
              <a:gd name="adj" fmla="val 1250"/>
            </a:avLst>
          </a:prstGeom>
          <a:solidFill>
            <a:srgbClr val="EFF2F7"/>
          </a:solidFill>
          <a:ln w="12700">
            <a:solidFill>
              <a:srgbClr val="EFF2F7"/>
            </a:solidFill>
            <a:prstDash val="solid"/>
          </a:ln>
          <a:effectLst>
            <a:outerShdw blurRad="127000" dist="25400" dir="5400000" algn="bl" rotWithShape="0">
              <a:srgbClr val="9AA6BA">
                <a:alpha val="22000"/>
              </a:srgbClr>
            </a:outerShdw>
          </a:effectLst>
        </p:spPr>
      </p:sp>
      <p:sp>
        <p:nvSpPr>
          <p:cNvPr id="19" name="Text 9">
            <a:extLst>
              <a:ext uri="{FF2B5EF4-FFF2-40B4-BE49-F238E27FC236}">
                <a16:creationId xmlns:a16="http://schemas.microsoft.com/office/drawing/2014/main" id="{77F442A2-B435-D3B9-07A6-0AD74CB56100}"/>
              </a:ext>
            </a:extLst>
          </p:cNvPr>
          <p:cNvSpPr txBox="1"/>
          <p:nvPr/>
        </p:nvSpPr>
        <p:spPr>
          <a:xfrm>
            <a:off x="7498080" y="1691640"/>
            <a:ext cx="3840480" cy="310896"/>
          </a:xfrm>
          <a:prstGeom prst="rect">
            <a:avLst/>
          </a:prstGeom>
          <a:noFill/>
          <a:ln/>
        </p:spPr>
        <p:txBody>
          <a:bodyPr wrap="square" lIns="0" tIns="0" rIns="0" bIns="0" rtlCol="0" anchor="ctr"/>
          <a:lstStyle/>
          <a:p>
            <a:pPr marL="0" indent="0">
              <a:buNone/>
            </a:pPr>
            <a:r>
              <a:rPr lang="en-US" sz="1500" b="1" dirty="0">
                <a:solidFill>
                  <a:srgbClr val="14203A"/>
                </a:solidFill>
                <a:latin typeface="Calibri" pitchFamily="34" charset="0"/>
                <a:ea typeface="Calibri" pitchFamily="34" charset="-122"/>
                <a:cs typeface="Calibri" pitchFamily="34" charset="-120"/>
              </a:rPr>
              <a:t>Quand mettre à jour</a:t>
            </a:r>
            <a:endParaRPr lang="en-US" sz="1500" dirty="0"/>
          </a:p>
        </p:txBody>
      </p:sp>
      <p:sp>
        <p:nvSpPr>
          <p:cNvPr id="20" name="Text 10">
            <a:extLst>
              <a:ext uri="{FF2B5EF4-FFF2-40B4-BE49-F238E27FC236}">
                <a16:creationId xmlns:a16="http://schemas.microsoft.com/office/drawing/2014/main" id="{CBE2E1F9-6F85-4BE9-30D4-C549925B4C15}"/>
              </a:ext>
            </a:extLst>
          </p:cNvPr>
          <p:cNvSpPr txBox="1"/>
          <p:nvPr/>
        </p:nvSpPr>
        <p:spPr>
          <a:xfrm>
            <a:off x="7498080" y="1975104"/>
            <a:ext cx="3840480" cy="237744"/>
          </a:xfrm>
          <a:prstGeom prst="rect">
            <a:avLst/>
          </a:prstGeom>
          <a:noFill/>
          <a:ln/>
        </p:spPr>
        <p:txBody>
          <a:bodyPr wrap="square" lIns="0" tIns="0" rIns="0" bIns="0" rtlCol="0" anchor="ctr"/>
          <a:lstStyle/>
          <a:p>
            <a:pPr marL="0" indent="0">
              <a:buNone/>
            </a:pPr>
            <a:r>
              <a:rPr lang="en-US" sz="1100" i="1" dirty="0">
                <a:latin typeface="Calibri" pitchFamily="34" charset="0"/>
                <a:ea typeface="Calibri" pitchFamily="34" charset="-122"/>
                <a:cs typeface="Calibri" pitchFamily="34" charset="-120"/>
              </a:rPr>
              <a:t>proposition à valider avec les REs</a:t>
            </a:r>
            <a:endParaRPr lang="en-US" sz="1100" dirty="0"/>
          </a:p>
        </p:txBody>
      </p:sp>
      <p:sp>
        <p:nvSpPr>
          <p:cNvPr id="21" name="Shape 11">
            <a:extLst>
              <a:ext uri="{FF2B5EF4-FFF2-40B4-BE49-F238E27FC236}">
                <a16:creationId xmlns:a16="http://schemas.microsoft.com/office/drawing/2014/main" id="{27546979-A032-EFCC-27CB-CA59251ACC85}"/>
              </a:ext>
            </a:extLst>
          </p:cNvPr>
          <p:cNvSpPr/>
          <p:nvPr/>
        </p:nvSpPr>
        <p:spPr>
          <a:xfrm>
            <a:off x="7498080" y="2496312"/>
            <a:ext cx="146304" cy="146304"/>
          </a:xfrm>
          <a:prstGeom prst="ellipse">
            <a:avLst/>
          </a:prstGeom>
          <a:solidFill>
            <a:srgbClr val="003A8D"/>
          </a:solidFill>
          <a:ln w="12700">
            <a:noFill/>
            <a:prstDash val="solid"/>
          </a:ln>
        </p:spPr>
      </p:sp>
      <p:sp>
        <p:nvSpPr>
          <p:cNvPr id="22" name="Text 12">
            <a:extLst>
              <a:ext uri="{FF2B5EF4-FFF2-40B4-BE49-F238E27FC236}">
                <a16:creationId xmlns:a16="http://schemas.microsoft.com/office/drawing/2014/main" id="{6A927099-521A-EB17-3D70-DBEFEE126D7D}"/>
              </a:ext>
            </a:extLst>
          </p:cNvPr>
          <p:cNvSpPr txBox="1"/>
          <p:nvPr/>
        </p:nvSpPr>
        <p:spPr>
          <a:xfrm>
            <a:off x="7754112" y="2450592"/>
            <a:ext cx="3566160" cy="256032"/>
          </a:xfrm>
          <a:prstGeom prst="rect">
            <a:avLst/>
          </a:prstGeom>
          <a:noFill/>
          <a:ln/>
        </p:spPr>
        <p:txBody>
          <a:bodyPr wrap="square" lIns="0" tIns="0" rIns="0" bIns="0" rtlCol="0" anchor="ctr"/>
          <a:lstStyle/>
          <a:p>
            <a:pPr marL="0" indent="0">
              <a:buNone/>
            </a:pPr>
            <a:r>
              <a:rPr lang="en-US" sz="1300" b="1" dirty="0">
                <a:solidFill>
                  <a:srgbClr val="14203A"/>
                </a:solidFill>
                <a:latin typeface="Calibri" pitchFamily="34" charset="0"/>
                <a:ea typeface="Calibri" pitchFamily="34" charset="-122"/>
                <a:cs typeface="Calibri" pitchFamily="34" charset="-120"/>
              </a:rPr>
              <a:t>À l'événement</a:t>
            </a:r>
            <a:endParaRPr lang="en-US" sz="1300" dirty="0"/>
          </a:p>
        </p:txBody>
      </p:sp>
      <p:sp>
        <p:nvSpPr>
          <p:cNvPr id="23" name="Text 13">
            <a:extLst>
              <a:ext uri="{FF2B5EF4-FFF2-40B4-BE49-F238E27FC236}">
                <a16:creationId xmlns:a16="http://schemas.microsoft.com/office/drawing/2014/main" id="{CDD3657E-2F88-55B2-5588-D998C4C574F5}"/>
              </a:ext>
            </a:extLst>
          </p:cNvPr>
          <p:cNvSpPr txBox="1"/>
          <p:nvPr/>
        </p:nvSpPr>
        <p:spPr>
          <a:xfrm>
            <a:off x="7754112" y="2743200"/>
            <a:ext cx="3566160" cy="914400"/>
          </a:xfrm>
          <a:prstGeom prst="rect">
            <a:avLst/>
          </a:prstGeom>
          <a:noFill/>
          <a:ln/>
        </p:spPr>
        <p:txBody>
          <a:bodyPr wrap="square" lIns="0" tIns="0" rIns="0" bIns="0" rtlCol="0" anchor="ctr"/>
          <a:lstStyle/>
          <a:p>
            <a:pPr marL="0" indent="0">
              <a:lnSpc>
                <a:spcPts val="1500"/>
              </a:lnSpc>
              <a:buNone/>
            </a:pPr>
            <a:r>
              <a:rPr lang="en-US" sz="1150" dirty="0">
                <a:latin typeface="Calibri" pitchFamily="34" charset="0"/>
                <a:ea typeface="Calibri" pitchFamily="34" charset="-122"/>
                <a:cs typeface="Calibri" pitchFamily="34" charset="-120"/>
              </a:rPr>
              <a:t>Mise en service ou décommissionnement d'une application, création ou modification d'une interface, d'une dépendance ou d'un flux, bascule Cloud.</a:t>
            </a:r>
            <a:endParaRPr lang="en-US" sz="1150" dirty="0"/>
          </a:p>
        </p:txBody>
      </p:sp>
      <p:sp>
        <p:nvSpPr>
          <p:cNvPr id="24" name="Shape 14">
            <a:extLst>
              <a:ext uri="{FF2B5EF4-FFF2-40B4-BE49-F238E27FC236}">
                <a16:creationId xmlns:a16="http://schemas.microsoft.com/office/drawing/2014/main" id="{2B776796-A597-71C9-A9DA-1171BD556D8F}"/>
              </a:ext>
            </a:extLst>
          </p:cNvPr>
          <p:cNvSpPr/>
          <p:nvPr/>
        </p:nvSpPr>
        <p:spPr>
          <a:xfrm>
            <a:off x="7498080" y="3794760"/>
            <a:ext cx="146304" cy="146304"/>
          </a:xfrm>
          <a:prstGeom prst="ellipse">
            <a:avLst/>
          </a:prstGeom>
          <a:solidFill>
            <a:srgbClr val="003A8D"/>
          </a:solidFill>
          <a:ln w="12700">
            <a:noFill/>
            <a:prstDash val="solid"/>
          </a:ln>
        </p:spPr>
      </p:sp>
      <p:sp>
        <p:nvSpPr>
          <p:cNvPr id="25" name="Text 15">
            <a:extLst>
              <a:ext uri="{FF2B5EF4-FFF2-40B4-BE49-F238E27FC236}">
                <a16:creationId xmlns:a16="http://schemas.microsoft.com/office/drawing/2014/main" id="{A77C2A19-4C4E-E482-1515-36DFDAF0C5A4}"/>
              </a:ext>
            </a:extLst>
          </p:cNvPr>
          <p:cNvSpPr txBox="1"/>
          <p:nvPr/>
        </p:nvSpPr>
        <p:spPr>
          <a:xfrm>
            <a:off x="7754112" y="3749040"/>
            <a:ext cx="3566160" cy="256032"/>
          </a:xfrm>
          <a:prstGeom prst="rect">
            <a:avLst/>
          </a:prstGeom>
          <a:noFill/>
          <a:ln/>
        </p:spPr>
        <p:txBody>
          <a:bodyPr wrap="square" lIns="0" tIns="0" rIns="0" bIns="0" rtlCol="0" anchor="ctr"/>
          <a:lstStyle/>
          <a:p>
            <a:pPr marL="0" indent="0">
              <a:buNone/>
            </a:pPr>
            <a:r>
              <a:rPr lang="en-US" sz="1300" b="1" dirty="0">
                <a:solidFill>
                  <a:srgbClr val="14203A"/>
                </a:solidFill>
                <a:latin typeface="Calibri" pitchFamily="34" charset="0"/>
                <a:ea typeface="Calibri" pitchFamily="34" charset="-122"/>
                <a:cs typeface="Calibri" pitchFamily="34" charset="-120"/>
              </a:rPr>
              <a:t>Au jalon projet</a:t>
            </a:r>
            <a:endParaRPr lang="en-US" sz="1300" dirty="0"/>
          </a:p>
        </p:txBody>
      </p:sp>
      <p:sp>
        <p:nvSpPr>
          <p:cNvPr id="26" name="Text 16">
            <a:extLst>
              <a:ext uri="{FF2B5EF4-FFF2-40B4-BE49-F238E27FC236}">
                <a16:creationId xmlns:a16="http://schemas.microsoft.com/office/drawing/2014/main" id="{C236FD26-8626-B8CC-39AE-9D628DF8A3E1}"/>
              </a:ext>
            </a:extLst>
          </p:cNvPr>
          <p:cNvSpPr txBox="1"/>
          <p:nvPr/>
        </p:nvSpPr>
        <p:spPr>
          <a:xfrm>
            <a:off x="7754112" y="4041648"/>
            <a:ext cx="3566160" cy="914400"/>
          </a:xfrm>
          <a:prstGeom prst="rect">
            <a:avLst/>
          </a:prstGeom>
          <a:noFill/>
          <a:ln/>
        </p:spPr>
        <p:txBody>
          <a:bodyPr wrap="square" lIns="0" tIns="0" rIns="0" bIns="0" rtlCol="0" anchor="ctr"/>
          <a:lstStyle/>
          <a:p>
            <a:pPr marL="0" indent="0">
              <a:lnSpc>
                <a:spcPts val="1500"/>
              </a:lnSpc>
              <a:buNone/>
            </a:pPr>
            <a:r>
              <a:rPr lang="en-US" sz="1150" dirty="0">
                <a:solidFill>
                  <a:srgbClr val="FF0000"/>
                </a:solidFill>
                <a:latin typeface="Calibri" pitchFamily="34" charset="0"/>
                <a:ea typeface="Calibri" pitchFamily="34" charset="-122"/>
                <a:cs typeface="Calibri" pitchFamily="34" charset="-120"/>
              </a:rPr>
              <a:t>La mise à jour du schéma conditionne la </a:t>
            </a:r>
            <a:r>
              <a:rPr lang="en-US" sz="1150" dirty="0" err="1">
                <a:solidFill>
                  <a:srgbClr val="FF0000"/>
                </a:solidFill>
                <a:latin typeface="Calibri" pitchFamily="34" charset="0"/>
                <a:ea typeface="Calibri" pitchFamily="34" charset="-122"/>
                <a:cs typeface="Calibri" pitchFamily="34" charset="-120"/>
              </a:rPr>
              <a:t>clôture</a:t>
            </a:r>
            <a:r>
              <a:rPr lang="en-US" sz="1150" dirty="0">
                <a:solidFill>
                  <a:srgbClr val="FF0000"/>
                </a:solidFill>
                <a:latin typeface="Calibri" pitchFamily="34" charset="0"/>
                <a:ea typeface="Calibri" pitchFamily="34" charset="-122"/>
                <a:cs typeface="Calibri" pitchFamily="34" charset="-120"/>
              </a:rPr>
              <a:t> du </a:t>
            </a:r>
            <a:r>
              <a:rPr lang="en-US" sz="1150" dirty="0" err="1">
                <a:solidFill>
                  <a:srgbClr val="FF0000"/>
                </a:solidFill>
                <a:latin typeface="Calibri" pitchFamily="34" charset="0"/>
                <a:ea typeface="Calibri" pitchFamily="34" charset="-122"/>
                <a:cs typeface="Calibri" pitchFamily="34" charset="-120"/>
              </a:rPr>
              <a:t>projet</a:t>
            </a:r>
            <a:r>
              <a:rPr lang="en-US" sz="1150" dirty="0">
                <a:solidFill>
                  <a:srgbClr val="FF0000"/>
                </a:solidFill>
                <a:latin typeface="Calibri" pitchFamily="34" charset="0"/>
                <a:ea typeface="Calibri" pitchFamily="34" charset="-122"/>
                <a:cs typeface="Calibri" pitchFamily="34" charset="-120"/>
              </a:rPr>
              <a:t> </a:t>
            </a:r>
            <a:endParaRPr lang="en-US" sz="1150" dirty="0">
              <a:solidFill>
                <a:srgbClr val="FF0000"/>
              </a:solidFill>
            </a:endParaRPr>
          </a:p>
        </p:txBody>
      </p:sp>
      <p:sp>
        <p:nvSpPr>
          <p:cNvPr id="27" name="Shape 17">
            <a:extLst>
              <a:ext uri="{FF2B5EF4-FFF2-40B4-BE49-F238E27FC236}">
                <a16:creationId xmlns:a16="http://schemas.microsoft.com/office/drawing/2014/main" id="{4FBC34E5-4DEB-A1E7-7BF5-39F42570BE52}"/>
              </a:ext>
            </a:extLst>
          </p:cNvPr>
          <p:cNvSpPr/>
          <p:nvPr/>
        </p:nvSpPr>
        <p:spPr>
          <a:xfrm>
            <a:off x="7498080" y="5093208"/>
            <a:ext cx="146304" cy="146304"/>
          </a:xfrm>
          <a:prstGeom prst="ellipse">
            <a:avLst/>
          </a:prstGeom>
          <a:solidFill>
            <a:srgbClr val="003A8D"/>
          </a:solidFill>
          <a:ln w="12700">
            <a:noFill/>
            <a:prstDash val="solid"/>
          </a:ln>
        </p:spPr>
      </p:sp>
      <p:sp>
        <p:nvSpPr>
          <p:cNvPr id="28" name="Text 18">
            <a:extLst>
              <a:ext uri="{FF2B5EF4-FFF2-40B4-BE49-F238E27FC236}">
                <a16:creationId xmlns:a16="http://schemas.microsoft.com/office/drawing/2014/main" id="{E9B4F55B-F25A-B67C-B39B-4D1220FCDAAD}"/>
              </a:ext>
            </a:extLst>
          </p:cNvPr>
          <p:cNvSpPr txBox="1"/>
          <p:nvPr/>
        </p:nvSpPr>
        <p:spPr>
          <a:xfrm>
            <a:off x="7754112" y="5047488"/>
            <a:ext cx="3566160" cy="256032"/>
          </a:xfrm>
          <a:prstGeom prst="rect">
            <a:avLst/>
          </a:prstGeom>
          <a:noFill/>
          <a:ln/>
        </p:spPr>
        <p:txBody>
          <a:bodyPr wrap="square" lIns="0" tIns="0" rIns="0" bIns="0" rtlCol="0" anchor="ctr"/>
          <a:lstStyle/>
          <a:p>
            <a:pPr marL="0" indent="0">
              <a:buNone/>
            </a:pPr>
            <a:r>
              <a:rPr lang="en-US" sz="1300" b="1" dirty="0">
                <a:solidFill>
                  <a:srgbClr val="14203A"/>
                </a:solidFill>
                <a:latin typeface="Calibri" pitchFamily="34" charset="0"/>
                <a:ea typeface="Calibri" pitchFamily="34" charset="-122"/>
                <a:cs typeface="Calibri" pitchFamily="34" charset="-120"/>
              </a:rPr>
              <a:t>En revue périodique</a:t>
            </a:r>
            <a:endParaRPr lang="en-US" sz="1300" dirty="0"/>
          </a:p>
        </p:txBody>
      </p:sp>
      <p:sp>
        <p:nvSpPr>
          <p:cNvPr id="29" name="Text 19">
            <a:extLst>
              <a:ext uri="{FF2B5EF4-FFF2-40B4-BE49-F238E27FC236}">
                <a16:creationId xmlns:a16="http://schemas.microsoft.com/office/drawing/2014/main" id="{C4EE1BDC-7FD3-3A47-5F47-EDF43BFCA08C}"/>
              </a:ext>
            </a:extLst>
          </p:cNvPr>
          <p:cNvSpPr txBox="1"/>
          <p:nvPr/>
        </p:nvSpPr>
        <p:spPr>
          <a:xfrm>
            <a:off x="7754112" y="5340096"/>
            <a:ext cx="3566160" cy="914400"/>
          </a:xfrm>
          <a:prstGeom prst="rect">
            <a:avLst/>
          </a:prstGeom>
          <a:noFill/>
          <a:ln/>
        </p:spPr>
        <p:txBody>
          <a:bodyPr wrap="square" lIns="0" tIns="0" rIns="0" bIns="0" rtlCol="0" anchor="ctr"/>
          <a:lstStyle/>
          <a:p>
            <a:pPr marL="0" indent="0">
              <a:lnSpc>
                <a:spcPts val="1500"/>
              </a:lnSpc>
              <a:buNone/>
            </a:pPr>
            <a:r>
              <a:rPr lang="en-US" sz="1150" dirty="0">
                <a:solidFill>
                  <a:srgbClr val="FF0000"/>
                </a:solidFill>
                <a:latin typeface="Calibri" pitchFamily="34" charset="0"/>
                <a:ea typeface="Calibri" pitchFamily="34" charset="-122"/>
                <a:cs typeface="Calibri" pitchFamily="34" charset="-120"/>
              </a:rPr>
              <a:t>Revue semestrielle </a:t>
            </a:r>
            <a:r>
              <a:rPr lang="en-US" sz="1150" dirty="0">
                <a:latin typeface="Calibri" pitchFamily="34" charset="0"/>
                <a:ea typeface="Calibri" pitchFamily="34" charset="-122"/>
                <a:cs typeface="Calibri" pitchFamily="34" charset="-120"/>
              </a:rPr>
              <a:t>par pôle sur la cohérence des schémas, </a:t>
            </a:r>
            <a:r>
              <a:rPr lang="en-US" sz="1150" dirty="0">
                <a:solidFill>
                  <a:srgbClr val="FF0000"/>
                </a:solidFill>
                <a:latin typeface="Calibri" pitchFamily="34" charset="0"/>
                <a:ea typeface="Calibri" pitchFamily="34" charset="-122"/>
                <a:cs typeface="Calibri" pitchFamily="34" charset="-120"/>
              </a:rPr>
              <a:t>revue annuelle </a:t>
            </a:r>
            <a:r>
              <a:rPr lang="en-US" sz="1150" dirty="0">
                <a:latin typeface="Calibri" pitchFamily="34" charset="0"/>
                <a:ea typeface="Calibri" pitchFamily="34" charset="-122"/>
                <a:cs typeface="Calibri" pitchFamily="34" charset="-120"/>
              </a:rPr>
              <a:t>transverse pour l'alignement inter-équipes.</a:t>
            </a:r>
            <a:endParaRPr lang="en-US" sz="1150" dirty="0"/>
          </a:p>
        </p:txBody>
      </p:sp>
    </p:spTree>
    <p:extLst>
      <p:ext uri="{BB962C8B-B14F-4D97-AF65-F5344CB8AC3E}">
        <p14:creationId xmlns:p14="http://schemas.microsoft.com/office/powerpoint/2010/main" val="382814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960C5A-DFC9-4E6A-8597-36B478C8101C}"/>
              </a:ext>
            </a:extLst>
          </p:cNvPr>
          <p:cNvSpPr>
            <a:spLocks noGrp="1"/>
          </p:cNvSpPr>
          <p:nvPr>
            <p:ph type="ctrTitle"/>
          </p:nvPr>
        </p:nvSpPr>
        <p:spPr>
          <a:xfrm>
            <a:off x="3202004" y="1550015"/>
            <a:ext cx="5787992" cy="2145456"/>
          </a:xfrm>
        </p:spPr>
        <p:txBody>
          <a:bodyPr/>
          <a:lstStyle/>
          <a:p>
            <a:r>
              <a:rPr lang="fr-FR" b="1" dirty="0"/>
              <a:t>Fin du document</a:t>
            </a:r>
            <a:endParaRPr lang="fr-FR" sz="4000" b="1" dirty="0"/>
          </a:p>
        </p:txBody>
      </p:sp>
    </p:spTree>
    <p:extLst>
      <p:ext uri="{BB962C8B-B14F-4D97-AF65-F5344CB8AC3E}">
        <p14:creationId xmlns:p14="http://schemas.microsoft.com/office/powerpoint/2010/main" val="2527759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8DF8-50A6-3127-AAFB-9FAA76D74D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456CDD-0613-CAE9-AC27-1B0985836BA0}"/>
              </a:ext>
            </a:extLst>
          </p:cNvPr>
          <p:cNvSpPr>
            <a:spLocks noGrp="1"/>
          </p:cNvSpPr>
          <p:nvPr>
            <p:ph type="title"/>
          </p:nvPr>
        </p:nvSpPr>
        <p:spPr/>
        <p:txBody>
          <a:bodyPr>
            <a:normAutofit fontScale="90000"/>
          </a:bodyPr>
          <a:lstStyle/>
          <a:p>
            <a:r>
              <a:rPr lang="fr-FR" sz="3200" dirty="0">
                <a:ea typeface="Calibri" pitchFamily="34" charset="-122"/>
              </a:rPr>
              <a:t>Qui maintient, et à quel moment</a:t>
            </a:r>
          </a:p>
        </p:txBody>
      </p:sp>
      <p:sp>
        <p:nvSpPr>
          <p:cNvPr id="15" name="Text 4">
            <a:extLst>
              <a:ext uri="{FF2B5EF4-FFF2-40B4-BE49-F238E27FC236}">
                <a16:creationId xmlns:a16="http://schemas.microsoft.com/office/drawing/2014/main" id="{B1E8AB32-4633-7D9A-73FF-879793FBE2D6}"/>
              </a:ext>
            </a:extLst>
          </p:cNvPr>
          <p:cNvSpPr txBox="1"/>
          <p:nvPr/>
        </p:nvSpPr>
        <p:spPr>
          <a:xfrm>
            <a:off x="548640" y="1417320"/>
            <a:ext cx="6400800" cy="274320"/>
          </a:xfrm>
          <a:prstGeom prst="rect">
            <a:avLst/>
          </a:prstGeom>
          <a:noFill/>
          <a:ln/>
        </p:spPr>
        <p:txBody>
          <a:bodyPr wrap="square" lIns="0" tIns="0" rIns="0" bIns="0" rtlCol="0" anchor="ctr"/>
          <a:lstStyle/>
          <a:p>
            <a:pPr marL="0" indent="0">
              <a:buNone/>
            </a:pPr>
            <a:r>
              <a:rPr lang="fr-FR" sz="1200" b="1" dirty="0">
                <a:solidFill>
                  <a:srgbClr val="7A8699"/>
                </a:solidFill>
                <a:latin typeface="Segoe UI" panose="020B0502040204020203" pitchFamily="34" charset="0"/>
                <a:ea typeface="Calibri" pitchFamily="34" charset="-122"/>
                <a:cs typeface="Segoe UI" panose="020B0502040204020203" pitchFamily="34" charset="0"/>
              </a:rPr>
              <a:t>Eléments identifiés en atelier</a:t>
            </a:r>
            <a:endParaRPr lang="fr-FR" sz="1200" dirty="0">
              <a:latin typeface="Segoe UI" panose="020B0502040204020203" pitchFamily="34" charset="0"/>
              <a:cs typeface="Segoe UI" panose="020B0502040204020203" pitchFamily="34" charset="0"/>
            </a:endParaRPr>
          </a:p>
        </p:txBody>
      </p:sp>
      <p:graphicFrame>
        <p:nvGraphicFramePr>
          <p:cNvPr id="16" name="Table 0">
            <a:extLst>
              <a:ext uri="{FF2B5EF4-FFF2-40B4-BE49-F238E27FC236}">
                <a16:creationId xmlns:a16="http://schemas.microsoft.com/office/drawing/2014/main" id="{F342CDE3-6A68-8E3B-9728-BC6FC85C600D}"/>
              </a:ext>
            </a:extLst>
          </p:cNvPr>
          <p:cNvGraphicFramePr>
            <a:graphicFrameLocks noGrp="1"/>
          </p:cNvGraphicFramePr>
          <p:nvPr/>
        </p:nvGraphicFramePr>
        <p:xfrm>
          <a:off x="548640" y="1783080"/>
          <a:ext cx="6400800" cy="2834640"/>
        </p:xfrm>
        <a:graphic>
          <a:graphicData uri="http://schemas.openxmlformats.org/drawingml/2006/table">
            <a:tbl>
              <a:tblPr/>
              <a:tblGrid>
                <a:gridCol w="105156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Équipe</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2A457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Production et maintenance des schémas</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2A4574"/>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H550</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Pas d'architecte dans l'équipe : appui transverse H510 / H520, ou architecte à nommer.</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H630</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Responsables d'application aujourd'hui ; cible : un tech lead ou architecte transverse (Franck) pour harmoniser les pratiques.</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H620</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Responsables de pôle : Louis (Fraude), Tairan (Moteur OCR), Omar (Moteur OCR externe), Jeremy (Points d'entrée externes).</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H560</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50" dirty="0">
                          <a:solidFill>
                            <a:srgbClr val="33415C"/>
                          </a:solidFill>
                          <a:latin typeface="Calibri" pitchFamily="34" charset="0"/>
                          <a:ea typeface="Calibri" pitchFamily="34" charset="-122"/>
                          <a:cs typeface="Calibri" pitchFamily="34" charset="-120"/>
                        </a:rPr>
                        <a:t>Par axe : Axel (Outillage AC), Julien (Projet Client).</a:t>
                      </a:r>
                      <a:endParaRPr lang="en-US" sz="1150" dirty="0">
                        <a:latin typeface="Calibri" charset="0"/>
                        <a:ea typeface="Calibri" charset="0"/>
                        <a:cs typeface="Calibri" charset="0"/>
                      </a:endParaRPr>
                    </a:p>
                  </a:txBody>
                  <a:tcPr marL="101600" marR="101600" marT="101600" marB="101600" anchor="ctr">
                    <a:lnL w="12700" cap="flat" cmpd="sng" algn="ctr">
                      <a:solidFill>
                        <a:srgbClr val="D8DEE9"/>
                      </a:solidFill>
                      <a:prstDash val="solid"/>
                      <a:round/>
                      <a:headEnd type="none" w="med" len="med"/>
                      <a:tailEnd type="none" w="med" len="med"/>
                    </a:lnL>
                    <a:lnR w="12700" cap="flat" cmpd="sng" algn="ctr">
                      <a:solidFill>
                        <a:srgbClr val="D8DEE9"/>
                      </a:solidFill>
                      <a:prstDash val="solid"/>
                      <a:round/>
                      <a:headEnd type="none" w="med" len="med"/>
                      <a:tailEnd type="none" w="med" len="med"/>
                    </a:lnR>
                    <a:lnT w="12700" cap="flat" cmpd="sng" algn="ctr">
                      <a:solidFill>
                        <a:srgbClr val="D8DEE9"/>
                      </a:solidFill>
                      <a:prstDash val="solid"/>
                      <a:round/>
                      <a:headEnd type="none" w="med" len="med"/>
                      <a:tailEnd type="none" w="med" len="med"/>
                    </a:lnT>
                    <a:lnB w="1270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7" name="Text 2">
            <a:extLst>
              <a:ext uri="{FF2B5EF4-FFF2-40B4-BE49-F238E27FC236}">
                <a16:creationId xmlns:a16="http://schemas.microsoft.com/office/drawing/2014/main" id="{C076633F-C642-1AA6-3B67-022A8F62779C}"/>
              </a:ext>
            </a:extLst>
          </p:cNvPr>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1000" dirty="0">
                <a:solidFill>
                  <a:srgbClr val="7A8699"/>
                </a:solidFill>
                <a:latin typeface="Calibri" pitchFamily="34" charset="0"/>
                <a:ea typeface="Calibri" pitchFamily="34" charset="-122"/>
                <a:cs typeface="Calibri" pitchFamily="34" charset="-120"/>
              </a:rPr>
              <a:t>4</a:t>
            </a:r>
            <a:endParaRPr lang="en-US" sz="1000" dirty="0"/>
          </a:p>
        </p:txBody>
      </p:sp>
      <p:sp>
        <p:nvSpPr>
          <p:cNvPr id="18" name="Shape 8">
            <a:extLst>
              <a:ext uri="{FF2B5EF4-FFF2-40B4-BE49-F238E27FC236}">
                <a16:creationId xmlns:a16="http://schemas.microsoft.com/office/drawing/2014/main" id="{64B5D251-E2CD-CD84-735D-478AD7142437}"/>
              </a:ext>
            </a:extLst>
          </p:cNvPr>
          <p:cNvSpPr/>
          <p:nvPr/>
        </p:nvSpPr>
        <p:spPr>
          <a:xfrm>
            <a:off x="7223760" y="1417320"/>
            <a:ext cx="4389120" cy="4709160"/>
          </a:xfrm>
          <a:prstGeom prst="roundRect">
            <a:avLst>
              <a:gd name="adj" fmla="val 1250"/>
            </a:avLst>
          </a:prstGeom>
          <a:solidFill>
            <a:srgbClr val="EFF2F7"/>
          </a:solidFill>
          <a:ln w="12700">
            <a:solidFill>
              <a:srgbClr val="EFF2F7"/>
            </a:solidFill>
            <a:prstDash val="solid"/>
          </a:ln>
          <a:effectLst>
            <a:outerShdw blurRad="127000" dist="25400" dir="5400000" algn="bl" rotWithShape="0">
              <a:srgbClr val="9AA6BA">
                <a:alpha val="22000"/>
              </a:srgbClr>
            </a:outerShdw>
          </a:effectLst>
        </p:spPr>
      </p:sp>
      <p:sp>
        <p:nvSpPr>
          <p:cNvPr id="19" name="Text 9">
            <a:extLst>
              <a:ext uri="{FF2B5EF4-FFF2-40B4-BE49-F238E27FC236}">
                <a16:creationId xmlns:a16="http://schemas.microsoft.com/office/drawing/2014/main" id="{77F442A2-B435-D3B9-07A6-0AD74CB56100}"/>
              </a:ext>
            </a:extLst>
          </p:cNvPr>
          <p:cNvSpPr txBox="1"/>
          <p:nvPr/>
        </p:nvSpPr>
        <p:spPr>
          <a:xfrm>
            <a:off x="7498080" y="1691640"/>
            <a:ext cx="3840480" cy="310896"/>
          </a:xfrm>
          <a:prstGeom prst="rect">
            <a:avLst/>
          </a:prstGeom>
          <a:noFill/>
          <a:ln/>
        </p:spPr>
        <p:txBody>
          <a:bodyPr wrap="square" lIns="0" tIns="0" rIns="0" bIns="0" rtlCol="0" anchor="ctr"/>
          <a:lstStyle/>
          <a:p>
            <a:pPr marL="0" indent="0">
              <a:buNone/>
            </a:pPr>
            <a:r>
              <a:rPr lang="en-US" sz="1500" b="1" dirty="0">
                <a:solidFill>
                  <a:srgbClr val="14203A"/>
                </a:solidFill>
                <a:latin typeface="Calibri" pitchFamily="34" charset="0"/>
                <a:ea typeface="Calibri" pitchFamily="34" charset="-122"/>
                <a:cs typeface="Calibri" pitchFamily="34" charset="-120"/>
              </a:rPr>
              <a:t>Quand mettre à jour</a:t>
            </a:r>
            <a:endParaRPr lang="en-US" sz="1500" dirty="0"/>
          </a:p>
        </p:txBody>
      </p:sp>
      <p:sp>
        <p:nvSpPr>
          <p:cNvPr id="20" name="Text 10">
            <a:extLst>
              <a:ext uri="{FF2B5EF4-FFF2-40B4-BE49-F238E27FC236}">
                <a16:creationId xmlns:a16="http://schemas.microsoft.com/office/drawing/2014/main" id="{CBE2E1F9-6F85-4BE9-30D4-C549925B4C15}"/>
              </a:ext>
            </a:extLst>
          </p:cNvPr>
          <p:cNvSpPr txBox="1"/>
          <p:nvPr/>
        </p:nvSpPr>
        <p:spPr>
          <a:xfrm>
            <a:off x="7498080" y="1975104"/>
            <a:ext cx="3840480" cy="237744"/>
          </a:xfrm>
          <a:prstGeom prst="rect">
            <a:avLst/>
          </a:prstGeom>
          <a:noFill/>
          <a:ln/>
        </p:spPr>
        <p:txBody>
          <a:bodyPr wrap="square" lIns="0" tIns="0" rIns="0" bIns="0" rtlCol="0" anchor="ctr"/>
          <a:lstStyle/>
          <a:p>
            <a:pPr marL="0" indent="0">
              <a:buNone/>
            </a:pPr>
            <a:r>
              <a:rPr lang="en-US" sz="1100" i="1" dirty="0">
                <a:latin typeface="Calibri" pitchFamily="34" charset="0"/>
                <a:ea typeface="Calibri" pitchFamily="34" charset="-122"/>
                <a:cs typeface="Calibri" pitchFamily="34" charset="-120"/>
              </a:rPr>
              <a:t>proposition à valider avec les REs</a:t>
            </a:r>
            <a:endParaRPr lang="en-US" sz="1100" dirty="0"/>
          </a:p>
        </p:txBody>
      </p:sp>
      <p:sp>
        <p:nvSpPr>
          <p:cNvPr id="21" name="Shape 11">
            <a:extLst>
              <a:ext uri="{FF2B5EF4-FFF2-40B4-BE49-F238E27FC236}">
                <a16:creationId xmlns:a16="http://schemas.microsoft.com/office/drawing/2014/main" id="{27546979-A032-EFCC-27CB-CA59251ACC85}"/>
              </a:ext>
            </a:extLst>
          </p:cNvPr>
          <p:cNvSpPr/>
          <p:nvPr/>
        </p:nvSpPr>
        <p:spPr>
          <a:xfrm>
            <a:off x="7498080" y="2496312"/>
            <a:ext cx="146304" cy="146304"/>
          </a:xfrm>
          <a:prstGeom prst="ellipse">
            <a:avLst/>
          </a:prstGeom>
          <a:solidFill>
            <a:srgbClr val="003A8D"/>
          </a:solidFill>
          <a:ln w="12700">
            <a:noFill/>
            <a:prstDash val="solid"/>
          </a:ln>
        </p:spPr>
      </p:sp>
      <p:sp>
        <p:nvSpPr>
          <p:cNvPr id="22" name="Text 12">
            <a:extLst>
              <a:ext uri="{FF2B5EF4-FFF2-40B4-BE49-F238E27FC236}">
                <a16:creationId xmlns:a16="http://schemas.microsoft.com/office/drawing/2014/main" id="{6A927099-521A-EB17-3D70-DBEFEE126D7D}"/>
              </a:ext>
            </a:extLst>
          </p:cNvPr>
          <p:cNvSpPr txBox="1"/>
          <p:nvPr/>
        </p:nvSpPr>
        <p:spPr>
          <a:xfrm>
            <a:off x="7754112" y="2450592"/>
            <a:ext cx="3566160" cy="256032"/>
          </a:xfrm>
          <a:prstGeom prst="rect">
            <a:avLst/>
          </a:prstGeom>
          <a:noFill/>
          <a:ln/>
        </p:spPr>
        <p:txBody>
          <a:bodyPr wrap="square" lIns="0" tIns="0" rIns="0" bIns="0" rtlCol="0" anchor="ctr"/>
          <a:lstStyle/>
          <a:p>
            <a:pPr marL="0" indent="0">
              <a:buNone/>
            </a:pPr>
            <a:r>
              <a:rPr lang="en-US" sz="1300" b="1" dirty="0">
                <a:solidFill>
                  <a:srgbClr val="14203A"/>
                </a:solidFill>
                <a:latin typeface="Calibri" pitchFamily="34" charset="0"/>
                <a:ea typeface="Calibri" pitchFamily="34" charset="-122"/>
                <a:cs typeface="Calibri" pitchFamily="34" charset="-120"/>
              </a:rPr>
              <a:t>À l'événement</a:t>
            </a:r>
            <a:endParaRPr lang="en-US" sz="1300" dirty="0"/>
          </a:p>
        </p:txBody>
      </p:sp>
      <p:sp>
        <p:nvSpPr>
          <p:cNvPr id="23" name="Text 13">
            <a:extLst>
              <a:ext uri="{FF2B5EF4-FFF2-40B4-BE49-F238E27FC236}">
                <a16:creationId xmlns:a16="http://schemas.microsoft.com/office/drawing/2014/main" id="{CDD3657E-2F88-55B2-5588-D998C4C574F5}"/>
              </a:ext>
            </a:extLst>
          </p:cNvPr>
          <p:cNvSpPr txBox="1"/>
          <p:nvPr/>
        </p:nvSpPr>
        <p:spPr>
          <a:xfrm>
            <a:off x="7754112" y="2743200"/>
            <a:ext cx="3566160" cy="914400"/>
          </a:xfrm>
          <a:prstGeom prst="rect">
            <a:avLst/>
          </a:prstGeom>
          <a:noFill/>
          <a:ln/>
        </p:spPr>
        <p:txBody>
          <a:bodyPr wrap="square" lIns="0" tIns="0" rIns="0" bIns="0" rtlCol="0" anchor="ctr"/>
          <a:lstStyle/>
          <a:p>
            <a:pPr marL="0" indent="0">
              <a:lnSpc>
                <a:spcPts val="1500"/>
              </a:lnSpc>
              <a:buNone/>
            </a:pPr>
            <a:r>
              <a:rPr lang="en-US" sz="1150" dirty="0">
                <a:latin typeface="Calibri" pitchFamily="34" charset="0"/>
                <a:ea typeface="Calibri" pitchFamily="34" charset="-122"/>
                <a:cs typeface="Calibri" pitchFamily="34" charset="-120"/>
              </a:rPr>
              <a:t>Mise en service ou décommissionnement d'une application, création ou modification d'une interface, d'une dépendance ou d'un flux, bascule Cloud.</a:t>
            </a:r>
            <a:endParaRPr lang="en-US" sz="1150" dirty="0"/>
          </a:p>
        </p:txBody>
      </p:sp>
      <p:sp>
        <p:nvSpPr>
          <p:cNvPr id="24" name="Shape 14">
            <a:extLst>
              <a:ext uri="{FF2B5EF4-FFF2-40B4-BE49-F238E27FC236}">
                <a16:creationId xmlns:a16="http://schemas.microsoft.com/office/drawing/2014/main" id="{2B776796-A597-71C9-A9DA-1171BD556D8F}"/>
              </a:ext>
            </a:extLst>
          </p:cNvPr>
          <p:cNvSpPr/>
          <p:nvPr/>
        </p:nvSpPr>
        <p:spPr>
          <a:xfrm>
            <a:off x="7498080" y="3794760"/>
            <a:ext cx="146304" cy="146304"/>
          </a:xfrm>
          <a:prstGeom prst="ellipse">
            <a:avLst/>
          </a:prstGeom>
          <a:solidFill>
            <a:srgbClr val="003A8D"/>
          </a:solidFill>
          <a:ln w="12700">
            <a:noFill/>
            <a:prstDash val="solid"/>
          </a:ln>
        </p:spPr>
      </p:sp>
      <p:sp>
        <p:nvSpPr>
          <p:cNvPr id="25" name="Text 15">
            <a:extLst>
              <a:ext uri="{FF2B5EF4-FFF2-40B4-BE49-F238E27FC236}">
                <a16:creationId xmlns:a16="http://schemas.microsoft.com/office/drawing/2014/main" id="{A77C2A19-4C4E-E482-1515-36DFDAF0C5A4}"/>
              </a:ext>
            </a:extLst>
          </p:cNvPr>
          <p:cNvSpPr txBox="1"/>
          <p:nvPr/>
        </p:nvSpPr>
        <p:spPr>
          <a:xfrm>
            <a:off x="7754112" y="3749040"/>
            <a:ext cx="3566160" cy="256032"/>
          </a:xfrm>
          <a:prstGeom prst="rect">
            <a:avLst/>
          </a:prstGeom>
          <a:noFill/>
          <a:ln/>
        </p:spPr>
        <p:txBody>
          <a:bodyPr wrap="square" lIns="0" tIns="0" rIns="0" bIns="0" rtlCol="0" anchor="ctr"/>
          <a:lstStyle/>
          <a:p>
            <a:pPr marL="0" indent="0">
              <a:buNone/>
            </a:pPr>
            <a:r>
              <a:rPr lang="en-US" sz="1300" b="1" dirty="0">
                <a:solidFill>
                  <a:srgbClr val="14203A"/>
                </a:solidFill>
                <a:latin typeface="Calibri" pitchFamily="34" charset="0"/>
                <a:ea typeface="Calibri" pitchFamily="34" charset="-122"/>
                <a:cs typeface="Calibri" pitchFamily="34" charset="-120"/>
              </a:rPr>
              <a:t>Au jalon projet</a:t>
            </a:r>
            <a:endParaRPr lang="en-US" sz="1300" dirty="0"/>
          </a:p>
        </p:txBody>
      </p:sp>
      <p:sp>
        <p:nvSpPr>
          <p:cNvPr id="26" name="Text 16">
            <a:extLst>
              <a:ext uri="{FF2B5EF4-FFF2-40B4-BE49-F238E27FC236}">
                <a16:creationId xmlns:a16="http://schemas.microsoft.com/office/drawing/2014/main" id="{C236FD26-8626-B8CC-39AE-9D628DF8A3E1}"/>
              </a:ext>
            </a:extLst>
          </p:cNvPr>
          <p:cNvSpPr txBox="1"/>
          <p:nvPr/>
        </p:nvSpPr>
        <p:spPr>
          <a:xfrm>
            <a:off x="7754112" y="4041648"/>
            <a:ext cx="3566160" cy="914400"/>
          </a:xfrm>
          <a:prstGeom prst="rect">
            <a:avLst/>
          </a:prstGeom>
          <a:noFill/>
          <a:ln/>
        </p:spPr>
        <p:txBody>
          <a:bodyPr wrap="square" lIns="0" tIns="0" rIns="0" bIns="0" rtlCol="0" anchor="ctr"/>
          <a:lstStyle/>
          <a:p>
            <a:pPr marL="0" indent="0">
              <a:lnSpc>
                <a:spcPts val="1500"/>
              </a:lnSpc>
              <a:buNone/>
            </a:pPr>
            <a:r>
              <a:rPr lang="en-US" sz="1150" dirty="0">
                <a:solidFill>
                  <a:srgbClr val="FF0000"/>
                </a:solidFill>
                <a:latin typeface="Calibri" pitchFamily="34" charset="0"/>
                <a:ea typeface="Calibri" pitchFamily="34" charset="-122"/>
                <a:cs typeface="Calibri" pitchFamily="34" charset="-120"/>
              </a:rPr>
              <a:t>La mise à jour du schéma conditionne la </a:t>
            </a:r>
            <a:r>
              <a:rPr lang="en-US" sz="1150" dirty="0" err="1">
                <a:solidFill>
                  <a:srgbClr val="FF0000"/>
                </a:solidFill>
                <a:latin typeface="Calibri" pitchFamily="34" charset="0"/>
                <a:ea typeface="Calibri" pitchFamily="34" charset="-122"/>
                <a:cs typeface="Calibri" pitchFamily="34" charset="-120"/>
              </a:rPr>
              <a:t>clôture</a:t>
            </a:r>
            <a:r>
              <a:rPr lang="en-US" sz="1150" dirty="0">
                <a:solidFill>
                  <a:srgbClr val="FF0000"/>
                </a:solidFill>
                <a:latin typeface="Calibri" pitchFamily="34" charset="0"/>
                <a:ea typeface="Calibri" pitchFamily="34" charset="-122"/>
                <a:cs typeface="Calibri" pitchFamily="34" charset="-120"/>
              </a:rPr>
              <a:t> du </a:t>
            </a:r>
            <a:r>
              <a:rPr lang="en-US" sz="1150" dirty="0" err="1">
                <a:solidFill>
                  <a:srgbClr val="FF0000"/>
                </a:solidFill>
                <a:latin typeface="Calibri" pitchFamily="34" charset="0"/>
                <a:ea typeface="Calibri" pitchFamily="34" charset="-122"/>
                <a:cs typeface="Calibri" pitchFamily="34" charset="-120"/>
              </a:rPr>
              <a:t>projet</a:t>
            </a:r>
            <a:r>
              <a:rPr lang="en-US" sz="1150" dirty="0">
                <a:solidFill>
                  <a:srgbClr val="FF0000"/>
                </a:solidFill>
                <a:latin typeface="Calibri" pitchFamily="34" charset="0"/>
                <a:ea typeface="Calibri" pitchFamily="34" charset="-122"/>
                <a:cs typeface="Calibri" pitchFamily="34" charset="-120"/>
              </a:rPr>
              <a:t> </a:t>
            </a:r>
            <a:endParaRPr lang="en-US" sz="1150" dirty="0">
              <a:solidFill>
                <a:srgbClr val="FF0000"/>
              </a:solidFill>
            </a:endParaRPr>
          </a:p>
        </p:txBody>
      </p:sp>
      <p:sp>
        <p:nvSpPr>
          <p:cNvPr id="27" name="Shape 17">
            <a:extLst>
              <a:ext uri="{FF2B5EF4-FFF2-40B4-BE49-F238E27FC236}">
                <a16:creationId xmlns:a16="http://schemas.microsoft.com/office/drawing/2014/main" id="{4FBC34E5-4DEB-A1E7-7BF5-39F42570BE52}"/>
              </a:ext>
            </a:extLst>
          </p:cNvPr>
          <p:cNvSpPr/>
          <p:nvPr/>
        </p:nvSpPr>
        <p:spPr>
          <a:xfrm>
            <a:off x="7498080" y="5093208"/>
            <a:ext cx="146304" cy="146304"/>
          </a:xfrm>
          <a:prstGeom prst="ellipse">
            <a:avLst/>
          </a:prstGeom>
          <a:solidFill>
            <a:srgbClr val="003A8D"/>
          </a:solidFill>
          <a:ln w="12700">
            <a:noFill/>
            <a:prstDash val="solid"/>
          </a:ln>
        </p:spPr>
      </p:sp>
      <p:sp>
        <p:nvSpPr>
          <p:cNvPr id="28" name="Text 18">
            <a:extLst>
              <a:ext uri="{FF2B5EF4-FFF2-40B4-BE49-F238E27FC236}">
                <a16:creationId xmlns:a16="http://schemas.microsoft.com/office/drawing/2014/main" id="{E9B4F55B-F25A-B67C-B39B-4D1220FCDAAD}"/>
              </a:ext>
            </a:extLst>
          </p:cNvPr>
          <p:cNvSpPr txBox="1"/>
          <p:nvPr/>
        </p:nvSpPr>
        <p:spPr>
          <a:xfrm>
            <a:off x="7754112" y="5047488"/>
            <a:ext cx="3566160" cy="256032"/>
          </a:xfrm>
          <a:prstGeom prst="rect">
            <a:avLst/>
          </a:prstGeom>
          <a:noFill/>
          <a:ln/>
        </p:spPr>
        <p:txBody>
          <a:bodyPr wrap="square" lIns="0" tIns="0" rIns="0" bIns="0" rtlCol="0" anchor="ctr"/>
          <a:lstStyle/>
          <a:p>
            <a:pPr marL="0" indent="0">
              <a:buNone/>
            </a:pPr>
            <a:r>
              <a:rPr lang="en-US" sz="1300" b="1" dirty="0">
                <a:solidFill>
                  <a:srgbClr val="14203A"/>
                </a:solidFill>
                <a:latin typeface="Calibri" pitchFamily="34" charset="0"/>
                <a:ea typeface="Calibri" pitchFamily="34" charset="-122"/>
                <a:cs typeface="Calibri" pitchFamily="34" charset="-120"/>
              </a:rPr>
              <a:t>En revue périodique</a:t>
            </a:r>
            <a:endParaRPr lang="en-US" sz="1300" dirty="0"/>
          </a:p>
        </p:txBody>
      </p:sp>
      <p:sp>
        <p:nvSpPr>
          <p:cNvPr id="29" name="Text 19">
            <a:extLst>
              <a:ext uri="{FF2B5EF4-FFF2-40B4-BE49-F238E27FC236}">
                <a16:creationId xmlns:a16="http://schemas.microsoft.com/office/drawing/2014/main" id="{C4EE1BDC-7FD3-3A47-5F47-EDF43BFCA08C}"/>
              </a:ext>
            </a:extLst>
          </p:cNvPr>
          <p:cNvSpPr txBox="1"/>
          <p:nvPr/>
        </p:nvSpPr>
        <p:spPr>
          <a:xfrm>
            <a:off x="7754112" y="5340096"/>
            <a:ext cx="3566160" cy="914400"/>
          </a:xfrm>
          <a:prstGeom prst="rect">
            <a:avLst/>
          </a:prstGeom>
          <a:noFill/>
          <a:ln/>
        </p:spPr>
        <p:txBody>
          <a:bodyPr wrap="square" lIns="0" tIns="0" rIns="0" bIns="0" rtlCol="0" anchor="ctr"/>
          <a:lstStyle/>
          <a:p>
            <a:pPr marL="0" indent="0">
              <a:lnSpc>
                <a:spcPts val="1500"/>
              </a:lnSpc>
              <a:buNone/>
            </a:pPr>
            <a:r>
              <a:rPr lang="en-US" sz="1150" dirty="0">
                <a:solidFill>
                  <a:srgbClr val="FF0000"/>
                </a:solidFill>
                <a:latin typeface="Calibri" pitchFamily="34" charset="0"/>
                <a:ea typeface="Calibri" pitchFamily="34" charset="-122"/>
                <a:cs typeface="Calibri" pitchFamily="34" charset="-120"/>
              </a:rPr>
              <a:t>Revue semestrielle </a:t>
            </a:r>
            <a:r>
              <a:rPr lang="en-US" sz="1150" dirty="0">
                <a:latin typeface="Calibri" pitchFamily="34" charset="0"/>
                <a:ea typeface="Calibri" pitchFamily="34" charset="-122"/>
                <a:cs typeface="Calibri" pitchFamily="34" charset="-120"/>
              </a:rPr>
              <a:t>par pôle sur la cohérence des schémas, </a:t>
            </a:r>
            <a:r>
              <a:rPr lang="en-US" sz="1150" dirty="0">
                <a:solidFill>
                  <a:srgbClr val="FF0000"/>
                </a:solidFill>
                <a:latin typeface="Calibri" pitchFamily="34" charset="0"/>
                <a:ea typeface="Calibri" pitchFamily="34" charset="-122"/>
                <a:cs typeface="Calibri" pitchFamily="34" charset="-120"/>
              </a:rPr>
              <a:t>revue annuelle </a:t>
            </a:r>
            <a:r>
              <a:rPr lang="en-US" sz="1150" dirty="0">
                <a:latin typeface="Calibri" pitchFamily="34" charset="0"/>
                <a:ea typeface="Calibri" pitchFamily="34" charset="-122"/>
                <a:cs typeface="Calibri" pitchFamily="34" charset="-120"/>
              </a:rPr>
              <a:t>transverse pour l'alignement inter-équipes.</a:t>
            </a:r>
            <a:endParaRPr lang="en-US" sz="1150" dirty="0"/>
          </a:p>
        </p:txBody>
      </p:sp>
    </p:spTree>
    <p:extLst>
      <p:ext uri="{BB962C8B-B14F-4D97-AF65-F5344CB8AC3E}">
        <p14:creationId xmlns:p14="http://schemas.microsoft.com/office/powerpoint/2010/main" val="1842886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960C5A-DFC9-4E6A-8597-36B478C8101C}"/>
              </a:ext>
            </a:extLst>
          </p:cNvPr>
          <p:cNvSpPr>
            <a:spLocks noGrp="1"/>
          </p:cNvSpPr>
          <p:nvPr>
            <p:ph type="ctrTitle"/>
          </p:nvPr>
        </p:nvSpPr>
        <p:spPr>
          <a:xfrm>
            <a:off x="3202004" y="1550015"/>
            <a:ext cx="5787992" cy="2145456"/>
          </a:xfrm>
        </p:spPr>
        <p:txBody>
          <a:bodyPr/>
          <a:lstStyle/>
          <a:p>
            <a:r>
              <a:rPr lang="fr-FR" b="1" dirty="0"/>
              <a:t>Fin des annexes</a:t>
            </a:r>
            <a:endParaRPr lang="fr-FR" sz="4000" b="1" dirty="0"/>
          </a:p>
        </p:txBody>
      </p:sp>
    </p:spTree>
    <p:extLst>
      <p:ext uri="{BB962C8B-B14F-4D97-AF65-F5344CB8AC3E}">
        <p14:creationId xmlns:p14="http://schemas.microsoft.com/office/powerpoint/2010/main" val="3894497934"/>
      </p:ext>
    </p:extLst>
  </p:cSld>
  <p:clrMapOvr>
    <a:masterClrMapping/>
  </p:clrMapOvr>
</p:sld>
</file>

<file path=ppt/theme/theme1.xml><?xml version="1.0" encoding="utf-8"?>
<a:theme xmlns:a="http://schemas.openxmlformats.org/drawingml/2006/main" name="9_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Modele_presentation_avec_sigle_EI.pptx" id="{B99EAE91-1054-4C9C-80B9-DCEBA3F2C693}" vid="{809C3AEC-4C68-4DCA-96C7-544C83173E81}"/>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a9e56aaece9b46e58482a8eb4a8cc6ab>
    <PublishingExpirationDate xmlns="http://schemas.microsoft.com/sharepoint/v3" xsi:nil="true"/>
    <PublishingStartDate xmlns="http://schemas.microsoft.com/sharepoint/v3" xsi:nil="true"/>
    <TaxCatchAll xmlns="9da6f561-6c40-462f-af3e-6833fe74929f">
      <Value>2</Value>
      <Value>1</Value>
    </TaxCatchAll>
    <_dlc_DocId xmlns="9da6f561-6c40-462f-af3e-6833fe74929f">PJQFUVHKSAJQ-1373287592-275980</_dlc_DocId>
    <_dlc_DocIdUrl xmlns="9da6f561-6c40-462f-af3e-6833fe74929f">
      <Url>https://moss-si.cm-cic.fr/Sites/D00116/Documentation/_layouts/15/DocIdRedir.aspx?ID=PJQFUVHKSAJQ-1373287592-275980</Url>
      <Description>PJQFUVHKSAJQ-1373287592-275980</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05F62B-875A-44DA-9C24-ECFA753B3086}">
  <ds:schemaRefs>
    <ds:schemaRef ds:uri="http://schemas.microsoft.com/sharepoint/events"/>
  </ds:schemaRefs>
</ds:datastoreItem>
</file>

<file path=customXml/itemProps2.xml><?xml version="1.0" encoding="utf-8"?>
<ds:datastoreItem xmlns:ds="http://schemas.openxmlformats.org/officeDocument/2006/customXml" ds:itemID="{14BDAD69-8D02-46F2-AAEF-AB5B9560E0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976B7B-DEE3-47D2-A92E-B47AF02955AC}">
  <ds:schemaRefs>
    <ds:schemaRef ds:uri="http://purl.org/dc/elements/1.1/"/>
    <ds:schemaRef ds:uri="http://schemas.microsoft.com/sharepoint/v3"/>
    <ds:schemaRef ds:uri="http://schemas.microsoft.com/office/infopath/2007/PartnerControls"/>
    <ds:schemaRef ds:uri="http://schemas.microsoft.com/sharepoint/v4"/>
    <ds:schemaRef ds:uri="9da6f561-6c40-462f-af3e-6833fe74929f"/>
    <ds:schemaRef ds:uri="8ff6ca53-9990-4cf6-aa9b-81190a5c5371"/>
    <ds:schemaRef ds:uri="http://schemas.microsoft.com/office/2006/documentManagement/types"/>
    <ds:schemaRef ds:uri="99cee9d7-070e-44dd-ab97-3503062ab504"/>
    <ds:schemaRef ds:uri="http://schemas.openxmlformats.org/package/2006/metadata/core-properties"/>
    <ds:schemaRef ds:uri="http://purl.org/dc/terms/"/>
    <ds:schemaRef ds:uri="http://schemas.microsoft.com/office/2006/metadata/properties"/>
    <ds:schemaRef ds:uri="http://www.w3.org/XML/1998/namespace"/>
    <ds:schemaRef ds:uri="http://purl.org/dc/dcmitype/"/>
  </ds:schemaRefs>
</ds:datastoreItem>
</file>

<file path=customXml/itemProps4.xml><?xml version="1.0" encoding="utf-8"?>
<ds:datastoreItem xmlns:ds="http://schemas.openxmlformats.org/officeDocument/2006/customXml" ds:itemID="{878C9C5E-DE36-419C-A811-BD5853BD94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18360</TotalTime>
  <Words>1241</Words>
  <Application>Microsoft Office PowerPoint</Application>
  <PresentationFormat>Grand écran</PresentationFormat>
  <Paragraphs>123</Paragraphs>
  <Slides>9</Slides>
  <Notes>6</Notes>
  <HiddenSlides>0</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9</vt:i4>
      </vt:variant>
    </vt:vector>
  </HeadingPairs>
  <TitlesOfParts>
    <vt:vector size="16" baseType="lpstr">
      <vt:lpstr>Arial</vt:lpstr>
      <vt:lpstr>Calibri</vt:lpstr>
      <vt:lpstr>Segoe UI</vt:lpstr>
      <vt:lpstr>Segoe UI Light</vt:lpstr>
      <vt:lpstr>Wingdings 3</vt:lpstr>
      <vt:lpstr>9_Thème Office</vt:lpstr>
      <vt:lpstr>Thème Office</vt:lpstr>
      <vt:lpstr>Architecture OCRF</vt:lpstr>
      <vt:lpstr>Sommaire</vt:lpstr>
      <vt:lpstr>Contexte</vt:lpstr>
      <vt:lpstr>SYNTHÈSE DES ATELIERS</vt:lpstr>
      <vt:lpstr>Vue d’architecture</vt:lpstr>
      <vt:lpstr>Qui maintient, et à quel moment</vt:lpstr>
      <vt:lpstr>Fin du document</vt:lpstr>
      <vt:lpstr>Qui maintient, et à quel moment</vt:lpstr>
      <vt:lpstr>Fin des annexes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ISSOULGHANE Morad (PRESTA EXT)</dc:creator>
  <cp:lastModifiedBy>ISSOULGHANE Morad (PRESTA EXT)</cp:lastModifiedBy>
  <cp:revision>211</cp:revision>
  <dcterms:created xsi:type="dcterms:W3CDTF">2024-11-29T08:59:48Z</dcterms:created>
  <dcterms:modified xsi:type="dcterms:W3CDTF">2026-09-03T09:03:28Z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0x010100BE2B8597FEB5E34494D505DA208C5F79</vt:lpwstr>
  </property>
  <property fmtid="{D5CDD505-2E9C-101B-9397-08002B2CF9AE}" pid="3" name="TaxKeyword">
    <vt:lpwstr/>
  </property>
  <property fmtid="{D5CDD505-2E9C-101B-9397-08002B2CF9AE}" pid="4" name="Nature du document">
    <vt:lpwstr>1;#Document|f926a2be-6740-4577-ba49-e4b230c74a1c</vt:lpwstr>
  </property>
  <property fmtid="{D5CDD505-2E9C-101B-9397-08002B2CF9AE}" pid="5" name="Classification">
    <vt:lpwstr>2;#10 - Interne|88571201-3d77-41d7-bf2a-abb247897d97</vt:lpwstr>
  </property>
  <property fmtid="{D5CDD505-2E9C-101B-9397-08002B2CF9AE}" pid="6" name="ROBIN">
    <vt:lpwstr/>
  </property>
  <property fmtid="{D5CDD505-2E9C-101B-9397-08002B2CF9AE}" pid="7" name="_dlc_DocIdItemGuid">
    <vt:lpwstr>3952ead8-f1cf-4681-9370-7e40fdfbbac8</vt:lpwstr>
  </property>
</Properties>
</file>